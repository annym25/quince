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A1F44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Landing</c:v>
                  </c:pt>
                  <c:pt idx="1">
                    <c:v>Product</c:v>
                  </c:pt>
                  <c:pt idx="2">
                    <c:v>Cart</c:v>
                  </c:pt>
                  <c:pt idx="3">
                    <c:v>Checkout</c:v>
                  </c:pt>
                  <c:pt idx="4">
                    <c:v>Order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60000</c:v>
                </c:pt>
                <c:pt idx="1">
                  <c:v>36566</c:v>
                </c:pt>
                <c:pt idx="2">
                  <c:v>11339</c:v>
                </c:pt>
                <c:pt idx="3">
                  <c:v>5818</c:v>
                </c:pt>
                <c:pt idx="4">
                  <c:v>2592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A1F44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one-sentence answer: own the second purchase by moving up to $9M from rented to owned channels, with holdouts deciding every dollar. Point at the navy tile. If asked about Exhibit D (retargeted 22% vs organic 35%): different window and population from CJA A3b (23.0% vs 23.4%); both say retargeting earns no repeat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4.png"/><Relationship Id="rId8" Type="http://schemas.openxmlformats.org/officeDocument/2006/relationships/image" Target="../media/image-4-5.png"/><Relationship Id="rId9" Type="http://schemas.openxmlformats.org/officeDocument/2006/relationships/image" Target="../media/image-4-6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-furn-logo" descr="/home/user/Quince/skills/agentic-deck/examples/assets/qui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76072"/>
            <a:ext cx="1188720" cy="3547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875520" y="566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</a:t>
            </a:r>
            <a:endParaRPr lang="en-US" sz="1300" dirty="0"/>
          </a:p>
        </p:txBody>
      </p:sp>
      <p:sp>
        <p:nvSpPr>
          <p:cNvPr id="4" name="ad-cover-title"/>
          <p:cNvSpPr txBox="1"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the Second Purchase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658368" y="3273552"/>
            <a:ext cx="6117336" cy="457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Lifting 90-day repeat from 24% to ~31%, inside the same $120M, with no discounts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and lifecycle strategy, grounded in Adobe Customer Journey Analytics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Competition World Cup  ·  Graduate Track  ·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-title"/>
          <p:cNvSpPr txBox="1"/>
          <p:nvPr/>
        </p:nvSpPr>
        <p:spPr>
          <a:xfrm>
            <a:off x="502920" y="310896"/>
            <a:ext cx="9555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up to $9M to owned channels lifts repeat 24% → ~31%</a:t>
            </a:r>
            <a:endParaRPr lang="en-US" sz="2400" dirty="0"/>
          </a:p>
        </p:txBody>
      </p:sp>
      <p:pic>
        <p:nvPicPr>
          <p:cNvPr id="3" name="ad-furn-logo" descr="/home/user/Quince/skills/agentic-deck/examples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ad-furn-pill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ad-furn-tag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ad-furn-rule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ad-source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B, G, J; Adobe CJA sandbox (A2, A3b, Cohort Table). CAC on Exhibit J’s blended definition; strict new-customer CAC ≈ −8% (appendix 26).</a:t>
            </a:r>
            <a:endParaRPr lang="en-US" sz="800" dirty="0"/>
          </a:p>
        </p:txBody>
      </p:sp>
      <p:sp>
        <p:nvSpPr>
          <p:cNvPr id="8" name="ad-furn-page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298448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" y="1298448"/>
            <a:ext cx="10780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Viral growth built first buyers; CAC is up 29% to $62 and 90-day repeat sits at 24% against 30 to 35% at peers.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029968"/>
            <a:ext cx="3575304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" y="2231136"/>
            <a:ext cx="457200" cy="45720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34086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9304" y="221284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every buyer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" y="285292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Passport card and app tracking in every box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buyers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167128" y="3328416"/>
            <a:ext cx="380848" cy="164592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621128" y="33101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24.5%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repeat share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167128" y="3602736"/>
            <a:ext cx="1025957" cy="164592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266237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04088" y="3913632"/>
            <a:ext cx="3172968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13816" y="39136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share 25% → 50%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306824" y="2029968"/>
            <a:ext cx="3575304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07992" y="2231136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340864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93208" y="221284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the golden month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507992" y="285292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guide at delivery; gap is self-selected (appx 22)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4507992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repeat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971032" y="3328416"/>
            <a:ext cx="436809" cy="164592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80993" y="33101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28.1%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4507992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engaged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971032" y="3602736"/>
            <a:ext cx="137160" cy="164592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81344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507992" y="3913632"/>
            <a:ext cx="3172968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617720" y="39136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repeat +2 pts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110728" y="2029968"/>
            <a:ext cx="3575304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11896" y="2231136"/>
            <a:ext cx="457200" cy="45720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340864"/>
            <a:ext cx="237744" cy="23774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897112" y="221284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pay twice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8311896" y="285292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 stops re-buying our customers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8311896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Retargeted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9774936" y="3328416"/>
            <a:ext cx="357530" cy="164592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205618" y="33101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23.0%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8311896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774936" y="3602736"/>
            <a:ext cx="363748" cy="164592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10211836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23.4%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8311896" y="3913632"/>
            <a:ext cx="3172968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8421624" y="39136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per $ beat the holdout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502920" y="4590288"/>
            <a:ext cx="3593592" cy="1097280"/>
          </a:xfrm>
          <a:prstGeom prst="roundRect">
            <a:avLst>
              <a:gd name="adj" fmla="val 8333"/>
            </a:avLst>
          </a:prstGeom>
          <a:solidFill>
            <a:srgbClr val="0A1F44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04088" y="4700016"/>
            <a:ext cx="319125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24% → ~31%</a:t>
            </a:r>
            <a:endParaRPr lang="en-US" sz="3000" dirty="0"/>
          </a:p>
        </p:txBody>
      </p:sp>
      <p:sp>
        <p:nvSpPr>
          <p:cNvPr id="52" name="Text 46"/>
          <p:cNvSpPr txBox="1"/>
          <p:nvPr/>
        </p:nvSpPr>
        <p:spPr>
          <a:xfrm>
            <a:off x="704088" y="516087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repeat</a:t>
            </a:r>
            <a:endParaRPr lang="en-US" sz="1100" dirty="0"/>
          </a:p>
        </p:txBody>
      </p:sp>
      <p:sp>
        <p:nvSpPr>
          <p:cNvPr id="53" name="Text 47"/>
          <p:cNvSpPr txBox="1"/>
          <p:nvPr/>
        </p:nvSpPr>
        <p:spPr>
          <a:xfrm>
            <a:off x="704088" y="5416906"/>
            <a:ext cx="319125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case; range 29.5 to 33% (appendix 22)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4297680" y="4590288"/>
            <a:ext cx="3593592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4498848" y="4700016"/>
            <a:ext cx="319125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 to −14%</a:t>
            </a:r>
            <a:endParaRPr lang="en-US" sz="3000" dirty="0"/>
          </a:p>
        </p:txBody>
      </p:sp>
      <p:sp>
        <p:nvSpPr>
          <p:cNvPr id="56" name="Text 50"/>
          <p:cNvSpPr txBox="1"/>
          <p:nvPr/>
        </p:nvSpPr>
        <p:spPr>
          <a:xfrm>
            <a:off x="4498848" y="516087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</a:t>
            </a:r>
            <a:endParaRPr lang="en-US" sz="1100" dirty="0"/>
          </a:p>
        </p:txBody>
      </p:sp>
      <p:sp>
        <p:nvSpPr>
          <p:cNvPr id="57" name="Text 51"/>
          <p:cNvSpPr txBox="1"/>
          <p:nvPr/>
        </p:nvSpPr>
        <p:spPr>
          <a:xfrm>
            <a:off x="4498848" y="5416906"/>
            <a:ext cx="319125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 → ~$54, on Exhibit J’s definition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8092440" y="4590288"/>
            <a:ext cx="3593592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8293608" y="4700016"/>
            <a:ext cx="319125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$9M · net $0</a:t>
            </a:r>
            <a:endParaRPr lang="en-US" sz="3000" dirty="0"/>
          </a:p>
        </p:txBody>
      </p:sp>
      <p:sp>
        <p:nvSpPr>
          <p:cNvPr id="60" name="Text 54"/>
          <p:cNvSpPr txBox="1"/>
          <p:nvPr/>
        </p:nvSpPr>
        <p:spPr>
          <a:xfrm>
            <a:off x="8293608" y="516087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Re-aimed from rented lines</a:t>
            </a:r>
            <a:endParaRPr lang="en-US" sz="1100" dirty="0"/>
          </a:p>
        </p:txBody>
      </p:sp>
      <p:sp>
        <p:nvSpPr>
          <p:cNvPr id="61" name="Text 55"/>
          <p:cNvSpPr txBox="1"/>
          <p:nvPr/>
        </p:nvSpPr>
        <p:spPr>
          <a:xfrm>
            <a:off x="8293608" y="5416906"/>
            <a:ext cx="319125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when a holdout proves it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502920" y="5870448"/>
            <a:ext cx="913765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502920" y="5870448"/>
            <a:ext cx="9137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$120M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1526413" y="5870448"/>
            <a:ext cx="1425321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1526413" y="5870448"/>
            <a:ext cx="14253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discounts, ever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3061462" y="5870448"/>
            <a:ext cx="2640267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3061462" y="5870448"/>
            <a:ext cx="2640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Sized in Adobe CJA, proven by holdout</a:t>
            </a:r>
            <a:endParaRPr lang="en-US" sz="950" dirty="0"/>
          </a:p>
        </p:txBody>
      </p:sp>
      <p:pic>
        <p:nvPicPr>
          <p:cNvPr id="68" name="Image 4" descr="/home/user/Quince/skills/agentic-deck/examples/assets/ad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177" y="5927345"/>
            <a:ext cx="640080" cy="1605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-title"/>
          <p:cNvSpPr txBox="1"/>
          <p:nvPr/>
        </p:nvSpPr>
        <p:spPr>
          <a:xfrm>
            <a:off x="502920" y="310896"/>
            <a:ext cx="9555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24.5% of buyers engage, yet they make up 66% of repeaters</a:t>
            </a:r>
            <a:endParaRPr lang="en-US" sz="2400" dirty="0"/>
          </a:p>
        </p:txBody>
      </p:sp>
      <p:pic>
        <p:nvPicPr>
          <p:cNvPr id="3" name="ad-furn-logo" descr="/home/user/Quince/skills/agentic-deck/examples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ad-furn-pill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ad-furn-tag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ad-furn-rule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ad-source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Quince Case Data View, 1 Jan to 30 Apr 2026 (Fallout A1, Segments A2/A5, Flow A4, Cohort Table, A6); case Exhibits A, D, G.</a:t>
            </a:r>
            <a:endParaRPr lang="en-US" sz="800" dirty="0"/>
          </a:p>
        </p:txBody>
      </p:sp>
      <p:sp>
        <p:nvSpPr>
          <p:cNvPr id="8" name="ad-furn-page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06240" y="1298448"/>
            <a:ext cx="0" cy="36118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0" y="1298448"/>
            <a:ext cx="0" cy="36118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funnel breaks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591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at each step (Fallout A1)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1480" y="1901952"/>
          <a:ext cx="36576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423367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9224" y="4233672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never add to cart;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carts stall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comes back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343400" y="1591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rate in the CJA window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343400" y="19019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with email, SMS or app (A2)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43400" y="2121408"/>
            <a:ext cx="294436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60920" y="21031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28.1%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343400" y="23774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after order one (A5, n=265)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343400" y="2596896"/>
            <a:ext cx="225280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669360" y="25786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21.5%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343400" y="28529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after order one (A5, n=315)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343400" y="3072384"/>
            <a:ext cx="1225947" cy="201168"/>
          </a:xfrm>
          <a:prstGeom prst="roundRect">
            <a:avLst>
              <a:gd name="adj" fmla="val 18182"/>
            </a:avLst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642499" y="30540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4343400" y="3328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engaged (A2)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343400" y="3547872"/>
            <a:ext cx="492474" cy="201168"/>
          </a:xfrm>
          <a:prstGeom prst="roundRect">
            <a:avLst>
              <a:gd name="adj" fmla="val 18182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909026" y="35295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343400" y="3822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buyers self-select, so the plan assumes far less lift for buyers we newly capture (appendix 22)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343400" y="423367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489704" y="4233672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24.5%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buyers engage, yet they are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66%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repeat buyers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183880" y="12984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When, and what next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8183880" y="159105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Week-2 repeat (Cohort Table; directional, ~48/week)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1901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9281160" y="195681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829800" y="1938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8183880" y="2212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buyers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9281160" y="2267712"/>
            <a:ext cx="178308" cy="201168"/>
          </a:xfrm>
          <a:prstGeom prst="roundRect">
            <a:avLst>
              <a:gd name="adj" fmla="val 20513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532620" y="22494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2.1%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8183880" y="259689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by category touched (A6)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8183880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9281160" y="2889504"/>
            <a:ext cx="176609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120410" y="28712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20.8%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818388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9281160" y="3163824"/>
            <a:ext cx="1655717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1010029" y="31455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19.5%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818388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9281160" y="3438144"/>
            <a:ext cx="1570809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10925121" y="34198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18.5%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8183880" y="3675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9281160" y="3712464"/>
            <a:ext cx="1163247" cy="201168"/>
          </a:xfrm>
          <a:prstGeom prst="roundRect">
            <a:avLst>
              <a:gd name="adj" fmla="val 18182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517559" y="36941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13.7%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8183880" y="4233672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8330184" y="423367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Cashmere: touched by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40.7%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buyers, repeats least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502920" y="4983480"/>
            <a:ext cx="11183112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85800" y="49834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$120M goes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2350008" y="5202936"/>
            <a:ext cx="3012948" cy="420624"/>
          </a:xfrm>
          <a:prstGeom prst="roundRect">
            <a:avLst>
              <a:gd name="adj" fmla="val 21739"/>
            </a:avLst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2404872" y="5202936"/>
            <a:ext cx="29032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Prospecting  $58M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5399532" y="5202936"/>
            <a:ext cx="699516" cy="420624"/>
          </a:xfrm>
          <a:prstGeom prst="roundRect">
            <a:avLst>
              <a:gd name="adj" fmla="val 21739"/>
            </a:avLst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5417820" y="5202936"/>
            <a:ext cx="6629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$14M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6135624" y="5202936"/>
            <a:ext cx="1120140" cy="420624"/>
          </a:xfrm>
          <a:prstGeom prst="roundRect">
            <a:avLst>
              <a:gd name="adj" fmla="val 21739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190488" y="5202936"/>
            <a:ext cx="1010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 $22M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7292340" y="5202936"/>
            <a:ext cx="804672" cy="420624"/>
          </a:xfrm>
          <a:prstGeom prst="roundRect">
            <a:avLst>
              <a:gd name="adj" fmla="val 21739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7310628" y="520293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$16M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8133588" y="5202936"/>
            <a:ext cx="278892" cy="420624"/>
          </a:xfrm>
          <a:prstGeom prst="roundRect">
            <a:avLst>
              <a:gd name="adj" fmla="val 32787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8449056" y="5202936"/>
            <a:ext cx="173736" cy="420624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7973568" y="5660136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$6M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$4M</a:t>
            </a:r>
            <a:endParaRPr lang="en-US" sz="800" dirty="0"/>
          </a:p>
        </p:txBody>
      </p:sp>
      <p:sp>
        <p:nvSpPr>
          <p:cNvPr id="69" name="Text 65"/>
          <p:cNvSpPr txBox="1"/>
          <p:nvPr/>
        </p:nvSpPr>
        <p:spPr>
          <a:xfrm>
            <a:off x="2331720" y="5678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rented from social</a:t>
            </a:r>
            <a:endParaRPr lang="en-US" sz="950" dirty="0"/>
          </a:p>
        </p:txBody>
      </p:sp>
      <p:pic>
        <p:nvPicPr>
          <p:cNvPr id="70" name="Image 1" descr="/home/user/Quince/skills/agentic-deck/examples/assets/m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5745465"/>
            <a:ext cx="423672" cy="85375"/>
          </a:xfrm>
          <a:prstGeom prst="rect">
            <a:avLst/>
          </a:prstGeom>
        </p:spPr>
      </p:pic>
      <p:pic>
        <p:nvPicPr>
          <p:cNvPr id="71" name="Image 2" descr="/home/user/Quince/skills/agentic-deck/examples/assets/tikt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851" y="5705856"/>
            <a:ext cx="144018" cy="164592"/>
          </a:xfrm>
          <a:prstGeom prst="rect">
            <a:avLst/>
          </a:prstGeom>
        </p:spPr>
      </p:pic>
      <p:pic>
        <p:nvPicPr>
          <p:cNvPr id="72" name="Image 3" descr="/home/user/Quince/skills/agentic-deck/examples/assets/pinte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424" y="5749223"/>
            <a:ext cx="423672" cy="77857"/>
          </a:xfrm>
          <a:prstGeom prst="rect">
            <a:avLst/>
          </a:prstGeom>
        </p:spPr>
      </p:pic>
      <p:pic>
        <p:nvPicPr>
          <p:cNvPr id="73" name="Image 4" descr="/home/user/Quince/skills/agentic-deck/examples/assets/goog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234" y="5711952"/>
            <a:ext cx="502920" cy="152400"/>
          </a:xfrm>
          <a:prstGeom prst="rect">
            <a:avLst/>
          </a:prstGeom>
        </p:spPr>
      </p:pic>
      <p:sp>
        <p:nvSpPr>
          <p:cNvPr id="74" name="Shape 66"/>
          <p:cNvSpPr/>
          <p:nvPr/>
        </p:nvSpPr>
        <p:spPr>
          <a:xfrm>
            <a:off x="8778240" y="5093208"/>
            <a:ext cx="2724912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8924544" y="5093208"/>
            <a:ext cx="24323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CAC counts sales that would happen anyway; owned gets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$1.43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active customer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-title"/>
          <p:cNvSpPr txBox="1"/>
          <p:nvPr/>
        </p:nvSpPr>
        <p:spPr>
          <a:xfrm>
            <a:off x="502920" y="310896"/>
            <a:ext cx="9555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Rivals copy 20% off overnight; our cost and buyers take years</a:t>
            </a:r>
            <a:endParaRPr lang="en-US" sz="2400" dirty="0"/>
          </a:p>
        </p:txBody>
      </p:sp>
      <p:pic>
        <p:nvPicPr>
          <p:cNvPr id="3" name="ad-furn-logo" descr="/home/user/Quince/skills/agentic-deck/examples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ad-furn-pill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ad-furn-tag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ad-furn-rule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ad-source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company filings and press (Amazon Q2 2026, Everlane sale 2024, Williams-Sonoma v. Amazon); team judgement on position. Logos from each company’s Wikipedia infobox.</a:t>
            </a:r>
            <a:endParaRPr lang="en-US" sz="800" dirty="0"/>
          </a:p>
        </p:txBody>
      </p:sp>
      <p:sp>
        <p:nvSpPr>
          <p:cNvPr id="8" name="ad-furn-page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vs owned relationship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5910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Y: share of buyers reachable via app, email or SMS (team judgement)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68680" y="1901952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993392"/>
            <a:ext cx="0" cy="278892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960120" y="3387852"/>
            <a:ext cx="4572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68680" y="4928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position: value → premium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57784" y="1901952"/>
            <a:ext cx="25603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reach →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978408" y="1975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Owned, value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3319272" y="1975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Owned, premium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78408" y="4599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Rented, value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319272" y="4599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Rented, premium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106414" y="2622499"/>
            <a:ext cx="1105599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1106414" y="2622499"/>
            <a:ext cx="11055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target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 flipH="1" flipV="1">
            <a:off x="1659214" y="3024835"/>
            <a:ext cx="182388" cy="88239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306116" y="3925519"/>
            <a:ext cx="10709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pic>
        <p:nvPicPr>
          <p:cNvPr id="24" name="Image 1" descr="/home/user/Quince/skills/agentic-deck/examples/assets/qui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276" y="3998671"/>
            <a:ext cx="796651" cy="23774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60120" y="2153412"/>
            <a:ext cx="11536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" name="Image 2" descr="/home/user/Quince/skills/agentic-deck/examples/assets/she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53996"/>
            <a:ext cx="879348" cy="18288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2321741" y="2674620"/>
            <a:ext cx="98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8" name="Image 3" descr="/home/user/Quince/skills/agentic-deck/examples/assets/amaz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901" y="2747772"/>
            <a:ext cx="710260" cy="23774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346704" y="31958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0" name="Image 4" descr="/home/user/Quince/skills/agentic-deck/examples/assets/everla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3323406"/>
            <a:ext cx="1280160" cy="12889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3977640" y="2361895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2" name="Image 5" descr="/home/user/Quince/skills/agentic-deck/examples/assets/williams_sonom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508561"/>
            <a:ext cx="1280160" cy="90717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897880" y="1298448"/>
            <a:ext cx="0" cy="3886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126480" y="1298448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rival can copy, and how fast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126480" y="1591056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match each part of the plan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6126480" y="1901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off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8503920" y="1993392"/>
            <a:ext cx="137160" cy="201168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8714232" y="1975104"/>
            <a:ext cx="129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Overnight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126480" y="2286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Journeys and suppression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8503920" y="2377440"/>
            <a:ext cx="201620" cy="201168"/>
          </a:xfrm>
          <a:prstGeom prst="roundRect">
            <a:avLst>
              <a:gd name="adj" fmla="val 18182"/>
            </a:avLst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8778692" y="2359152"/>
            <a:ext cx="129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quarter or two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6126480" y="2670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cost + opted-in buyers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503920" y="2761488"/>
            <a:ext cx="1512147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0089219" y="2743200"/>
            <a:ext cx="129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126480" y="3273552"/>
            <a:ext cx="5559552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/>
        </p:spPr>
      </p:sp>
      <p:pic>
        <p:nvPicPr>
          <p:cNvPr id="46" name="Image 6" descr="/home/user/Quince/skills/agentic-deck/examples/assets/ama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150" y="3493008"/>
            <a:ext cx="710260" cy="237744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589520" y="327355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reach is an auction Quince can’t win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ad business $19.8B a quarter, +26%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6126480" y="4041648"/>
            <a:ext cx="5559552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/>
        </p:spPr>
      </p:sp>
      <p:pic>
        <p:nvPicPr>
          <p:cNvPr id="49" name="Image 7" descr="/home/user/Quince/skills/agentic-deck/examples/assets/everla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780" y="4322435"/>
            <a:ext cx="1143000" cy="11508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7589520" y="404164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channels alone aren’t a moat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 email and SMS, yet still sold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6126480" y="4809744"/>
            <a:ext cx="5559552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/>
        </p:spPr>
      </p:sp>
      <p:pic>
        <p:nvPicPr>
          <p:cNvPr id="52" name="Image 8" descr="/home/user/Quince/skills/agentic-deck/examples/assets/williams_sonom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780" y="5107573"/>
            <a:ext cx="1143000" cy="80997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7589520" y="4809744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must come from proof, not comparisons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Sued Amazon over “dupes”</a:t>
            </a:r>
            <a:endParaRPr lang="en-US" sz="1100" dirty="0"/>
          </a:p>
        </p:txBody>
      </p:sp>
      <p:sp>
        <p:nvSpPr>
          <p:cNvPr id="54" name="Shape 43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30936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940" y="5839724"/>
            <a:ext cx="171176" cy="171176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106424" y="5669280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moat is the combination: keep the factory-direct price, build the owned relationship rivals can’t buy.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-title"/>
          <p:cNvSpPr txBox="1"/>
          <p:nvPr/>
        </p:nvSpPr>
        <p:spPr>
          <a:xfrm>
            <a:off x="502920" y="310896"/>
            <a:ext cx="9555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ask for the opt-in at delivery to lift engaged 24.5% → 50%</a:t>
            </a:r>
            <a:endParaRPr lang="en-US" sz="2400" dirty="0"/>
          </a:p>
        </p:txBody>
      </p:sp>
      <p:pic>
        <p:nvPicPr>
          <p:cNvPr id="3" name="ad-furn-logo" descr="/home/user/Quince/skills/agentic-deck/examples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ad-furn-pill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ad-furn-tag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ad-furn-rule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ad-source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 panels A1, A2, A4, A5, A6 and Cohort Table; mechanisms are hypotheses the pilot tests.</a:t>
            </a:r>
            <a:endParaRPr lang="en-US" sz="800" dirty="0"/>
          </a:p>
        </p:txBody>
      </p:sp>
      <p:sp>
        <p:nvSpPr>
          <p:cNvPr id="8" name="ad-furn-page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301714" y="1792224"/>
            <a:ext cx="9585525" cy="0"/>
          </a:xfrm>
          <a:prstGeom prst="line">
            <a:avLst/>
          </a:prstGeom>
          <a:noFill/>
          <a:ln w="25400">
            <a:solidFill>
              <a:srgbClr val="BFDB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818" y="1481328"/>
            <a:ext cx="621792" cy="6217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48" y="1630558"/>
            <a:ext cx="323332" cy="3233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5216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45.5% via prospecting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210274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5216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Loyalist Lookalikes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588405" y="1481328"/>
            <a:ext cx="621792" cy="6217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635" y="1630558"/>
            <a:ext cx="323332" cy="3233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182803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page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2182803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237667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25,227 leave here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2182803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signals quality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807861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182803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228523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Creators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85993" y="1481328"/>
            <a:ext cx="621792" cy="6217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223" y="1630558"/>
            <a:ext cx="323332" cy="32333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780391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3780391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3835255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 never order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3780391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loop fades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405449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780391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826111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Cart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783580" y="1481328"/>
            <a:ext cx="621792" cy="6217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810" y="1630558"/>
            <a:ext cx="323332" cy="32333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377978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5377978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5432842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27.1% vs web 22.7%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5377978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effect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003036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377978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423698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It in the App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81167" y="1481328"/>
            <a:ext cx="621792" cy="621792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0398" y="1630558"/>
            <a:ext cx="323332" cy="32333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975566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6975566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7030430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24.5% → 50% target</a:t>
            </a:r>
            <a:endParaRPr lang="en-US" sz="1100" dirty="0"/>
          </a:p>
        </p:txBody>
      </p:sp>
      <p:sp>
        <p:nvSpPr>
          <p:cNvPr id="51" name="Text 43"/>
          <p:cNvSpPr txBox="1"/>
          <p:nvPr/>
        </p:nvSpPr>
        <p:spPr>
          <a:xfrm>
            <a:off x="6975566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Peak-end effect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7600623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6975566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7021286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8978755" y="1481328"/>
            <a:ext cx="621792" cy="6217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985" y="1630558"/>
            <a:ext cx="323332" cy="323332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8573153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0 to 30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8573153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8628017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Week-2 peak 5.6%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573153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 formation</a:t>
            </a:r>
            <a:endParaRPr lang="en-US" sz="1100" dirty="0"/>
          </a:p>
        </p:txBody>
      </p:sp>
      <p:sp>
        <p:nvSpPr>
          <p:cNvPr id="61" name="Shape 52"/>
          <p:cNvSpPr/>
          <p:nvPr/>
        </p:nvSpPr>
        <p:spPr>
          <a:xfrm>
            <a:off x="9198211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8573153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8618873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Calendar</a:t>
            </a:r>
            <a:endParaRPr lang="en-US" sz="1100" dirty="0"/>
          </a:p>
        </p:txBody>
      </p:sp>
      <p:sp>
        <p:nvSpPr>
          <p:cNvPr id="64" name="Shape 55"/>
          <p:cNvSpPr/>
          <p:nvPr/>
        </p:nvSpPr>
        <p:spPr>
          <a:xfrm>
            <a:off x="10576342" y="1481328"/>
            <a:ext cx="621792" cy="6217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572" y="1630558"/>
            <a:ext cx="323332" cy="323332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10170741" y="2176272"/>
            <a:ext cx="1432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30 to 90</a:t>
            </a:r>
            <a:endParaRPr lang="en-US" sz="1300" dirty="0"/>
          </a:p>
        </p:txBody>
      </p:sp>
      <p:sp>
        <p:nvSpPr>
          <p:cNvPr id="67" name="Shape 57"/>
          <p:cNvSpPr/>
          <p:nvPr/>
        </p:nvSpPr>
        <p:spPr>
          <a:xfrm>
            <a:off x="10170741" y="2722626"/>
            <a:ext cx="1432995" cy="710946"/>
          </a:xfrm>
          <a:prstGeom prst="roundRect">
            <a:avLst>
              <a:gd name="adj" fmla="val 1028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10225605" y="2722626"/>
            <a:ext cx="1323267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13.7%</a:t>
            </a:r>
            <a:endParaRPr lang="en-US" sz="1100" dirty="0"/>
          </a:p>
        </p:txBody>
      </p:sp>
      <p:sp>
        <p:nvSpPr>
          <p:cNvPr id="69" name="Text 59"/>
          <p:cNvSpPr txBox="1"/>
          <p:nvPr/>
        </p:nvSpPr>
        <p:spPr>
          <a:xfrm>
            <a:off x="10170741" y="3624453"/>
            <a:ext cx="1432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accounting</a:t>
            </a:r>
            <a:endParaRPr lang="en-US" sz="1100" dirty="0"/>
          </a:p>
        </p:txBody>
      </p:sp>
      <p:sp>
        <p:nvSpPr>
          <p:cNvPr id="70" name="Shape 60"/>
          <p:cNvSpPr/>
          <p:nvPr/>
        </p:nvSpPr>
        <p:spPr>
          <a:xfrm>
            <a:off x="10795798" y="4272534"/>
            <a:ext cx="182880" cy="23774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10170741" y="4601718"/>
            <a:ext cx="1432995" cy="619506"/>
          </a:xfrm>
          <a:prstGeom prst="roundRect">
            <a:avLst>
              <a:gd name="adj" fmla="val 1180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10216461" y="4601718"/>
            <a:ext cx="1341555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</a:t>
            </a:r>
            <a:endParaRPr lang="en-US" sz="1100" dirty="0"/>
          </a:p>
        </p:txBody>
      </p:sp>
      <p:sp>
        <p:nvSpPr>
          <p:cNvPr id="73" name="Shape 63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630936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940" y="5839724"/>
            <a:ext cx="171176" cy="17117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1106424" y="5669280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peaks when the parcel opens, so the Passport goes in the box, never a discount code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-title"/>
          <p:cNvSpPr txBox="1"/>
          <p:nvPr/>
        </p:nvSpPr>
        <p:spPr>
          <a:xfrm>
            <a:off x="502920" y="310896"/>
            <a:ext cx="9555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move $4M at day 90 only if the South holdout proves it</a:t>
            </a:r>
            <a:endParaRPr lang="en-US" sz="2400" dirty="0"/>
          </a:p>
        </p:txBody>
      </p:sp>
      <p:pic>
        <p:nvPicPr>
          <p:cNvPr id="3" name="ad-furn-logo" descr="/home/user/Quince/skills/agentic-deck/examples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ad-furn-pill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ad-furn-tag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ad-furn-rule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ad-source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plan; spend stays inside the $14M retargeting and $6M owned lines (Exhibit I). Pass marks pre-registered before launch.</a:t>
            </a:r>
            <a:endParaRPr lang="en-US" sz="800" dirty="0"/>
          </a:p>
        </p:txBody>
      </p:sp>
      <p:sp>
        <p:nvSpPr>
          <p:cNvPr id="8" name="ad-furn-page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298448"/>
            <a:ext cx="2535174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" y="1463040"/>
            <a:ext cx="1041654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" y="1463040"/>
            <a:ext cx="1041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 to 4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71166" y="1426464"/>
            <a:ext cx="402336" cy="4023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727" y="1523025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7512" y="18105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" y="2267712"/>
            <a:ext cx="22059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CJA → Journey Optimizer; consent split; 10% randomised South holdout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092958" y="1920240"/>
            <a:ext cx="237744" cy="219456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85566" y="1298448"/>
            <a:ext cx="2535174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8" name="Shape 14"/>
          <p:cNvSpPr/>
          <p:nvPr/>
        </p:nvSpPr>
        <p:spPr>
          <a:xfrm>
            <a:off x="3550158" y="1463040"/>
            <a:ext cx="1041654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550158" y="1463040"/>
            <a:ext cx="1041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 to 8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353812" y="1426464"/>
            <a:ext cx="402336" cy="4023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373" y="1523025"/>
            <a:ext cx="209215" cy="20921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550158" y="18105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550158" y="2267712"/>
            <a:ext cx="22059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Suppression, Saved Cart, checkout SMS, Passport cards in boxes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975604" y="1920240"/>
            <a:ext cx="237744" cy="219456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68212" y="1298448"/>
            <a:ext cx="2535174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26" name="Shape 21"/>
          <p:cNvSpPr/>
          <p:nvPr/>
        </p:nvSpPr>
        <p:spPr>
          <a:xfrm>
            <a:off x="6432804" y="1463040"/>
            <a:ext cx="1105599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32804" y="1463040"/>
            <a:ext cx="1105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9 to 12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236458" y="1426464"/>
            <a:ext cx="402336" cy="4023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019" y="1523025"/>
            <a:ext cx="209215" cy="20921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432804" y="18105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weekly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32804" y="2267712"/>
            <a:ext cx="22059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lever against the holdout at the CJA council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858250" y="1920240"/>
            <a:ext cx="237744" cy="219456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150858" y="1298448"/>
            <a:ext cx="2535174" cy="1463040"/>
          </a:xfrm>
          <a:prstGeom prst="roundRect">
            <a:avLst>
              <a:gd name="adj" fmla="val 6250"/>
            </a:avLst>
          </a:prstGeom>
          <a:solidFill>
            <a:srgbClr val="0A1F44"/>
          </a:solidFill>
          <a:ln/>
        </p:spPr>
      </p:sp>
      <p:sp>
        <p:nvSpPr>
          <p:cNvPr id="34" name="Shape 28"/>
          <p:cNvSpPr/>
          <p:nvPr/>
        </p:nvSpPr>
        <p:spPr>
          <a:xfrm>
            <a:off x="9315450" y="1463040"/>
            <a:ext cx="657987" cy="23774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315450" y="1463040"/>
            <a:ext cx="6579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90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11119104" y="1426464"/>
            <a:ext cx="402336" cy="402336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5665" y="1523025"/>
            <a:ext cx="209215" cy="20921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315450" y="1810512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1: $4M moves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315450" y="2267712"/>
            <a:ext cx="22059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→ owned, only if all three pass marks clear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502920" y="2944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marks at Gate 1, by lever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502920" y="3291840"/>
            <a:ext cx="3593592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704088" y="3401568"/>
            <a:ext cx="319125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2×</a:t>
            </a:r>
            <a:endParaRPr lang="en-US" sz="3000" dirty="0"/>
          </a:p>
        </p:txBody>
      </p:sp>
      <p:sp>
        <p:nvSpPr>
          <p:cNvPr id="43" name="Text 36"/>
          <p:cNvSpPr txBox="1"/>
          <p:nvPr/>
        </p:nvSpPr>
        <p:spPr>
          <a:xfrm>
            <a:off x="704088" y="390083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share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704088" y="4156862"/>
            <a:ext cx="319125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· CRM + app squad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4297680" y="3291840"/>
            <a:ext cx="3593592" cy="1188720"/>
          </a:xfrm>
          <a:prstGeom prst="roundRect">
            <a:avLst>
              <a:gd name="adj" fmla="val 7692"/>
            </a:avLst>
          </a:prstGeom>
          <a:solidFill>
            <a:srgbClr val="0A1F44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4498848" y="3401568"/>
            <a:ext cx="319125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pts</a:t>
            </a:r>
            <a:endParaRPr lang="en-US" sz="3000" dirty="0"/>
          </a:p>
        </p:txBody>
      </p:sp>
      <p:sp>
        <p:nvSpPr>
          <p:cNvPr id="47" name="Text 40"/>
          <p:cNvSpPr txBox="1"/>
          <p:nvPr/>
        </p:nvSpPr>
        <p:spPr>
          <a:xfrm>
            <a:off x="4498848" y="390083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repeat vs holdout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4498848" y="4156862"/>
            <a:ext cx="319125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month · lifecycle team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8092440" y="3291840"/>
            <a:ext cx="3593592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8293608" y="3401568"/>
            <a:ext cx="319125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holdout</a:t>
            </a:r>
            <a:endParaRPr lang="en-US" sz="3000" dirty="0"/>
          </a:p>
        </p:txBody>
      </p:sp>
      <p:sp>
        <p:nvSpPr>
          <p:cNvPr id="51" name="Text 44"/>
          <p:cNvSpPr txBox="1"/>
          <p:nvPr/>
        </p:nvSpPr>
        <p:spPr>
          <a:xfrm>
            <a:off x="8293608" y="390083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per retargeting $</a:t>
            </a:r>
            <a:endParaRPr lang="en-US" sz="1100" dirty="0"/>
          </a:p>
        </p:txBody>
      </p:sp>
      <p:sp>
        <p:nvSpPr>
          <p:cNvPr id="52" name="Text 45"/>
          <p:cNvSpPr txBox="1"/>
          <p:nvPr/>
        </p:nvSpPr>
        <p:spPr>
          <a:xfrm>
            <a:off x="8293608" y="4156862"/>
            <a:ext cx="319125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pay twice · paid media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502920" y="4645152"/>
            <a:ext cx="360578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1124712" y="4645152"/>
            <a:ext cx="2855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clear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then prospecting, months 4 to 9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649224" y="4846320"/>
            <a:ext cx="347472" cy="347472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291584" y="4645152"/>
            <a:ext cx="360578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0A1F44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4913376" y="4645152"/>
            <a:ext cx="2855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by lever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winners, re-test 60 days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4437888" y="4846320"/>
            <a:ext cx="347472" cy="34747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8080248" y="4645152"/>
            <a:ext cx="360578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8702040" y="4645152"/>
            <a:ext cx="2855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beats holdout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$14M stays where it is</a:t>
            </a:r>
            <a:endParaRPr lang="en-US" sz="1100" dirty="0"/>
          </a:p>
        </p:txBody>
      </p:sp>
      <p:sp>
        <p:nvSpPr>
          <p:cNvPr id="61" name="Shape 54"/>
          <p:cNvSpPr/>
          <p:nvPr/>
        </p:nvSpPr>
        <p:spPr>
          <a:xfrm>
            <a:off x="8226552" y="4846320"/>
            <a:ext cx="347472" cy="347472"/>
          </a:xfrm>
          <a:prstGeom prst="ellipse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17" y="4929713"/>
            <a:ext cx="180685" cy="180685"/>
          </a:xfrm>
          <a:prstGeom prst="rect">
            <a:avLst/>
          </a:prstGeom>
        </p:spPr>
      </p:pic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281" y="4929713"/>
            <a:ext cx="180685" cy="180685"/>
          </a:xfrm>
          <a:prstGeom prst="rect">
            <a:avLst/>
          </a:prstGeom>
        </p:spPr>
      </p:pic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945" y="4929713"/>
            <a:ext cx="180685" cy="180685"/>
          </a:xfrm>
          <a:prstGeom prst="rect">
            <a:avLst/>
          </a:prstGeom>
        </p:spPr>
      </p:pic>
      <p:sp>
        <p:nvSpPr>
          <p:cNvPr id="65" name="Shape 55"/>
          <p:cNvSpPr/>
          <p:nvPr/>
        </p:nvSpPr>
        <p:spPr>
          <a:xfrm>
            <a:off x="502920" y="5715000"/>
            <a:ext cx="11183112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630936" y="580644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940" y="5885444"/>
            <a:ext cx="171176" cy="171176"/>
          </a:xfrm>
          <a:prstGeom prst="rect">
            <a:avLst/>
          </a:prstGeom>
        </p:spPr>
      </p:pic>
      <p:sp>
        <p:nvSpPr>
          <p:cNvPr id="68" name="Text 57"/>
          <p:cNvSpPr txBox="1"/>
          <p:nvPr/>
        </p:nvSpPr>
        <p:spPr>
          <a:xfrm>
            <a:off x="1106424" y="5715000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$9M moves rented → owned, and holdouts decide every dollar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Adobe CJA evidence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Fallout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095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 IQ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38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Table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1970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468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analysis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blend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2095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tree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538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moves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to 31%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468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32095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and its source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538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 the Second Purchase</dc:title>
  <dc:subject>PptxGenJS Presentation</dc:subject>
  <dc:creator/>
  <cp:lastModifiedBy/>
  <cp:revision>1</cp:revision>
  <dcterms:created xsi:type="dcterms:W3CDTF">2026-10-20T08:07:45Z</dcterms:created>
  <dcterms:modified xsi:type="dcterms:W3CDTF">2026-10-20T08:07:45Z</dcterms:modified>
</cp:coreProperties>
</file>