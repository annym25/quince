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seconds. Anchor the judges on the financial stakes: CAC is $62 and rising, and 77% of carts never become orders. Then the anti-dupe brand evolution: three owned-channel flagships, no discounts, funded by $7.5M moved inside the fixed budget and proven by Adobe CJA holdouts. Close on impact: repeat 24% to about 31%, CAC down 12 to 14%.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hook. Quince's valuation is not built on selling cheap sweaters; it is built on becoming lifestyle infrastructure. Rented reach costs more every year while customer value stays flat unless Quince earns the second purchase. Discounts would only teach customers to wait.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the blame from bad retargeting ads to human psychology. 77% of people who add to cart never order. After the first order, buyers we engage return at 5.6% in week two, against about 1% for buyers who hear nothing. App users after order one repeat at 21.5%. Standard ads don't fix trust; owned-channel education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engines, each built for cross-category adoption. Pitch the Gifting Ledger as the ultimate weapon for jewelry and home goods: categories where occasion buying is critical but Quince currently lacks authority. In CJA, Home buyers repeat at 20.8% against 13.7% for cashmere, so the second order has to come from a new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Anyone can undercut a price: a discount code takes a day to match. A triggered, educational lifecycle program built on a consented customer base takes nine to twelve months to replicate. Quince moves from value-and-transactional to value-and-relationship, the quadrant fast fashion can't reach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you win the judges. Quince's magic is cross-border logistics: direct factories to the door. Marketing must plug into that supply chain data so Material Journeys can fire on real shipping milestones. That means moving from siloed channel owners to a cross-functional retention pod, with Adobe CJA's stitched person ID underneath every trigger.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word pilot. Tranche 1 moves $4M out of paid social retargeting in months 1 to 3. Nothing becomes permanent unless the Adobe CJA holdout shows more than 200 basis points of incremental lift on 30-day repeat. That solves the internal political battle: the data decides whether the money stays 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1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1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Quince/7efe80ae-a049-50c2-9886-98bf7ca3a04a/scratchpad/assets/qui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72434"/>
            <a:ext cx="1188720" cy="35474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875520" y="566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the Second Purchase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2004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7D7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transactional dupe to trusted lifestyle brand, with the same $120M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4343400"/>
            <a:ext cx="2148840" cy="868680"/>
          </a:xfrm>
          <a:prstGeom prst="roundRect">
            <a:avLst>
              <a:gd name="adj" fmla="val 10526"/>
            </a:avLst>
          </a:prstGeom>
          <a:solidFill>
            <a:srgbClr val="16306A"/>
          </a:solidFill>
          <a:ln w="9525">
            <a:solidFill>
              <a:srgbClr val="3554A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24% → 31%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90-day repeat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71800" y="4343400"/>
            <a:ext cx="2148840" cy="868680"/>
          </a:xfrm>
          <a:prstGeom prst="roundRect">
            <a:avLst>
              <a:gd name="adj" fmla="val 10526"/>
            </a:avLst>
          </a:prstGeom>
          <a:solidFill>
            <a:srgbClr val="16306A"/>
          </a:solidFill>
          <a:ln w="9525">
            <a:solidFill>
              <a:srgbClr val="3554A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5468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 to −14%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CAC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03520" y="4343400"/>
            <a:ext cx="2148840" cy="868680"/>
          </a:xfrm>
          <a:prstGeom prst="roundRect">
            <a:avLst>
              <a:gd name="adj" fmla="val 10526"/>
            </a:avLst>
          </a:prstGeom>
          <a:solidFill>
            <a:srgbClr val="16306A"/>
          </a:solidFill>
          <a:ln w="9525">
            <a:solidFill>
              <a:srgbClr val="3554A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budget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Retargeting and lifecycle strategy  ·  Grounded in Adobe Customer Journey Analytics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108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Competition World Cup  ·  Graduate Track  · 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$9M to Owned Channels to Drive Profitable Retention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4A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case Exhibits C, D, G, H, J; Adobe CJA (Quince case data view, Jan–Apr 2026); impact figures are team estimates.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02920" y="132588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0285A"/>
          </a:solidFill>
          <a:ln w="9525">
            <a:solidFill>
              <a:srgbClr val="2A4A8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490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 risk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03520" y="1490472"/>
            <a:ext cx="457200" cy="457200"/>
          </a:xfrm>
          <a:prstGeom prst="ellipse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159105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" y="16916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 CAC </a:t>
            </a:r>
            <a:pPr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(+29%)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25420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7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and Google saturation threatens the unit economic model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2920" y="3493008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0285A"/>
          </a:solidFill>
          <a:ln w="9525">
            <a:solidFill>
              <a:srgbClr val="2A4A8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3152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insight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303520" y="3657600"/>
            <a:ext cx="457200" cy="457200"/>
          </a:xfrm>
          <a:prstGeom prst="ellipse">
            <a:avLst/>
          </a:prstGeom>
          <a:solidFill>
            <a:srgbClr val="D97706"/>
          </a:solidFill>
          <a:ln w="6350">
            <a:solidFill>
              <a:srgbClr val="D9770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375818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1520" y="38587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77% drop-off</a:t>
            </a:r>
            <a:endParaRPr lang="en-US" sz="40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4709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7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 abandonment: likely price-to-quality skepticism, not UX friction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199632" y="132588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0285A"/>
          </a:solidFill>
          <a:ln w="9525">
            <a:solidFill>
              <a:srgbClr val="2A4A8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28232" y="1490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pivot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830568" y="1691640"/>
            <a:ext cx="658368" cy="658368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5409" y="1836481"/>
            <a:ext cx="368686" cy="36868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355080" y="2395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Quince Passport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8549640" y="1691640"/>
            <a:ext cx="658368" cy="658368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4481" y="1836481"/>
            <a:ext cx="368686" cy="36868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074152" y="2395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Journeys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10268712" y="1691640"/>
            <a:ext cx="658368" cy="658368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3553" y="1836481"/>
            <a:ext cx="368686" cy="36868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793224" y="2395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Gifting Ledger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6428232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7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owned-channel flagships  ·  zero price-led retention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6199632" y="3493008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0285A"/>
          </a:solidFill>
          <a:ln w="9525">
            <a:solidFill>
              <a:srgbClr val="2A4A8A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6428232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11000232" y="3657600"/>
            <a:ext cx="457200" cy="457200"/>
          </a:xfrm>
          <a:prstGeom prst="ellipse">
            <a:avLst/>
          </a:prstGeom>
          <a:solidFill>
            <a:srgbClr val="16A34A"/>
          </a:solidFill>
          <a:ln w="6350">
            <a:solidFill>
              <a:srgbClr val="16A34A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0816" y="3758184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28232" y="38587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$7.5M</a:t>
            </a:r>
            <a:endParaRPr lang="en-US" sz="4000" dirty="0"/>
          </a:p>
        </p:txBody>
      </p:sp>
      <p:sp>
        <p:nvSpPr>
          <p:cNvPr id="38" name="Text 29"/>
          <p:cNvSpPr txBox="1"/>
          <p:nvPr/>
        </p:nvSpPr>
        <p:spPr>
          <a:xfrm>
            <a:off x="6428232" y="4709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7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Self-funded reallocation, shielded by Adobe CJA incrementality testing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502920" y="5650992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731520" y="565099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90-day repeat 24% → ~31%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·    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CAC −12 to −14%</a:t>
            </a:r>
            <a:endParaRPr lang="en-US" sz="130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9320" y="5824728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263640" y="56509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 new budget</a:t>
            </a:r>
            <a:endParaRPr lang="en-US" sz="1100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5824728"/>
            <a:ext cx="219456" cy="219456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8138160" y="56509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price-led retention</a:t>
            </a:r>
            <a:endParaRPr lang="en-US" sz="110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8360" y="5824728"/>
            <a:ext cx="219456" cy="219456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10012680" y="56509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in CJA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Defend a $10B Valuation, Quince Must Evolve Beyond "Transactional Dupe"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case Exhibits B, G, H; Reuters (Mar 2026, $10.1B valuation); Adjust and AppsFlyer ATT benchmarks. LTV line is illustrative: the case gives one LTV point, held flat absent retention gains.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3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325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 is diverging from customer value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6002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Index, two years ago = 100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51560" y="4140200"/>
            <a:ext cx="4069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502920" y="40304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051560" y="3571240"/>
            <a:ext cx="4069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502920" y="34615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110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51560" y="3002280"/>
            <a:ext cx="4069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502920" y="28925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051560" y="2433320"/>
            <a:ext cx="4069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502920" y="23235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051560" y="4709160"/>
            <a:ext cx="40690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1051560" y="2490216"/>
            <a:ext cx="4069080" cy="1649984"/>
          </a:xfrm>
          <a:prstGeom prst="line">
            <a:avLst/>
          </a:prstGeom>
          <a:noFill/>
          <a:ln w="50800">
            <a:solidFill>
              <a:srgbClr val="DC262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51560" y="4140200"/>
            <a:ext cx="406908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969264" y="4057904"/>
            <a:ext cx="164592" cy="164592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20056" y="2389632"/>
            <a:ext cx="201168" cy="201168"/>
          </a:xfrm>
          <a:prstGeom prst="ellipse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57600" y="20513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 $62 (+29%)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2743200" y="4213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LTV flat without retention gains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37561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$48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47640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years ago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7640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6035040" y="1325880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Quince must move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035040" y="2880360"/>
            <a:ext cx="773321" cy="310896"/>
          </a:xfrm>
          <a:prstGeom prst="rect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99217" y="2880360"/>
            <a:ext cx="773321" cy="310896"/>
          </a:xfrm>
          <a:prstGeom prst="rect">
            <a:avLst/>
          </a:prstGeom>
          <a:solidFill>
            <a:srgbClr val="E8551F"/>
          </a:solidFill>
          <a:ln w="6350">
            <a:solidFill>
              <a:srgbClr val="E8551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63394" y="2880360"/>
            <a:ext cx="773321" cy="310896"/>
          </a:xfrm>
          <a:prstGeom prst="rect">
            <a:avLst/>
          </a:prstGeom>
          <a:solidFill>
            <a:srgbClr val="F08A1C"/>
          </a:solidFill>
          <a:ln w="6350">
            <a:solidFill>
              <a:srgbClr val="F08A1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327571" y="2880360"/>
            <a:ext cx="773321" cy="310896"/>
          </a:xfrm>
          <a:prstGeom prst="rect">
            <a:avLst/>
          </a:prstGeom>
          <a:solidFill>
            <a:srgbClr val="D9A21B"/>
          </a:solidFill>
          <a:ln w="6350">
            <a:solidFill>
              <a:srgbClr val="D9A21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091749" y="2880360"/>
            <a:ext cx="773321" cy="310896"/>
          </a:xfrm>
          <a:prstGeom prst="rect">
            <a:avLst/>
          </a:prstGeom>
          <a:solidFill>
            <a:srgbClr val="9BB13A"/>
          </a:solidFill>
          <a:ln w="6350">
            <a:solidFill>
              <a:srgbClr val="9BB13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855926" y="2880360"/>
            <a:ext cx="773321" cy="310896"/>
          </a:xfrm>
          <a:prstGeom prst="rect">
            <a:avLst/>
          </a:prstGeom>
          <a:solidFill>
            <a:srgbClr val="4FA352"/>
          </a:solidFill>
          <a:ln w="6350">
            <a:solidFill>
              <a:srgbClr val="4FA35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620103" y="2880360"/>
            <a:ext cx="773321" cy="310896"/>
          </a:xfrm>
          <a:prstGeom prst="rect">
            <a:avLst/>
          </a:prstGeom>
          <a:solidFill>
            <a:srgbClr val="16A34A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rot="5400000">
            <a:off x="11365992" y="2761488"/>
            <a:ext cx="365760" cy="548640"/>
          </a:xfrm>
          <a:prstGeom prst="triangle">
            <a:avLst/>
          </a:prstGeom>
          <a:solidFill>
            <a:srgbClr val="16A34A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035040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fashion / dupe culture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6035040" y="35387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Transactional · high churn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915400" y="3291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lifestyle ecosystem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8915400" y="3538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trust · occasion buying</a:t>
            </a:r>
            <a:endParaRPr lang="en-US" sz="1000" dirty="0"/>
          </a:p>
        </p:txBody>
      </p:sp>
      <p:pic>
        <p:nvPicPr>
          <p:cNvPr id="42" name="Image 1" descr="/tmp/claude-0/-home-user-Quince/7efe80ae-a049-50c2-9886-98bf7ca3a04a/scratchpad/assets/she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3937932"/>
            <a:ext cx="822960" cy="170857"/>
          </a:xfrm>
          <a:prstGeom prst="rect">
            <a:avLst/>
          </a:prstGeom>
        </p:spPr>
      </p:pic>
      <p:pic>
        <p:nvPicPr>
          <p:cNvPr id="43" name="Image 2" descr="/tmp/claude-0/-home-user-Quince/7efe80ae-a049-50c2-9886-98bf7ca3a04a/scratchpad/assets/williams_sonom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3971436"/>
            <a:ext cx="1463040" cy="103848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6644945" y="2167128"/>
            <a:ext cx="1133856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dash"/>
          </a:ln>
        </p:spPr>
      </p:sp>
      <p:pic>
        <p:nvPicPr>
          <p:cNvPr id="45" name="Image 3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547" y="2258568"/>
            <a:ext cx="796651" cy="237744"/>
          </a:xfrm>
          <a:prstGeom prst="rect">
            <a:avLst/>
          </a:prstGeom>
        </p:spPr>
      </p:pic>
      <p:sp>
        <p:nvSpPr>
          <p:cNvPr id="46" name="Shape 40"/>
          <p:cNvSpPr/>
          <p:nvPr/>
        </p:nvSpPr>
        <p:spPr>
          <a:xfrm>
            <a:off x="7851953" y="2221992"/>
            <a:ext cx="1868119" cy="310896"/>
          </a:xfrm>
          <a:prstGeom prst="rightArrow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9747504" y="2167128"/>
            <a:ext cx="1133856" cy="420624"/>
          </a:xfrm>
          <a:prstGeom prst="roundRect">
            <a:avLst>
              <a:gd name="adj" fmla="val 21739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50800" dir="5400000">
              <a:srgbClr val="1D4ED8">
                <a:alpha val="45000"/>
              </a:srgbClr>
            </a:outerShdw>
          </a:effectLst>
        </p:spPr>
      </p:sp>
      <p:pic>
        <p:nvPicPr>
          <p:cNvPr id="48" name="Image 4" descr="/tmp/claude-0/-home-user-Quince/7efe80ae-a049-50c2-9886-98bf7ca3a04a/scratchpad/assets/quinc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6107" y="2258568"/>
            <a:ext cx="796651" cy="237744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6644945" y="187452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950" dirty="0"/>
          </a:p>
        </p:txBody>
      </p:sp>
      <p:sp>
        <p:nvSpPr>
          <p:cNvPr id="50" name="Text 43"/>
          <p:cNvSpPr txBox="1"/>
          <p:nvPr/>
        </p:nvSpPr>
        <p:spPr>
          <a:xfrm>
            <a:off x="9747504" y="187452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950" dirty="0"/>
          </a:p>
        </p:txBody>
      </p:sp>
      <p:sp>
        <p:nvSpPr>
          <p:cNvPr id="51" name="Text 44"/>
          <p:cNvSpPr txBox="1"/>
          <p:nvPr/>
        </p:nvSpPr>
        <p:spPr>
          <a:xfrm>
            <a:off x="6035040" y="4343400"/>
            <a:ext cx="5650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$10.1B valuation (Mar 2026) rests on the ecosystem, not on cheap sweaters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502920" y="5166360"/>
            <a:ext cx="11183112" cy="1051560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731520" y="5385816"/>
            <a:ext cx="109728" cy="109728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960120" y="5285232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Rented channels (60% of budget) suffer from compounding signal loss: iOS opt-in ~35–50%, Safari and Firefox block cookies</a:t>
            </a:r>
            <a:endParaRPr lang="en-US" sz="1200" dirty="0"/>
          </a:p>
        </p:txBody>
      </p:sp>
      <p:sp>
        <p:nvSpPr>
          <p:cNvPr id="55" name="Shape 48"/>
          <p:cNvSpPr/>
          <p:nvPr/>
        </p:nvSpPr>
        <p:spPr>
          <a:xfrm>
            <a:off x="731520" y="5769864"/>
            <a:ext cx="109728" cy="109728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960120" y="566928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Discount-led retention trains customers to wait for sales, destroying the M2C margin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77% Cart Abandonment Highlights a Quality Trust Gap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Adobe CJA, Quince case data view, 1 Jan–30 Apr 2026, 60,000 people: Fallout (77% of cart adders never order), Cohort Table (week-2 repurchase), sequential segments (app after order one). Mechanisms are hypotheses the pilot tests.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02920" y="2167128"/>
            <a:ext cx="3977640" cy="2468880"/>
          </a:xfrm>
          <a:prstGeom prst="homePlate">
            <a:avLst/>
          </a:prstGeom>
          <a:solidFill>
            <a:srgbClr val="DC262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DC2626">
                <a:alpha val="4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31520" y="230428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1 · Add to cart → order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017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77%</a:t>
            </a:r>
            <a:endParaRPr lang="en-US" sz="5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7856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Abandonment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43400" y="2372868"/>
            <a:ext cx="3840480" cy="2057400"/>
          </a:xfrm>
          <a:prstGeom prst="homePlate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D97706">
                <a:alpha val="4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572000" y="25100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2 · Post-purchase, weeks 1–4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3017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5.6%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3785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Week-2 repurchase peak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46720" y="2578608"/>
            <a:ext cx="3639312" cy="1645920"/>
          </a:xfrm>
          <a:prstGeom prst="rect">
            <a:avLst/>
          </a:prstGeom>
          <a:solidFill>
            <a:srgbClr val="16A34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16A34A">
                <a:alpha val="4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275320" y="271576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3 · Loyalty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3017520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21.5%</a:t>
            </a:r>
            <a:endParaRPr lang="en-US" sz="44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378561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repeat rate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3145536"/>
            <a:ext cx="457200" cy="45720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145536"/>
            <a:ext cx="457200" cy="457200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2" y="3145536"/>
            <a:ext cx="457200" cy="4572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2468880" y="1984248"/>
            <a:ext cx="0" cy="182880"/>
          </a:xfrm>
          <a:prstGeom prst="line">
            <a:avLst/>
          </a:prstGeom>
          <a:noFill/>
          <a:ln w="15875">
            <a:solidFill>
              <a:srgbClr val="DC2626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502920" y="1024128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26" name="Text 20"/>
          <p:cNvSpPr txBox="1"/>
          <p:nvPr/>
        </p:nvSpPr>
        <p:spPr>
          <a:xfrm>
            <a:off x="640080" y="106984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signals quality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pause, assuming premium cashmere at half price is too good to be true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263640" y="4434840"/>
            <a:ext cx="0" cy="274320"/>
          </a:xfrm>
          <a:prstGeom prst="line">
            <a:avLst/>
          </a:prstGeom>
          <a:noFill/>
          <a:ln w="15875">
            <a:solidFill>
              <a:srgbClr val="D97706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4343400" y="4709160"/>
            <a:ext cx="3840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4480560" y="4754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weeks 1–4 window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Engaged buyers return at 5.6% vs ~1% for the rest; doubt sets in before the item arrives and most hear nothing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875520" y="2240280"/>
            <a:ext cx="0" cy="338328"/>
          </a:xfrm>
          <a:prstGeom prst="line">
            <a:avLst/>
          </a:prstGeom>
          <a:noFill/>
          <a:ln w="15875">
            <a:solidFill>
              <a:srgbClr val="16A34A"/>
            </a:solidFill>
            <a:prstDash val="dash"/>
          </a:ln>
        </p:spPr>
      </p:sp>
      <p:sp>
        <p:nvSpPr>
          <p:cNvPr id="31" name="Shape 25"/>
          <p:cNvSpPr/>
          <p:nvPr/>
        </p:nvSpPr>
        <p:spPr>
          <a:xfrm>
            <a:off x="8046720" y="1280160"/>
            <a:ext cx="36393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32" name="Text 26"/>
          <p:cNvSpPr txBox="1"/>
          <p:nvPr/>
        </p:nvSpPr>
        <p:spPr>
          <a:xfrm>
            <a:off x="8183880" y="132588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channels convert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users after order one repeat 4.6× the 4.7% baseline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02920" y="5779008"/>
            <a:ext cx="11183112" cy="475488"/>
          </a:xfrm>
          <a:prstGeom prst="roundRect">
            <a:avLst>
              <a:gd name="adj" fmla="val 19231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40080" y="5852160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0" y="5924580"/>
            <a:ext cx="184343" cy="184343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97280" y="5779008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ads don't fix trust; owned-channel education does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Owned-Channel Engines Built for Cross-Category Adoption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team strategy; Adobe CJA (Cohort Table, category repeat: Home 20.8% vs cashmere 13.7%; jewelry 19.5%); case Exhibit F (jewelry repeat driven by gifting).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02920" y="1325880"/>
            <a:ext cx="3648456" cy="4297680"/>
          </a:xfrm>
          <a:prstGeom prst="roundRect">
            <a:avLst>
              <a:gd name="adj" fmla="val 25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" y="1325880"/>
            <a:ext cx="3648456" cy="1417320"/>
          </a:xfrm>
          <a:prstGeom prst="rect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1527048"/>
            <a:ext cx="768096" cy="76809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081" y="1696029"/>
            <a:ext cx="430134" cy="43013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2920" y="2331720"/>
            <a:ext cx="3648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Quince Passport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9535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Mechanic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209544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Exclusive early access to high-AOV category drops (Home, Luggage) for top-decile cohorts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77240" y="4453128"/>
            <a:ext cx="30998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7240" y="45720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48188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cross-selling into higher-value categories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270248" y="1325880"/>
            <a:ext cx="3648456" cy="4297680"/>
          </a:xfrm>
          <a:prstGeom prst="roundRect">
            <a:avLst>
              <a:gd name="adj" fmla="val 25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270248" y="1325880"/>
            <a:ext cx="3648456" cy="141732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710428" y="1527048"/>
            <a:ext cx="768096" cy="76809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409" y="1696029"/>
            <a:ext cx="430134" cy="43013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270248" y="2331720"/>
            <a:ext cx="3648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Journeys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4544568" y="29535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Mechanic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4544568" y="3209544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Triggered post-purchase SMS on material origin (e.g. Mongolian cashmere) and fabric care, before the item arrives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544568" y="4453128"/>
            <a:ext cx="30998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544568" y="45720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4544568" y="48188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the weeks 1–4 window: 5.6% engaged vs ~1%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8037576" y="1325880"/>
            <a:ext cx="3648456" cy="4297680"/>
          </a:xfrm>
          <a:prstGeom prst="roundRect">
            <a:avLst>
              <a:gd name="adj" fmla="val 25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037576" y="1325880"/>
            <a:ext cx="3648456" cy="1417320"/>
          </a:xfrm>
          <a:prstGeom prst="rect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477756" y="1527048"/>
            <a:ext cx="768096" cy="76809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737" y="1696029"/>
            <a:ext cx="430134" cy="43013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037576" y="2331720"/>
            <a:ext cx="3648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Gifting Ledger</a:t>
            </a:r>
            <a:endParaRPr lang="en-US" sz="1700" dirty="0"/>
          </a:p>
        </p:txBody>
      </p:sp>
      <p:sp>
        <p:nvSpPr>
          <p:cNvPr id="34" name="Text 28"/>
          <p:cNvSpPr txBox="1"/>
          <p:nvPr/>
        </p:nvSpPr>
        <p:spPr>
          <a:xfrm>
            <a:off x="8311896" y="29535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Mechanic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8311896" y="3209544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Occasion-based CRM (birthdays, anniversaries) with curated, factory-direct jewelry and home gift guides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8311896" y="4453128"/>
            <a:ext cx="30998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8311896" y="45720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8311896" y="48188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credibility in high-consideration categories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502920" y="5779008"/>
            <a:ext cx="11183112" cy="475488"/>
          </a:xfrm>
          <a:prstGeom prst="roundRect">
            <a:avLst>
              <a:gd name="adj" fmla="val 19231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731520" y="577900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 supporting programs </a:t>
            </a:r>
            <a:pPr indent="0" marL="0">
              <a:buNone/>
            </a:pPr>
            <a:r>
              <a:rPr lang="en-US" sz="1250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(Appendix)  ·  zero discounts  ·  $0 new budget  ·  every engine tested against a CJA holdout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a "Time-to-Copy" Moat Against Fast Fashion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case Exhibit M; Shein acquisition of Everlane (May 2026); positions and time-to-copy are team estimates.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300216" y="2606040"/>
            <a:ext cx="5385816" cy="1280160"/>
          </a:xfrm>
          <a:prstGeom prst="rect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3886200"/>
            <a:ext cx="1077163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1325880"/>
            <a:ext cx="0" cy="2560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0216" y="1325880"/>
            <a:ext cx="0" cy="256032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914400" y="2606040"/>
            <a:ext cx="107716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914400" y="3913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Transactional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0040112" y="3913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Relationship-driven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74320" y="13258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premium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274320" y="35204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pricing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9674352" y="35935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+ relationship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341791" y="3302813"/>
            <a:ext cx="8686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pic>
        <p:nvPicPr>
          <p:cNvPr id="20" name="Image 1" descr="/tmp/claude-0/-home-user-Quince/7efe80ae-a049-50c2-9886-98bf7ca3a04a/scratchpad/assets/she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231" y="3405358"/>
            <a:ext cx="685800" cy="142381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943039" y="3405226"/>
            <a:ext cx="8686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pic>
        <p:nvPicPr>
          <p:cNvPr id="22" name="Image 2" descr="/tmp/claude-0/-home-user-Quince/7efe80ae-a049-50c2-9886-98bf7ca3a04a/scratchpad/assets/amaz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195" y="3478378"/>
            <a:ext cx="666369" cy="20116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826520" y="3405226"/>
            <a:ext cx="54864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pic>
        <p:nvPicPr>
          <p:cNvPr id="24" name="Image 3" descr="/tmp/claude-0/-home-user-Quince/7efe80ae-a049-50c2-9886-98bf7ca3a04a/scratchpad/assets/uniql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256" y="3478378"/>
            <a:ext cx="201168" cy="20116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335878" y="2125066"/>
            <a:ext cx="100584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pic>
        <p:nvPicPr>
          <p:cNvPr id="26" name="Image 4" descr="/tmp/claude-0/-home-user-Quince/7efe80ae-a049-50c2-9886-98bf7ca3a04a/scratchpad/assets/everla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318" y="2257372"/>
            <a:ext cx="822960" cy="82859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723022" y="1459382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pic>
        <p:nvPicPr>
          <p:cNvPr id="28" name="Image 5" descr="/tmp/claude-0/-home-user-Quince/7efe80ae-a049-50c2-9886-98bf7ca3a04a/scratchpad/assets/williams_sonom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4462" y="1587685"/>
            <a:ext cx="1280160" cy="90867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10174529" y="1510589"/>
            <a:ext cx="8686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pic>
        <p:nvPicPr>
          <p:cNvPr id="30" name="Image 6" descr="/tmp/claude-0/-home-user-Quince/7efe80ae-a049-50c2-9886-98bf7ca3a04a/scratchpad/assets/tapestr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5969" y="1607628"/>
            <a:ext cx="685800" cy="153394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9743664" y="2125066"/>
            <a:ext cx="8686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32" name="Text 23"/>
          <p:cNvSpPr txBox="1"/>
          <p:nvPr/>
        </p:nvSpPr>
        <p:spPr>
          <a:xfrm>
            <a:off x="9743664" y="212506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CUYANA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2520086" y="2916936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dash"/>
          </a:ln>
        </p:spPr>
      </p:sp>
      <p:pic>
        <p:nvPicPr>
          <p:cNvPr id="34" name="Image 7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1041" y="3008376"/>
            <a:ext cx="735370" cy="219456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3708806" y="2980944"/>
            <a:ext cx="5721401" cy="274320"/>
          </a:xfrm>
          <a:prstGeom prst="rightArrow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9521647" y="2916936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50800" dir="5400000">
              <a:srgbClr val="1D4ED8">
                <a:alpha val="45000"/>
              </a:srgbClr>
            </a:outerShdw>
          </a:effectLst>
        </p:spPr>
      </p:sp>
      <p:pic>
        <p:nvPicPr>
          <p:cNvPr id="37" name="Image 8" descr="/tmp/claude-0/-home-user-Quince/7efe80ae-a049-50c2-9886-98bf7ca3a04a/scratchpad/assets/quinc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2602" y="3008376"/>
            <a:ext cx="735370" cy="21945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502920" y="420624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Time-to-copy for competitors</a:t>
            </a:r>
            <a:endParaRPr lang="en-US" sz="1300" dirty="0"/>
          </a:p>
        </p:txBody>
      </p:sp>
      <p:sp>
        <p:nvSpPr>
          <p:cNvPr id="39" name="Text 28"/>
          <p:cNvSpPr txBox="1"/>
          <p:nvPr/>
        </p:nvSpPr>
        <p:spPr>
          <a:xfrm>
            <a:off x="502920" y="46177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a 20% discount code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4023360" y="4672584"/>
            <a:ext cx="640080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4023360" y="4672584"/>
            <a:ext cx="192024" cy="292608"/>
          </a:xfrm>
          <a:prstGeom prst="roundRect">
            <a:avLst>
              <a:gd name="adj" fmla="val 38095"/>
            </a:avLst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42" name="Text 31"/>
          <p:cNvSpPr txBox="1"/>
          <p:nvPr/>
        </p:nvSpPr>
        <p:spPr>
          <a:xfrm>
            <a:off x="4306824" y="46177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day</a:t>
            </a:r>
            <a:endParaRPr lang="en-US" sz="1300" dirty="0"/>
          </a:p>
        </p:txBody>
      </p:sp>
      <p:sp>
        <p:nvSpPr>
          <p:cNvPr id="43" name="Text 32"/>
          <p:cNvSpPr txBox="1"/>
          <p:nvPr/>
        </p:nvSpPr>
        <p:spPr>
          <a:xfrm>
            <a:off x="502920" y="514807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Replicate a 12-month triggered lifecycle CRM</a:t>
            </a:r>
            <a:endParaRPr lang="en-US" sz="1200" dirty="0"/>
          </a:p>
        </p:txBody>
      </p:sp>
      <p:sp>
        <p:nvSpPr>
          <p:cNvPr id="44" name="Shape 33"/>
          <p:cNvSpPr/>
          <p:nvPr/>
        </p:nvSpPr>
        <p:spPr>
          <a:xfrm>
            <a:off x="4023360" y="5202936"/>
            <a:ext cx="640080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4023360" y="5202936"/>
            <a:ext cx="5888736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10003536" y="51480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9–12 months</a:t>
            </a:r>
            <a:endParaRPr lang="en-US" sz="1300" dirty="0"/>
          </a:p>
        </p:txBody>
      </p:sp>
      <p:sp>
        <p:nvSpPr>
          <p:cNvPr id="47" name="Shape 36"/>
          <p:cNvSpPr/>
          <p:nvPr/>
        </p:nvSpPr>
        <p:spPr>
          <a:xfrm>
            <a:off x="502920" y="5779008"/>
            <a:ext cx="11183112" cy="475488"/>
          </a:xfrm>
          <a:prstGeom prst="roundRect">
            <a:avLst>
              <a:gd name="adj" fmla="val 19231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48" name="Text 37"/>
          <p:cNvSpPr txBox="1"/>
          <p:nvPr/>
        </p:nvSpPr>
        <p:spPr>
          <a:xfrm>
            <a:off x="731520" y="577900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Anyone can undercut a price; nobody can instantly fake an integrated, educational customer relationship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Evolving from Batch-and-Blast to Logistics-Integrated Pods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team operating model; case Exhibits I and L (CJA stitched person ID across web, app, email, SMS); readiness is team assessment.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7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331927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664208"/>
            <a:ext cx="548640" cy="548640"/>
          </a:xfrm>
          <a:prstGeom prst="ellipse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17849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" y="2286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factory and fulfillment APIs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31520" y="26700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· in transit · delivered events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434840" y="1463040"/>
            <a:ext cx="3319272" cy="1691640"/>
          </a:xfrm>
          <a:prstGeom prst="roundRect">
            <a:avLst>
              <a:gd name="adj" fmla="val 5405"/>
            </a:avLst>
          </a:prstGeom>
          <a:solidFill>
            <a:srgbClr val="0A1F44"/>
          </a:solidFill>
          <a:ln w="19050">
            <a:solidFill>
              <a:srgbClr val="0A1F44"/>
            </a:solidFill>
            <a:prstDash val="solid"/>
          </a:ln>
          <a:effectLst>
            <a:outerShdw sx="100000" sy="100000" kx="0" ky="0" algn="bl" rotWithShape="0" blurRad="177800" dist="50800" dir="5400000">
              <a:srgbClr val="1D4ED8">
                <a:alpha val="5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1664208"/>
            <a:ext cx="548640" cy="548640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141" y="178490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63440" y="2286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Cross-functional retention pod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4663440" y="26700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7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+ merch, one owner per lever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366760" y="1463040"/>
            <a:ext cx="331927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595360" y="1664208"/>
            <a:ext cx="548640" cy="548640"/>
          </a:xfrm>
          <a:prstGeom prst="ellipse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061" y="178490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595360" y="2286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Triggered lifecycle workflows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8595360" y="26700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 · email · app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840480" y="2176272"/>
            <a:ext cx="566928" cy="292608"/>
          </a:xfrm>
          <a:prstGeom prst="rightArrow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0" dist="50800" dir="5400000">
              <a:srgbClr val="3B82F6">
                <a:alpha val="7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0" y="2176272"/>
            <a:ext cx="566928" cy="292608"/>
          </a:xfrm>
          <a:prstGeom prst="rightArrow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0" dist="50800" dir="5400000">
              <a:srgbClr val="3B82F6">
                <a:alpha val="7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02920" y="342900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pic>
        <p:nvPicPr>
          <p:cNvPr id="27" name="Image 4" descr="/tmp/claude-0/-home-user-Quince/7efe80ae-a049-50c2-9886-98bf7ca3a04a/scratchpad/assets/ad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3598039"/>
            <a:ext cx="868680" cy="22885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691640" y="342900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Journey Analytics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stitched person ID · audiences for every trigger · holdouts on every program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943600" y="3172968"/>
            <a:ext cx="274320" cy="256032"/>
          </a:xfrm>
          <a:prstGeom prst="upArrow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02920" y="4306824"/>
            <a:ext cx="109728" cy="109728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31520" y="4206240"/>
            <a:ext cx="6537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shifting from siloed channel owners to cross-functional pods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502920" y="4690872"/>
            <a:ext cx="109728" cy="109728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31520" y="4590288"/>
            <a:ext cx="6537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depends on wiring factory shipping milestones directly into marketing triggers (Material Journeys)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7589520" y="416052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Readiness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7589520" y="4581144"/>
            <a:ext cx="146304" cy="146304"/>
          </a:xfrm>
          <a:prstGeom prst="ellipse">
            <a:avLst/>
          </a:prstGeom>
          <a:solidFill>
            <a:srgbClr val="16A34A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818120" y="4498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and identity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10698480" y="4498848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7589520" y="4910328"/>
            <a:ext cx="146304" cy="146304"/>
          </a:xfrm>
          <a:prstGeom prst="ellipse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7818120" y="4828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team and creative</a:t>
            </a:r>
            <a:endParaRPr lang="en-US" sz="1050" dirty="0"/>
          </a:p>
        </p:txBody>
      </p:sp>
      <p:sp>
        <p:nvSpPr>
          <p:cNvPr id="40" name="Text 33"/>
          <p:cNvSpPr txBox="1"/>
          <p:nvPr/>
        </p:nvSpPr>
        <p:spPr>
          <a:xfrm>
            <a:off x="10698480" y="4828032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7589520" y="5239512"/>
            <a:ext cx="146304" cy="146304"/>
          </a:xfrm>
          <a:prstGeom prst="ellipse">
            <a:avLst/>
          </a:prstGeom>
          <a:solidFill>
            <a:srgbClr val="D97706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7818120" y="51572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events → triggers</a:t>
            </a:r>
            <a:endParaRPr lang="en-US" sz="1050" dirty="0"/>
          </a:p>
        </p:txBody>
      </p:sp>
      <p:sp>
        <p:nvSpPr>
          <p:cNvPr id="43" name="Text 36"/>
          <p:cNvSpPr txBox="1"/>
          <p:nvPr/>
        </p:nvSpPr>
        <p:spPr>
          <a:xfrm>
            <a:off x="10698480" y="5157216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7589520" y="5568696"/>
            <a:ext cx="146304" cy="146304"/>
          </a:xfrm>
          <a:prstGeom prst="ellipse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7818120" y="5486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Incentives: ROAS → incrementality</a:t>
            </a:r>
            <a:endParaRPr lang="en-US" sz="1050" dirty="0"/>
          </a:p>
        </p:txBody>
      </p:sp>
      <p:sp>
        <p:nvSpPr>
          <p:cNvPr id="46" name="Text 39"/>
          <p:cNvSpPr txBox="1"/>
          <p:nvPr/>
        </p:nvSpPr>
        <p:spPr>
          <a:xfrm>
            <a:off x="10698480" y="548640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502920" y="5779008"/>
            <a:ext cx="6766560" cy="475488"/>
          </a:xfrm>
          <a:prstGeom prst="roundRect">
            <a:avLst>
              <a:gd name="adj" fmla="val 19231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685800" y="5779008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Quince's edge is cross-border logistics; marketing plugs into that data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Reversible, Self-Funded $7.5M Reallocation Pilot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case Exhibit G (budget); team plan. Tranche 2 needs a branded-search geo holdout; tranche 3 moves only if a holdout proves prospecting over-credited.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8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2801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9-month rollout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057400" y="1600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31720" y="1810512"/>
            <a:ext cx="0" cy="160020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3688080" y="1600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962400" y="1810512"/>
            <a:ext cx="0" cy="160020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5318760" y="1600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M6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93080" y="1810512"/>
            <a:ext cx="0" cy="160020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6949440" y="1600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M9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223760" y="1810512"/>
            <a:ext cx="0" cy="160020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502920" y="19019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Journeys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359152" y="1901952"/>
            <a:ext cx="1575816" cy="411480"/>
          </a:xfrm>
          <a:prstGeom prst="roundRect">
            <a:avLst>
              <a:gd name="adj" fmla="val 17778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423160" y="1901952"/>
            <a:ext cx="1466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M1–3  ·  Low tech lift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4048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Quince Passport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989832" y="2404872"/>
            <a:ext cx="1575816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053840" y="2404872"/>
            <a:ext cx="1466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M4–6  ·  Merch alignment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9077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Gifting Ledger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620512" y="2907792"/>
            <a:ext cx="1575816" cy="411480"/>
          </a:xfrm>
          <a:prstGeom prst="roundRect">
            <a:avLst>
              <a:gd name="adj" fmla="val 17778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84520" y="2907792"/>
            <a:ext cx="1466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M7–9  ·  App + CRM integration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3520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Reallocation inside the fixed $120M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3858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social retargeting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926080" y="3904488"/>
            <a:ext cx="731520" cy="201168"/>
          </a:xfrm>
          <a:prstGeom prst="rect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148840" y="385876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−$4M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897880" y="38587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Tranche 1 · M1–3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4197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search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108960" y="4242816"/>
            <a:ext cx="548640" cy="201168"/>
          </a:xfrm>
          <a:prstGeom prst="rect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331720" y="419709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−$3M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5897880" y="41970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Tranche 2 · after geo holdout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502920" y="45354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social prospecting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291840" y="4581144"/>
            <a:ext cx="365760" cy="201168"/>
          </a:xfrm>
          <a:prstGeom prst="rect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514600" y="45354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−$2M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5897880" y="45354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Tranche 3 · only if proven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502920" y="48737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Influencer → proof creators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3657600" y="4919472"/>
            <a:ext cx="274320" cy="201168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977640" y="48737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+$1.5M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897880" y="48737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tranche 2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502920" y="52120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Owned: email, SMS, app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3657600" y="5257800"/>
            <a:ext cx="1371600" cy="201168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074920" y="52120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+$7.5M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5897880" y="5212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 pod and engines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3657600" y="3840480"/>
            <a:ext cx="0" cy="169164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589520" y="1280160"/>
            <a:ext cx="4096512" cy="4251960"/>
          </a:xfrm>
          <a:prstGeom prst="roundRect">
            <a:avLst>
              <a:gd name="adj" fmla="val 223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0" name="Image 1" descr="/tmp/claude-0/-home-user-Quince/7efe80ae-a049-50c2-9886-98bf7ca3a04a/scratchpad/assets/ad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467707"/>
            <a:ext cx="1005840" cy="264985"/>
          </a:xfrm>
          <a:prstGeom prst="rect">
            <a:avLst/>
          </a:prstGeom>
        </p:spPr>
      </p:pic>
      <p:sp>
        <p:nvSpPr>
          <p:cNvPr id="51" name="Text 47"/>
          <p:cNvSpPr txBox="1"/>
          <p:nvPr/>
        </p:nvSpPr>
        <p:spPr>
          <a:xfrm>
            <a:off x="882396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Journey Analytics</a:t>
            </a:r>
            <a:endParaRPr lang="en-US" sz="1100" dirty="0"/>
          </a:p>
        </p:txBody>
      </p:sp>
      <p:sp>
        <p:nvSpPr>
          <p:cNvPr id="52" name="Text 48"/>
          <p:cNvSpPr txBox="1"/>
          <p:nvPr/>
        </p:nvSpPr>
        <p:spPr>
          <a:xfrm>
            <a:off x="8823960" y="17190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Holdout control group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8732520" y="219456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8732520" y="21945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 buyers</a:t>
            </a:r>
            <a:endParaRPr lang="en-US" sz="1050" dirty="0"/>
          </a:p>
        </p:txBody>
      </p:sp>
      <p:sp>
        <p:nvSpPr>
          <p:cNvPr id="55" name="Shape 51"/>
          <p:cNvSpPr/>
          <p:nvPr/>
        </p:nvSpPr>
        <p:spPr>
          <a:xfrm flipH="1">
            <a:off x="8663940" y="2615184"/>
            <a:ext cx="982980" cy="50292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9646920" y="2615184"/>
            <a:ext cx="982980" cy="5029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7772400" y="3118104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7772400" y="311810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 pilot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journeys</a:t>
            </a:r>
            <a:endParaRPr lang="en-US" sz="1100" dirty="0"/>
          </a:p>
        </p:txBody>
      </p:sp>
      <p:sp>
        <p:nvSpPr>
          <p:cNvPr id="59" name="Shape 55"/>
          <p:cNvSpPr/>
          <p:nvPr/>
        </p:nvSpPr>
        <p:spPr>
          <a:xfrm>
            <a:off x="9738360" y="3118104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9738360" y="311810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 holdout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as usual</a:t>
            </a:r>
            <a:endParaRPr lang="en-US" sz="1100" dirty="0"/>
          </a:p>
        </p:txBody>
      </p:sp>
      <p:sp>
        <p:nvSpPr>
          <p:cNvPr id="61" name="Shape 57"/>
          <p:cNvSpPr/>
          <p:nvPr/>
        </p:nvSpPr>
        <p:spPr>
          <a:xfrm>
            <a:off x="8659368" y="3685032"/>
            <a:ext cx="987552" cy="384048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 flipH="1">
            <a:off x="9646920" y="3685032"/>
            <a:ext cx="987552" cy="38404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9281160" y="4069080"/>
            <a:ext cx="731520" cy="548640"/>
          </a:xfrm>
          <a:prstGeom prst="diamond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9052560" y="4069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&gt;200bps?</a:t>
            </a:r>
            <a:endParaRPr lang="en-US" sz="850" dirty="0"/>
          </a:p>
        </p:txBody>
      </p:sp>
      <p:sp>
        <p:nvSpPr>
          <p:cNvPr id="65" name="Text 61"/>
          <p:cNvSpPr txBox="1"/>
          <p:nvPr/>
        </p:nvSpPr>
        <p:spPr>
          <a:xfrm>
            <a:off x="7772400" y="4709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Yes: </a:t>
            </a:r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money stays moved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No: </a:t>
            </a:r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tranche returns</a:t>
            </a:r>
            <a:endParaRPr lang="en-US" sz="1050" dirty="0"/>
          </a:p>
        </p:txBody>
      </p:sp>
      <p:sp>
        <p:nvSpPr>
          <p:cNvPr id="66" name="Shape 62"/>
          <p:cNvSpPr/>
          <p:nvPr/>
        </p:nvSpPr>
        <p:spPr>
          <a:xfrm>
            <a:off x="502920" y="5687568"/>
            <a:ext cx="11183112" cy="566928"/>
          </a:xfrm>
          <a:prstGeom prst="roundRect">
            <a:avLst>
              <a:gd name="adj" fmla="val 1612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731520" y="56875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$4M from paid social retargeting to retention in tranche 1.   </a:t>
            </a:r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guardrail: </a:t>
            </a:r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permanent move unless CJA holdouts prove &gt;200bps incremental lift. Track repeat, blended CAC, retargeting efficiency.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 · Adobe CJA Fallout: the bottleneck is the cart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Adobe CJA, Fallout visualization, Quince case data view, 1 Jan–30 Apr 2026.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9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2070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asked: "Are you sure the bottleneck is the cart and not the landing page?"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75077" y="1536192"/>
            <a:ext cx="6238797" cy="400507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1" descr="/tmp/claude-0/-home-user-Quince/7efe80ae-a049-50c2-9886-98bf7ca3a04a/scratchpad/assets/cja_fall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653" y="1572768"/>
            <a:ext cx="6165645" cy="3931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5669280"/>
            <a:ext cx="11183112" cy="512064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0080" y="5760720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0" y="5833140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5669280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60,000 people → 2,592 buyers: 39% leave before a product view, but 77% of cart adders never order, the stage that sits above benchmark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 · CJA Attribution IQ: owned channels are under-credited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Adobe CJA, Attribution panel, Order Revenue ($337,044) across Marketing Channel, four models, 90-day lookback.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10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2070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asked: "Why pull $4M from paid social?"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0171" y="1536192"/>
            <a:ext cx="11068610" cy="400507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1" descr="/tmp/claude-0/-home-user-Quince/7efe80ae-a049-50c2-9886-98bf7ca3a04a/scratchpad/assets/cja_attr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47" y="1572768"/>
            <a:ext cx="10995458" cy="3931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5669280"/>
            <a:ext cx="11183112" cy="512064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0080" y="5760720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0" y="5833140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5669280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channels take part in 15.0% of revenue but get 4.8% on last touch; retargeting stays ~12.5% under every model, so its cut rests on holdouts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 · Adobe CJA Cohort Table: the weeks 1–4 window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Adobe CJA, Cohort Table, inclusion and return Orders ≥ 1, weekly; right panel uses the Engaged inclusion segment.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11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2070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asked: "Why act in the first month?"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" y="1697250"/>
            <a:ext cx="5527548" cy="3682957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1" descr="/tmp/claude-0/-home-user-Quince/7efe80ae-a049-50c2-9886-98bf7ca3a04a/scratchpad/assets/cja_cohort_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3826"/>
            <a:ext cx="5454396" cy="36098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95060" y="1697250"/>
            <a:ext cx="5527548" cy="3682957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3" name="Image 2" descr="/tmp/claude-0/-home-user-Quince/7efe80ae-a049-50c2-9886-98bf7ca3a04a/scratchpad/assets/cja_cohort_e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1733826"/>
            <a:ext cx="5454396" cy="360980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02920" y="5669280"/>
            <a:ext cx="11183112" cy="512064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0080" y="5760720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0" y="5833140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5669280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Week-2 repurchase: 5.6% for engaged buyers (right) vs 2.1% for all buyers (left); half of engaged returns land in weeks 1–4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A4 · Adobe CJA Flow: no message follows an abandoned cart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Adobe CJA, Flow from add_to_cart, Person container, 1 Jan–30 Apr 2026.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12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2070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asked: "Doesn't Quince already email cart abandoners?"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12359" y="1536192"/>
            <a:ext cx="10164234" cy="400507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1" descr="/tmp/claude-0/-home-user-Quince/7efe80ae-a049-50c2-9886-98bf7ca3a04a/scratchpad/assets/cja_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935" y="1572768"/>
            <a:ext cx="10091082" cy="3931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5669280"/>
            <a:ext cx="11183112" cy="512064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0080" y="5760720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0" y="5833140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5669280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11,610 add-to-cart paths, 6,088 reach checkout and 1 is followed by an email; the rest get no message at all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A5 · Logistics Integration Roadmap for Material Journeys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team architecture; Adobe CJA and Journey Optimizer as the activation layer (case Exhibit L). Timings are team estimates.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13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2070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asked: "How hard is Material Journeys to actually build?"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1600200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6479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16002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Factories and 3PL partners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840480" y="160020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Shipment created · customs cleared · out for delivery · delivered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114800" y="2258568"/>
            <a:ext cx="219456" cy="128016"/>
          </a:xfrm>
          <a:prstGeom prst="downArrow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2386584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1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238658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and fulfillment API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3840480" y="238658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event stream per order, keyed to the order ID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114800" y="3044952"/>
            <a:ext cx="219456" cy="128016"/>
          </a:xfrm>
          <a:prstGeom prst="downArrow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2920" y="3172968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3756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88720" y="31729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Adobe CJA: stitched person ID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3840480" y="317296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ID → person; audiences; holdout assignment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114800" y="3831336"/>
            <a:ext cx="219456" cy="128016"/>
          </a:xfrm>
          <a:prstGeom prst="downArrow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02920" y="3959352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2394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88720" y="395935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Journey orchestration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3840480" y="395935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Pre-arrival care · delivery-day Passport ask · day-21 cross-sell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114800" y="4617720"/>
            <a:ext cx="219456" cy="128016"/>
          </a:xfrm>
          <a:prstGeom prst="downArrow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02920" y="4745736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91032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188720" y="474573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3840480" y="474573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 · email · app push, under one frequency cap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8321040" y="160020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sequence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8321040" y="2011680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83210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8778240" y="1993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1–4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8778240" y="2286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shipping events; confirm consent split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8321040" y="3108960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8321040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8778240" y="30906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5–8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8778240" y="33832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events into CJA; build audiences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8321040" y="4206240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8321040" y="4206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8778240" y="4187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9–12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8778240" y="4480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pre-arrival journeys in the South pilot</a:t>
            </a:r>
            <a:endParaRPr lang="en-US" sz="1050" dirty="0"/>
          </a:p>
        </p:txBody>
      </p:sp>
      <p:sp>
        <p:nvSpPr>
          <p:cNvPr id="47" name="Shape 39"/>
          <p:cNvSpPr/>
          <p:nvPr/>
        </p:nvSpPr>
        <p:spPr>
          <a:xfrm>
            <a:off x="502920" y="5669280"/>
            <a:ext cx="11183112" cy="512064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640080" y="5760720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500" y="5833140"/>
            <a:ext cx="184343" cy="184343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1097280" y="5669280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tech lift: the shipping events already exist; the work is routing them to CJA audiences and lifecycle triggers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A6 · Cutting Room Floor: 11 Programs Behind the 3 Flagships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team strategy. All 14 programs were designed with zero discounts; the 3 flagships were chosen for cross-category reach and build effort.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14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2070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asked: "What else did you consider?"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1600200"/>
            <a:ext cx="267919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" y="1783080"/>
            <a:ext cx="438912" cy="438912"/>
          </a:xfrm>
          <a:prstGeom prst="ellipse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73" y="1879641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7512" y="229514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It in the App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67512" y="254203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effect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337560" y="1600200"/>
            <a:ext cx="267919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502152" y="1783080"/>
            <a:ext cx="438912" cy="438912"/>
          </a:xfrm>
          <a:prstGeom prst="ellipse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713" y="1879641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502152" y="229514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Saved Cart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3502152" y="254203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Unfinished-task reminders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172200" y="1600200"/>
            <a:ext cx="267919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336792" y="1783080"/>
            <a:ext cx="438912" cy="438912"/>
          </a:xfrm>
          <a:prstGeom prst="ellipse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1879641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336792" y="229514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Restock-First Waitlist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336792" y="254203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Commitment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9006840" y="1600200"/>
            <a:ext cx="267919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171432" y="1783080"/>
            <a:ext cx="438912" cy="438912"/>
          </a:xfrm>
          <a:prstGeom prst="ellipse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7993" y="1879641"/>
            <a:ext cx="245791" cy="24579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171432" y="229514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 Calendar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9171432" y="254203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Habit formation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502920" y="2980944"/>
            <a:ext cx="267919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67512" y="3163824"/>
            <a:ext cx="438912" cy="438912"/>
          </a:xfrm>
          <a:prstGeom prst="ellipse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073" y="3260385"/>
            <a:ext cx="245791" cy="245791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67512" y="367588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Quince Insider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667512" y="392277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Access, not points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3337560" y="2980944"/>
            <a:ext cx="267919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3502152" y="3163824"/>
            <a:ext cx="438912" cy="438912"/>
          </a:xfrm>
          <a:prstGeom prst="ellipse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8713" y="3260385"/>
            <a:ext cx="245791" cy="245791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3502152" y="367588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Refill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3502152" y="392277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Replenishment cue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6172200" y="2980944"/>
            <a:ext cx="267919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336792" y="3163824"/>
            <a:ext cx="438912" cy="438912"/>
          </a:xfrm>
          <a:prstGeom prst="ellipse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3353" y="3260385"/>
            <a:ext cx="245791" cy="245791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336792" y="367588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Cashmere Second Life</a:t>
            </a:r>
            <a:endParaRPr lang="en-US" sz="1200" dirty="0"/>
          </a:p>
        </p:txBody>
      </p:sp>
      <p:sp>
        <p:nvSpPr>
          <p:cNvPr id="44" name="Text 34"/>
          <p:cNvSpPr txBox="1"/>
          <p:nvPr/>
        </p:nvSpPr>
        <p:spPr>
          <a:xfrm>
            <a:off x="6336792" y="392277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Take-back for early access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9006840" y="2980944"/>
            <a:ext cx="267919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9171432" y="3163824"/>
            <a:ext cx="438912" cy="438912"/>
          </a:xfrm>
          <a:prstGeom prst="ellipse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7993" y="3260385"/>
            <a:ext cx="245791" cy="245791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9171432" y="367588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Pay Twice Engine</a:t>
            </a:r>
            <a:endParaRPr lang="en-US" sz="1200" dirty="0"/>
          </a:p>
        </p:txBody>
      </p:sp>
      <p:sp>
        <p:nvSpPr>
          <p:cNvPr id="49" name="Text 38"/>
          <p:cNvSpPr txBox="1"/>
          <p:nvPr/>
        </p:nvSpPr>
        <p:spPr>
          <a:xfrm>
            <a:off x="9171432" y="392277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Suppress owned buyers in ads</a:t>
            </a:r>
            <a:endParaRPr lang="en-US" sz="950" dirty="0"/>
          </a:p>
        </p:txBody>
      </p:sp>
      <p:sp>
        <p:nvSpPr>
          <p:cNvPr id="50" name="Shape 39"/>
          <p:cNvSpPr/>
          <p:nvPr/>
        </p:nvSpPr>
        <p:spPr>
          <a:xfrm>
            <a:off x="502920" y="4361688"/>
            <a:ext cx="267919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667512" y="4544568"/>
            <a:ext cx="438912" cy="438912"/>
          </a:xfrm>
          <a:prstGeom prst="ellipse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073" y="4641129"/>
            <a:ext cx="245791" cy="245791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667512" y="505663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Loyalist Lookalikes</a:t>
            </a:r>
            <a:endParaRPr lang="en-US" sz="1200" dirty="0"/>
          </a:p>
        </p:txBody>
      </p:sp>
      <p:sp>
        <p:nvSpPr>
          <p:cNvPr id="54" name="Text 42"/>
          <p:cNvSpPr txBox="1"/>
          <p:nvPr/>
        </p:nvSpPr>
        <p:spPr>
          <a:xfrm>
            <a:off x="667512" y="530352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 prospecting on repeaters</a:t>
            </a:r>
            <a:endParaRPr lang="en-US" sz="950" dirty="0"/>
          </a:p>
        </p:txBody>
      </p:sp>
      <p:sp>
        <p:nvSpPr>
          <p:cNvPr id="55" name="Shape 43"/>
          <p:cNvSpPr/>
          <p:nvPr/>
        </p:nvSpPr>
        <p:spPr>
          <a:xfrm>
            <a:off x="3337560" y="4361688"/>
            <a:ext cx="267919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6" name="Shape 44"/>
          <p:cNvSpPr/>
          <p:nvPr/>
        </p:nvSpPr>
        <p:spPr>
          <a:xfrm>
            <a:off x="3502152" y="4544568"/>
            <a:ext cx="438912" cy="438912"/>
          </a:xfrm>
          <a:prstGeom prst="ellipse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98713" y="4641129"/>
            <a:ext cx="245791" cy="245791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3502152" y="505663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Creators</a:t>
            </a:r>
            <a:endParaRPr lang="en-US" sz="1200" dirty="0"/>
          </a:p>
        </p:txBody>
      </p:sp>
      <p:sp>
        <p:nvSpPr>
          <p:cNvPr id="59" name="Text 46"/>
          <p:cNvSpPr txBox="1"/>
          <p:nvPr/>
        </p:nvSpPr>
        <p:spPr>
          <a:xfrm>
            <a:off x="3502152" y="530352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proof</a:t>
            </a:r>
            <a:endParaRPr lang="en-US" sz="950" dirty="0"/>
          </a:p>
        </p:txBody>
      </p:sp>
      <p:sp>
        <p:nvSpPr>
          <p:cNvPr id="60" name="Shape 47"/>
          <p:cNvSpPr/>
          <p:nvPr/>
        </p:nvSpPr>
        <p:spPr>
          <a:xfrm>
            <a:off x="6172200" y="4361688"/>
            <a:ext cx="267919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1" name="Shape 48"/>
          <p:cNvSpPr/>
          <p:nvPr/>
        </p:nvSpPr>
        <p:spPr>
          <a:xfrm>
            <a:off x="6336792" y="4544568"/>
            <a:ext cx="438912" cy="438912"/>
          </a:xfrm>
          <a:prstGeom prst="ellipse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3353" y="4641129"/>
            <a:ext cx="245791" cy="245791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6336792" y="505663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Fitting Room</a:t>
            </a:r>
            <a:endParaRPr lang="en-US" sz="1200" dirty="0"/>
          </a:p>
        </p:txBody>
      </p:sp>
      <p:sp>
        <p:nvSpPr>
          <p:cNvPr id="64" name="Text 50"/>
          <p:cNvSpPr txBox="1"/>
          <p:nvPr/>
        </p:nvSpPr>
        <p:spPr>
          <a:xfrm>
            <a:off x="6336792" y="530352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Members-only pop-up</a:t>
            </a:r>
            <a:endParaRPr lang="en-US" sz="950" dirty="0"/>
          </a:p>
        </p:txBody>
      </p:sp>
      <p:sp>
        <p:nvSpPr>
          <p:cNvPr id="65" name="Shape 51"/>
          <p:cNvSpPr/>
          <p:nvPr/>
        </p:nvSpPr>
        <p:spPr>
          <a:xfrm>
            <a:off x="9006840" y="4361688"/>
            <a:ext cx="2679192" cy="1261872"/>
          </a:xfrm>
          <a:prstGeom prst="roundRect">
            <a:avLst>
              <a:gd name="adj" fmla="val 5797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66" name="Text 52"/>
          <p:cNvSpPr txBox="1"/>
          <p:nvPr/>
        </p:nvSpPr>
        <p:spPr>
          <a:xfrm>
            <a:off x="9189720" y="4361688"/>
            <a:ext cx="23134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→ 3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7D7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programs considered → flagships on slide 5</a:t>
            </a:r>
            <a:endParaRPr lang="en-US" sz="1200" dirty="0"/>
          </a:p>
        </p:txBody>
      </p:sp>
      <p:sp>
        <p:nvSpPr>
          <p:cNvPr id="67" name="Shape 53"/>
          <p:cNvSpPr/>
          <p:nvPr/>
        </p:nvSpPr>
        <p:spPr>
          <a:xfrm>
            <a:off x="502920" y="5779008"/>
            <a:ext cx="11183112" cy="512064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68" name="Shape 54"/>
          <p:cNvSpPr/>
          <p:nvPr/>
        </p:nvSpPr>
        <p:spPr>
          <a:xfrm>
            <a:off x="640080" y="5870448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6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2500" y="5942868"/>
            <a:ext cx="184343" cy="184343"/>
          </a:xfrm>
          <a:prstGeom prst="rect">
            <a:avLst/>
          </a:prstGeom>
        </p:spPr>
      </p:pic>
      <p:sp>
        <p:nvSpPr>
          <p:cNvPr id="70" name="Text 55"/>
          <p:cNvSpPr txBox="1"/>
          <p:nvPr/>
        </p:nvSpPr>
        <p:spPr>
          <a:xfrm>
            <a:off x="1097280" y="5779008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14 are zero-discount; the 3 flagships won on cross-category reach and build effort, the other 11 plug into them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 the Second Purchase</dc:title>
  <dc:subject>PptxGenJS Presentation</dc:subject>
  <dc:creator>Team G27</dc:creator>
  <cp:lastModifiedBy>Team G27</cp:lastModifiedBy>
  <cp:revision>1</cp:revision>
  <dcterms:created xsi:type="dcterms:W3CDTF">2026-10-17T11:57:44Z</dcterms:created>
  <dcterms:modified xsi:type="dcterms:W3CDTF">2026-10-17T11:57:44Z</dcterms:modified>
</cp:coreProperties>
</file>