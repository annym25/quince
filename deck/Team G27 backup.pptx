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for Q&amp;A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blend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98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tree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655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4655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Behavioural journey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325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25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to target, and when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99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599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Fourteen programs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331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Repeat-rate bridge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986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reallocation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46557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34655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at stake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0325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40325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 IQ insight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5994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94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4599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FC4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option covers another's weakness, so we blend all three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section 4 (Options A, B, C), Exhibit I (cost and timing) and Exhibit K (risk matrix); team analysis.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325880"/>
            <a:ext cx="3648456" cy="2514600"/>
          </a:xfrm>
          <a:prstGeom prst="roundRect">
            <a:avLst>
              <a:gd name="adj" fmla="val 21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1463040"/>
            <a:ext cx="548640" cy="54864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44168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344168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precision and suppression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6771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05840" y="2212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in weeks, $0 incremental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29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05840" y="27980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Alone: High signal-loss exposure; builds no lasting relationship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162556" y="3913632"/>
            <a:ext cx="329184" cy="32918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4315968"/>
            <a:ext cx="3648456" cy="868680"/>
          </a:xfrm>
          <a:prstGeom prst="roundRect">
            <a:avLst>
              <a:gd name="adj" fmla="val 6316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4315968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Funds it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Suppression frees $4M in months 1–3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270248" y="1325880"/>
            <a:ext cx="3648456" cy="2514600"/>
          </a:xfrm>
          <a:prstGeom prst="roundRect">
            <a:avLst>
              <a:gd name="adj" fmla="val 21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434840" y="1463040"/>
            <a:ext cx="548640" cy="54864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34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5111496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111496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lifecycle precision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26771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773168" y="2212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 cost per touch; insulated from ATT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85292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773168" y="27980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Alone: Reach capped by today's list: 1 in 4 buyers engaged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929884" y="3913632"/>
            <a:ext cx="329184" cy="32918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270248" y="4315968"/>
            <a:ext cx="3648456" cy="868680"/>
          </a:xfrm>
          <a:prstGeom prst="roundRect">
            <a:avLst>
              <a:gd name="adj" fmla="val 6316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453128" y="4315968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it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grows the list; journeys earn order two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037576" y="1325880"/>
            <a:ext cx="3648456" cy="2514600"/>
          </a:xfrm>
          <a:prstGeom prst="roundRect">
            <a:avLst>
              <a:gd name="adj" fmla="val 21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02168" y="1463040"/>
            <a:ext cx="548640" cy="54864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0216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2000" dirty="0"/>
          </a:p>
        </p:txBody>
      </p:sp>
      <p:sp>
        <p:nvSpPr>
          <p:cNvPr id="36" name="Text 29"/>
          <p:cNvSpPr txBox="1"/>
          <p:nvPr/>
        </p:nvSpPr>
        <p:spPr>
          <a:xfrm>
            <a:off x="8878824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8878824" y="16824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Attribution-based reallocation</a:t>
            </a:r>
            <a:endParaRPr lang="en-US" sz="12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56" y="2267712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540496" y="2212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lasting decision framework</a:t>
            </a:r>
            <a:endParaRPr lang="en-US" sz="105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2852928"/>
            <a:ext cx="237744" cy="23774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8540496" y="27980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Alone: 6–12 months to trust; high change risk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9697212" y="3913632"/>
            <a:ext cx="329184" cy="329184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037576" y="4315968"/>
            <a:ext cx="3648456" cy="868680"/>
          </a:xfrm>
          <a:prstGeom prst="roundRect">
            <a:avLst>
              <a:gd name="adj" fmla="val 6316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220456" y="4315968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it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from day 1 and decides every tranche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502920" y="5285232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B's speed pays for A's build, A's owned reach cuts B's signal-loss exposure, and C's holdouts remove the measurement risk of both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if the pilot beats the holdout by 2+ pts on 30-day repeat; stop and return the tranche if it doesn't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branches, three levers, one thread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analysis; Adobe CJA panels A1–A6; case Exhibits D and G.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260604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651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90-day repeat 24% and blended CAC $62 on a fixed $120M?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3337560"/>
            <a:ext cx="411480" cy="-15270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17520" y="1371600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1D4E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27248" y="1371600"/>
            <a:ext cx="1645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1810512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66360" y="1371600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 is over-credited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1773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Retargeted buyers repeat like organic: 23.0% vs 23.4%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0" y="1673352"/>
            <a:ext cx="365760" cy="274320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01200" y="1517904"/>
            <a:ext cx="2084832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0" y="1517904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pay twice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606040" y="3337560"/>
            <a:ext cx="411480" cy="-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17520" y="2487168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1D4ED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127248" y="2487168"/>
            <a:ext cx="1645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mind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46320" y="2926080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66360" y="2487168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One-product buyers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28895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Cashmere: 40.7% of buyers, 13.7% repeat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144000" y="2788920"/>
            <a:ext cx="365760" cy="274320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01200" y="2633472"/>
            <a:ext cx="2084832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01200" y="2633472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the Golden Month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606040" y="3337560"/>
            <a:ext cx="411480" cy="70408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017520" y="3602736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1D4ED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127248" y="3602736"/>
            <a:ext cx="1645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846320" y="4041648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66360" y="3602736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303520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purchase leaks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303520" y="4005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 of carts never order; 1 message per 11,610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9144000" y="3904488"/>
            <a:ext cx="365760" cy="274320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01200" y="3749040"/>
            <a:ext cx="2084832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601200" y="3749040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every buyer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606040" y="3337560"/>
            <a:ext cx="411480" cy="181965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017520" y="4718304"/>
            <a:ext cx="1828800" cy="87782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3127248" y="4718304"/>
            <a:ext cx="1645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trust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846320" y="5157216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66360" y="4718304"/>
            <a:ext cx="3886200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303520" y="4809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Found, not yet trusted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303520" y="5120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25,227 leave after a product view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9144000" y="5020056"/>
            <a:ext cx="365760" cy="274320"/>
          </a:xfrm>
          <a:prstGeom prst="right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601200" y="4864608"/>
            <a:ext cx="2084832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601200" y="4864608"/>
            <a:ext cx="2084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thread, all levers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= engaged share × engaged repeat + non-engaged share × non-engaged repeat; CAC = $120M ÷ new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moments decide whether a first buyer returns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 panels A1, A2, A4, A5, A6 and Cohort Table; mechanisms are hypotheses the pilot tests.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301714" y="1874520"/>
            <a:ext cx="9585525" cy="0"/>
          </a:xfrm>
          <a:prstGeom prst="line">
            <a:avLst/>
          </a:prstGeom>
          <a:noFill/>
          <a:ln w="38100">
            <a:solidFill>
              <a:srgbClr val="BFDBF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9962" y="1572768"/>
            <a:ext cx="603504" cy="60350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33" y="1705539"/>
            <a:ext cx="337962" cy="3379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6072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2648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45.5% via prospecting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signals quality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191986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6072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94360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Creators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597549" y="1572768"/>
            <a:ext cx="603504" cy="60350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320" y="1705539"/>
            <a:ext cx="337962" cy="33796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2146227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page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173659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210235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25,227 leave here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2146227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2146227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Perceived risk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789573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173659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2191947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Product-page proof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195137" y="1572768"/>
            <a:ext cx="603504" cy="60350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907" y="1705539"/>
            <a:ext cx="337962" cy="33796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3743815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3771247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807823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77% never order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3743815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36" name="Text 30"/>
          <p:cNvSpPr txBox="1"/>
          <p:nvPr/>
        </p:nvSpPr>
        <p:spPr>
          <a:xfrm>
            <a:off x="3743815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Unfinished task fades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387161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771247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3789535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Cart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5792724" y="1572768"/>
            <a:ext cx="603504" cy="60350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495" y="1705539"/>
            <a:ext cx="337962" cy="33796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341402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5368834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5405410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27.1% vs web 22.7%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5341402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6" name="Text 39"/>
          <p:cNvSpPr txBox="1"/>
          <p:nvPr/>
        </p:nvSpPr>
        <p:spPr>
          <a:xfrm>
            <a:off x="5341402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effect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5984748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368834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5387122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It in the App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7390311" y="1572768"/>
            <a:ext cx="603504" cy="60350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3082" y="1705539"/>
            <a:ext cx="337962" cy="337962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938990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6966422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7002998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24.5% engage</a:t>
            </a:r>
            <a:endParaRPr lang="en-US" sz="1050" dirty="0"/>
          </a:p>
        </p:txBody>
      </p:sp>
      <p:sp>
        <p:nvSpPr>
          <p:cNvPr id="55" name="Text 47"/>
          <p:cNvSpPr txBox="1"/>
          <p:nvPr/>
        </p:nvSpPr>
        <p:spPr>
          <a:xfrm>
            <a:off x="6938990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56" name="Text 48"/>
          <p:cNvSpPr txBox="1"/>
          <p:nvPr/>
        </p:nvSpPr>
        <p:spPr>
          <a:xfrm>
            <a:off x="6938990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Peak-end, endowment</a:t>
            </a:r>
            <a:endParaRPr lang="en-US" sz="1050" dirty="0"/>
          </a:p>
        </p:txBody>
      </p:sp>
      <p:sp>
        <p:nvSpPr>
          <p:cNvPr id="57" name="Shape 49"/>
          <p:cNvSpPr/>
          <p:nvPr/>
        </p:nvSpPr>
        <p:spPr>
          <a:xfrm>
            <a:off x="7582335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966422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6984710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1050" dirty="0"/>
          </a:p>
        </p:txBody>
      </p:sp>
      <p:sp>
        <p:nvSpPr>
          <p:cNvPr id="60" name="Shape 52"/>
          <p:cNvSpPr/>
          <p:nvPr/>
        </p:nvSpPr>
        <p:spPr>
          <a:xfrm>
            <a:off x="8987899" y="1572768"/>
            <a:ext cx="603504" cy="60350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670" y="1705539"/>
            <a:ext cx="337962" cy="337962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8536577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0–30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8564009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8600585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Week-2 peak 5.6%</a:t>
            </a:r>
            <a:endParaRPr lang="en-US" sz="1050" dirty="0"/>
          </a:p>
        </p:txBody>
      </p:sp>
      <p:sp>
        <p:nvSpPr>
          <p:cNvPr id="65" name="Text 56"/>
          <p:cNvSpPr txBox="1"/>
          <p:nvPr/>
        </p:nvSpPr>
        <p:spPr>
          <a:xfrm>
            <a:off x="8536577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66" name="Text 57"/>
          <p:cNvSpPr txBox="1"/>
          <p:nvPr/>
        </p:nvSpPr>
        <p:spPr>
          <a:xfrm>
            <a:off x="8536577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Habit formation</a:t>
            </a:r>
            <a:endParaRPr lang="en-US" sz="1050" dirty="0"/>
          </a:p>
        </p:txBody>
      </p:sp>
      <p:sp>
        <p:nvSpPr>
          <p:cNvPr id="67" name="Shape 58"/>
          <p:cNvSpPr/>
          <p:nvPr/>
        </p:nvSpPr>
        <p:spPr>
          <a:xfrm>
            <a:off x="9179923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8564009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8582297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Calendar</a:t>
            </a:r>
            <a:endParaRPr lang="en-US" sz="1050" dirty="0"/>
          </a:p>
        </p:txBody>
      </p:sp>
      <p:sp>
        <p:nvSpPr>
          <p:cNvPr id="70" name="Shape 61"/>
          <p:cNvSpPr/>
          <p:nvPr/>
        </p:nvSpPr>
        <p:spPr>
          <a:xfrm>
            <a:off x="10585486" y="1572768"/>
            <a:ext cx="603504" cy="60350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8257" y="1705539"/>
            <a:ext cx="337962" cy="337962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10134165" y="2286000"/>
            <a:ext cx="1506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30–90</a:t>
            </a:r>
            <a:endParaRPr lang="en-US" sz="1200" dirty="0"/>
          </a:p>
        </p:txBody>
      </p:sp>
      <p:sp>
        <p:nvSpPr>
          <p:cNvPr id="73" name="Shape 63"/>
          <p:cNvSpPr/>
          <p:nvPr/>
        </p:nvSpPr>
        <p:spPr>
          <a:xfrm>
            <a:off x="10161597" y="2697480"/>
            <a:ext cx="1451283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74" name="Text 64"/>
          <p:cNvSpPr txBox="1"/>
          <p:nvPr/>
        </p:nvSpPr>
        <p:spPr>
          <a:xfrm>
            <a:off x="10198173" y="2697480"/>
            <a:ext cx="13781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13.7%</a:t>
            </a:r>
            <a:endParaRPr lang="en-US" sz="1050" dirty="0"/>
          </a:p>
        </p:txBody>
      </p:sp>
      <p:sp>
        <p:nvSpPr>
          <p:cNvPr id="75" name="Text 65"/>
          <p:cNvSpPr txBox="1"/>
          <p:nvPr/>
        </p:nvSpPr>
        <p:spPr>
          <a:xfrm>
            <a:off x="10134165" y="3566160"/>
            <a:ext cx="15061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</a:t>
            </a:r>
            <a:endParaRPr lang="en-US" sz="850" dirty="0"/>
          </a:p>
        </p:txBody>
      </p:sp>
      <p:sp>
        <p:nvSpPr>
          <p:cNvPr id="76" name="Text 66"/>
          <p:cNvSpPr txBox="1"/>
          <p:nvPr/>
        </p:nvSpPr>
        <p:spPr>
          <a:xfrm>
            <a:off x="10134165" y="3767328"/>
            <a:ext cx="1506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accounting</a:t>
            </a:r>
            <a:endParaRPr lang="en-US" sz="1050" dirty="0"/>
          </a:p>
        </p:txBody>
      </p:sp>
      <p:sp>
        <p:nvSpPr>
          <p:cNvPr id="77" name="Shape 67"/>
          <p:cNvSpPr/>
          <p:nvPr/>
        </p:nvSpPr>
        <p:spPr>
          <a:xfrm>
            <a:off x="10777510" y="4297680"/>
            <a:ext cx="219456" cy="274320"/>
          </a:xfrm>
          <a:prstGeom prst="downArrow">
            <a:avLst/>
          </a:prstGeom>
          <a:solidFill>
            <a:srgbClr val="BFDB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10161597" y="4663440"/>
            <a:ext cx="1451283" cy="566928"/>
          </a:xfrm>
          <a:prstGeom prst="roundRect">
            <a:avLst>
              <a:gd name="adj" fmla="val 12903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79" name="Text 69"/>
          <p:cNvSpPr txBox="1"/>
          <p:nvPr/>
        </p:nvSpPr>
        <p:spPr>
          <a:xfrm>
            <a:off x="10179885" y="4663440"/>
            <a:ext cx="1414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Journeys</a:t>
            </a:r>
            <a:endParaRPr lang="en-US" sz="1050" dirty="0"/>
          </a:p>
        </p:txBody>
      </p:sp>
      <p:sp>
        <p:nvSpPr>
          <p:cNvPr id="80" name="Shape 70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8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83" name="Text 72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peaks when the parcel opens: Quince asks for the relationship then, and never with a discount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channels first; paid only where owned can't reach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 segments (A1, A2, A4, A6, Cohort Table); team targeting plan. Every segment is a saved CJA segment that drives both message and measurement.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11680" y="1691640"/>
            <a:ext cx="95097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56816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00200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 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68573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1957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80330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3714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7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87184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30568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23453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66837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945014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88398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60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1466576" y="1636776"/>
            <a:ext cx="109728" cy="10972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109960" y="1325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2011680"/>
            <a:ext cx="11183112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2331720"/>
            <a:ext cx="402336" cy="402336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94" y="2420234"/>
            <a:ext cx="225308" cy="22530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97280" y="201168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02920" y="3200400"/>
            <a:ext cx="11183112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0080" y="3520440"/>
            <a:ext cx="402336" cy="402336"/>
          </a:xfrm>
          <a:prstGeom prst="ellipse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4" y="3608954"/>
            <a:ext cx="225308" cy="22530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097280" y="32004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02920" y="4389120"/>
            <a:ext cx="11183112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0080" y="4709160"/>
            <a:ext cx="402336" cy="402336"/>
          </a:xfrm>
          <a:prstGeom prst="ellipse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4" y="4797674"/>
            <a:ext cx="225308" cy="22530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97280" y="438912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Suppress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2011680" y="2075688"/>
            <a:ext cx="1711757" cy="40233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2103120" y="2075688"/>
            <a:ext cx="1528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+ cart abandoners: Saved Cart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2201875" y="2551176"/>
            <a:ext cx="1711757" cy="402336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2293315" y="2551176"/>
            <a:ext cx="1528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buyer: Passport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913632" y="2551176"/>
            <a:ext cx="3328416" cy="40233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4005072" y="255117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buyers, weeks 1–4: second category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7242048" y="2075688"/>
            <a:ext cx="2757830" cy="40233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333488" y="2075688"/>
            <a:ext cx="25749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buyers: Material Journeys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9999878" y="2551176"/>
            <a:ext cx="1521562" cy="402336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10091318" y="2551176"/>
            <a:ext cx="13386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Lapsed: restock-first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3723437" y="3264408"/>
            <a:ext cx="1711757" cy="40233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814877" y="3264408"/>
            <a:ext cx="1528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Unreachable cart abandoners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5435194" y="3739896"/>
            <a:ext cx="3043123" cy="40233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5526634" y="3739896"/>
            <a:ext cx="28602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Non-engaged: customer-match ads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2011680" y="4453128"/>
            <a:ext cx="9509760" cy="40233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2103120" y="4453128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buyers and owned-reachable customers removed from paid retargeting from week 1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2011680" y="4928616"/>
            <a:ext cx="3423514" cy="40233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2103120" y="4928616"/>
            <a:ext cx="32406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Single-page bouncers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502920" y="5742432"/>
            <a:ext cx="11183112" cy="512064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640080" y="5833872"/>
            <a:ext cx="329184" cy="329184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0" y="5906292"/>
            <a:ext cx="184343" cy="184343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1097280" y="574243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retargeting keeps one job: reaching high-intent people Quince has no other way to contact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Fourteen programs, three flagships, zero discounts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strategy. Each program sits inside one lever, works on one named behaviour and has a KPI CJA can read.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2920" y="1280160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2801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Capture every buyer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810512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1810512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Quince Passport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card: register your piece for care, exchange, restock-first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798064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79806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It in the App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tracking opens in the app by default; SMS fallback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785616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785616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Cart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 within hours with fit and return promise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773168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773168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Restock-First Waitlist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"Text me when it's back" for real sell-outs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88536" y="1280160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88536" y="12801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Win the Golden Month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88536" y="1810512"/>
            <a:ext cx="3611880" cy="585216"/>
          </a:xfrm>
          <a:prstGeom prst="roundRect">
            <a:avLst>
              <a:gd name="adj" fmla="val 9375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25696" y="181051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Material Journeys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buyer → throw or linen sheets, by season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88536" y="2459736"/>
            <a:ext cx="3611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25696" y="2459736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Calendar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care reminders keep cashmere buyers close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88536" y="3108960"/>
            <a:ext cx="3611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25696" y="31089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Ledger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dates trigger picks 14 days before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88536" y="3758184"/>
            <a:ext cx="3611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425696" y="3758184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Insider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access earned by engagement, not spend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88536" y="4407408"/>
            <a:ext cx="3611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25696" y="440740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Refill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Refill reminders timed to each product's use cycle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88536" y="5056632"/>
            <a:ext cx="3611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25696" y="505663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Second Life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Take-back for recycling, rewarded with early access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074152" y="1280160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74152" y="12801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Never pay twice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074152" y="1810512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0A1F44"/>
          </a:solidFill>
          <a:ln w="9525">
            <a:solidFill>
              <a:srgbClr val="0A1F4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11312" y="1810512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Never Pay Twice Engine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CJA audiences suppress owned buyers from paid ads daily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074152" y="2798064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2798064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Loyalist Lookalikes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half of prospecting on repeat buyers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074152" y="3785616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11312" y="3785616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Creators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Wear-tests and fabric close-ups, $1.5M from search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074152" y="4773168"/>
            <a:ext cx="361188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11312" y="4773168"/>
            <a:ext cx="3337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Fitting Room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Members-only holiday pop-up; entry through the app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5870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3337560" y="5870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172200" y="5870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CJA tests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9006840" y="5870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budget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levers lift 90-day repeat from 24% to about 31%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E and J (baseline 24%); Adobe CJA A2/A5 for measured haircuts (app 17%, SMS 37%); new-lever sizes are team estimates.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1520" y="4362994"/>
            <a:ext cx="960120" cy="757646"/>
          </a:xfrm>
          <a:prstGeom prst="rect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05209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691640" y="4362994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965960" y="3908407"/>
            <a:ext cx="960120" cy="454587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83080" y="3597511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85623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capture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926080" y="3908407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3200400" y="3529584"/>
            <a:ext cx="960120" cy="378823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17520" y="32186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09067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capture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60520" y="3529584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434840" y="3169702"/>
            <a:ext cx="960120" cy="359882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51960" y="285880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+1.9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32511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Cashmere cross-sell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394960" y="3169702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669280" y="2904526"/>
            <a:ext cx="960120" cy="265176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0" y="259363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55955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Triggered journeys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629400" y="2904526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6903720" y="2828762"/>
            <a:ext cx="960120" cy="75765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20840" y="2517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+0.4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79399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Quince Passport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63840" y="2828762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8138160" y="2658291"/>
            <a:ext cx="960120" cy="170470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55280" y="234739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02843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Loyalist Lookalikes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9098280" y="2658291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9372600" y="2658291"/>
            <a:ext cx="960120" cy="378823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89720" y="234739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26287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Haircuts: selection bias, overlap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0332720" y="3037114"/>
            <a:ext cx="27432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10607040" y="3037114"/>
            <a:ext cx="960120" cy="208352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424160" y="272621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31.0%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497312" y="5193792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48640" y="5120640"/>
            <a:ext cx="1097280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02920" y="5687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Axis starts at 20%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492240" y="1371600"/>
            <a:ext cx="1225296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92240" y="139903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16276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33.0%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7790688" y="1371600"/>
            <a:ext cx="1225296" cy="640080"/>
          </a:xfrm>
          <a:prstGeom prst="roundRect">
            <a:avLst>
              <a:gd name="adj" fmla="val 11429"/>
            </a:avLst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790688" y="139903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16276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31.0%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9089136" y="1371600"/>
            <a:ext cx="1225296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089136" y="139903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Downside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9089136" y="16276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29.5%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10387584" y="1371600"/>
            <a:ext cx="1225296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387584" y="139903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Downside + buffers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10387584" y="162763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30.0%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$9M shifts from rented spend to owned channels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 G (today); team plan (tranches T1–T3 gated by CJA holdouts). Brand/other holds $4M, of which $1.0M funds the Fitting Room test.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8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0" cy="406908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499872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364480" y="1600200"/>
            <a:ext cx="0" cy="406908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07136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37120" y="1600200"/>
            <a:ext cx="0" cy="406908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914400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509760" y="1600200"/>
            <a:ext cx="0" cy="406908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02920" y="1783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prospecting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95232" y="1965960"/>
            <a:ext cx="207264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01912" y="1865376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94648" y="1865376"/>
            <a:ext cx="201168" cy="20116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0" y="1783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−$2M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469880" y="1783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T3 · only if proven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441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search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260848" y="2624328"/>
            <a:ext cx="310896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1160" y="2523744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60264" y="2523744"/>
            <a:ext cx="201168" cy="20116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92640" y="24414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−$3M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0469880" y="2441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 · after geo holdout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998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and creators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949952" y="3282696"/>
            <a:ext cx="155448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49368" y="3182112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04816" y="3182112"/>
            <a:ext cx="201168" cy="20116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92640" y="30998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+$1.5M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10469880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+$1.5M from search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7581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retargeting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28160" y="3941064"/>
            <a:ext cx="414528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2104" y="3840480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227576" y="3840480"/>
            <a:ext cx="201168" cy="201168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692640" y="37581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−$4M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10469880" y="3758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 · suppress own buyers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416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SMS, app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3913632" y="4599432"/>
            <a:ext cx="77724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13048" y="4498848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90288" y="4498848"/>
            <a:ext cx="201168" cy="201168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692640" y="441655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+$7.5M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469880" y="4416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+$7.5M owned build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02920" y="5074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and other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3706368" y="5257800"/>
            <a:ext cx="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605784" y="5157216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605784" y="5157216"/>
            <a:ext cx="201168" cy="201168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692640" y="5074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±$0M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10469880" y="5074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incl. $1.0M Fitting Room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291840" y="5870448"/>
            <a:ext cx="164592" cy="164592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52044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297680" y="5870448"/>
            <a:ext cx="164592" cy="164592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52628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5760720" y="58247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change: $0 inside the fixed $120M  ·  owned share 5% → 11%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$120M earns about $25M more contribution a year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case Exhibits H and J (45% contribution margin, $13.5M per 6 pts of repeat); strict CAC = $120M ÷ new customers; team estimates.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9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added per year, $M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1920240"/>
            <a:ext cx="2658344" cy="8229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920240"/>
            <a:ext cx="2475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$15.8M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816352"/>
            <a:ext cx="265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at +7 pts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61264" y="1920240"/>
            <a:ext cx="1497421" cy="822960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8424" y="1920240"/>
            <a:ext cx="13145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$8.9M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161264" y="2816352"/>
            <a:ext cx="1497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~170K extra new customers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795845" y="192024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$25M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Lifetime margin per customer vs CAC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3749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3-year LTV × 45% margin, $; web-only vs prospecting CAC $74, others vs $62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Web-only, not subscribed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286000" y="4178808"/>
            <a:ext cx="1034261" cy="237744"/>
          </a:xfrm>
          <a:prstGeom prst="rect">
            <a:avLst/>
          </a:prstGeom>
          <a:solidFill>
            <a:srgbClr val="DC262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11701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$70  ·  0.94× CAC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46451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286000" y="4709160"/>
            <a:ext cx="1901705" cy="237744"/>
          </a:xfrm>
          <a:prstGeom prst="rect">
            <a:avLst/>
          </a:prstGeom>
          <a:solidFill>
            <a:srgbClr val="60A5FA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79145" y="4645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  ·  2.1× CAC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5175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App-installed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86000" y="5239512"/>
            <a:ext cx="2735786" cy="23774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13226" y="5175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  ·  3.0× CAC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Blended CAC, measured two ways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0" y="1828800"/>
            <a:ext cx="5285232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CAC (case's Exhibit J measure)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 → ~$54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41832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−12% to −14%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400800" y="3017520"/>
            <a:ext cx="52852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new-customer CAC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58368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 → ~$57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941832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−8%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400800" y="4343400"/>
            <a:ext cx="5285232" cy="1051560"/>
          </a:xfrm>
          <a:prstGeom prst="roundRect">
            <a:avLst>
              <a:gd name="adj" fmla="val 6957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83680" y="43434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Converting one web-only buyer into an app user is worth about $115 of margin, almost two new-customer CACs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click undervalues owned channels about three times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Adobe CJA Attribution IQ, Order Revenue ($337,044), Marketing Channel, Person container, 90-day lookback, 1 Jan–30 Apr 2026.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10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017520" y="1600200"/>
            <a:ext cx="0" cy="420624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3584448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58768" y="1600200"/>
            <a:ext cx="0" cy="420624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425696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00016" y="1600200"/>
            <a:ext cx="0" cy="420624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266944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41264" y="1600200"/>
            <a:ext cx="0" cy="420624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6108192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82512" y="1600200"/>
            <a:ext cx="0" cy="420624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949440" y="1325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223760" y="1600200"/>
            <a:ext cx="0" cy="420624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59436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prospecting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508699" y="1920240"/>
            <a:ext cx="353324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17259" y="1828800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70583" y="1828800"/>
            <a:ext cx="182880" cy="18288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26615" y="1737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41.5% → 45.7%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22494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Organic, direct, SEO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63517" y="2432304"/>
            <a:ext cx="673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72077" y="2340864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39377" y="2340864"/>
            <a:ext cx="182880" cy="18288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95409" y="22494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 → 16.8%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social retargeting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102730" y="2944368"/>
            <a:ext cx="10095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11290" y="2852928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12240" y="2852928"/>
            <a:ext cx="182880" cy="18288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68272" y="27614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 → 14.1%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594360" y="32735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search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094317" y="3456432"/>
            <a:ext cx="75712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02877" y="3364992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78590" y="3364992"/>
            <a:ext cx="182880" cy="18288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34622" y="32735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 → 13.7%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785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Influencer, affiliate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035430" y="3968496"/>
            <a:ext cx="10095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43990" y="3877056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044940" y="3877056"/>
            <a:ext cx="182880" cy="182880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00972" y="37856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12.1% → 13.3%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02920" y="4261104"/>
            <a:ext cx="772668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9436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244657" y="4480560"/>
            <a:ext cx="504749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153217" y="4389120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657966" y="4389120"/>
            <a:ext cx="182880" cy="18288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913998" y="4297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 → 8.7%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02920" y="4773168"/>
            <a:ext cx="772668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94360" y="4809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3076407" y="4992624"/>
            <a:ext cx="227137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984967" y="4901184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212104" y="4901184"/>
            <a:ext cx="182880" cy="18288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468136" y="48097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 → 3.4%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02920" y="5285232"/>
            <a:ext cx="772668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94360" y="5321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push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135295" y="5504688"/>
            <a:ext cx="126187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043855" y="5413248"/>
            <a:ext cx="182880" cy="182880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170042" y="5413248"/>
            <a:ext cx="182880" cy="182880"/>
          </a:xfrm>
          <a:prstGeom prst="ellipse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426074" y="53218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1.4% → 2.9%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3017520" y="5943600"/>
            <a:ext cx="146304" cy="146304"/>
          </a:xfrm>
          <a:prstGeom prst="ellipse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218688" y="5897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touch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206240" y="5943600"/>
            <a:ext cx="146304" cy="14630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407408" y="5897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8595360" y="1737360"/>
            <a:ext cx="3090672" cy="1828800"/>
          </a:xfrm>
          <a:prstGeom prst="roundRect">
            <a:avLst>
              <a:gd name="adj" fmla="val 4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77824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4.8% → 15.0%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7D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channels: last-touch credit vs share of revenue they take part in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8595360" y="3749040"/>
            <a:ext cx="3090672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6350">
            <a:solidFill>
              <a:srgbClr val="EFF6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778240" y="38404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 → 12.4%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Retargeting barely moves from last to first touch, so its cut rests on holdouts, not attribution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risks, each with a mitigation and an early warning</a:t>
            </a:r>
            <a:endParaRPr lang="en-US" sz="2400" dirty="0"/>
          </a:p>
        </p:txBody>
      </p:sp>
      <p:pic>
        <p:nvPicPr>
          <p:cNvPr id="3" name="Image 0" descr="/tmp/claude-0/-home-user-Quince/7efe80ae-a049-50c2-9886-98bf7ca3a04a/scratchpad/assets/qui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08" y="615544"/>
            <a:ext cx="777240" cy="2319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55680" y="603504"/>
            <a:ext cx="530352" cy="256032"/>
          </a:xfrm>
          <a:prstGeom prst="roundRect">
            <a:avLst>
              <a:gd name="adj" fmla="val 50000"/>
            </a:avLst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035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G27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646480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team analysis; case section 7 risk matrix. Positions are team judgment.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966960" y="646480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G27  ·  11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097280" y="1463040"/>
            <a:ext cx="1289304" cy="1289304"/>
          </a:xfrm>
          <a:prstGeom prst="rect">
            <a:avLst/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23160" y="1463040"/>
            <a:ext cx="1289304" cy="1289304"/>
          </a:xfrm>
          <a:prstGeom prst="rect">
            <a:avLst/>
          </a:prstGeom>
          <a:solidFill>
            <a:srgbClr val="FDE2E2"/>
          </a:solidFill>
          <a:ln w="6350">
            <a:solidFill>
              <a:srgbClr val="FD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49040" y="1463040"/>
            <a:ext cx="1289304" cy="1289304"/>
          </a:xfrm>
          <a:prstGeom prst="rect">
            <a:avLst/>
          </a:prstGeom>
          <a:solidFill>
            <a:srgbClr val="FDE2E2"/>
          </a:solidFill>
          <a:ln w="6350">
            <a:solidFill>
              <a:srgbClr val="FDE2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2788920"/>
            <a:ext cx="1289304" cy="1289304"/>
          </a:xfrm>
          <a:prstGeom prst="rect">
            <a:avLst/>
          </a:prstGeom>
          <a:solidFill>
            <a:srgbClr val="E8F5EC"/>
          </a:solidFill>
          <a:ln w="6350">
            <a:solidFill>
              <a:srgbClr val="E8F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23160" y="2788920"/>
            <a:ext cx="1289304" cy="1289304"/>
          </a:xfrm>
          <a:prstGeom prst="rect">
            <a:avLst/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49040" y="2788920"/>
            <a:ext cx="1289304" cy="1289304"/>
          </a:xfrm>
          <a:prstGeom prst="rect">
            <a:avLst/>
          </a:prstGeom>
          <a:solidFill>
            <a:srgbClr val="FDE2E2"/>
          </a:solidFill>
          <a:ln w="6350">
            <a:solidFill>
              <a:srgbClr val="FDE2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0" y="4114800"/>
            <a:ext cx="1289304" cy="1289304"/>
          </a:xfrm>
          <a:prstGeom prst="rect">
            <a:avLst/>
          </a:prstGeom>
          <a:solidFill>
            <a:srgbClr val="E8F5EC"/>
          </a:solidFill>
          <a:ln w="6350">
            <a:solidFill>
              <a:srgbClr val="E8F5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3160" y="4114800"/>
            <a:ext cx="1289304" cy="1289304"/>
          </a:xfrm>
          <a:prstGeom prst="rect">
            <a:avLst/>
          </a:prstGeom>
          <a:solidFill>
            <a:srgbClr val="E8F5EC"/>
          </a:solidFill>
          <a:ln w="6350">
            <a:solidFill>
              <a:srgbClr val="E8F5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4114800"/>
            <a:ext cx="1289304" cy="1289304"/>
          </a:xfrm>
          <a:prstGeom prst="rect">
            <a:avLst/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54864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 →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 rot="16200000">
            <a:off x="-731520" y="33238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77640" y="192024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7764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77640" y="324612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977640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651760" y="324612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51760" y="3246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651760" y="192024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65176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651760" y="457200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5176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977640" y="4572000"/>
            <a:ext cx="402336" cy="402336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7764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0" y="1572768"/>
            <a:ext cx="329184" cy="32918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0" y="1572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12648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bias inflates lift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12648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Randomized 10% holdout; A5 haircut built in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669280" y="2240280"/>
            <a:ext cx="329184" cy="32918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6928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126480" y="21305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owners resist cuts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12648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Scorecards move to incremental revenue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669280" y="2907792"/>
            <a:ext cx="329184" cy="32918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126480" y="27980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fatigue, unsubscribes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12648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Fewer, triggered sends; guardrail pauses tranche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5669280" y="3575304"/>
            <a:ext cx="329184" cy="32918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66928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126480" y="34655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and privacy (TCPA, CCPA)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6126480" y="3758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and marketing consent split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669280" y="4242816"/>
            <a:ext cx="329184" cy="32918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6928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6126480" y="4133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Fitting Room doesn't pay back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6126480" y="44256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One-season test; stops if it loses to Passport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5669280" y="4910328"/>
            <a:ext cx="329184" cy="329184"/>
          </a:xfrm>
          <a:prstGeom prst="ellipse">
            <a:avLst/>
          </a:prstGeom>
          <a:solidFill>
            <a:srgbClr val="0A1F44"/>
          </a:solidFill>
          <a:ln w="6350">
            <a:solidFill>
              <a:srgbClr val="0A1F44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0" y="4910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6126480" y="4800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or signal shock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6126480" y="5093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share 5% → 11%; suppression by lists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 the Second Purchase</dc:title>
  <dc:subject>PptxGenJS Presentation</dc:subject>
  <dc:creator>Team G27</dc:creator>
  <cp:lastModifiedBy>Team G27</cp:lastModifiedBy>
  <cp:revision>1</cp:revision>
  <dcterms:created xsi:type="dcterms:W3CDTF">2026-10-17T11:30:18Z</dcterms:created>
  <dcterms:modified xsi:type="dcterms:W3CDTF">2026-10-17T11:30:18Z</dcterms:modified>
</cp:coreProperties>
</file>