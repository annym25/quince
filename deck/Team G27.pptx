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7"/>
    <p:sldId id="260" r:id="rId6"/>
    <p:sldId id="261" r:id="rId5"/>
    <p:sldId id="262" r:id="rId4"/>
    <p:sldId id="263" r:id="rId3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 on the left, one quadrant each: market, customer, competition, capabilities. The answer on the right: shift $9M inside the fixed $120M toward owned channels through three levers, each with a flagship. Impact: 90-day repeat 24% to about 31%, blended CAC down 12 to 14%, with no new budget and no discounts. The first order buys trust; the second spends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g27v5-s2-Slide-1-image-1.png"/><Relationship Id="rId2" Type="http://schemas.openxmlformats.org/officeDocument/2006/relationships/image" Target="../media/g27v5-s2-image-1-2.png"/><Relationship Id="rId3" Type="http://schemas.openxmlformats.org/officeDocument/2006/relationships/image" Target="../media/g27v5-s2-image-1-3.png"/><Relationship Id="rId4" Type="http://schemas.openxmlformats.org/officeDocument/2006/relationships/image" Target="../media/g27v5-s2-image-1-4.png"/><Relationship Id="rId5" Type="http://schemas.openxmlformats.org/officeDocument/2006/relationships/image" Target="../media/g27v5-s2-image-1-5.png"/><Relationship Id="rId6" Type="http://schemas.openxmlformats.org/officeDocument/2006/relationships/image" Target="../media/g27v5-s2-image-1-6.png"/><Relationship Id="rId7" Type="http://schemas.openxmlformats.org/officeDocument/2006/relationships/image" Target="../media/g27v5-s2-image-1-7.png"/><Relationship Id="rId8" Type="http://schemas.openxmlformats.org/officeDocument/2006/relationships/image" Target="../media/g27v5-s2-image-1-8.png"/><Relationship Id="rId9" Type="http://schemas.openxmlformats.org/officeDocument/2006/relationships/image" Target="../media/g27v5-s2-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g27v5-s4-image-2-1.png"/><Relationship Id="rId2" Type="http://schemas.openxmlformats.org/officeDocument/2006/relationships/image" Target="../media/g27v5-s4-image-2-2.png"/><Relationship Id="rId3" Type="http://schemas.openxmlformats.org/officeDocument/2006/relationships/image" Target="../media/g27v5-s4-image-2-3.png"/><Relationship Id="rId4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g27v5-s5-image-3-1.png"/><Relationship Id="rId2" Type="http://schemas.openxmlformats.org/officeDocument/2006/relationships/image" Target="../media/g27v5-s5-image-3-2.png"/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g27v5-s6-image-4-1.png"/><Relationship Id="rId2" Type="http://schemas.openxmlformats.org/officeDocument/2006/relationships/image" Target="../media/g27v5-s6-image-4-2.png"/><Relationship Id="rId3" Type="http://schemas.openxmlformats.org/officeDocument/2006/relationships/image" Target="../media/g27v5-s6-image-4-3.png"/><Relationship Id="rId4" Type="http://schemas.openxmlformats.org/officeDocument/2006/relationships/image" Target="../media/g27v5-s6-image-4-4.png"/><Relationship Id="rId5" Type="http://schemas.openxmlformats.org/officeDocument/2006/relationships/image" Target="../media/g27v5-s6-image-4-5.png"/><Relationship Id="rId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1-image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doi.org/10.1287/mksc.2018.1135" TargetMode="External"/><Relationship Id="rId6" Type="http://schemas.openxmlformats.org/officeDocument/2006/relationships/hyperlink" Target="https://doi.org/10.3982/ECTA12423" TargetMode="External"/><Relationship Id="rId7" Type="http://schemas.openxmlformats.org/officeDocument/2006/relationships/hyperlink" Target="https://www.wusf.org/2026-05-22/shein-buys-everlane-which-sold-millennials-the-dream-of-ethical-affordable-luxury" TargetMode="External"/><Relationship Id="rId8" Type="http://schemas.openxmlformats.org/officeDocument/2006/relationships/hyperlink" Target="https://www.thefashionlaw.com/quince-beats-williams-sonoma-false-advertising-claims-over-product-comparison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72434"/>
            <a:ext cx="1188720" cy="35474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875520" y="5669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Second Purchase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004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viral first buyers into repeat customers with the same $120M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31%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97180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15468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48640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budget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and lifecycle strategy  ·  Grounded in Adobe Customer Journey Analytics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081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Competition World Cup  ·  Graduate Track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second purchase: repeat to 31%, same budget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2A4A8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4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Quince Case Data View, Jan–Apr 2026; case Exhibits D, G, H, J, M; team estimates. Lever effects are gross before haircuts; the base case nets them to 31%.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B4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56032"/>
            <a:ext cx="6345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24358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SITUATION AND COMPLICATION: WHY QUINCE MUST ACT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7973568" y="1243584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ANSWER: WHAT WE RECOMMEND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1536192"/>
            <a:ext cx="3639312" cy="2286000"/>
          </a:xfrm>
          <a:prstGeom prst="roundRect">
            <a:avLst>
              <a:gd name="adj" fmla="val 3200"/>
            </a:avLst>
          </a:prstGeom>
          <a:solidFill>
            <a:srgbClr val="10285A"/>
          </a:solidFill>
          <a:ln w="9525">
            <a:solidFill>
              <a:srgbClr val="2A4A8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4088" y="17190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538728" y="1682496"/>
            <a:ext cx="420624" cy="420624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1265" y="1775033"/>
            <a:ext cx="235549" cy="23554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04088" y="2039112"/>
            <a:ext cx="3273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CAC </a:t>
            </a:r>
            <a:pPr indent="0" marL="0">
              <a:buNone/>
            </a:pPr>
            <a:r>
              <a:rPr lang="en-US" sz="20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+29%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" y="2706624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Rented reach costs more each year; owned reach compounds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04088" y="3182112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of budget sits on three social platforms; only 5% on owned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288536" y="1536192"/>
            <a:ext cx="3639312" cy="2286000"/>
          </a:xfrm>
          <a:prstGeom prst="roundRect">
            <a:avLst>
              <a:gd name="adj" fmla="val 3200"/>
            </a:avLst>
          </a:prstGeom>
          <a:solidFill>
            <a:srgbClr val="10285A"/>
          </a:solidFill>
          <a:ln w="9525">
            <a:solidFill>
              <a:srgbClr val="2A4A8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489704" y="17190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(ADOBE CJA)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7324344" y="1682496"/>
            <a:ext cx="420624" cy="420624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1775033"/>
            <a:ext cx="235549" cy="23554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489704" y="2039112"/>
            <a:ext cx="3273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</a:t>
            </a:r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carts never order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489704" y="2706624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Intent leaks at the cart; engagement decides who returns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4489704" y="3182112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repeat 28.1% vs 4.7%; 1 message follows 11,610 cart adds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502920" y="3968496"/>
            <a:ext cx="3639312" cy="2286000"/>
          </a:xfrm>
          <a:prstGeom prst="roundRect">
            <a:avLst>
              <a:gd name="adj" fmla="val 3200"/>
            </a:avLst>
          </a:prstGeom>
          <a:solidFill>
            <a:srgbClr val="10285A"/>
          </a:solidFill>
          <a:ln w="9525">
            <a:solidFill>
              <a:srgbClr val="2A4A8A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04088" y="41513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COMPETITION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3538728" y="4114800"/>
            <a:ext cx="420624" cy="420624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1265" y="4207337"/>
            <a:ext cx="235549" cy="235549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04088" y="4471416"/>
            <a:ext cx="3273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day </a:t>
            </a:r>
            <a:pPr indent="0" marL="0">
              <a:buNone/>
            </a:pPr>
            <a:r>
              <a:rPr lang="en-US" sz="1400" b="1" dirty="0">
                <a:solidFill>
                  <a:srgbClr val="93C5F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9–12 months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704088" y="5138928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tactics fast; trust and consent take years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704088" y="5614416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wins paid retargeting; Shein bought Everlane, whose email was no moat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4288536" y="3968496"/>
            <a:ext cx="3639312" cy="2286000"/>
          </a:xfrm>
          <a:prstGeom prst="roundRect">
            <a:avLst>
              <a:gd name="adj" fmla="val 3200"/>
            </a:avLst>
          </a:prstGeom>
          <a:solidFill>
            <a:srgbClr val="10285A"/>
          </a:solidFill>
          <a:ln w="9525">
            <a:solidFill>
              <a:srgbClr val="2A4A8A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4489704" y="41513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8FB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CAPABILITIES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24344" y="4114800"/>
            <a:ext cx="420624" cy="420624"/>
          </a:xfrm>
          <a:prstGeom prst="ellipse">
            <a:avLst/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6881" y="4207337"/>
            <a:ext cx="235549" cy="235549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4489704" y="4471416"/>
            <a:ext cx="3273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$6.0M </a:t>
            </a:r>
            <a:pPr indent="0" marL="0">
              <a:buNone/>
            </a:pPr>
            <a:r>
              <a:rPr lang="en-US" sz="1400" b="1" dirty="0">
                <a:solidFill>
                  <a:srgbClr val="86EF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$7.5M build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4489704" y="5138928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is ready; the lifecycle muscle must be built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4489704" y="5614416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 is ready in CJA; team, app and activation funded inside the $120M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7973568" y="1536192"/>
            <a:ext cx="3712464" cy="4718304"/>
          </a:xfrm>
          <a:prstGeom prst="roundRect">
            <a:avLst>
              <a:gd name="adj" fmla="val 197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8202168" y="17190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42" name="Text 35"/>
          <p:cNvSpPr txBox="1"/>
          <p:nvPr/>
        </p:nvSpPr>
        <p:spPr>
          <a:xfrm>
            <a:off x="8202168" y="1920240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 $9M of the fixed $120M toward owned channels, in three levers</a:t>
            </a:r>
            <a:endParaRPr lang="en-US" sz="1350" dirty="0"/>
          </a:p>
        </p:txBody>
      </p:sp>
      <p:sp>
        <p:nvSpPr>
          <p:cNvPr id="43" name="Shape 36"/>
          <p:cNvSpPr/>
          <p:nvPr/>
        </p:nvSpPr>
        <p:spPr>
          <a:xfrm>
            <a:off x="8202168" y="260604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8202168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5" name="Text 38"/>
          <p:cNvSpPr txBox="1"/>
          <p:nvPr/>
        </p:nvSpPr>
        <p:spPr>
          <a:xfrm>
            <a:off x="8631936" y="2560320"/>
            <a:ext cx="2843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Quince Passport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8202168" y="3008376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8202168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8" name="Text 41"/>
          <p:cNvSpPr txBox="1"/>
          <p:nvPr/>
        </p:nvSpPr>
        <p:spPr>
          <a:xfrm>
            <a:off x="8631936" y="2962656"/>
            <a:ext cx="2843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the Golden Month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Material Journeys</a:t>
            </a:r>
            <a:endParaRPr lang="en-US" sz="1050" dirty="0"/>
          </a:p>
        </p:txBody>
      </p:sp>
      <p:sp>
        <p:nvSpPr>
          <p:cNvPr id="49" name="Shape 42"/>
          <p:cNvSpPr/>
          <p:nvPr/>
        </p:nvSpPr>
        <p:spPr>
          <a:xfrm>
            <a:off x="8202168" y="341071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820216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51" name="Text 44"/>
          <p:cNvSpPr txBox="1"/>
          <p:nvPr/>
        </p:nvSpPr>
        <p:spPr>
          <a:xfrm>
            <a:off x="8631936" y="3364992"/>
            <a:ext cx="2843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Never Pay Twice Engine</a:t>
            </a:r>
            <a:endParaRPr lang="en-US" sz="1050" dirty="0"/>
          </a:p>
        </p:txBody>
      </p:sp>
      <p:sp>
        <p:nvSpPr>
          <p:cNvPr id="52" name="Text 45"/>
          <p:cNvSpPr txBox="1"/>
          <p:nvPr/>
        </p:nvSpPr>
        <p:spPr>
          <a:xfrm>
            <a:off x="8202168" y="3803904"/>
            <a:ext cx="3300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programs · 0 discounts · B funds it, A builds it, C proves it</a:t>
            </a:r>
            <a:endParaRPr lang="en-US" sz="900" dirty="0"/>
          </a:p>
        </p:txBody>
      </p:sp>
      <p:sp>
        <p:nvSpPr>
          <p:cNvPr id="53" name="Shape 46"/>
          <p:cNvSpPr/>
          <p:nvPr/>
        </p:nvSpPr>
        <p:spPr>
          <a:xfrm>
            <a:off x="8202168" y="4096512"/>
            <a:ext cx="325526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8202168" y="4187952"/>
            <a:ext cx="1783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~31%</a:t>
            </a:r>
            <a:endParaRPr lang="en-US" sz="120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 (target ≥ 30%)</a:t>
            </a:r>
            <a:endParaRPr lang="en-US" sz="1200" dirty="0"/>
          </a:p>
        </p:txBody>
      </p:sp>
      <p:sp>
        <p:nvSpPr>
          <p:cNvPr id="55" name="Text 48"/>
          <p:cNvSpPr txBox="1"/>
          <p:nvPr/>
        </p:nvSpPr>
        <p:spPr>
          <a:xfrm>
            <a:off x="9893808" y="418795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1200" dirty="0"/>
          </a:p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(target −10%)</a:t>
            </a:r>
            <a:endParaRPr lang="en-US" sz="1200" dirty="0"/>
          </a:p>
        </p:txBody>
      </p:sp>
      <p:pic>
        <p:nvPicPr>
          <p:cNvPr id="5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168" y="4910328"/>
            <a:ext cx="155448" cy="155448"/>
          </a:xfrm>
          <a:prstGeom prst="rect">
            <a:avLst/>
          </a:prstGeom>
        </p:spPr>
      </p:pic>
      <p:sp>
        <p:nvSpPr>
          <p:cNvPr id="57" name="Text 49"/>
          <p:cNvSpPr txBox="1"/>
          <p:nvPr/>
        </p:nvSpPr>
        <p:spPr>
          <a:xfrm>
            <a:off x="8430768" y="4882896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budget increase</a:t>
            </a:r>
            <a:endParaRPr lang="en-US" sz="950" dirty="0"/>
          </a:p>
        </p:txBody>
      </p:sp>
      <p:pic>
        <p:nvPicPr>
          <p:cNvPr id="5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2168" y="5138928"/>
            <a:ext cx="155448" cy="155448"/>
          </a:xfrm>
          <a:prstGeom prst="rect">
            <a:avLst/>
          </a:prstGeom>
        </p:spPr>
      </p:pic>
      <p:sp>
        <p:nvSpPr>
          <p:cNvPr id="59" name="Text 50"/>
          <p:cNvSpPr txBox="1"/>
          <p:nvPr/>
        </p:nvSpPr>
        <p:spPr>
          <a:xfrm>
            <a:off x="8430768" y="5111496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price-led retention</a:t>
            </a:r>
            <a:endParaRPr lang="en-US" sz="950" dirty="0"/>
          </a:p>
        </p:txBody>
      </p:sp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5367528"/>
            <a:ext cx="155448" cy="155448"/>
          </a:xfrm>
          <a:prstGeom prst="rect">
            <a:avLst/>
          </a:prstGeom>
        </p:spPr>
      </p:pic>
      <p:sp>
        <p:nvSpPr>
          <p:cNvPr id="61" name="Text 51"/>
          <p:cNvSpPr txBox="1"/>
          <p:nvPr/>
        </p:nvSpPr>
        <p:spPr>
          <a:xfrm>
            <a:off x="8430768" y="5340096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in Adobe CJA</a:t>
            </a:r>
            <a:endParaRPr lang="en-US" sz="950" dirty="0"/>
          </a:p>
        </p:txBody>
      </p:sp>
      <p:sp>
        <p:nvSpPr>
          <p:cNvPr id="62" name="Shape 52"/>
          <p:cNvSpPr/>
          <p:nvPr/>
        </p:nvSpPr>
        <p:spPr>
          <a:xfrm>
            <a:off x="8110728" y="5650992"/>
            <a:ext cx="3438144" cy="484632"/>
          </a:xfrm>
          <a:prstGeom prst="roundRect">
            <a:avLst>
              <a:gd name="adj" fmla="val 11321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3" name="Text 53"/>
          <p:cNvSpPr txBox="1"/>
          <p:nvPr/>
        </p:nvSpPr>
        <p:spPr>
          <a:xfrm>
            <a:off x="8247888" y="5650992"/>
            <a:ext cx="31638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prove in 90 days, scale by month nine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pilot, 10% holdout; fail Gate 1 and the money goes back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Rented reach costs more each year; owned reach compounds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D, G, H (illustrative); Reuters (Mar 2026, $10.1B valuation); Adjust and AppsFlyer ATT opt-in benchmarks.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3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rents 60% of its reach and spends just $1.43 per customer on the reach it owns; that gap puts the valuation at risk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MARKET &amp; INDUSTRY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244600"/>
            <a:ext cx="596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  <a:latin typeface="Inter"/>
              </a:rPr>
              <a:t>Quince's fixed FY2026 paid marketing budget, $M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485900"/>
            <a:ext cx="596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Total $120M; Exhibit 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854200"/>
            <a:ext cx="16256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0F172A"/>
                </a:solidFill>
                <a:latin typeface="Inter"/>
              </a:rPr>
              <a:t>Paid social prospecting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22500" y="1854200"/>
            <a:ext cx="2921000" cy="330200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219700" y="1854200"/>
            <a:ext cx="635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  <a:latin typeface="Inter"/>
              </a:rPr>
              <a:t>$58M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438400"/>
            <a:ext cx="16256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0F172A"/>
                </a:solidFill>
                <a:latin typeface="Inter"/>
              </a:rPr>
              <a:t>Paid social retargeting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2500" y="2438400"/>
            <a:ext cx="705068" cy="330200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003768" y="2438400"/>
            <a:ext cx="635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  <a:latin typeface="Inter"/>
              </a:rPr>
              <a:t>$14M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22600"/>
            <a:ext cx="16256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0F172A"/>
                </a:solidFill>
                <a:latin typeface="Inter"/>
              </a:rPr>
              <a:t>Paid search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22500" y="3022600"/>
            <a:ext cx="1107965" cy="330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406665" y="3022600"/>
            <a:ext cx="635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  <a:latin typeface="Inter"/>
              </a:rPr>
              <a:t>$22M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606800"/>
            <a:ext cx="16256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0F172A"/>
                </a:solidFill>
                <a:latin typeface="Inter"/>
              </a:rPr>
              <a:t>Influencer / affiliate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22500" y="3606800"/>
            <a:ext cx="805793" cy="330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104493" y="3606800"/>
            <a:ext cx="635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  <a:latin typeface="Inter"/>
              </a:rPr>
              <a:t>$16M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91000"/>
            <a:ext cx="16256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0F172A"/>
                </a:solidFill>
                <a:latin typeface="Inter"/>
              </a:rPr>
              <a:t>Email, SMS, app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22500" y="4191000"/>
            <a:ext cx="302172" cy="3302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600872" y="4191000"/>
            <a:ext cx="635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  <a:latin typeface="Inter"/>
              </a:rPr>
              <a:t>$6M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75200"/>
            <a:ext cx="16256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0F172A"/>
                </a:solidFill>
                <a:latin typeface="Inter"/>
              </a:rPr>
              <a:t>Brand / other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22500" y="4775200"/>
            <a:ext cx="201448" cy="3302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500148" y="4775200"/>
            <a:ext cx="635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A1F44"/>
                </a:solidFill>
                <a:latin typeface="Inter"/>
              </a:rPr>
              <a:t>$4M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222500" y="1778000"/>
            <a:ext cx="0" cy="34036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78500" y="1879600"/>
            <a:ext cx="0" cy="863600"/>
          </a:xfrm>
          <a:prstGeom prst="line">
            <a:avLst/>
          </a:prstGeom>
          <a:ln w="1587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702300" y="1879600"/>
            <a:ext cx="76200" cy="0"/>
          </a:xfrm>
          <a:prstGeom prst="line">
            <a:avLst/>
          </a:prstGeom>
          <a:ln w="1587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702300" y="2743200"/>
            <a:ext cx="76200" cy="0"/>
          </a:xfrm>
          <a:prstGeom prst="line">
            <a:avLst/>
          </a:prstGeom>
          <a:ln w="1587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854700" y="2082800"/>
            <a:ext cx="889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4ED8"/>
                </a:solidFill>
                <a:latin typeface="Inter"/>
              </a:rPr>
              <a:t>60%</a:t>
            </a:r>
          </a:p>
          <a:p>
            <a:pPr algn="l"/>
            <a:r>
              <a:rPr sz="900" b="0">
                <a:solidFill>
                  <a:srgbClr val="1D4ED8"/>
                </a:solidFill>
                <a:latin typeface="Inter"/>
              </a:rPr>
              <a:t>paid social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59672" y="41910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← only 5% owned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604000" y="1244600"/>
            <a:ext cx="0" cy="424180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921500" y="12827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21500" y="12827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12700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Signal loss hits retargeting first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iOS tracking opt-in is ~35–50% and Safari and Firefox block third-party cookies. Retargeting's $31 CAC also counts sales that would happen anyway.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21500" y="2489200"/>
            <a:ext cx="47625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921500" y="26543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921500" y="26543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27900" y="26416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Rising CAC threatens the $10.1B valuation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Blended CAC is up 29% in two years ($48 → $62). A $10.1B valuation (Mar 2026) prices in a lifestyle ecosystem, not a transactional dupe that rents every customer.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921500" y="3860800"/>
            <a:ext cx="47625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921500" y="40259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921500" y="40259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27900" y="40132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First-party data compounds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App-installed customers are worth $410 over three years vs $155 for web-only, unsubscribed: 2.6×.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Intent leaks at the cart; engagement decides who returns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Quince Case Data View, 1 Jan–30 Apr 2026, 60,000 people: Fallout, Flow, Cohort Table, segments A2/A5 (appendix slides 24–28). Behavioural mechanism is a hypothesis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56032"/>
            <a:ext cx="6345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&amp; FUNNEL ANALYSIS (ADOBE CJA)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243584"/>
            <a:ext cx="5843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funnel breaks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481328"/>
            <a:ext cx="58430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at each step (CJA Fallout): 69% of viewers never add to cart; 77% of carts never order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58368" y="2340864"/>
            <a:ext cx="786384" cy="2898648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6344" y="211226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60,000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" y="529437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828800" y="3465576"/>
            <a:ext cx="786384" cy="1764792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636776" y="323697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36,566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636776" y="529437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view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999232" y="4681728"/>
            <a:ext cx="786384" cy="54864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807208" y="44531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11,339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807208" y="529437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to cart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169664" y="4956048"/>
            <a:ext cx="786384" cy="28346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977640" y="47274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5,818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3977640" y="529437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340096" y="5111496"/>
            <a:ext cx="786384" cy="12801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148072" y="488289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2,592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148072" y="529437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57784" y="5230368"/>
            <a:ext cx="5660136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221992" y="3044952"/>
            <a:ext cx="1170432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221992" y="3044952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392424" y="3044952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478024" y="2798064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478024" y="2798064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−69%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392424" y="3813048"/>
            <a:ext cx="233172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392424" y="3813048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24144" y="3813048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229100" y="3566160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229100" y="3566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−77%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553712" y="2990088"/>
            <a:ext cx="0" cy="566928"/>
          </a:xfrm>
          <a:prstGeom prst="line">
            <a:avLst/>
          </a:prstGeom>
          <a:noFill/>
          <a:ln w="15875">
            <a:solidFill>
              <a:srgbClr val="DC2626"/>
            </a:solidFill>
            <a:prstDash val="dash"/>
          </a:ln>
        </p:spPr>
      </p:sp>
      <p:sp>
        <p:nvSpPr>
          <p:cNvPr id="39" name="Shape 36"/>
          <p:cNvSpPr/>
          <p:nvPr/>
        </p:nvSpPr>
        <p:spPr>
          <a:xfrm>
            <a:off x="3310128" y="1828800"/>
            <a:ext cx="3017520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5875">
            <a:solidFill>
              <a:srgbClr val="DC2626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447288" y="1947672"/>
            <a:ext cx="310896" cy="31089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685" y="2016069"/>
            <a:ext cx="174102" cy="17410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3840480" y="19476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signals quality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3447288" y="2304288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 pause, assuming premium cashmere at half price is too good to be true. Proof, not discounts, closes the gap.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455664" y="1243584"/>
            <a:ext cx="0" cy="4242816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29984" y="1271016"/>
            <a:ext cx="4828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BREAKS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6729984" y="1463040"/>
            <a:ext cx="4956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message</a:t>
            </a:r>
            <a:endParaRPr lang="en-US" sz="2200" dirty="0"/>
          </a:p>
        </p:txBody>
      </p:sp>
      <p:sp>
        <p:nvSpPr>
          <p:cNvPr id="47" name="Text 43"/>
          <p:cNvSpPr txBox="1"/>
          <p:nvPr/>
        </p:nvSpPr>
        <p:spPr>
          <a:xfrm>
            <a:off x="6729984" y="1929384"/>
            <a:ext cx="49560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follows 11,610 cart adds, so cart recovery is new money (Flow)</a:t>
            </a:r>
            <a:endParaRPr lang="en-US" sz="1050" dirty="0"/>
          </a:p>
        </p:txBody>
      </p:sp>
      <p:sp>
        <p:nvSpPr>
          <p:cNvPr id="48" name="Shape 44"/>
          <p:cNvSpPr/>
          <p:nvPr/>
        </p:nvSpPr>
        <p:spPr>
          <a:xfrm>
            <a:off x="6729984" y="2569464"/>
            <a:ext cx="4956048" cy="0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729984" y="2688336"/>
            <a:ext cx="4828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RETAINS</a:t>
            </a:r>
            <a:endParaRPr lang="en-US" sz="850" dirty="0"/>
          </a:p>
        </p:txBody>
      </p:sp>
      <p:sp>
        <p:nvSpPr>
          <p:cNvPr id="50" name="Text 46"/>
          <p:cNvSpPr txBox="1"/>
          <p:nvPr/>
        </p:nvSpPr>
        <p:spPr>
          <a:xfrm>
            <a:off x="6729984" y="2880360"/>
            <a:ext cx="4956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28.1% vs 4.7%</a:t>
            </a:r>
            <a:endParaRPr lang="en-US" sz="2200" dirty="0"/>
          </a:p>
        </p:txBody>
      </p:sp>
      <p:sp>
        <p:nvSpPr>
          <p:cNvPr id="51" name="Text 47"/>
          <p:cNvSpPr txBox="1"/>
          <p:nvPr/>
        </p:nvSpPr>
        <p:spPr>
          <a:xfrm>
            <a:off x="6729984" y="3346704"/>
            <a:ext cx="49560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repeat, engaged vs non-engaged; app users after order one still 21.5% (A2, A5)</a:t>
            </a:r>
            <a:endParaRPr lang="en-US" sz="1050" dirty="0"/>
          </a:p>
        </p:txBody>
      </p:sp>
      <p:sp>
        <p:nvSpPr>
          <p:cNvPr id="52" name="Shape 48"/>
          <p:cNvSpPr/>
          <p:nvPr/>
        </p:nvSpPr>
        <p:spPr>
          <a:xfrm>
            <a:off x="6729984" y="3986784"/>
            <a:ext cx="4956048" cy="0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29984" y="4105656"/>
            <a:ext cx="4828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TO ACT</a:t>
            </a:r>
            <a:endParaRPr lang="en-US" sz="850" dirty="0"/>
          </a:p>
        </p:txBody>
      </p:sp>
      <p:sp>
        <p:nvSpPr>
          <p:cNvPr id="54" name="Text 50"/>
          <p:cNvSpPr txBox="1"/>
          <p:nvPr/>
        </p:nvSpPr>
        <p:spPr>
          <a:xfrm>
            <a:off x="6729984" y="4297680"/>
            <a:ext cx="4956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2200" dirty="0"/>
          </a:p>
        </p:txBody>
      </p:sp>
      <p:sp>
        <p:nvSpPr>
          <p:cNvPr id="55" name="Text 51"/>
          <p:cNvSpPr txBox="1"/>
          <p:nvPr/>
        </p:nvSpPr>
        <p:spPr>
          <a:xfrm>
            <a:off x="6729984" y="4764024"/>
            <a:ext cx="49560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 return: 5.6% engaged vs 2.1% all buyers; half return in weeks 1–4 (Cohort)</a:t>
            </a:r>
            <a:endParaRPr lang="en-US" sz="1050" dirty="0"/>
          </a:p>
        </p:txBody>
      </p:sp>
      <p:sp>
        <p:nvSpPr>
          <p:cNvPr id="56" name="Shape 52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59" name="Text 54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abandoners within hours, every buyer at delivery, engaged buyers in weeks 1–4, cashmere buyers by day 21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tactics fast; trust and consent take years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M; press on Shein's purchase of Everlane (May 2026); map positions and time-to-copy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5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56032"/>
            <a:ext cx="6345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243584"/>
            <a:ext cx="5843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position vs depth of owned customer relationship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481328"/>
            <a:ext cx="58430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Positions are team judgment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68680" y="1783080"/>
            <a:ext cx="0" cy="205740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" y="3840480"/>
            <a:ext cx="534924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43300" y="1783080"/>
            <a:ext cx="0" cy="2057400"/>
          </a:xfrm>
          <a:prstGeom prst="line">
            <a:avLst/>
          </a:prstGeom>
          <a:noFill/>
          <a:ln w="9525">
            <a:solidFill>
              <a:srgbClr val="D5DCE6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68680" y="2811780"/>
            <a:ext cx="5349240" cy="0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88620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2400300" y="3886200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position →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0" y="388620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 rot="16200000">
            <a:off x="-429768" y="27111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relationship →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295248" y="1954530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441552" y="1908810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16202" y="2551176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762506" y="2505456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Uniqlo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88263" y="3291840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334567" y="3246120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Shein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648913" y="3044952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95217" y="2999232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Everlane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360670" y="3127248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06974" y="3081528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Cuyana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360670" y="2427732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06974" y="2382012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Tapestry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344314" y="1954530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490618" y="1908810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Williams-Sonoma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3008376" y="2119122"/>
            <a:ext cx="0" cy="140589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35" name="Shape 32"/>
          <p:cNvSpPr/>
          <p:nvPr/>
        </p:nvSpPr>
        <p:spPr>
          <a:xfrm>
            <a:off x="2916936" y="1917954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45536" y="190881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target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2916936" y="35433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45536" y="35341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today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3081528" y="2639187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price, owned relationship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6455664" y="1243584"/>
            <a:ext cx="0" cy="2697480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693408" y="1261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93408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7150608" y="1243584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Positioning: value price, rented relationship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150608" y="1499616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prices with Uniqlo and Shein but owns less of its customer than Williams-Sonoma or Tapestry. Amazon wins any paid-retargeting war.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6693408" y="21762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93408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7150608" y="2157984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Sustainability: tactics copy in a quarter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7150608" y="2414016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Everlane's mature email program was no moat; Shein bought it in May 2026. A consented base plus M2C cost takes years.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6693408" y="30906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693408" y="3090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7150608" y="3072384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Escalation: hold price, lean on owned reach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7150608" y="3328416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rivals discount or bid up audiences, Quince answers with proof and access, with owned share already 5% → 11%.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02920" y="416052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02920" y="42611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Time-to-copy: why the moat holds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502920" y="462686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a 20% discount code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3886200" y="4690872"/>
            <a:ext cx="6675120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4690872"/>
            <a:ext cx="109728" cy="219456"/>
          </a:xfrm>
          <a:prstGeom prst="roundRect">
            <a:avLst>
              <a:gd name="adj" fmla="val 41667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087368" y="462686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day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502920" y="508406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Replicate a 12-month triggered lifecycle CRM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3886200" y="5148072"/>
            <a:ext cx="6675120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886200" y="5148072"/>
            <a:ext cx="6675120" cy="219456"/>
          </a:xfrm>
          <a:prstGeom prst="roundRect">
            <a:avLst>
              <a:gd name="adj" fmla="val 20833"/>
            </a:avLst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652760" y="508406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9–12 months</a:t>
            </a:r>
            <a:endParaRPr lang="en-US" sz="1150" dirty="0"/>
          </a:p>
        </p:txBody>
      </p:sp>
      <p:sp>
        <p:nvSpPr>
          <p:cNvPr id="63" name="Shape 6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66" name="Text 6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Quince's moat is M2C cost plus a known, consented, reachable customer base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is ready; the lifecycle muscle must be built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I and L; team assessment; lifecycle roles at ~$200K loaded cost (team estimate). Costs sit inside the $7.5M owned-channel build.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56032"/>
            <a:ext cx="6345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COMPANY CAPABILITIES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243584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batch-and-blast to logistics-integrated retention pods, with every gap costed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178308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BFDBF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1965960"/>
            <a:ext cx="420624" cy="420624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7" y="2058497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5800" y="245973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factory and fulfillment APIs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26974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· in transit · delivered events, keyed to the order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17136" y="178308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0A1F44"/>
          </a:solidFill>
          <a:ln w="15875">
            <a:solidFill>
              <a:srgbClr val="0A1F44"/>
            </a:solidFill>
            <a:prstDash val="solid"/>
          </a:ln>
          <a:effectLst>
            <a:outerShdw sx="100000" sy="100000" kx="0" ky="0" algn="bl" rotWithShape="0" blurRad="177800" dist="50800" dir="5400000">
              <a:srgbClr val="1D4ED8">
                <a:alpha val="5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00016" y="1965960"/>
            <a:ext cx="420624" cy="42062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553" y="2058497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700016" y="245973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Cross-functional retention pod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700016" y="26974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+ merch + analytics, one owner per lever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531352" y="178308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BFDBF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714232" y="1965960"/>
            <a:ext cx="420624" cy="420624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6769" y="2058497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714232" y="245973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Triggered lifecycle workflows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714232" y="26974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· email · app, under one frequency cap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6528816" y="1984248"/>
            <a:ext cx="987552" cy="329184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28816" y="1984248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$2.8M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3767328" y="2240280"/>
            <a:ext cx="640080" cy="292608"/>
          </a:xfrm>
          <a:prstGeom prst="rightArrow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50800" dir="5400000">
              <a:srgbClr val="2563EB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675888" y="180136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3675888" y="18013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$2.0M</a:t>
            </a:r>
            <a:endParaRPr lang="en-US" sz="1150" dirty="0"/>
          </a:p>
        </p:txBody>
      </p:sp>
      <p:sp>
        <p:nvSpPr>
          <p:cNvPr id="31" name="Text 25"/>
          <p:cNvSpPr txBox="1"/>
          <p:nvPr/>
        </p:nvSpPr>
        <p:spPr>
          <a:xfrm>
            <a:off x="3675888" y="258775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activation + measurement</a:t>
            </a:r>
            <a:endParaRPr lang="en-US" sz="750" dirty="0"/>
          </a:p>
        </p:txBody>
      </p:sp>
      <p:sp>
        <p:nvSpPr>
          <p:cNvPr id="32" name="Shape 26"/>
          <p:cNvSpPr/>
          <p:nvPr/>
        </p:nvSpPr>
        <p:spPr>
          <a:xfrm>
            <a:off x="7781544" y="2240280"/>
            <a:ext cx="640080" cy="292608"/>
          </a:xfrm>
          <a:prstGeom prst="rightArrow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50800" dir="5400000">
              <a:srgbClr val="2563EB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690104" y="180136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690104" y="18013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7690104" y="258775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tracking, care, restock</a:t>
            </a:r>
            <a:endParaRPr lang="en-US" sz="750" dirty="0"/>
          </a:p>
        </p:txBody>
      </p:sp>
      <p:sp>
        <p:nvSpPr>
          <p:cNvPr id="36" name="Text 30"/>
          <p:cNvSpPr txBox="1"/>
          <p:nvPr/>
        </p:nvSpPr>
        <p:spPr>
          <a:xfrm>
            <a:off x="502920" y="315468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AND IDENTITY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02920" y="3465576"/>
            <a:ext cx="109728" cy="109728"/>
          </a:xfrm>
          <a:prstGeom prst="ellipse">
            <a:avLst/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85800" y="34015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  </a:t>
            </a:r>
            <a:pPr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685800" y="3602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 of Analytics · now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3017520" y="34015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502920" y="3922776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85800" y="38587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  </a:t>
            </a:r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85800" y="40599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+ CRM · month 2</a:t>
            </a:r>
            <a:endParaRPr lang="en-US" sz="850" dirty="0"/>
          </a:p>
        </p:txBody>
      </p:sp>
      <p:sp>
        <p:nvSpPr>
          <p:cNvPr id="44" name="Text 38"/>
          <p:cNvSpPr txBox="1"/>
          <p:nvPr/>
        </p:nvSpPr>
        <p:spPr>
          <a:xfrm>
            <a:off x="3017520" y="38587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$0.5M</a:t>
            </a:r>
            <a:endParaRPr lang="en-US" sz="1050" dirty="0"/>
          </a:p>
        </p:txBody>
      </p:sp>
      <p:sp>
        <p:nvSpPr>
          <p:cNvPr id="45" name="Shape 39"/>
          <p:cNvSpPr/>
          <p:nvPr/>
        </p:nvSpPr>
        <p:spPr>
          <a:xfrm>
            <a:off x="502920" y="4379976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85800" y="43159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 split  </a:t>
            </a:r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000" dirty="0"/>
          </a:p>
        </p:txBody>
      </p:sp>
      <p:sp>
        <p:nvSpPr>
          <p:cNvPr id="47" name="Text 41"/>
          <p:cNvSpPr txBox="1"/>
          <p:nvPr/>
        </p:nvSpPr>
        <p:spPr>
          <a:xfrm>
            <a:off x="685800" y="45171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 + CRM · month 2</a:t>
            </a:r>
            <a:endParaRPr lang="en-US" sz="850" dirty="0"/>
          </a:p>
        </p:txBody>
      </p:sp>
      <p:sp>
        <p:nvSpPr>
          <p:cNvPr id="48" name="Text 42"/>
          <p:cNvSpPr txBox="1"/>
          <p:nvPr/>
        </p:nvSpPr>
        <p:spPr>
          <a:xfrm>
            <a:off x="3017520" y="4315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50" dirty="0"/>
          </a:p>
        </p:txBody>
      </p:sp>
      <p:sp>
        <p:nvSpPr>
          <p:cNvPr id="49" name="Text 43"/>
          <p:cNvSpPr txBox="1"/>
          <p:nvPr/>
        </p:nvSpPr>
        <p:spPr>
          <a:xfrm>
            <a:off x="4517136" y="315468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CAPACITY AND COORDINATION</a:t>
            </a:r>
            <a:endParaRPr lang="en-US" sz="850" dirty="0"/>
          </a:p>
        </p:txBody>
      </p:sp>
      <p:sp>
        <p:nvSpPr>
          <p:cNvPr id="50" name="Shape 44"/>
          <p:cNvSpPr/>
          <p:nvPr/>
        </p:nvSpPr>
        <p:spPr>
          <a:xfrm>
            <a:off x="4517136" y="3465576"/>
            <a:ext cx="109728" cy="109728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4700016" y="34015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team and creative  </a:t>
            </a:r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</a:t>
            </a:r>
            <a:endParaRPr lang="en-US" sz="1000" dirty="0"/>
          </a:p>
        </p:txBody>
      </p:sp>
      <p:sp>
        <p:nvSpPr>
          <p:cNvPr id="52" name="Text 46"/>
          <p:cNvSpPr txBox="1"/>
          <p:nvPr/>
        </p:nvSpPr>
        <p:spPr>
          <a:xfrm>
            <a:off x="4700016" y="3602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CMO · month 6</a:t>
            </a:r>
            <a:endParaRPr lang="en-US" sz="850" dirty="0"/>
          </a:p>
        </p:txBody>
      </p:sp>
      <p:sp>
        <p:nvSpPr>
          <p:cNvPr id="53" name="Text 47"/>
          <p:cNvSpPr txBox="1"/>
          <p:nvPr/>
        </p:nvSpPr>
        <p:spPr>
          <a:xfrm>
            <a:off x="7031736" y="34015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$2.8M</a:t>
            </a:r>
            <a:endParaRPr lang="en-US" sz="1050" dirty="0"/>
          </a:p>
        </p:txBody>
      </p:sp>
      <p:sp>
        <p:nvSpPr>
          <p:cNvPr id="54" name="Shape 48"/>
          <p:cNvSpPr/>
          <p:nvPr/>
        </p:nvSpPr>
        <p:spPr>
          <a:xfrm>
            <a:off x="4517136" y="3922776"/>
            <a:ext cx="109728" cy="109728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4700016" y="38587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Incentives off platform ROAS  </a:t>
            </a:r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</a:t>
            </a:r>
            <a:endParaRPr lang="en-US" sz="1000" dirty="0"/>
          </a:p>
        </p:txBody>
      </p:sp>
      <p:sp>
        <p:nvSpPr>
          <p:cNvPr id="56" name="Text 50"/>
          <p:cNvSpPr txBox="1"/>
          <p:nvPr/>
        </p:nvSpPr>
        <p:spPr>
          <a:xfrm>
            <a:off x="4700016" y="40599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CMO + CFO · month 3</a:t>
            </a:r>
            <a:endParaRPr lang="en-US" sz="850" dirty="0"/>
          </a:p>
        </p:txBody>
      </p:sp>
      <p:sp>
        <p:nvSpPr>
          <p:cNvPr id="57" name="Text 51"/>
          <p:cNvSpPr txBox="1"/>
          <p:nvPr/>
        </p:nvSpPr>
        <p:spPr>
          <a:xfrm>
            <a:off x="7031736" y="38587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50" dirty="0"/>
          </a:p>
        </p:txBody>
      </p:sp>
      <p:sp>
        <p:nvSpPr>
          <p:cNvPr id="58" name="Shape 52"/>
          <p:cNvSpPr/>
          <p:nvPr/>
        </p:nvSpPr>
        <p:spPr>
          <a:xfrm>
            <a:off x="4517136" y="4379976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4700016" y="43159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growth–analytics council  </a:t>
            </a:r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000" dirty="0"/>
          </a:p>
        </p:txBody>
      </p:sp>
      <p:sp>
        <p:nvSpPr>
          <p:cNvPr id="60" name="Text 54"/>
          <p:cNvSpPr txBox="1"/>
          <p:nvPr/>
        </p:nvSpPr>
        <p:spPr>
          <a:xfrm>
            <a:off x="4700016" y="45171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CMO + Head of Analytics · week 1</a:t>
            </a:r>
            <a:endParaRPr lang="en-US" sz="850" dirty="0"/>
          </a:p>
        </p:txBody>
      </p:sp>
      <p:sp>
        <p:nvSpPr>
          <p:cNvPr id="61" name="Text 55"/>
          <p:cNvSpPr txBox="1"/>
          <p:nvPr/>
        </p:nvSpPr>
        <p:spPr>
          <a:xfrm>
            <a:off x="7031736" y="4315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50" dirty="0"/>
          </a:p>
        </p:txBody>
      </p:sp>
      <p:sp>
        <p:nvSpPr>
          <p:cNvPr id="62" name="Text 56"/>
          <p:cNvSpPr txBox="1"/>
          <p:nvPr/>
        </p:nvSpPr>
        <p:spPr>
          <a:xfrm>
            <a:off x="8531352" y="315468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ACTIVATION AND PRODUCT</a:t>
            </a:r>
            <a:endParaRPr lang="en-US" sz="850" dirty="0"/>
          </a:p>
        </p:txBody>
      </p:sp>
      <p:sp>
        <p:nvSpPr>
          <p:cNvPr id="63" name="Shape 57"/>
          <p:cNvSpPr/>
          <p:nvPr/>
        </p:nvSpPr>
        <p:spPr>
          <a:xfrm>
            <a:off x="8531352" y="3465576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8714232" y="34015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audiences into journeys  </a:t>
            </a:r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000" dirty="0"/>
          </a:p>
        </p:txBody>
      </p:sp>
      <p:sp>
        <p:nvSpPr>
          <p:cNvPr id="65" name="Text 59"/>
          <p:cNvSpPr txBox="1"/>
          <p:nvPr/>
        </p:nvSpPr>
        <p:spPr>
          <a:xfrm>
            <a:off x="8714232" y="3602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ops · month 3</a:t>
            </a:r>
            <a:endParaRPr lang="en-US" sz="850" dirty="0"/>
          </a:p>
        </p:txBody>
      </p:sp>
      <p:sp>
        <p:nvSpPr>
          <p:cNvPr id="66" name="Text 60"/>
          <p:cNvSpPr txBox="1"/>
          <p:nvPr/>
        </p:nvSpPr>
        <p:spPr>
          <a:xfrm>
            <a:off x="11045952" y="34015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$1.5M</a:t>
            </a:r>
            <a:endParaRPr lang="en-US" sz="1050" dirty="0"/>
          </a:p>
        </p:txBody>
      </p:sp>
      <p:sp>
        <p:nvSpPr>
          <p:cNvPr id="67" name="Shape 61"/>
          <p:cNvSpPr/>
          <p:nvPr/>
        </p:nvSpPr>
        <p:spPr>
          <a:xfrm>
            <a:off x="8531352" y="3922776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8" name="Text 62"/>
          <p:cNvSpPr txBox="1"/>
          <p:nvPr/>
        </p:nvSpPr>
        <p:spPr>
          <a:xfrm>
            <a:off x="8714232" y="38587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App: tracking, care, restock  </a:t>
            </a:r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000" dirty="0"/>
          </a:p>
        </p:txBody>
      </p:sp>
      <p:sp>
        <p:nvSpPr>
          <p:cNvPr id="69" name="Text 63"/>
          <p:cNvSpPr txBox="1"/>
          <p:nvPr/>
        </p:nvSpPr>
        <p:spPr>
          <a:xfrm>
            <a:off x="8714232" y="40599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CPO, app squad · month 6</a:t>
            </a:r>
            <a:endParaRPr lang="en-US" sz="850" dirty="0"/>
          </a:p>
        </p:txBody>
      </p:sp>
      <p:sp>
        <p:nvSpPr>
          <p:cNvPr id="70" name="Text 64"/>
          <p:cNvSpPr txBox="1"/>
          <p:nvPr/>
        </p:nvSpPr>
        <p:spPr>
          <a:xfrm>
            <a:off x="11045952" y="38587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</a:t>
            </a:r>
            <a:endParaRPr lang="en-US" sz="1050" dirty="0"/>
          </a:p>
        </p:txBody>
      </p:sp>
      <p:sp>
        <p:nvSpPr>
          <p:cNvPr id="71" name="Text 65"/>
          <p:cNvSpPr txBox="1"/>
          <p:nvPr/>
        </p:nvSpPr>
        <p:spPr>
          <a:xfrm>
            <a:off x="502920" y="48188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$6.0M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gap funding, of the $7.5M owned build</a:t>
            </a:r>
            <a:endParaRPr lang="en-US" sz="1200" dirty="0"/>
          </a:p>
        </p:txBody>
      </p:sp>
      <p:sp>
        <p:nvSpPr>
          <p:cNvPr id="72" name="Shape 66"/>
          <p:cNvSpPr/>
          <p:nvPr/>
        </p:nvSpPr>
        <p:spPr>
          <a:xfrm>
            <a:off x="2377440" y="4892040"/>
            <a:ext cx="593141" cy="384048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73" name="Text 67"/>
          <p:cNvSpPr txBox="1"/>
          <p:nvPr/>
        </p:nvSpPr>
        <p:spPr>
          <a:xfrm>
            <a:off x="2450592" y="4892040"/>
            <a:ext cx="4925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$0.5M</a:t>
            </a:r>
            <a:endParaRPr lang="en-US" sz="850" dirty="0"/>
          </a:p>
        </p:txBody>
      </p:sp>
      <p:sp>
        <p:nvSpPr>
          <p:cNvPr id="74" name="Shape 68"/>
          <p:cNvSpPr/>
          <p:nvPr/>
        </p:nvSpPr>
        <p:spPr>
          <a:xfrm>
            <a:off x="2998013" y="4892040"/>
            <a:ext cx="1834286" cy="384048"/>
          </a:xfrm>
          <a:prstGeom prst="rect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75" name="Text 69"/>
          <p:cNvSpPr txBox="1"/>
          <p:nvPr/>
        </p:nvSpPr>
        <p:spPr>
          <a:xfrm>
            <a:off x="3071165" y="4892040"/>
            <a:ext cx="17337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$1.5M  CJA activation</a:t>
            </a:r>
            <a:endParaRPr lang="en-US" sz="850" dirty="0"/>
          </a:p>
        </p:txBody>
      </p:sp>
      <p:sp>
        <p:nvSpPr>
          <p:cNvPr id="76" name="Shape 70"/>
          <p:cNvSpPr/>
          <p:nvPr/>
        </p:nvSpPr>
        <p:spPr>
          <a:xfrm>
            <a:off x="4859731" y="4892040"/>
            <a:ext cx="3447776" cy="384048"/>
          </a:xfrm>
          <a:prstGeom prst="rect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77" name="Text 71"/>
          <p:cNvSpPr txBox="1"/>
          <p:nvPr/>
        </p:nvSpPr>
        <p:spPr>
          <a:xfrm>
            <a:off x="4932883" y="4892040"/>
            <a:ext cx="3347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$2.8M  Lifecycle team and creative</a:t>
            </a:r>
            <a:endParaRPr lang="en-US" sz="850" dirty="0"/>
          </a:p>
        </p:txBody>
      </p:sp>
      <p:sp>
        <p:nvSpPr>
          <p:cNvPr id="78" name="Shape 72"/>
          <p:cNvSpPr/>
          <p:nvPr/>
        </p:nvSpPr>
        <p:spPr>
          <a:xfrm>
            <a:off x="8334939" y="4892040"/>
            <a:ext cx="1461943" cy="384048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79" name="Text 73"/>
          <p:cNvSpPr txBox="1"/>
          <p:nvPr/>
        </p:nvSpPr>
        <p:spPr>
          <a:xfrm>
            <a:off x="8408091" y="4892040"/>
            <a:ext cx="13613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  App</a:t>
            </a:r>
            <a:endParaRPr lang="en-US" sz="850" dirty="0"/>
          </a:p>
        </p:txBody>
      </p:sp>
      <p:sp>
        <p:nvSpPr>
          <p:cNvPr id="80" name="Shape 74"/>
          <p:cNvSpPr/>
          <p:nvPr/>
        </p:nvSpPr>
        <p:spPr>
          <a:xfrm>
            <a:off x="9824314" y="4892040"/>
            <a:ext cx="1834286" cy="384048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5"/>
          <p:cNvSpPr txBox="1"/>
          <p:nvPr/>
        </p:nvSpPr>
        <p:spPr>
          <a:xfrm>
            <a:off x="9897466" y="4892040"/>
            <a:ext cx="17337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Remaining owned build  $1.5M</a:t>
            </a:r>
            <a:endParaRPr lang="en-US" sz="850" dirty="0"/>
          </a:p>
        </p:txBody>
      </p:sp>
      <p:sp>
        <p:nvSpPr>
          <p:cNvPr id="82" name="Shape 76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85" name="Text 78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gap is funded inside the $120M, and a weekly growth–analytics council decides each tranche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90 days, scale by month nine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plan; case Exhibits G, I; CJA A6. Pilot sized to detect 30-day repeat 7% → 9% at 80% power; T3 only on holdout proof.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7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Monday: approve tranche 1, the South pilot and the weekly CJA council. Nothing else moves before Gate 1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NEXT STEPS</a:t>
            </a:r>
          </a:p>
        </p:txBody>
      </p:sp>
      <p:sp>
        <p:nvSpPr>
          <p:cNvPr id="16" name="Pentagon 15"/>
          <p:cNvSpPr/>
          <p:nvPr/>
        </p:nvSpPr>
        <p:spPr>
          <a:xfrm>
            <a:off x="1676400" y="1219200"/>
            <a:ext cx="3454400" cy="355600"/>
          </a:xfrm>
          <a:prstGeom prst="homePlate">
            <a:avLst>
              <a:gd name="adj" fmla="val 3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03400" y="1219200"/>
            <a:ext cx="30226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PROVE  </a:t>
            </a:r>
            <a:r>
              <a:rPr sz="950" b="0">
                <a:solidFill>
                  <a:srgbClr val="FFFFFF"/>
                </a:solidFill>
                <a:latin typeface="Inter"/>
              </a:rPr>
              <a:t>Months 0–3</a:t>
            </a:r>
          </a:p>
        </p:txBody>
      </p:sp>
      <p:sp>
        <p:nvSpPr>
          <p:cNvPr id="18" name="Chevron 17"/>
          <p:cNvSpPr/>
          <p:nvPr/>
        </p:nvSpPr>
        <p:spPr>
          <a:xfrm>
            <a:off x="5054600" y="1219200"/>
            <a:ext cx="3454400" cy="355600"/>
          </a:xfrm>
          <a:prstGeom prst="chevron">
            <a:avLst>
              <a:gd name="adj" fmla="val 35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32400" y="1219200"/>
            <a:ext cx="30226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BUILD  </a:t>
            </a:r>
            <a:r>
              <a:rPr sz="950" b="0">
                <a:solidFill>
                  <a:srgbClr val="FFFFFF"/>
                </a:solidFill>
                <a:latin typeface="Inter"/>
              </a:rPr>
              <a:t>Months 3–9</a:t>
            </a:r>
          </a:p>
        </p:txBody>
      </p:sp>
      <p:sp>
        <p:nvSpPr>
          <p:cNvPr id="20" name="Chevron 19"/>
          <p:cNvSpPr/>
          <p:nvPr/>
        </p:nvSpPr>
        <p:spPr>
          <a:xfrm>
            <a:off x="8432800" y="1219200"/>
            <a:ext cx="3276600" cy="355600"/>
          </a:xfrm>
          <a:prstGeom prst="chevron">
            <a:avLst>
              <a:gd name="adj" fmla="val 35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10600" y="1219200"/>
            <a:ext cx="30226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SCALE  </a:t>
            </a:r>
            <a:r>
              <a:rPr sz="950" b="0">
                <a:solidFill>
                  <a:srgbClr val="0A1F44"/>
                </a:solidFill>
                <a:latin typeface="Inter"/>
              </a:rPr>
              <a:t>Months 9–18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76400" y="1651000"/>
            <a:ext cx="10033000" cy="2032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803400" y="1651000"/>
            <a:ext cx="98298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Throughout: weekly CJA council of analytics, paid media, CRM and finance · randomized holdout on every tranche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930400"/>
            <a:ext cx="1117600" cy="63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MONEY</a:t>
            </a:r>
          </a:p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moves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2603500"/>
            <a:ext cx="11181080" cy="0"/>
          </a:xfrm>
          <a:prstGeom prst="line">
            <a:avLst/>
          </a:prstGeom>
          <a:ln w="9525">
            <a:solidFill>
              <a:srgbClr val="E5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2641600"/>
            <a:ext cx="1117600" cy="1219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WHAT</a:t>
            </a:r>
          </a:p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launches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3898900"/>
            <a:ext cx="11181080" cy="0"/>
          </a:xfrm>
          <a:prstGeom prst="line">
            <a:avLst/>
          </a:prstGeom>
          <a:ln w="9525">
            <a:solidFill>
              <a:srgbClr val="E5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3937000"/>
            <a:ext cx="11176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WHAT WE</a:t>
            </a:r>
          </a:p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read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4406900"/>
            <a:ext cx="11181080" cy="0"/>
          </a:xfrm>
          <a:prstGeom prst="line">
            <a:avLst/>
          </a:prstGeom>
          <a:ln w="9525">
            <a:solidFill>
              <a:srgbClr val="E5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4445000"/>
            <a:ext cx="1117600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EXIT</a:t>
            </a:r>
          </a:p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gate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5549900"/>
            <a:ext cx="11181080" cy="0"/>
          </a:xfrm>
          <a:prstGeom prst="line">
            <a:avLst/>
          </a:prstGeom>
          <a:ln w="9525">
            <a:solidFill>
              <a:srgbClr val="E5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752600" y="1955800"/>
            <a:ext cx="1625600" cy="203200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752600" y="1955800"/>
            <a:ext cx="16256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Inter"/>
              </a:rPr>
              <a:t>T1  −$4M retargeting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2600" y="2197100"/>
            <a:ext cx="3124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Week 1: suppress recent and owned buyers on Meta and TikTok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30800" y="1955800"/>
            <a:ext cx="1270000" cy="203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130800" y="1955800"/>
            <a:ext cx="127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Inter"/>
              </a:rPr>
              <a:t>T2  −$3M search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77000" y="1955800"/>
            <a:ext cx="1554480" cy="203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77000" y="1955800"/>
            <a:ext cx="155448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D4ED8"/>
                </a:solidFill>
                <a:latin typeface="Inter"/>
              </a:rPr>
              <a:t>T3  −$2M, if proven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0800" y="2197100"/>
            <a:ext cx="3124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After a branded-search geo holdout; $1.5M moves to creators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9000" y="1955800"/>
            <a:ext cx="1910079" cy="2032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509000" y="1955800"/>
            <a:ext cx="1910079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A1F44"/>
                </a:solidFill>
                <a:latin typeface="Inter"/>
              </a:rPr>
              <a:t>Owned 5% → 11% of budget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9000" y="2197100"/>
            <a:ext cx="3124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+$7.5M owned channels, +$1.5M creators, net 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52600" y="2667000"/>
            <a:ext cx="3124200" cy="1193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South pilot, 28.6% of buyers, 10% holdout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Quince Passport card in every box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Tracking opens in the app by default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Saved Cart reminders at 1h and 24h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Fitting Room: one metro, Nov–Dec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0800" y="2667000"/>
            <a:ext cx="3124200" cy="1193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Material Journeys: cashmere → throw or linen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Care Calendar, Gift Ledger, Quince Insider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Lookalikes on half of prospecting, CAC +5% cap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Proof Creators on product pages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9000" y="2667000"/>
            <a:ext cx="3124200" cy="1193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National rollout: Midwest first, then Canada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Beauty Refill, Cashmere Second Life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•  </a:t>
            </a:r>
            <a:r>
              <a:rPr sz="900" b="0">
                <a:solidFill>
                  <a:srgbClr val="0F172A"/>
                </a:solidFill>
                <a:latin typeface="Inter"/>
              </a:rPr>
              <a:t>Restock-First Waitlist on sell-outs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52600" y="3962400"/>
            <a:ext cx="31242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  <a:latin typeface="Inter"/>
              </a:rPr>
              <a:t>Opt-ins and app installs per 100 orders; cart → order vs holdout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0800" y="3962400"/>
            <a:ext cx="31242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  <a:latin typeface="Inter"/>
              </a:rPr>
              <a:t>Second-category rate in 60 days; unsubscribes as guardrail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9000" y="3962400"/>
            <a:ext cx="31242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  <a:latin typeface="Inter"/>
              </a:rPr>
              <a:t>90-day repeat · blended CAC · incremental orders per retargeting $</a:t>
            </a:r>
          </a:p>
        </p:txBody>
      </p:sp>
      <p:sp>
        <p:nvSpPr>
          <p:cNvPr id="49" name="Diamond 48"/>
          <p:cNvSpPr/>
          <p:nvPr/>
        </p:nvSpPr>
        <p:spPr>
          <a:xfrm>
            <a:off x="1752600" y="4521200"/>
            <a:ext cx="139700" cy="139700"/>
          </a:xfrm>
          <a:prstGeom prst="diamond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955800" y="4470400"/>
            <a:ext cx="29464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D97706"/>
                </a:solidFill>
                <a:latin typeface="Inter"/>
              </a:rPr>
              <a:t>Gate 1 · month 3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Pilot beats holdout by ≥ 2 pts on 30-day repeat; new customers fall &lt; 2%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0A1F44"/>
                </a:solidFill>
                <a:latin typeface="Inter"/>
              </a:rPr>
              <a:t>Pass → release T2</a:t>
            </a:r>
          </a:p>
        </p:txBody>
      </p:sp>
      <p:sp>
        <p:nvSpPr>
          <p:cNvPr id="51" name="Diamond 50"/>
          <p:cNvSpPr/>
          <p:nvPr/>
        </p:nvSpPr>
        <p:spPr>
          <a:xfrm>
            <a:off x="5130800" y="4521200"/>
            <a:ext cx="139700" cy="139700"/>
          </a:xfrm>
          <a:prstGeom prst="diamond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34000" y="4470400"/>
            <a:ext cx="29464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D97706"/>
                </a:solidFill>
                <a:latin typeface="Inter"/>
              </a:rPr>
              <a:t>Gate 2 · month 9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90-day repeat ≥ 28%; effective CAC ≤ $58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0A1F44"/>
                </a:solidFill>
                <a:latin typeface="Inter"/>
              </a:rPr>
              <a:t>Pass → national rollout</a:t>
            </a:r>
          </a:p>
        </p:txBody>
      </p:sp>
      <p:sp>
        <p:nvSpPr>
          <p:cNvPr id="53" name="Diamond 52"/>
          <p:cNvSpPr/>
          <p:nvPr/>
        </p:nvSpPr>
        <p:spPr>
          <a:xfrm>
            <a:off x="8509000" y="4521200"/>
            <a:ext cx="139700" cy="139700"/>
          </a:xfrm>
          <a:prstGeom prst="diamond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712200" y="4470400"/>
            <a:ext cx="29464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6A34A"/>
                </a:solidFill>
                <a:latin typeface="Inter"/>
              </a:rPr>
              <a:t>Target · month 18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90-day repeat ≥ 30%; effective CAC ≤ $56, from $62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0A1F44"/>
                </a:solidFill>
                <a:latin typeface="Inter"/>
              </a:rPr>
              <a:t>Fail any gate → money goes back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003800" y="1930400"/>
            <a:ext cx="0" cy="3581400"/>
          </a:xfrm>
          <a:prstGeom prst="line">
            <a:avLst/>
          </a:prstGeom>
          <a:ln w="9525">
            <a:solidFill>
              <a:srgbClr val="E5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382000" y="1930400"/>
            <a:ext cx="0" cy="3581400"/>
          </a:xfrm>
          <a:prstGeom prst="line">
            <a:avLst/>
          </a:prstGeom>
          <a:ln w="9525">
            <a:solidFill>
              <a:srgbClr val="E5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1097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8</a:t>
            </a:r>
            <a:endParaRPr lang="en-US" sz="800" dirty="0"/>
          </a:p>
        </p:txBody>
      </p:sp>
      <p:sp>
        <p:nvSpPr>
          <p:cNvPr id="24" name="TextBox 23"/>
          <p:cNvSpPr txBox="1"/>
          <p:nvPr/>
        </p:nvSpPr>
        <p:spPr>
          <a:xfrm>
            <a:off x="640080" y="1981200"/>
            <a:ext cx="381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F94DD"/>
                </a:solidFill>
                <a:latin typeface="Inter"/>
              </a:rPr>
              <a:t>BACKUP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20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20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Issue tree: two targets, six branches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463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2463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Flow: the CJA operating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2717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2717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Why a blend of A, B and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2971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2971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Seven moments a buyer is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225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3225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Who to target, and when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47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347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Flow: how each shopper is routed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33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3733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The 14 programs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987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3987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Repeat-rate bridge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241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4241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Repeat by first category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495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4495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Budget today vs plan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474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474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Attribution IQ readout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003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" y="5003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Flow: the Never Pay Twice Engine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257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257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Value at stake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511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5511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Risks and early warnings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765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5765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Brief checklist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31080" y="1981200"/>
            <a:ext cx="381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F94DD"/>
                </a:solidFill>
                <a:latin typeface="Inter"/>
              </a:rPr>
              <a:t>ADOBE CJA EVIDENCE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31080" y="220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8280" y="220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Fallout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31080" y="2463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280" y="2463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Attribution IQ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31080" y="2717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88280" y="2717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Cohort Table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1080" y="2971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8280" y="2971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Flow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31080" y="3225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8280" y="3225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Segments (A2, A5)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31080" y="347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88280" y="347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Sources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branches cover both targets; each program fits one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section 3 (targets), Exhibits D, G, J; Adobe CJA A1, A2, A3b, Cohort Table. Repeat and CAC identities are exact; each program is listed once, on the branch it moves most.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9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program sits on exactly one branch, and no branch is left without a move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244600"/>
            <a:ext cx="304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7000" y="1244600"/>
            <a:ext cx="304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TARGET AND ITS ARITHMETIC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0" y="1244600"/>
            <a:ext cx="304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BRANCHES (MECE)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1244600"/>
            <a:ext cx="304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TODAY → WHAT MOVES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905000"/>
            <a:ext cx="1968500" cy="3175000"/>
          </a:xfrm>
          <a:prstGeom prst="roundRect">
            <a:avLst>
              <a:gd name="adj" fmla="val 4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000" y="1905000"/>
            <a:ext cx="1714500" cy="317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Inter"/>
              </a:rPr>
              <a:t>How does Quince lift 90-day repeat by 6+ pts and cut blended CAC by 10%+ on a fixed $120M, without discounts?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71420" y="3492500"/>
            <a:ext cx="9398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65400" y="2133600"/>
            <a:ext cx="0" cy="22352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565400" y="2133600"/>
            <a:ext cx="1016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67000" y="1447800"/>
            <a:ext cx="2159000" cy="13716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794000" y="1524000"/>
            <a:ext cx="1930400" cy="1244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Raise 90-day repeat, 24% → ≥ 30%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64748B"/>
                </a:solidFill>
                <a:latin typeface="Inter"/>
              </a:rPr>
              <a:t>Repeat = engaged share × engaged repeat + non-engaged share × non-engaged repeat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26000" y="21336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53000" y="1562100"/>
            <a:ext cx="0" cy="13208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53000" y="15621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0000" y="12700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A1  </a:t>
            </a:r>
            <a:r>
              <a:rPr sz="1000" b="1">
                <a:solidFill>
                  <a:srgbClr val="0A1F44"/>
                </a:solidFill>
                <a:latin typeface="Inter"/>
              </a:rPr>
              <a:t>Grow the share of buyers we can reach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12700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24.5% engage after order one (A2)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L1 · Quince Passport, Track It in the App, The Fitting Room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0" y="18669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953000" y="22225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080000" y="19304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A2  </a:t>
            </a:r>
            <a:r>
              <a:rPr sz="1000" b="1">
                <a:solidFill>
                  <a:srgbClr val="0A1F44"/>
                </a:solidFill>
                <a:latin typeface="Inter"/>
              </a:rPr>
              <a:t>Lift repeat among engaged buyers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0" y="19304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28.1% repeat; week-2 return peaks at 5.6%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L2 · Material Journeys, Care Calendar, Gift Ledger, Quince Insider, Beauty Refill, Cashmere Second Life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80000" y="25273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953000" y="28829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80000" y="25908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A3  </a:t>
            </a:r>
            <a:r>
              <a:rPr sz="1000" b="1">
                <a:solidFill>
                  <a:srgbClr val="0A1F44"/>
                </a:solidFill>
                <a:latin typeface="Inter"/>
              </a:rPr>
              <a:t>Lift repeat among buyers we can't reach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5000" y="25908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4.7% repeat (A2)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Customer-match ads; one triggered day-30 free exchange, never a discount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80000" y="31877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565400" y="4368800"/>
            <a:ext cx="1016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667000" y="3683000"/>
            <a:ext cx="2159000" cy="13716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794000" y="3759200"/>
            <a:ext cx="1930400" cy="1244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Cut blended CAC, $62 → ≤ $56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64748B"/>
                </a:solidFill>
                <a:latin typeface="Inter"/>
              </a:rPr>
              <a:t>CAC = $120M ÷ new customers; effective CAC also falls as repeat rises (Exhibit J)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26000" y="43688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953000" y="3797300"/>
            <a:ext cx="0" cy="13208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953000" y="37973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080000" y="35052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B1  </a:t>
            </a:r>
            <a:r>
              <a:rPr sz="1000" b="1">
                <a:solidFill>
                  <a:srgbClr val="0A1F44"/>
                </a:solidFill>
                <a:latin typeface="Inter"/>
              </a:rPr>
              <a:t>Stop paying for customers Quince already has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5000" y="35052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Retargeted buyers repeat 23.0% vs 23.4% organic (A3b)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L3 · Never Pay Twice Engine (T1); branded-search holdout (T2)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80000" y="41021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953000" y="44577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80000" y="41656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B2  </a:t>
            </a:r>
            <a:r>
              <a:rPr sz="1000" b="1">
                <a:solidFill>
                  <a:srgbClr val="0A1F44"/>
                </a:solidFill>
                <a:latin typeface="Inter"/>
              </a:rPr>
              <a:t>Win more new customers per dollar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55000" y="41656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77% of cart adders never order (A1)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L1 · Saved Cart, Restock-First Waitlist · L3 · Proof Creators, Loyalist Lookalikes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80000" y="47625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953000" y="51181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80000" y="48260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B3  </a:t>
            </a:r>
            <a:r>
              <a:rPr sz="1000" b="1">
                <a:solidFill>
                  <a:srgbClr val="0A1F44"/>
                </a:solidFill>
                <a:latin typeface="Inter"/>
              </a:rPr>
              <a:t>Spread the same spend over more buyers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55000" y="48260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+6 pts repeat ≈ −10 to −12% (Exhibit J)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Follows from the repeat branches: +7 pts → −12 to −14%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080000" y="54229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CJA loop runs every lever, every week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 (CJA operating loop, Strategy Workbook v2); case section 4 (Options A, B, C), Exhibits I and L.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10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 and analytics share one workspace, one holdout and one decision rule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55320" y="1651000"/>
            <a:ext cx="304800" cy="304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5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19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Diagnose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320" y="2057400"/>
            <a:ext cx="7264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5320" y="2057400"/>
            <a:ext cx="7264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Read Fallout, Flow, Cohort Table and Attribution IQ on one stitched person ID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5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5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Head of Analytics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Weekly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60320" y="2768600"/>
            <a:ext cx="2032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788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941320" y="1651000"/>
            <a:ext cx="304800" cy="304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941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2320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1320" y="2057400"/>
            <a:ext cx="10693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41320" y="2057400"/>
            <a:ext cx="10693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Options A + 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1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Turn findings into saved CJA segments: abandoners, engaged, cashmere-first, recent buyers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41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941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Analytics + CRM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Weekly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846320" y="2768600"/>
            <a:ext cx="2032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074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5227320" y="1651000"/>
            <a:ext cx="304800" cy="304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227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8320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Activate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27320" y="2057400"/>
            <a:ext cx="10693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227320" y="2057400"/>
            <a:ext cx="10693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Options A + 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27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Send segments to lifecycle journeys and to paid-media suppression lists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27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227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Marketing ops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Daily sync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132320" y="2768600"/>
            <a:ext cx="2032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7360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513320" y="1651000"/>
            <a:ext cx="304800" cy="304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513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94320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Prove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13320" y="2057400"/>
            <a:ext cx="7264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513320" y="2057400"/>
            <a:ext cx="7264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 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3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Read every move against a randomized holdout: 10% in the South pilot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513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513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Head of Analytics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Weekly council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418320" y="2768600"/>
            <a:ext cx="2032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646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9799320" y="1651000"/>
            <a:ext cx="304800" cy="3048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99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80320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Reallocate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99320" y="2057400"/>
            <a:ext cx="7264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799320" y="2057400"/>
            <a:ext cx="7264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 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99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Release the next tranche only if the gate passes; failed money goes back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799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9799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CMO + CFO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Gates M3, M9; quarterly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662920" y="4038600"/>
            <a:ext cx="0" cy="431800"/>
          </a:xfrm>
          <a:prstGeom prst="line">
            <a:avLst/>
          </a:prstGeom>
          <a:ln w="2222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18920" y="4470400"/>
            <a:ext cx="9144000" cy="0"/>
          </a:xfrm>
          <a:prstGeom prst="line">
            <a:avLst/>
          </a:prstGeom>
          <a:ln w="2222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518920" y="4064000"/>
            <a:ext cx="0" cy="4064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810000" y="4356100"/>
            <a:ext cx="457200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810000" y="4356100"/>
            <a:ext cx="45720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D4ED8"/>
                </a:solidFill>
                <a:latin typeface="Inter"/>
              </a:rPr>
              <a:t>What CJA proves sets the next diagnosis and the next tranche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4775200"/>
            <a:ext cx="1117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Why it matters:  </a:t>
            </a:r>
            <a:r>
              <a:rPr sz="950" b="0">
                <a:solidFill>
                  <a:srgbClr val="0F172A"/>
                </a:solidFill>
                <a:latin typeface="Inter"/>
              </a:rPr>
              <a:t>Option C alone takes 6–12 months to trust. Running it as a weekly loop from day 1 lets Options A and B move money within weeks, with C deciding every tranche.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option covers another's weakness, so we blend them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section 4 (Options A, B, C), Exhibit I (cost, timing), Exhibit K (risk matrix); team analysis.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11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B's speed pays for A's build; A's owned reach cuts B's signal-loss risk; C's holdouts de-risk both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270000"/>
            <a:ext cx="1905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OPTION ALONE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4920" y="1270000"/>
            <a:ext cx="2794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WHAT IT GETS 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5920" y="1270000"/>
            <a:ext cx="3175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WHY IT FAILS ALONE (EXHIBIT 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7920" y="1270000"/>
            <a:ext cx="2921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ITS JOB IN OUR BLEND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1498600"/>
            <a:ext cx="1118108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02920" y="1701800"/>
            <a:ext cx="381000" cy="381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17018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5519" y="1676400"/>
            <a:ext cx="14224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Paid precision and suppression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4920" y="1701800"/>
            <a:ext cx="2794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Inter"/>
              </a:rPr>
              <a:t>✓ </a:t>
            </a:r>
            <a:r>
              <a:rPr sz="1050" b="0">
                <a:solidFill>
                  <a:srgbClr val="0F172A"/>
                </a:solidFill>
                <a:latin typeface="Inter"/>
              </a:rPr>
              <a:t>Results in weeks at $0 incremental (Exhibit 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5920" y="1701800"/>
            <a:ext cx="3175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DC2626"/>
                </a:solidFill>
                <a:latin typeface="Inter"/>
              </a:rPr>
              <a:t>✕ </a:t>
            </a:r>
            <a:r>
              <a:rPr sz="1050" b="0">
                <a:solidFill>
                  <a:srgbClr val="0F172A"/>
                </a:solidFill>
                <a:latin typeface="Inter"/>
              </a:rPr>
              <a:t>High signal-loss exposure; builds no lasting relationship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7920" y="1701800"/>
            <a:ext cx="292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D4ED8"/>
                </a:solidFill>
                <a:latin typeface="Inter"/>
              </a:rPr>
              <a:t>Funds it: suppression frees $4M in months 1–3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28448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02920" y="2997200"/>
            <a:ext cx="381000" cy="381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" y="29972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519" y="2971800"/>
            <a:ext cx="14224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Owned lifecycle precision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34920" y="2997200"/>
            <a:ext cx="2794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Inter"/>
              </a:rPr>
              <a:t>✓ </a:t>
            </a:r>
            <a:r>
              <a:rPr sz="1050" b="0">
                <a:solidFill>
                  <a:srgbClr val="0F172A"/>
                </a:solidFill>
                <a:latin typeface="Inter"/>
              </a:rPr>
              <a:t>Lowest cost per touch; insulated from ATT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5920" y="2997200"/>
            <a:ext cx="3175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DC2626"/>
                </a:solidFill>
                <a:latin typeface="Inter"/>
              </a:rPr>
              <a:t>✕ </a:t>
            </a:r>
            <a:r>
              <a:rPr sz="1050" b="0">
                <a:solidFill>
                  <a:srgbClr val="0F172A"/>
                </a:solidFill>
                <a:latin typeface="Inter"/>
              </a:rPr>
              <a:t>Reach capped by today's list: 1 in 4 buyers engaged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57920" y="2997200"/>
            <a:ext cx="292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D4ED8"/>
                </a:solidFill>
                <a:latin typeface="Inter"/>
              </a:rPr>
              <a:t>Builds it: capture grows the list; journeys earn order two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41402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02920" y="4292600"/>
            <a:ext cx="381000" cy="381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02920" y="42926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5519" y="4267200"/>
            <a:ext cx="14224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Attribution-based reallocation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34920" y="4292600"/>
            <a:ext cx="2794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Inter"/>
              </a:rPr>
              <a:t>✓ </a:t>
            </a:r>
            <a:r>
              <a:rPr sz="1050" b="0">
                <a:solidFill>
                  <a:srgbClr val="0F172A"/>
                </a:solidFill>
                <a:latin typeface="Inter"/>
              </a:rPr>
              <a:t>The lasting decision framework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5920" y="4292600"/>
            <a:ext cx="3175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DC2626"/>
                </a:solidFill>
                <a:latin typeface="Inter"/>
              </a:rPr>
              <a:t>✕ </a:t>
            </a:r>
            <a:r>
              <a:rPr sz="1050" b="0">
                <a:solidFill>
                  <a:srgbClr val="0F172A"/>
                </a:solidFill>
                <a:latin typeface="Inter"/>
              </a:rPr>
              <a:t>6–12 months to trust; high execution and change 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57920" y="4292600"/>
            <a:ext cx="292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D4ED8"/>
                </a:solidFill>
                <a:latin typeface="Inter"/>
              </a:rPr>
              <a:t>Proves it: runs from day 1 and decides every tranche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02920" y="54356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moments decide whether a first buyer returns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A1, A2, A4, A5, A6 and Cohort Table; behavioural mechanisms are hypotheses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12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14 programs sit at exactly one moment, and every moment has at least one program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01205" y="1524000"/>
            <a:ext cx="9579429" cy="0"/>
          </a:xfrm>
          <a:prstGeom prst="line">
            <a:avLst/>
          </a:prstGeom>
          <a:ln w="190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12305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3720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720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D97706"/>
                </a:solidFill>
                <a:latin typeface="Inter"/>
              </a:rPr>
              <a:t>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720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45.5%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of buyers arrive via prospecting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720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120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Price signals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720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9120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79120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Proof Creators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9120" y="47371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79120" y="47371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Loyalist Lookalikes</a:t>
            </a:r>
          </a:p>
        </p:txBody>
      </p:sp>
      <p:sp>
        <p:nvSpPr>
          <p:cNvPr id="29" name="Oval 28"/>
          <p:cNvSpPr/>
          <p:nvPr/>
        </p:nvSpPr>
        <p:spPr>
          <a:xfrm>
            <a:off x="2808877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150291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Product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50291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50291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25,227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5691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leave without a cart add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099491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150291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5691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Perceived risk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0291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(2)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75691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175691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The Fitting Room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75691" y="47371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175691" y="47371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Restock-First Waitlist</a:t>
            </a:r>
          </a:p>
        </p:txBody>
      </p:sp>
      <p:sp>
        <p:nvSpPr>
          <p:cNvPr id="42" name="Oval 41"/>
          <p:cNvSpPr/>
          <p:nvPr/>
        </p:nvSpPr>
        <p:spPr>
          <a:xfrm>
            <a:off x="4405448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746862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Cart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6862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6862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77%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72262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of cart adders never order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6062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746862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72262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Unfinished tasks fade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6862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72262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772262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Saved Cart</a:t>
            </a:r>
          </a:p>
        </p:txBody>
      </p:sp>
      <p:sp>
        <p:nvSpPr>
          <p:cNvPr id="53" name="Oval 52"/>
          <p:cNvSpPr/>
          <p:nvPr/>
        </p:nvSpPr>
        <p:spPr>
          <a:xfrm>
            <a:off x="6002020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343434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Checkout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43434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3434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27.1%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68834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app cart → order vs 22.7% web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292634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343434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68834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Default effect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3434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(1)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368834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68834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Track It in the App</a:t>
            </a:r>
          </a:p>
        </p:txBody>
      </p:sp>
      <p:sp>
        <p:nvSpPr>
          <p:cNvPr id="64" name="Oval 63"/>
          <p:cNvSpPr/>
          <p:nvPr/>
        </p:nvSpPr>
        <p:spPr>
          <a:xfrm>
            <a:off x="7598591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940005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Delivery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0005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D97706"/>
                </a:solidFill>
                <a:latin typeface="Inter"/>
              </a:rPr>
              <a:t>HYPOTHESIS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40005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24.5%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65405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of buyers engage after order one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89205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940005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65405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Peak-end, endowment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40005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(1)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965405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965405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Quince Passport</a:t>
            </a:r>
          </a:p>
        </p:txBody>
      </p:sp>
      <p:sp>
        <p:nvSpPr>
          <p:cNvPr id="75" name="Oval 74"/>
          <p:cNvSpPr/>
          <p:nvPr/>
        </p:nvSpPr>
        <p:spPr>
          <a:xfrm>
            <a:off x="9195162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536577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Days 0–30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36577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36577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5.6%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61977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week-2 return, engaged buyers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485777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536577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61977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Habit formation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36577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(3)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561977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561977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Care Calendar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561977" y="47371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8561977" y="47371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Quince Insider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561977" y="50038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8561977" y="50038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Never Pay Twice Engine</a:t>
            </a:r>
          </a:p>
        </p:txBody>
      </p:sp>
      <p:sp>
        <p:nvSpPr>
          <p:cNvPr id="90" name="Oval 89"/>
          <p:cNvSpPr/>
          <p:nvPr/>
        </p:nvSpPr>
        <p:spPr>
          <a:xfrm>
            <a:off x="10791734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0133148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Days 30–90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33148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33148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13.7%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58548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repeat for cashmere buyers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0082348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10133148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58548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Mental accounting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133148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(4)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158548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0158548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Material Journeys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158548" y="47371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0158548" y="47371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Gift Ledger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158548" y="50038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0158548" y="50038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Beauty Refill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158548" y="52705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0158548" y="52705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Cashmere Second Life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02920" y="31750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02920" y="41656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 first; paid only where owned can't reach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segments (A1, A2, A4, A6, Cohort Table); team targeting plan. Each row is a saved CJA segment that drives both the message and the measurement. Time axis is not to scale.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13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retargeting keeps one job: reaching high-intent people Quince has no other way to contact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91000" y="1422400"/>
            <a:ext cx="7239000" cy="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910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862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Hour 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75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927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040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992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7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05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057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21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0170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122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30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2235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9187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60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4300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1252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1574800"/>
            <a:ext cx="355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OWNED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7526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Checkout and cart abandoners with an email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91000" y="1816100"/>
            <a:ext cx="1608666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863166" y="17526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Saved Cart, within hours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2920" y="20193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2920" y="20320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Every first-time buyer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91000" y="2095500"/>
            <a:ext cx="2413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67500" y="20320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Passport card, app tracking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22987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23114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Engaged first buyers (24.5%)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04000" y="2374900"/>
            <a:ext cx="2413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080500" y="23114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care, fit, second category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25781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2920" y="25908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Cashmere-first buyers (13.7% repeat)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10500" y="2654300"/>
            <a:ext cx="2413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842000" y="25908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50" b="1">
                <a:solidFill>
                  <a:srgbClr val="0A1F44"/>
                </a:solidFill>
                <a:latin typeface="Inter"/>
              </a:rPr>
              <a:t>Material Journeys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28575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28702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Jewelry and beauty buyers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7000" y="2933700"/>
            <a:ext cx="2413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048500" y="28702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50" b="1">
                <a:solidFill>
                  <a:srgbClr val="0A1F44"/>
                </a:solidFill>
                <a:latin typeface="Inter"/>
              </a:rPr>
              <a:t>Gift Ledger, Beauty Refill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31369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31496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Lapsed: no second order by day 60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23500" y="3213100"/>
            <a:ext cx="12065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255000" y="31496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50" b="1">
                <a:solidFill>
                  <a:srgbClr val="0A1F44"/>
                </a:solidFill>
                <a:latin typeface="Inter"/>
              </a:rPr>
              <a:t>restock-first access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02920" y="34163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02920" y="3454400"/>
            <a:ext cx="355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PAID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36322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Cart abandoners Quince cannot reach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97500" y="3695700"/>
            <a:ext cx="1206500" cy="127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667500" y="36322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retargeting, max 3 ads/week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02920" y="38989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02920" y="39116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Non-engaged buyers with no owned address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04000" y="3975100"/>
            <a:ext cx="1206500" cy="127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874000" y="39116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customer-match ads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02920" y="41783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02920" y="4216400"/>
            <a:ext cx="355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SUPPRESS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43942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Recent buyers and owned-reachable customers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91000" y="4432300"/>
            <a:ext cx="7239000" cy="1905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292600" y="4432300"/>
            <a:ext cx="38100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Inter"/>
              </a:rPr>
              <a:t>removed from paid retargeting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02920" y="46609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02920" y="46736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Single-page bouncers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91000" y="4737100"/>
            <a:ext cx="2413000" cy="127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667500" y="46736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lowest intent, highest waste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02920" y="49403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shopper follows exactly one path, owned first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segments (A1, A2, A4, A6, Cohort Table); team targeting plan; timings from the strategy's segment matrix.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14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diamond is a saved CJA segment, so one rule drives both the message and its measurement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19400"/>
            <a:ext cx="1270000" cy="584200"/>
          </a:xfrm>
          <a:prstGeom prst="roundRect">
            <a:avLst>
              <a:gd name="adj" fmla="val 12000"/>
            </a:avLst>
          </a:prstGeom>
          <a:solidFill>
            <a:srgbClr val="0A1F44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4520" y="2844800"/>
            <a:ext cx="10668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Shopper adds to cart</a:t>
            </a:r>
          </a:p>
        </p:txBody>
      </p:sp>
      <p:sp>
        <p:nvSpPr>
          <p:cNvPr id="18" name="Diamond 17"/>
          <p:cNvSpPr/>
          <p:nvPr/>
        </p:nvSpPr>
        <p:spPr>
          <a:xfrm>
            <a:off x="1866900" y="2743200"/>
            <a:ext cx="990600" cy="7366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019300" y="2743200"/>
            <a:ext cx="6858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A1F44"/>
                </a:solidFill>
                <a:latin typeface="Inter"/>
              </a:rPr>
              <a:t>Orders?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772920" y="3111500"/>
            <a:ext cx="9398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362200" y="1905000"/>
            <a:ext cx="0" cy="8382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62200" y="1905000"/>
            <a:ext cx="6604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413000" y="2286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  <a:latin typeface="Inter"/>
              </a:rPr>
              <a:t>Yes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48000" y="1549400"/>
            <a:ext cx="2159000" cy="7112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149600" y="1574800"/>
            <a:ext cx="19558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Order ships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0F172A"/>
                </a:solidFill>
                <a:latin typeface="Inter"/>
              </a:rPr>
              <a:t>Passport card in the box; tracking opens in the 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48000" y="2387600"/>
            <a:ext cx="2159000" cy="4318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49600" y="2413000"/>
            <a:ext cx="19558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Removed from paid retargeting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27500" y="2260600"/>
            <a:ext cx="0" cy="12700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iamond 28"/>
          <p:cNvSpPr/>
          <p:nvPr/>
        </p:nvSpPr>
        <p:spPr>
          <a:xfrm>
            <a:off x="5435600" y="1498600"/>
            <a:ext cx="1320800" cy="8128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588000" y="1498600"/>
            <a:ext cx="10160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A1F44"/>
                </a:solidFill>
                <a:latin typeface="Inter"/>
              </a:rPr>
              <a:t>Engaged after order one?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07000" y="1905000"/>
            <a:ext cx="2286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061200" y="1524000"/>
            <a:ext cx="2413000" cy="762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162800" y="1549400"/>
            <a:ext cx="22098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Golden Month, weeks 1–4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0F172A"/>
                </a:solidFill>
                <a:latin typeface="Inter"/>
              </a:rPr>
              <a:t>Care and fit, then a second category; cashmere → Material Journeys by day 21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56400" y="1905000"/>
            <a:ext cx="3048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81800" y="17272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  <a:latin typeface="Inter"/>
              </a:rPr>
              <a:t>Yes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7500" y="2717800"/>
            <a:ext cx="2286000" cy="762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99100" y="2743200"/>
            <a:ext cx="20828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Not engaged yet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0F172A"/>
                </a:solidFill>
                <a:latin typeface="Inter"/>
              </a:rPr>
              <a:t>One ask at delivery, day 7, day 21: register your piece; customer-match ads if no owned address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4064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159500" y="2413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DC2626"/>
                </a:solidFill>
                <a:latin typeface="Inter"/>
              </a:rPr>
              <a:t>No</a:t>
            </a:r>
          </a:p>
        </p:txBody>
      </p:sp>
      <p:sp>
        <p:nvSpPr>
          <p:cNvPr id="40" name="Diamond 39"/>
          <p:cNvSpPr/>
          <p:nvPr/>
        </p:nvSpPr>
        <p:spPr>
          <a:xfrm>
            <a:off x="9906000" y="2095500"/>
            <a:ext cx="1270000" cy="787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058400" y="2095500"/>
            <a:ext cx="9652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A1F44"/>
                </a:solidFill>
                <a:latin typeface="Inter"/>
              </a:rPr>
              <a:t>Second order by day 60?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474200" y="1905000"/>
            <a:ext cx="228600" cy="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702800" y="1905000"/>
            <a:ext cx="0" cy="5842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702800" y="2489200"/>
            <a:ext cx="2032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683500" y="3098800"/>
            <a:ext cx="2019300" cy="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9702800" y="2501900"/>
            <a:ext cx="0" cy="59690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931400" y="1295400"/>
            <a:ext cx="1752600" cy="5334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033000" y="1320800"/>
            <a:ext cx="15494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Repeat buyer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FFFFFF"/>
                </a:solidFill>
                <a:latin typeface="Inter"/>
              </a:rPr>
              <a:t>Quince Insider early access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0541000" y="1841500"/>
            <a:ext cx="0" cy="2540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617200" y="1905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  <a:latin typeface="Inter"/>
              </a:rPr>
              <a:t>Yes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31400" y="3149600"/>
            <a:ext cx="1752600" cy="533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033000" y="3175000"/>
            <a:ext cx="15494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  <a:latin typeface="Inter"/>
              </a:rPr>
              <a:t>Day 60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Restock-first access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541000" y="2882900"/>
            <a:ext cx="0" cy="2667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617200" y="2921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DC2626"/>
                </a:solidFill>
                <a:latin typeface="Inter"/>
              </a:rPr>
              <a:t>No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362200" y="3479800"/>
            <a:ext cx="0" cy="11176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362200" y="4597400"/>
            <a:ext cx="7366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38400" y="3810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DC2626"/>
                </a:solidFill>
                <a:latin typeface="Inter"/>
              </a:rPr>
              <a:t>No</a:t>
            </a:r>
          </a:p>
        </p:txBody>
      </p:sp>
      <p:sp>
        <p:nvSpPr>
          <p:cNvPr id="58" name="Diamond 57"/>
          <p:cNvSpPr/>
          <p:nvPr/>
        </p:nvSpPr>
        <p:spPr>
          <a:xfrm>
            <a:off x="3098800" y="4203700"/>
            <a:ext cx="1422400" cy="787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251200" y="4203700"/>
            <a:ext cx="11176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A1F44"/>
                </a:solidFill>
                <a:latin typeface="Inter"/>
              </a:rPr>
              <a:t>Reachable by email or app?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521200" y="4597400"/>
            <a:ext cx="152400" cy="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673600" y="4394200"/>
            <a:ext cx="0" cy="2032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673600" y="4394200"/>
            <a:ext cx="1524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572000" y="4191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  <a:latin typeface="Inter"/>
              </a:rPr>
              <a:t>Yes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26000" y="4140200"/>
            <a:ext cx="2667000" cy="508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927600" y="4165600"/>
            <a:ext cx="2463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  <a:latin typeface="Inter"/>
              </a:rPr>
              <a:t>Saved Cart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Reminder at 1h and again at 24h; never a discount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673600" y="4597400"/>
            <a:ext cx="0" cy="4826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673600" y="5080000"/>
            <a:ext cx="1524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470400" y="48768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DC2626"/>
                </a:solidFill>
                <a:latin typeface="Inter"/>
              </a:rPr>
              <a:t>No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826000" y="4826000"/>
            <a:ext cx="2667000" cy="508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927600" y="4851400"/>
            <a:ext cx="2463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Inter"/>
              </a:rPr>
              <a:t>Paid retargeting, days 1–7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Max 3 ads a week: the only job left for retargeting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69200" y="4470400"/>
            <a:ext cx="889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Inter"/>
              </a:rPr>
              <a:t>If they order, they join the top path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63000" y="4089400"/>
            <a:ext cx="292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1D4ED8"/>
                </a:solidFill>
                <a:latin typeface="Inter"/>
              </a:rPr>
              <a:t>LEGEND</a:t>
            </a:r>
          </a:p>
        </p:txBody>
      </p:sp>
      <p:sp>
        <p:nvSpPr>
          <p:cNvPr id="73" name="Diamond 72"/>
          <p:cNvSpPr/>
          <p:nvPr/>
        </p:nvSpPr>
        <p:spPr>
          <a:xfrm>
            <a:off x="8763000" y="4318000"/>
            <a:ext cx="228600" cy="1778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067800" y="42926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Saved CJA segment test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763000" y="4572000"/>
            <a:ext cx="228600" cy="1524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67800" y="45466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Owned channel: app, email, SMS, box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63000" y="4800600"/>
            <a:ext cx="228600" cy="1524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9067800" y="47752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Paid media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763000" y="5029200"/>
            <a:ext cx="228600" cy="1524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9067800" y="50038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Removed from paid media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Fourteen programs, three flagships, zero discounts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strategy. Each program sits in one lever, works on one named behaviour and has a KPI CJA can read.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15</a:t>
            </a:r>
            <a:endParaRPr lang="en-US" sz="800" dirty="0"/>
          </a:p>
        </p:txBody>
      </p:sp>
      <p:sp>
        <p:nvSpPr>
          <p:cNvPr id="9" name="TextBox 8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4600"/>
            <a:ext cx="361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D4ED8"/>
                </a:solidFill>
                <a:latin typeface="Inter"/>
              </a:rPr>
              <a:t>1  Capture every buyer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1498600"/>
            <a:ext cx="361950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2920" y="15748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★ Quince Passport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Box card: register your piece. Endowment, peak-end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Registrations per 100 boxes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22987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23495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Track It in the App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Tracking opens in the app by default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App installs per 100 orders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30734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31242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Saved Cart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Reminder within hours, no discount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Cart → order vs holdout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38481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38989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Restock-First Waitlist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"Text me when it's back", real sell-outs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Sign-ups → first orders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46228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46736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The Fitting Room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Members-only pop-up, entry via the app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App installs per visitor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53975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274820" y="1244600"/>
            <a:ext cx="361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D4ED8"/>
                </a:solidFill>
                <a:latin typeface="Inter"/>
              </a:rPr>
              <a:t>2  Win the Golden Month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74820" y="1498600"/>
            <a:ext cx="361950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74820" y="15748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★ Material Journeys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Cashmere buyer → throw or linen. Mental accounting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2nd-category rate, 60 days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274820" y="22987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74820" y="23495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Care Calendar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Seasonal care keeps knitwear buyers close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Monthly active app users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274820" y="30734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274820" y="31242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Gift Ledger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Saved dates trigger picks 14 days before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Gift orders per saved date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274820" y="38481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274820" y="38989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Quince Insider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Early access earned by engagement, not spend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Insider repeat vs others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274820" y="46228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74820" y="46736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Beauty Refill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Reminders timed to each product's use cycle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Refills per beauty buyer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74820" y="53975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74820" y="54483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Cashmere Second Life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Take-back rewarded with early access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Next order within 60 days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274820" y="61722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46720" y="1244600"/>
            <a:ext cx="361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D4ED8"/>
                </a:solidFill>
                <a:latin typeface="Inter"/>
              </a:rPr>
              <a:t>3  Never pay twice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046720" y="1498600"/>
            <a:ext cx="361950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046720" y="15748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★ Never Pay Twice Engine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Daily CJA suppression of own buyers in paid ads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Incremental orders per $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046720" y="22987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046720" y="23495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Loyalist Lookalikes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Half of prospecting seeded on repeat buyers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90-day revenue per $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0734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046720" y="31242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Proof Creators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Wear-tests and fabric close-ups, $1.5M from search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Product view → cart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46720" y="38481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drivers lift 90-day repeat from 24% to 31%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E and J (baseline 24%); Adobe CJA A2/A5 measured haircuts (app 17%, SMS 37%); new-lever sizes are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16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 the downside with buffers reaches the 30% target; Gate 2 checks 28% at month 9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920" y="4172857"/>
            <a:ext cx="660400" cy="957942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" y="3956957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24.0%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Today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90320" y="4172857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544320" y="3598091"/>
            <a:ext cx="660400" cy="574765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66520" y="3382191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+2.4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SMS capture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04720" y="3598091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458720" y="3119120"/>
            <a:ext cx="660400" cy="478971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280920" y="290322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App capture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19120" y="3119120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373120" y="2664097"/>
            <a:ext cx="660400" cy="455022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195320" y="2448197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+1.9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Cashmere cross-sell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33520" y="2664097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287520" y="2328817"/>
            <a:ext cx="660400" cy="335279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109720" y="2112917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+1.4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Triggered journeys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47920" y="2328817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201920" y="2233022"/>
            <a:ext cx="660400" cy="95794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24120" y="2017122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Quince Passport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62320" y="2233022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116320" y="2017485"/>
            <a:ext cx="660400" cy="215537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938520" y="1801585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+0.9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Loyalist Lookalikes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76720" y="2017485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7030720" y="2017485"/>
            <a:ext cx="660400" cy="47897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2920" y="1801585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Inter"/>
              </a:rPr>
              <a:t>−2.0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Haircuts: bias, overlap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691120" y="2496457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945120" y="2496457"/>
            <a:ext cx="660400" cy="263434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767320" y="2280557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31.0%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Base case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5130800"/>
            <a:ext cx="83566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5562600"/>
            <a:ext cx="254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Inter"/>
              </a:rPr>
              <a:t>Axis starts at 20%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0000" y="1270000"/>
            <a:ext cx="2794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SCENARIOS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890000" y="1498600"/>
            <a:ext cx="279400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890000" y="1574800"/>
            <a:ext cx="1905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Gross plan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no haircuts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1574800"/>
            <a:ext cx="101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A1F44"/>
                </a:solidFill>
                <a:latin typeface="Inter"/>
              </a:rPr>
              <a:t>33.0%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890000" y="2133600"/>
            <a:ext cx="279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890000" y="2184400"/>
            <a:ext cx="1905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Base case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measured haircuts, 15% overlap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68000" y="2184400"/>
            <a:ext cx="101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1D4ED8"/>
                </a:solidFill>
                <a:latin typeface="Inter"/>
              </a:rPr>
              <a:t>31.0%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890000" y="2743200"/>
            <a:ext cx="279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890000" y="2794000"/>
            <a:ext cx="1905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Downside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50% haircut on everything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68000" y="2794000"/>
            <a:ext cx="101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A1F44"/>
                </a:solidFill>
                <a:latin typeface="Inter"/>
              </a:rPr>
              <a:t>29.5%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890000" y="3352800"/>
            <a:ext cx="279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890000" y="3403600"/>
            <a:ext cx="1905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Downside + buffers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perks and beauty at 50%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68000" y="3403600"/>
            <a:ext cx="101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A1F44"/>
                </a:solidFill>
                <a:latin typeface="Inter"/>
              </a:rPr>
              <a:t>30.0%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890000" y="3962400"/>
            <a:ext cx="279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brings buyers in; other categories bring them back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A6 (repeat on a ~3-month window, so lower than the case); case Exhibit F (90-day repeat, illustrative).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17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 cashmere buyers to a second category, never a second sweater: that is Material Journeys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244600"/>
            <a:ext cx="596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  <a:latin typeface="Inter"/>
              </a:rPr>
              <a:t>Repeat rate by category,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485900"/>
            <a:ext cx="596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Both sources rank cashmere last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920" y="3986348"/>
            <a:ext cx="457200" cy="109365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" y="3783148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13.7%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64920" y="3563257"/>
            <a:ext cx="457200" cy="1516742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37920" y="3360057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19%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920" y="5143500"/>
            <a:ext cx="965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Cashmere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17420" y="3419565"/>
            <a:ext cx="457200" cy="166043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90420" y="3216365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20.8%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5420" y="2445657"/>
            <a:ext cx="457200" cy="2634342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598420" y="2242457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33%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17420" y="5143500"/>
            <a:ext cx="965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Home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77920" y="3523342"/>
            <a:ext cx="457200" cy="1556657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50920" y="3320142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19.5%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85920" y="2924628"/>
            <a:ext cx="457200" cy="2155371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058920" y="2721428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27%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7920" y="5143500"/>
            <a:ext cx="965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Jewelry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38420" y="3603171"/>
            <a:ext cx="457200" cy="14768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11420" y="3399971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18.5%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46420" y="2605314"/>
            <a:ext cx="457200" cy="2474685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519420" y="2402114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31%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8420" y="5143500"/>
            <a:ext cx="965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Beauty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29920" y="5080000"/>
            <a:ext cx="5842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56920" y="1778000"/>
            <a:ext cx="127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34719" y="1739900"/>
            <a:ext cx="1778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CJA, Jan–Apr 2026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1778000"/>
            <a:ext cx="127000" cy="127000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966720" y="1739900"/>
            <a:ext cx="1778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Case Exhibit F, 90-day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604000" y="1244600"/>
            <a:ext cx="0" cy="424180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921500" y="12827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921500" y="12827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27900" y="12700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Cashmere is the biggest door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It touches 40.7% of CJA buyers (38% of new customers in the case) but repeats least: 13.7%.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921500" y="2489200"/>
            <a:ext cx="47625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921500" y="26543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921500" y="26543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27900" y="26416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Home keeps buyers longest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20.8% repeat in CJA, 33% in the case: higher baskets and a natural cross-sell from knitwear.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921500" y="3860800"/>
            <a:ext cx="47625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921500" y="40259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921500" y="40259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27900" y="40132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Jewelry and beauty are sticky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Gifting and replenishment drive returns: the Gift Ledger and Beauty Refill target them.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moves inside $120M; owned share 5% → 11%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G (today); team plan, tranches T1–T3 gated by CJA holdouts. Brand/other keeps $4M, of which $1.0M funds the Fitting Room test.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18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Cuts start with the least incremental spend; prospecting moves only if a holdout proves over-credit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40000" y="1295400"/>
            <a:ext cx="127000" cy="1270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717800" y="12573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56000" y="1295400"/>
            <a:ext cx="127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733800" y="12573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600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Paid social prospecting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0000" y="1638300"/>
            <a:ext cx="4665133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540000" y="1828800"/>
            <a:ext cx="4504266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55933" y="1612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$58M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95066" y="1803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$56M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1600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DC2626"/>
                </a:solidFill>
                <a:latin typeface="Inter"/>
              </a:rPr>
              <a:t>−$2M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4800" y="1600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T3 · only if proven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2108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2235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Paid search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40000" y="2273300"/>
            <a:ext cx="1769533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2540000" y="2463800"/>
            <a:ext cx="1528233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360333" y="2247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$22M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9033" y="2438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$19M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2235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DC2626"/>
                </a:solidFill>
                <a:latin typeface="Inter"/>
              </a:rPr>
              <a:t>−$3M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4800" y="2235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T2 · after geo holdout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2920" y="2743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2920" y="2870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Influencer and creators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0000" y="2908300"/>
            <a:ext cx="1286933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540000" y="3098800"/>
            <a:ext cx="1407583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877733" y="2882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$16M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8383" y="3073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$17.5M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8000" y="2870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16A34A"/>
                </a:solidFill>
                <a:latin typeface="Inter"/>
              </a:rPr>
              <a:t>+$1.5M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4800" y="2870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with T2 · from search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3378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2920" y="3505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Paid social retargeting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40000" y="3543300"/>
            <a:ext cx="1126066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2540000" y="3733800"/>
            <a:ext cx="804333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716866" y="3517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$14M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5133" y="3708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$10M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8000" y="3505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DC2626"/>
                </a:solidFill>
                <a:latin typeface="Inter"/>
              </a:rPr>
              <a:t>−$4M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94800" y="3505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T1 · suppress own buyers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4013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4140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Email, SMS, app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540000" y="4178300"/>
            <a:ext cx="482600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2540000" y="4368800"/>
            <a:ext cx="1085850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073400" y="4152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$6M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6650" y="4343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$13.5M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28000" y="4140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16A34A"/>
                </a:solidFill>
                <a:latin typeface="Inter"/>
              </a:rPr>
              <a:t>+$7.5M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94800" y="4140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T1–T3 · owned build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4648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4775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Brand and other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540000" y="4813300"/>
            <a:ext cx="321733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2540000" y="5003800"/>
            <a:ext cx="321733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912533" y="4787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$4M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12533" y="4978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$4M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28000" y="4775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64748B"/>
                </a:solidFill>
                <a:latin typeface="Inter"/>
              </a:rPr>
              <a:t>±$0M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94800" y="4775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incl. $1.0M Fitting Room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02920" y="5283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540000" y="1524000"/>
            <a:ext cx="0" cy="38608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click undervalues owned channels about three times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Attribution IQ, Order Revenue ($337,044), Marketing Channel, Person container, 90-day lookback,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19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barely moves across models, so its cut rests on holdouts, not on attribution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130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225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0%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782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77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10%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434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1529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20%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086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1181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30%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738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33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40%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390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485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720" y="15748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Paid social prospecting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18580" y="1739900"/>
            <a:ext cx="405383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55080" y="16764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760463" y="16764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938263" y="16383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41.5% → 45.7%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3720" y="20447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Organic, direct, SEO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957320" y="2209800"/>
            <a:ext cx="77216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3893820" y="21463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71036" y="21463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148836" y="21082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16.0% → 16.8%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720" y="25146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Paid social retargeting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658107" y="2679700"/>
            <a:ext cx="115824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3594607" y="26162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3710431" y="26162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888231" y="25781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12.9% → 14.1%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720" y="29845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Paid search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648455" y="3149600"/>
            <a:ext cx="8686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3584955" y="30861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3671824" y="30861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849624" y="30480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12.8% → 13.7%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720" y="34544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Influencer, affiliate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580891" y="3619500"/>
            <a:ext cx="115825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3517391" y="35560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3633216" y="35560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811016" y="35179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12.1% → 13.3%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898900"/>
            <a:ext cx="7747000" cy="381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53720" y="39243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Email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673604" y="4089400"/>
            <a:ext cx="579120" cy="0"/>
          </a:xfrm>
          <a:prstGeom prst="line">
            <a:avLst/>
          </a:prstGeom>
          <a:ln w="254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2610104" y="40259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3189224" y="4025900"/>
            <a:ext cx="127000" cy="127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367024" y="39878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2.7% → 8.7%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368800"/>
            <a:ext cx="7747000" cy="381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53720" y="43942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SMS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480564" y="4559300"/>
            <a:ext cx="260604" cy="0"/>
          </a:xfrm>
          <a:prstGeom prst="line">
            <a:avLst/>
          </a:prstGeom>
          <a:ln w="254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2417064" y="44958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2677668" y="4495800"/>
            <a:ext cx="127000" cy="127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2855468" y="44577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0.7% → 3.4%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38700"/>
            <a:ext cx="7747000" cy="381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553720" y="48641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App push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548128" y="5029200"/>
            <a:ext cx="144780" cy="0"/>
          </a:xfrm>
          <a:prstGeom prst="line">
            <a:avLst/>
          </a:prstGeom>
          <a:ln w="254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484628" y="49657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2629408" y="4965700"/>
            <a:ext cx="127000" cy="127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2807208" y="49276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1.4% → 2.9%</a:t>
            </a:r>
          </a:p>
        </p:txBody>
      </p:sp>
      <p:sp>
        <p:nvSpPr>
          <p:cNvPr id="71" name="Oval 70"/>
          <p:cNvSpPr/>
          <p:nvPr/>
        </p:nvSpPr>
        <p:spPr>
          <a:xfrm>
            <a:off x="2413000" y="5435600"/>
            <a:ext cx="114300" cy="1143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2578100" y="53975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Last touch</a:t>
            </a:r>
          </a:p>
        </p:txBody>
      </p:sp>
      <p:sp>
        <p:nvSpPr>
          <p:cNvPr id="73" name="Oval 72"/>
          <p:cNvSpPr/>
          <p:nvPr/>
        </p:nvSpPr>
        <p:spPr>
          <a:xfrm>
            <a:off x="3683000" y="5435600"/>
            <a:ext cx="114300" cy="1143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3848100" y="53975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Participation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509000" y="1244600"/>
            <a:ext cx="0" cy="424180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763000" y="1295400"/>
            <a:ext cx="2921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OWNED CHANNELS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63000" y="1498600"/>
            <a:ext cx="292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Inter"/>
              </a:rPr>
              <a:t>4.8% → 15.0%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63000" y="1981200"/>
            <a:ext cx="292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share of revenue: last-touch credit vs revenue they take part in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63000" y="2717800"/>
            <a:ext cx="29210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763000" y="2870200"/>
            <a:ext cx="2921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PAID SOCIAL RETARGETING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63000" y="3073400"/>
            <a:ext cx="292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Inter"/>
              </a:rPr>
              <a:t>12.9% → 12.4%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63000" y="3556000"/>
            <a:ext cx="292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last touch vs first touch: attribution neither convicts nor clears 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Twice: stop buying customers Quince already has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strategy; case Exhibits G, I, L; Adobe CJA A0 (125,521 events) and A3b.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20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Tranche 1 frees $4M in months 1–3 without touching prospecting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2700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DATA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800" y="12700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IDENTITY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7600" y="1270000"/>
            <a:ext cx="2159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AUDIENCES IN CJA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1400" y="1270000"/>
            <a:ext cx="2159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ACTIVATION, DAILY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55200" y="1270000"/>
            <a:ext cx="1828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1498600"/>
            <a:ext cx="1905000" cy="2362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4520" y="1524000"/>
            <a:ext cx="1701800" cy="2311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Inter"/>
              </a:rPr>
              <a:t>Every touchpoint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0F172A"/>
                </a:solidFill>
                <a:latin typeface="Inter"/>
              </a:rPr>
              <a:t>Web and app events, email, SMS and paid-media touches: 125,521 events, Jan–Apr 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17800" y="1498600"/>
            <a:ext cx="1905000" cy="2362200"/>
          </a:xfrm>
          <a:prstGeom prst="roundRect">
            <a:avLst>
              <a:gd name="adj" fmla="val 12000"/>
            </a:avLst>
          </a:prstGeom>
          <a:solidFill>
            <a:srgbClr val="0A1F44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819400" y="1524000"/>
            <a:ext cx="1701800" cy="2311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One stitched person ID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Inter"/>
              </a:rPr>
              <a:t>The same customer across web, app, email and SMS. Ready today (Exhibit 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600" y="14986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29200" y="15240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Recent buyers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ordered in the last 30 days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27600" y="23114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0" y="23368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Owned-reachable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has email, SMS or the app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27600" y="31242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29200" y="31496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Single-page bouncers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lowest intent, highest waste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91400" y="14986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3000" y="15240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Suppression lists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Meta, Google and TikTok, synced daily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91400" y="23114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93000" y="23368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Inter"/>
              </a:rPr>
              <a:t>Frequency cap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max 3 retargeting ads a week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91400" y="31242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493000" y="31496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Inter"/>
              </a:rPr>
              <a:t>$2M re-aimed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to customer-match cross-sell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55200" y="1498600"/>
            <a:ext cx="1828800" cy="2362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956800" y="1524000"/>
            <a:ext cx="1625600" cy="2311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T1: −$4M retargeting → owned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Inter"/>
              </a:rPr>
              <a:t>Retargeting keeps one job: high-intent people Quince has no other way to reach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433320" y="2679700"/>
            <a:ext cx="25908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648200" y="2679700"/>
            <a:ext cx="2540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12000" y="2679700"/>
            <a:ext cx="2540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575800" y="2679700"/>
            <a:ext cx="2540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769600" y="3860800"/>
            <a:ext cx="0" cy="431800"/>
          </a:xfrm>
          <a:prstGeom prst="line">
            <a:avLst/>
          </a:prstGeom>
          <a:ln w="2222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6007100" y="4292600"/>
            <a:ext cx="4762500" cy="0"/>
          </a:xfrm>
          <a:prstGeom prst="line">
            <a:avLst/>
          </a:prstGeom>
          <a:ln w="2222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007100" y="3886200"/>
            <a:ext cx="0" cy="4064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604000" y="4178300"/>
            <a:ext cx="368300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04000" y="4178300"/>
            <a:ext cx="36830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D4ED8"/>
                </a:solidFill>
                <a:latin typeface="Inter"/>
              </a:rPr>
              <a:t>Prove: incremental orders per retargeting $ vs holdout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622800"/>
            <a:ext cx="1117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Why it is safe:  </a:t>
            </a:r>
            <a:r>
              <a:rPr sz="950" b="0">
                <a:solidFill>
                  <a:srgbClr val="0F172A"/>
                </a:solidFill>
                <a:latin typeface="Inter"/>
              </a:rPr>
              <a:t>retargeted buyers repeat at 23.0% vs 23.4% organic (A3b), so suppression removes spend on people who return anyway; prospecting, which brings 45.5% of buyers, is untouched.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$120M earns ~$25M more contribution yearly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H and J (45% contribution margin, $13.5M per 6 pts of repeat); strict CAC = $120M ÷ new customers;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21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one web-only buyer into an app user is worth ~$115 of margin, almost two CACs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244600"/>
            <a:ext cx="711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  <a:latin typeface="Inter"/>
              </a:rPr>
              <a:t>Contribution added per year, $M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485900"/>
            <a:ext cx="711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Repeat at +7 pts, plus ~170K extra new customers at strict CAC −8%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778000"/>
            <a:ext cx="3210560" cy="4318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713480" y="1778000"/>
            <a:ext cx="1808480" cy="431800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04520" y="1778000"/>
            <a:ext cx="2540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$15.8M  repeat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5080" y="1778000"/>
            <a:ext cx="1778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$8.9M  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8960" y="1727200"/>
            <a:ext cx="1524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A1F44"/>
                </a:solidFill>
                <a:latin typeface="Inter"/>
              </a:rPr>
              <a:t>≈ $25M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2489200"/>
            <a:ext cx="7117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2616200"/>
            <a:ext cx="711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  <a:latin typeface="Inter"/>
              </a:rPr>
              <a:t>3-year margin per customer vs CAC, $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857500"/>
            <a:ext cx="711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3-year LTV × 45% margin; web-only vs prospecting CAC $74, others vs $62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2004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Web-only, unsubscribed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13000" y="3238500"/>
            <a:ext cx="1466850" cy="254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3963670" y="3149600"/>
            <a:ext cx="0" cy="431800"/>
          </a:xfrm>
          <a:prstGeom prst="line">
            <a:avLst/>
          </a:prstGeom>
          <a:ln w="19050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82670" y="35814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0A1F44"/>
                </a:solidFill>
                <a:latin typeface="Inter"/>
              </a:rPr>
              <a:t>CAC $74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1450" y="32004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$70  ·  0.94× CAC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8862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Blended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13000" y="3924300"/>
            <a:ext cx="2682240" cy="254000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3712210" y="3835400"/>
            <a:ext cx="0" cy="431800"/>
          </a:xfrm>
          <a:prstGeom prst="line">
            <a:avLst/>
          </a:prstGeom>
          <a:ln w="19050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331210" y="42672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0A1F44"/>
                </a:solidFill>
                <a:latin typeface="Inter"/>
              </a:rPr>
              <a:t>CAC $62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6840" y="38862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$128  ·  2.1× CAC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5720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App-installed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13000" y="4610100"/>
            <a:ext cx="3876675" cy="254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8" name="Connector 37"/>
          <p:cNvCxnSpPr/>
          <p:nvPr/>
        </p:nvCxnSpPr>
        <p:spPr>
          <a:xfrm>
            <a:off x="3712210" y="4521200"/>
            <a:ext cx="0" cy="431800"/>
          </a:xfrm>
          <a:prstGeom prst="line">
            <a:avLst/>
          </a:prstGeom>
          <a:ln w="19050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31210" y="49530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0A1F44"/>
                </a:solidFill>
                <a:latin typeface="Inter"/>
              </a:rPr>
              <a:t>CAC $62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275" y="45720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$185  ·  3.0× CAC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74000" y="1244600"/>
            <a:ext cx="0" cy="424180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128000" y="1295400"/>
            <a:ext cx="3556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BLENDED CAC, MEASURED TWO WAYS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0" y="1574800"/>
            <a:ext cx="355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Inter"/>
              </a:rPr>
              <a:t>Effective CAC (case Exhibit J measure)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8000" y="1778000"/>
            <a:ext cx="355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Inter"/>
              </a:rPr>
              <a:t>$62 → ~$54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2235200"/>
            <a:ext cx="355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−12% to −14%: same spend, more purchasing customers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128000" y="2590800"/>
            <a:ext cx="35560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28000" y="2717800"/>
            <a:ext cx="355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Inter"/>
              </a:rPr>
              <a:t>Strict new-customer CAC ($120M ÷ new customers)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28000" y="2921000"/>
            <a:ext cx="355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Inter"/>
              </a:rPr>
              <a:t>$62 → ~$57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8000" y="3378200"/>
            <a:ext cx="355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≈ −8%: cart recovery and product-page proof add new customers at the same spend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risks, each with a mitigation and early warning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analysis; case section 7 and Exhibit K. Likelihood and impact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22</a:t>
            </a:r>
            <a:endParaRPr lang="en-US" sz="800" dirty="0"/>
          </a:p>
        </p:txBody>
      </p:sp>
      <p:sp>
        <p:nvSpPr>
          <p:cNvPr id="9" name="TextBox 8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70000"/>
            <a:ext cx="2413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0" y="1270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LIKELIHOOD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500" y="12700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9500" y="1270000"/>
            <a:ext cx="381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MITIGATION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0" y="1270000"/>
            <a:ext cx="2794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EARLY WARNING IN CJA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1498600"/>
            <a:ext cx="1118108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15748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Selection bias: loyal people opt in anyway</a:t>
            </a:r>
          </a:p>
        </p:txBody>
      </p:sp>
      <p:sp>
        <p:nvSpPr>
          <p:cNvPr id="17" name="Oval 16"/>
          <p:cNvSpPr/>
          <p:nvPr/>
        </p:nvSpPr>
        <p:spPr>
          <a:xfrm>
            <a:off x="3048000" y="18161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213100" y="15748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19" name="Oval 18"/>
          <p:cNvSpPr/>
          <p:nvPr/>
        </p:nvSpPr>
        <p:spPr>
          <a:xfrm>
            <a:off x="4000500" y="1816100"/>
            <a:ext cx="114300" cy="114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165600" y="15748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9500" y="15748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Measured haircut (A5) built into every number; randomized 10% holdout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0" y="15748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Pilot vs holdout gap, 30-day repeat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21844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22352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Channel owners resist losing budget</a:t>
            </a:r>
          </a:p>
        </p:txBody>
      </p:sp>
      <p:sp>
        <p:nvSpPr>
          <p:cNvPr id="25" name="Oval 24"/>
          <p:cNvSpPr/>
          <p:nvPr/>
        </p:nvSpPr>
        <p:spPr>
          <a:xfrm>
            <a:off x="3048000" y="2476500"/>
            <a:ext cx="114300" cy="114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13100" y="22352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High</a:t>
            </a:r>
          </a:p>
        </p:txBody>
      </p:sp>
      <p:sp>
        <p:nvSpPr>
          <p:cNvPr id="27" name="Oval 26"/>
          <p:cNvSpPr/>
          <p:nvPr/>
        </p:nvSpPr>
        <p:spPr>
          <a:xfrm>
            <a:off x="4000500" y="24765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165600" y="22352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9500" y="22352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Scorecards move from platform ROAS to CJA-measured incremental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90000" y="22352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Tranche release dates vs plan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28448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28956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Message fatigue and unsubscribes</a:t>
            </a:r>
          </a:p>
        </p:txBody>
      </p:sp>
      <p:sp>
        <p:nvSpPr>
          <p:cNvPr id="33" name="Oval 32"/>
          <p:cNvSpPr/>
          <p:nvPr/>
        </p:nvSpPr>
        <p:spPr>
          <a:xfrm>
            <a:off x="3048000" y="31369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13100" y="28956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35" name="Oval 34"/>
          <p:cNvSpPr/>
          <p:nvPr/>
        </p:nvSpPr>
        <p:spPr>
          <a:xfrm>
            <a:off x="4000500" y="31369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165600" y="28956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89500" y="28956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Triggered messages replace batch sends under one frequency cap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0" y="28956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Unsubscribes per 1,000 sends; breach pauses tranche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3505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35560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Consent and privacy (TCPA, CCPA)</a:t>
            </a:r>
          </a:p>
        </p:txBody>
      </p:sp>
      <p:sp>
        <p:nvSpPr>
          <p:cNvPr id="41" name="Oval 40"/>
          <p:cNvSpPr/>
          <p:nvPr/>
        </p:nvSpPr>
        <p:spPr>
          <a:xfrm>
            <a:off x="3048000" y="3797300"/>
            <a:ext cx="114300" cy="11430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213100" y="35560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Low</a:t>
            </a:r>
          </a:p>
        </p:txBody>
      </p:sp>
      <p:sp>
        <p:nvSpPr>
          <p:cNvPr id="43" name="Oval 42"/>
          <p:cNvSpPr/>
          <p:nvPr/>
        </p:nvSpPr>
        <p:spPr>
          <a:xfrm>
            <a:off x="4000500" y="3797300"/>
            <a:ext cx="114300" cy="114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165600" y="35560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High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500" y="35560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Delivery and marketing consent split; marketing box never pre-ticked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90000" y="35560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Consent audit pass rate; complaints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1656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42164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Fitting Room doesn't pay back</a:t>
            </a:r>
          </a:p>
        </p:txBody>
      </p:sp>
      <p:sp>
        <p:nvSpPr>
          <p:cNvPr id="49" name="Oval 48"/>
          <p:cNvSpPr/>
          <p:nvPr/>
        </p:nvSpPr>
        <p:spPr>
          <a:xfrm>
            <a:off x="3048000" y="44577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213100" y="42164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51" name="Oval 50"/>
          <p:cNvSpPr/>
          <p:nvPr/>
        </p:nvSpPr>
        <p:spPr>
          <a:xfrm>
            <a:off x="4000500" y="4457700"/>
            <a:ext cx="114300" cy="11430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165600" y="42164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9500" y="42164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Capped at $1.0M in the brand line; one metro, one season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90000" y="42164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App installs per visitor vs Passport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02920" y="48260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02920" y="48768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Platform or signal shock (Meta, TikTok)</a:t>
            </a:r>
          </a:p>
        </p:txBody>
      </p:sp>
      <p:sp>
        <p:nvSpPr>
          <p:cNvPr id="57" name="Oval 56"/>
          <p:cNvSpPr/>
          <p:nvPr/>
        </p:nvSpPr>
        <p:spPr>
          <a:xfrm>
            <a:off x="3048000" y="5118100"/>
            <a:ext cx="114300" cy="114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213100" y="48768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High</a:t>
            </a:r>
          </a:p>
        </p:txBody>
      </p:sp>
      <p:sp>
        <p:nvSpPr>
          <p:cNvPr id="59" name="Oval 58"/>
          <p:cNvSpPr/>
          <p:nvPr/>
        </p:nvSpPr>
        <p:spPr>
          <a:xfrm>
            <a:off x="4000500" y="51181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165600" y="48768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89500" y="48768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The plan itself: owned share 5% → 11%; engaged buyers 1 in 4 → 1 in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90000" y="48768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Share of orders from owned channels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02920" y="54864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brief requirement and the slide that answers it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brief sections 3 (question, constraints), 4 (options), 7 (risks), 9 (deliverables) and 11 (rules).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23</a:t>
            </a:r>
            <a:endParaRPr lang="en-US" sz="800" dirty="0"/>
          </a:p>
        </p:txBody>
      </p:sp>
      <p:sp>
        <p:nvSpPr>
          <p:cNvPr id="9" name="TextBox 8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BACKUP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70000"/>
            <a:ext cx="304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1270000"/>
            <a:ext cx="762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THE BRIEF ASKS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0" y="1270000"/>
            <a:ext cx="203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WHERE WE ANSWER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5000" y="1270000"/>
            <a:ext cx="889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STATUS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" y="1473200"/>
            <a:ext cx="1118108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15240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Redesign retargeting and lifecycle across paid social, email, SMS and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0" y="15240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7, 13, 14, 15, 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95000" y="15240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7907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17970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00" y="17970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Lift 90-day repeat by 6+ 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6000" y="17970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5000" y="17970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20637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20701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600" y="20701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Cut blended CAC by 10%+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6000" y="20701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5000" y="20701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23368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23431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3600" y="23431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Deliver within 12–18 months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0" y="23431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95000" y="23431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26098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26162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3600" y="26162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Constraint 1: no budget increase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6000" y="26162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95000" y="26162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28829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28892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3600" y="28892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Constraint 2: no price-led retention; narrow triggered offers only as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6000" y="28892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9,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95000" y="28892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31559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31623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31623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Constraint 3: grounded in Adobe CJA, with appendix screenshots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6000" y="31623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4, 24–28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95000" y="31623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34290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34353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3600" y="34353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Options A, B, C: one, a blend, or something else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6000" y="34353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10, 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95000" y="34353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02920" y="37020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2920" y="37084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3600" y="37084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Executive summary: strategy, constraints confirmed, impact, one narrative thread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36000" y="37084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95000" y="37084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39751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39814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3600" y="39814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Market: signal loss, rising CAC, first-party shift, where retargeting is exposed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36000" y="39814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95000" y="39814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02920" y="42481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02920" y="42545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3600" y="42545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Customer and funnel: where it breaks, who retains, who to target and when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36000" y="42545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4, 12, 13, 14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95000" y="42545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02920" y="4521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02920" y="45275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3600" y="45275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Competition: positioning, sustainability, escalation risk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36000" y="45275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95000" y="45275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02920" y="47942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02920" y="48006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3600" y="48006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Capabilities: lifecycle and creative capacity, identity, growth–analytics coordination, gaps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36000" y="48006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6, 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95000" y="48006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02920" y="50673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02920" y="50736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63600" y="50736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Next steps: phasing, reallocation sequence, pilot, the three metrics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36000" y="50736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7, 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95000" y="50736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02920" y="53403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02920" y="53467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3600" y="53467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Risks: execution, signal loss, fatigue, measurement, change, privacy, creative, platforms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36000" y="53467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95000" y="53467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02920" y="56134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56197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3600" y="56197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Max 7 slides, insight headlines, 4+ captioned CJA screenshots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636000" y="56197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1–7, 24–28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95000" y="56197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02920" y="58864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02920" y="58928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63600" y="58928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Team number only; no invented figure presented as a Quince disclosure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36000" y="58928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All; 29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95000" y="58928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502920" y="61595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Fallout: 77% of cart adders never order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Fallout visualization, Quince case data view,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95844" y="1289304"/>
            <a:ext cx="6597265" cy="42336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fallo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2420" y="1325880"/>
            <a:ext cx="6524113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 (A1): 60,000 → 2,592 buyers; 69% of product viewers never add to cart and 77% of cart adders never order, so recovery is new money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ADOBE CJA EVIDENCE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IQ: owned channels assist more than they close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Attribution panel, Order Revenue across Marketing Channel, Last Touch, First Touch, Linear, Participation, 90-day lookback; total Order Revenue $337,044.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1370052"/>
            <a:ext cx="11256264" cy="407217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attr_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06628"/>
            <a:ext cx="11183112" cy="399902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IQ: owned channels take part in 15.0% of revenue but get 4.8% on last touch; paid channels barely move between models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ADOBE CJA EVIDENCE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Table: engaged buyers' week-2 return is 2.7× higher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Cohort Table, inclusion and return Orders ≥ 1, weekly,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26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1427502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cohort_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4078"/>
            <a:ext cx="5454396" cy="36098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5183610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buyers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5060" y="1427502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/tmp/claude-0/-home-user-Quince/7efe80ae-a049-50c2-9886-98bf7ca3a04a/scratchpad/assets/cja_cohort_e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636" y="1464078"/>
            <a:ext cx="5454396" cy="360980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31636" y="5183610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(inclusion segment)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Table: week-2 return is 5.6% for engaged buyers vs 2.1% for all buyers; half of engaged returns land in weeks 1–4</a:t>
            </a:r>
            <a:endParaRPr lang="en-US" sz="1300" dirty="0"/>
          </a:p>
        </p:txBody>
      </p:sp>
      <p:sp>
        <p:nvSpPr>
          <p:cNvPr id="19" name="TextBox 18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ADOBE CJA EVIDENCE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Flow: almost no message follows an abandoned cart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Flow from add_to_cart, Person container,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27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9013" y="1289304"/>
            <a:ext cx="10750925" cy="42336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89" y="1325880"/>
            <a:ext cx="10677773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 (A4): 11,610 add-to-cart paths; 6,088 go to checkout, 1 is followed by an email, the rest end with no message</a:t>
            </a:r>
            <a:endParaRPr lang="en-US" sz="13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ADOBE CJA EVIDENCE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Segments: engagement after order one drives repeat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freeform tables with engagement segments and sequential segments,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28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2293173"/>
            <a:ext cx="5527548" cy="1951614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a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29749"/>
            <a:ext cx="5454396" cy="187846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4324795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by engagement (A2)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5060" y="2286317"/>
            <a:ext cx="5527548" cy="196532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/tmp/claude-0/-home-user-Quince/7efe80ae-a049-50c2-9886-98bf7ca3a04a/scratchpad/assets/cja_a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636" y="2322893"/>
            <a:ext cx="5454396" cy="189217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31636" y="4324795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after order one (A5)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Segments: engaged buyers are 24.5% of buyers but 66% of repeaters (A2); after order one, 57 of 265 app users and 37 of 315 SMS users repeat (A5)</a:t>
            </a:r>
            <a:endParaRPr lang="en-US" sz="1300" dirty="0"/>
          </a:p>
        </p:txBody>
      </p:sp>
      <p:sp>
        <p:nvSpPr>
          <p:cNvPr id="19" name="TextBox 18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ADOBE CJA EVIDENCE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case data, our CJA project and public research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figures are the packet's illustrative estimates, never Quince disclosures. Links come from the team's strategy research.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29</a:t>
            </a:r>
            <a:endParaRPr lang="en-US" sz="800" dirty="0"/>
          </a:p>
        </p:txBody>
      </p:sp>
      <p:sp>
        <p:nvSpPr>
          <p:cNvPr id="9" name="TextBox 8"/>
          <p:cNvSpPr txBox="1"/>
          <p:nvPr/>
        </p:nvSpPr>
        <p:spPr>
          <a:xfrm>
            <a:off x="502920" y="254000"/>
            <a:ext cx="6350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APPENDIX ·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70000"/>
            <a:ext cx="5461000" cy="501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4ED8"/>
                </a:solidFill>
                <a:latin typeface="Inter"/>
              </a:rPr>
              <a:t>Case and Adobe CJA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Quince case packet, "Closing the Loop"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Case Competition World Cup, Graduate Track, 9 Oct 2026. Exhibits B–N; all figures illustrative.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Adobe CJA, Quince Case Data View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Team project "Quince CJA": 60,000 people, 125,521 events, 1 Jan–30 Apr 2026 (slides 24–28).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Adjust; AppsFlyer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iOS App Tracking Transparency opt-in benchmarks, about 35–50%.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270000"/>
            <a:ext cx="5461000" cy="501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4ED8"/>
                </a:solidFill>
                <a:latin typeface="Inter"/>
              </a:rPr>
              <a:t>Research and public facts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Gordon, Zettelmeyer, Bhargava &amp; Chapsky (2019)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A Comparison of Approaches to Advertising Measurement. Marketing Science 38(2).</a:t>
            </a:r>
          </a:p>
          <a:p>
            <a:r>
              <a:rPr sz="850" b="0">
                <a:solidFill>
                  <a:srgbClr val="1D4ED8"/>
                </a:solidFill>
                <a:latin typeface="Inter"/>
                <a:hlinkClick r:id="rId5"/>
              </a:rPr>
              <a:t>doi.org/10.1287/mksc.2018.1135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Blake, Nosko &amp; Tadelis (2015)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Consumer Heterogeneity and Paid Search Effectiveness. Econometrica 83(1).</a:t>
            </a:r>
          </a:p>
          <a:p>
            <a:r>
              <a:rPr sz="850" b="0">
                <a:solidFill>
                  <a:srgbClr val="1D4ED8"/>
                </a:solidFill>
                <a:latin typeface="Inter"/>
                <a:hlinkClick r:id="rId6"/>
              </a:rPr>
              <a:t>doi.org/10.3982/ECTA12423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Shein buys Everlane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WUSF, 22 May 2026.</a:t>
            </a:r>
          </a:p>
          <a:p>
            <a:r>
              <a:rPr sz="850" b="0">
                <a:solidFill>
                  <a:srgbClr val="1D4ED8"/>
                </a:solidFill>
                <a:latin typeface="Inter"/>
                <a:hlinkClick r:id="rId7"/>
              </a:rPr>
              <a:t>www.wusf.org/2026-05-22/shein-buys-everlane-which-sold-millennials-the-dream-of-ethical-affordable-luxury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Williams-Sonoma v. Last Brand dismissed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30 Sept 2026, with leave to amend. The Fashion Law.</a:t>
            </a:r>
          </a:p>
          <a:p>
            <a:r>
              <a:rPr sz="850" b="0">
                <a:solidFill>
                  <a:srgbClr val="1D4ED8"/>
                </a:solidFill>
                <a:latin typeface="Inter"/>
                <a:hlinkClick r:id="rId8"/>
              </a:rPr>
              <a:t>www.thefashionlaw.com/quince-beats-williams-sonoma-false-advertising-claims-over-product-comparisons/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 the Second Purchase</dc:title>
  <dc:subject>PptxGenJS Presentation</dc:subject>
  <dc:creator>Team G27</dc:creator>
  <cp:lastModifiedBy>Team G27</cp:lastModifiedBy>
  <cp:revision>1</cp:revision>
  <dcterms:created xsi:type="dcterms:W3CDTF">2026-10-17T11:30:17Z</dcterms:created>
  <dcterms:modified xsi:type="dcterms:W3CDTF">2026-10-17T11:30:17Z</dcterms:modified>
</cp:coreProperties>
</file>