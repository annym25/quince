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8"/>
    <p:sldId id="258" r:id="rId9"/>
    <p:sldId id="259" r:id="rId7"/>
    <p:sldId id="260" r:id="rId6"/>
    <p:sldId id="261" r:id="rId5"/>
    <p:sldId id="262" r:id="rId4"/>
    <p:sldId id="263" r:id="rId3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to remember: move $9M of the fixed $120M from rented to owned channels to win the second purchase, lifting 90-day repeat from 24% to about 31% and cutting blended CAC 12 to 14%, with no new budget and no discounts. Each row is the headline of the slide that proves it: market, customer, competition, capabilities, next steps. All three constraints are met.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Market: rented reach costs more every year. CAC is up 29% to $62, 60% of the budget sits on three social platforms whose rules Quince can't set, and only 5% goes to channels Quince owns. A $10 billion valuation needs a brand people come back to, not one that rents every customer.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Customer: traffic is not the problem. 77% of people who add to cart never order, and only one message follows 11,610 cart adds. After order one, engagement decides who comes back: 28.1% vs 4.7%. Week 2 is the peak, so we act in the first month.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Competition: a 20% discount code can be matched in a day; a triggered lifecycle program with a consented customer base takes 9 to 12 months to copy. Quince moves up the map: same price, owned relationship.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Capabilities: the data is ready, because CJA already stitches one person across web, app, email and SMS. What's missing is the lifecycle muscle: a cross-functional retention pod fed by shipping events. Every gap is costed, $6.0M in total, inside the $7.5M owned-channel build.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Next steps: only $4M moves first, out of paid social retargeting, in a South pilot with a 10% holdout. If they push on cutting paid social: we cut retargeting first, not prospecting, because it barely moves under any attribution model (12.9% to 12.4%) and pays for sales that would happen anyway; prospecting moves only in tranche 3 and only if a holdout proves it is over-credited. If they ask what happens if it fails: Gate 1 at month 3, the pilot must beat the holdout by 2 points on 30-day repeat, or the money goes back. Who decides: the holdout data, reviewed by a weekly growth and analytics council, not a budget fight. Close: approve tranche 1 on Monday.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g27v6-s2-image-1-1.png"/><Relationship Id="rId2" Type="http://schemas.openxmlformats.org/officeDocument/2006/relationships/image" Target="../media/g27v6-s2-image-1-2.png"/><Relationship Id="rId3" Type="http://schemas.openxmlformats.org/officeDocument/2006/relationships/image" Target="../media/g27v6-s2-image-1-3.png"/><Relationship Id="rId4" Type="http://schemas.openxmlformats.org/officeDocument/2006/relationships/image" Target="../media/g27v6-s2-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g27v6-s3-image-2-1.png"/><Relationship Id="rId2" Type="http://schemas.openxmlformats.org/officeDocument/2006/relationships/image" Target="../media/g27v6-s3-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g27v6-s4-image-3-1.png"/><Relationship Id="rId2" Type="http://schemas.openxmlformats.org/officeDocument/2006/relationships/image" Target="../media/g27v6-s4-image-3-2.png"/><Relationship Id="rId3" Type="http://schemas.openxmlformats.org/officeDocument/2006/relationships/image" Target="../media/g27v6-s4-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g27v6-s5-image-4-1.png"/><Relationship Id="rId2" Type="http://schemas.openxmlformats.org/officeDocument/2006/relationships/image" Target="../media/g27v6-s5-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g27v6-s6-image-5-1.png"/><Relationship Id="rId2" Type="http://schemas.openxmlformats.org/officeDocument/2006/relationships/image" Target="../media/g27v6-s6-image-5-2.png"/><Relationship Id="rId3" Type="http://schemas.openxmlformats.org/officeDocument/2006/relationships/image" Target="../media/g27v6-s6-image-5-3.png"/><Relationship Id="rId4" Type="http://schemas.openxmlformats.org/officeDocument/2006/relationships/image" Target="../media/g27v6-s6-image-5-4.png"/><Relationship Id="rId5" Type="http://schemas.openxmlformats.org/officeDocument/2006/relationships/image" Target="../media/g27v6-s6-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g27v6-s7-image-6-1.png"/><Relationship Id="rId2" Type="http://schemas.openxmlformats.org/officeDocument/2006/relationships/image" Target="../media/g27v6-s7-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Slide-1-image-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hyperlink" Target="https://doi.org/10.1287/mksc.2018.1135" TargetMode="External"/><Relationship Id="rId6" Type="http://schemas.openxmlformats.org/officeDocument/2006/relationships/hyperlink" Target="https://doi.org/10.3982/ECTA12423" TargetMode="External"/><Relationship Id="rId7" Type="http://schemas.openxmlformats.org/officeDocument/2006/relationships/hyperlink" Target="https://www.wusf.org/2026-05-22/shein-buys-everlane-which-sold-millennials-the-dream-of-ethical-affordable-luxury" TargetMode="External"/><Relationship Id="rId8" Type="http://schemas.openxmlformats.org/officeDocument/2006/relationships/hyperlink" Target="https://www.thefashionlaw.com/quince-beats-williams-sonoma-false-advertising-claims-over-product-comparison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Quince/7efe80ae-a049-50c2-9886-98bf7ca3a04a/scratchpad/assets/quince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72434"/>
            <a:ext cx="1188720" cy="354749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875520" y="5669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1488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 the Second Purchase</a:t>
            </a:r>
            <a:endParaRPr lang="en-US" sz="5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200400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Turning viral first buyers into repeat customers with the same $120M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640080" y="4343400"/>
            <a:ext cx="2148840" cy="868680"/>
          </a:xfrm>
          <a:prstGeom prst="roundRect">
            <a:avLst>
              <a:gd name="adj" fmla="val 10526"/>
            </a:avLst>
          </a:prstGeom>
          <a:solidFill>
            <a:srgbClr val="16306A"/>
          </a:solidFill>
          <a:ln w="9525">
            <a:solidFill>
              <a:srgbClr val="3554A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822960" y="4434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24% → 31%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846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90-day repeat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2971800" y="4343400"/>
            <a:ext cx="2148840" cy="868680"/>
          </a:xfrm>
          <a:prstGeom prst="roundRect">
            <a:avLst>
              <a:gd name="adj" fmla="val 10526"/>
            </a:avLst>
          </a:prstGeom>
          <a:solidFill>
            <a:srgbClr val="16306A"/>
          </a:solidFill>
          <a:ln w="9525">
            <a:solidFill>
              <a:srgbClr val="3554A0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3154680" y="4434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 to −14%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3154680" y="4846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CAC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303520" y="4343400"/>
            <a:ext cx="2148840" cy="868680"/>
          </a:xfrm>
          <a:prstGeom prst="roundRect">
            <a:avLst>
              <a:gd name="adj" fmla="val 10526"/>
            </a:avLst>
          </a:prstGeom>
          <a:solidFill>
            <a:srgbClr val="16306A"/>
          </a:solidFill>
          <a:ln w="9525">
            <a:solidFill>
              <a:srgbClr val="3554A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5486400" y="44348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0" y="48463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budget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58064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Retargeting and lifecycle strategy  ·  Grounded in Adobe Customer Journey Analytics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" y="610819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Case Competition World Cup  ·  Graduate Track  ·  October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Win the second purchase: repeat to 31%, same budget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Quince Case Data View, Jan–Apr 2026; case Exhibits D, G, H, J, M; team estimates. Lever effects are gross before haircuts; the base case nets them to 31%.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02920" y="1234440"/>
            <a:ext cx="11183112" cy="896112"/>
          </a:xfrm>
          <a:prstGeom prst="roundRect">
            <a:avLst>
              <a:gd name="adj" fmla="val 8163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02920" y="1234440"/>
            <a:ext cx="73152" cy="896112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77240" y="130759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Move $9M of the fixed $120M from rented to owned channels to win the second purchase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1719072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levers:  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 every buyer (★ Passport)  ·  Win the Golden Month (★ Material Journeys)  ·  Never pay twice (★ Never Pay Twice Engine)  ·  0 discounts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2971800" y="2423160"/>
            <a:ext cx="365760" cy="36576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97180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3520440" y="236829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Rising rented-reach costs put the $10B valuation at risk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3520440" y="2633472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CAC +29% to $62; 60% of the budget is rented from three social platforms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9948672" y="240487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 CAC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2971800" y="2907792"/>
            <a:ext cx="871423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71800" y="3026664"/>
            <a:ext cx="365760" cy="36576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97180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3520440" y="2971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Engagement after order one decides who buys twice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3520440" y="3236976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77% of carts never order; engaged buyers repeat 28.1% vs 4.7%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9948672" y="3008376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28.1% vs 4.7%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2971800" y="3511296"/>
            <a:ext cx="871423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971800" y="3630168"/>
            <a:ext cx="365760" cy="36576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971800" y="3630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520440" y="35753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Rivals copy a discount in a day, not trust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3520440" y="3840480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Amazon wins paid retargeting; Shein bought Everlane, whose email was no moat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9948672" y="3611880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day vs 9–12 mo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2971800" y="4114800"/>
            <a:ext cx="871423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2971800" y="4233672"/>
            <a:ext cx="365760" cy="36576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971800" y="42336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0"/>
          <p:cNvSpPr txBox="1"/>
          <p:nvPr/>
        </p:nvSpPr>
        <p:spPr>
          <a:xfrm>
            <a:off x="3520440" y="417880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is ready; the lifecycle muscle must be built</a:t>
            </a:r>
            <a:endParaRPr 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3520440" y="4443984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Identity is ready in CJA; team, app and activation are funded inside the $120M</a:t>
            </a:r>
            <a:endParaRPr lang="en-US" sz="950" dirty="0"/>
          </a:p>
        </p:txBody>
      </p:sp>
      <p:sp>
        <p:nvSpPr>
          <p:cNvPr id="35" name="Text 32"/>
          <p:cNvSpPr txBox="1"/>
          <p:nvPr/>
        </p:nvSpPr>
        <p:spPr>
          <a:xfrm>
            <a:off x="9948672" y="4215384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$6.0M funded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2971800" y="4718304"/>
            <a:ext cx="871423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2971800" y="4837176"/>
            <a:ext cx="365760" cy="365760"/>
          </a:xfrm>
          <a:prstGeom prst="ellips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2971800" y="4837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3520440" y="478231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 in 90 days, then scale by month nine</a:t>
            </a:r>
            <a:endParaRPr lang="en-US" sz="1250" dirty="0"/>
          </a:p>
        </p:txBody>
      </p:sp>
      <p:sp>
        <p:nvSpPr>
          <p:cNvPr id="40" name="Text 37"/>
          <p:cNvSpPr txBox="1"/>
          <p:nvPr/>
        </p:nvSpPr>
        <p:spPr>
          <a:xfrm>
            <a:off x="3520440" y="5047488"/>
            <a:ext cx="630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pilot with a 10% holdout; fail Gate 1 and the money goes back</a:t>
            </a:r>
            <a:endParaRPr lang="en-US" sz="950" dirty="0"/>
          </a:p>
        </p:txBody>
      </p:sp>
      <p:sp>
        <p:nvSpPr>
          <p:cNvPr id="41" name="Text 38"/>
          <p:cNvSpPr txBox="1"/>
          <p:nvPr/>
        </p:nvSpPr>
        <p:spPr>
          <a:xfrm>
            <a:off x="9948672" y="4818888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$4M moves first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502920" y="5468112"/>
            <a:ext cx="11183112" cy="786384"/>
          </a:xfrm>
          <a:prstGeom prst="roundRect">
            <a:avLst>
              <a:gd name="adj" fmla="val 9302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77240" y="5468112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24% → ~31%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90-day repeat (target ≥ 30%)</a:t>
            </a:r>
            <a:endParaRPr lang="en-US" sz="1200" dirty="0"/>
          </a:p>
        </p:txBody>
      </p:sp>
      <p:sp>
        <p:nvSpPr>
          <p:cNvPr id="44" name="Text 41"/>
          <p:cNvSpPr txBox="1"/>
          <p:nvPr/>
        </p:nvSpPr>
        <p:spPr>
          <a:xfrm>
            <a:off x="3246120" y="5468112"/>
            <a:ext cx="23774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 to −14%</a:t>
            </a:r>
            <a:endParaRPr lang="en-US" sz="1200" dirty="0"/>
          </a:p>
          <a:p>
            <a:pPr indent="0" marL="0">
              <a:buNone/>
            </a:pPr>
            <a:r>
              <a:rPr lang="en-US" sz="90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CAC (target −10%)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5760720" y="5623560"/>
            <a:ext cx="0" cy="475488"/>
          </a:xfrm>
          <a:prstGeom prst="line">
            <a:avLst/>
          </a:prstGeom>
          <a:noFill/>
          <a:ln w="9525">
            <a:solidFill>
              <a:srgbClr val="3554A0"/>
            </a:solidFill>
            <a:prstDash val="solid"/>
          </a:ln>
        </p:spPr>
      </p:sp>
      <p:pic>
        <p:nvPicPr>
          <p:cNvPr id="4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5751576"/>
            <a:ext cx="219456" cy="219456"/>
          </a:xfrm>
          <a:prstGeom prst="rect">
            <a:avLst/>
          </a:prstGeom>
        </p:spPr>
      </p:pic>
      <p:sp>
        <p:nvSpPr>
          <p:cNvPr id="47" name="Text 43"/>
          <p:cNvSpPr txBox="1"/>
          <p:nvPr/>
        </p:nvSpPr>
        <p:spPr>
          <a:xfrm>
            <a:off x="6263640" y="5468112"/>
            <a:ext cx="1627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budget increase</a:t>
            </a:r>
            <a:endParaRPr lang="en-US" sz="1050" dirty="0"/>
          </a:p>
        </p:txBody>
      </p:sp>
      <p:pic>
        <p:nvPicPr>
          <p:cNvPr id="4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1272" y="5751576"/>
            <a:ext cx="219456" cy="219456"/>
          </a:xfrm>
          <a:prstGeom prst="rect">
            <a:avLst/>
          </a:prstGeom>
        </p:spPr>
      </p:pic>
      <p:sp>
        <p:nvSpPr>
          <p:cNvPr id="49" name="Text 44"/>
          <p:cNvSpPr txBox="1"/>
          <p:nvPr/>
        </p:nvSpPr>
        <p:spPr>
          <a:xfrm>
            <a:off x="8165592" y="5468112"/>
            <a:ext cx="1627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price-led retention</a:t>
            </a:r>
            <a:endParaRPr lang="en-US" sz="1050" dirty="0"/>
          </a:p>
        </p:txBody>
      </p:sp>
      <p:pic>
        <p:nvPicPr>
          <p:cNvPr id="5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93224" y="5751576"/>
            <a:ext cx="219456" cy="219456"/>
          </a:xfrm>
          <a:prstGeom prst="rect">
            <a:avLst/>
          </a:prstGeom>
        </p:spPr>
      </p:pic>
      <p:sp>
        <p:nvSpPr>
          <p:cNvPr id="51" name="Text 45"/>
          <p:cNvSpPr txBox="1"/>
          <p:nvPr/>
        </p:nvSpPr>
        <p:spPr>
          <a:xfrm>
            <a:off x="10067544" y="5468112"/>
            <a:ext cx="162763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Grounded in Adobe CJA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Rising rented-reach costs put the $10B valuation at risk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Exhibits D, G, H (illustrative); Reuters (Mar 2026, $10.1B valuation); Adjust and AppsFlyer ATT opt-in benchmarks.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3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02920" y="1298448"/>
            <a:ext cx="457200" cy="54864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4173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$62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9385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blended CAC, up 29% in two years from $48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1280160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FY2026 paid marketing budget, $M (total $120M)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971800" y="17830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social prospecting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663440" y="1819656"/>
            <a:ext cx="2651760" cy="274320"/>
          </a:xfrm>
          <a:prstGeom prst="rect">
            <a:avLst/>
          </a:prstGeom>
          <a:solidFill>
            <a:srgbClr val="93B4F5"/>
          </a:solidFill>
          <a:ln w="6350">
            <a:solidFill>
              <a:srgbClr val="93B4F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88352" y="17830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$58M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2971800" y="233172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social retargeting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4663440" y="2368296"/>
            <a:ext cx="640080" cy="274320"/>
          </a:xfrm>
          <a:prstGeom prst="rect">
            <a:avLst/>
          </a:prstGeom>
          <a:solidFill>
            <a:srgbClr val="93B4F5"/>
          </a:solidFill>
          <a:ln w="6350">
            <a:solidFill>
              <a:srgbClr val="93B4F5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376672" y="233172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$14M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2971800" y="288036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search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663440" y="2916936"/>
            <a:ext cx="1005840" cy="274320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742432" y="288036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$22M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2971800" y="342900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Influencer / affiliate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663440" y="3465576"/>
            <a:ext cx="731520" cy="274320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5468112" y="342900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$16M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2971800" y="397764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Email, SMS, app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4663440" y="4014216"/>
            <a:ext cx="274320" cy="274320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010912" y="397764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$6M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2971800" y="4526280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Brand / other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663440" y="4562856"/>
            <a:ext cx="182880" cy="274320"/>
          </a:xfrm>
          <a:prstGeom prst="rect">
            <a:avLst/>
          </a:prstGeom>
          <a:solidFill>
            <a:srgbClr val="CBD5E1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919472" y="4526280"/>
            <a:ext cx="548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$4M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4663440" y="1755648"/>
            <a:ext cx="0" cy="3291840"/>
          </a:xfrm>
          <a:prstGeom prst="line">
            <a:avLst/>
          </a:prstGeom>
          <a:noFill/>
          <a:ln w="12700">
            <a:solidFill>
              <a:srgbClr val="0F172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532120" y="39776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← only 5% owned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7973568" y="1819656"/>
            <a:ext cx="0" cy="859536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882128" y="1819656"/>
            <a:ext cx="91440" cy="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882128" y="2679192"/>
            <a:ext cx="91440" cy="0"/>
          </a:xfrm>
          <a:prstGeom prst="line">
            <a:avLst/>
          </a:prstGeom>
          <a:noFill/>
          <a:ln w="15875">
            <a:solidFill>
              <a:srgbClr val="1D4ED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046720" y="192024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60%</a:t>
            </a:r>
            <a:endParaRPr lang="en-US" sz="1200" dirty="0"/>
          </a:p>
          <a:p>
            <a:pPr indent="0" marL="0">
              <a:buNone/>
            </a:pPr>
            <a:r>
              <a:rPr lang="en-US" sz="850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social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8275320" y="1289304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75320" y="1289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8732520" y="128016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Signal loss hits retargeting first</a:t>
            </a:r>
            <a:endParaRPr lang="en-US" sz="1150" dirty="0"/>
          </a:p>
        </p:txBody>
      </p:sp>
      <p:sp>
        <p:nvSpPr>
          <p:cNvPr id="40" name="Text 37"/>
          <p:cNvSpPr txBox="1"/>
          <p:nvPr/>
        </p:nvSpPr>
        <p:spPr>
          <a:xfrm>
            <a:off x="8732520" y="1581912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iOS opt-in is ~35–50%; Safari and Firefox block cookies. Retargeting's $31 CAC also counts sales that would happen anyway.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8275320" y="2615184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75320" y="2615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8732520" y="260604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Rising CAC threatens the valuation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8732520" y="2907792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$10.1B valuation (Mar 2026) prices in a lifestyle ecosystem, not a dupe that rents every customer.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8275320" y="3941064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275320" y="3941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393192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First-party data compounds</a:t>
            </a:r>
            <a:endParaRPr lang="en-US" sz="1150" dirty="0"/>
          </a:p>
        </p:txBody>
      </p:sp>
      <p:sp>
        <p:nvSpPr>
          <p:cNvPr id="48" name="Text 45"/>
          <p:cNvSpPr txBox="1"/>
          <p:nvPr/>
        </p:nvSpPr>
        <p:spPr>
          <a:xfrm>
            <a:off x="8732520" y="4233672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App-installed customers are worth $410 over three years vs $155 for web-only: 2.6×.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5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52" name="Text 48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rents 60% of its reach and spends just $1.43 per customer on the reach it owns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Engagement after order one decides who buys twice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Quince Case Data View, 1 Jan–30 Apr 2026, 60,000 people: Fallout, Flow, Cohort Table, segments A2/A5 (appendix 24–28). The price-signal mechanism is a hypothesis the pilot tests.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4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02920" y="1298448"/>
            <a:ext cx="457200" cy="54864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4173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28.1%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9385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 for engaged buyers vs 4.7% for the rest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12801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funnel breaks: people at each step (CJA Fallout)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108960" y="2194560"/>
            <a:ext cx="658368" cy="2926080"/>
          </a:xfrm>
          <a:prstGeom prst="rect">
            <a:avLst/>
          </a:prstGeom>
          <a:solidFill>
            <a:srgbClr val="93B4F5"/>
          </a:solidFill>
          <a:ln w="6350">
            <a:solidFill>
              <a:srgbClr val="93B4F5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889504" y="19659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60,000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2889504" y="51755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Landing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023360" y="3337560"/>
            <a:ext cx="658368" cy="1783080"/>
          </a:xfrm>
          <a:prstGeom prst="rect">
            <a:avLst/>
          </a:prstGeom>
          <a:solidFill>
            <a:srgbClr val="93B4F5"/>
          </a:solidFill>
          <a:ln w="6350">
            <a:solidFill>
              <a:srgbClr val="93B4F5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803904" y="310896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36,566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3803904" y="51755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 view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4937760" y="4572000"/>
            <a:ext cx="658368" cy="548640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718304" y="43434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11,339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4718304" y="51755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to cart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5852160" y="4837176"/>
            <a:ext cx="658368" cy="283464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632704" y="46085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5,818</a:t>
            </a:r>
            <a:endParaRPr lang="en-US" sz="1000" dirty="0"/>
          </a:p>
        </p:txBody>
      </p:sp>
      <p:sp>
        <p:nvSpPr>
          <p:cNvPr id="24" name="Text 21"/>
          <p:cNvSpPr txBox="1"/>
          <p:nvPr/>
        </p:nvSpPr>
        <p:spPr>
          <a:xfrm>
            <a:off x="5632704" y="51755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Checkout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6766560" y="4992624"/>
            <a:ext cx="658368" cy="128016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6547104" y="476402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2,592</a:t>
            </a:r>
            <a:endParaRPr lang="en-US" sz="1000" dirty="0"/>
          </a:p>
        </p:txBody>
      </p:sp>
      <p:sp>
        <p:nvSpPr>
          <p:cNvPr id="27" name="Text 24"/>
          <p:cNvSpPr txBox="1"/>
          <p:nvPr/>
        </p:nvSpPr>
        <p:spPr>
          <a:xfrm>
            <a:off x="6547104" y="517550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2971800" y="5120640"/>
            <a:ext cx="4572000" cy="0"/>
          </a:xfrm>
          <a:prstGeom prst="line">
            <a:avLst/>
          </a:prstGeom>
          <a:noFill/>
          <a:ln w="12700">
            <a:solidFill>
              <a:srgbClr val="0F172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4352544" y="2926080"/>
            <a:ext cx="914400" cy="0"/>
          </a:xfrm>
          <a:prstGeom prst="line">
            <a:avLst/>
          </a:prstGeom>
          <a:noFill/>
          <a:ln w="15875">
            <a:solidFill>
              <a:srgbClr val="DC262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4352544" y="2926080"/>
            <a:ext cx="0" cy="100584"/>
          </a:xfrm>
          <a:prstGeom prst="line">
            <a:avLst/>
          </a:prstGeom>
          <a:noFill/>
          <a:ln w="15875">
            <a:solidFill>
              <a:srgbClr val="DC262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5266944" y="2926080"/>
            <a:ext cx="0" cy="100584"/>
          </a:xfrm>
          <a:prstGeom prst="line">
            <a:avLst/>
          </a:prstGeom>
          <a:noFill/>
          <a:ln w="15875">
            <a:solidFill>
              <a:srgbClr val="DC2626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480560" y="2679192"/>
            <a:ext cx="658368" cy="256032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480560" y="2679192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−69%</a:t>
            </a:r>
            <a:endParaRPr lang="en-US" sz="1000" dirty="0"/>
          </a:p>
        </p:txBody>
      </p:sp>
      <p:sp>
        <p:nvSpPr>
          <p:cNvPr id="34" name="Shape 31"/>
          <p:cNvSpPr/>
          <p:nvPr/>
        </p:nvSpPr>
        <p:spPr>
          <a:xfrm>
            <a:off x="5266944" y="3886200"/>
            <a:ext cx="1828800" cy="0"/>
          </a:xfrm>
          <a:prstGeom prst="line">
            <a:avLst/>
          </a:prstGeom>
          <a:noFill/>
          <a:ln w="15875">
            <a:solidFill>
              <a:srgbClr val="DC2626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266944" y="3886200"/>
            <a:ext cx="0" cy="100584"/>
          </a:xfrm>
          <a:prstGeom prst="line">
            <a:avLst/>
          </a:prstGeom>
          <a:noFill/>
          <a:ln w="15875">
            <a:solidFill>
              <a:srgbClr val="DC262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095744" y="3886200"/>
            <a:ext cx="0" cy="100584"/>
          </a:xfrm>
          <a:prstGeom prst="line">
            <a:avLst/>
          </a:prstGeom>
          <a:noFill/>
          <a:ln w="15875">
            <a:solidFill>
              <a:srgbClr val="DC2626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852160" y="3639312"/>
            <a:ext cx="658368" cy="256032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5852160" y="3639312"/>
            <a:ext cx="6583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−77%</a:t>
            </a:r>
            <a:endParaRPr lang="en-US" sz="1000" dirty="0"/>
          </a:p>
        </p:txBody>
      </p:sp>
      <p:sp>
        <p:nvSpPr>
          <p:cNvPr id="39" name="Shape 36"/>
          <p:cNvSpPr/>
          <p:nvPr/>
        </p:nvSpPr>
        <p:spPr>
          <a:xfrm>
            <a:off x="6181344" y="3246120"/>
            <a:ext cx="0" cy="384048"/>
          </a:xfrm>
          <a:prstGeom prst="line">
            <a:avLst/>
          </a:prstGeom>
          <a:noFill/>
          <a:ln w="15875">
            <a:solidFill>
              <a:srgbClr val="DC2626"/>
            </a:solidFill>
            <a:prstDash val="dash"/>
          </a:ln>
        </p:spPr>
      </p:sp>
      <p:sp>
        <p:nvSpPr>
          <p:cNvPr id="40" name="Shape 37"/>
          <p:cNvSpPr/>
          <p:nvPr/>
        </p:nvSpPr>
        <p:spPr>
          <a:xfrm>
            <a:off x="5266944" y="2011680"/>
            <a:ext cx="251460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5875">
            <a:solidFill>
              <a:srgbClr val="DC2626"/>
            </a:solidFill>
            <a:prstDash val="solid"/>
          </a:ln>
          <a:effectLst>
            <a:outerShdw sx="100000" sy="100000" kx="0" ky="0" algn="bl" rotWithShape="0" blurRad="76200" dist="25400" dir="5400000">
              <a:srgbClr val="94A3B8">
                <a:alpha val="30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5394960" y="2130552"/>
            <a:ext cx="310896" cy="310896"/>
          </a:xfrm>
          <a:prstGeom prst="ellipse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pic>
        <p:nvPicPr>
          <p:cNvPr id="4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3357" y="2198949"/>
            <a:ext cx="174102" cy="174102"/>
          </a:xfrm>
          <a:prstGeom prst="rect">
            <a:avLst/>
          </a:prstGeom>
        </p:spPr>
      </p:pic>
      <p:sp>
        <p:nvSpPr>
          <p:cNvPr id="43" name="Text 39"/>
          <p:cNvSpPr txBox="1"/>
          <p:nvPr/>
        </p:nvSpPr>
        <p:spPr>
          <a:xfrm>
            <a:off x="5779008" y="2130552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signals quality</a:t>
            </a:r>
            <a:endParaRPr lang="en-US" sz="1100" dirty="0"/>
          </a:p>
        </p:txBody>
      </p:sp>
      <p:sp>
        <p:nvSpPr>
          <p:cNvPr id="44" name="Text 40"/>
          <p:cNvSpPr txBox="1"/>
          <p:nvPr/>
        </p:nvSpPr>
        <p:spPr>
          <a:xfrm>
            <a:off x="5394960" y="2487168"/>
            <a:ext cx="22860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Customers pause, assuming premium cashmere at half price is too good to be true. Proof, not discounts, closes the gap.</a:t>
            </a:r>
            <a:endParaRPr lang="en-US" sz="950" dirty="0"/>
          </a:p>
        </p:txBody>
      </p:sp>
      <p:sp>
        <p:nvSpPr>
          <p:cNvPr id="45" name="Shape 41"/>
          <p:cNvSpPr/>
          <p:nvPr/>
        </p:nvSpPr>
        <p:spPr>
          <a:xfrm>
            <a:off x="8275320" y="1289304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8275320" y="1289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47" name="Text 43"/>
          <p:cNvSpPr txBox="1"/>
          <p:nvPr/>
        </p:nvSpPr>
        <p:spPr>
          <a:xfrm>
            <a:off x="8732520" y="128016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message follows 11,610 cart adds</a:t>
            </a:r>
            <a:endParaRPr lang="en-US" sz="1150" dirty="0"/>
          </a:p>
        </p:txBody>
      </p:sp>
      <p:sp>
        <p:nvSpPr>
          <p:cNvPr id="48" name="Text 44"/>
          <p:cNvSpPr txBox="1"/>
          <p:nvPr/>
        </p:nvSpPr>
        <p:spPr>
          <a:xfrm>
            <a:off x="8732520" y="1581912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Cart abandoners hear nothing, so recovery is new money (Flow, A4).</a:t>
            </a:r>
            <a:endParaRPr lang="en-US" sz="950" dirty="0"/>
          </a:p>
        </p:txBody>
      </p:sp>
      <p:sp>
        <p:nvSpPr>
          <p:cNvPr id="49" name="Shape 45"/>
          <p:cNvSpPr/>
          <p:nvPr/>
        </p:nvSpPr>
        <p:spPr>
          <a:xfrm>
            <a:off x="8275320" y="2615184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8275320" y="2615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51" name="Text 47"/>
          <p:cNvSpPr txBox="1"/>
          <p:nvPr/>
        </p:nvSpPr>
        <p:spPr>
          <a:xfrm>
            <a:off x="8732520" y="260604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 2 is when buyers come back</a:t>
            </a:r>
            <a:endParaRPr lang="en-US" sz="1150" dirty="0"/>
          </a:p>
        </p:txBody>
      </p:sp>
      <p:sp>
        <p:nvSpPr>
          <p:cNvPr id="52" name="Text 48"/>
          <p:cNvSpPr txBox="1"/>
          <p:nvPr/>
        </p:nvSpPr>
        <p:spPr>
          <a:xfrm>
            <a:off x="8732520" y="2907792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5.6% of engaged buyers return in week 2 vs 2.1% of all buyers; half return in weeks 1–4 (Cohort).</a:t>
            </a:r>
            <a:endParaRPr lang="en-US" sz="950" dirty="0"/>
          </a:p>
        </p:txBody>
      </p:sp>
      <p:sp>
        <p:nvSpPr>
          <p:cNvPr id="53" name="Shape 49"/>
          <p:cNvSpPr/>
          <p:nvPr/>
        </p:nvSpPr>
        <p:spPr>
          <a:xfrm>
            <a:off x="8275320" y="3941064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8275320" y="3941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55" name="Text 51"/>
          <p:cNvSpPr txBox="1"/>
          <p:nvPr/>
        </p:nvSpPr>
        <p:spPr>
          <a:xfrm>
            <a:off x="8732520" y="393192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app keeps buyers: 21.5% repeat</a:t>
            </a:r>
            <a:endParaRPr lang="en-US" sz="1150" dirty="0"/>
          </a:p>
        </p:txBody>
      </p:sp>
      <p:sp>
        <p:nvSpPr>
          <p:cNvPr id="56" name="Text 52"/>
          <p:cNvSpPr txBox="1"/>
          <p:nvPr/>
        </p:nvSpPr>
        <p:spPr>
          <a:xfrm>
            <a:off x="8732520" y="4233672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users after order one repeat 4.6× the 4.7% non-engaged baseline (segments A2, A5).</a:t>
            </a:r>
            <a:endParaRPr lang="en-US" sz="950" dirty="0"/>
          </a:p>
        </p:txBody>
      </p:sp>
      <p:sp>
        <p:nvSpPr>
          <p:cNvPr id="57" name="Shape 53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5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60" name="Text 55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abandoners within hours, every buyer at delivery, engaged buyers in weeks 1–4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Rivals copy a discount in a day, not trust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 M; press on Shein's purchase of Everlane (May 2026); map positions and time-to-copy are team judgment.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5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02920" y="1298448"/>
            <a:ext cx="457200" cy="54864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4173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day </a:t>
            </a:r>
            <a:pPr indent="0" marL="0">
              <a:buNone/>
            </a:pPr>
            <a:r>
              <a:rPr lang="en-US" sz="1800" b="1" dirty="0">
                <a:solidFill>
                  <a:srgbClr val="16A3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 9–12 mo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9385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copy a 20% discount vs a 12-month lifecycle program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128016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vs depth of owned relationship (team judgment)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291840" y="1737360"/>
            <a:ext cx="0" cy="3246120"/>
          </a:xfrm>
          <a:prstGeom prst="line">
            <a:avLst/>
          </a:prstGeom>
          <a:noFill/>
          <a:ln w="12700">
            <a:solidFill>
              <a:srgbClr val="0F172A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91840" y="4983480"/>
            <a:ext cx="4572000" cy="0"/>
          </a:xfrm>
          <a:prstGeom prst="line">
            <a:avLst/>
          </a:prstGeom>
          <a:noFill/>
          <a:ln w="12700">
            <a:solidFill>
              <a:srgbClr val="0F172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577840" y="1737360"/>
            <a:ext cx="0" cy="3246120"/>
          </a:xfrm>
          <a:prstGeom prst="line">
            <a:avLst/>
          </a:prstGeom>
          <a:noFill/>
          <a:ln w="9525">
            <a:solidFill>
              <a:srgbClr val="D5DCE6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3291840" y="3360420"/>
            <a:ext cx="4572000" cy="0"/>
          </a:xfrm>
          <a:prstGeom prst="line">
            <a:avLst/>
          </a:prstGeom>
          <a:noFill/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291840" y="5029200"/>
            <a:ext cx="914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Value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4434840" y="5029200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Price position →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6949440" y="5029200"/>
            <a:ext cx="9144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Premium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 rot="16200000">
            <a:off x="1993392" y="3259836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relationship →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3648456" y="2039569"/>
            <a:ext cx="109728" cy="10972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794760" y="1993849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Amazon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3922776" y="2916022"/>
            <a:ext cx="109728" cy="10972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4069080" y="287030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Uniqlo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3557016" y="4149547"/>
            <a:ext cx="109728" cy="10972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703320" y="4103827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Shein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5660136" y="3760013"/>
            <a:ext cx="109728" cy="10972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806440" y="3714293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Everlane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6894576" y="3954780"/>
            <a:ext cx="109728" cy="10972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040880" y="3909060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Cuyana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6894576" y="2786177"/>
            <a:ext cx="109728" cy="10972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040880" y="2740457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Tapestry</a:t>
            </a:r>
            <a:endParaRPr lang="en-US" sz="950" dirty="0"/>
          </a:p>
        </p:txBody>
      </p:sp>
      <p:sp>
        <p:nvSpPr>
          <p:cNvPr id="33" name="Shape 30"/>
          <p:cNvSpPr/>
          <p:nvPr/>
        </p:nvSpPr>
        <p:spPr>
          <a:xfrm>
            <a:off x="6071616" y="2039569"/>
            <a:ext cx="109728" cy="109728"/>
          </a:xfrm>
          <a:prstGeom prst="ellipse">
            <a:avLst/>
          </a:prstGeom>
          <a:solidFill>
            <a:srgbClr val="94A3B8"/>
          </a:solidFill>
          <a:ln w="6350">
            <a:solidFill>
              <a:srgbClr val="94A3B8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217920" y="1993849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Williams-Sonoma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4937760" y="2171700"/>
            <a:ext cx="0" cy="2377440"/>
          </a:xfrm>
          <a:prstGeom prst="line">
            <a:avLst/>
          </a:prstGeom>
          <a:noFill/>
          <a:ln w="25400">
            <a:solidFill>
              <a:srgbClr val="1D4ED8"/>
            </a:solidFill>
            <a:prstDash val="solid"/>
            <a:headEnd type="triangle"/>
          </a:ln>
        </p:spPr>
      </p:sp>
      <p:sp>
        <p:nvSpPr>
          <p:cNvPr id="36" name="Shape 33"/>
          <p:cNvSpPr/>
          <p:nvPr/>
        </p:nvSpPr>
        <p:spPr>
          <a:xfrm>
            <a:off x="4846320" y="1970532"/>
            <a:ext cx="182880" cy="182880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074920" y="196138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target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4846320" y="4567428"/>
            <a:ext cx="182880" cy="1828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074920" y="4558284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today</a:t>
            </a:r>
            <a:endParaRPr lang="en-US" sz="950" dirty="0"/>
          </a:p>
        </p:txBody>
      </p:sp>
      <p:sp>
        <p:nvSpPr>
          <p:cNvPr id="40" name="Text 37"/>
          <p:cNvSpPr txBox="1"/>
          <p:nvPr/>
        </p:nvSpPr>
        <p:spPr>
          <a:xfrm>
            <a:off x="5010912" y="317754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price, owned relationship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8275320" y="1289304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275320" y="1289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8732520" y="128016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Value price, rented relationship</a:t>
            </a:r>
            <a:endParaRPr lang="en-US" sz="1150" dirty="0"/>
          </a:p>
        </p:txBody>
      </p:sp>
      <p:sp>
        <p:nvSpPr>
          <p:cNvPr id="44" name="Text 41"/>
          <p:cNvSpPr txBox="1"/>
          <p:nvPr/>
        </p:nvSpPr>
        <p:spPr>
          <a:xfrm>
            <a:off x="8732520" y="1581912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prices with Uniqlo and Shein but owns less of its customer than Williams-Sonoma or Tapestry. Amazon wins any paid-retargeting war.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8275320" y="2615184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8275320" y="26151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260604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Tactics copy in a quarter</a:t>
            </a:r>
            <a:endParaRPr lang="en-US" sz="1150" dirty="0"/>
          </a:p>
        </p:txBody>
      </p:sp>
      <p:sp>
        <p:nvSpPr>
          <p:cNvPr id="48" name="Text 45"/>
          <p:cNvSpPr txBox="1"/>
          <p:nvPr/>
        </p:nvSpPr>
        <p:spPr>
          <a:xfrm>
            <a:off x="8732520" y="2907792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Everlane's mature email program was no moat; Shein bought it in May 2026. A consented base plus M2C cost takes years.</a:t>
            </a:r>
            <a:endParaRPr lang="en-US" sz="950" dirty="0"/>
          </a:p>
        </p:txBody>
      </p:sp>
      <p:sp>
        <p:nvSpPr>
          <p:cNvPr id="49" name="Shape 46"/>
          <p:cNvSpPr/>
          <p:nvPr/>
        </p:nvSpPr>
        <p:spPr>
          <a:xfrm>
            <a:off x="8275320" y="3941064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275320" y="39410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393192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rivals escalate, hold price</a:t>
            </a:r>
            <a:endParaRPr lang="en-US" sz="1150" dirty="0"/>
          </a:p>
        </p:txBody>
      </p:sp>
      <p:sp>
        <p:nvSpPr>
          <p:cNvPr id="52" name="Text 49"/>
          <p:cNvSpPr txBox="1"/>
          <p:nvPr/>
        </p:nvSpPr>
        <p:spPr>
          <a:xfrm>
            <a:off x="8732520" y="4233672"/>
            <a:ext cx="295351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rivals discount or bid up audiences, Quince answers with proof and access, with owned share already 5% → 11%.</a:t>
            </a:r>
            <a:endParaRPr lang="en-US" sz="950" dirty="0"/>
          </a:p>
        </p:txBody>
      </p:sp>
      <p:sp>
        <p:nvSpPr>
          <p:cNvPr id="53" name="Shape 50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5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Quince's moat is M2C cost plus a known, consented, reachable customer base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is ready; the lifecycle muscle must be built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Exhibits I and L; team assessment; lifecycle roles at ~$200K loaded cost (team estimate). Costs sit inside the $7.5M owned-channel build.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6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02920" y="1298448"/>
            <a:ext cx="457200" cy="54864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4173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$6.0M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9385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funds every gap, inside the $7.5M owned-channel build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2971800" y="12801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batch-and-blast to logistics-integrated retention pods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2971800" y="1691640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BFDBF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136392" y="1837944"/>
            <a:ext cx="402336" cy="402336"/>
          </a:xfrm>
          <a:prstGeom prst="ellipse">
            <a:avLst/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4906" y="1926458"/>
            <a:ext cx="225308" cy="22530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3136392" y="2295144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Global factory and fulfillment APIs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3136392" y="269748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Ship · transit · delivered events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6163056" y="1691640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0A1F44"/>
          </a:solidFill>
          <a:ln w="15875">
            <a:solidFill>
              <a:srgbClr val="0A1F44"/>
            </a:solidFill>
            <a:prstDash val="solid"/>
          </a:ln>
          <a:effectLst>
            <a:outerShdw sx="100000" sy="100000" kx="0" ky="0" algn="bl" rotWithShape="0" blurRad="177800" dist="50800" dir="5400000">
              <a:srgbClr val="1D4ED8">
                <a:alpha val="5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27648" y="1837944"/>
            <a:ext cx="402336" cy="402336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162" y="1926458"/>
            <a:ext cx="225308" cy="225308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327648" y="2295144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Cross-functional retention pod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6327648" y="269748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C7D7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Marketing + merch + analytics</a:t>
            </a:r>
            <a:endParaRPr lang="en-US" sz="850" dirty="0"/>
          </a:p>
        </p:txBody>
      </p:sp>
      <p:sp>
        <p:nvSpPr>
          <p:cNvPr id="23" name="Shape 18"/>
          <p:cNvSpPr/>
          <p:nvPr/>
        </p:nvSpPr>
        <p:spPr>
          <a:xfrm>
            <a:off x="9354312" y="1691640"/>
            <a:ext cx="233172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5875">
            <a:solidFill>
              <a:srgbClr val="BFDBFE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9518904" y="1837944"/>
            <a:ext cx="402336" cy="402336"/>
          </a:xfrm>
          <a:prstGeom prst="ellipse">
            <a:avLst/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7418" y="1926458"/>
            <a:ext cx="225308" cy="225308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518904" y="2295144"/>
            <a:ext cx="2057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Triggered lifecycle workflows</a:t>
            </a:r>
            <a:endParaRPr lang="en-US" sz="1100" dirty="0"/>
          </a:p>
        </p:txBody>
      </p:sp>
      <p:sp>
        <p:nvSpPr>
          <p:cNvPr id="27" name="Text 21"/>
          <p:cNvSpPr txBox="1"/>
          <p:nvPr/>
        </p:nvSpPr>
        <p:spPr>
          <a:xfrm>
            <a:off x="9518904" y="2697480"/>
            <a:ext cx="2057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SMS · email · app, one frequency cap</a:t>
            </a:r>
            <a:endParaRPr 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7562088" y="1874520"/>
            <a:ext cx="786384" cy="31089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7562088" y="1874520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$2.8M</a:t>
            </a:r>
            <a:endParaRPr lang="en-US" sz="1150" dirty="0"/>
          </a:p>
        </p:txBody>
      </p:sp>
      <p:sp>
        <p:nvSpPr>
          <p:cNvPr id="30" name="Shape 24"/>
          <p:cNvSpPr/>
          <p:nvPr/>
        </p:nvSpPr>
        <p:spPr>
          <a:xfrm>
            <a:off x="5321808" y="17373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31" name="Text 25"/>
          <p:cNvSpPr txBox="1"/>
          <p:nvPr/>
        </p:nvSpPr>
        <p:spPr>
          <a:xfrm>
            <a:off x="5321808" y="17373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$2.0M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5413248" y="2167128"/>
            <a:ext cx="640080" cy="292608"/>
          </a:xfrm>
          <a:prstGeom prst="rightArrow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  <a:effectLst>
            <a:outerShdw sx="100000" sy="100000" kx="0" ky="0" algn="bl" rotWithShape="0" blurRad="101600" dist="50800" dir="5400000">
              <a:srgbClr val="2563EB">
                <a:alpha val="45000"/>
              </a:srgbClr>
            </a:outerShdw>
          </a:effectLst>
        </p:spPr>
      </p:sp>
      <p:sp>
        <p:nvSpPr>
          <p:cNvPr id="33" name="Text 27"/>
          <p:cNvSpPr txBox="1"/>
          <p:nvPr/>
        </p:nvSpPr>
        <p:spPr>
          <a:xfrm>
            <a:off x="5321808" y="25146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CJA activation + measurement</a:t>
            </a:r>
            <a:endParaRPr lang="en-US" sz="750" dirty="0"/>
          </a:p>
        </p:txBody>
      </p:sp>
      <p:sp>
        <p:nvSpPr>
          <p:cNvPr id="34" name="Shape 28"/>
          <p:cNvSpPr/>
          <p:nvPr/>
        </p:nvSpPr>
        <p:spPr>
          <a:xfrm>
            <a:off x="8513064" y="173736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9525">
            <a:solidFill>
              <a:srgbClr val="BFDBFE"/>
            </a:solidFill>
            <a:prstDash val="solid"/>
          </a:ln>
        </p:spPr>
      </p:sp>
      <p:sp>
        <p:nvSpPr>
          <p:cNvPr id="35" name="Text 29"/>
          <p:cNvSpPr txBox="1"/>
          <p:nvPr/>
        </p:nvSpPr>
        <p:spPr>
          <a:xfrm>
            <a:off x="8513064" y="173736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$1.2M</a:t>
            </a:r>
            <a:endParaRPr lang="en-US" sz="1100" dirty="0"/>
          </a:p>
        </p:txBody>
      </p:sp>
      <p:sp>
        <p:nvSpPr>
          <p:cNvPr id="36" name="Shape 30"/>
          <p:cNvSpPr/>
          <p:nvPr/>
        </p:nvSpPr>
        <p:spPr>
          <a:xfrm>
            <a:off x="8604504" y="2167128"/>
            <a:ext cx="640080" cy="292608"/>
          </a:xfrm>
          <a:prstGeom prst="rightArrow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  <a:effectLst>
            <a:outerShdw sx="100000" sy="100000" kx="0" ky="0" algn="bl" rotWithShape="0" blurRad="101600" dist="50800" dir="5400000">
              <a:srgbClr val="2563EB">
                <a:alpha val="45000"/>
              </a:srgbClr>
            </a:outerShdw>
          </a:effectLst>
        </p:spPr>
      </p:sp>
      <p:sp>
        <p:nvSpPr>
          <p:cNvPr id="37" name="Text 31"/>
          <p:cNvSpPr txBox="1"/>
          <p:nvPr/>
        </p:nvSpPr>
        <p:spPr>
          <a:xfrm>
            <a:off x="8513064" y="2514600"/>
            <a:ext cx="822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 tracking, care, restock</a:t>
            </a:r>
            <a:endParaRPr lang="en-US" sz="750" dirty="0"/>
          </a:p>
        </p:txBody>
      </p:sp>
      <p:sp>
        <p:nvSpPr>
          <p:cNvPr id="38" name="Text 32"/>
          <p:cNvSpPr txBox="1"/>
          <p:nvPr/>
        </p:nvSpPr>
        <p:spPr>
          <a:xfrm>
            <a:off x="2971800" y="3200400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and identity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2971800" y="3456432"/>
            <a:ext cx="23317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Shape 34"/>
          <p:cNvSpPr/>
          <p:nvPr/>
        </p:nvSpPr>
        <p:spPr>
          <a:xfrm>
            <a:off x="2971800" y="3611880"/>
            <a:ext cx="109728" cy="109728"/>
          </a:xfrm>
          <a:prstGeom prst="ellipse">
            <a:avLst/>
          </a:prstGeom>
          <a:solidFill>
            <a:srgbClr val="16A34A"/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41" name="Text 35"/>
          <p:cNvSpPr txBox="1"/>
          <p:nvPr/>
        </p:nvSpPr>
        <p:spPr>
          <a:xfrm>
            <a:off x="3154680" y="354787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Identity</a:t>
            </a:r>
            <a:endParaRPr lang="en-US" sz="950" dirty="0"/>
          </a:p>
        </p:txBody>
      </p:sp>
      <p:sp>
        <p:nvSpPr>
          <p:cNvPr id="42" name="Text 36"/>
          <p:cNvSpPr txBox="1"/>
          <p:nvPr/>
        </p:nvSpPr>
        <p:spPr>
          <a:xfrm>
            <a:off x="3154680" y="377647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6A3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Ready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Head of Analytics · now</a:t>
            </a:r>
            <a:endParaRPr lang="en-US" sz="850" dirty="0"/>
          </a:p>
        </p:txBody>
      </p:sp>
      <p:sp>
        <p:nvSpPr>
          <p:cNvPr id="43" name="Text 37"/>
          <p:cNvSpPr txBox="1"/>
          <p:nvPr/>
        </p:nvSpPr>
        <p:spPr>
          <a:xfrm>
            <a:off x="4709160" y="35478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</a:t>
            </a:r>
            <a:endParaRPr lang="en-US" sz="1000" dirty="0"/>
          </a:p>
        </p:txBody>
      </p:sp>
      <p:sp>
        <p:nvSpPr>
          <p:cNvPr id="44" name="Shape 38"/>
          <p:cNvSpPr/>
          <p:nvPr/>
        </p:nvSpPr>
        <p:spPr>
          <a:xfrm>
            <a:off x="2971800" y="4142232"/>
            <a:ext cx="109728" cy="109728"/>
          </a:xfrm>
          <a:prstGeom prst="ellipse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5" name="Text 39"/>
          <p:cNvSpPr txBox="1"/>
          <p:nvPr/>
        </p:nvSpPr>
        <p:spPr>
          <a:xfrm>
            <a:off x="3154680" y="407822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Measurement</a:t>
            </a:r>
            <a:endParaRPr lang="en-US" sz="950" dirty="0"/>
          </a:p>
        </p:txBody>
      </p:sp>
      <p:sp>
        <p:nvSpPr>
          <p:cNvPr id="46" name="Text 40"/>
          <p:cNvSpPr txBox="1"/>
          <p:nvPr/>
        </p:nvSpPr>
        <p:spPr>
          <a:xfrm>
            <a:off x="3154680" y="4306824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Analytics + CRM · month 2</a:t>
            </a:r>
            <a:endParaRPr lang="en-US" sz="850" dirty="0"/>
          </a:p>
        </p:txBody>
      </p:sp>
      <p:sp>
        <p:nvSpPr>
          <p:cNvPr id="47" name="Text 41"/>
          <p:cNvSpPr txBox="1"/>
          <p:nvPr/>
        </p:nvSpPr>
        <p:spPr>
          <a:xfrm>
            <a:off x="4709160" y="4078224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$0.5M</a:t>
            </a:r>
            <a:endParaRPr lang="en-US" sz="1000" dirty="0"/>
          </a:p>
        </p:txBody>
      </p:sp>
      <p:sp>
        <p:nvSpPr>
          <p:cNvPr id="48" name="Shape 42"/>
          <p:cNvSpPr/>
          <p:nvPr/>
        </p:nvSpPr>
        <p:spPr>
          <a:xfrm>
            <a:off x="2971800" y="4672584"/>
            <a:ext cx="109728" cy="109728"/>
          </a:xfrm>
          <a:prstGeom prst="ellipse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9" name="Text 43"/>
          <p:cNvSpPr txBox="1"/>
          <p:nvPr/>
        </p:nvSpPr>
        <p:spPr>
          <a:xfrm>
            <a:off x="3154680" y="4608576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Consent split</a:t>
            </a:r>
            <a:endParaRPr lang="en-US" sz="950" dirty="0"/>
          </a:p>
        </p:txBody>
      </p:sp>
      <p:sp>
        <p:nvSpPr>
          <p:cNvPr id="50" name="Text 44"/>
          <p:cNvSpPr txBox="1"/>
          <p:nvPr/>
        </p:nvSpPr>
        <p:spPr>
          <a:xfrm>
            <a:off x="3154680" y="4837176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Legal + CRM · month 2</a:t>
            </a:r>
            <a:endParaRPr lang="en-US" sz="850" dirty="0"/>
          </a:p>
        </p:txBody>
      </p:sp>
      <p:sp>
        <p:nvSpPr>
          <p:cNvPr id="51" name="Text 45"/>
          <p:cNvSpPr txBox="1"/>
          <p:nvPr/>
        </p:nvSpPr>
        <p:spPr>
          <a:xfrm>
            <a:off x="4709160" y="4608576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</a:t>
            </a:r>
            <a:endParaRPr lang="en-US" sz="1000" dirty="0"/>
          </a:p>
        </p:txBody>
      </p:sp>
      <p:sp>
        <p:nvSpPr>
          <p:cNvPr id="52" name="Text 46"/>
          <p:cNvSpPr txBox="1"/>
          <p:nvPr/>
        </p:nvSpPr>
        <p:spPr>
          <a:xfrm>
            <a:off x="6163056" y="3200400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Lifecycle capacity</a:t>
            </a:r>
            <a:endParaRPr lang="en-US" sz="1050" dirty="0"/>
          </a:p>
        </p:txBody>
      </p:sp>
      <p:sp>
        <p:nvSpPr>
          <p:cNvPr id="53" name="Shape 47"/>
          <p:cNvSpPr/>
          <p:nvPr/>
        </p:nvSpPr>
        <p:spPr>
          <a:xfrm>
            <a:off x="6163056" y="3456432"/>
            <a:ext cx="23317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54" name="Shape 48"/>
          <p:cNvSpPr/>
          <p:nvPr/>
        </p:nvSpPr>
        <p:spPr>
          <a:xfrm>
            <a:off x="6163056" y="3611880"/>
            <a:ext cx="109728" cy="109728"/>
          </a:xfrm>
          <a:prstGeom prst="ellipse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55" name="Text 49"/>
          <p:cNvSpPr txBox="1"/>
          <p:nvPr/>
        </p:nvSpPr>
        <p:spPr>
          <a:xfrm>
            <a:off x="6345936" y="354787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Lifecycle team + creative</a:t>
            </a:r>
            <a:endParaRPr lang="en-US" sz="950" dirty="0"/>
          </a:p>
        </p:txBody>
      </p:sp>
      <p:sp>
        <p:nvSpPr>
          <p:cNvPr id="56" name="Text 50"/>
          <p:cNvSpPr txBox="1"/>
          <p:nvPr/>
        </p:nvSpPr>
        <p:spPr>
          <a:xfrm>
            <a:off x="6345936" y="377647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CMO · month 6</a:t>
            </a:r>
            <a:endParaRPr lang="en-US" sz="850" dirty="0"/>
          </a:p>
        </p:txBody>
      </p:sp>
      <p:sp>
        <p:nvSpPr>
          <p:cNvPr id="57" name="Text 51"/>
          <p:cNvSpPr txBox="1"/>
          <p:nvPr/>
        </p:nvSpPr>
        <p:spPr>
          <a:xfrm>
            <a:off x="7900416" y="35478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$2.8M</a:t>
            </a:r>
            <a:endParaRPr lang="en-US" sz="1000" dirty="0"/>
          </a:p>
        </p:txBody>
      </p:sp>
      <p:sp>
        <p:nvSpPr>
          <p:cNvPr id="58" name="Shape 52"/>
          <p:cNvSpPr/>
          <p:nvPr/>
        </p:nvSpPr>
        <p:spPr>
          <a:xfrm>
            <a:off x="6163056" y="4142232"/>
            <a:ext cx="109728" cy="109728"/>
          </a:xfrm>
          <a:prstGeom prst="ellipse">
            <a:avLst/>
          </a:prstGeom>
          <a:solidFill>
            <a:srgbClr val="DC2626"/>
          </a:solidFill>
          <a:ln w="6350">
            <a:solidFill>
              <a:srgbClr val="DC2626"/>
            </a:solidFill>
            <a:prstDash val="solid"/>
          </a:ln>
        </p:spPr>
      </p:sp>
      <p:sp>
        <p:nvSpPr>
          <p:cNvPr id="59" name="Text 53"/>
          <p:cNvSpPr txBox="1"/>
          <p:nvPr/>
        </p:nvSpPr>
        <p:spPr>
          <a:xfrm>
            <a:off x="6345936" y="407822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Incentives off ROAS</a:t>
            </a:r>
            <a:endParaRPr lang="en-US" sz="950" dirty="0"/>
          </a:p>
        </p:txBody>
      </p:sp>
      <p:sp>
        <p:nvSpPr>
          <p:cNvPr id="60" name="Text 54"/>
          <p:cNvSpPr txBox="1"/>
          <p:nvPr/>
        </p:nvSpPr>
        <p:spPr>
          <a:xfrm>
            <a:off x="6345936" y="4306824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C26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Missing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CMO + CFO · month 3</a:t>
            </a:r>
            <a:endParaRPr lang="en-US" sz="850" dirty="0"/>
          </a:p>
        </p:txBody>
      </p:sp>
      <p:sp>
        <p:nvSpPr>
          <p:cNvPr id="61" name="Text 55"/>
          <p:cNvSpPr txBox="1"/>
          <p:nvPr/>
        </p:nvSpPr>
        <p:spPr>
          <a:xfrm>
            <a:off x="7900416" y="4078224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</a:t>
            </a:r>
            <a:endParaRPr lang="en-US" sz="1000" dirty="0"/>
          </a:p>
        </p:txBody>
      </p:sp>
      <p:sp>
        <p:nvSpPr>
          <p:cNvPr id="62" name="Shape 56"/>
          <p:cNvSpPr/>
          <p:nvPr/>
        </p:nvSpPr>
        <p:spPr>
          <a:xfrm>
            <a:off x="6163056" y="4672584"/>
            <a:ext cx="109728" cy="109728"/>
          </a:xfrm>
          <a:prstGeom prst="ellipse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63" name="Text 57"/>
          <p:cNvSpPr txBox="1"/>
          <p:nvPr/>
        </p:nvSpPr>
        <p:spPr>
          <a:xfrm>
            <a:off x="6345936" y="4608576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Growth–analytics council</a:t>
            </a:r>
            <a:endParaRPr lang="en-US" sz="950" dirty="0"/>
          </a:p>
        </p:txBody>
      </p:sp>
      <p:sp>
        <p:nvSpPr>
          <p:cNvPr id="64" name="Text 58"/>
          <p:cNvSpPr txBox="1"/>
          <p:nvPr/>
        </p:nvSpPr>
        <p:spPr>
          <a:xfrm>
            <a:off x="6345936" y="4837176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CMO + Analytics · week 1</a:t>
            </a:r>
            <a:endParaRPr lang="en-US" sz="850" dirty="0"/>
          </a:p>
        </p:txBody>
      </p:sp>
      <p:sp>
        <p:nvSpPr>
          <p:cNvPr id="65" name="Text 59"/>
          <p:cNvSpPr txBox="1"/>
          <p:nvPr/>
        </p:nvSpPr>
        <p:spPr>
          <a:xfrm>
            <a:off x="7900416" y="4608576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$0</a:t>
            </a:r>
            <a:endParaRPr lang="en-US" sz="1000" dirty="0"/>
          </a:p>
        </p:txBody>
      </p:sp>
      <p:sp>
        <p:nvSpPr>
          <p:cNvPr id="66" name="Text 60"/>
          <p:cNvSpPr txBox="1"/>
          <p:nvPr/>
        </p:nvSpPr>
        <p:spPr>
          <a:xfrm>
            <a:off x="9354312" y="3200400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Activation and product</a:t>
            </a:r>
            <a:endParaRPr lang="en-US" sz="1050" dirty="0"/>
          </a:p>
        </p:txBody>
      </p:sp>
      <p:sp>
        <p:nvSpPr>
          <p:cNvPr id="67" name="Shape 61"/>
          <p:cNvSpPr/>
          <p:nvPr/>
        </p:nvSpPr>
        <p:spPr>
          <a:xfrm>
            <a:off x="9354312" y="3456432"/>
            <a:ext cx="2331720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8" name="Shape 62"/>
          <p:cNvSpPr/>
          <p:nvPr/>
        </p:nvSpPr>
        <p:spPr>
          <a:xfrm>
            <a:off x="9354312" y="3611880"/>
            <a:ext cx="109728" cy="109728"/>
          </a:xfrm>
          <a:prstGeom prst="ellipse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69" name="Text 63"/>
          <p:cNvSpPr txBox="1"/>
          <p:nvPr/>
        </p:nvSpPr>
        <p:spPr>
          <a:xfrm>
            <a:off x="9537192" y="3547872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CJA audiences live</a:t>
            </a:r>
            <a:endParaRPr lang="en-US" sz="950" dirty="0"/>
          </a:p>
        </p:txBody>
      </p:sp>
      <p:sp>
        <p:nvSpPr>
          <p:cNvPr id="70" name="Text 64"/>
          <p:cNvSpPr txBox="1"/>
          <p:nvPr/>
        </p:nvSpPr>
        <p:spPr>
          <a:xfrm>
            <a:off x="9537192" y="3776472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Marketing ops · month 3</a:t>
            </a:r>
            <a:endParaRPr lang="en-US" sz="850" dirty="0"/>
          </a:p>
        </p:txBody>
      </p:sp>
      <p:sp>
        <p:nvSpPr>
          <p:cNvPr id="71" name="Text 65"/>
          <p:cNvSpPr txBox="1"/>
          <p:nvPr/>
        </p:nvSpPr>
        <p:spPr>
          <a:xfrm>
            <a:off x="11091672" y="3547872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$1.5M</a:t>
            </a:r>
            <a:endParaRPr lang="en-US" sz="1000" dirty="0"/>
          </a:p>
        </p:txBody>
      </p:sp>
      <p:sp>
        <p:nvSpPr>
          <p:cNvPr id="72" name="Shape 66"/>
          <p:cNvSpPr/>
          <p:nvPr/>
        </p:nvSpPr>
        <p:spPr>
          <a:xfrm>
            <a:off x="9354312" y="4142232"/>
            <a:ext cx="109728" cy="109728"/>
          </a:xfrm>
          <a:prstGeom prst="ellipse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73" name="Text 67"/>
          <p:cNvSpPr txBox="1"/>
          <p:nvPr/>
        </p:nvSpPr>
        <p:spPr>
          <a:xfrm>
            <a:off x="9537192" y="4078224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App: tracking + care</a:t>
            </a:r>
            <a:endParaRPr lang="en-US" sz="950" dirty="0"/>
          </a:p>
        </p:txBody>
      </p:sp>
      <p:sp>
        <p:nvSpPr>
          <p:cNvPr id="74" name="Text 68"/>
          <p:cNvSpPr txBox="1"/>
          <p:nvPr/>
        </p:nvSpPr>
        <p:spPr>
          <a:xfrm>
            <a:off x="9537192" y="4306824"/>
            <a:ext cx="2148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· CPO, app squad · month 6</a:t>
            </a:r>
            <a:endParaRPr lang="en-US" sz="850" dirty="0"/>
          </a:p>
        </p:txBody>
      </p:sp>
      <p:sp>
        <p:nvSpPr>
          <p:cNvPr id="75" name="Text 69"/>
          <p:cNvSpPr txBox="1"/>
          <p:nvPr/>
        </p:nvSpPr>
        <p:spPr>
          <a:xfrm>
            <a:off x="11091672" y="4078224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$1.2M</a:t>
            </a:r>
            <a:endParaRPr lang="en-US" sz="1000" dirty="0"/>
          </a:p>
        </p:txBody>
      </p:sp>
      <p:sp>
        <p:nvSpPr>
          <p:cNvPr id="76" name="Shape 70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77" name="Shape 71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7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79" name="Text 72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gap is funded inside the $120M, and a weekly growth–analytics council decides each tranche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 in 90 days, then scale by month nine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team plan; case Exhibits G, I; CJA A6. Pilot sized to detect 30-day repeat 7% → 9% at 80% power; T3 moves only on holdout proof.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7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502920" y="1298448"/>
            <a:ext cx="457200" cy="54864"/>
          </a:xfrm>
          <a:prstGeom prst="rect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14173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$4M</a:t>
            </a:r>
            <a:endParaRPr lang="en-US" sz="30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938528"/>
            <a:ext cx="2148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all that moves first, and it returns if Gate 1 fails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971800" y="1280160"/>
            <a:ext cx="2935224" cy="438912"/>
          </a:xfrm>
          <a:prstGeom prst="homePlate">
            <a:avLst/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108960" y="1280160"/>
            <a:ext cx="2386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PROVE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Months 0–3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07024" y="1280160"/>
            <a:ext cx="2935224" cy="438912"/>
          </a:xfrm>
          <a:prstGeom prst="chevron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27064" y="1280160"/>
            <a:ext cx="2386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Months 3–9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842248" y="1280160"/>
            <a:ext cx="2843784" cy="438912"/>
          </a:xfrm>
          <a:prstGeom prst="chevron">
            <a:avLst/>
          </a:prstGeom>
          <a:solidFill>
            <a:srgbClr val="DBEAFE"/>
          </a:solidFill>
          <a:ln w="6350">
            <a:solidFill>
              <a:srgbClr val="DBEAF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162288" y="1280160"/>
            <a:ext cx="23865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SCALE  </a:t>
            </a:r>
            <a:pPr indent="0" marL="0">
              <a:buNone/>
            </a:pPr>
            <a:r>
              <a:rPr lang="en-US" sz="1100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Months 9–18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2971800" y="1810512"/>
            <a:ext cx="8714232" cy="274320"/>
          </a:xfrm>
          <a:prstGeom prst="roundRect">
            <a:avLst>
              <a:gd name="adj" fmla="val 50000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971800" y="1810512"/>
            <a:ext cx="8714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Throughout: weekly CJA council of analytics, paid media, CRM and finance · randomized holdout on every tranche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2971800" y="2240280"/>
            <a:ext cx="2843784" cy="310896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971800" y="2240280"/>
            <a:ext cx="2843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T1: −$4M retargeting → owned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3044952" y="2825496"/>
            <a:ext cx="73152" cy="7315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191256" y="2743200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pilot: 28.6% of buyers, 10% holdout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3044952" y="3154680"/>
            <a:ext cx="73152" cy="7315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191256" y="3072384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Quince Passport card in every box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3044952" y="3483864"/>
            <a:ext cx="73152" cy="7315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191256" y="3401568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Saved Cart reminders at 1h and 24h</a:t>
            </a:r>
            <a:endParaRPr lang="en-US" sz="950" dirty="0"/>
          </a:p>
        </p:txBody>
      </p:sp>
      <p:sp>
        <p:nvSpPr>
          <p:cNvPr id="28" name="Shape 25"/>
          <p:cNvSpPr/>
          <p:nvPr/>
        </p:nvSpPr>
        <p:spPr>
          <a:xfrm>
            <a:off x="3044952" y="3813048"/>
            <a:ext cx="73152" cy="7315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3191256" y="3730752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Order tracking opens in the app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2971800" y="4160520"/>
            <a:ext cx="2843784" cy="1261872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3108960" y="4279392"/>
            <a:ext cx="219456" cy="219456"/>
          </a:xfrm>
          <a:prstGeom prst="diamond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410712" y="4261104"/>
            <a:ext cx="2295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 1 · month 3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3108960" y="4572000"/>
            <a:ext cx="2569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 beats holdout by ≥ 2 pts on 30-day repeat; new customers fall &lt; 2%</a:t>
            </a:r>
            <a:endParaRPr lang="en-US" sz="950" dirty="0"/>
          </a:p>
        </p:txBody>
      </p:sp>
      <p:sp>
        <p:nvSpPr>
          <p:cNvPr id="34" name="Text 31"/>
          <p:cNvSpPr txBox="1"/>
          <p:nvPr/>
        </p:nvSpPr>
        <p:spPr>
          <a:xfrm>
            <a:off x="3108960" y="5074920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Pass → release T2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5907024" y="2240280"/>
            <a:ext cx="2843784" cy="310896"/>
          </a:xfrm>
          <a:prstGeom prst="roundRect">
            <a:avLst>
              <a:gd name="adj" fmla="val 50000"/>
            </a:avLst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907024" y="2240280"/>
            <a:ext cx="2843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T2: −$3M search · T3: −$2M if proven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5980176" y="2825496"/>
            <a:ext cx="73152" cy="7315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6126480" y="2743200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Journeys: cashmere → linen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5980176" y="3154680"/>
            <a:ext cx="73152" cy="7315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26480" y="3072384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Care Calendar, Gift Ledger, Quince Insider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980176" y="3483864"/>
            <a:ext cx="73152" cy="7315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126480" y="3401568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Lookalikes on half of prospecting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5980176" y="3813048"/>
            <a:ext cx="73152" cy="7315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6126480" y="3730752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Proof Creators on product pages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5907024" y="4160520"/>
            <a:ext cx="2843784" cy="1261872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044184" y="4279392"/>
            <a:ext cx="219456" cy="219456"/>
          </a:xfrm>
          <a:prstGeom prst="diamond">
            <a:avLst/>
          </a:prstGeom>
          <a:solidFill>
            <a:srgbClr val="D97706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345936" y="4261104"/>
            <a:ext cx="2295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 2 · month 9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6044184" y="4572000"/>
            <a:ext cx="2569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90-day repeat ≥ 28%; effective CAC ≤ $58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6044184" y="5074920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Pass → national rollout</a:t>
            </a:r>
            <a:endParaRPr lang="en-US" sz="950" dirty="0"/>
          </a:p>
        </p:txBody>
      </p:sp>
      <p:sp>
        <p:nvSpPr>
          <p:cNvPr id="50" name="Shape 47"/>
          <p:cNvSpPr/>
          <p:nvPr/>
        </p:nvSpPr>
        <p:spPr>
          <a:xfrm>
            <a:off x="8842248" y="2240280"/>
            <a:ext cx="2843784" cy="310896"/>
          </a:xfrm>
          <a:prstGeom prst="roundRect">
            <a:avLst>
              <a:gd name="adj" fmla="val 50000"/>
            </a:avLst>
          </a:prstGeom>
          <a:solidFill>
            <a:srgbClr val="93B4F5"/>
          </a:solidFill>
          <a:ln w="6350">
            <a:solidFill>
              <a:srgbClr val="93B4F5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8842248" y="2240280"/>
            <a:ext cx="28437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share 5% → 11% of budget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8915400" y="2825496"/>
            <a:ext cx="73152" cy="7315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9061704" y="2743200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National rollout: Midwest, then Canada</a:t>
            </a:r>
            <a:endParaRPr lang="en-US" sz="950" dirty="0"/>
          </a:p>
        </p:txBody>
      </p:sp>
      <p:sp>
        <p:nvSpPr>
          <p:cNvPr id="54" name="Shape 51"/>
          <p:cNvSpPr/>
          <p:nvPr/>
        </p:nvSpPr>
        <p:spPr>
          <a:xfrm>
            <a:off x="8915400" y="3154680"/>
            <a:ext cx="73152" cy="7315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061704" y="3072384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Beauty Refill, Cashmere Second Life</a:t>
            </a:r>
            <a:endParaRPr lang="en-US" sz="950" dirty="0"/>
          </a:p>
        </p:txBody>
      </p:sp>
      <p:sp>
        <p:nvSpPr>
          <p:cNvPr id="56" name="Shape 53"/>
          <p:cNvSpPr/>
          <p:nvPr/>
        </p:nvSpPr>
        <p:spPr>
          <a:xfrm>
            <a:off x="8915400" y="3483864"/>
            <a:ext cx="73152" cy="7315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9061704" y="3401568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Restock-First Waitlist on sell-outs</a:t>
            </a:r>
            <a:endParaRPr lang="en-US" sz="950" dirty="0"/>
          </a:p>
        </p:txBody>
      </p:sp>
      <p:sp>
        <p:nvSpPr>
          <p:cNvPr id="58" name="Shape 55"/>
          <p:cNvSpPr/>
          <p:nvPr/>
        </p:nvSpPr>
        <p:spPr>
          <a:xfrm>
            <a:off x="8915400" y="3813048"/>
            <a:ext cx="73152" cy="73152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9061704" y="3730752"/>
            <a:ext cx="25877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+$1.5M to proof creators, net $0</a:t>
            </a:r>
            <a:endParaRPr lang="en-US" sz="950" dirty="0"/>
          </a:p>
        </p:txBody>
      </p:sp>
      <p:sp>
        <p:nvSpPr>
          <p:cNvPr id="60" name="Shape 57"/>
          <p:cNvSpPr/>
          <p:nvPr/>
        </p:nvSpPr>
        <p:spPr>
          <a:xfrm>
            <a:off x="8842248" y="4160520"/>
            <a:ext cx="2843784" cy="1261872"/>
          </a:xfrm>
          <a:prstGeom prst="roundRect">
            <a:avLst>
              <a:gd name="adj" fmla="val 4348"/>
            </a:avLst>
          </a:prstGeom>
          <a:solidFill>
            <a:srgbClr val="F8FAFC"/>
          </a:solidFill>
          <a:ln w="9525">
            <a:solidFill>
              <a:srgbClr val="E2E8F0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8979408" y="4279392"/>
            <a:ext cx="219456" cy="219456"/>
          </a:xfrm>
          <a:prstGeom prst="diamond">
            <a:avLst/>
          </a:prstGeom>
          <a:solidFill>
            <a:srgbClr val="16A34A"/>
          </a:solidFill>
          <a:ln w="6350">
            <a:solidFill>
              <a:srgbClr val="16A34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9281160" y="4261104"/>
            <a:ext cx="2295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· month 18</a:t>
            </a:r>
            <a:endParaRPr lang="en-US" sz="1100" dirty="0"/>
          </a:p>
        </p:txBody>
      </p:sp>
      <p:sp>
        <p:nvSpPr>
          <p:cNvPr id="63" name="Text 60"/>
          <p:cNvSpPr txBox="1"/>
          <p:nvPr/>
        </p:nvSpPr>
        <p:spPr>
          <a:xfrm>
            <a:off x="8979408" y="4572000"/>
            <a:ext cx="2569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90-day repeat ≥ 30%; effective CAC ≤ $56, from $62</a:t>
            </a:r>
            <a:endParaRPr lang="en-US" sz="950" dirty="0"/>
          </a:p>
        </p:txBody>
      </p:sp>
      <p:sp>
        <p:nvSpPr>
          <p:cNvPr id="64" name="Text 61"/>
          <p:cNvSpPr txBox="1"/>
          <p:nvPr/>
        </p:nvSpPr>
        <p:spPr>
          <a:xfrm>
            <a:off x="8979408" y="5074920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Fail any gate → money goes back</a:t>
            </a:r>
            <a:endParaRPr lang="en-US" sz="950" dirty="0"/>
          </a:p>
        </p:txBody>
      </p:sp>
      <p:sp>
        <p:nvSpPr>
          <p:cNvPr id="65" name="Shape 62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</p:sp>
      <p:pic>
        <p:nvPicPr>
          <p:cNvPr id="6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68" name="Text 64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Monday: approve tranche 1, the South pilot and the weekly CJA council. Nothing else moves before Gate 1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640080" y="109728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Appendix</a:t>
            </a:r>
            <a:endParaRPr lang="en-US" sz="4000" dirty="0"/>
          </a:p>
        </p:txBody>
      </p:sp>
      <p:sp>
        <p:nvSpPr>
          <p:cNvPr id="23" name="Text 21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AFC4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8</a:t>
            </a:r>
            <a:endParaRPr lang="en-US" sz="800" dirty="0"/>
          </a:p>
        </p:txBody>
      </p:sp>
      <p:sp>
        <p:nvSpPr>
          <p:cNvPr id="24" name="TextBox 23"/>
          <p:cNvSpPr txBox="1"/>
          <p:nvPr/>
        </p:nvSpPr>
        <p:spPr>
          <a:xfrm>
            <a:off x="640080" y="1981200"/>
            <a:ext cx="381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6F94DD"/>
                </a:solidFill>
                <a:latin typeface="Inter"/>
              </a:rPr>
              <a:t>BACKUP ANALYSIS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209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2209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Issue tree: two targets, six branches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2463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2463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Flow: the CJA operating loop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2717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" y="2717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Why a blend of A, B and 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2971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12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" y="2971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Seven moments a buyer is lost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3225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" y="3225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Who to target, and when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479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14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3479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Flow: how each shopper is routed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3733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15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" y="3733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The 14 programs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3987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16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" y="3987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Repeat-rate bridge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4241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" y="4241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Repeat by first category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4495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18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7280" y="4495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Budget today vs plan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" y="4749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19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" y="4749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Attribution IQ readout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" y="5003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" y="5003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Flow: the Never Pay Twice Engine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5257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21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97280" y="5257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Value at stake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511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22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7280" y="5511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Risks and early warnings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765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23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97280" y="5765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Brief checklist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31080" y="1981200"/>
            <a:ext cx="381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6F94DD"/>
                </a:solidFill>
                <a:latin typeface="Inter"/>
              </a:rPr>
              <a:t>ADOBE CJA EVIDENCE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31080" y="2209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24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88280" y="2209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Fallout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31080" y="2463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25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88280" y="2463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Attribution IQ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31080" y="2717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88280" y="2717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Cohort Table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31080" y="2971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27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88280" y="2971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Flow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31080" y="3225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28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288280" y="3225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Segments (A2, A5)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31080" y="3479800"/>
            <a:ext cx="4318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6F94DD"/>
                </a:solidFill>
                <a:latin typeface="Inter"/>
              </a:rPr>
              <a:t>29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88280" y="3479800"/>
            <a:ext cx="3556000" cy="2413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Sources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branches cover both targets; each program fits one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section 3 (targets), Exhibits D, G, J; Adobe CJA A1, A2, A3b, Cohort Table. Repeat and CAC identities are exact; each program is listed once, on the branch it moves most.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9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program sits on exactly one branch, and no branch is left without a move</a:t>
            </a:r>
            <a:endParaRPr lang="en-US" sz="1300" dirty="0"/>
          </a:p>
        </p:txBody>
      </p:sp>
      <p:sp>
        <p:nvSpPr>
          <p:cNvPr id="16" name="TextBox 15"/>
          <p:cNvSpPr txBox="1"/>
          <p:nvPr/>
        </p:nvSpPr>
        <p:spPr>
          <a:xfrm>
            <a:off x="502920" y="1244600"/>
            <a:ext cx="3048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QUESTION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67000" y="1244600"/>
            <a:ext cx="3048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TARGET AND ITS ARITHMETIC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0" y="1244600"/>
            <a:ext cx="3048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BRANCHES (MECE)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5000" y="1244600"/>
            <a:ext cx="3048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TODAY → WHAT MOVES 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905000"/>
            <a:ext cx="1968500" cy="3175000"/>
          </a:xfrm>
          <a:prstGeom prst="roundRect">
            <a:avLst>
              <a:gd name="adj" fmla="val 4000"/>
            </a:avLst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5000" y="1905000"/>
            <a:ext cx="1714500" cy="3175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>
                <a:solidFill>
                  <a:srgbClr val="FFFFFF"/>
                </a:solidFill>
                <a:latin typeface="Inter"/>
              </a:rPr>
              <a:t>How does Quince lift 90-day repeat by 6+ pts and cut blended CAC by 10%+ on a fixed $120M, without discounts?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471420" y="3492500"/>
            <a:ext cx="93980" cy="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565400" y="2133600"/>
            <a:ext cx="0" cy="223520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565400" y="2133600"/>
            <a:ext cx="101600" cy="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2667000" y="1447800"/>
            <a:ext cx="2159000" cy="13716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794000" y="1524000"/>
            <a:ext cx="1930400" cy="1244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1F44"/>
                </a:solidFill>
                <a:latin typeface="Inter"/>
              </a:rPr>
              <a:t>Raise 90-day repeat, 24% → ≥ 30%</a:t>
            </a:r>
          </a:p>
          <a:p>
            <a:pPr algn="l">
              <a:spcBef>
                <a:spcPts val="400"/>
              </a:spcBef>
            </a:pPr>
            <a:r>
              <a:rPr sz="850" b="0">
                <a:solidFill>
                  <a:srgbClr val="64748B"/>
                </a:solidFill>
                <a:latin typeface="Inter"/>
              </a:rPr>
              <a:t>Repeat = engaged share × engaged repeat + non-engaged share × non-engaged repeat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826000" y="2133600"/>
            <a:ext cx="127000" cy="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953000" y="1562100"/>
            <a:ext cx="0" cy="132080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953000" y="1562100"/>
            <a:ext cx="127000" cy="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80000" y="1270000"/>
            <a:ext cx="3048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A1  </a:t>
            </a:r>
            <a:r>
              <a:rPr sz="1000" b="1">
                <a:solidFill>
                  <a:srgbClr val="0A1F44"/>
                </a:solidFill>
                <a:latin typeface="Inter"/>
              </a:rPr>
              <a:t>Grow the share of buyers we can reach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55000" y="1270000"/>
            <a:ext cx="3429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24.5% engage after order one (A2)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1D4ED8"/>
                </a:solidFill>
                <a:latin typeface="Inter"/>
              </a:rPr>
              <a:t>L1 · Quince Passport, Track It in the App, The Fitting Room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080000" y="1866900"/>
            <a:ext cx="66040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953000" y="2222500"/>
            <a:ext cx="127000" cy="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080000" y="1930400"/>
            <a:ext cx="3048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A2  </a:t>
            </a:r>
            <a:r>
              <a:rPr sz="1000" b="1">
                <a:solidFill>
                  <a:srgbClr val="0A1F44"/>
                </a:solidFill>
                <a:latin typeface="Inter"/>
              </a:rPr>
              <a:t>Lift repeat among engaged buyers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55000" y="1930400"/>
            <a:ext cx="3429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28.1% repeat; week-2 return peaks at 5.6%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1D4ED8"/>
                </a:solidFill>
                <a:latin typeface="Inter"/>
              </a:rPr>
              <a:t>L2 · Material Journeys, Care Calendar, Gift Ledger, Quince Insider, Beauty Refill, Cashmere Second Life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080000" y="2527300"/>
            <a:ext cx="66040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4953000" y="2882900"/>
            <a:ext cx="127000" cy="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080000" y="2590800"/>
            <a:ext cx="3048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A3  </a:t>
            </a:r>
            <a:r>
              <a:rPr sz="1000" b="1">
                <a:solidFill>
                  <a:srgbClr val="0A1F44"/>
                </a:solidFill>
                <a:latin typeface="Inter"/>
              </a:rPr>
              <a:t>Lift repeat among buyers we can't reach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55000" y="2590800"/>
            <a:ext cx="3429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4.7% repeat (A2)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1D4ED8"/>
                </a:solidFill>
                <a:latin typeface="Inter"/>
              </a:rPr>
              <a:t>Customer-match ads; one triggered day-30 free exchange, never a discount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080000" y="3187700"/>
            <a:ext cx="66040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2565400" y="4368800"/>
            <a:ext cx="101600" cy="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ounded Rectangle 41"/>
          <p:cNvSpPr/>
          <p:nvPr/>
        </p:nvSpPr>
        <p:spPr>
          <a:xfrm>
            <a:off x="2667000" y="3683000"/>
            <a:ext cx="2159000" cy="1371600"/>
          </a:xfrm>
          <a:prstGeom prst="roundRect">
            <a:avLst>
              <a:gd name="adj" fmla="val 6000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2794000" y="3759200"/>
            <a:ext cx="1930400" cy="1244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1F44"/>
                </a:solidFill>
                <a:latin typeface="Inter"/>
              </a:rPr>
              <a:t>Cut blended CAC, $62 → ≤ $56</a:t>
            </a:r>
          </a:p>
          <a:p>
            <a:pPr algn="l">
              <a:spcBef>
                <a:spcPts val="400"/>
              </a:spcBef>
            </a:pPr>
            <a:r>
              <a:rPr sz="850" b="0">
                <a:solidFill>
                  <a:srgbClr val="64748B"/>
                </a:solidFill>
                <a:latin typeface="Inter"/>
              </a:rPr>
              <a:t>CAC = $120M ÷ new customers; effective CAC also falls as repeat rises (Exhibit J)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826000" y="4368800"/>
            <a:ext cx="127000" cy="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4953000" y="3797300"/>
            <a:ext cx="0" cy="132080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4953000" y="3797300"/>
            <a:ext cx="127000" cy="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5080000" y="3505200"/>
            <a:ext cx="3048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B1  </a:t>
            </a:r>
            <a:r>
              <a:rPr sz="1000" b="1">
                <a:solidFill>
                  <a:srgbClr val="0A1F44"/>
                </a:solidFill>
                <a:latin typeface="Inter"/>
              </a:rPr>
              <a:t>Stop paying for customers Quince already has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55000" y="3505200"/>
            <a:ext cx="3429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Retargeted buyers repeat 23.0% vs 23.4% organic (A3b)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1D4ED8"/>
                </a:solidFill>
                <a:latin typeface="Inter"/>
              </a:rPr>
              <a:t>L3 · Never Pay Twice Engine (T1); branded-search holdout (T2)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080000" y="4102100"/>
            <a:ext cx="66040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953000" y="4457700"/>
            <a:ext cx="127000" cy="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080000" y="4165600"/>
            <a:ext cx="3048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B2  </a:t>
            </a:r>
            <a:r>
              <a:rPr sz="1000" b="1">
                <a:solidFill>
                  <a:srgbClr val="0A1F44"/>
                </a:solidFill>
                <a:latin typeface="Inter"/>
              </a:rPr>
              <a:t>Win more new customers per dollar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55000" y="4165600"/>
            <a:ext cx="3429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77% of cart adders never order (A1)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1D4ED8"/>
                </a:solidFill>
                <a:latin typeface="Inter"/>
              </a:rPr>
              <a:t>L1 · Saved Cart, Restock-First Waitlist · L3 · Proof Creators, Loyalist Lookalikes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5080000" y="4762500"/>
            <a:ext cx="66040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4953000" y="5118100"/>
            <a:ext cx="127000" cy="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080000" y="4826000"/>
            <a:ext cx="3048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B3  </a:t>
            </a:r>
            <a:r>
              <a:rPr sz="1000" b="1">
                <a:solidFill>
                  <a:srgbClr val="0A1F44"/>
                </a:solidFill>
                <a:latin typeface="Inter"/>
              </a:rPr>
              <a:t>Spread the same spend over more buyers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55000" y="4826000"/>
            <a:ext cx="3429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+6 pts repeat ≈ −10 to −12% (Exhibit J)</a:t>
            </a:r>
          </a:p>
          <a:p>
            <a:pPr algn="l">
              <a:spcBef>
                <a:spcPts val="100"/>
              </a:spcBef>
            </a:pPr>
            <a:r>
              <a:rPr sz="900" b="1">
                <a:solidFill>
                  <a:srgbClr val="1D4ED8"/>
                </a:solidFill>
                <a:latin typeface="Inter"/>
              </a:rPr>
              <a:t>Follows from the repeat branches: +7 pts → −12 to −14%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5080000" y="5422900"/>
            <a:ext cx="66040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CJA loop runs every lever, every week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team strategy (CJA operating loop, Strategy Workbook v2); case section 4 (Options A, B, C), Exhibits I and L.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10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Growth and analytics share one workspace, one holdout and one decision rule</a:t>
            </a:r>
            <a:endParaRPr lang="en-US" sz="1300" dirty="0"/>
          </a:p>
        </p:txBody>
      </p:sp>
      <p:sp>
        <p:nvSpPr>
          <p:cNvPr id="16" name="Rounded Rectangle 15"/>
          <p:cNvSpPr/>
          <p:nvPr/>
        </p:nvSpPr>
        <p:spPr>
          <a:xfrm>
            <a:off x="502920" y="1498600"/>
            <a:ext cx="2032000" cy="254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Oval 16"/>
          <p:cNvSpPr/>
          <p:nvPr/>
        </p:nvSpPr>
        <p:spPr>
          <a:xfrm>
            <a:off x="655320" y="1651000"/>
            <a:ext cx="304800" cy="3048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55320" y="1651000"/>
            <a:ext cx="3048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6319" y="1625600"/>
            <a:ext cx="1397000" cy="355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A1F44"/>
                </a:solidFill>
                <a:latin typeface="Inter"/>
              </a:rPr>
              <a:t>Diagnose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320" y="2057400"/>
            <a:ext cx="726440" cy="1905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55320" y="2057400"/>
            <a:ext cx="72644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Option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320" y="2336800"/>
            <a:ext cx="17272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Read Fallout, Flow, Cohort Table and Attribution IQ on one stitched person ID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5320" y="3276600"/>
            <a:ext cx="172720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55320" y="3352800"/>
            <a:ext cx="17272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D4ED8"/>
                </a:solidFill>
                <a:latin typeface="Inter"/>
              </a:rPr>
              <a:t>OWNER  </a:t>
            </a:r>
            <a:r>
              <a:rPr sz="900" b="1">
                <a:solidFill>
                  <a:srgbClr val="0A1F44"/>
                </a:solidFill>
                <a:latin typeface="Inter"/>
              </a:rPr>
              <a:t>Head of Analytics</a:t>
            </a:r>
          </a:p>
          <a:p>
            <a:pPr algn="l">
              <a:spcBef>
                <a:spcPts val="400"/>
              </a:spcBef>
            </a:pPr>
            <a:r>
              <a:rPr sz="700" b="1">
                <a:solidFill>
                  <a:srgbClr val="1D4ED8"/>
                </a:solidFill>
                <a:latin typeface="Inter"/>
              </a:rPr>
              <a:t>RHYTHM  </a:t>
            </a:r>
            <a:r>
              <a:rPr sz="900" b="0">
                <a:solidFill>
                  <a:srgbClr val="0F172A"/>
                </a:solidFill>
                <a:latin typeface="Inter"/>
              </a:rPr>
              <a:t>Weekly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560320" y="2768600"/>
            <a:ext cx="203200" cy="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788920" y="1498600"/>
            <a:ext cx="2032000" cy="2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2941320" y="1651000"/>
            <a:ext cx="304800" cy="3048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2941320" y="1651000"/>
            <a:ext cx="3048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22320" y="1625600"/>
            <a:ext cx="1397000" cy="355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A1F44"/>
                </a:solidFill>
                <a:latin typeface="Inter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41320" y="2057400"/>
            <a:ext cx="1069340" cy="1905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941320" y="2057400"/>
            <a:ext cx="106934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Options A + 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41320" y="2336800"/>
            <a:ext cx="17272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Turn findings into saved CJA segments: abandoners, engaged, cashmere-first, recent buyers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41320" y="3276600"/>
            <a:ext cx="172720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2941320" y="3352800"/>
            <a:ext cx="17272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D4ED8"/>
                </a:solidFill>
                <a:latin typeface="Inter"/>
              </a:rPr>
              <a:t>OWNER  </a:t>
            </a:r>
            <a:r>
              <a:rPr sz="900" b="1">
                <a:solidFill>
                  <a:srgbClr val="0A1F44"/>
                </a:solidFill>
                <a:latin typeface="Inter"/>
              </a:rPr>
              <a:t>Analytics + CRM</a:t>
            </a:r>
          </a:p>
          <a:p>
            <a:pPr algn="l">
              <a:spcBef>
                <a:spcPts val="400"/>
              </a:spcBef>
            </a:pPr>
            <a:r>
              <a:rPr sz="700" b="1">
                <a:solidFill>
                  <a:srgbClr val="1D4ED8"/>
                </a:solidFill>
                <a:latin typeface="Inter"/>
              </a:rPr>
              <a:t>RHYTHM  </a:t>
            </a:r>
            <a:r>
              <a:rPr sz="900" b="0">
                <a:solidFill>
                  <a:srgbClr val="0F172A"/>
                </a:solidFill>
                <a:latin typeface="Inter"/>
              </a:rPr>
              <a:t>Weekly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846320" y="2768600"/>
            <a:ext cx="203200" cy="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074920" y="1498600"/>
            <a:ext cx="2032000" cy="254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5227320" y="1651000"/>
            <a:ext cx="304800" cy="3048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227320" y="1651000"/>
            <a:ext cx="3048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08320" y="1625600"/>
            <a:ext cx="1397000" cy="355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A1F44"/>
                </a:solidFill>
                <a:latin typeface="Inter"/>
              </a:rPr>
              <a:t>Activate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27320" y="2057400"/>
            <a:ext cx="1069340" cy="1905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227320" y="2057400"/>
            <a:ext cx="106934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Options A + B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27320" y="2336800"/>
            <a:ext cx="17272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Send segments to lifecycle journeys and to paid-media suppression lists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227320" y="3276600"/>
            <a:ext cx="172720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227320" y="3352800"/>
            <a:ext cx="17272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D4ED8"/>
                </a:solidFill>
                <a:latin typeface="Inter"/>
              </a:rPr>
              <a:t>OWNER  </a:t>
            </a:r>
            <a:r>
              <a:rPr sz="900" b="1">
                <a:solidFill>
                  <a:srgbClr val="0A1F44"/>
                </a:solidFill>
                <a:latin typeface="Inter"/>
              </a:rPr>
              <a:t>Marketing ops</a:t>
            </a:r>
          </a:p>
          <a:p>
            <a:pPr algn="l">
              <a:spcBef>
                <a:spcPts val="400"/>
              </a:spcBef>
            </a:pPr>
            <a:r>
              <a:rPr sz="700" b="1">
                <a:solidFill>
                  <a:srgbClr val="1D4ED8"/>
                </a:solidFill>
                <a:latin typeface="Inter"/>
              </a:rPr>
              <a:t>RHYTHM  </a:t>
            </a:r>
            <a:r>
              <a:rPr sz="900" b="0">
                <a:solidFill>
                  <a:srgbClr val="0F172A"/>
                </a:solidFill>
                <a:latin typeface="Inter"/>
              </a:rPr>
              <a:t>Daily sync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132320" y="2768600"/>
            <a:ext cx="203200" cy="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ounded Rectangle 45"/>
          <p:cNvSpPr/>
          <p:nvPr/>
        </p:nvSpPr>
        <p:spPr>
          <a:xfrm>
            <a:off x="7360920" y="1498600"/>
            <a:ext cx="2032000" cy="254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Oval 46"/>
          <p:cNvSpPr/>
          <p:nvPr/>
        </p:nvSpPr>
        <p:spPr>
          <a:xfrm>
            <a:off x="7513320" y="1651000"/>
            <a:ext cx="304800" cy="3048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7513320" y="1651000"/>
            <a:ext cx="3048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94320" y="1625600"/>
            <a:ext cx="1397000" cy="355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A1F44"/>
                </a:solidFill>
                <a:latin typeface="Inter"/>
              </a:rPr>
              <a:t>Prove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513320" y="2057400"/>
            <a:ext cx="726440" cy="1905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513320" y="2057400"/>
            <a:ext cx="72644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Option C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13320" y="2336800"/>
            <a:ext cx="17272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Read every move against a randomized holdout: 10% in the South pilot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7513320" y="3276600"/>
            <a:ext cx="172720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7513320" y="3352800"/>
            <a:ext cx="17272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D4ED8"/>
                </a:solidFill>
                <a:latin typeface="Inter"/>
              </a:rPr>
              <a:t>OWNER  </a:t>
            </a:r>
            <a:r>
              <a:rPr sz="900" b="1">
                <a:solidFill>
                  <a:srgbClr val="0A1F44"/>
                </a:solidFill>
                <a:latin typeface="Inter"/>
              </a:rPr>
              <a:t>Head of Analytics</a:t>
            </a:r>
          </a:p>
          <a:p>
            <a:pPr algn="l">
              <a:spcBef>
                <a:spcPts val="400"/>
              </a:spcBef>
            </a:pPr>
            <a:r>
              <a:rPr sz="700" b="1">
                <a:solidFill>
                  <a:srgbClr val="1D4ED8"/>
                </a:solidFill>
                <a:latin typeface="Inter"/>
              </a:rPr>
              <a:t>RHYTHM  </a:t>
            </a:r>
            <a:r>
              <a:rPr sz="900" b="0">
                <a:solidFill>
                  <a:srgbClr val="0F172A"/>
                </a:solidFill>
                <a:latin typeface="Inter"/>
              </a:rPr>
              <a:t>Weekly council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9418320" y="2768600"/>
            <a:ext cx="203200" cy="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ounded Rectangle 55"/>
          <p:cNvSpPr/>
          <p:nvPr/>
        </p:nvSpPr>
        <p:spPr>
          <a:xfrm>
            <a:off x="9646920" y="1498600"/>
            <a:ext cx="2032000" cy="25400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9799320" y="1651000"/>
            <a:ext cx="304800" cy="304800"/>
          </a:xfrm>
          <a:prstGeom prst="ellipse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9799320" y="1651000"/>
            <a:ext cx="30480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80320" y="1625600"/>
            <a:ext cx="1397000" cy="355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1">
                <a:solidFill>
                  <a:srgbClr val="0A1F44"/>
                </a:solidFill>
                <a:latin typeface="Inter"/>
              </a:rPr>
              <a:t>Reallocate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799320" y="2057400"/>
            <a:ext cx="726440" cy="19050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TextBox 60"/>
          <p:cNvSpPr txBox="1"/>
          <p:nvPr/>
        </p:nvSpPr>
        <p:spPr>
          <a:xfrm>
            <a:off x="9799320" y="2057400"/>
            <a:ext cx="72644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Option 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799320" y="2336800"/>
            <a:ext cx="1727200" cy="889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Release the next tranche only if the gate passes; failed money goes back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9799320" y="3276600"/>
            <a:ext cx="172720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9799320" y="3352800"/>
            <a:ext cx="17272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>
                <a:solidFill>
                  <a:srgbClr val="1D4ED8"/>
                </a:solidFill>
                <a:latin typeface="Inter"/>
              </a:rPr>
              <a:t>OWNER  </a:t>
            </a:r>
            <a:r>
              <a:rPr sz="900" b="1">
                <a:solidFill>
                  <a:srgbClr val="0A1F44"/>
                </a:solidFill>
                <a:latin typeface="Inter"/>
              </a:rPr>
              <a:t>CMO + CFO</a:t>
            </a:r>
          </a:p>
          <a:p>
            <a:pPr algn="l">
              <a:spcBef>
                <a:spcPts val="400"/>
              </a:spcBef>
            </a:pPr>
            <a:r>
              <a:rPr sz="700" b="1">
                <a:solidFill>
                  <a:srgbClr val="1D4ED8"/>
                </a:solidFill>
                <a:latin typeface="Inter"/>
              </a:rPr>
              <a:t>RHYTHM  </a:t>
            </a:r>
            <a:r>
              <a:rPr sz="900" b="0">
                <a:solidFill>
                  <a:srgbClr val="0F172A"/>
                </a:solidFill>
                <a:latin typeface="Inter"/>
              </a:rPr>
              <a:t>Gates M3, M9; quarterly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0662920" y="4038600"/>
            <a:ext cx="0" cy="431800"/>
          </a:xfrm>
          <a:prstGeom prst="line">
            <a:avLst/>
          </a:prstGeom>
          <a:ln w="22225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H="1">
            <a:off x="1518920" y="4470400"/>
            <a:ext cx="9144000" cy="0"/>
          </a:xfrm>
          <a:prstGeom prst="line">
            <a:avLst/>
          </a:prstGeom>
          <a:ln w="22225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1518920" y="4064000"/>
            <a:ext cx="0" cy="40640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810000" y="4356100"/>
            <a:ext cx="4572000" cy="228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TextBox 68"/>
          <p:cNvSpPr txBox="1"/>
          <p:nvPr/>
        </p:nvSpPr>
        <p:spPr>
          <a:xfrm>
            <a:off x="3810000" y="4356100"/>
            <a:ext cx="45720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D4ED8"/>
                </a:solidFill>
                <a:latin typeface="Inter"/>
              </a:rPr>
              <a:t>What CJA proves sets the next diagnosis and the next tranche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" y="4775200"/>
            <a:ext cx="1117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Why it matters:  </a:t>
            </a:r>
            <a:r>
              <a:rPr sz="950" b="0">
                <a:solidFill>
                  <a:srgbClr val="0F172A"/>
                </a:solidFill>
                <a:latin typeface="Inter"/>
              </a:rPr>
              <a:t>Option C alone takes 6–12 months to trust. Running it as a weekly loop from day 1 lets Options A and B move money within weeks, with C deciding every tranche.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option covers another's weakness, so we blend them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section 4 (Options A, B, C), Exhibit I (cost, timing), Exhibit K (risk matrix); team analysis.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11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B's speed pays for A's build; A's owned reach cuts B's signal-loss risk; C's holdouts de-risk both</a:t>
            </a:r>
            <a:endParaRPr lang="en-US" sz="1300" dirty="0"/>
          </a:p>
        </p:txBody>
      </p:sp>
      <p:sp>
        <p:nvSpPr>
          <p:cNvPr id="16" name="TextBox 15"/>
          <p:cNvSpPr txBox="1"/>
          <p:nvPr/>
        </p:nvSpPr>
        <p:spPr>
          <a:xfrm>
            <a:off x="502920" y="1270000"/>
            <a:ext cx="1905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OPTION ALONE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34920" y="1270000"/>
            <a:ext cx="2794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WHAT IT GETS RIGHT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55920" y="1270000"/>
            <a:ext cx="3175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WHY IT FAILS ALONE (EXHIBIT 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57920" y="1270000"/>
            <a:ext cx="2921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ITS JOB IN OUR BLEND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1498600"/>
            <a:ext cx="11181080" cy="0"/>
          </a:xfrm>
          <a:prstGeom prst="line">
            <a:avLst/>
          </a:prstGeom>
          <a:ln w="15875">
            <a:solidFill>
              <a:srgbClr val="0A1F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02920" y="1701800"/>
            <a:ext cx="381000" cy="381000"/>
          </a:xfrm>
          <a:prstGeom prst="ellipse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502920" y="1701800"/>
            <a:ext cx="3810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5519" y="1676400"/>
            <a:ext cx="14224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1F44"/>
                </a:solidFill>
                <a:latin typeface="Inter"/>
              </a:rPr>
              <a:t>Paid precision and suppression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34920" y="1701800"/>
            <a:ext cx="2794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6A34A"/>
                </a:solidFill>
                <a:latin typeface="Inter"/>
              </a:rPr>
              <a:t>✓ </a:t>
            </a:r>
            <a:r>
              <a:rPr sz="1050" b="0">
                <a:solidFill>
                  <a:srgbClr val="0F172A"/>
                </a:solidFill>
                <a:latin typeface="Inter"/>
              </a:rPr>
              <a:t>Results in weeks at $0 incremental (Exhibit I)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55920" y="1701800"/>
            <a:ext cx="3175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DC2626"/>
                </a:solidFill>
                <a:latin typeface="Inter"/>
              </a:rPr>
              <a:t>✕ </a:t>
            </a:r>
            <a:r>
              <a:rPr sz="1050" b="0">
                <a:solidFill>
                  <a:srgbClr val="0F172A"/>
                </a:solidFill>
                <a:latin typeface="Inter"/>
              </a:rPr>
              <a:t>High signal-loss exposure; builds no lasting relationship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57920" y="1701800"/>
            <a:ext cx="2921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D4ED8"/>
                </a:solidFill>
                <a:latin typeface="Inter"/>
              </a:rPr>
              <a:t>Funds it: suppression frees $4M in months 1–3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02920" y="2844800"/>
            <a:ext cx="1118108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Oval 27"/>
          <p:cNvSpPr/>
          <p:nvPr/>
        </p:nvSpPr>
        <p:spPr>
          <a:xfrm>
            <a:off x="502920" y="2997200"/>
            <a:ext cx="381000" cy="3810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502920" y="2997200"/>
            <a:ext cx="3810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5519" y="2971800"/>
            <a:ext cx="14224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1F44"/>
                </a:solidFill>
                <a:latin typeface="Inter"/>
              </a:rPr>
              <a:t>Owned lifecycle precision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34920" y="2997200"/>
            <a:ext cx="2794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6A34A"/>
                </a:solidFill>
                <a:latin typeface="Inter"/>
              </a:rPr>
              <a:t>✓ </a:t>
            </a:r>
            <a:r>
              <a:rPr sz="1050" b="0">
                <a:solidFill>
                  <a:srgbClr val="0F172A"/>
                </a:solidFill>
                <a:latin typeface="Inter"/>
              </a:rPr>
              <a:t>Lowest cost per touch; insulated from ATT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55920" y="2997200"/>
            <a:ext cx="3175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DC2626"/>
                </a:solidFill>
                <a:latin typeface="Inter"/>
              </a:rPr>
              <a:t>✕ </a:t>
            </a:r>
            <a:r>
              <a:rPr sz="1050" b="0">
                <a:solidFill>
                  <a:srgbClr val="0F172A"/>
                </a:solidFill>
                <a:latin typeface="Inter"/>
              </a:rPr>
              <a:t>Reach capped by today's list: 1 in 4 buyers engaged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57920" y="2997200"/>
            <a:ext cx="2921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D4ED8"/>
                </a:solidFill>
                <a:latin typeface="Inter"/>
              </a:rPr>
              <a:t>Builds it: capture grows the list; journeys earn order two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02920" y="4140200"/>
            <a:ext cx="1118108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502920" y="4292600"/>
            <a:ext cx="381000" cy="381000"/>
          </a:xfrm>
          <a:prstGeom prst="ellipse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502920" y="4292600"/>
            <a:ext cx="3810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Inter"/>
              </a:rPr>
              <a:t>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5519" y="4267200"/>
            <a:ext cx="1422400" cy="76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1F44"/>
                </a:solidFill>
                <a:latin typeface="Inter"/>
              </a:rPr>
              <a:t>Attribution-based reallocation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34920" y="4292600"/>
            <a:ext cx="2794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6A34A"/>
                </a:solidFill>
                <a:latin typeface="Inter"/>
              </a:rPr>
              <a:t>✓ </a:t>
            </a:r>
            <a:r>
              <a:rPr sz="1050" b="0">
                <a:solidFill>
                  <a:srgbClr val="0F172A"/>
                </a:solidFill>
                <a:latin typeface="Inter"/>
              </a:rPr>
              <a:t>The lasting decision framework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55920" y="4292600"/>
            <a:ext cx="3175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DC2626"/>
                </a:solidFill>
                <a:latin typeface="Inter"/>
              </a:rPr>
              <a:t>✕ </a:t>
            </a:r>
            <a:r>
              <a:rPr sz="1050" b="0">
                <a:solidFill>
                  <a:srgbClr val="0F172A"/>
                </a:solidFill>
                <a:latin typeface="Inter"/>
              </a:rPr>
              <a:t>6–12 months to trust; high execution and change risk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57920" y="4292600"/>
            <a:ext cx="2921000" cy="10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D4ED8"/>
                </a:solidFill>
                <a:latin typeface="Inter"/>
              </a:rPr>
              <a:t>Proves it: runs from day 1 and decides every tranche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02920" y="5435600"/>
            <a:ext cx="1118108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Seven moments decide whether a first buyer returns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 A1, A2, A4, A5, A6 and Cohort Table; behavioural mechanisms are hypotheses the pilot tests.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12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14 programs sit at exactly one moment, and every moment has at least one program</a:t>
            </a:r>
            <a:endParaRPr lang="en-US" sz="1300" dirty="0"/>
          </a:p>
        </p:txBody>
      </p:sp>
      <p:cxnSp>
        <p:nvCxnSpPr>
          <p:cNvPr id="16" name="Connector 15"/>
          <p:cNvCxnSpPr/>
          <p:nvPr/>
        </p:nvCxnSpPr>
        <p:spPr>
          <a:xfrm>
            <a:off x="1301205" y="1524000"/>
            <a:ext cx="9579429" cy="0"/>
          </a:xfrm>
          <a:prstGeom prst="line">
            <a:avLst/>
          </a:prstGeom>
          <a:ln w="1905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1212305" y="1435100"/>
            <a:ext cx="177800" cy="1778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53720" y="1676400"/>
            <a:ext cx="1494971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0A1F44"/>
                </a:solidFill>
                <a:latin typeface="Inter"/>
              </a:rPr>
              <a:t>Discovery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720" y="19050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D97706"/>
                </a:solidFill>
                <a:latin typeface="Inter"/>
              </a:rPr>
              <a:t>HYPOTHESIS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720" y="2159000"/>
            <a:ext cx="149497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A1F44"/>
                </a:solidFill>
                <a:latin typeface="Inter"/>
              </a:rPr>
              <a:t>45.5%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9120" y="25400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Inter"/>
              </a:rPr>
              <a:t>of buyers arrive via prospecting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3720" y="33274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MECHANISM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120" y="35052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F172A"/>
                </a:solidFill>
                <a:latin typeface="Inter"/>
              </a:rPr>
              <a:t>Price signals quality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720" y="42672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PROGRAMS (2)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9120" y="44704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79120" y="44704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Proof Creators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79120" y="47371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79120" y="47371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Loyalist Lookalikes</a:t>
            </a:r>
          </a:p>
        </p:txBody>
      </p:sp>
      <p:sp>
        <p:nvSpPr>
          <p:cNvPr id="29" name="Oval 28"/>
          <p:cNvSpPr/>
          <p:nvPr/>
        </p:nvSpPr>
        <p:spPr>
          <a:xfrm>
            <a:off x="2808877" y="1435100"/>
            <a:ext cx="177800" cy="1778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2150291" y="1676400"/>
            <a:ext cx="1494971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0A1F44"/>
                </a:solidFill>
                <a:latin typeface="Inter"/>
              </a:rPr>
              <a:t>Product page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50291" y="19050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6A34A"/>
                </a:solidFill>
                <a:latin typeface="Inter"/>
              </a:rPr>
              <a:t>MEASURED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50291" y="2159000"/>
            <a:ext cx="149497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A1F44"/>
                </a:solidFill>
                <a:latin typeface="Inter"/>
              </a:rPr>
              <a:t>25,227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75691" y="25400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Inter"/>
              </a:rPr>
              <a:t>leave without a cart add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099491" y="2159000"/>
            <a:ext cx="0" cy="317500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150291" y="33274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MECHANISM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75691" y="35052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F172A"/>
                </a:solidFill>
                <a:latin typeface="Inter"/>
              </a:rPr>
              <a:t>Perceived risk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50291" y="42672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PROGRAMS (2)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175691" y="44704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2175691" y="44704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The Fitting Room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175691" y="47371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2175691" y="47371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Restock-First Waitlist</a:t>
            </a:r>
          </a:p>
        </p:txBody>
      </p:sp>
      <p:sp>
        <p:nvSpPr>
          <p:cNvPr id="42" name="Oval 41"/>
          <p:cNvSpPr/>
          <p:nvPr/>
        </p:nvSpPr>
        <p:spPr>
          <a:xfrm>
            <a:off x="4405448" y="1435100"/>
            <a:ext cx="177800" cy="1778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3746862" y="1676400"/>
            <a:ext cx="1494971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0A1F44"/>
                </a:solidFill>
                <a:latin typeface="Inter"/>
              </a:rPr>
              <a:t>Cart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746862" y="19050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6A34A"/>
                </a:solidFill>
                <a:latin typeface="Inter"/>
              </a:rPr>
              <a:t>MEASURED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46862" y="2159000"/>
            <a:ext cx="149497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A1F44"/>
                </a:solidFill>
                <a:latin typeface="Inter"/>
              </a:rPr>
              <a:t>77%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72262" y="25400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Inter"/>
              </a:rPr>
              <a:t>of cart adders never order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3696062" y="2159000"/>
            <a:ext cx="0" cy="317500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3746862" y="33274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MECHANISM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72262" y="35052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F172A"/>
                </a:solidFill>
                <a:latin typeface="Inter"/>
              </a:rPr>
              <a:t>Unfinished tasks fade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746862" y="42672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PROGRAMS (1)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772262" y="44704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3772262" y="44704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Saved Cart</a:t>
            </a:r>
          </a:p>
        </p:txBody>
      </p:sp>
      <p:sp>
        <p:nvSpPr>
          <p:cNvPr id="53" name="Oval 52"/>
          <p:cNvSpPr/>
          <p:nvPr/>
        </p:nvSpPr>
        <p:spPr>
          <a:xfrm>
            <a:off x="6002020" y="1435100"/>
            <a:ext cx="177800" cy="1778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343434" y="1676400"/>
            <a:ext cx="1494971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0A1F44"/>
                </a:solidFill>
                <a:latin typeface="Inter"/>
              </a:rPr>
              <a:t>Checkout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43434" y="19050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6A34A"/>
                </a:solidFill>
                <a:latin typeface="Inter"/>
              </a:rPr>
              <a:t>MEASURED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43434" y="2159000"/>
            <a:ext cx="149497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A1F44"/>
                </a:solidFill>
                <a:latin typeface="Inter"/>
              </a:rPr>
              <a:t>27.1%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68834" y="25400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Inter"/>
              </a:rPr>
              <a:t>app cart → order vs 22.7% web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292634" y="2159000"/>
            <a:ext cx="0" cy="317500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5343434" y="33274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MECHANISM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68834" y="35052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F172A"/>
                </a:solidFill>
                <a:latin typeface="Inter"/>
              </a:rPr>
              <a:t>Default effect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43434" y="42672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PROGRAMS (1)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368834" y="44704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5368834" y="44704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Track It in the App</a:t>
            </a:r>
          </a:p>
        </p:txBody>
      </p:sp>
      <p:sp>
        <p:nvSpPr>
          <p:cNvPr id="64" name="Oval 63"/>
          <p:cNvSpPr/>
          <p:nvPr/>
        </p:nvSpPr>
        <p:spPr>
          <a:xfrm>
            <a:off x="7598591" y="1435100"/>
            <a:ext cx="177800" cy="1778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6940005" y="1676400"/>
            <a:ext cx="1494971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0A1F44"/>
                </a:solidFill>
                <a:latin typeface="Inter"/>
              </a:rPr>
              <a:t>Delivery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40005" y="19050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D97706"/>
                </a:solidFill>
                <a:latin typeface="Inter"/>
              </a:rPr>
              <a:t>HYPOTHESIS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940005" y="2159000"/>
            <a:ext cx="149497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A1F44"/>
                </a:solidFill>
                <a:latin typeface="Inter"/>
              </a:rPr>
              <a:t>24.5%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965405" y="25400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Inter"/>
              </a:rPr>
              <a:t>of buyers engage after order one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6889205" y="2159000"/>
            <a:ext cx="0" cy="317500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6940005" y="33274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MECHANISM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965405" y="35052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F172A"/>
                </a:solidFill>
                <a:latin typeface="Inter"/>
              </a:rPr>
              <a:t>Peak-end, endowment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940005" y="42672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PROGRAMS (1)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965405" y="44704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6965405" y="44704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Quince Passport</a:t>
            </a:r>
          </a:p>
        </p:txBody>
      </p:sp>
      <p:sp>
        <p:nvSpPr>
          <p:cNvPr id="75" name="Oval 74"/>
          <p:cNvSpPr/>
          <p:nvPr/>
        </p:nvSpPr>
        <p:spPr>
          <a:xfrm>
            <a:off x="9195162" y="1435100"/>
            <a:ext cx="177800" cy="1778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8536577" y="1676400"/>
            <a:ext cx="1494971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0A1F44"/>
                </a:solidFill>
                <a:latin typeface="Inter"/>
              </a:rPr>
              <a:t>Days 0–30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536577" y="19050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6A34A"/>
                </a:solidFill>
                <a:latin typeface="Inter"/>
              </a:rPr>
              <a:t>MEASURED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536577" y="2159000"/>
            <a:ext cx="149497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A1F44"/>
                </a:solidFill>
                <a:latin typeface="Inter"/>
              </a:rPr>
              <a:t>5.6%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561977" y="25400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Inter"/>
              </a:rPr>
              <a:t>week-2 return, engaged buyers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8485777" y="2159000"/>
            <a:ext cx="0" cy="317500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8536577" y="33274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MECHANISM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561977" y="35052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F172A"/>
                </a:solidFill>
                <a:latin typeface="Inter"/>
              </a:rPr>
              <a:t>Habit formation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536577" y="42672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PROGRAMS (3)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8561977" y="44704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5" name="TextBox 84"/>
          <p:cNvSpPr txBox="1"/>
          <p:nvPr/>
        </p:nvSpPr>
        <p:spPr>
          <a:xfrm>
            <a:off x="8561977" y="44704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Care Calendar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8561977" y="47371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7" name="TextBox 86"/>
          <p:cNvSpPr txBox="1"/>
          <p:nvPr/>
        </p:nvSpPr>
        <p:spPr>
          <a:xfrm>
            <a:off x="8561977" y="47371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Quince Insider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561977" y="50038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TextBox 88"/>
          <p:cNvSpPr txBox="1"/>
          <p:nvPr/>
        </p:nvSpPr>
        <p:spPr>
          <a:xfrm>
            <a:off x="8561977" y="50038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Never Pay Twice Engine</a:t>
            </a:r>
          </a:p>
        </p:txBody>
      </p:sp>
      <p:sp>
        <p:nvSpPr>
          <p:cNvPr id="90" name="Oval 89"/>
          <p:cNvSpPr/>
          <p:nvPr/>
        </p:nvSpPr>
        <p:spPr>
          <a:xfrm>
            <a:off x="10791734" y="1435100"/>
            <a:ext cx="177800" cy="1778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TextBox 90"/>
          <p:cNvSpPr txBox="1"/>
          <p:nvPr/>
        </p:nvSpPr>
        <p:spPr>
          <a:xfrm>
            <a:off x="10133148" y="1676400"/>
            <a:ext cx="1494971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0A1F44"/>
                </a:solidFill>
                <a:latin typeface="Inter"/>
              </a:rPr>
              <a:t>Days 30–90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133148" y="19050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6A34A"/>
                </a:solidFill>
                <a:latin typeface="Inter"/>
              </a:rPr>
              <a:t>MEASURED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133148" y="2159000"/>
            <a:ext cx="1494971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A1F44"/>
                </a:solidFill>
                <a:latin typeface="Inter"/>
              </a:rPr>
              <a:t>13.7%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158548" y="25400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4748B"/>
                </a:solidFill>
                <a:latin typeface="Inter"/>
              </a:rPr>
              <a:t>repeat for cashmere buyers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10082348" y="2159000"/>
            <a:ext cx="0" cy="317500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6" name="TextBox 95"/>
          <p:cNvSpPr txBox="1"/>
          <p:nvPr/>
        </p:nvSpPr>
        <p:spPr>
          <a:xfrm>
            <a:off x="10133148" y="33274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MECHANISM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158548" y="3505200"/>
            <a:ext cx="1444171" cy="5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0F172A"/>
                </a:solidFill>
                <a:latin typeface="Inter"/>
              </a:rPr>
              <a:t>Mental accounting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133148" y="4267200"/>
            <a:ext cx="1494971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1">
                <a:solidFill>
                  <a:srgbClr val="1D4ED8"/>
                </a:solidFill>
                <a:latin typeface="Inter"/>
              </a:rPr>
              <a:t>PROGRAMS (4)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158548" y="44704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0" name="TextBox 99"/>
          <p:cNvSpPr txBox="1"/>
          <p:nvPr/>
        </p:nvSpPr>
        <p:spPr>
          <a:xfrm>
            <a:off x="10158548" y="44704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Material Journeys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0158548" y="47371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2" name="TextBox 101"/>
          <p:cNvSpPr txBox="1"/>
          <p:nvPr/>
        </p:nvSpPr>
        <p:spPr>
          <a:xfrm>
            <a:off x="10158548" y="47371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Gift Ledger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10158548" y="50038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4" name="TextBox 103"/>
          <p:cNvSpPr txBox="1"/>
          <p:nvPr/>
        </p:nvSpPr>
        <p:spPr>
          <a:xfrm>
            <a:off x="10158548" y="50038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Beauty Refill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0158548" y="5270500"/>
            <a:ext cx="1444171" cy="228600"/>
          </a:xfrm>
          <a:prstGeom prst="roundRect">
            <a:avLst>
              <a:gd name="adj" fmla="val 30000"/>
            </a:avLst>
          </a:prstGeom>
          <a:noFill/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6" name="TextBox 105"/>
          <p:cNvSpPr txBox="1"/>
          <p:nvPr/>
        </p:nvSpPr>
        <p:spPr>
          <a:xfrm>
            <a:off x="10158548" y="5270500"/>
            <a:ext cx="1444171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1D4ED8"/>
                </a:solidFill>
                <a:latin typeface="Inter"/>
              </a:rPr>
              <a:t>Cashmere Second Life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502920" y="3175000"/>
            <a:ext cx="1118108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 107"/>
          <p:cNvCxnSpPr/>
          <p:nvPr/>
        </p:nvCxnSpPr>
        <p:spPr>
          <a:xfrm>
            <a:off x="502920" y="4165600"/>
            <a:ext cx="1118108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channels first; paid only where owned can't reach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 segments (A1, A2, A4, A6, Cohort Table); team targeting plan. Each row is a saved CJA segment that drives both the message and the measurement. Time axis is not to scale.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13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Paid retargeting keeps one job: reaching high-intent people Quince has no other way to contact</a:t>
            </a:r>
            <a:endParaRPr lang="en-US" sz="1300" dirty="0"/>
          </a:p>
        </p:txBody>
      </p:sp>
      <p:cxnSp>
        <p:nvCxnSpPr>
          <p:cNvPr id="16" name="Connector 15"/>
          <p:cNvCxnSpPr/>
          <p:nvPr/>
        </p:nvCxnSpPr>
        <p:spPr>
          <a:xfrm>
            <a:off x="4191000" y="1422400"/>
            <a:ext cx="7239000" cy="0"/>
          </a:xfrm>
          <a:prstGeom prst="line">
            <a:avLst/>
          </a:prstGeom>
          <a:ln w="127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191000" y="1384300"/>
            <a:ext cx="0" cy="76200"/>
          </a:xfrm>
          <a:prstGeom prst="line">
            <a:avLst/>
          </a:prstGeom>
          <a:ln w="127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886200" y="1219200"/>
            <a:ext cx="609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Inter"/>
              </a:rPr>
              <a:t>Hour 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397500" y="1384300"/>
            <a:ext cx="0" cy="76200"/>
          </a:xfrm>
          <a:prstGeom prst="line">
            <a:avLst/>
          </a:prstGeom>
          <a:ln w="127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92700" y="1219200"/>
            <a:ext cx="609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Inter"/>
              </a:rPr>
              <a:t>Day 1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604000" y="1384300"/>
            <a:ext cx="0" cy="76200"/>
          </a:xfrm>
          <a:prstGeom prst="line">
            <a:avLst/>
          </a:prstGeom>
          <a:ln w="127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299200" y="1219200"/>
            <a:ext cx="609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Inter"/>
              </a:rPr>
              <a:t>Day 7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810500" y="1384300"/>
            <a:ext cx="0" cy="76200"/>
          </a:xfrm>
          <a:prstGeom prst="line">
            <a:avLst/>
          </a:prstGeom>
          <a:ln w="127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505700" y="1219200"/>
            <a:ext cx="609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Inter"/>
              </a:rPr>
              <a:t>Day 21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017000" y="1384300"/>
            <a:ext cx="0" cy="76200"/>
          </a:xfrm>
          <a:prstGeom prst="line">
            <a:avLst/>
          </a:prstGeom>
          <a:ln w="127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12200" y="1219200"/>
            <a:ext cx="609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Inter"/>
              </a:rPr>
              <a:t>Day 30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0223500" y="1384300"/>
            <a:ext cx="0" cy="76200"/>
          </a:xfrm>
          <a:prstGeom prst="line">
            <a:avLst/>
          </a:prstGeom>
          <a:ln w="127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918700" y="1219200"/>
            <a:ext cx="609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Inter"/>
              </a:rPr>
              <a:t>Day 60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1430000" y="1384300"/>
            <a:ext cx="0" cy="76200"/>
          </a:xfrm>
          <a:prstGeom prst="line">
            <a:avLst/>
          </a:prstGeom>
          <a:ln w="12700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11125200" y="1219200"/>
            <a:ext cx="6096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64748B"/>
                </a:solidFill>
                <a:latin typeface="Inter"/>
              </a:rPr>
              <a:t>Day 90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1574800"/>
            <a:ext cx="355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OWNED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1752600"/>
            <a:ext cx="36195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Checkout and cart abandoners with an email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91000" y="1816100"/>
            <a:ext cx="1608666" cy="127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863166" y="1752600"/>
            <a:ext cx="1905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Saved Cart, within hours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02920" y="2019300"/>
            <a:ext cx="10927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02920" y="2032000"/>
            <a:ext cx="36195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Every first-time buyer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91000" y="2095500"/>
            <a:ext cx="2413000" cy="127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667500" y="2032000"/>
            <a:ext cx="1905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Passport card, app tracking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02920" y="2298700"/>
            <a:ext cx="10927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02920" y="2311400"/>
            <a:ext cx="36195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Engaged first buyers (24.5%)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04000" y="2374900"/>
            <a:ext cx="2413000" cy="127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9080500" y="2311400"/>
            <a:ext cx="1905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care, fit, second category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02920" y="2578100"/>
            <a:ext cx="10927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02920" y="2590800"/>
            <a:ext cx="36195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Cashmere-first buyers (13.7% repeat)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810500" y="2654300"/>
            <a:ext cx="2413000" cy="127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5842000" y="2590800"/>
            <a:ext cx="1905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50" b="1">
                <a:solidFill>
                  <a:srgbClr val="0A1F44"/>
                </a:solidFill>
                <a:latin typeface="Inter"/>
              </a:rPr>
              <a:t>Material Journeys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02920" y="2857500"/>
            <a:ext cx="10927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02920" y="2870200"/>
            <a:ext cx="36195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Jewelry and beauty buyers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17000" y="2933700"/>
            <a:ext cx="2413000" cy="127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048500" y="2870200"/>
            <a:ext cx="1905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50" b="1">
                <a:solidFill>
                  <a:srgbClr val="0A1F44"/>
                </a:solidFill>
                <a:latin typeface="Inter"/>
              </a:rPr>
              <a:t>Gift Ledger, Beauty Refill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02920" y="3136900"/>
            <a:ext cx="10927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02920" y="3149600"/>
            <a:ext cx="36195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Lapsed: no second order by day 60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223500" y="3213100"/>
            <a:ext cx="1206500" cy="127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8255000" y="3149600"/>
            <a:ext cx="1905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850" b="1">
                <a:solidFill>
                  <a:srgbClr val="0A1F44"/>
                </a:solidFill>
                <a:latin typeface="Inter"/>
              </a:rPr>
              <a:t>restock-first access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02920" y="3416300"/>
            <a:ext cx="10927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02920" y="3454400"/>
            <a:ext cx="355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PAID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3632200"/>
            <a:ext cx="36195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Cart abandoners Quince cannot reach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97500" y="3695700"/>
            <a:ext cx="1206500" cy="1270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6667500" y="3632200"/>
            <a:ext cx="1905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retargeting, max 3 ads/week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02920" y="3898900"/>
            <a:ext cx="10927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502920" y="3911600"/>
            <a:ext cx="36195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Non-engaged buyers with no owned address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604000" y="3975100"/>
            <a:ext cx="1206500" cy="12700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7874000" y="3911600"/>
            <a:ext cx="1905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customer-match ads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02920" y="4178300"/>
            <a:ext cx="10927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02920" y="4216400"/>
            <a:ext cx="3556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SUPPRESS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" y="4394200"/>
            <a:ext cx="36195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Recent buyers and owned-reachable customers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191000" y="4432300"/>
            <a:ext cx="7239000" cy="1905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TextBox 67"/>
          <p:cNvSpPr txBox="1"/>
          <p:nvPr/>
        </p:nvSpPr>
        <p:spPr>
          <a:xfrm>
            <a:off x="4292600" y="4432300"/>
            <a:ext cx="3810000" cy="1905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Inter"/>
              </a:rPr>
              <a:t>removed from paid retargeting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02920" y="4660900"/>
            <a:ext cx="10927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02920" y="4673600"/>
            <a:ext cx="36195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Single-page bouncers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91000" y="4737100"/>
            <a:ext cx="2413000" cy="127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6667500" y="4673600"/>
            <a:ext cx="1905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lowest intent, highest waste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502920" y="4940300"/>
            <a:ext cx="10927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shopper follows exactly one path, owned first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 segments (A1, A2, A4, A6, Cohort Table); team targeting plan; timings from the strategy's segment matrix.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14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diamond is a saved CJA segment, so one rule drives both the message and its measurement</a:t>
            </a:r>
            <a:endParaRPr lang="en-US" sz="1300" dirty="0"/>
          </a:p>
        </p:txBody>
      </p:sp>
      <p:sp>
        <p:nvSpPr>
          <p:cNvPr id="16" name="Rounded Rectangle 15"/>
          <p:cNvSpPr/>
          <p:nvPr/>
        </p:nvSpPr>
        <p:spPr>
          <a:xfrm>
            <a:off x="502920" y="2819400"/>
            <a:ext cx="1270000" cy="584200"/>
          </a:xfrm>
          <a:prstGeom prst="roundRect">
            <a:avLst>
              <a:gd name="adj" fmla="val 12000"/>
            </a:avLst>
          </a:prstGeom>
          <a:solidFill>
            <a:srgbClr val="0A1F44"/>
          </a:solidFill>
          <a:ln w="12700">
            <a:solidFill>
              <a:srgbClr val="0A1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04520" y="2844800"/>
            <a:ext cx="1066800" cy="533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Shopper adds to cart</a:t>
            </a:r>
          </a:p>
        </p:txBody>
      </p:sp>
      <p:sp>
        <p:nvSpPr>
          <p:cNvPr id="18" name="Diamond 17"/>
          <p:cNvSpPr/>
          <p:nvPr/>
        </p:nvSpPr>
        <p:spPr>
          <a:xfrm>
            <a:off x="1866900" y="2743200"/>
            <a:ext cx="990600" cy="7366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0A1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019300" y="2743200"/>
            <a:ext cx="685800" cy="736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0A1F44"/>
                </a:solidFill>
                <a:latin typeface="Inter"/>
              </a:rPr>
              <a:t>Orders?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772920" y="3111500"/>
            <a:ext cx="93980" cy="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2362200" y="1905000"/>
            <a:ext cx="0" cy="838200"/>
          </a:xfrm>
          <a:prstGeom prst="line">
            <a:avLst/>
          </a:prstGeom>
          <a:ln w="1587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362200" y="1905000"/>
            <a:ext cx="660400" cy="0"/>
          </a:xfrm>
          <a:prstGeom prst="line">
            <a:avLst/>
          </a:prstGeom>
          <a:ln w="15875">
            <a:solidFill>
              <a:srgbClr val="0F17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413000" y="22860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6A34A"/>
                </a:solidFill>
                <a:latin typeface="Inter"/>
              </a:rPr>
              <a:t>Yes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48000" y="1549400"/>
            <a:ext cx="2159000" cy="71120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3149600" y="1574800"/>
            <a:ext cx="1955800" cy="660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Order ships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0F172A"/>
                </a:solidFill>
                <a:latin typeface="Inter"/>
              </a:rPr>
              <a:t>Passport card in the box; tracking opens in the app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48000" y="2387600"/>
            <a:ext cx="2159000" cy="431800"/>
          </a:xfrm>
          <a:prstGeom prst="roundRect">
            <a:avLst>
              <a:gd name="adj" fmla="val 12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3149600" y="2413000"/>
            <a:ext cx="1955800" cy="381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991B1B"/>
                </a:solidFill>
                <a:latin typeface="Inter"/>
              </a:rPr>
              <a:t>Removed from paid retargeting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127500" y="2260600"/>
            <a:ext cx="0" cy="127000"/>
          </a:xfrm>
          <a:prstGeom prst="line">
            <a:avLst/>
          </a:prstGeom>
          <a:ln w="22225">
            <a:solidFill>
              <a:srgbClr val="DC262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Diamond 28"/>
          <p:cNvSpPr/>
          <p:nvPr/>
        </p:nvSpPr>
        <p:spPr>
          <a:xfrm>
            <a:off x="5435600" y="1498600"/>
            <a:ext cx="1320800" cy="8128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0A1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588000" y="1498600"/>
            <a:ext cx="1016000" cy="812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0A1F44"/>
                </a:solidFill>
                <a:latin typeface="Inter"/>
              </a:rPr>
              <a:t>Engaged after order one?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207000" y="1905000"/>
            <a:ext cx="228600" cy="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061200" y="1524000"/>
            <a:ext cx="2413000" cy="76200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7162800" y="1549400"/>
            <a:ext cx="22098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Golden Month, weeks 1–4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0F172A"/>
                </a:solidFill>
                <a:latin typeface="Inter"/>
              </a:rPr>
              <a:t>Care and fit, then a second category; cashmere → Material Journeys by day 21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756400" y="1905000"/>
            <a:ext cx="304800" cy="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6781800" y="17272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6A34A"/>
                </a:solidFill>
                <a:latin typeface="Inter"/>
              </a:rPr>
              <a:t>Yes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97500" y="2717800"/>
            <a:ext cx="2286000" cy="76200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499100" y="2743200"/>
            <a:ext cx="2082800" cy="711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Not engaged yet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0F172A"/>
                </a:solidFill>
                <a:latin typeface="Inter"/>
              </a:rPr>
              <a:t>One ask at delivery, day 7, day 21: register your piece; customer-match ads if no owned address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6000" y="2311400"/>
            <a:ext cx="0" cy="40640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159500" y="24130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DC2626"/>
                </a:solidFill>
                <a:latin typeface="Inter"/>
              </a:rPr>
              <a:t>No</a:t>
            </a:r>
          </a:p>
        </p:txBody>
      </p:sp>
      <p:sp>
        <p:nvSpPr>
          <p:cNvPr id="40" name="Diamond 39"/>
          <p:cNvSpPr/>
          <p:nvPr/>
        </p:nvSpPr>
        <p:spPr>
          <a:xfrm>
            <a:off x="9906000" y="2095500"/>
            <a:ext cx="1270000" cy="7874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0A1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10058400" y="2095500"/>
            <a:ext cx="965200" cy="787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0A1F44"/>
                </a:solidFill>
                <a:latin typeface="Inter"/>
              </a:rPr>
              <a:t>Second order by day 60?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9474200" y="1905000"/>
            <a:ext cx="228600" cy="0"/>
          </a:xfrm>
          <a:prstGeom prst="line">
            <a:avLst/>
          </a:prstGeom>
          <a:ln w="1587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9702800" y="1905000"/>
            <a:ext cx="0" cy="584200"/>
          </a:xfrm>
          <a:prstGeom prst="line">
            <a:avLst/>
          </a:prstGeom>
          <a:ln w="1587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9702800" y="2489200"/>
            <a:ext cx="203200" cy="0"/>
          </a:xfrm>
          <a:prstGeom prst="line">
            <a:avLst/>
          </a:prstGeom>
          <a:ln w="15875">
            <a:solidFill>
              <a:srgbClr val="0F17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7683500" y="3098800"/>
            <a:ext cx="2019300" cy="0"/>
          </a:xfrm>
          <a:prstGeom prst="line">
            <a:avLst/>
          </a:prstGeom>
          <a:ln w="1587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9702800" y="2501900"/>
            <a:ext cx="0" cy="596900"/>
          </a:xfrm>
          <a:prstGeom prst="line">
            <a:avLst/>
          </a:prstGeom>
          <a:ln w="15875">
            <a:solidFill>
              <a:srgbClr val="0F17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9931400" y="1295400"/>
            <a:ext cx="1752600" cy="533400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10033000" y="1320800"/>
            <a:ext cx="1549400" cy="482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Inter"/>
              </a:rPr>
              <a:t>Repeat buyer</a:t>
            </a:r>
          </a:p>
          <a:p>
            <a:pPr algn="l">
              <a:spcBef>
                <a:spcPts val="100"/>
              </a:spcBef>
            </a:pPr>
            <a:r>
              <a:rPr sz="800" b="0">
                <a:solidFill>
                  <a:srgbClr val="FFFFFF"/>
                </a:solidFill>
                <a:latin typeface="Inter"/>
              </a:rPr>
              <a:t>Quince Insider early access</a:t>
            </a:r>
          </a:p>
        </p:txBody>
      </p:sp>
      <p:cxnSp>
        <p:nvCxnSpPr>
          <p:cNvPr id="49" name="Connector 48"/>
          <p:cNvCxnSpPr/>
          <p:nvPr/>
        </p:nvCxnSpPr>
        <p:spPr>
          <a:xfrm flipV="1">
            <a:off x="10541000" y="1841500"/>
            <a:ext cx="0" cy="25400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10617200" y="19050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6A34A"/>
                </a:solidFill>
                <a:latin typeface="Inter"/>
              </a:rPr>
              <a:t>Yes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931400" y="3149600"/>
            <a:ext cx="1752600" cy="53340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10033000" y="3175000"/>
            <a:ext cx="1549400" cy="482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0A1F44"/>
                </a:solidFill>
                <a:latin typeface="Inter"/>
              </a:rPr>
              <a:t>Day 60</a:t>
            </a:r>
          </a:p>
          <a:p>
            <a:pPr algn="l">
              <a:spcBef>
                <a:spcPts val="100"/>
              </a:spcBef>
            </a:pPr>
            <a:r>
              <a:rPr sz="800" b="0">
                <a:solidFill>
                  <a:srgbClr val="0F172A"/>
                </a:solidFill>
                <a:latin typeface="Inter"/>
              </a:rPr>
              <a:t>Restock-first access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0541000" y="2882900"/>
            <a:ext cx="0" cy="26670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10617200" y="29210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DC2626"/>
                </a:solidFill>
                <a:latin typeface="Inter"/>
              </a:rPr>
              <a:t>No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362200" y="3479800"/>
            <a:ext cx="0" cy="1117600"/>
          </a:xfrm>
          <a:prstGeom prst="line">
            <a:avLst/>
          </a:prstGeom>
          <a:ln w="1587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2362200" y="4597400"/>
            <a:ext cx="736600" cy="0"/>
          </a:xfrm>
          <a:prstGeom prst="line">
            <a:avLst/>
          </a:prstGeom>
          <a:ln w="15875">
            <a:solidFill>
              <a:srgbClr val="0F17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438400" y="38100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DC2626"/>
                </a:solidFill>
                <a:latin typeface="Inter"/>
              </a:rPr>
              <a:t>No</a:t>
            </a:r>
          </a:p>
        </p:txBody>
      </p:sp>
      <p:sp>
        <p:nvSpPr>
          <p:cNvPr id="58" name="Diamond 57"/>
          <p:cNvSpPr/>
          <p:nvPr/>
        </p:nvSpPr>
        <p:spPr>
          <a:xfrm>
            <a:off x="3098800" y="4203700"/>
            <a:ext cx="1422400" cy="7874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0A1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TextBox 58"/>
          <p:cNvSpPr txBox="1"/>
          <p:nvPr/>
        </p:nvSpPr>
        <p:spPr>
          <a:xfrm>
            <a:off x="3251200" y="4203700"/>
            <a:ext cx="1117600" cy="787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800" b="1">
                <a:solidFill>
                  <a:srgbClr val="0A1F44"/>
                </a:solidFill>
                <a:latin typeface="Inter"/>
              </a:rPr>
              <a:t>Reachable by email or app?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4521200" y="4597400"/>
            <a:ext cx="152400" cy="0"/>
          </a:xfrm>
          <a:prstGeom prst="line">
            <a:avLst/>
          </a:prstGeom>
          <a:ln w="1587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4673600" y="4394200"/>
            <a:ext cx="0" cy="203200"/>
          </a:xfrm>
          <a:prstGeom prst="line">
            <a:avLst/>
          </a:prstGeom>
          <a:ln w="1587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4673600" y="4394200"/>
            <a:ext cx="152400" cy="0"/>
          </a:xfrm>
          <a:prstGeom prst="line">
            <a:avLst/>
          </a:prstGeom>
          <a:ln w="15875">
            <a:solidFill>
              <a:srgbClr val="0F17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4572000" y="41910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6A34A"/>
                </a:solidFill>
                <a:latin typeface="Inter"/>
              </a:rPr>
              <a:t>Yes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4826000" y="4140200"/>
            <a:ext cx="2667000" cy="508000"/>
          </a:xfrm>
          <a:prstGeom prst="roundRect">
            <a:avLst>
              <a:gd name="adj" fmla="val 12000"/>
            </a:avLst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5" name="TextBox 64"/>
          <p:cNvSpPr txBox="1"/>
          <p:nvPr/>
        </p:nvSpPr>
        <p:spPr>
          <a:xfrm>
            <a:off x="4927600" y="4165600"/>
            <a:ext cx="2463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0A1F44"/>
                </a:solidFill>
                <a:latin typeface="Inter"/>
              </a:rPr>
              <a:t>Saved Cart</a:t>
            </a:r>
          </a:p>
          <a:p>
            <a:pPr algn="l">
              <a:spcBef>
                <a:spcPts val="100"/>
              </a:spcBef>
            </a:pPr>
            <a:r>
              <a:rPr sz="800" b="0">
                <a:solidFill>
                  <a:srgbClr val="0F172A"/>
                </a:solidFill>
                <a:latin typeface="Inter"/>
              </a:rPr>
              <a:t>Reminder at 1h and again at 24h; never a discount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4673600" y="4597400"/>
            <a:ext cx="0" cy="482600"/>
          </a:xfrm>
          <a:prstGeom prst="line">
            <a:avLst/>
          </a:prstGeom>
          <a:ln w="1587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4673600" y="5080000"/>
            <a:ext cx="152400" cy="0"/>
          </a:xfrm>
          <a:prstGeom prst="line">
            <a:avLst/>
          </a:prstGeom>
          <a:ln w="15875">
            <a:solidFill>
              <a:srgbClr val="0F17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470400" y="48768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DC2626"/>
                </a:solidFill>
                <a:latin typeface="Inter"/>
              </a:rPr>
              <a:t>No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826000" y="4826000"/>
            <a:ext cx="2667000" cy="5080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4927600" y="4851400"/>
            <a:ext cx="24638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Inter"/>
              </a:rPr>
              <a:t>Paid retargeting, days 1–7</a:t>
            </a:r>
          </a:p>
          <a:p>
            <a:pPr algn="l">
              <a:spcBef>
                <a:spcPts val="100"/>
              </a:spcBef>
            </a:pPr>
            <a:r>
              <a:rPr sz="800" b="0">
                <a:solidFill>
                  <a:srgbClr val="0F172A"/>
                </a:solidFill>
                <a:latin typeface="Inter"/>
              </a:rPr>
              <a:t>Max 3 ads a week: the only job left for retargeting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569200" y="4470400"/>
            <a:ext cx="889000" cy="635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Inter"/>
              </a:rPr>
              <a:t>If they order, they join the top path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763000" y="4089400"/>
            <a:ext cx="292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>
                <a:solidFill>
                  <a:srgbClr val="1D4ED8"/>
                </a:solidFill>
                <a:latin typeface="Inter"/>
              </a:rPr>
              <a:t>LEGEND</a:t>
            </a:r>
          </a:p>
        </p:txBody>
      </p:sp>
      <p:sp>
        <p:nvSpPr>
          <p:cNvPr id="73" name="Diamond 72"/>
          <p:cNvSpPr/>
          <p:nvPr/>
        </p:nvSpPr>
        <p:spPr>
          <a:xfrm>
            <a:off x="8763000" y="4318000"/>
            <a:ext cx="228600" cy="1778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0A1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9067800" y="4292600"/>
            <a:ext cx="25400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  <a:latin typeface="Inter"/>
              </a:rPr>
              <a:t>Saved CJA segment test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8763000" y="4572000"/>
            <a:ext cx="228600" cy="152400"/>
          </a:xfrm>
          <a:prstGeom prst="roundRect">
            <a:avLst>
              <a:gd name="adj" fmla="val 20000"/>
            </a:avLst>
          </a:prstGeom>
          <a:solidFill>
            <a:srgbClr val="EFF6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6" name="TextBox 75"/>
          <p:cNvSpPr txBox="1"/>
          <p:nvPr/>
        </p:nvSpPr>
        <p:spPr>
          <a:xfrm>
            <a:off x="9067800" y="4546600"/>
            <a:ext cx="25400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  <a:latin typeface="Inter"/>
              </a:rPr>
              <a:t>Owned channel: app, email, SMS, box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8763000" y="4800600"/>
            <a:ext cx="228600" cy="152400"/>
          </a:xfrm>
          <a:prstGeom prst="roundRect">
            <a:avLst>
              <a:gd name="adj" fmla="val 20000"/>
            </a:avLst>
          </a:prstGeom>
          <a:solidFill>
            <a:srgbClr val="F1F5F9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8" name="TextBox 77"/>
          <p:cNvSpPr txBox="1"/>
          <p:nvPr/>
        </p:nvSpPr>
        <p:spPr>
          <a:xfrm>
            <a:off x="9067800" y="4775200"/>
            <a:ext cx="25400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  <a:latin typeface="Inter"/>
              </a:rPr>
              <a:t>Paid media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8763000" y="5029200"/>
            <a:ext cx="228600" cy="152400"/>
          </a:xfrm>
          <a:prstGeom prst="roundRect">
            <a:avLst>
              <a:gd name="adj" fmla="val 20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0" name="TextBox 79"/>
          <p:cNvSpPr txBox="1"/>
          <p:nvPr/>
        </p:nvSpPr>
        <p:spPr>
          <a:xfrm>
            <a:off x="9067800" y="5003800"/>
            <a:ext cx="2540000" cy="203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  <a:latin typeface="Inter"/>
              </a:rPr>
              <a:t>Removed from paid media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Fourteen programs, three flagships, zero discounts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team strategy. Each program sits in one lever, works on one named behaviour and has a KPI CJA can read.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15</a:t>
            </a:r>
            <a:endParaRPr lang="en-US" sz="800" dirty="0"/>
          </a:p>
        </p:txBody>
      </p:sp>
      <p:sp>
        <p:nvSpPr>
          <p:cNvPr id="10" name="TextBox 9"/>
          <p:cNvSpPr txBox="1"/>
          <p:nvPr/>
        </p:nvSpPr>
        <p:spPr>
          <a:xfrm>
            <a:off x="502920" y="1244600"/>
            <a:ext cx="36195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D4ED8"/>
                </a:solidFill>
                <a:latin typeface="Inter"/>
              </a:rPr>
              <a:t>1  Capture every buyer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02920" y="1498600"/>
            <a:ext cx="3619500" cy="0"/>
          </a:xfrm>
          <a:prstGeom prst="line">
            <a:avLst/>
          </a:prstGeom>
          <a:ln w="15875">
            <a:solidFill>
              <a:srgbClr val="0A1F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02920" y="15748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★ Quince Passport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Box card: register your piece. Endowment, peak-end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Registrations per 100 boxes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2920" y="22987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02920" y="23495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Track It in the App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Tracking opens in the app by default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App installs per 100 orders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2920" y="30734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2920" y="31242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Saved Cart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Reminder within hours, no discount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Cart → order vs holdout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2920" y="38481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02920" y="38989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Restock-First Waitlist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"Text me when it's back", real sell-outs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Sign-ups → first orders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46228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2920" y="46736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The Fitting Room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Members-only pop-up, entry via the app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App installs per visitor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53975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274820" y="1244600"/>
            <a:ext cx="36195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D4ED8"/>
                </a:solidFill>
                <a:latin typeface="Inter"/>
              </a:rPr>
              <a:t>2  Win the Golden Month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274820" y="1498600"/>
            <a:ext cx="3619500" cy="0"/>
          </a:xfrm>
          <a:prstGeom prst="line">
            <a:avLst/>
          </a:prstGeom>
          <a:ln w="15875">
            <a:solidFill>
              <a:srgbClr val="0A1F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274820" y="15748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★ Material Journeys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Cashmere buyer → throw or linen. Mental accounting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2nd-category rate, 60 days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274820" y="22987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274820" y="23495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Care Calendar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Seasonal care keeps knitwear buyers close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Monthly active app users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274820" y="30734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274820" y="31242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Gift Ledger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Saved dates trigger picks 14 days before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Gift orders per saved date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274820" y="38481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274820" y="38989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Quince Insider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Early access earned by engagement, not spend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Insider repeat vs others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274820" y="46228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74820" y="46736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Beauty Refill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Reminders timed to each product's use cycle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Refills per beauty buyer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4274820" y="53975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4274820" y="54483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Cashmere Second Life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Take-back rewarded with early access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Next order within 60 days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274820" y="61722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46720" y="1244600"/>
            <a:ext cx="36195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D4ED8"/>
                </a:solidFill>
                <a:latin typeface="Inter"/>
              </a:rPr>
              <a:t>3  Never pay twice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046720" y="1498600"/>
            <a:ext cx="3619500" cy="0"/>
          </a:xfrm>
          <a:prstGeom prst="line">
            <a:avLst/>
          </a:prstGeom>
          <a:ln w="15875">
            <a:solidFill>
              <a:srgbClr val="0A1F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8046720" y="15748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★ Never Pay Twice Engine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Daily CJA suppression of own buyers in paid ads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Incremental orders per $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046720" y="22987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8046720" y="23495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Loyalist Lookalikes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Half of prospecting seeded on repeat buyers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90-day revenue per $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8046720" y="30734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046720" y="3124200"/>
            <a:ext cx="3619500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Proof Creators</a:t>
            </a:r>
          </a:p>
          <a:p>
            <a:pPr algn="l">
              <a:spcBef>
                <a:spcPts val="100"/>
              </a:spcBef>
            </a:pPr>
            <a:r>
              <a:rPr sz="900" b="0">
                <a:solidFill>
                  <a:srgbClr val="0F172A"/>
                </a:solidFill>
                <a:latin typeface="Inter"/>
              </a:rPr>
              <a:t>Wear-tests and fabric close-ups, $1.5M from search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1D4ED8"/>
                </a:solidFill>
                <a:latin typeface="Inter"/>
              </a:rPr>
              <a:t>KPI: Product view → cart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046720" y="3848100"/>
            <a:ext cx="36195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drivers lift 90-day repeat from 24% to 31%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Exhibits E and J (baseline 24%); Adobe CJA A2/A5 measured haircuts (app 17%, SMS 37%); new-lever sizes are team estimates.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16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 the downside with buffers reaches the 30% target; Gate 2 checks 28% at month 9</a:t>
            </a:r>
            <a:endParaRPr lang="en-US" sz="1300" dirty="0"/>
          </a:p>
        </p:txBody>
      </p:sp>
      <p:sp>
        <p:nvSpPr>
          <p:cNvPr id="16" name="Rectangle 15"/>
          <p:cNvSpPr/>
          <p:nvPr/>
        </p:nvSpPr>
        <p:spPr>
          <a:xfrm>
            <a:off x="629920" y="4172857"/>
            <a:ext cx="660400" cy="957942"/>
          </a:xfrm>
          <a:prstGeom prst="rect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2120" y="3956957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A1F44"/>
                </a:solidFill>
                <a:latin typeface="Inter"/>
              </a:rPr>
              <a:t>24.0%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194300"/>
            <a:ext cx="9144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F172A"/>
                </a:solidFill>
                <a:latin typeface="Inter"/>
              </a:rPr>
              <a:t>Today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290320" y="4172857"/>
            <a:ext cx="254000" cy="0"/>
          </a:xfrm>
          <a:prstGeom prst="line">
            <a:avLst/>
          </a:prstGeom>
          <a:ln w="952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1544320" y="3598091"/>
            <a:ext cx="660400" cy="574765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366520" y="3382191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A1F44"/>
                </a:solidFill>
                <a:latin typeface="Inter"/>
              </a:rPr>
              <a:t>+2.4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194300"/>
            <a:ext cx="9144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F172A"/>
                </a:solidFill>
                <a:latin typeface="Inter"/>
              </a:rPr>
              <a:t>SMS capture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204720" y="3598091"/>
            <a:ext cx="254000" cy="0"/>
          </a:xfrm>
          <a:prstGeom prst="line">
            <a:avLst/>
          </a:prstGeom>
          <a:ln w="952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2458720" y="3119120"/>
            <a:ext cx="660400" cy="478971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2280920" y="290322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A1F44"/>
                </a:solidFill>
                <a:latin typeface="Inter"/>
              </a:rPr>
              <a:t>+2.0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31720" y="5194300"/>
            <a:ext cx="9144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F172A"/>
                </a:solidFill>
                <a:latin typeface="Inter"/>
              </a:rPr>
              <a:t>App capture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119120" y="3119120"/>
            <a:ext cx="254000" cy="0"/>
          </a:xfrm>
          <a:prstGeom prst="line">
            <a:avLst/>
          </a:prstGeom>
          <a:ln w="952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3373120" y="2664097"/>
            <a:ext cx="660400" cy="455022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195320" y="2448197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A1F44"/>
                </a:solidFill>
                <a:latin typeface="Inter"/>
              </a:rPr>
              <a:t>+1.9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6120" y="5194300"/>
            <a:ext cx="9144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F172A"/>
                </a:solidFill>
                <a:latin typeface="Inter"/>
              </a:rPr>
              <a:t>Cashmere cross-sell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033520" y="2664097"/>
            <a:ext cx="254000" cy="0"/>
          </a:xfrm>
          <a:prstGeom prst="line">
            <a:avLst/>
          </a:prstGeom>
          <a:ln w="952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4287520" y="2328817"/>
            <a:ext cx="660400" cy="335279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109720" y="2112917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A1F44"/>
                </a:solidFill>
                <a:latin typeface="Inter"/>
              </a:rPr>
              <a:t>+1.4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60520" y="5194300"/>
            <a:ext cx="9144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F172A"/>
                </a:solidFill>
                <a:latin typeface="Inter"/>
              </a:rPr>
              <a:t>Triggered journeys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947920" y="2328817"/>
            <a:ext cx="254000" cy="0"/>
          </a:xfrm>
          <a:prstGeom prst="line">
            <a:avLst/>
          </a:prstGeom>
          <a:ln w="952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35"/>
          <p:cNvSpPr/>
          <p:nvPr/>
        </p:nvSpPr>
        <p:spPr>
          <a:xfrm>
            <a:off x="5201920" y="2233022"/>
            <a:ext cx="660400" cy="95794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024120" y="2017122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A1F44"/>
                </a:solidFill>
                <a:latin typeface="Inter"/>
              </a:rPr>
              <a:t>+0.4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5194300"/>
            <a:ext cx="9144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F172A"/>
                </a:solidFill>
                <a:latin typeface="Inter"/>
              </a:rPr>
              <a:t>Quince Passport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862320" y="2233022"/>
            <a:ext cx="254000" cy="0"/>
          </a:xfrm>
          <a:prstGeom prst="line">
            <a:avLst/>
          </a:prstGeom>
          <a:ln w="952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6116320" y="2017485"/>
            <a:ext cx="660400" cy="215537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5938520" y="1801585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A1F44"/>
                </a:solidFill>
                <a:latin typeface="Inter"/>
              </a:rPr>
              <a:t>+0.9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9320" y="5194300"/>
            <a:ext cx="9144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F172A"/>
                </a:solidFill>
                <a:latin typeface="Inter"/>
              </a:rPr>
              <a:t>Loyalist Lookalikes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776720" y="2017485"/>
            <a:ext cx="254000" cy="0"/>
          </a:xfrm>
          <a:prstGeom prst="line">
            <a:avLst/>
          </a:prstGeom>
          <a:ln w="952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7030720" y="2017485"/>
            <a:ext cx="660400" cy="478971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852920" y="1801585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DC2626"/>
                </a:solidFill>
                <a:latin typeface="Inter"/>
              </a:rPr>
              <a:t>−2.0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3720" y="5194300"/>
            <a:ext cx="9144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F172A"/>
                </a:solidFill>
                <a:latin typeface="Inter"/>
              </a:rPr>
              <a:t>Haircuts: bias, overlap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7691120" y="2496457"/>
            <a:ext cx="254000" cy="0"/>
          </a:xfrm>
          <a:prstGeom prst="line">
            <a:avLst/>
          </a:prstGeom>
          <a:ln w="9525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7945120" y="2496457"/>
            <a:ext cx="660400" cy="2634342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7767320" y="2280557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A1F44"/>
                </a:solidFill>
                <a:latin typeface="Inter"/>
              </a:rPr>
              <a:t>31.0%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18120" y="5194300"/>
            <a:ext cx="914400" cy="355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50" b="0">
                <a:solidFill>
                  <a:srgbClr val="0F172A"/>
                </a:solidFill>
                <a:latin typeface="Inter"/>
              </a:rPr>
              <a:t>Base case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02920" y="5130800"/>
            <a:ext cx="8356600" cy="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02920" y="5562600"/>
            <a:ext cx="2540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64748B"/>
                </a:solidFill>
                <a:latin typeface="Inter"/>
              </a:rPr>
              <a:t>Axis starts at 20%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90000" y="1270000"/>
            <a:ext cx="2794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SCENARIOS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890000" y="1498600"/>
            <a:ext cx="2794000" cy="0"/>
          </a:xfrm>
          <a:prstGeom prst="line">
            <a:avLst/>
          </a:prstGeom>
          <a:ln w="15875">
            <a:solidFill>
              <a:srgbClr val="0A1F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8890000" y="1574800"/>
            <a:ext cx="19050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Gross plan</a:t>
            </a:r>
          </a:p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no haircuts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668000" y="1574800"/>
            <a:ext cx="101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1">
                <a:solidFill>
                  <a:srgbClr val="0A1F44"/>
                </a:solidFill>
                <a:latin typeface="Inter"/>
              </a:rPr>
              <a:t>33.0%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8890000" y="2133600"/>
            <a:ext cx="27940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8890000" y="2184400"/>
            <a:ext cx="19050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Base case</a:t>
            </a:r>
          </a:p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measured haircuts, 15% overlap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668000" y="2184400"/>
            <a:ext cx="101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1">
                <a:solidFill>
                  <a:srgbClr val="1D4ED8"/>
                </a:solidFill>
                <a:latin typeface="Inter"/>
              </a:rPr>
              <a:t>31.0%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890000" y="2743200"/>
            <a:ext cx="27940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8890000" y="2794000"/>
            <a:ext cx="19050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Downside</a:t>
            </a:r>
          </a:p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50% haircut on everything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668000" y="2794000"/>
            <a:ext cx="101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1">
                <a:solidFill>
                  <a:srgbClr val="0A1F44"/>
                </a:solidFill>
                <a:latin typeface="Inter"/>
              </a:rPr>
              <a:t>29.5%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8890000" y="3352800"/>
            <a:ext cx="27940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8890000" y="3403600"/>
            <a:ext cx="19050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Downside + buffers</a:t>
            </a:r>
          </a:p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perks and beauty at 50%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668000" y="3403600"/>
            <a:ext cx="101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1">
                <a:solidFill>
                  <a:srgbClr val="0A1F44"/>
                </a:solidFill>
                <a:latin typeface="Inter"/>
              </a:rPr>
              <a:t>30.0%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8890000" y="3962400"/>
            <a:ext cx="279400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Cashmere brings buyers in; other categories bring them back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 A6 (repeat on a ~3-month window, so lower than the case); case Exhibit F (90-day repeat, illustrative).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17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 cashmere buyers to a second category, never a second sweater: that is Material Journeys</a:t>
            </a:r>
            <a:endParaRPr lang="en-US" sz="1300" dirty="0"/>
          </a:p>
        </p:txBody>
      </p:sp>
      <p:sp>
        <p:nvSpPr>
          <p:cNvPr id="16" name="TextBox 15"/>
          <p:cNvSpPr txBox="1"/>
          <p:nvPr/>
        </p:nvSpPr>
        <p:spPr>
          <a:xfrm>
            <a:off x="502920" y="1244600"/>
            <a:ext cx="5969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A1F44"/>
                </a:solidFill>
                <a:latin typeface="Inter"/>
              </a:rPr>
              <a:t>Repeat rate by category,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485900"/>
            <a:ext cx="5969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Inter"/>
              </a:rPr>
              <a:t>Both sources rank cashmere last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6920" y="3986348"/>
            <a:ext cx="457200" cy="1093651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9920" y="3783148"/>
            <a:ext cx="711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A1F44"/>
                </a:solidFill>
                <a:latin typeface="Inter"/>
              </a:rPr>
              <a:t>13.7%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264920" y="3563257"/>
            <a:ext cx="457200" cy="1516742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137920" y="3360057"/>
            <a:ext cx="711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A1F44"/>
                </a:solidFill>
                <a:latin typeface="Inter"/>
              </a:rPr>
              <a:t>19%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920" y="5143500"/>
            <a:ext cx="965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Inter"/>
              </a:rPr>
              <a:t>Cashmere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217420" y="3419565"/>
            <a:ext cx="457200" cy="1660434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090420" y="3216365"/>
            <a:ext cx="711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A1F44"/>
                </a:solidFill>
                <a:latin typeface="Inter"/>
              </a:rPr>
              <a:t>20.8%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25420" y="2445657"/>
            <a:ext cx="457200" cy="2634342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2598420" y="2242457"/>
            <a:ext cx="711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A1F44"/>
                </a:solidFill>
                <a:latin typeface="Inter"/>
              </a:rPr>
              <a:t>33%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17420" y="5143500"/>
            <a:ext cx="965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Inter"/>
              </a:rPr>
              <a:t>Home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77920" y="3523342"/>
            <a:ext cx="457200" cy="1556657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3550920" y="3320142"/>
            <a:ext cx="711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A1F44"/>
                </a:solidFill>
                <a:latin typeface="Inter"/>
              </a:rPr>
              <a:t>19.5%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85920" y="2924628"/>
            <a:ext cx="457200" cy="2155371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058920" y="2721428"/>
            <a:ext cx="711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A1F44"/>
                </a:solidFill>
                <a:latin typeface="Inter"/>
              </a:rPr>
              <a:t>27%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77920" y="5143500"/>
            <a:ext cx="965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Inter"/>
              </a:rPr>
              <a:t>Jewelry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38420" y="3603171"/>
            <a:ext cx="457200" cy="1476828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5011420" y="3399971"/>
            <a:ext cx="711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A1F44"/>
                </a:solidFill>
                <a:latin typeface="Inter"/>
              </a:rPr>
              <a:t>18.5%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46420" y="2605314"/>
            <a:ext cx="457200" cy="2474685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5519420" y="2402114"/>
            <a:ext cx="711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A1F44"/>
                </a:solidFill>
                <a:latin typeface="Inter"/>
              </a:rPr>
              <a:t>31%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38420" y="5143500"/>
            <a:ext cx="9652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Inter"/>
              </a:rPr>
              <a:t>Beauty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29920" y="5080000"/>
            <a:ext cx="5842000" cy="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56920" y="1778000"/>
            <a:ext cx="127000" cy="127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934719" y="1739900"/>
            <a:ext cx="1778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Inter"/>
              </a:rPr>
              <a:t>CJA, Jan–Apr 2026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88920" y="1778000"/>
            <a:ext cx="127000" cy="127000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2966720" y="1739900"/>
            <a:ext cx="1778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Inter"/>
              </a:rPr>
              <a:t>Case Exhibit F, 90-day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604000" y="1244600"/>
            <a:ext cx="0" cy="424180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Oval 43"/>
          <p:cNvSpPr/>
          <p:nvPr/>
        </p:nvSpPr>
        <p:spPr>
          <a:xfrm>
            <a:off x="6921500" y="1282700"/>
            <a:ext cx="254000" cy="2540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6921500" y="1282700"/>
            <a:ext cx="254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27900" y="1270000"/>
            <a:ext cx="4356100" cy="111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A1F44"/>
                </a:solidFill>
                <a:latin typeface="Inter"/>
              </a:rPr>
              <a:t>Cashmere is the biggest door</a:t>
            </a:r>
          </a:p>
          <a:p>
            <a:pPr algn="l">
              <a:spcBef>
                <a:spcPts val="500"/>
              </a:spcBef>
            </a:pPr>
            <a:r>
              <a:rPr sz="1050" b="0">
                <a:solidFill>
                  <a:srgbClr val="0F172A"/>
                </a:solidFill>
                <a:latin typeface="Inter"/>
              </a:rPr>
              <a:t>It touches 40.7% of CJA buyers (38% of new customers in the case) but repeats least: 13.7%.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921500" y="2489200"/>
            <a:ext cx="476250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Oval 47"/>
          <p:cNvSpPr/>
          <p:nvPr/>
        </p:nvSpPr>
        <p:spPr>
          <a:xfrm>
            <a:off x="6921500" y="2654300"/>
            <a:ext cx="254000" cy="2540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6921500" y="2654300"/>
            <a:ext cx="254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27900" y="2641600"/>
            <a:ext cx="4356100" cy="111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A1F44"/>
                </a:solidFill>
                <a:latin typeface="Inter"/>
              </a:rPr>
              <a:t>Home keeps buyers longest</a:t>
            </a:r>
          </a:p>
          <a:p>
            <a:pPr algn="l">
              <a:spcBef>
                <a:spcPts val="500"/>
              </a:spcBef>
            </a:pPr>
            <a:r>
              <a:rPr sz="1050" b="0">
                <a:solidFill>
                  <a:srgbClr val="0F172A"/>
                </a:solidFill>
                <a:latin typeface="Inter"/>
              </a:rPr>
              <a:t>20.8% repeat in CJA, 33% in the case: higher baskets and a natural cross-sell from knitwear.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6921500" y="3860800"/>
            <a:ext cx="476250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Oval 51"/>
          <p:cNvSpPr/>
          <p:nvPr/>
        </p:nvSpPr>
        <p:spPr>
          <a:xfrm>
            <a:off x="6921500" y="4025900"/>
            <a:ext cx="254000" cy="2540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6921500" y="4025900"/>
            <a:ext cx="254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27900" y="4013200"/>
            <a:ext cx="4356100" cy="111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A1F44"/>
                </a:solidFill>
                <a:latin typeface="Inter"/>
              </a:rPr>
              <a:t>Jewelry and beauty are sticky</a:t>
            </a:r>
          </a:p>
          <a:p>
            <a:pPr algn="l">
              <a:spcBef>
                <a:spcPts val="500"/>
              </a:spcBef>
            </a:pPr>
            <a:r>
              <a:rPr sz="1050" b="0">
                <a:solidFill>
                  <a:srgbClr val="0F172A"/>
                </a:solidFill>
                <a:latin typeface="Inter"/>
              </a:rPr>
              <a:t>Gifting and replenishment drive returns: the Gift Ledger and Beauty Refill target them.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$9M moves inside $120M; owned share 5% → 11%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 G (today); team plan, tranches T1–T3 gated by CJA holdouts. Brand/other keeps $4M, of which $1.0M funds the Fitting Room test.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18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Cuts start with the least incremental spend; prospecting moves only if a holdout proves over-credit</a:t>
            </a:r>
            <a:endParaRPr lang="en-US" sz="1300" dirty="0"/>
          </a:p>
        </p:txBody>
      </p:sp>
      <p:sp>
        <p:nvSpPr>
          <p:cNvPr id="16" name="Rectangle 15"/>
          <p:cNvSpPr/>
          <p:nvPr/>
        </p:nvSpPr>
        <p:spPr>
          <a:xfrm>
            <a:off x="2540000" y="1295400"/>
            <a:ext cx="127000" cy="1270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2717800" y="12573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Inter"/>
              </a:rPr>
              <a:t>Today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56000" y="1295400"/>
            <a:ext cx="127000" cy="127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3733800" y="12573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F172A"/>
                </a:solidFill>
                <a:latin typeface="Inter"/>
              </a:rPr>
              <a:t>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1600200"/>
            <a:ext cx="19685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Inter"/>
              </a:rPr>
              <a:t>Paid social prospecting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540000" y="1638300"/>
            <a:ext cx="4665133" cy="1651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540000" y="1828800"/>
            <a:ext cx="4504266" cy="165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255933" y="1612900"/>
            <a:ext cx="63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$58M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95066" y="1803400"/>
            <a:ext cx="63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$56M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0" y="1600200"/>
            <a:ext cx="8890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>
                <a:solidFill>
                  <a:srgbClr val="DC2626"/>
                </a:solidFill>
                <a:latin typeface="Inter"/>
              </a:rPr>
              <a:t>−$2M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94800" y="1600200"/>
            <a:ext cx="24892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Inter"/>
              </a:rPr>
              <a:t>T3 · only if proven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02920" y="21082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02920" y="2235200"/>
            <a:ext cx="19685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Inter"/>
              </a:rPr>
              <a:t>Paid search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40000" y="2273300"/>
            <a:ext cx="1769533" cy="1651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2540000" y="2463800"/>
            <a:ext cx="1528233" cy="165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4360333" y="2247900"/>
            <a:ext cx="63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$22M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9033" y="2438400"/>
            <a:ext cx="63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$19M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28000" y="2235200"/>
            <a:ext cx="8890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>
                <a:solidFill>
                  <a:srgbClr val="DC2626"/>
                </a:solidFill>
                <a:latin typeface="Inter"/>
              </a:rPr>
              <a:t>−$3M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94800" y="2235200"/>
            <a:ext cx="24892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Inter"/>
              </a:rPr>
              <a:t>T2 · after geo holdout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02920" y="27432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02920" y="2870200"/>
            <a:ext cx="19685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Inter"/>
              </a:rPr>
              <a:t>Influencer and creators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540000" y="2908300"/>
            <a:ext cx="1286933" cy="1651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2540000" y="3098800"/>
            <a:ext cx="1407583" cy="165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3877733" y="2882900"/>
            <a:ext cx="63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$16M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98383" y="3073400"/>
            <a:ext cx="63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$17.5M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28000" y="2870200"/>
            <a:ext cx="8890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>
                <a:solidFill>
                  <a:srgbClr val="16A34A"/>
                </a:solidFill>
                <a:latin typeface="Inter"/>
              </a:rPr>
              <a:t>+$1.5M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94800" y="2870200"/>
            <a:ext cx="24892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Inter"/>
              </a:rPr>
              <a:t>with T2 · from search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02920" y="33782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502920" y="3505200"/>
            <a:ext cx="19685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Inter"/>
              </a:rPr>
              <a:t>Paid social retargeting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540000" y="3543300"/>
            <a:ext cx="1126066" cy="1651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2540000" y="3733800"/>
            <a:ext cx="804333" cy="165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716866" y="3517900"/>
            <a:ext cx="63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$14M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395133" y="3708400"/>
            <a:ext cx="63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$10M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28000" y="3505200"/>
            <a:ext cx="8890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>
                <a:solidFill>
                  <a:srgbClr val="DC2626"/>
                </a:solidFill>
                <a:latin typeface="Inter"/>
              </a:rPr>
              <a:t>−$4M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94800" y="3505200"/>
            <a:ext cx="24892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Inter"/>
              </a:rPr>
              <a:t>T1 · suppress own buyers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02920" y="40132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502920" y="4140200"/>
            <a:ext cx="19685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Inter"/>
              </a:rPr>
              <a:t>Email, SMS, app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540000" y="4178300"/>
            <a:ext cx="482600" cy="1651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Rectangle 53"/>
          <p:cNvSpPr/>
          <p:nvPr/>
        </p:nvSpPr>
        <p:spPr>
          <a:xfrm>
            <a:off x="2540000" y="4368800"/>
            <a:ext cx="1085850" cy="165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TextBox 54"/>
          <p:cNvSpPr txBox="1"/>
          <p:nvPr/>
        </p:nvSpPr>
        <p:spPr>
          <a:xfrm>
            <a:off x="3073400" y="4152900"/>
            <a:ext cx="63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$6M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76650" y="4343400"/>
            <a:ext cx="63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$13.5M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28000" y="4140200"/>
            <a:ext cx="8890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>
                <a:solidFill>
                  <a:srgbClr val="16A34A"/>
                </a:solidFill>
                <a:latin typeface="Inter"/>
              </a:rPr>
              <a:t>+$7.5M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194800" y="4140200"/>
            <a:ext cx="24892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Inter"/>
              </a:rPr>
              <a:t>T1–T3 · owned build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02920" y="46482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02920" y="4775200"/>
            <a:ext cx="19685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000" b="1">
                <a:solidFill>
                  <a:srgbClr val="0F172A"/>
                </a:solidFill>
                <a:latin typeface="Inter"/>
              </a:rPr>
              <a:t>Brand and other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540000" y="4813300"/>
            <a:ext cx="321733" cy="1651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Rectangle 61"/>
          <p:cNvSpPr/>
          <p:nvPr/>
        </p:nvSpPr>
        <p:spPr>
          <a:xfrm>
            <a:off x="2540000" y="5003800"/>
            <a:ext cx="321733" cy="1651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TextBox 62"/>
          <p:cNvSpPr txBox="1"/>
          <p:nvPr/>
        </p:nvSpPr>
        <p:spPr>
          <a:xfrm>
            <a:off x="2912533" y="4787900"/>
            <a:ext cx="63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64748B"/>
                </a:solidFill>
                <a:latin typeface="Inter"/>
              </a:rPr>
              <a:t>$4M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12533" y="4978400"/>
            <a:ext cx="635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$4M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128000" y="4775200"/>
            <a:ext cx="8890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300" b="1">
                <a:solidFill>
                  <a:srgbClr val="64748B"/>
                </a:solidFill>
                <a:latin typeface="Inter"/>
              </a:rPr>
              <a:t>±$0M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94800" y="4775200"/>
            <a:ext cx="24892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Inter"/>
              </a:rPr>
              <a:t>incl. $1.0M Fitting Room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02920" y="52832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2540000" y="1524000"/>
            <a:ext cx="0" cy="3860800"/>
          </a:xfrm>
          <a:prstGeom prst="line">
            <a:avLst/>
          </a:prstGeom>
          <a:ln w="9525">
            <a:solidFill>
              <a:srgbClr val="0F17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Last click undervalues owned channels about three times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 Attribution IQ, Order Revenue ($337,044), Marketing Channel, Person container, 90-day lookback, 1 Jan–30 Apr 2026.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19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Retargeting barely moves across models, so its cut rests on holdouts, not on attribution</a:t>
            </a:r>
            <a:endParaRPr lang="en-US" sz="1300" dirty="0"/>
          </a:p>
        </p:txBody>
      </p:sp>
      <p:cxnSp>
        <p:nvCxnSpPr>
          <p:cNvPr id="16" name="Connector 15"/>
          <p:cNvCxnSpPr/>
          <p:nvPr/>
        </p:nvCxnSpPr>
        <p:spPr>
          <a:xfrm>
            <a:off x="2413000" y="1498600"/>
            <a:ext cx="0" cy="388620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222500" y="12954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Inter"/>
              </a:rPr>
              <a:t>0%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378200" y="1498600"/>
            <a:ext cx="0" cy="388620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187700" y="12954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Inter"/>
              </a:rPr>
              <a:t>10%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343400" y="1498600"/>
            <a:ext cx="0" cy="388620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152900" y="12954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Inter"/>
              </a:rPr>
              <a:t>20%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308600" y="1498600"/>
            <a:ext cx="0" cy="388620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118100" y="12954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Inter"/>
              </a:rPr>
              <a:t>30%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273800" y="1498600"/>
            <a:ext cx="0" cy="388620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083300" y="12954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Inter"/>
              </a:rPr>
              <a:t>40%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239000" y="1498600"/>
            <a:ext cx="0" cy="388620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048500" y="1295400"/>
            <a:ext cx="381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Inter"/>
              </a:rPr>
              <a:t>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720" y="1574800"/>
            <a:ext cx="18415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Paid social prospecting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418580" y="1739900"/>
            <a:ext cx="405383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Oval 29"/>
          <p:cNvSpPr/>
          <p:nvPr/>
        </p:nvSpPr>
        <p:spPr>
          <a:xfrm>
            <a:off x="6355080" y="167640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Oval 30"/>
          <p:cNvSpPr/>
          <p:nvPr/>
        </p:nvSpPr>
        <p:spPr>
          <a:xfrm>
            <a:off x="6760463" y="1676400"/>
            <a:ext cx="127000" cy="127000"/>
          </a:xfrm>
          <a:prstGeom prst="ellipse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6938263" y="1638300"/>
            <a:ext cx="139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0A1F44"/>
                </a:solidFill>
                <a:latin typeface="Inter"/>
              </a:rPr>
              <a:t>41.5% → 45.7%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3720" y="2044700"/>
            <a:ext cx="18415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Organic, direct, SEO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3957320" y="2209800"/>
            <a:ext cx="77216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Oval 34"/>
          <p:cNvSpPr/>
          <p:nvPr/>
        </p:nvSpPr>
        <p:spPr>
          <a:xfrm>
            <a:off x="3893820" y="214630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Oval 35"/>
          <p:cNvSpPr/>
          <p:nvPr/>
        </p:nvSpPr>
        <p:spPr>
          <a:xfrm>
            <a:off x="3971036" y="2146300"/>
            <a:ext cx="127000" cy="127000"/>
          </a:xfrm>
          <a:prstGeom prst="ellipse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4148836" y="2108200"/>
            <a:ext cx="139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0A1F44"/>
                </a:solidFill>
                <a:latin typeface="Inter"/>
              </a:rPr>
              <a:t>16.0% → 16.8%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3720" y="2514600"/>
            <a:ext cx="18415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Paid social retargeting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658107" y="2679700"/>
            <a:ext cx="115824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Oval 39"/>
          <p:cNvSpPr/>
          <p:nvPr/>
        </p:nvSpPr>
        <p:spPr>
          <a:xfrm>
            <a:off x="3594607" y="261620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Oval 40"/>
          <p:cNvSpPr/>
          <p:nvPr/>
        </p:nvSpPr>
        <p:spPr>
          <a:xfrm>
            <a:off x="3710431" y="2616200"/>
            <a:ext cx="127000" cy="127000"/>
          </a:xfrm>
          <a:prstGeom prst="ellipse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3888231" y="2578100"/>
            <a:ext cx="139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0A1F44"/>
                </a:solidFill>
                <a:latin typeface="Inter"/>
              </a:rPr>
              <a:t>12.9% → 14.1%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3720" y="2984500"/>
            <a:ext cx="18415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Paid search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3648455" y="3149600"/>
            <a:ext cx="86869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Oval 44"/>
          <p:cNvSpPr/>
          <p:nvPr/>
        </p:nvSpPr>
        <p:spPr>
          <a:xfrm>
            <a:off x="3584955" y="308610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Oval 45"/>
          <p:cNvSpPr/>
          <p:nvPr/>
        </p:nvSpPr>
        <p:spPr>
          <a:xfrm>
            <a:off x="3671824" y="3086100"/>
            <a:ext cx="127000" cy="127000"/>
          </a:xfrm>
          <a:prstGeom prst="ellipse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3849624" y="3048000"/>
            <a:ext cx="139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0A1F44"/>
                </a:solidFill>
                <a:latin typeface="Inter"/>
              </a:rPr>
              <a:t>12.8% → 13.7%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3720" y="3454400"/>
            <a:ext cx="18415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Influencer, affiliate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3580891" y="3619500"/>
            <a:ext cx="115825" cy="0"/>
          </a:xfrm>
          <a:prstGeom prst="line">
            <a:avLst/>
          </a:prstGeom>
          <a:ln w="2540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Oval 49"/>
          <p:cNvSpPr/>
          <p:nvPr/>
        </p:nvSpPr>
        <p:spPr>
          <a:xfrm>
            <a:off x="3517391" y="355600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Oval 50"/>
          <p:cNvSpPr/>
          <p:nvPr/>
        </p:nvSpPr>
        <p:spPr>
          <a:xfrm>
            <a:off x="3633216" y="3556000"/>
            <a:ext cx="127000" cy="127000"/>
          </a:xfrm>
          <a:prstGeom prst="ellipse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3811016" y="3517900"/>
            <a:ext cx="139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0A1F44"/>
                </a:solidFill>
                <a:latin typeface="Inter"/>
              </a:rPr>
              <a:t>12.1% → 13.3%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3898900"/>
            <a:ext cx="7747000" cy="38100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553720" y="3924300"/>
            <a:ext cx="18415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Email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2673604" y="4089400"/>
            <a:ext cx="579120" cy="0"/>
          </a:xfrm>
          <a:prstGeom prst="line">
            <a:avLst/>
          </a:prstGeom>
          <a:ln w="2540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Oval 55"/>
          <p:cNvSpPr/>
          <p:nvPr/>
        </p:nvSpPr>
        <p:spPr>
          <a:xfrm>
            <a:off x="2610104" y="402590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Oval 56"/>
          <p:cNvSpPr/>
          <p:nvPr/>
        </p:nvSpPr>
        <p:spPr>
          <a:xfrm>
            <a:off x="3189224" y="4025900"/>
            <a:ext cx="127000" cy="1270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3367024" y="3987800"/>
            <a:ext cx="139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2.7% → 8.7%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02920" y="4368800"/>
            <a:ext cx="7747000" cy="38100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553720" y="4394200"/>
            <a:ext cx="18415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SMS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2480564" y="4559300"/>
            <a:ext cx="260604" cy="0"/>
          </a:xfrm>
          <a:prstGeom prst="line">
            <a:avLst/>
          </a:prstGeom>
          <a:ln w="2540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Oval 61"/>
          <p:cNvSpPr/>
          <p:nvPr/>
        </p:nvSpPr>
        <p:spPr>
          <a:xfrm>
            <a:off x="2417064" y="449580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3" name="Oval 62"/>
          <p:cNvSpPr/>
          <p:nvPr/>
        </p:nvSpPr>
        <p:spPr>
          <a:xfrm>
            <a:off x="2677668" y="4495800"/>
            <a:ext cx="127000" cy="1270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4" name="TextBox 63"/>
          <p:cNvSpPr txBox="1"/>
          <p:nvPr/>
        </p:nvSpPr>
        <p:spPr>
          <a:xfrm>
            <a:off x="2855468" y="4457700"/>
            <a:ext cx="139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0.7% → 3.4%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02920" y="4838700"/>
            <a:ext cx="7747000" cy="381000"/>
          </a:xfrm>
          <a:prstGeom prst="rect">
            <a:avLst/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6" name="TextBox 65"/>
          <p:cNvSpPr txBox="1"/>
          <p:nvPr/>
        </p:nvSpPr>
        <p:spPr>
          <a:xfrm>
            <a:off x="553720" y="4864100"/>
            <a:ext cx="18415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App push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548128" y="5029200"/>
            <a:ext cx="144780" cy="0"/>
          </a:xfrm>
          <a:prstGeom prst="line">
            <a:avLst/>
          </a:prstGeom>
          <a:ln w="25400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Oval 67"/>
          <p:cNvSpPr/>
          <p:nvPr/>
        </p:nvSpPr>
        <p:spPr>
          <a:xfrm>
            <a:off x="2484628" y="4965700"/>
            <a:ext cx="127000" cy="1270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9" name="Oval 68"/>
          <p:cNvSpPr/>
          <p:nvPr/>
        </p:nvSpPr>
        <p:spPr>
          <a:xfrm>
            <a:off x="2629408" y="4965700"/>
            <a:ext cx="127000" cy="127000"/>
          </a:xfrm>
          <a:prstGeom prst="ellipse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0" name="TextBox 69"/>
          <p:cNvSpPr txBox="1"/>
          <p:nvPr/>
        </p:nvSpPr>
        <p:spPr>
          <a:xfrm>
            <a:off x="2807208" y="4927600"/>
            <a:ext cx="1397000" cy="20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0A1F44"/>
                </a:solidFill>
                <a:latin typeface="Inter"/>
              </a:rPr>
              <a:t>1.4% → 2.9%</a:t>
            </a:r>
          </a:p>
        </p:txBody>
      </p:sp>
      <p:sp>
        <p:nvSpPr>
          <p:cNvPr id="71" name="Oval 70"/>
          <p:cNvSpPr/>
          <p:nvPr/>
        </p:nvSpPr>
        <p:spPr>
          <a:xfrm>
            <a:off x="2413000" y="5435600"/>
            <a:ext cx="114300" cy="11430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2" name="TextBox 71"/>
          <p:cNvSpPr txBox="1"/>
          <p:nvPr/>
        </p:nvSpPr>
        <p:spPr>
          <a:xfrm>
            <a:off x="2578100" y="53975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  <a:latin typeface="Inter"/>
              </a:rPr>
              <a:t>Last touch</a:t>
            </a:r>
          </a:p>
        </p:txBody>
      </p:sp>
      <p:sp>
        <p:nvSpPr>
          <p:cNvPr id="73" name="Oval 72"/>
          <p:cNvSpPr/>
          <p:nvPr/>
        </p:nvSpPr>
        <p:spPr>
          <a:xfrm>
            <a:off x="3683000" y="5435600"/>
            <a:ext cx="114300" cy="114300"/>
          </a:xfrm>
          <a:prstGeom prst="ellipse">
            <a:avLst/>
          </a:prstGeom>
          <a:solidFill>
            <a:srgbClr val="0A1F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TextBox 73"/>
          <p:cNvSpPr txBox="1"/>
          <p:nvPr/>
        </p:nvSpPr>
        <p:spPr>
          <a:xfrm>
            <a:off x="3848100" y="5397500"/>
            <a:ext cx="1016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0F172A"/>
                </a:solidFill>
                <a:latin typeface="Inter"/>
              </a:rPr>
              <a:t>Participation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8509000" y="1244600"/>
            <a:ext cx="0" cy="424180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8763000" y="1295400"/>
            <a:ext cx="2921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OWNED CHANNELS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63000" y="1498600"/>
            <a:ext cx="2921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1F44"/>
                </a:solidFill>
                <a:latin typeface="Inter"/>
              </a:rPr>
              <a:t>4.8% → 15.0%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763000" y="1981200"/>
            <a:ext cx="29210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share of revenue: last-touch credit vs revenue they take part in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8763000" y="2717800"/>
            <a:ext cx="292100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8763000" y="2870200"/>
            <a:ext cx="2921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PAID SOCIAL RETARGETING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763000" y="3073400"/>
            <a:ext cx="2921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1F44"/>
                </a:solidFill>
                <a:latin typeface="Inter"/>
              </a:rPr>
              <a:t>12.9% → 12.4%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63000" y="3556000"/>
            <a:ext cx="2921000" cy="55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last touch vs first touch: attribution neither convicts nor clears it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Pay Twice: stop buying customers Quince already has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team strategy; case Exhibits G, I, L; Adobe CJA A0 (125,521 events) and A3b.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20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Tranche 1 frees $4M in months 1–3 without touching prospecting</a:t>
            </a:r>
            <a:endParaRPr lang="en-US" sz="1300" dirty="0"/>
          </a:p>
        </p:txBody>
      </p:sp>
      <p:sp>
        <p:nvSpPr>
          <p:cNvPr id="16" name="TextBox 15"/>
          <p:cNvSpPr txBox="1"/>
          <p:nvPr/>
        </p:nvSpPr>
        <p:spPr>
          <a:xfrm>
            <a:off x="502920" y="127000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DATA 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7800" y="1270000"/>
            <a:ext cx="1905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IDENTITY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27600" y="1270000"/>
            <a:ext cx="2159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AUDIENCES IN CJA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91400" y="1270000"/>
            <a:ext cx="2159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ACTIVATION, DAILY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55200" y="1270000"/>
            <a:ext cx="1828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OUTCOME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1498600"/>
            <a:ext cx="1905000" cy="2362200"/>
          </a:xfrm>
          <a:prstGeom prst="round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D5DC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04520" y="1524000"/>
            <a:ext cx="1701800" cy="2311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F172A"/>
                </a:solidFill>
                <a:latin typeface="Inter"/>
              </a:rPr>
              <a:t>Every touchpoint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0F172A"/>
                </a:solidFill>
                <a:latin typeface="Inter"/>
              </a:rPr>
              <a:t>Web and app events, email, SMS and paid-media touches: 125,521 events, Jan–Apr 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17800" y="1498600"/>
            <a:ext cx="1905000" cy="2362200"/>
          </a:xfrm>
          <a:prstGeom prst="roundRect">
            <a:avLst>
              <a:gd name="adj" fmla="val 12000"/>
            </a:avLst>
          </a:prstGeom>
          <a:solidFill>
            <a:srgbClr val="0A1F44"/>
          </a:solidFill>
          <a:ln w="12700">
            <a:solidFill>
              <a:srgbClr val="0A1F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2819400" y="1524000"/>
            <a:ext cx="1701800" cy="2311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One stitched person ID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FFFFFF"/>
                </a:solidFill>
                <a:latin typeface="Inter"/>
              </a:rPr>
              <a:t>The same customer across web, app, email and SMS. Ready today (Exhibit L)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27600" y="1498600"/>
            <a:ext cx="2159000" cy="736600"/>
          </a:xfrm>
          <a:prstGeom prst="roundRect">
            <a:avLst>
              <a:gd name="adj" fmla="val 12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5029200" y="1524000"/>
            <a:ext cx="195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991B1B"/>
                </a:solidFill>
                <a:latin typeface="Inter"/>
              </a:rPr>
              <a:t>Recent buyers</a:t>
            </a:r>
          </a:p>
          <a:p>
            <a:pPr algn="l">
              <a:spcBef>
                <a:spcPts val="100"/>
              </a:spcBef>
            </a:pPr>
            <a:r>
              <a:rPr sz="800" b="0">
                <a:solidFill>
                  <a:srgbClr val="0F172A"/>
                </a:solidFill>
                <a:latin typeface="Inter"/>
              </a:rPr>
              <a:t>ordered in the last 30 days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27600" y="2311400"/>
            <a:ext cx="2159000" cy="736600"/>
          </a:xfrm>
          <a:prstGeom prst="roundRect">
            <a:avLst>
              <a:gd name="adj" fmla="val 12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5029200" y="2336800"/>
            <a:ext cx="195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991B1B"/>
                </a:solidFill>
                <a:latin typeface="Inter"/>
              </a:rPr>
              <a:t>Owned-reachable</a:t>
            </a:r>
          </a:p>
          <a:p>
            <a:pPr algn="l">
              <a:spcBef>
                <a:spcPts val="100"/>
              </a:spcBef>
            </a:pPr>
            <a:r>
              <a:rPr sz="800" b="0">
                <a:solidFill>
                  <a:srgbClr val="0F172A"/>
                </a:solidFill>
                <a:latin typeface="Inter"/>
              </a:rPr>
              <a:t>has email, SMS or the app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27600" y="3124200"/>
            <a:ext cx="2159000" cy="736600"/>
          </a:xfrm>
          <a:prstGeom prst="roundRect">
            <a:avLst>
              <a:gd name="adj" fmla="val 12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5029200" y="3149600"/>
            <a:ext cx="195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991B1B"/>
                </a:solidFill>
                <a:latin typeface="Inter"/>
              </a:rPr>
              <a:t>Single-page bouncers</a:t>
            </a:r>
          </a:p>
          <a:p>
            <a:pPr algn="l">
              <a:spcBef>
                <a:spcPts val="100"/>
              </a:spcBef>
            </a:pPr>
            <a:r>
              <a:rPr sz="800" b="0">
                <a:solidFill>
                  <a:srgbClr val="0F172A"/>
                </a:solidFill>
                <a:latin typeface="Inter"/>
              </a:rPr>
              <a:t>lowest intent, highest waste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91400" y="1498600"/>
            <a:ext cx="2159000" cy="736600"/>
          </a:xfrm>
          <a:prstGeom prst="roundRect">
            <a:avLst>
              <a:gd name="adj" fmla="val 12000"/>
            </a:avLst>
          </a:prstGeom>
          <a:solidFill>
            <a:srgbClr val="FEF2F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7493000" y="1524000"/>
            <a:ext cx="195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991B1B"/>
                </a:solidFill>
                <a:latin typeface="Inter"/>
              </a:rPr>
              <a:t>Suppression lists</a:t>
            </a:r>
          </a:p>
          <a:p>
            <a:pPr algn="l">
              <a:spcBef>
                <a:spcPts val="100"/>
              </a:spcBef>
            </a:pPr>
            <a:r>
              <a:rPr sz="800" b="0">
                <a:solidFill>
                  <a:srgbClr val="0F172A"/>
                </a:solidFill>
                <a:latin typeface="Inter"/>
              </a:rPr>
              <a:t>Meta, Google and TikTok, synced daily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91400" y="2311400"/>
            <a:ext cx="2159000" cy="7366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493000" y="2336800"/>
            <a:ext cx="195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Inter"/>
              </a:rPr>
              <a:t>Frequency cap</a:t>
            </a:r>
          </a:p>
          <a:p>
            <a:pPr algn="l">
              <a:spcBef>
                <a:spcPts val="100"/>
              </a:spcBef>
            </a:pPr>
            <a:r>
              <a:rPr sz="800" b="0">
                <a:solidFill>
                  <a:srgbClr val="0F172A"/>
                </a:solidFill>
                <a:latin typeface="Inter"/>
              </a:rPr>
              <a:t>max 3 retargeting ads a week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391400" y="3124200"/>
            <a:ext cx="2159000" cy="7366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493000" y="3149600"/>
            <a:ext cx="195580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Inter"/>
              </a:rPr>
              <a:t>$2M re-aimed</a:t>
            </a:r>
          </a:p>
          <a:p>
            <a:pPr algn="l">
              <a:spcBef>
                <a:spcPts val="100"/>
              </a:spcBef>
            </a:pPr>
            <a:r>
              <a:rPr sz="800" b="0">
                <a:solidFill>
                  <a:srgbClr val="0F172A"/>
                </a:solidFill>
                <a:latin typeface="Inter"/>
              </a:rPr>
              <a:t>to customer-match cross-sell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855200" y="1498600"/>
            <a:ext cx="1828800" cy="2362200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9956800" y="1524000"/>
            <a:ext cx="1625600" cy="2311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T1: −$4M retargeting → owned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FFFFFF"/>
                </a:solidFill>
                <a:latin typeface="Inter"/>
              </a:rPr>
              <a:t>Retargeting keeps one job: high-intent people Quince has no other way to reach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2433320" y="2679700"/>
            <a:ext cx="259080" cy="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4648200" y="2679700"/>
            <a:ext cx="254000" cy="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7112000" y="2679700"/>
            <a:ext cx="254000" cy="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9575800" y="2679700"/>
            <a:ext cx="254000" cy="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769600" y="3860800"/>
            <a:ext cx="0" cy="431800"/>
          </a:xfrm>
          <a:prstGeom prst="line">
            <a:avLst/>
          </a:prstGeom>
          <a:ln w="22225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6007100" y="4292600"/>
            <a:ext cx="4762500" cy="0"/>
          </a:xfrm>
          <a:prstGeom prst="line">
            <a:avLst/>
          </a:prstGeom>
          <a:ln w="22225">
            <a:solidFill>
              <a:srgbClr val="1D4ED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6007100" y="3886200"/>
            <a:ext cx="0" cy="406400"/>
          </a:xfrm>
          <a:prstGeom prst="line">
            <a:avLst/>
          </a:prstGeom>
          <a:ln w="22225">
            <a:solidFill>
              <a:srgbClr val="1D4E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6604000" y="4178300"/>
            <a:ext cx="3683000" cy="228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604000" y="4178300"/>
            <a:ext cx="3683000" cy="228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900" b="1">
                <a:solidFill>
                  <a:srgbClr val="1D4ED8"/>
                </a:solidFill>
                <a:latin typeface="Inter"/>
              </a:rPr>
              <a:t>Prove: incremental orders per retargeting $ vs holdout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4622800"/>
            <a:ext cx="1117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Why it is safe:  </a:t>
            </a:r>
            <a:r>
              <a:rPr sz="950" b="0">
                <a:solidFill>
                  <a:srgbClr val="0F172A"/>
                </a:solidFill>
                <a:latin typeface="Inter"/>
              </a:rPr>
              <a:t>retargeted buyers repeat at 23.0% vs 23.4% organic (A3b), so suppression removes spend on people who return anyway; prospecting, which brings 45.5% of buyers, is untouched.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same $120M earns ~$25M more contribution yearly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Exhibits H and J (45% contribution margin, $13.5M per 6 pts of repeat); strict CAC = $120M ÷ new customers; team estimates.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21</a:t>
            </a:r>
            <a:endParaRPr lang="en-US" sz="800" dirty="0"/>
          </a:p>
        </p:txBody>
      </p:sp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Turning one web-only buyer into an app user is worth ~$115 of margin, almost two CACs</a:t>
            </a:r>
            <a:endParaRPr lang="en-US" sz="1300" dirty="0"/>
          </a:p>
        </p:txBody>
      </p:sp>
      <p:sp>
        <p:nvSpPr>
          <p:cNvPr id="16" name="TextBox 15"/>
          <p:cNvSpPr txBox="1"/>
          <p:nvPr/>
        </p:nvSpPr>
        <p:spPr>
          <a:xfrm>
            <a:off x="502920" y="1244600"/>
            <a:ext cx="711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A1F44"/>
                </a:solidFill>
                <a:latin typeface="Inter"/>
              </a:rPr>
              <a:t>Contribution added per year, $M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485900"/>
            <a:ext cx="7112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Inter"/>
              </a:rPr>
              <a:t>Repeat at +7 pts, plus ~170K extra new customers at strict CAC −8%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1778000"/>
            <a:ext cx="3210560" cy="4318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3713480" y="1778000"/>
            <a:ext cx="1808480" cy="431800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04520" y="1778000"/>
            <a:ext cx="25400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$15.8M  repeat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15080" y="1778000"/>
            <a:ext cx="1778000" cy="431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A1F44"/>
                </a:solidFill>
                <a:latin typeface="Inter"/>
              </a:rPr>
              <a:t>$8.9M  new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48960" y="1727200"/>
            <a:ext cx="1524000" cy="508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0A1F44"/>
                </a:solidFill>
                <a:latin typeface="Inter"/>
              </a:rPr>
              <a:t>≈ $25M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2489200"/>
            <a:ext cx="711708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2616200"/>
            <a:ext cx="71120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0A1F44"/>
                </a:solidFill>
                <a:latin typeface="Inter"/>
              </a:rPr>
              <a:t>3-year margin per customer vs CAC, $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857500"/>
            <a:ext cx="7112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Inter"/>
              </a:rPr>
              <a:t>3-year LTV × 45% margin; web-only vs prospecting CAC $74, others vs $62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200400"/>
            <a:ext cx="17780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Inter"/>
              </a:rPr>
              <a:t>Web-only, unsubscribed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413000" y="3238500"/>
            <a:ext cx="1466850" cy="254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8" name="Connector 27"/>
          <p:cNvCxnSpPr/>
          <p:nvPr/>
        </p:nvCxnSpPr>
        <p:spPr>
          <a:xfrm>
            <a:off x="3963670" y="3149600"/>
            <a:ext cx="0" cy="431800"/>
          </a:xfrm>
          <a:prstGeom prst="line">
            <a:avLst/>
          </a:prstGeom>
          <a:ln w="19050">
            <a:solidFill>
              <a:srgbClr val="0A1F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3582670" y="3581400"/>
            <a:ext cx="762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>
                <a:solidFill>
                  <a:srgbClr val="0A1F44"/>
                </a:solidFill>
                <a:latin typeface="Inter"/>
              </a:rPr>
              <a:t>CAC $74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1450" y="3200400"/>
            <a:ext cx="17780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$70  ·  0.94× CAC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3886200"/>
            <a:ext cx="17780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Inter"/>
              </a:rPr>
              <a:t>Blended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413000" y="3924300"/>
            <a:ext cx="2682240" cy="254000"/>
          </a:xfrm>
          <a:prstGeom prst="rect">
            <a:avLst/>
          </a:prstGeom>
          <a:solidFill>
            <a:srgbClr val="93B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Connector 32"/>
          <p:cNvCxnSpPr/>
          <p:nvPr/>
        </p:nvCxnSpPr>
        <p:spPr>
          <a:xfrm>
            <a:off x="3712210" y="3835400"/>
            <a:ext cx="0" cy="431800"/>
          </a:xfrm>
          <a:prstGeom prst="line">
            <a:avLst/>
          </a:prstGeom>
          <a:ln w="19050">
            <a:solidFill>
              <a:srgbClr val="0A1F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331210" y="4267200"/>
            <a:ext cx="762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>
                <a:solidFill>
                  <a:srgbClr val="0A1F44"/>
                </a:solidFill>
                <a:latin typeface="Inter"/>
              </a:rPr>
              <a:t>CAC $62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96840" y="3886200"/>
            <a:ext cx="17780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$128  ·  2.1× CAC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4572000"/>
            <a:ext cx="17780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Inter"/>
              </a:rPr>
              <a:t>App-installed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13000" y="4610100"/>
            <a:ext cx="3876675" cy="25400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8" name="Connector 37"/>
          <p:cNvCxnSpPr/>
          <p:nvPr/>
        </p:nvCxnSpPr>
        <p:spPr>
          <a:xfrm>
            <a:off x="3712210" y="4521200"/>
            <a:ext cx="0" cy="431800"/>
          </a:xfrm>
          <a:prstGeom prst="line">
            <a:avLst/>
          </a:prstGeom>
          <a:ln w="19050">
            <a:solidFill>
              <a:srgbClr val="0A1F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3331210" y="4953000"/>
            <a:ext cx="762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750" b="0">
                <a:solidFill>
                  <a:srgbClr val="0A1F44"/>
                </a:solidFill>
                <a:latin typeface="Inter"/>
              </a:rPr>
              <a:t>CAC $62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91275" y="4572000"/>
            <a:ext cx="1778000" cy="330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$185  ·  3.0× CAC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7874000" y="1244600"/>
            <a:ext cx="0" cy="424180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8128000" y="1295400"/>
            <a:ext cx="3556000" cy="1651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BLENDED CAC, MEASURED TWO WAYS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28000" y="1574800"/>
            <a:ext cx="3556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Inter"/>
              </a:rPr>
              <a:t>Effective CAC (case Exhibit J measure)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28000" y="1778000"/>
            <a:ext cx="3556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1F44"/>
                </a:solidFill>
                <a:latin typeface="Inter"/>
              </a:rPr>
              <a:t>$62 → ~$54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28000" y="2235200"/>
            <a:ext cx="3556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−12% to −14%: same spend, more purchasing customers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8128000" y="2590800"/>
            <a:ext cx="3556000" cy="0"/>
          </a:xfrm>
          <a:prstGeom prst="line">
            <a:avLst/>
          </a:prstGeom>
          <a:ln w="9525">
            <a:solidFill>
              <a:srgbClr val="D5DC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8128000" y="2717800"/>
            <a:ext cx="3556000" cy="1905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64748B"/>
                </a:solidFill>
                <a:latin typeface="Inter"/>
              </a:rPr>
              <a:t>Strict new-customer CAC ($120M ÷ new customers)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28000" y="2921000"/>
            <a:ext cx="3556000" cy="431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0A1F44"/>
                </a:solidFill>
                <a:latin typeface="Inter"/>
              </a:rPr>
              <a:t>$62 → ~$57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28000" y="3378200"/>
            <a:ext cx="3556000" cy="381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≈ −8%: cart recovery and product-page proof add new customers at the same spend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risks, each with a mitigation and early warning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team analysis; case section 7 and Exhibit K. Likelihood and impact are team judgment.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22</a:t>
            </a:r>
            <a:endParaRPr lang="en-US" sz="800" dirty="0"/>
          </a:p>
        </p:txBody>
      </p:sp>
      <p:sp>
        <p:nvSpPr>
          <p:cNvPr id="10" name="TextBox 9"/>
          <p:cNvSpPr txBox="1"/>
          <p:nvPr/>
        </p:nvSpPr>
        <p:spPr>
          <a:xfrm>
            <a:off x="502920" y="1270000"/>
            <a:ext cx="2413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48000" y="1270000"/>
            <a:ext cx="889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LIKELIHOOD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00500" y="1270000"/>
            <a:ext cx="762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IMPACT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89500" y="1270000"/>
            <a:ext cx="3810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MITIGATION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0" y="1270000"/>
            <a:ext cx="2794000" cy="177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1">
                <a:solidFill>
                  <a:srgbClr val="1D4ED8"/>
                </a:solidFill>
                <a:latin typeface="Inter"/>
              </a:rPr>
              <a:t>EARLY WARNING IN CJA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2920" y="1498600"/>
            <a:ext cx="11181080" cy="0"/>
          </a:xfrm>
          <a:prstGeom prst="line">
            <a:avLst/>
          </a:prstGeom>
          <a:ln w="15875">
            <a:solidFill>
              <a:srgbClr val="0A1F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02920" y="1574800"/>
            <a:ext cx="2413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Selection bias: loyal people opt in anyway</a:t>
            </a:r>
          </a:p>
        </p:txBody>
      </p:sp>
      <p:sp>
        <p:nvSpPr>
          <p:cNvPr id="17" name="Oval 16"/>
          <p:cNvSpPr/>
          <p:nvPr/>
        </p:nvSpPr>
        <p:spPr>
          <a:xfrm>
            <a:off x="3048000" y="1816100"/>
            <a:ext cx="114300" cy="11430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3213100" y="1574800"/>
            <a:ext cx="762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Medium</a:t>
            </a:r>
          </a:p>
        </p:txBody>
      </p:sp>
      <p:sp>
        <p:nvSpPr>
          <p:cNvPr id="19" name="Oval 18"/>
          <p:cNvSpPr/>
          <p:nvPr/>
        </p:nvSpPr>
        <p:spPr>
          <a:xfrm>
            <a:off x="4000500" y="1816100"/>
            <a:ext cx="114300" cy="11430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165600" y="1574800"/>
            <a:ext cx="762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High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89500" y="1574800"/>
            <a:ext cx="3810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Measured haircut (A5) built into every number; randomized 10% holdout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0000" y="1574800"/>
            <a:ext cx="2794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Pilot vs holdout gap, 30-day repeat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21844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2235200"/>
            <a:ext cx="2413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Channel owners resist losing budget</a:t>
            </a:r>
          </a:p>
        </p:txBody>
      </p:sp>
      <p:sp>
        <p:nvSpPr>
          <p:cNvPr id="25" name="Oval 24"/>
          <p:cNvSpPr/>
          <p:nvPr/>
        </p:nvSpPr>
        <p:spPr>
          <a:xfrm>
            <a:off x="3048000" y="2476500"/>
            <a:ext cx="114300" cy="11430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3213100" y="2235200"/>
            <a:ext cx="762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High</a:t>
            </a:r>
          </a:p>
        </p:txBody>
      </p:sp>
      <p:sp>
        <p:nvSpPr>
          <p:cNvPr id="27" name="Oval 26"/>
          <p:cNvSpPr/>
          <p:nvPr/>
        </p:nvSpPr>
        <p:spPr>
          <a:xfrm>
            <a:off x="4000500" y="2476500"/>
            <a:ext cx="114300" cy="11430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165600" y="2235200"/>
            <a:ext cx="762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Medium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89500" y="2235200"/>
            <a:ext cx="3810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Scorecards move from platform ROAS to CJA-measured incremental revenue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90000" y="2235200"/>
            <a:ext cx="2794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Tranche release dates vs plan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02920" y="28448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02920" y="2895600"/>
            <a:ext cx="2413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Message fatigue and unsubscribes</a:t>
            </a:r>
          </a:p>
        </p:txBody>
      </p:sp>
      <p:sp>
        <p:nvSpPr>
          <p:cNvPr id="33" name="Oval 32"/>
          <p:cNvSpPr/>
          <p:nvPr/>
        </p:nvSpPr>
        <p:spPr>
          <a:xfrm>
            <a:off x="3048000" y="3136900"/>
            <a:ext cx="114300" cy="11430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3213100" y="2895600"/>
            <a:ext cx="762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Medium</a:t>
            </a:r>
          </a:p>
        </p:txBody>
      </p:sp>
      <p:sp>
        <p:nvSpPr>
          <p:cNvPr id="35" name="Oval 34"/>
          <p:cNvSpPr/>
          <p:nvPr/>
        </p:nvSpPr>
        <p:spPr>
          <a:xfrm>
            <a:off x="4000500" y="3136900"/>
            <a:ext cx="114300" cy="11430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4165600" y="2895600"/>
            <a:ext cx="762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Medium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89500" y="2895600"/>
            <a:ext cx="3810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Triggered messages replace batch sends under one frequency cap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90000" y="2895600"/>
            <a:ext cx="2794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Unsubscribes per 1,000 sends; breach pauses tranche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02920" y="35052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02920" y="3556000"/>
            <a:ext cx="2413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Consent and privacy (TCPA, CCPA)</a:t>
            </a:r>
          </a:p>
        </p:txBody>
      </p:sp>
      <p:sp>
        <p:nvSpPr>
          <p:cNvPr id="41" name="Oval 40"/>
          <p:cNvSpPr/>
          <p:nvPr/>
        </p:nvSpPr>
        <p:spPr>
          <a:xfrm>
            <a:off x="3048000" y="3797300"/>
            <a:ext cx="114300" cy="11430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TextBox 41"/>
          <p:cNvSpPr txBox="1"/>
          <p:nvPr/>
        </p:nvSpPr>
        <p:spPr>
          <a:xfrm>
            <a:off x="3213100" y="3556000"/>
            <a:ext cx="762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Low</a:t>
            </a:r>
          </a:p>
        </p:txBody>
      </p:sp>
      <p:sp>
        <p:nvSpPr>
          <p:cNvPr id="43" name="Oval 42"/>
          <p:cNvSpPr/>
          <p:nvPr/>
        </p:nvSpPr>
        <p:spPr>
          <a:xfrm>
            <a:off x="4000500" y="3797300"/>
            <a:ext cx="114300" cy="11430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4165600" y="3556000"/>
            <a:ext cx="762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High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889500" y="3556000"/>
            <a:ext cx="3810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Delivery and marketing consent split; marketing box never pre-ticked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90000" y="3556000"/>
            <a:ext cx="2794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Consent audit pass rate; complaints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02920" y="41656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02920" y="4216400"/>
            <a:ext cx="2413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Fitting Room doesn't pay back</a:t>
            </a:r>
          </a:p>
        </p:txBody>
      </p:sp>
      <p:sp>
        <p:nvSpPr>
          <p:cNvPr id="49" name="Oval 48"/>
          <p:cNvSpPr/>
          <p:nvPr/>
        </p:nvSpPr>
        <p:spPr>
          <a:xfrm>
            <a:off x="3048000" y="4457700"/>
            <a:ext cx="114300" cy="11430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3213100" y="4216400"/>
            <a:ext cx="762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Medium</a:t>
            </a:r>
          </a:p>
        </p:txBody>
      </p:sp>
      <p:sp>
        <p:nvSpPr>
          <p:cNvPr id="51" name="Oval 50"/>
          <p:cNvSpPr/>
          <p:nvPr/>
        </p:nvSpPr>
        <p:spPr>
          <a:xfrm>
            <a:off x="4000500" y="4457700"/>
            <a:ext cx="114300" cy="114300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4165600" y="4216400"/>
            <a:ext cx="762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Low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889500" y="4216400"/>
            <a:ext cx="3810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Capped at $1.0M in the brand line; one metro, one season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890000" y="4216400"/>
            <a:ext cx="2794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App installs per visitor vs Passport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02920" y="48260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02920" y="4876800"/>
            <a:ext cx="2413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>
                <a:solidFill>
                  <a:srgbClr val="0A1F44"/>
                </a:solidFill>
                <a:latin typeface="Inter"/>
              </a:rPr>
              <a:t>Platform or signal shock (Meta, TikTok)</a:t>
            </a:r>
          </a:p>
        </p:txBody>
      </p:sp>
      <p:sp>
        <p:nvSpPr>
          <p:cNvPr id="57" name="Oval 56"/>
          <p:cNvSpPr/>
          <p:nvPr/>
        </p:nvSpPr>
        <p:spPr>
          <a:xfrm>
            <a:off x="3048000" y="5118100"/>
            <a:ext cx="114300" cy="11430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3213100" y="4876800"/>
            <a:ext cx="762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High</a:t>
            </a:r>
          </a:p>
        </p:txBody>
      </p:sp>
      <p:sp>
        <p:nvSpPr>
          <p:cNvPr id="59" name="Oval 58"/>
          <p:cNvSpPr/>
          <p:nvPr/>
        </p:nvSpPr>
        <p:spPr>
          <a:xfrm>
            <a:off x="4000500" y="5118100"/>
            <a:ext cx="114300" cy="11430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4165600" y="4876800"/>
            <a:ext cx="762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Medium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889500" y="4876800"/>
            <a:ext cx="3810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Inter"/>
              </a:rPr>
              <a:t>The plan itself: owned share 5% → 11%; engaged buyers 1 in 4 → 1 in 2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890000" y="4876800"/>
            <a:ext cx="2794000" cy="584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1D4ED8"/>
                </a:solidFill>
                <a:latin typeface="Inter"/>
              </a:rPr>
              <a:t>Share of orders from owned channels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502920" y="54864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brief requirement and the slide that answers it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case brief sections 3 (question, constraints), 4 (options), 7 (risks), 9 (deliverables) and 11 (rules).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23</a:t>
            </a:r>
            <a:endParaRPr lang="en-US" sz="800" dirty="0"/>
          </a:p>
        </p:txBody>
      </p:sp>
      <p:sp>
        <p:nvSpPr>
          <p:cNvPr id="10" name="TextBox 9"/>
          <p:cNvSpPr txBox="1"/>
          <p:nvPr/>
        </p:nvSpPr>
        <p:spPr>
          <a:xfrm>
            <a:off x="502920" y="1270000"/>
            <a:ext cx="3048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#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3600" y="1270000"/>
            <a:ext cx="7620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THE BRIEF ASKS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36000" y="1270000"/>
            <a:ext cx="2032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WHERE WE ANSWER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95000" y="1270000"/>
            <a:ext cx="88900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1D4ED8"/>
                </a:solidFill>
                <a:latin typeface="Inter"/>
              </a:rPr>
              <a:t>STATUS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2920" y="1473200"/>
            <a:ext cx="11181080" cy="0"/>
          </a:xfrm>
          <a:prstGeom prst="line">
            <a:avLst/>
          </a:prstGeom>
          <a:ln w="15875">
            <a:solidFill>
              <a:srgbClr val="0A1F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2920" y="152400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00" y="152400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Redesign retargeting and lifecycle across paid social, email, SMS and 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6000" y="152400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2, 7, 13, 14, 15, 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95000" y="152400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2920" y="17907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02920" y="179705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3600" y="179705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Lift 90-day repeat by 6+ pts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36000" y="179705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2, 16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95000" y="179705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206375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207010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600" y="207010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Cut blended CAC by 10%+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6000" y="207010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2, 21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795000" y="207010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2920" y="23368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234315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3600" y="234315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Deliver within 12–18 months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36000" y="234315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95000" y="234315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02920" y="260985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02920" y="261620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3600" y="261620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Constraint 1: no budget increase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36000" y="261620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2, 18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95000" y="261620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02920" y="28829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502920" y="288925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3600" y="288925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Constraint 2: no price-led retention; narrow triggered offers only as support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36000" y="288925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2, 9, 15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95000" y="288925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02920" y="315595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02920" y="316230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3600" y="316230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Constraint 3: grounded in Adobe CJA, with appendix screenshots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6000" y="316230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4, 24–28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95000" y="316230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02920" y="34290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02920" y="343535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3600" y="343535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Options A, B, C: one, a blend, or something else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36000" y="343535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2, 10, 11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795000" y="343535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02920" y="370205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502920" y="370840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3600" y="370840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Executive summary: strategy, constraints confirmed, impact, one narrative thread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36000" y="370840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795000" y="370840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502920" y="39751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502920" y="398145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3600" y="398145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Market: signal loss, rising CAC, first-party shift, where retargeting is exposed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636000" y="398145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3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795000" y="398145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502920" y="424815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/>
          <p:cNvSpPr txBox="1"/>
          <p:nvPr/>
        </p:nvSpPr>
        <p:spPr>
          <a:xfrm>
            <a:off x="502920" y="425450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11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3600" y="425450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Customer and funnel: where it breaks, who retains, who to target and when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636000" y="425450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4, 12, 13, 14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795000" y="425450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02920" y="45212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02920" y="452755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12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63600" y="452755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Competition: positioning, sustainability, escalation risk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36000" y="452755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795000" y="452755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502920" y="479425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502920" y="480060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3600" y="480060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Capabilities: lifecycle and creative capacity, identity, growth–analytics coordination, gaps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636000" y="480060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6, 10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795000" y="480060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502920" y="50673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502920" y="507365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14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63600" y="507365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Next steps: phasing, reallocation sequence, pilot, the three metrics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636000" y="507365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7, 18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795000" y="507365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502920" y="534035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502920" y="534670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63600" y="534670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Risks: execution, signal loss, fatigue, measurement, change, privacy, creative, platforms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636000" y="534670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22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795000" y="534670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502920" y="56134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TextBox 89"/>
          <p:cNvSpPr txBox="1"/>
          <p:nvPr/>
        </p:nvSpPr>
        <p:spPr>
          <a:xfrm>
            <a:off x="502920" y="561975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16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63600" y="561975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Max 7 slides, insight headlines, 4+ captioned CJA screenshots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636000" y="561975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Slide 1–7, 24–28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795000" y="561975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02920" y="588645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TextBox 94"/>
          <p:cNvSpPr txBox="1"/>
          <p:nvPr/>
        </p:nvSpPr>
        <p:spPr>
          <a:xfrm>
            <a:off x="502920" y="5892800"/>
            <a:ext cx="3048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>
                <a:solidFill>
                  <a:srgbClr val="64748B"/>
                </a:solidFill>
                <a:latin typeface="Inter"/>
              </a:rPr>
              <a:t>17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63600" y="5892800"/>
            <a:ext cx="7620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0">
                <a:solidFill>
                  <a:srgbClr val="0F172A"/>
                </a:solidFill>
                <a:latin typeface="Inter"/>
              </a:rPr>
              <a:t>Team number only; no invented figure presented as a Quince disclosure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636000" y="5892800"/>
            <a:ext cx="2032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0A1F44"/>
                </a:solidFill>
                <a:latin typeface="Inter"/>
              </a:rPr>
              <a:t>All; 29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795000" y="5892800"/>
            <a:ext cx="889000" cy="25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50" b="1">
                <a:solidFill>
                  <a:srgbClr val="16A34A"/>
                </a:solidFill>
                <a:latin typeface="Inter"/>
              </a:rPr>
              <a:t>✓  Met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502920" y="6159500"/>
            <a:ext cx="11181080" cy="0"/>
          </a:xfrm>
          <a:prstGeom prst="line">
            <a:avLst/>
          </a:prstGeom>
          <a:ln w="9525">
            <a:solidFill>
              <a:srgbClr val="EEF2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Fallout: 77% of cart adders never order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Fallout visualization, Quince case data view, 1 Jan–30 Apr 2026.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24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2795844" y="1289304"/>
            <a:ext cx="6597265" cy="4233672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/tmp/claude-0/-home-user-Quince/7efe80ae-a049-50c2-9886-98bf7ca3a04a/scratchpad/assets/cja_fallou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2420" y="1325880"/>
            <a:ext cx="6524113" cy="41605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77% of cart adders never order: the cart, not traffic, is the leak, so every recovered cart is new money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Attribution IQ: owned channels assist more than they close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Attribution panel, Order Revenue across Marketing Channel, Last Touch, First Touch, Linear, Participation, 90-day lookback; total Order Revenue $337,044.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25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66344" y="1370052"/>
            <a:ext cx="11256264" cy="4072176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/tmp/claude-0/-home-user-Quince/7efe80ae-a049-50c2-9886-98bf7ca3a04a/scratchpad/assets/cja_attr_tab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06628"/>
            <a:ext cx="11183112" cy="3999024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Owned channels touch 15.0% of revenue but get 4.8% of last-touch credit; retargeting barely moves across models, so its cut rests on holdouts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Cohort Table: engaged buyers' week-2 return is 2.7× higher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Cohort Table, inclusion and return Orders ≥ 1, weekly, 1 Jan–30 Apr 2026.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26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66344" y="1427502"/>
            <a:ext cx="5527548" cy="3682957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/tmp/claude-0/-home-user-Quince/7efe80ae-a049-50c2-9886-98bf7ca3a04a/scratchpad/assets/cja_cohort_al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64078"/>
            <a:ext cx="5454396" cy="3609805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02920" y="5183610"/>
            <a:ext cx="5454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buyers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195060" y="1427502"/>
            <a:ext cx="5527548" cy="3682957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/tmp/claude-0/-home-user-Quince/7efe80ae-a049-50c2-9886-98bf7ca3a04a/scratchpad/assets/cja_cohort_eng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1636" y="1464078"/>
            <a:ext cx="5454396" cy="3609805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231636" y="5183610"/>
            <a:ext cx="5454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Engaged buyers (inclusion segment)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Engaged buyers return 2.7× more in week 2 (5.6% vs 2.1%) and half return in weeks 1–4, so the first month is when to act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Flow: almost no message follows an abandoned cart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Flow from add_to_cart, Person container, 1 Jan–30 Apr 2026.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27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719013" y="1289304"/>
            <a:ext cx="10750925" cy="4233672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/tmp/claude-0/-home-user-Quince/7efe80ae-a049-50c2-9886-98bf7ca3a04a/scratchpad/assets/cja_flo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589" y="1325880"/>
            <a:ext cx="10677773" cy="41605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1 of 11,610 cart adds is followed by an email, so a basic cart-recovery journey is the fastest win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Segments: engagement after order one drives repeat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Adobe CJA, freeform tables with engagement segments and sequential segments, 1 Jan–30 Apr 2026.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28</a:t>
            </a:r>
            <a:endParaRPr lang="en-US" sz="800" dirty="0"/>
          </a:p>
        </p:txBody>
      </p:sp>
      <p:sp>
        <p:nvSpPr>
          <p:cNvPr id="9" name="Shape 6"/>
          <p:cNvSpPr/>
          <p:nvPr/>
        </p:nvSpPr>
        <p:spPr>
          <a:xfrm>
            <a:off x="466344" y="2293173"/>
            <a:ext cx="5527548" cy="1951614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pic>
        <p:nvPicPr>
          <p:cNvPr id="10" name="Image 1" descr="/tmp/claude-0/-home-user-Quince/7efe80ae-a049-50c2-9886-98bf7ca3a04a/scratchpad/assets/cja_a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329749"/>
            <a:ext cx="5454396" cy="187846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02920" y="4324795"/>
            <a:ext cx="5454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Repeat by engagement (A2)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195060" y="2286317"/>
            <a:ext cx="5527548" cy="1965326"/>
          </a:xfrm>
          <a:prstGeom prst="rect">
            <a:avLst/>
          </a:prstGeom>
          <a:solidFill>
            <a:srgbClr val="E2E8F0"/>
          </a:solidFill>
          <a:ln w="6350">
            <a:solidFill>
              <a:srgbClr val="E2E8F0"/>
            </a:solidFill>
            <a:prstDash val="solid"/>
          </a:ln>
        </p:spPr>
        <p:txBody>
          <a:bodyPr/>
          <a:p/>
        </p:txBody>
      </p:sp>
      <p:pic>
        <p:nvPicPr>
          <p:cNvPr id="13" name="Image 2" descr="/tmp/claude-0/-home-user-Quince/7efe80ae-a049-50c2-9886-98bf7ca3a04a/scratchpad/assets/cja_a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1636" y="2322893"/>
            <a:ext cx="5454396" cy="1892174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231636" y="4324795"/>
            <a:ext cx="54543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Engaged after order one (A5)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502920" y="5669280"/>
            <a:ext cx="11183112" cy="512064"/>
          </a:xfrm>
          <a:prstGeom prst="roundRect">
            <a:avLst>
              <a:gd name="adj" fmla="val 17857"/>
            </a:avLst>
          </a:prstGeom>
          <a:solidFill>
            <a:srgbClr val="EFF6FF"/>
          </a:solidFill>
          <a:ln w="6350">
            <a:solidFill>
              <a:srgbClr val="EFF6FF"/>
            </a:solidFill>
            <a:prstDash val="solid"/>
          </a:ln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640080" y="5760720"/>
            <a:ext cx="329184" cy="329184"/>
          </a:xfrm>
          <a:prstGeom prst="ellipse">
            <a:avLst/>
          </a:prstGeom>
          <a:solidFill>
            <a:srgbClr val="1D4ED8"/>
          </a:solidFill>
          <a:ln w="6350">
            <a:solidFill>
              <a:srgbClr val="1D4ED8"/>
            </a:solidFill>
            <a:prstDash val="solid"/>
          </a:ln>
        </p:spPr>
        <p:txBody>
          <a:bodyPr/>
          <a:p/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2500" y="5833140"/>
            <a:ext cx="184343" cy="18434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97280" y="5669280"/>
            <a:ext cx="10424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Engaged buyers are 24.5% of buyers but 66% of repeaters, so engaging more buyers after order one beats buying more traffic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02920" y="310896"/>
            <a:ext cx="93268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1F4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Sources: case data, our CJA project and public research</a:t>
            </a:r>
            <a:endParaRPr lang="en-US" sz="2400" dirty="0"/>
          </a:p>
        </p:txBody>
      </p:sp>
      <p:pic>
        <p:nvPicPr>
          <p:cNvPr id="3" name="Image 0" descr="/tmp/claude-0/-home-user-Quince/7efe80ae-a049-50c2-9886-98bf7ca3a04a/scratchpad/assets/qui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36708" y="615544"/>
            <a:ext cx="777240" cy="231951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1155680" y="603504"/>
            <a:ext cx="530352" cy="256032"/>
          </a:xfrm>
          <a:prstGeom prst="roundRect">
            <a:avLst>
              <a:gd name="adj" fmla="val 50000"/>
            </a:avLst>
          </a:prstGeom>
          <a:solidFill>
            <a:srgbClr val="0A1F44"/>
          </a:solidFill>
          <a:ln w="6350">
            <a:solidFill>
              <a:srgbClr val="0A1F44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11155680" y="603504"/>
            <a:ext cx="5303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G27</a:t>
            </a:r>
            <a:endParaRPr lang="en-US" sz="950" dirty="0"/>
          </a:p>
        </p:txBody>
      </p:sp>
      <p:sp>
        <p:nvSpPr>
          <p:cNvPr id="6" name="Shape 3"/>
          <p:cNvSpPr/>
          <p:nvPr/>
        </p:nvSpPr>
        <p:spPr>
          <a:xfrm>
            <a:off x="502920" y="6400800"/>
            <a:ext cx="11183112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02920" y="6464808"/>
            <a:ext cx="9418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Case figures are the packet's illustrative estimates, never Quince disclosures. Links come from the team's strategy research.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9966960" y="6464808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G27  ·  29</a:t>
            </a:r>
            <a:endParaRPr lang="en-US" sz="800" dirty="0"/>
          </a:p>
        </p:txBody>
      </p:sp>
      <p:sp>
        <p:nvSpPr>
          <p:cNvPr id="10" name="TextBox 9"/>
          <p:cNvSpPr txBox="1"/>
          <p:nvPr/>
        </p:nvSpPr>
        <p:spPr>
          <a:xfrm>
            <a:off x="502920" y="1270000"/>
            <a:ext cx="5461000" cy="501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D4ED8"/>
                </a:solidFill>
                <a:latin typeface="Inter"/>
              </a:rPr>
              <a:t>Case and Adobe CJA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0F172A"/>
                </a:solidFill>
                <a:latin typeface="Inter"/>
              </a:rPr>
              <a:t>Quince case packet, "Closing the Loop"</a:t>
            </a:r>
          </a:p>
          <a:p>
            <a:r>
              <a:rPr sz="950" b="0">
                <a:solidFill>
                  <a:srgbClr val="64748B"/>
                </a:solidFill>
                <a:latin typeface="Inter"/>
              </a:rPr>
              <a:t>Case Competition World Cup, Graduate Track, 9 Oct 2026. Exhibits B–N; all figures illustrative.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0F172A"/>
                </a:solidFill>
                <a:latin typeface="Inter"/>
              </a:rPr>
              <a:t>Adobe CJA, Quince Case Data View</a:t>
            </a:r>
          </a:p>
          <a:p>
            <a:r>
              <a:rPr sz="950" b="0">
                <a:solidFill>
                  <a:srgbClr val="64748B"/>
                </a:solidFill>
                <a:latin typeface="Inter"/>
              </a:rPr>
              <a:t>Team project "Quince CJA": 60,000 people, 125,521 events, 1 Jan–30 Apr 2026 (slides 24–28).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0F172A"/>
                </a:solidFill>
                <a:latin typeface="Inter"/>
              </a:rPr>
              <a:t>Adjust; AppsFlyer</a:t>
            </a:r>
          </a:p>
          <a:p>
            <a:r>
              <a:rPr sz="950" b="0">
                <a:solidFill>
                  <a:srgbClr val="64748B"/>
                </a:solidFill>
                <a:latin typeface="Inter"/>
              </a:rPr>
              <a:t>iOS App Tracking Transparency opt-in benchmarks, about 35–50%.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270000"/>
            <a:ext cx="5461000" cy="501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D4ED8"/>
                </a:solidFill>
                <a:latin typeface="Inter"/>
              </a:rPr>
              <a:t>Research and public facts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0F172A"/>
                </a:solidFill>
                <a:latin typeface="Inter"/>
              </a:rPr>
              <a:t>Gordon, Zettelmeyer, Bhargava &amp; Chapsky (2019)</a:t>
            </a:r>
          </a:p>
          <a:p>
            <a:r>
              <a:rPr sz="950" b="0">
                <a:solidFill>
                  <a:srgbClr val="64748B"/>
                </a:solidFill>
                <a:latin typeface="Inter"/>
              </a:rPr>
              <a:t>A Comparison of Approaches to Advertising Measurement. Marketing Science 38(2).</a:t>
            </a:r>
          </a:p>
          <a:p>
            <a:r>
              <a:rPr sz="850" b="0">
                <a:solidFill>
                  <a:srgbClr val="1D4ED8"/>
                </a:solidFill>
                <a:latin typeface="Inter"/>
                <a:hlinkClick r:id="rId5"/>
              </a:rPr>
              <a:t>doi.org/10.1287/mksc.2018.1135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0F172A"/>
                </a:solidFill>
                <a:latin typeface="Inter"/>
              </a:rPr>
              <a:t>Blake, Nosko &amp; Tadelis (2015)</a:t>
            </a:r>
          </a:p>
          <a:p>
            <a:r>
              <a:rPr sz="950" b="0">
                <a:solidFill>
                  <a:srgbClr val="64748B"/>
                </a:solidFill>
                <a:latin typeface="Inter"/>
              </a:rPr>
              <a:t>Consumer Heterogeneity and Paid Search Effectiveness. Econometrica 83(1).</a:t>
            </a:r>
          </a:p>
          <a:p>
            <a:r>
              <a:rPr sz="850" b="0">
                <a:solidFill>
                  <a:srgbClr val="1D4ED8"/>
                </a:solidFill>
                <a:latin typeface="Inter"/>
                <a:hlinkClick r:id="rId6"/>
              </a:rPr>
              <a:t>doi.org/10.3982/ECTA12423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0F172A"/>
                </a:solidFill>
                <a:latin typeface="Inter"/>
              </a:rPr>
              <a:t>Shein buys Everlane</a:t>
            </a:r>
          </a:p>
          <a:p>
            <a:r>
              <a:rPr sz="950" b="0">
                <a:solidFill>
                  <a:srgbClr val="64748B"/>
                </a:solidFill>
                <a:latin typeface="Inter"/>
              </a:rPr>
              <a:t>WUSF, 22 May 2026.</a:t>
            </a:r>
          </a:p>
          <a:p>
            <a:r>
              <a:rPr sz="850" b="0">
                <a:solidFill>
                  <a:srgbClr val="1D4ED8"/>
                </a:solidFill>
                <a:latin typeface="Inter"/>
                <a:hlinkClick r:id="rId7"/>
              </a:rPr>
              <a:t>www.wusf.org/2026-05-22/shein-buys-everlane-which-sold-millennials-the-dream-of-ethical-affordable-luxury</a:t>
            </a:r>
          </a:p>
          <a:p>
            <a:pPr>
              <a:spcBef>
                <a:spcPts val="800"/>
              </a:spcBef>
            </a:pPr>
            <a:r>
              <a:rPr sz="1050" b="1">
                <a:solidFill>
                  <a:srgbClr val="0F172A"/>
                </a:solidFill>
                <a:latin typeface="Inter"/>
              </a:rPr>
              <a:t>Williams-Sonoma v. Last Brand dismissed</a:t>
            </a:r>
          </a:p>
          <a:p>
            <a:r>
              <a:rPr sz="950" b="0">
                <a:solidFill>
                  <a:srgbClr val="64748B"/>
                </a:solidFill>
                <a:latin typeface="Inter"/>
              </a:rPr>
              <a:t>30 Sept 2026, with leave to amend. The Fashion Law.</a:t>
            </a:r>
          </a:p>
          <a:p>
            <a:r>
              <a:rPr sz="850" b="0">
                <a:solidFill>
                  <a:srgbClr val="1D4ED8"/>
                </a:solidFill>
                <a:latin typeface="Inter"/>
                <a:hlinkClick r:id="rId8"/>
              </a:rPr>
              <a:t>www.thefashionlaw.com/quince-beats-williams-sonoma-false-advertising-claims-over-product-comparisons/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 the Second Purchase</dc:title>
  <dc:subject>PptxGenJS Presentation</dc:subject>
  <dc:creator>Team G27</dc:creator>
  <cp:lastModifiedBy>Team G27</cp:lastModifiedBy>
  <cp:revision>1</cp:revision>
  <dcterms:created xsi:type="dcterms:W3CDTF">2026-10-17T11:30:17Z</dcterms:created>
  <dcterms:modified xsi:type="dcterms:W3CDTF">2026-10-17T11:30:17Z</dcterms:modified>
</cp:coreProperties>
</file>