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1.png"/><Relationship Id="rId9" Type="http://schemas.openxmlformats.org/officeDocument/2006/relationships/image" Target="../media/image-5-9.png"/><Relationship Id="rId10" Type="http://schemas.openxmlformats.org/officeDocument/2006/relationships/image" Target="../media/image-5-3.png"/><Relationship Id="rId11" Type="http://schemas.openxmlformats.org/officeDocument/2006/relationships/image" Target="../media/image-5-5.png"/><Relationship Id="rId12" Type="http://schemas.openxmlformats.org/officeDocument/2006/relationships/image" Target="../media/image-5-2.png"/><Relationship Id="rId13" Type="http://schemas.openxmlformats.org/officeDocument/2006/relationships/image" Target="../media/image-5-6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72434"/>
            <a:ext cx="1188720" cy="35474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875520" y="566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Second Purchase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004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viral first buyers into repeat customers with the same $120M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31%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97180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15468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and lifecycle strategy  ·  Grounded in Adobe Customer Journey Analytics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081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Competition World Cup  ·  Graduate Track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programs win the second purchase at $0 new budget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(Quince case data view, Jan–Apr 2026); case Exhibits D, G, H, J; team analysis. Impact figures are team estimates; repeat contributions are gross before haircuts.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43584"/>
            <a:ext cx="8183880" cy="274320"/>
          </a:xfrm>
          <a:prstGeom prst="triangle">
            <a:avLst/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1499616"/>
            <a:ext cx="8183880" cy="438912"/>
          </a:xfrm>
          <a:prstGeom prst="roundRect">
            <a:avLst>
              <a:gd name="adj" fmla="val 125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499616"/>
            <a:ext cx="7818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$9M of the fixed $120M from rented to owned reach; earn the second purchase when trust peaks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029968"/>
            <a:ext cx="2636520" cy="2706624"/>
          </a:xfrm>
          <a:prstGeom prst="roundRect">
            <a:avLst>
              <a:gd name="adj" fmla="val 20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029968"/>
            <a:ext cx="2636520" cy="566928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0936" y="2075688"/>
            <a:ext cx="2453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FDB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30936" y="2350008"/>
            <a:ext cx="2453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every order into a relationship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12648" y="2715768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" y="2715768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Quince Passport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" y="3136392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2376" y="3136392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12648" y="3557016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2376" y="3557016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" y="3977640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2376" y="3977640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Restock-First Waitlist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2648" y="4407408"/>
            <a:ext cx="2417064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2648" y="4407408"/>
            <a:ext cx="2417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 repeat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76600" y="2029968"/>
            <a:ext cx="2636520" cy="2706624"/>
          </a:xfrm>
          <a:prstGeom prst="roundRect">
            <a:avLst>
              <a:gd name="adj" fmla="val 20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276600" y="2029968"/>
            <a:ext cx="2636520" cy="566928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04616" y="2075688"/>
            <a:ext cx="2453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FDB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Golden Month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04616" y="2350008"/>
            <a:ext cx="2453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 the second order in weeks 1–4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386328" y="2688336"/>
            <a:ext cx="2417064" cy="237744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96056" y="2688336"/>
            <a:ext cx="2197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Material Journeys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386328" y="2980944"/>
            <a:ext cx="241706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96056" y="2980944"/>
            <a:ext cx="2197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3386328" y="3273552"/>
            <a:ext cx="241706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96056" y="3273552"/>
            <a:ext cx="2197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Ledger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386328" y="3566160"/>
            <a:ext cx="241706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496056" y="3566160"/>
            <a:ext cx="2197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Insider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386328" y="3858768"/>
            <a:ext cx="241706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96056" y="3858768"/>
            <a:ext cx="2197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Beauty Refill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386328" y="4151376"/>
            <a:ext cx="241706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496056" y="4151376"/>
            <a:ext cx="2197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Second Life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3386328" y="4407408"/>
            <a:ext cx="2417064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386328" y="4407408"/>
            <a:ext cx="2417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 repeat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050280" y="2029968"/>
            <a:ext cx="2636520" cy="2706624"/>
          </a:xfrm>
          <a:prstGeom prst="roundRect">
            <a:avLst>
              <a:gd name="adj" fmla="val 20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050280" y="2029968"/>
            <a:ext cx="2636520" cy="566928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178296" y="2075688"/>
            <a:ext cx="2453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FDB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</a:t>
            </a:r>
            <a:endParaRPr 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6178296" y="2350008"/>
            <a:ext cx="2453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only for customers who are incremental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6160008" y="2715768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69736" y="2715768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Never Pay Twice Engine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160008" y="3136392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269736" y="3136392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Loyalist Lookalikes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6160008" y="3557016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269736" y="3557016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6160008" y="3977640"/>
            <a:ext cx="24170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269736" y="3977640"/>
            <a:ext cx="2197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Fitting Room (pop-up)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6160008" y="4407408"/>
            <a:ext cx="2417064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160008" y="4407408"/>
            <a:ext cx="2417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Frees $9M · +0.9 pts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502920" y="4828032"/>
            <a:ext cx="8183880" cy="301752"/>
          </a:xfrm>
          <a:prstGeom prst="roundRect">
            <a:avLst>
              <a:gd name="adj" fmla="val 12121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40080" y="4828032"/>
            <a:ext cx="7909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thread  </a:t>
            </a:r>
            <a:pPr indent="0" marL="0">
              <a:buNone/>
            </a:pPr>
            <a:r>
              <a:rPr lang="en-US" sz="100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order buys trust; the second spends it. Proof and access, never discounts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502920" y="5184648"/>
            <a:ext cx="8183880" cy="301752"/>
          </a:xfrm>
          <a:prstGeom prst="roundRect">
            <a:avLst>
              <a:gd name="adj" fmla="val 12121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0080" y="5184648"/>
            <a:ext cx="7909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Adobe CJA engine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funds → A builds → C proves. No money moves until a CJA holdout proves it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8915400" y="1243584"/>
            <a:ext cx="277063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070848" y="131673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10332720" y="131673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≥ 30%</a:t>
            </a:r>
            <a:endParaRPr lang="en-US" sz="900" dirty="0"/>
          </a:p>
        </p:txBody>
      </p:sp>
      <p:sp>
        <p:nvSpPr>
          <p:cNvPr id="65" name="Text 62"/>
          <p:cNvSpPr txBox="1"/>
          <p:nvPr/>
        </p:nvSpPr>
        <p:spPr>
          <a:xfrm>
            <a:off x="9070848" y="15727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31%</a:t>
            </a:r>
            <a:endParaRPr lang="en-US" sz="2100" dirty="0"/>
          </a:p>
        </p:txBody>
      </p:sp>
      <p:sp>
        <p:nvSpPr>
          <p:cNvPr id="66" name="Shape 63"/>
          <p:cNvSpPr/>
          <p:nvPr/>
        </p:nvSpPr>
        <p:spPr>
          <a:xfrm>
            <a:off x="8915400" y="2176272"/>
            <a:ext cx="277063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070848" y="224942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10332720" y="224942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−10%</a:t>
            </a:r>
            <a:endParaRPr lang="en-US" sz="900" dirty="0"/>
          </a:p>
        </p:txBody>
      </p:sp>
      <p:sp>
        <p:nvSpPr>
          <p:cNvPr id="69" name="Text 66"/>
          <p:cNvSpPr txBox="1"/>
          <p:nvPr/>
        </p:nvSpPr>
        <p:spPr>
          <a:xfrm>
            <a:off x="9070848" y="250545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2100" dirty="0"/>
          </a:p>
        </p:txBody>
      </p:sp>
      <p:sp>
        <p:nvSpPr>
          <p:cNvPr id="70" name="Shape 67"/>
          <p:cNvSpPr/>
          <p:nvPr/>
        </p:nvSpPr>
        <p:spPr>
          <a:xfrm>
            <a:off x="8915400" y="3108960"/>
            <a:ext cx="2770632" cy="841248"/>
          </a:xfrm>
          <a:prstGeom prst="roundRect">
            <a:avLst>
              <a:gd name="adj" fmla="val 6522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9070848" y="31821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Contribution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10332720" y="318211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$120M</a:t>
            </a:r>
            <a:endParaRPr lang="en-US" sz="900" dirty="0"/>
          </a:p>
        </p:txBody>
      </p:sp>
      <p:sp>
        <p:nvSpPr>
          <p:cNvPr id="73" name="Text 70"/>
          <p:cNvSpPr txBox="1"/>
          <p:nvPr/>
        </p:nvSpPr>
        <p:spPr>
          <a:xfrm>
            <a:off x="9070848" y="34381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+$25M / yr</a:t>
            </a:r>
            <a:endParaRPr lang="en-US" sz="2100" dirty="0"/>
          </a:p>
        </p:txBody>
      </p:sp>
      <p:sp>
        <p:nvSpPr>
          <p:cNvPr id="74" name="Shape 71"/>
          <p:cNvSpPr/>
          <p:nvPr/>
        </p:nvSpPr>
        <p:spPr>
          <a:xfrm>
            <a:off x="8915400" y="4096512"/>
            <a:ext cx="27706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272" y="4178808"/>
            <a:ext cx="219456" cy="219456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9326880" y="40965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budget increase</a:t>
            </a:r>
            <a:endParaRPr lang="en-US" sz="1000" dirty="0"/>
          </a:p>
        </p:txBody>
      </p:sp>
      <p:sp>
        <p:nvSpPr>
          <p:cNvPr id="77" name="Shape 73"/>
          <p:cNvSpPr/>
          <p:nvPr/>
        </p:nvSpPr>
        <p:spPr>
          <a:xfrm>
            <a:off x="8915400" y="4572000"/>
            <a:ext cx="27706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2" y="4654296"/>
            <a:ext cx="219456" cy="219456"/>
          </a:xfrm>
          <a:prstGeom prst="rect">
            <a:avLst/>
          </a:prstGeom>
        </p:spPr>
      </p:pic>
      <p:sp>
        <p:nvSpPr>
          <p:cNvPr id="79" name="Text 74"/>
          <p:cNvSpPr txBox="1"/>
          <p:nvPr/>
        </p:nvSpPr>
        <p:spPr>
          <a:xfrm>
            <a:off x="9326880" y="4572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price-led retention</a:t>
            </a:r>
            <a:endParaRPr lang="en-US" sz="1000" dirty="0"/>
          </a:p>
        </p:txBody>
      </p:sp>
      <p:sp>
        <p:nvSpPr>
          <p:cNvPr id="80" name="Shape 75"/>
          <p:cNvSpPr/>
          <p:nvPr/>
        </p:nvSpPr>
        <p:spPr>
          <a:xfrm>
            <a:off x="8915400" y="5047488"/>
            <a:ext cx="27706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2" y="5129784"/>
            <a:ext cx="219456" cy="219456"/>
          </a:xfrm>
          <a:prstGeom prst="rect">
            <a:avLst/>
          </a:prstGeom>
        </p:spPr>
      </p:pic>
      <p:sp>
        <p:nvSpPr>
          <p:cNvPr id="82" name="Text 76"/>
          <p:cNvSpPr txBox="1"/>
          <p:nvPr/>
        </p:nvSpPr>
        <p:spPr>
          <a:xfrm>
            <a:off x="9326880" y="50474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move proven in CJA</a:t>
            </a:r>
            <a:endParaRPr lang="en-US" sz="1000" dirty="0"/>
          </a:p>
        </p:txBody>
      </p:sp>
      <p:sp>
        <p:nvSpPr>
          <p:cNvPr id="83" name="Shape 77"/>
          <p:cNvSpPr/>
          <p:nvPr/>
        </p:nvSpPr>
        <p:spPr>
          <a:xfrm>
            <a:off x="502920" y="5632704"/>
            <a:ext cx="272491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4" name="Text 78"/>
          <p:cNvSpPr txBox="1"/>
          <p:nvPr/>
        </p:nvSpPr>
        <p:spPr>
          <a:xfrm>
            <a:off x="640080" y="563270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 reach costs more every year</a:t>
            </a:r>
            <a:endParaRPr lang="en-US" sz="950" dirty="0"/>
          </a:p>
        </p:txBody>
      </p:sp>
      <p:sp>
        <p:nvSpPr>
          <p:cNvPr id="85" name="Shape 79"/>
          <p:cNvSpPr/>
          <p:nvPr/>
        </p:nvSpPr>
        <p:spPr>
          <a:xfrm>
            <a:off x="3337560" y="5632704"/>
            <a:ext cx="272491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6" name="Text 80"/>
          <p:cNvSpPr txBox="1"/>
          <p:nvPr/>
        </p:nvSpPr>
        <p:spPr>
          <a:xfrm>
            <a:off x="3474720" y="563270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Buyers leave at three moments</a:t>
            </a:r>
            <a:endParaRPr lang="en-US" sz="950" dirty="0"/>
          </a:p>
        </p:txBody>
      </p:sp>
      <p:sp>
        <p:nvSpPr>
          <p:cNvPr id="87" name="Shape 81"/>
          <p:cNvSpPr/>
          <p:nvPr/>
        </p:nvSpPr>
        <p:spPr>
          <a:xfrm>
            <a:off x="6172200" y="5632704"/>
            <a:ext cx="272491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8" name="Text 82"/>
          <p:cNvSpPr txBox="1"/>
          <p:nvPr/>
        </p:nvSpPr>
        <p:spPr>
          <a:xfrm>
            <a:off x="6309360" y="563270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and consent take years to copy</a:t>
            </a:r>
            <a:endParaRPr lang="en-US" sz="950" dirty="0"/>
          </a:p>
        </p:txBody>
      </p:sp>
      <p:sp>
        <p:nvSpPr>
          <p:cNvPr id="89" name="Shape 83"/>
          <p:cNvSpPr/>
          <p:nvPr/>
        </p:nvSpPr>
        <p:spPr>
          <a:xfrm>
            <a:off x="9006840" y="5632704"/>
            <a:ext cx="272491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0" name="Text 84"/>
          <p:cNvSpPr txBox="1"/>
          <p:nvPr/>
        </p:nvSpPr>
        <p:spPr>
          <a:xfrm>
            <a:off x="9144000" y="563270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Capabilities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ready; lifecycle muscle to build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 reach costs more each year; owned reach compounds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B, D, G, H; Adjust and AppsFlyer ATT benchmarks; University of Michigan consumer sentiment (May 2026); Meta and TikTok public announcements.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3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80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of budget sits on three social platforms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5544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FY2026 paid marketing budget, $120M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212848"/>
            <a:ext cx="2033016" cy="45720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7784" y="2212848"/>
            <a:ext cx="1978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$58M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35936" y="2212848"/>
            <a:ext cx="490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590800" y="2212848"/>
            <a:ext cx="435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026664" y="2212848"/>
            <a:ext cx="771144" cy="45720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97808" y="2212848"/>
            <a:ext cx="560832" cy="457200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58640" y="2212848"/>
            <a:ext cx="140208" cy="45720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98848" y="2212848"/>
            <a:ext cx="210312" cy="457200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2121408"/>
            <a:ext cx="2523744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18653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$72M = 60%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7157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Prospecting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444496" y="29169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3026664" y="27157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$22M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60648" y="29169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 $16M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99432" y="2212848"/>
            <a:ext cx="0" cy="-164592"/>
          </a:xfrm>
          <a:prstGeom prst="line">
            <a:avLst/>
          </a:prstGeom>
          <a:noFill/>
          <a:ln w="12700">
            <a:solidFill>
              <a:srgbClr val="0A1F4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02152" y="186537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$6M</a:t>
            </a:r>
            <a:endParaRPr lang="en-US" sz="950" dirty="0"/>
          </a:p>
        </p:txBody>
      </p:sp>
      <p:pic>
        <p:nvPicPr>
          <p:cNvPr id="27" name="Image 1" descr="/tmp/claude-0/-home-user-Quince/7efe80ae-a049-50c2-9886-98bf7ca3a04a/scratchpad/assets/m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219456" cy="219456"/>
          </a:xfrm>
          <a:prstGeom prst="rect">
            <a:avLst/>
          </a:prstGeom>
        </p:spPr>
      </p:pic>
      <p:pic>
        <p:nvPicPr>
          <p:cNvPr id="28" name="Image 2" descr="/tmp/claude-0/-home-user-Quince/7efe80ae-a049-50c2-9886-98bf7ca3a04a/scratchpad/assets/tikt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291840"/>
            <a:ext cx="219456" cy="219456"/>
          </a:xfrm>
          <a:prstGeom prst="rect">
            <a:avLst/>
          </a:prstGeom>
        </p:spPr>
      </p:pic>
      <p:pic>
        <p:nvPicPr>
          <p:cNvPr id="29" name="Image 3" descr="/tmp/claude-0/-home-user-Quince/7efe80ae-a049-50c2-9886-98bf7ca3a04a/scratchpad/assets/pinter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008" y="3291840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600200" y="3291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Quince doesn't control</a:t>
            </a:r>
            <a:endParaRPr lang="en-US" sz="950" dirty="0"/>
          </a:p>
        </p:txBody>
      </p:sp>
      <p:sp>
        <p:nvSpPr>
          <p:cNvPr id="31" name="Text 25"/>
          <p:cNvSpPr txBox="1"/>
          <p:nvPr/>
        </p:nvSpPr>
        <p:spPr>
          <a:xfrm>
            <a:off x="5120640" y="1280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is up 29% in two years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120640" y="15544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customer acquisition cost, $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40680" y="2706329"/>
            <a:ext cx="777240" cy="814111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57800" y="2432009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166360" y="35570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years ago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720840" y="2468880"/>
            <a:ext cx="777240" cy="105156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537960" y="219456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6446520" y="35570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5303520" y="3520440"/>
            <a:ext cx="24688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8549640" y="12801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customers are worth 2.6× more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8549640" y="1554480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Estimated 3-year LTV per customer, $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8869680" y="3071046"/>
            <a:ext cx="777240" cy="44939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8686800" y="279672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8595360" y="35570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Web-only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10195560" y="2331720"/>
            <a:ext cx="777240" cy="118872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10012680" y="20574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</a:t>
            </a:r>
            <a:endParaRPr lang="en-US" sz="1300" dirty="0"/>
          </a:p>
        </p:txBody>
      </p:sp>
      <p:sp>
        <p:nvSpPr>
          <p:cNvPr id="47" name="Text 41"/>
          <p:cNvSpPr txBox="1"/>
          <p:nvPr/>
        </p:nvSpPr>
        <p:spPr>
          <a:xfrm>
            <a:off x="9921240" y="35570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App-installed</a:t>
            </a:r>
            <a:endParaRPr lang="en-US" sz="900" dirty="0"/>
          </a:p>
        </p:txBody>
      </p:sp>
      <p:sp>
        <p:nvSpPr>
          <p:cNvPr id="48" name="Shape 42"/>
          <p:cNvSpPr/>
          <p:nvPr/>
        </p:nvSpPr>
        <p:spPr>
          <a:xfrm>
            <a:off x="8732520" y="3520440"/>
            <a:ext cx="274320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502920" y="4023360"/>
            <a:ext cx="3648456" cy="1627632"/>
          </a:xfrm>
          <a:prstGeom prst="roundRect">
            <a:avLst>
              <a:gd name="adj" fmla="val 33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640080" y="4142232"/>
            <a:ext cx="384048" cy="38404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71" y="4226723"/>
            <a:ext cx="215067" cy="215067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1124712" y="41148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 loss</a:t>
            </a:r>
            <a:endParaRPr lang="en-US" sz="1150" dirty="0"/>
          </a:p>
        </p:txBody>
      </p:sp>
      <p:sp>
        <p:nvSpPr>
          <p:cNvPr id="53" name="Text 46"/>
          <p:cNvSpPr txBox="1"/>
          <p:nvPr/>
        </p:nvSpPr>
        <p:spPr>
          <a:xfrm>
            <a:off x="1124712" y="435254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iOS opt-in ~35–50%; Safari and Firefox block third-party cookies</a:t>
            </a:r>
            <a:endParaRPr lang="en-US" sz="850" dirty="0"/>
          </a:p>
        </p:txBody>
      </p:sp>
      <p:sp>
        <p:nvSpPr>
          <p:cNvPr id="54" name="Text 47"/>
          <p:cNvSpPr txBox="1"/>
          <p:nvPr/>
        </p:nvSpPr>
        <p:spPr>
          <a:xfrm>
            <a:off x="640080" y="47548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Pixel retargeting pools shrink, and its $31 CAC is counted before any incrementality test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640080" y="5239512"/>
            <a:ext cx="3374136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731520" y="52395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move: Never Pay Twice Engine</a:t>
            </a:r>
            <a:endParaRPr lang="en-US" sz="950" dirty="0"/>
          </a:p>
        </p:txBody>
      </p:sp>
      <p:sp>
        <p:nvSpPr>
          <p:cNvPr id="57" name="Shape 50"/>
          <p:cNvSpPr/>
          <p:nvPr/>
        </p:nvSpPr>
        <p:spPr>
          <a:xfrm>
            <a:off x="4270248" y="4023360"/>
            <a:ext cx="3648456" cy="1627632"/>
          </a:xfrm>
          <a:prstGeom prst="roundRect">
            <a:avLst>
              <a:gd name="adj" fmla="val 33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4407408" y="4142232"/>
            <a:ext cx="384048" cy="38404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1899" y="4226723"/>
            <a:ext cx="215067" cy="215067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4892040" y="41148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concentration</a:t>
            </a:r>
            <a:endParaRPr lang="en-US" sz="1150" dirty="0"/>
          </a:p>
        </p:txBody>
      </p:sp>
      <p:sp>
        <p:nvSpPr>
          <p:cNvPr id="61" name="Text 53"/>
          <p:cNvSpPr txBox="1"/>
          <p:nvPr/>
        </p:nvSpPr>
        <p:spPr>
          <a:xfrm>
            <a:off x="4892040" y="435254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 automates targeting by default; TikTok's U.S. ownership changed</a:t>
            </a:r>
            <a:endParaRPr lang="en-US" sz="850" dirty="0"/>
          </a:p>
        </p:txBody>
      </p:sp>
      <p:sp>
        <p:nvSpPr>
          <p:cNvPr id="62" name="Text 54"/>
          <p:cNvSpPr txBox="1"/>
          <p:nvPr/>
        </p:nvSpPr>
        <p:spPr>
          <a:xfrm>
            <a:off x="4407408" y="47548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of reach follows rules Quince can't set or predict</a:t>
            </a:r>
            <a:endParaRPr lang="en-US" sz="1000" dirty="0"/>
          </a:p>
        </p:txBody>
      </p:sp>
      <p:sp>
        <p:nvSpPr>
          <p:cNvPr id="63" name="Shape 55"/>
          <p:cNvSpPr/>
          <p:nvPr/>
        </p:nvSpPr>
        <p:spPr>
          <a:xfrm>
            <a:off x="4407408" y="5239512"/>
            <a:ext cx="3374136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4498848" y="52395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move: owned share 5% → 11%</a:t>
            </a:r>
            <a:endParaRPr lang="en-US" sz="950" dirty="0"/>
          </a:p>
        </p:txBody>
      </p:sp>
      <p:sp>
        <p:nvSpPr>
          <p:cNvPr id="65" name="Shape 57"/>
          <p:cNvSpPr/>
          <p:nvPr/>
        </p:nvSpPr>
        <p:spPr>
          <a:xfrm>
            <a:off x="8037576" y="4023360"/>
            <a:ext cx="3648456" cy="1627632"/>
          </a:xfrm>
          <a:prstGeom prst="roundRect">
            <a:avLst>
              <a:gd name="adj" fmla="val 33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8174736" y="4142232"/>
            <a:ext cx="384048" cy="38404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6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9227" y="4226723"/>
            <a:ext cx="215067" cy="215067"/>
          </a:xfrm>
          <a:prstGeom prst="rect">
            <a:avLst/>
          </a:prstGeom>
        </p:spPr>
      </p:pic>
      <p:sp>
        <p:nvSpPr>
          <p:cNvPr id="68" name="Text 59"/>
          <p:cNvSpPr txBox="1"/>
          <p:nvPr/>
        </p:nvSpPr>
        <p:spPr>
          <a:xfrm>
            <a:off x="8659368" y="41148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 demand, rising prices</a:t>
            </a:r>
            <a:endParaRPr lang="en-US" sz="1150" dirty="0"/>
          </a:p>
        </p:txBody>
      </p:sp>
      <p:sp>
        <p:nvSpPr>
          <p:cNvPr id="69" name="Text 60"/>
          <p:cNvSpPr txBox="1"/>
          <p:nvPr/>
        </p:nvSpPr>
        <p:spPr>
          <a:xfrm>
            <a:off x="8659368" y="435254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Consumer sentiment at a record-low 44.8; tariffs lift costs</a:t>
            </a:r>
            <a:endParaRPr lang="en-US" sz="850" dirty="0"/>
          </a:p>
        </p:txBody>
      </p:sp>
      <p:sp>
        <p:nvSpPr>
          <p:cNvPr id="70" name="Text 61"/>
          <p:cNvSpPr txBox="1"/>
          <p:nvPr/>
        </p:nvSpPr>
        <p:spPr>
          <a:xfrm>
            <a:off x="8174736" y="47548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Discounts would buy volume with the M2C margin, and are ruled out</a:t>
            </a:r>
            <a:endParaRPr lang="en-US" sz="1000" dirty="0"/>
          </a:p>
        </p:txBody>
      </p:sp>
      <p:sp>
        <p:nvSpPr>
          <p:cNvPr id="71" name="Shape 62"/>
          <p:cNvSpPr/>
          <p:nvPr/>
        </p:nvSpPr>
        <p:spPr>
          <a:xfrm>
            <a:off x="8174736" y="5239512"/>
            <a:ext cx="3374136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8266176" y="52395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move: Insider and Proof Creators</a:t>
            </a:r>
            <a:endParaRPr lang="en-US" sz="950" dirty="0"/>
          </a:p>
        </p:txBody>
      </p:sp>
      <p:sp>
        <p:nvSpPr>
          <p:cNvPr id="73" name="Shape 64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76" name="Text 66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rents 60% of its reach and spends just $1.43 per customer on the reach it owns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Buyers leave at three moments; each needs its own move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case data view, Jan–Apr 2026, 60,000 people (A1, A2, A4, A5, A6, Cohort Table); behavioural mechanisms are hypotheses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80160"/>
            <a:ext cx="3557016" cy="420624"/>
          </a:xfrm>
          <a:prstGeom prst="roundRect">
            <a:avLst>
              <a:gd name="adj" fmla="val 1304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280160"/>
            <a:ext cx="3282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of funnel   </a:t>
            </a:r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 → cart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280160"/>
            <a:ext cx="3557016" cy="420624"/>
          </a:xfrm>
          <a:prstGeom prst="roundRect">
            <a:avLst>
              <a:gd name="adj" fmla="val 1304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53128" y="1280160"/>
            <a:ext cx="3282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of funnel   </a:t>
            </a:r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 → order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129016" y="1280160"/>
            <a:ext cx="3557016" cy="420624"/>
          </a:xfrm>
          <a:prstGeom prst="roundRect">
            <a:avLst>
              <a:gd name="adj" fmla="val 1304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66176" y="1280160"/>
            <a:ext cx="3282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order one   </a:t>
            </a:r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→ second order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508760" y="1901952"/>
            <a:ext cx="1874520" cy="219456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38144" y="1874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60,000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view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1508760" y="2240280"/>
            <a:ext cx="1142395" cy="219456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06019" y="22128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36,566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5511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to cart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1508760" y="2578608"/>
            <a:ext cx="354253" cy="21945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917877" y="2551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11,339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407408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to cart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321808" y="1901952"/>
            <a:ext cx="1874520" cy="219456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251192" y="1874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11,339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4407408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321808" y="2240280"/>
            <a:ext cx="961809" cy="219456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38481" y="22128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5,818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407408" y="25511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321808" y="2578608"/>
            <a:ext cx="428500" cy="21945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805172" y="2551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2,592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220456" y="18745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engaged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9299448" y="1901952"/>
            <a:ext cx="369800" cy="21945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724112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220456" y="2212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after order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9299448" y="2240280"/>
            <a:ext cx="920567" cy="219456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274879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220456" y="25511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after order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9299448" y="2578608"/>
            <a:ext cx="1691640" cy="21945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1045952" y="2551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21.5%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02920" y="2926080"/>
            <a:ext cx="3557016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0080" y="2926080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400" dirty="0"/>
          </a:p>
        </p:txBody>
      </p:sp>
      <p:sp>
        <p:nvSpPr>
          <p:cNvPr id="44" name="Text 41"/>
          <p:cNvSpPr txBox="1"/>
          <p:nvPr/>
        </p:nvSpPr>
        <p:spPr>
          <a:xfrm>
            <a:off x="1600200" y="2926080"/>
            <a:ext cx="2368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product viewers leave without a cart add (A1)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315968" y="2926080"/>
            <a:ext cx="3557016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53128" y="2926080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</a:t>
            </a:r>
            <a:endParaRPr lang="en-US" sz="2400" dirty="0"/>
          </a:p>
        </p:txBody>
      </p:sp>
      <p:sp>
        <p:nvSpPr>
          <p:cNvPr id="47" name="Text 44"/>
          <p:cNvSpPr txBox="1"/>
          <p:nvPr/>
        </p:nvSpPr>
        <p:spPr>
          <a:xfrm>
            <a:off x="5413248" y="2926080"/>
            <a:ext cx="2368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carts never order; 1 message follows 11,610 cart adds (A4)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129016" y="2926080"/>
            <a:ext cx="3557016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66176" y="2926080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4.6×</a:t>
            </a:r>
            <a:endParaRPr lang="en-US" sz="2400" dirty="0"/>
          </a:p>
        </p:txBody>
      </p:sp>
      <p:sp>
        <p:nvSpPr>
          <p:cNvPr id="50" name="Text 47"/>
          <p:cNvSpPr txBox="1"/>
          <p:nvPr/>
        </p:nvSpPr>
        <p:spPr>
          <a:xfrm>
            <a:off x="9226296" y="2926080"/>
            <a:ext cx="2368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for app users after order one; week-2 return 5.6% vs ~1% (A5, Cohort)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02920" y="3813048"/>
            <a:ext cx="347472" cy="347472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5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4" y="3889492"/>
            <a:ext cx="194584" cy="194584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14400" y="3767328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Why: Price signals quality</a:t>
            </a:r>
            <a:endParaRPr lang="en-US" sz="1050" dirty="0"/>
          </a:p>
        </p:txBody>
      </p:sp>
      <p:sp>
        <p:nvSpPr>
          <p:cNvPr id="54" name="Text 50"/>
          <p:cNvSpPr txBox="1"/>
          <p:nvPr/>
        </p:nvSpPr>
        <p:spPr>
          <a:xfrm>
            <a:off x="914400" y="4005072"/>
            <a:ext cx="3099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Half-price cashmere from a brand with no stores reads as too good to be true</a:t>
            </a:r>
            <a:endParaRPr 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4315968" y="3813048"/>
            <a:ext cx="347472" cy="347472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5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412" y="3889492"/>
            <a:ext cx="194584" cy="194584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4727448" y="3767328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Why: Unfinished tasks fade</a:t>
            </a:r>
            <a:endParaRPr lang="en-US" sz="1050" dirty="0"/>
          </a:p>
        </p:txBody>
      </p:sp>
      <p:sp>
        <p:nvSpPr>
          <p:cNvPr id="58" name="Text 53"/>
          <p:cNvSpPr txBox="1"/>
          <p:nvPr/>
        </p:nvSpPr>
        <p:spPr>
          <a:xfrm>
            <a:off x="4727448" y="4005072"/>
            <a:ext cx="3099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saved cart is forgotten within hours if nothing reminds the buyer</a:t>
            </a:r>
            <a:endParaRPr lang="en-US" sz="950" dirty="0"/>
          </a:p>
        </p:txBody>
      </p:sp>
      <p:sp>
        <p:nvSpPr>
          <p:cNvPr id="59" name="Shape 54"/>
          <p:cNvSpPr/>
          <p:nvPr/>
        </p:nvSpPr>
        <p:spPr>
          <a:xfrm>
            <a:off x="8129016" y="3813048"/>
            <a:ext cx="347472" cy="347472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6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5460" y="3889492"/>
            <a:ext cx="194584" cy="194584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8540496" y="3767328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Why: Trust peaks at delivery</a:t>
            </a:r>
            <a:endParaRPr lang="en-US" sz="1050" dirty="0"/>
          </a:p>
        </p:txBody>
      </p:sp>
      <p:sp>
        <p:nvSpPr>
          <p:cNvPr id="62" name="Text 56"/>
          <p:cNvSpPr txBox="1"/>
          <p:nvPr/>
        </p:nvSpPr>
        <p:spPr>
          <a:xfrm>
            <a:off x="8540496" y="4005072"/>
            <a:ext cx="3099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Habits form in weeks 1–4, and nobody buys a second sweater in spring</a:t>
            </a:r>
            <a:endParaRPr lang="en-US" sz="950" dirty="0"/>
          </a:p>
        </p:txBody>
      </p:sp>
      <p:sp>
        <p:nvSpPr>
          <p:cNvPr id="63" name="Text 57"/>
          <p:cNvSpPr txBox="1"/>
          <p:nvPr/>
        </p:nvSpPr>
        <p:spPr>
          <a:xfrm>
            <a:off x="502920" y="452628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move</a:t>
            </a:r>
            <a:endParaRPr lang="en-US" sz="950" dirty="0"/>
          </a:p>
        </p:txBody>
      </p:sp>
      <p:sp>
        <p:nvSpPr>
          <p:cNvPr id="64" name="Shape 58"/>
          <p:cNvSpPr/>
          <p:nvPr/>
        </p:nvSpPr>
        <p:spPr>
          <a:xfrm>
            <a:off x="502920" y="4773168"/>
            <a:ext cx="1723644" cy="384048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502920" y="4773168"/>
            <a:ext cx="1723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1000" dirty="0"/>
          </a:p>
        </p:txBody>
      </p:sp>
      <p:sp>
        <p:nvSpPr>
          <p:cNvPr id="66" name="Shape 60"/>
          <p:cNvSpPr/>
          <p:nvPr/>
        </p:nvSpPr>
        <p:spPr>
          <a:xfrm>
            <a:off x="2336292" y="4773168"/>
            <a:ext cx="17236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2336292" y="4773168"/>
            <a:ext cx="1723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Product-page proof</a:t>
            </a:r>
            <a:endParaRPr lang="en-US" sz="1000" dirty="0"/>
          </a:p>
        </p:txBody>
      </p:sp>
      <p:sp>
        <p:nvSpPr>
          <p:cNvPr id="68" name="Text 62"/>
          <p:cNvSpPr txBox="1"/>
          <p:nvPr/>
        </p:nvSpPr>
        <p:spPr>
          <a:xfrm>
            <a:off x="4315968" y="452628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move</a:t>
            </a:r>
            <a:endParaRPr lang="en-US" sz="950" dirty="0"/>
          </a:p>
        </p:txBody>
      </p:sp>
      <p:sp>
        <p:nvSpPr>
          <p:cNvPr id="69" name="Shape 63"/>
          <p:cNvSpPr/>
          <p:nvPr/>
        </p:nvSpPr>
        <p:spPr>
          <a:xfrm>
            <a:off x="4315968" y="4773168"/>
            <a:ext cx="1723644" cy="384048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0" name="Text 64"/>
          <p:cNvSpPr txBox="1"/>
          <p:nvPr/>
        </p:nvSpPr>
        <p:spPr>
          <a:xfrm>
            <a:off x="4315968" y="4773168"/>
            <a:ext cx="1723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1000" dirty="0"/>
          </a:p>
        </p:txBody>
      </p:sp>
      <p:sp>
        <p:nvSpPr>
          <p:cNvPr id="71" name="Shape 65"/>
          <p:cNvSpPr/>
          <p:nvPr/>
        </p:nvSpPr>
        <p:spPr>
          <a:xfrm>
            <a:off x="6149340" y="4773168"/>
            <a:ext cx="17236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2" name="Text 66"/>
          <p:cNvSpPr txBox="1"/>
          <p:nvPr/>
        </p:nvSpPr>
        <p:spPr>
          <a:xfrm>
            <a:off x="6149340" y="4773168"/>
            <a:ext cx="1723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1000" dirty="0"/>
          </a:p>
        </p:txBody>
      </p:sp>
      <p:sp>
        <p:nvSpPr>
          <p:cNvPr id="73" name="Text 67"/>
          <p:cNvSpPr txBox="1"/>
          <p:nvPr/>
        </p:nvSpPr>
        <p:spPr>
          <a:xfrm>
            <a:off x="8129016" y="452628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move</a:t>
            </a:r>
            <a:endParaRPr lang="en-US" sz="950" dirty="0"/>
          </a:p>
        </p:txBody>
      </p:sp>
      <p:sp>
        <p:nvSpPr>
          <p:cNvPr id="74" name="Shape 68"/>
          <p:cNvSpPr/>
          <p:nvPr/>
        </p:nvSpPr>
        <p:spPr>
          <a:xfrm>
            <a:off x="8129016" y="4773168"/>
            <a:ext cx="1723644" cy="384048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8129016" y="4773168"/>
            <a:ext cx="1723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1000" dirty="0"/>
          </a:p>
        </p:txBody>
      </p:sp>
      <p:sp>
        <p:nvSpPr>
          <p:cNvPr id="76" name="Shape 70"/>
          <p:cNvSpPr/>
          <p:nvPr/>
        </p:nvSpPr>
        <p:spPr>
          <a:xfrm>
            <a:off x="9962388" y="4773168"/>
            <a:ext cx="17236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7" name="Text 71"/>
          <p:cNvSpPr txBox="1"/>
          <p:nvPr/>
        </p:nvSpPr>
        <p:spPr>
          <a:xfrm>
            <a:off x="9962388" y="4773168"/>
            <a:ext cx="1723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</a:t>
            </a:r>
            <a:endParaRPr lang="en-US" sz="1000" dirty="0"/>
          </a:p>
        </p:txBody>
      </p:sp>
      <p:sp>
        <p:nvSpPr>
          <p:cNvPr id="78" name="Text 72"/>
          <p:cNvSpPr txBox="1"/>
          <p:nvPr/>
        </p:nvSpPr>
        <p:spPr>
          <a:xfrm>
            <a:off x="502920" y="52578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check (A6): cashmere buyers repeat at 13.7%, Home buyers at 20.8%, so the second order comes from a new category</a:t>
            </a:r>
            <a:endParaRPr lang="en-US" sz="950" dirty="0"/>
          </a:p>
        </p:txBody>
      </p:sp>
      <p:sp>
        <p:nvSpPr>
          <p:cNvPr id="79" name="Shape 73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8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82" name="Text 75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abandoners within hours, every buyer at delivery, engaged buyers in weeks 1–4, and cashmere buyers by day 21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tactics in a quarter; trust and consent take years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M; company filings and press (Shein acquisition of Everlane, May 2026; Williams-Sonoma v. Last Brand, dismissed 30 Sept 2026); positions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371600"/>
            <a:ext cx="5303520" cy="1851660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5074920"/>
            <a:ext cx="530352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1371600"/>
            <a:ext cx="0" cy="3703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371600"/>
            <a:ext cx="0" cy="370332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868680" y="51114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1114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51114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position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 rot="16200000">
            <a:off x="-1143000" y="30952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customer relationship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047902" y="1559052"/>
            <a:ext cx="9144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18" name="Image 1" descr="/tmp/claude-0/-home-user-Quince/7efe80ae-a049-50c2-9886-98bf7ca3a04a/scratchpad/assets/amaz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628" y="1632204"/>
            <a:ext cx="726948" cy="219456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2033626" y="2299716"/>
            <a:ext cx="64008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0" name="Image 2" descr="/tmp/claude-0/-home-user-Quince/7efe80ae-a049-50c2-9886-98bf7ca3a04a/scratchpad/assets/uniql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3938" y="2372868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1047902" y="2966314"/>
            <a:ext cx="9144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2" name="Image 3" descr="/tmp/claude-0/-home-user-Quince/7efe80ae-a049-50c2-9886-98bf7ca3a04a/scratchpad/assets/she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342" y="3073257"/>
            <a:ext cx="731520" cy="151873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3737153" y="2855214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4" name="Image 4" descr="/tmp/claude-0/-home-user-Quince/7efe80ae-a049-50c2-9886-98bf7ca3a04a/scratchpad/assets/everla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8593" y="2994363"/>
            <a:ext cx="868680" cy="8746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220870" y="1522019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6" name="Image 5" descr="/tmp/claude-0/-home-user-Quince/7efe80ae-a049-50c2-9886-98bf7ca3a04a/scratchpad/assets/williams_sonom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310" y="1659465"/>
            <a:ext cx="1280160" cy="90867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5025542" y="2299716"/>
            <a:ext cx="9144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8" name="Image 6" descr="/tmp/claude-0/-home-user-Quince/7efe80ae-a049-50c2-9886-98bf7ca3a04a/scratchpad/assets/tapes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16982" y="2400786"/>
            <a:ext cx="731520" cy="163621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4919472" y="3669944"/>
            <a:ext cx="9144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30" name="Text 21"/>
          <p:cNvSpPr txBox="1"/>
          <p:nvPr/>
        </p:nvSpPr>
        <p:spPr>
          <a:xfrm>
            <a:off x="4919472" y="36699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CUYANA</a:t>
            </a:r>
            <a:endParaRPr lang="en-US" sz="1100" dirty="0"/>
          </a:p>
        </p:txBody>
      </p:sp>
      <p:sp>
        <p:nvSpPr>
          <p:cNvPr id="31" name="Shape 22"/>
          <p:cNvSpPr/>
          <p:nvPr/>
        </p:nvSpPr>
        <p:spPr>
          <a:xfrm>
            <a:off x="2724912" y="4429354"/>
            <a:ext cx="1060704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875">
            <a:solidFill>
              <a:srgbClr val="DC2626"/>
            </a:solidFill>
            <a:prstDash val="dash"/>
          </a:ln>
        </p:spPr>
      </p:sp>
      <p:pic>
        <p:nvPicPr>
          <p:cNvPr id="32" name="Image 7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6939" y="4511650"/>
            <a:ext cx="796651" cy="237744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3840480" y="452993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00" dirty="0"/>
          </a:p>
        </p:txBody>
      </p:sp>
      <p:sp>
        <p:nvSpPr>
          <p:cNvPr id="34" name="Shape 24"/>
          <p:cNvSpPr/>
          <p:nvPr/>
        </p:nvSpPr>
        <p:spPr>
          <a:xfrm>
            <a:off x="3255264" y="2072030"/>
            <a:ext cx="0" cy="2320747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35" name="Shape 25"/>
          <p:cNvSpPr/>
          <p:nvPr/>
        </p:nvSpPr>
        <p:spPr>
          <a:xfrm>
            <a:off x="2724912" y="1614830"/>
            <a:ext cx="1060704" cy="402336"/>
          </a:xfrm>
          <a:prstGeom prst="roundRect">
            <a:avLst>
              <a:gd name="adj" fmla="val 22727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36" name="Image 8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6939" y="1697126"/>
            <a:ext cx="796651" cy="237744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840480" y="171541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900" dirty="0"/>
          </a:p>
        </p:txBody>
      </p:sp>
      <p:sp>
        <p:nvSpPr>
          <p:cNvPr id="38" name="Text 27"/>
          <p:cNvSpPr txBox="1"/>
          <p:nvPr/>
        </p:nvSpPr>
        <p:spPr>
          <a:xfrm>
            <a:off x="3346704" y="296722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price,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relationship</a:t>
            </a:r>
            <a:endParaRPr lang="en-US" sz="900" dirty="0"/>
          </a:p>
        </p:txBody>
      </p:sp>
      <p:sp>
        <p:nvSpPr>
          <p:cNvPr id="39" name="Text 28"/>
          <p:cNvSpPr txBox="1"/>
          <p:nvPr/>
        </p:nvSpPr>
        <p:spPr>
          <a:xfrm>
            <a:off x="6492240" y="12801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each rival teaches Quince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6492240" y="1691640"/>
            <a:ext cx="5193792" cy="475488"/>
          </a:xfrm>
          <a:prstGeom prst="roundRect">
            <a:avLst>
              <a:gd name="adj" fmla="val 1153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1" name="Image 9" descr="/tmp/claude-0/-home-user-Quince/7efe80ae-a049-50c2-9886-98bf7ca3a04a/scratchpad/assets/uniql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0296" y="1783080"/>
            <a:ext cx="292608" cy="292608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726680" y="16916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the app's services (tracking, care, restock), not its app-only prices</a:t>
            </a:r>
            <a:endParaRPr lang="en-US" sz="950" dirty="0"/>
          </a:p>
        </p:txBody>
      </p:sp>
      <p:sp>
        <p:nvSpPr>
          <p:cNvPr id="43" name="Shape 31"/>
          <p:cNvSpPr/>
          <p:nvPr/>
        </p:nvSpPr>
        <p:spPr>
          <a:xfrm>
            <a:off x="6492240" y="2258568"/>
            <a:ext cx="5193792" cy="475488"/>
          </a:xfrm>
          <a:prstGeom prst="roundRect">
            <a:avLst>
              <a:gd name="adj" fmla="val 1153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4" name="Image 10" descr="/tmp/claude-0/-home-user-Quince/7efe80ae-a049-50c2-9886-98bf7ca3a04a/scratchpad/assets/everlan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06540" y="2447978"/>
            <a:ext cx="960120" cy="96669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7726680" y="225856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email alone is no moat: Everlane was sold to Shein in 2026</a:t>
            </a:r>
            <a:endParaRPr lang="en-US" sz="950" dirty="0"/>
          </a:p>
        </p:txBody>
      </p:sp>
      <p:sp>
        <p:nvSpPr>
          <p:cNvPr id="46" name="Shape 33"/>
          <p:cNvSpPr/>
          <p:nvPr/>
        </p:nvSpPr>
        <p:spPr>
          <a:xfrm>
            <a:off x="6492240" y="2825496"/>
            <a:ext cx="5193792" cy="475488"/>
          </a:xfrm>
          <a:prstGeom prst="roundRect">
            <a:avLst>
              <a:gd name="adj" fmla="val 1153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7" name="Image 11" descr="/tmp/claude-0/-home-user-Quince/7efe80ae-a049-50c2-9886-98bf7ca3a04a/scratchpad/assets/amaz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3126" y="2953512"/>
            <a:ext cx="726948" cy="219456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7726680" y="2825496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fight a paid-retargeting war; Amazon wins it on data and scale</a:t>
            </a:r>
            <a:endParaRPr lang="en-US" sz="950" dirty="0"/>
          </a:p>
        </p:txBody>
      </p:sp>
      <p:sp>
        <p:nvSpPr>
          <p:cNvPr id="49" name="Shape 35"/>
          <p:cNvSpPr/>
          <p:nvPr/>
        </p:nvSpPr>
        <p:spPr>
          <a:xfrm>
            <a:off x="6492240" y="3392424"/>
            <a:ext cx="5193792" cy="475488"/>
          </a:xfrm>
          <a:prstGeom prst="roundRect">
            <a:avLst>
              <a:gd name="adj" fmla="val 1153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0" name="Image 12" descr="/tmp/claude-0/-home-user-Quince/7efe80ae-a049-50c2-9886-98bf7ca3a04a/scratchpad/assets/williams_sonom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06540" y="3596093"/>
            <a:ext cx="960120" cy="6815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726680" y="339242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customer data layer; never name rivals in messages (lawsuit)</a:t>
            </a:r>
            <a:endParaRPr lang="en-US" sz="950" dirty="0"/>
          </a:p>
        </p:txBody>
      </p:sp>
      <p:sp>
        <p:nvSpPr>
          <p:cNvPr id="52" name="Text 37"/>
          <p:cNvSpPr txBox="1"/>
          <p:nvPr/>
        </p:nvSpPr>
        <p:spPr>
          <a:xfrm>
            <a:off x="6492240" y="40233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Quince's moat: what takes years to copy</a:t>
            </a:r>
            <a:endParaRPr lang="en-US" sz="1300" dirty="0"/>
          </a:p>
        </p:txBody>
      </p:sp>
      <p:sp>
        <p:nvSpPr>
          <p:cNvPr id="53" name="Shape 38"/>
          <p:cNvSpPr/>
          <p:nvPr/>
        </p:nvSpPr>
        <p:spPr>
          <a:xfrm>
            <a:off x="6492240" y="4370832"/>
            <a:ext cx="1645920" cy="969264"/>
          </a:xfrm>
          <a:prstGeom prst="roundRect">
            <a:avLst>
              <a:gd name="adj" fmla="val 566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5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01968" y="4480560"/>
            <a:ext cx="256032" cy="256032"/>
          </a:xfrm>
          <a:prstGeom prst="rect">
            <a:avLst/>
          </a:prstGeom>
        </p:spPr>
      </p:pic>
      <p:sp>
        <p:nvSpPr>
          <p:cNvPr id="55" name="Text 39"/>
          <p:cNvSpPr txBox="1"/>
          <p:nvPr/>
        </p:nvSpPr>
        <p:spPr>
          <a:xfrm>
            <a:off x="6903720" y="4462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M2C cost</a:t>
            </a:r>
            <a:endParaRPr lang="en-US" sz="1050" dirty="0"/>
          </a:p>
        </p:txBody>
      </p:sp>
      <p:sp>
        <p:nvSpPr>
          <p:cNvPr id="56" name="Text 40"/>
          <p:cNvSpPr txBox="1"/>
          <p:nvPr/>
        </p:nvSpPr>
        <p:spPr>
          <a:xfrm>
            <a:off x="6601968" y="47731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 factories</a:t>
            </a:r>
            <a:endParaRPr lang="en-US" sz="900" dirty="0"/>
          </a:p>
        </p:txBody>
      </p:sp>
      <p:sp>
        <p:nvSpPr>
          <p:cNvPr id="57" name="Shape 41"/>
          <p:cNvSpPr/>
          <p:nvPr/>
        </p:nvSpPr>
        <p:spPr>
          <a:xfrm>
            <a:off x="8247888" y="4370832"/>
            <a:ext cx="1645920" cy="969264"/>
          </a:xfrm>
          <a:prstGeom prst="roundRect">
            <a:avLst>
              <a:gd name="adj" fmla="val 566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57616" y="4480560"/>
            <a:ext cx="256032" cy="256032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659368" y="4462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Consented base</a:t>
            </a:r>
            <a:endParaRPr lang="en-US" sz="1050" dirty="0"/>
          </a:p>
        </p:txBody>
      </p:sp>
      <p:sp>
        <p:nvSpPr>
          <p:cNvPr id="60" name="Text 43"/>
          <p:cNvSpPr txBox="1"/>
          <p:nvPr/>
        </p:nvSpPr>
        <p:spPr>
          <a:xfrm>
            <a:off x="8357616" y="47731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~480K newly engaged a year</a:t>
            </a:r>
            <a:endParaRPr lang="en-US" sz="900" dirty="0"/>
          </a:p>
        </p:txBody>
      </p:sp>
      <p:sp>
        <p:nvSpPr>
          <p:cNvPr id="61" name="Shape 44"/>
          <p:cNvSpPr/>
          <p:nvPr/>
        </p:nvSpPr>
        <p:spPr>
          <a:xfrm>
            <a:off x="10003536" y="4370832"/>
            <a:ext cx="1645920" cy="969264"/>
          </a:xfrm>
          <a:prstGeom prst="roundRect">
            <a:avLst>
              <a:gd name="adj" fmla="val 566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6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3264" y="4480560"/>
            <a:ext cx="256032" cy="256032"/>
          </a:xfrm>
          <a:prstGeom prst="rect">
            <a:avLst/>
          </a:prstGeom>
        </p:spPr>
      </p:pic>
      <p:sp>
        <p:nvSpPr>
          <p:cNvPr id="63" name="Text 45"/>
          <p:cNvSpPr txBox="1"/>
          <p:nvPr/>
        </p:nvSpPr>
        <p:spPr>
          <a:xfrm>
            <a:off x="10415016" y="4462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in hand</a:t>
            </a:r>
            <a:endParaRPr lang="en-US" sz="1050" dirty="0"/>
          </a:p>
        </p:txBody>
      </p:sp>
      <p:sp>
        <p:nvSpPr>
          <p:cNvPr id="64" name="Text 46"/>
          <p:cNvSpPr txBox="1"/>
          <p:nvPr/>
        </p:nvSpPr>
        <p:spPr>
          <a:xfrm>
            <a:off x="10113264" y="47731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Passport, Fitting Room</a:t>
            </a:r>
            <a:endParaRPr lang="en-US" sz="900" dirty="0"/>
          </a:p>
        </p:txBody>
      </p:sp>
      <p:sp>
        <p:nvSpPr>
          <p:cNvPr id="65" name="Shape 47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6" name="Shape 48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68" name="Text 49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rivals discount, Quince holds price and proves quality; it wins as the value brand whose customers are known and reachable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is ready; the lifecycle muscle must be built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I and L; team assessment of readiness; owned-channel build sized at ~$200K per lifecycle role (team estimate).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801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Readiness today and at month 9, and what each unlocks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120640" y="1353312"/>
            <a:ext cx="137160" cy="137160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0" y="1307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97880" y="1353312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0760" y="13075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9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02920" y="1691640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1792" y="1819656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06" y="1908170"/>
            <a:ext cx="225308" cy="22530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43000" y="17647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and identity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202082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Unlocks: Never Pay Twice Engine, all 14 CJA tests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17720" y="2002536"/>
            <a:ext cx="19202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0" y="195681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052060" y="195681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532120" y="195681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012180" y="195681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92240" y="195681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057900" y="2002536"/>
            <a:ext cx="4800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28232" y="1892808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948172" y="1892808"/>
            <a:ext cx="219456" cy="219456"/>
          </a:xfrm>
          <a:prstGeom prst="ellipse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26280" y="2121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02920" y="2459736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21792" y="2587752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2676266"/>
            <a:ext cx="225308" cy="2253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143000" y="25328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 and app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1143000" y="27889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Unlocks: Passport, Track It in the App, Saved Cart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4617720" y="2770632"/>
            <a:ext cx="19202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572000" y="272491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052060" y="272491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532120" y="272491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012180" y="272491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492240" y="272491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097780" y="2770632"/>
            <a:ext cx="96012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5948172" y="2660904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988052" y="2660904"/>
            <a:ext cx="219456" cy="219456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4526280" y="28895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+ CRM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502920" y="3227832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21792" y="3355848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306" y="3444362"/>
            <a:ext cx="225308" cy="225308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1143000" y="33009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 and creative</a:t>
            </a:r>
            <a:endParaRPr lang="en-US" sz="1150" dirty="0"/>
          </a:p>
        </p:txBody>
      </p:sp>
      <p:sp>
        <p:nvSpPr>
          <p:cNvPr id="48" name="Text 42"/>
          <p:cNvSpPr txBox="1"/>
          <p:nvPr/>
        </p:nvSpPr>
        <p:spPr>
          <a:xfrm>
            <a:off x="1143000" y="35570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Unlocks: Material Journeys, Care Calendar, Proof Creators</a:t>
            </a:r>
            <a:endParaRPr lang="en-US" sz="900" dirty="0"/>
          </a:p>
        </p:txBody>
      </p:sp>
      <p:sp>
        <p:nvSpPr>
          <p:cNvPr id="49" name="Shape 43"/>
          <p:cNvSpPr/>
          <p:nvPr/>
        </p:nvSpPr>
        <p:spPr>
          <a:xfrm>
            <a:off x="4617720" y="3538728"/>
            <a:ext cx="19202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4572000" y="349300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5052060" y="349300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5532120" y="349300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6012180" y="349300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6492240" y="349300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617720" y="3538728"/>
            <a:ext cx="144018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5948172" y="3429000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4507992" y="3429000"/>
            <a:ext cx="219456" cy="21945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4526280" y="36576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CMO</a:t>
            </a:r>
            <a:endParaRPr lang="en-US" sz="850" dirty="0"/>
          </a:p>
        </p:txBody>
      </p:sp>
      <p:sp>
        <p:nvSpPr>
          <p:cNvPr id="59" name="Shape 53"/>
          <p:cNvSpPr/>
          <p:nvPr/>
        </p:nvSpPr>
        <p:spPr>
          <a:xfrm>
            <a:off x="502920" y="3995928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621792" y="4123944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306" y="4212458"/>
            <a:ext cx="225308" cy="22530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143000" y="40690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63" name="Text 56"/>
          <p:cNvSpPr txBox="1"/>
          <p:nvPr/>
        </p:nvSpPr>
        <p:spPr>
          <a:xfrm>
            <a:off x="1143000" y="432511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Unlocks: holdouts on every tranche, weekly council</a:t>
            </a:r>
            <a:endParaRPr lang="en-US" sz="900" dirty="0"/>
          </a:p>
        </p:txBody>
      </p:sp>
      <p:sp>
        <p:nvSpPr>
          <p:cNvPr id="64" name="Shape 57"/>
          <p:cNvSpPr/>
          <p:nvPr/>
        </p:nvSpPr>
        <p:spPr>
          <a:xfrm>
            <a:off x="4617720" y="4306824"/>
            <a:ext cx="19202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4572000" y="426110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5052060" y="426110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Shape 60"/>
          <p:cNvSpPr/>
          <p:nvPr/>
        </p:nvSpPr>
        <p:spPr>
          <a:xfrm>
            <a:off x="5532120" y="426110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Shape 61"/>
          <p:cNvSpPr/>
          <p:nvPr/>
        </p:nvSpPr>
        <p:spPr>
          <a:xfrm>
            <a:off x="6012180" y="426110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6492240" y="426110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Shape 63"/>
          <p:cNvSpPr/>
          <p:nvPr/>
        </p:nvSpPr>
        <p:spPr>
          <a:xfrm>
            <a:off x="5097780" y="4306824"/>
            <a:ext cx="144018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71" name="Shape 64"/>
          <p:cNvSpPr/>
          <p:nvPr/>
        </p:nvSpPr>
        <p:spPr>
          <a:xfrm>
            <a:off x="6428232" y="4197096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72" name="Shape 65"/>
          <p:cNvSpPr/>
          <p:nvPr/>
        </p:nvSpPr>
        <p:spPr>
          <a:xfrm>
            <a:off x="4988052" y="4197096"/>
            <a:ext cx="219456" cy="219456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73" name="Text 66"/>
          <p:cNvSpPr txBox="1"/>
          <p:nvPr/>
        </p:nvSpPr>
        <p:spPr>
          <a:xfrm>
            <a:off x="4526280" y="442569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 of Analytics</a:t>
            </a:r>
            <a:endParaRPr lang="en-US" sz="850" dirty="0"/>
          </a:p>
        </p:txBody>
      </p:sp>
      <p:sp>
        <p:nvSpPr>
          <p:cNvPr id="74" name="Shape 67"/>
          <p:cNvSpPr/>
          <p:nvPr/>
        </p:nvSpPr>
        <p:spPr>
          <a:xfrm>
            <a:off x="502920" y="4764024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5" name="Shape 68"/>
          <p:cNvSpPr/>
          <p:nvPr/>
        </p:nvSpPr>
        <p:spPr>
          <a:xfrm>
            <a:off x="621792" y="489204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306" y="4980554"/>
            <a:ext cx="225308" cy="225308"/>
          </a:xfrm>
          <a:prstGeom prst="rect">
            <a:avLst/>
          </a:prstGeom>
        </p:spPr>
      </p:pic>
      <p:sp>
        <p:nvSpPr>
          <p:cNvPr id="77" name="Text 69"/>
          <p:cNvSpPr txBox="1"/>
          <p:nvPr/>
        </p:nvSpPr>
        <p:spPr>
          <a:xfrm>
            <a:off x="1143000" y="48371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Incentives</a:t>
            </a:r>
            <a:endParaRPr lang="en-US" sz="1150" dirty="0"/>
          </a:p>
        </p:txBody>
      </p:sp>
      <p:sp>
        <p:nvSpPr>
          <p:cNvPr id="78" name="Text 70"/>
          <p:cNvSpPr txBox="1"/>
          <p:nvPr/>
        </p:nvSpPr>
        <p:spPr>
          <a:xfrm>
            <a:off x="1143000" y="509320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Unlocks: Lever 3, by scoring incremental revenue, not ROAS</a:t>
            </a:r>
            <a:endParaRPr lang="en-US" sz="900" dirty="0"/>
          </a:p>
        </p:txBody>
      </p:sp>
      <p:sp>
        <p:nvSpPr>
          <p:cNvPr id="79" name="Shape 71"/>
          <p:cNvSpPr/>
          <p:nvPr/>
        </p:nvSpPr>
        <p:spPr>
          <a:xfrm>
            <a:off x="4617720" y="5074920"/>
            <a:ext cx="19202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80" name="Shape 72"/>
          <p:cNvSpPr/>
          <p:nvPr/>
        </p:nvSpPr>
        <p:spPr>
          <a:xfrm>
            <a:off x="4572000" y="502920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Shape 73"/>
          <p:cNvSpPr/>
          <p:nvPr/>
        </p:nvSpPr>
        <p:spPr>
          <a:xfrm>
            <a:off x="5052060" y="502920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Shape 74"/>
          <p:cNvSpPr/>
          <p:nvPr/>
        </p:nvSpPr>
        <p:spPr>
          <a:xfrm>
            <a:off x="5532120" y="502920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Shape 75"/>
          <p:cNvSpPr/>
          <p:nvPr/>
        </p:nvSpPr>
        <p:spPr>
          <a:xfrm>
            <a:off x="6012180" y="502920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4" name="Shape 76"/>
          <p:cNvSpPr/>
          <p:nvPr/>
        </p:nvSpPr>
        <p:spPr>
          <a:xfrm>
            <a:off x="6492240" y="502920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Shape 77"/>
          <p:cNvSpPr/>
          <p:nvPr/>
        </p:nvSpPr>
        <p:spPr>
          <a:xfrm>
            <a:off x="4617720" y="5074920"/>
            <a:ext cx="144018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5948172" y="4965192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87" name="Shape 79"/>
          <p:cNvSpPr/>
          <p:nvPr/>
        </p:nvSpPr>
        <p:spPr>
          <a:xfrm>
            <a:off x="4507992" y="4965192"/>
            <a:ext cx="219456" cy="21945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88" name="Text 80"/>
          <p:cNvSpPr txBox="1"/>
          <p:nvPr/>
        </p:nvSpPr>
        <p:spPr>
          <a:xfrm>
            <a:off x="4526280" y="51937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CMO + CFO</a:t>
            </a:r>
            <a:endParaRPr lang="en-US" sz="850" dirty="0"/>
          </a:p>
        </p:txBody>
      </p:sp>
      <p:sp>
        <p:nvSpPr>
          <p:cNvPr id="89" name="Text 81"/>
          <p:cNvSpPr txBox="1"/>
          <p:nvPr/>
        </p:nvSpPr>
        <p:spPr>
          <a:xfrm>
            <a:off x="7772400" y="128016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model</a:t>
            </a:r>
            <a:endParaRPr lang="en-US" sz="1300" dirty="0"/>
          </a:p>
        </p:txBody>
      </p:sp>
      <p:sp>
        <p:nvSpPr>
          <p:cNvPr id="90" name="Shape 82"/>
          <p:cNvSpPr/>
          <p:nvPr/>
        </p:nvSpPr>
        <p:spPr>
          <a:xfrm>
            <a:off x="7772400" y="169164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91" name="Text 83"/>
          <p:cNvSpPr txBox="1"/>
          <p:nvPr/>
        </p:nvSpPr>
        <p:spPr>
          <a:xfrm>
            <a:off x="7909560" y="16916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 1 · Capture</a:t>
            </a:r>
            <a:endParaRPr lang="en-US" sz="950" dirty="0"/>
          </a:p>
        </p:txBody>
      </p:sp>
      <p:sp>
        <p:nvSpPr>
          <p:cNvPr id="92" name="Text 84"/>
          <p:cNvSpPr txBox="1"/>
          <p:nvPr/>
        </p:nvSpPr>
        <p:spPr>
          <a:xfrm>
            <a:off x="9784080" y="16916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 and product</a:t>
            </a:r>
            <a:endParaRPr lang="en-US" sz="950" dirty="0"/>
          </a:p>
        </p:txBody>
      </p:sp>
      <p:sp>
        <p:nvSpPr>
          <p:cNvPr id="93" name="Shape 85"/>
          <p:cNvSpPr/>
          <p:nvPr/>
        </p:nvSpPr>
        <p:spPr>
          <a:xfrm>
            <a:off x="7772400" y="214884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94" name="Text 86"/>
          <p:cNvSpPr txBox="1"/>
          <p:nvPr/>
        </p:nvSpPr>
        <p:spPr>
          <a:xfrm>
            <a:off x="7909560" y="21488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 2 · Golden Month</a:t>
            </a:r>
            <a:endParaRPr lang="en-US" sz="950" dirty="0"/>
          </a:p>
        </p:txBody>
      </p:sp>
      <p:sp>
        <p:nvSpPr>
          <p:cNvPr id="95" name="Text 87"/>
          <p:cNvSpPr txBox="1"/>
          <p:nvPr/>
        </p:nvSpPr>
        <p:spPr>
          <a:xfrm>
            <a:off x="9784080" y="21488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marketing</a:t>
            </a:r>
            <a:endParaRPr lang="en-US" sz="950" dirty="0"/>
          </a:p>
        </p:txBody>
      </p:sp>
      <p:sp>
        <p:nvSpPr>
          <p:cNvPr id="96" name="Shape 88"/>
          <p:cNvSpPr/>
          <p:nvPr/>
        </p:nvSpPr>
        <p:spPr>
          <a:xfrm>
            <a:off x="7772400" y="260604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97" name="Text 89"/>
          <p:cNvSpPr txBox="1"/>
          <p:nvPr/>
        </p:nvSpPr>
        <p:spPr>
          <a:xfrm>
            <a:off x="7909560" y="26060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 3 · Never pay twice</a:t>
            </a:r>
            <a:endParaRPr lang="en-US" sz="950" dirty="0"/>
          </a:p>
        </p:txBody>
      </p:sp>
      <p:sp>
        <p:nvSpPr>
          <p:cNvPr id="98" name="Text 90"/>
          <p:cNvSpPr txBox="1"/>
          <p:nvPr/>
        </p:nvSpPr>
        <p:spPr>
          <a:xfrm>
            <a:off x="9784080" y="2606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media + analytics</a:t>
            </a:r>
            <a:endParaRPr lang="en-US" sz="950" dirty="0"/>
          </a:p>
        </p:txBody>
      </p:sp>
      <p:sp>
        <p:nvSpPr>
          <p:cNvPr id="99" name="Shape 91"/>
          <p:cNvSpPr/>
          <p:nvPr/>
        </p:nvSpPr>
        <p:spPr>
          <a:xfrm>
            <a:off x="7772400" y="306324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0" name="Text 92"/>
          <p:cNvSpPr txBox="1"/>
          <p:nvPr/>
        </p:nvSpPr>
        <p:spPr>
          <a:xfrm>
            <a:off x="7909560" y="30632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engine</a:t>
            </a:r>
            <a:endParaRPr lang="en-US" sz="950" dirty="0"/>
          </a:p>
        </p:txBody>
      </p:sp>
      <p:sp>
        <p:nvSpPr>
          <p:cNvPr id="101" name="Text 93"/>
          <p:cNvSpPr txBox="1"/>
          <p:nvPr/>
        </p:nvSpPr>
        <p:spPr>
          <a:xfrm>
            <a:off x="9784080" y="3063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incrementality council</a:t>
            </a:r>
            <a:endParaRPr lang="en-US" sz="950" dirty="0"/>
          </a:p>
        </p:txBody>
      </p:sp>
      <p:sp>
        <p:nvSpPr>
          <p:cNvPr id="102" name="Text 94"/>
          <p:cNvSpPr txBox="1"/>
          <p:nvPr/>
        </p:nvSpPr>
        <p:spPr>
          <a:xfrm>
            <a:off x="7772400" y="365760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Funded inside the $120M: $7.5M</a:t>
            </a:r>
            <a:endParaRPr lang="en-US" sz="1300" dirty="0"/>
          </a:p>
        </p:txBody>
      </p:sp>
      <p:sp>
        <p:nvSpPr>
          <p:cNvPr id="103" name="Text 95"/>
          <p:cNvSpPr txBox="1"/>
          <p:nvPr/>
        </p:nvSpPr>
        <p:spPr>
          <a:xfrm>
            <a:off x="7772400" y="3931920"/>
            <a:ext cx="3913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Owned-channel build, $M</a:t>
            </a:r>
            <a:endParaRPr lang="en-US" sz="1000" dirty="0"/>
          </a:p>
        </p:txBody>
      </p:sp>
      <p:sp>
        <p:nvSpPr>
          <p:cNvPr id="104" name="Shape 96"/>
          <p:cNvSpPr/>
          <p:nvPr/>
        </p:nvSpPr>
        <p:spPr>
          <a:xfrm>
            <a:off x="7772400" y="4279392"/>
            <a:ext cx="128016" cy="128016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5" name="Text 97"/>
          <p:cNvSpPr txBox="1"/>
          <p:nvPr/>
        </p:nvSpPr>
        <p:spPr>
          <a:xfrm>
            <a:off x="7973568" y="42245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$1.6M 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</a:t>
            </a:r>
            <a:endParaRPr lang="en-US" sz="900" dirty="0"/>
          </a:p>
        </p:txBody>
      </p:sp>
      <p:sp>
        <p:nvSpPr>
          <p:cNvPr id="106" name="Shape 98"/>
          <p:cNvSpPr/>
          <p:nvPr/>
        </p:nvSpPr>
        <p:spPr>
          <a:xfrm>
            <a:off x="7772400" y="4526280"/>
            <a:ext cx="128016" cy="12801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07" name="Text 99"/>
          <p:cNvSpPr txBox="1"/>
          <p:nvPr/>
        </p:nvSpPr>
        <p:spPr>
          <a:xfrm>
            <a:off x="7973568" y="447141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$1.5M 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 and sends</a:t>
            </a:r>
            <a:endParaRPr lang="en-US" sz="900" dirty="0"/>
          </a:p>
        </p:txBody>
      </p:sp>
      <p:sp>
        <p:nvSpPr>
          <p:cNvPr id="108" name="Shape 100"/>
          <p:cNvSpPr/>
          <p:nvPr/>
        </p:nvSpPr>
        <p:spPr>
          <a:xfrm>
            <a:off x="7772400" y="4773168"/>
            <a:ext cx="128016" cy="128016"/>
          </a:xfrm>
          <a:prstGeom prst="rect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9" name="Text 101"/>
          <p:cNvSpPr txBox="1"/>
          <p:nvPr/>
        </p:nvSpPr>
        <p:spPr>
          <a:xfrm>
            <a:off x="7973568" y="471830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 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App: tracking, care</a:t>
            </a:r>
            <a:endParaRPr lang="en-US" sz="900" dirty="0"/>
          </a:p>
        </p:txBody>
      </p:sp>
      <p:sp>
        <p:nvSpPr>
          <p:cNvPr id="110" name="Shape 102"/>
          <p:cNvSpPr/>
          <p:nvPr/>
        </p:nvSpPr>
        <p:spPr>
          <a:xfrm>
            <a:off x="7772400" y="5020056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11" name="Text 103"/>
          <p:cNvSpPr txBox="1"/>
          <p:nvPr/>
        </p:nvSpPr>
        <p:spPr>
          <a:xfrm>
            <a:off x="7973568" y="496519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 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</a:t>
            </a:r>
            <a:endParaRPr lang="en-US" sz="900" dirty="0"/>
          </a:p>
        </p:txBody>
      </p:sp>
      <p:sp>
        <p:nvSpPr>
          <p:cNvPr id="112" name="Shape 104"/>
          <p:cNvSpPr/>
          <p:nvPr/>
        </p:nvSpPr>
        <p:spPr>
          <a:xfrm>
            <a:off x="9784080" y="427939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13" name="Text 105"/>
          <p:cNvSpPr txBox="1"/>
          <p:nvPr/>
        </p:nvSpPr>
        <p:spPr>
          <a:xfrm>
            <a:off x="9985248" y="42245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$1.0M 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Recovery, product proof</a:t>
            </a:r>
            <a:endParaRPr lang="en-US" sz="900" dirty="0"/>
          </a:p>
        </p:txBody>
      </p:sp>
      <p:sp>
        <p:nvSpPr>
          <p:cNvPr id="114" name="Shape 106"/>
          <p:cNvSpPr/>
          <p:nvPr/>
        </p:nvSpPr>
        <p:spPr>
          <a:xfrm>
            <a:off x="9784080" y="4526280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93C5FD"/>
            </a:solidFill>
            <a:prstDash val="solid"/>
          </a:ln>
        </p:spPr>
      </p:sp>
      <p:sp>
        <p:nvSpPr>
          <p:cNvPr id="115" name="Text 107"/>
          <p:cNvSpPr txBox="1"/>
          <p:nvPr/>
        </p:nvSpPr>
        <p:spPr>
          <a:xfrm>
            <a:off x="9985248" y="447141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 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 perks</a:t>
            </a:r>
            <a:endParaRPr lang="en-US" sz="900" dirty="0"/>
          </a:p>
        </p:txBody>
      </p:sp>
      <p:sp>
        <p:nvSpPr>
          <p:cNvPr id="116" name="Shape 108"/>
          <p:cNvSpPr/>
          <p:nvPr/>
        </p:nvSpPr>
        <p:spPr>
          <a:xfrm>
            <a:off x="9784080" y="4773168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7" name="Text 109"/>
          <p:cNvSpPr txBox="1"/>
          <p:nvPr/>
        </p:nvSpPr>
        <p:spPr>
          <a:xfrm>
            <a:off x="9985248" y="471830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 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</a:t>
            </a:r>
            <a:endParaRPr lang="en-US" sz="900" dirty="0"/>
          </a:p>
        </p:txBody>
      </p:sp>
      <p:sp>
        <p:nvSpPr>
          <p:cNvPr id="118" name="Text 110"/>
          <p:cNvSpPr txBox="1"/>
          <p:nvPr/>
        </p:nvSpPr>
        <p:spPr>
          <a:xfrm>
            <a:off x="7772400" y="528523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Exhibit I prices the core rebuild at $2–3M inside today's $6M line</a:t>
            </a:r>
            <a:endParaRPr lang="en-US" sz="900" dirty="0"/>
          </a:p>
        </p:txBody>
      </p:sp>
      <p:sp>
        <p:nvSpPr>
          <p:cNvPr id="119" name="Shape 111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20" name="Shape 112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122" name="Text 113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gap closes with money already in the budget; changing the scorecard removes the biggest blocker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scale by month nine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plan; gate thresholds from the team's strategy; timelines from case Exhibit I. Tranche 3 moves only if a holdout proves prospecting is over-credited.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7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1280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48840" y="1517904"/>
            <a:ext cx="0" cy="2395728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3451860" y="1280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M3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726180" y="1517904"/>
            <a:ext cx="0" cy="2395728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029200" y="1280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M6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303520" y="1517904"/>
            <a:ext cx="0" cy="2395728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6606540" y="1280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M9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880860" y="1517904"/>
            <a:ext cx="0" cy="2395728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8183880" y="1280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M12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58200" y="1517904"/>
            <a:ext cx="0" cy="2395728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11338560" y="1280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M18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1612880" y="1517904"/>
            <a:ext cx="0" cy="2395728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502920" y="1691640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" y="1772107"/>
            <a:ext cx="204826" cy="20482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41832" y="1600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Reallocate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02920" y="2468880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" y="2549347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41832" y="23774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programs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502920" y="3246120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87" y="3326587"/>
            <a:ext cx="204826" cy="20482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41832" y="3154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CJA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2176272" y="1600200"/>
            <a:ext cx="1522476" cy="548640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2240280" y="1600200"/>
            <a:ext cx="1412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T1: −$4M retargeting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3753612" y="1600200"/>
            <a:ext cx="1522476" cy="54864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817620" y="1600200"/>
            <a:ext cx="1412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T2: −$3M search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5330952" y="1600200"/>
            <a:ext cx="1522476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dash"/>
          </a:ln>
        </p:spPr>
      </p:sp>
      <p:sp>
        <p:nvSpPr>
          <p:cNvPr id="35" name="Text 29"/>
          <p:cNvSpPr txBox="1"/>
          <p:nvPr/>
        </p:nvSpPr>
        <p:spPr>
          <a:xfrm>
            <a:off x="5394960" y="1600200"/>
            <a:ext cx="1412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T3: −$2M, only if proven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908292" y="1600200"/>
            <a:ext cx="4677156" cy="54864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972300" y="1600200"/>
            <a:ext cx="4567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 owned, +$1.5M creators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2176272" y="2377440"/>
            <a:ext cx="1522476" cy="548640"/>
          </a:xfrm>
          <a:prstGeom prst="roundRect">
            <a:avLst>
              <a:gd name="adj" fmla="val 1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2240280" y="2377440"/>
            <a:ext cx="14127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Pilot: Passport, Track It, Saved Cart, Engine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3753612" y="2377440"/>
            <a:ext cx="3099816" cy="548640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817620" y="2377440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Journeys, Care Calendar, Gift Ledger, Insider, Proof Creators, Lookalikes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6908292" y="2377440"/>
            <a:ext cx="4677156" cy="548640"/>
          </a:xfrm>
          <a:prstGeom prst="roundRect">
            <a:avLst>
              <a:gd name="adj" fmla="val 10000"/>
            </a:avLst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972300" y="2377440"/>
            <a:ext cx="4567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National rollout + Beauty Refill, Second Life, Waitlist; Midwest, Canada</a:t>
            </a:r>
            <a:endParaRPr lang="en-US" sz="900" dirty="0"/>
          </a:p>
        </p:txBody>
      </p:sp>
      <p:sp>
        <p:nvSpPr>
          <p:cNvPr id="44" name="Shape 38"/>
          <p:cNvSpPr/>
          <p:nvPr/>
        </p:nvSpPr>
        <p:spPr>
          <a:xfrm>
            <a:off x="2176272" y="3154680"/>
            <a:ext cx="9409176" cy="5486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2240280" y="3154680"/>
            <a:ext cx="9299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incrementality council · 10% holdout in the South pilot · holdouts on every tranche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2464308" y="1289304"/>
            <a:ext cx="972693" cy="20116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2464308" y="1289304"/>
            <a:ext cx="9726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Fitting Room test</a:t>
            </a:r>
            <a:endParaRPr lang="en-US" sz="750" dirty="0"/>
          </a:p>
        </p:txBody>
      </p:sp>
      <p:sp>
        <p:nvSpPr>
          <p:cNvPr id="48" name="Shape 42"/>
          <p:cNvSpPr/>
          <p:nvPr/>
        </p:nvSpPr>
        <p:spPr>
          <a:xfrm>
            <a:off x="3579876" y="3931920"/>
            <a:ext cx="292608" cy="292608"/>
          </a:xfrm>
          <a:prstGeom prst="diamond">
            <a:avLst/>
          </a:prstGeom>
          <a:solidFill>
            <a:srgbClr val="D977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2674620" y="42611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1</a:t>
            </a:r>
            <a:endParaRPr lang="en-US" sz="1000" dirty="0"/>
          </a:p>
        </p:txBody>
      </p:sp>
      <p:sp>
        <p:nvSpPr>
          <p:cNvPr id="50" name="Text 44"/>
          <p:cNvSpPr txBox="1"/>
          <p:nvPr/>
        </p:nvSpPr>
        <p:spPr>
          <a:xfrm>
            <a:off x="2674620" y="4462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beats holdout by 2+ pts on 30-day repeat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6734556" y="3931920"/>
            <a:ext cx="292608" cy="292608"/>
          </a:xfrm>
          <a:prstGeom prst="diamond">
            <a:avLst/>
          </a:prstGeom>
          <a:solidFill>
            <a:srgbClr val="D977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829300" y="42611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2</a:t>
            </a:r>
            <a:endParaRPr lang="en-US" sz="1000" dirty="0"/>
          </a:p>
        </p:txBody>
      </p:sp>
      <p:sp>
        <p:nvSpPr>
          <p:cNvPr id="53" name="Text 47"/>
          <p:cNvSpPr txBox="1"/>
          <p:nvPr/>
        </p:nvSpPr>
        <p:spPr>
          <a:xfrm>
            <a:off x="5829300" y="4462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≥ 28%, effective CAC ≤ $58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11466576" y="3931920"/>
            <a:ext cx="292608" cy="292608"/>
          </a:xfrm>
          <a:prstGeom prst="diamond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9582912" y="42611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000" dirty="0"/>
          </a:p>
        </p:txBody>
      </p:sp>
      <p:sp>
        <p:nvSpPr>
          <p:cNvPr id="56" name="Text 50"/>
          <p:cNvSpPr txBox="1"/>
          <p:nvPr/>
        </p:nvSpPr>
        <p:spPr>
          <a:xfrm>
            <a:off x="9582912" y="4462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≥ 30%, effective CAC ≤ $56</a:t>
            </a:r>
            <a:endParaRPr lang="en-US" sz="900" dirty="0"/>
          </a:p>
        </p:txBody>
      </p:sp>
      <p:sp>
        <p:nvSpPr>
          <p:cNvPr id="57" name="Text 51"/>
          <p:cNvSpPr txBox="1"/>
          <p:nvPr/>
        </p:nvSpPr>
        <p:spPr>
          <a:xfrm>
            <a:off x="502920" y="3931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Pass: next tranche moves.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Fail: money goes back.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502920" y="4983480"/>
            <a:ext cx="2221992" cy="1207008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640080" y="5102352"/>
            <a:ext cx="347472" cy="34747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24" y="5178796"/>
            <a:ext cx="194584" cy="194584"/>
          </a:xfrm>
          <a:prstGeom prst="rect">
            <a:avLst/>
          </a:prstGeom>
        </p:spPr>
      </p:pic>
      <p:sp>
        <p:nvSpPr>
          <p:cNvPr id="61" name="Text 54"/>
          <p:cNvSpPr txBox="1"/>
          <p:nvPr/>
        </p:nvSpPr>
        <p:spPr>
          <a:xfrm>
            <a:off x="1051560" y="5120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640080" y="5532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≥ 30%</a:t>
            </a:r>
            <a:endParaRPr lang="en-US" sz="1600" dirty="0"/>
          </a:p>
        </p:txBody>
      </p:sp>
      <p:sp>
        <p:nvSpPr>
          <p:cNvPr id="63" name="Shape 56"/>
          <p:cNvSpPr/>
          <p:nvPr/>
        </p:nvSpPr>
        <p:spPr>
          <a:xfrm>
            <a:off x="2834640" y="4983480"/>
            <a:ext cx="2221992" cy="1207008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2971800" y="5102352"/>
            <a:ext cx="347472" cy="34747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244" y="5178796"/>
            <a:ext cx="194584" cy="194584"/>
          </a:xfrm>
          <a:prstGeom prst="rect">
            <a:avLst/>
          </a:prstGeom>
        </p:spPr>
      </p:pic>
      <p:sp>
        <p:nvSpPr>
          <p:cNvPr id="66" name="Text 58"/>
          <p:cNvSpPr txBox="1"/>
          <p:nvPr/>
        </p:nvSpPr>
        <p:spPr>
          <a:xfrm>
            <a:off x="3383280" y="5120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950" dirty="0"/>
          </a:p>
        </p:txBody>
      </p:sp>
      <p:sp>
        <p:nvSpPr>
          <p:cNvPr id="67" name="Text 59"/>
          <p:cNvSpPr txBox="1"/>
          <p:nvPr/>
        </p:nvSpPr>
        <p:spPr>
          <a:xfrm>
            <a:off x="2971800" y="5532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≤ $56</a:t>
            </a:r>
            <a:endParaRPr lang="en-US" sz="1600" dirty="0"/>
          </a:p>
        </p:txBody>
      </p:sp>
      <p:sp>
        <p:nvSpPr>
          <p:cNvPr id="68" name="Shape 60"/>
          <p:cNvSpPr/>
          <p:nvPr/>
        </p:nvSpPr>
        <p:spPr>
          <a:xfrm>
            <a:off x="5166360" y="4983480"/>
            <a:ext cx="2221992" cy="1207008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9" name="Shape 61"/>
          <p:cNvSpPr/>
          <p:nvPr/>
        </p:nvSpPr>
        <p:spPr>
          <a:xfrm>
            <a:off x="5303520" y="5102352"/>
            <a:ext cx="347472" cy="34747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9964" y="5178796"/>
            <a:ext cx="194584" cy="194584"/>
          </a:xfrm>
          <a:prstGeom prst="rect">
            <a:avLst/>
          </a:prstGeom>
        </p:spPr>
      </p:pic>
      <p:sp>
        <p:nvSpPr>
          <p:cNvPr id="71" name="Text 62"/>
          <p:cNvSpPr txBox="1"/>
          <p:nvPr/>
        </p:nvSpPr>
        <p:spPr>
          <a:xfrm>
            <a:off x="5715000" y="5120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efficiency</a:t>
            </a:r>
            <a:endParaRPr lang="en-US" sz="950" dirty="0"/>
          </a:p>
        </p:txBody>
      </p:sp>
      <p:sp>
        <p:nvSpPr>
          <p:cNvPr id="72" name="Text 63"/>
          <p:cNvSpPr txBox="1"/>
          <p:nvPr/>
        </p:nvSpPr>
        <p:spPr>
          <a:xfrm>
            <a:off x="5303520" y="5532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Incremental orders per $</a:t>
            </a:r>
            <a:endParaRPr lang="en-US" sz="1150" dirty="0"/>
          </a:p>
        </p:txBody>
      </p:sp>
      <p:sp>
        <p:nvSpPr>
          <p:cNvPr id="73" name="Shape 64"/>
          <p:cNvSpPr/>
          <p:nvPr/>
        </p:nvSpPr>
        <p:spPr>
          <a:xfrm>
            <a:off x="7562088" y="4983480"/>
            <a:ext cx="4123944" cy="1207008"/>
          </a:xfrm>
          <a:prstGeom prst="roundRect">
            <a:avLst>
              <a:gd name="adj" fmla="val 4545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74" name="Text 65"/>
          <p:cNvSpPr txBox="1"/>
          <p:nvPr/>
        </p:nvSpPr>
        <p:spPr>
          <a:xfrm>
            <a:off x="7744968" y="5029200"/>
            <a:ext cx="3794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Monday: approve three things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Tranche 1, the South pilot and the weekly CJA council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will not discount, add budget or cut prospecting without proof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2331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a blend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986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8986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tree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6557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46557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Behavioural journey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325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03250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to target, and when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994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599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2331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Repeat-rate bridge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28986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28986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reallocation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346557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346557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at stake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0325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403250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 insight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45994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4599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and CJA screenshots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option covers another's weakness, so we blend all three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section 4 (Options A, B, C), Exhibit I (cost and timing) and Exhibit K (risk matrix); team analysis.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9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325880"/>
            <a:ext cx="3648456" cy="2514600"/>
          </a:xfrm>
          <a:prstGeom prst="roundRect">
            <a:avLst>
              <a:gd name="adj" fmla="val 218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463040"/>
            <a:ext cx="548640" cy="54864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7512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344168" y="14630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 B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1344168" y="16824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precision and suppression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67712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0584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in weeks, $0 incremental</a:t>
            </a:r>
            <a:endParaRPr lang="en-US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05840" y="27980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Alone: High signal-loss exposure; builds no lasting relationship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2162556" y="3913632"/>
            <a:ext cx="329184" cy="329184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2920" y="4315968"/>
            <a:ext cx="3648456" cy="868680"/>
          </a:xfrm>
          <a:prstGeom prst="roundRect">
            <a:avLst>
              <a:gd name="adj" fmla="val 6316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431596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Funds it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Suppression frees $4M in months 1–3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270248" y="1325880"/>
            <a:ext cx="3648456" cy="2514600"/>
          </a:xfrm>
          <a:prstGeom prst="roundRect">
            <a:avLst>
              <a:gd name="adj" fmla="val 218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434840" y="1463040"/>
            <a:ext cx="548640" cy="54864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348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5111496" y="14630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 A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5111496" y="16824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lifecycle precision</a:t>
            </a:r>
            <a:endParaRPr lang="en-US" sz="12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2267712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773168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Lowest cost per touch; insulated from ATT</a:t>
            </a:r>
            <a:endParaRPr lang="en-US" sz="10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2852928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773168" y="27980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Alone: Reach capped by today's list: 1 in 4 buyers engaged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5929884" y="3913632"/>
            <a:ext cx="329184" cy="329184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4270248" y="4315968"/>
            <a:ext cx="3648456" cy="868680"/>
          </a:xfrm>
          <a:prstGeom prst="roundRect">
            <a:avLst>
              <a:gd name="adj" fmla="val 6316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453128" y="431596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Builds it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grows the list; journeys earn order two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037576" y="1325880"/>
            <a:ext cx="3648456" cy="2514600"/>
          </a:xfrm>
          <a:prstGeom prst="roundRect">
            <a:avLst>
              <a:gd name="adj" fmla="val 218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202168" y="1463040"/>
            <a:ext cx="548640" cy="54864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20216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000" dirty="0"/>
          </a:p>
        </p:txBody>
      </p:sp>
      <p:sp>
        <p:nvSpPr>
          <p:cNvPr id="36" name="Text 29"/>
          <p:cNvSpPr txBox="1"/>
          <p:nvPr/>
        </p:nvSpPr>
        <p:spPr>
          <a:xfrm>
            <a:off x="8878824" y="14630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 C</a:t>
            </a:r>
            <a:endParaRPr lang="en-US" sz="950" dirty="0"/>
          </a:p>
        </p:txBody>
      </p:sp>
      <p:sp>
        <p:nvSpPr>
          <p:cNvPr id="37" name="Text 30"/>
          <p:cNvSpPr txBox="1"/>
          <p:nvPr/>
        </p:nvSpPr>
        <p:spPr>
          <a:xfrm>
            <a:off x="8878824" y="16824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Attribution-based reallocation</a:t>
            </a:r>
            <a:endParaRPr lang="en-US" sz="12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2267712"/>
            <a:ext cx="237744" cy="237744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8540496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lasting decision framework</a:t>
            </a:r>
            <a:endParaRPr lang="en-US" sz="1050" dirty="0"/>
          </a:p>
        </p:txBody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0456" y="2852928"/>
            <a:ext cx="237744" cy="23774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540496" y="27980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Alone: 6–12 months to trust; high change risk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9697212" y="3913632"/>
            <a:ext cx="329184" cy="329184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8037576" y="4315968"/>
            <a:ext cx="3648456" cy="868680"/>
          </a:xfrm>
          <a:prstGeom prst="roundRect">
            <a:avLst>
              <a:gd name="adj" fmla="val 6316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8220456" y="431596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Proves it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from day 1 and decides every tranche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02920" y="5285232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B's speed pays for A's build, A's owned reach cuts B's signal-loss exposure, and C's holdouts remove the measurement risk of both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if the pilot beats the holdout by 2+ pts on 30-day repeat; stop and return the tranche if it doesn't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branches, three levers, one thread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Adobe CJA panels A1–A6; case Exhibits D and G.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260604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517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is 90-day repeat 24% and blended CAC $62 on a fixed $120M?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06040" y="3337560"/>
            <a:ext cx="411480" cy="-1527048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17520" y="1371600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27248" y="1371600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46320" y="1810512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66360" y="1371600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0352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is over-credited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303520" y="17739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Retargeted buyers repeat like organic: 23.0% vs 23.4%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144000" y="1673352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601200" y="1517904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0" y="1517904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606040" y="3337560"/>
            <a:ext cx="411480" cy="-4114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017520" y="2487168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127248" y="2487168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mind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46320" y="2926080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66360" y="2487168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03520" y="2578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One-product buyers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28895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Cashmere: 40.7% of buyers, 13.7% repeat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144000" y="2788920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601200" y="2633472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01200" y="2633472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Golden Month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606040" y="3337560"/>
            <a:ext cx="411480" cy="704088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017520" y="3602736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127248" y="3602736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journey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846320" y="4041648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166360" y="3602736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303520" y="3694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purchase leaks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303520" y="40050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of carts never order; 1 message per 11,610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9144000" y="3904488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01200" y="3749040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601200" y="3749040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606040" y="3337560"/>
            <a:ext cx="411480" cy="1819656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017520" y="4718304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3127248" y="4718304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trust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846320" y="5157216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166360" y="4718304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303520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Found, not yet trusted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303520" y="5120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25,227 leave after a product view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144000" y="5020056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601200" y="4864608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601200" y="4864608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thread, all levers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= engaged share × engaged repeat + non-engaged share × non-engaged repeat; CAC = $120M ÷ new customers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moments decide whether a first buyer returns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panels A1, A2, A4, A5, A6 and Cohort Table; mechanisms are hypotheses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11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301714" y="1874520"/>
            <a:ext cx="9585525" cy="0"/>
          </a:xfrm>
          <a:prstGeom prst="line">
            <a:avLst/>
          </a:prstGeom>
          <a:noFill/>
          <a:ln w="38100">
            <a:solidFill>
              <a:srgbClr val="BFDB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99962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733" y="1705539"/>
            <a:ext cx="337962" cy="3379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76072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45.5% via prospecting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signals quality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1191986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072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94360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2597549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320" y="1705539"/>
            <a:ext cx="337962" cy="33796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146227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page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2173659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210235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25,227 leave here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2146227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2146227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Perceived risk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2789573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173659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2191947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Product-page proof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195137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7907" y="1705539"/>
            <a:ext cx="337962" cy="337962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3743815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3771247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3807823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never order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743815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36" name="Text 30"/>
          <p:cNvSpPr txBox="1"/>
          <p:nvPr/>
        </p:nvSpPr>
        <p:spPr>
          <a:xfrm>
            <a:off x="3743815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Unfinished task fades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4387161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3771247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3789535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792724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495" y="1705539"/>
            <a:ext cx="337962" cy="337962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5341402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368834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405410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27.1% vs web 22.7%</a:t>
            </a:r>
            <a:endParaRPr lang="en-US" sz="1050" dirty="0"/>
          </a:p>
        </p:txBody>
      </p:sp>
      <p:sp>
        <p:nvSpPr>
          <p:cNvPr id="45" name="Text 38"/>
          <p:cNvSpPr txBox="1"/>
          <p:nvPr/>
        </p:nvSpPr>
        <p:spPr>
          <a:xfrm>
            <a:off x="5341402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46" name="Text 39"/>
          <p:cNvSpPr txBox="1"/>
          <p:nvPr/>
        </p:nvSpPr>
        <p:spPr>
          <a:xfrm>
            <a:off x="5341402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effect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5984748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5368834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5387122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7390311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3082" y="1705539"/>
            <a:ext cx="337962" cy="337962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6938990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</a:t>
            </a:r>
            <a:endParaRPr lang="en-US" sz="1200" dirty="0"/>
          </a:p>
        </p:txBody>
      </p:sp>
      <p:sp>
        <p:nvSpPr>
          <p:cNvPr id="53" name="Shape 45"/>
          <p:cNvSpPr/>
          <p:nvPr/>
        </p:nvSpPr>
        <p:spPr>
          <a:xfrm>
            <a:off x="6966422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7002998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24.5% engage</a:t>
            </a:r>
            <a:endParaRPr lang="en-US" sz="1050" dirty="0"/>
          </a:p>
        </p:txBody>
      </p:sp>
      <p:sp>
        <p:nvSpPr>
          <p:cNvPr id="55" name="Text 47"/>
          <p:cNvSpPr txBox="1"/>
          <p:nvPr/>
        </p:nvSpPr>
        <p:spPr>
          <a:xfrm>
            <a:off x="6938990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56" name="Text 48"/>
          <p:cNvSpPr txBox="1"/>
          <p:nvPr/>
        </p:nvSpPr>
        <p:spPr>
          <a:xfrm>
            <a:off x="6938990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Peak-end, endowment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7582335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58" name="Shape 50"/>
          <p:cNvSpPr/>
          <p:nvPr/>
        </p:nvSpPr>
        <p:spPr>
          <a:xfrm>
            <a:off x="6966422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984710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1050" dirty="0"/>
          </a:p>
        </p:txBody>
      </p:sp>
      <p:sp>
        <p:nvSpPr>
          <p:cNvPr id="60" name="Shape 52"/>
          <p:cNvSpPr/>
          <p:nvPr/>
        </p:nvSpPr>
        <p:spPr>
          <a:xfrm>
            <a:off x="8987899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670" y="1705539"/>
            <a:ext cx="337962" cy="337962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8536577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0–30</a:t>
            </a:r>
            <a:endParaRPr lang="en-US" sz="1200" dirty="0"/>
          </a:p>
        </p:txBody>
      </p:sp>
      <p:sp>
        <p:nvSpPr>
          <p:cNvPr id="63" name="Shape 54"/>
          <p:cNvSpPr/>
          <p:nvPr/>
        </p:nvSpPr>
        <p:spPr>
          <a:xfrm>
            <a:off x="8564009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8600585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Week-2 peak 5.6%</a:t>
            </a:r>
            <a:endParaRPr lang="en-US" sz="1050" dirty="0"/>
          </a:p>
        </p:txBody>
      </p:sp>
      <p:sp>
        <p:nvSpPr>
          <p:cNvPr id="65" name="Text 56"/>
          <p:cNvSpPr txBox="1"/>
          <p:nvPr/>
        </p:nvSpPr>
        <p:spPr>
          <a:xfrm>
            <a:off x="8536577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66" name="Text 57"/>
          <p:cNvSpPr txBox="1"/>
          <p:nvPr/>
        </p:nvSpPr>
        <p:spPr>
          <a:xfrm>
            <a:off x="8536577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Habit formation</a:t>
            </a:r>
            <a:endParaRPr lang="en-US" sz="1050" dirty="0"/>
          </a:p>
        </p:txBody>
      </p:sp>
      <p:sp>
        <p:nvSpPr>
          <p:cNvPr id="67" name="Shape 58"/>
          <p:cNvSpPr/>
          <p:nvPr/>
        </p:nvSpPr>
        <p:spPr>
          <a:xfrm>
            <a:off x="9179923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8564009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8582297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</a:t>
            </a:r>
            <a:endParaRPr lang="en-US" sz="1050" dirty="0"/>
          </a:p>
        </p:txBody>
      </p:sp>
      <p:sp>
        <p:nvSpPr>
          <p:cNvPr id="70" name="Shape 61"/>
          <p:cNvSpPr/>
          <p:nvPr/>
        </p:nvSpPr>
        <p:spPr>
          <a:xfrm>
            <a:off x="10585486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18257" y="1705539"/>
            <a:ext cx="337962" cy="337962"/>
          </a:xfrm>
          <a:prstGeom prst="rect">
            <a:avLst/>
          </a:prstGeom>
        </p:spPr>
      </p:pic>
      <p:sp>
        <p:nvSpPr>
          <p:cNvPr id="72" name="Text 62"/>
          <p:cNvSpPr txBox="1"/>
          <p:nvPr/>
        </p:nvSpPr>
        <p:spPr>
          <a:xfrm>
            <a:off x="10134165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30–90</a:t>
            </a:r>
            <a:endParaRPr lang="en-US" sz="1200" dirty="0"/>
          </a:p>
        </p:txBody>
      </p:sp>
      <p:sp>
        <p:nvSpPr>
          <p:cNvPr id="73" name="Shape 63"/>
          <p:cNvSpPr/>
          <p:nvPr/>
        </p:nvSpPr>
        <p:spPr>
          <a:xfrm>
            <a:off x="10161597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10198173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13.7%</a:t>
            </a:r>
            <a:endParaRPr lang="en-US" sz="1050" dirty="0"/>
          </a:p>
        </p:txBody>
      </p:sp>
      <p:sp>
        <p:nvSpPr>
          <p:cNvPr id="75" name="Text 65"/>
          <p:cNvSpPr txBox="1"/>
          <p:nvPr/>
        </p:nvSpPr>
        <p:spPr>
          <a:xfrm>
            <a:off x="10134165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76" name="Text 66"/>
          <p:cNvSpPr txBox="1"/>
          <p:nvPr/>
        </p:nvSpPr>
        <p:spPr>
          <a:xfrm>
            <a:off x="10134165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Mental accounting</a:t>
            </a:r>
            <a:endParaRPr lang="en-US" sz="1050" dirty="0"/>
          </a:p>
        </p:txBody>
      </p:sp>
      <p:sp>
        <p:nvSpPr>
          <p:cNvPr id="77" name="Shape 67"/>
          <p:cNvSpPr/>
          <p:nvPr/>
        </p:nvSpPr>
        <p:spPr>
          <a:xfrm>
            <a:off x="10777510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8" name="Shape 68"/>
          <p:cNvSpPr/>
          <p:nvPr/>
        </p:nvSpPr>
        <p:spPr>
          <a:xfrm>
            <a:off x="10161597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10179885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</a:t>
            </a:r>
            <a:endParaRPr lang="en-US" sz="1050" dirty="0"/>
          </a:p>
        </p:txBody>
      </p:sp>
      <p:sp>
        <p:nvSpPr>
          <p:cNvPr id="80" name="Shape 70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81" name="Shape 71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8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83" name="Text 72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peaks when the parcel opens: Quince asks for the relationship then, and never with a discount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first; paid only where owned can't reach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segments (A1, A2, A4, A6, Cohort Table); team targeting plan. Every segment is a saved CJA segment that drives both message and measurement.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0" y="1691640"/>
            <a:ext cx="950976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56816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00200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 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68573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1957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380330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3714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187184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30568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423453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66837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945014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88398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1466576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109960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2011680"/>
            <a:ext cx="11183112" cy="1051560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" y="2331720"/>
            <a:ext cx="402336" cy="402336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94" y="2420234"/>
            <a:ext cx="225308" cy="2253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97280" y="201168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02920" y="3200400"/>
            <a:ext cx="11183112" cy="1051560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40080" y="3520440"/>
            <a:ext cx="402336" cy="402336"/>
          </a:xfrm>
          <a:prstGeom prst="ellipse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94" y="3608954"/>
            <a:ext cx="225308" cy="22530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097280" y="320040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02920" y="4389120"/>
            <a:ext cx="11183112" cy="1051560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40080" y="4709160"/>
            <a:ext cx="402336" cy="40233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94" y="4797674"/>
            <a:ext cx="225308" cy="22530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097280" y="438912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Suppress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2011680" y="2075688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2103120" y="2075688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 + cart abandoners: Saved Cart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2201875" y="2551176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2293315" y="2551176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buyer: Passport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3913632" y="2551176"/>
            <a:ext cx="3328416" cy="4023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005072" y="255117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buyers, weeks 1–4: second category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242048" y="2075688"/>
            <a:ext cx="2757830" cy="40233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333488" y="2075688"/>
            <a:ext cx="25749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buyers: Material Journeys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999878" y="2551176"/>
            <a:ext cx="1521562" cy="402336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0091318" y="2551176"/>
            <a:ext cx="13386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Lapsed: restock-first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3723437" y="3264408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3814877" y="3264408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Unreachable cart abandoners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5435194" y="3739896"/>
            <a:ext cx="3043123" cy="402336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5526634" y="3739896"/>
            <a:ext cx="28602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Non-engaged: customer-match ads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2011680" y="4453128"/>
            <a:ext cx="9509760" cy="4023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103120" y="4453128"/>
            <a:ext cx="9326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 buyers and owned-reachable customers removed from paid retargeting from week 1</a:t>
            </a:r>
            <a:endParaRPr lang="en-US" sz="950" dirty="0"/>
          </a:p>
        </p:txBody>
      </p:sp>
      <p:sp>
        <p:nvSpPr>
          <p:cNvPr id="52" name="Shape 46"/>
          <p:cNvSpPr/>
          <p:nvPr/>
        </p:nvSpPr>
        <p:spPr>
          <a:xfrm>
            <a:off x="2011680" y="4928616"/>
            <a:ext cx="3423514" cy="402336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2103120" y="4928616"/>
            <a:ext cx="32406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Single-page bouncers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retargeting keeps one job: reaching high-intent people Quince has no other way to contact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programs, three flagships, zero discounts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strategy. Each program sits inside one lever, works on one named behaviour and has a KPI CJA can read.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80160"/>
            <a:ext cx="3611880" cy="40233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2801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Capture every buyer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1810512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1810512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Quince Passport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card: register your piece for care, exchange, restock-first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2920" y="2798064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798064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tracking opens in the app by default; SMS fallback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2920" y="3785616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785616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Reminders within hours with fit and return promise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" y="4773168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773168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Restock-First Waitlist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"Text me when it's back" for real sell-outs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88536" y="1280160"/>
            <a:ext cx="3611880" cy="40233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88536" y="12801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Win the Golden Month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288536" y="1810512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25696" y="181051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Material Journeys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buyer → throw or linen sheets, by season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88536" y="2459736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25696" y="2459736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Seasonal care reminders keep cashmere buyers close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88536" y="3108960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25696" y="31089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Ledger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dates trigger picks 14 days before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88536" y="3758184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425696" y="3758184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Insider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access earned by engagement, not spend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288536" y="4407408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25696" y="4407408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Beauty Refill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Refill reminders timed to each product's use cycle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288536" y="5056632"/>
            <a:ext cx="361188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425696" y="505663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Second Life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Take-back for recycling, rewarded with early access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074152" y="1280160"/>
            <a:ext cx="3611880" cy="40233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74152" y="12801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Never pay twice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74152" y="1810512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11312" y="1810512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Never Pay Twice Engine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audiences suppress owned buyers from paid ads daily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074152" y="2798064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2798064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Loyalist Lookalikes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half of prospecting on repeat buyers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8074152" y="3785616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11312" y="3785616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Wear-tests and fabric close-ups, $1.5M from search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074152" y="4773168"/>
            <a:ext cx="36118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11312" y="4773168"/>
            <a:ext cx="3337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Fitting Room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Members-only holiday pop-up; entry through the app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programs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333756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617220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tests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006840" y="58704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levers lift 90-day repeat from 24% to about 31%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E and J (baseline 24%); Adobe CJA A2/A5 for measured haircuts (app 17%, SMS 37%); new-lever sizes are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31520" y="4362994"/>
            <a:ext cx="960120" cy="757646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05209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24.0%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691640" y="436299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1965960" y="3908407"/>
            <a:ext cx="960120" cy="454587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3080" y="3597511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5623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capture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26080" y="3908407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3200400" y="3529584"/>
            <a:ext cx="960120" cy="378823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17520" y="3218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09067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capture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60520" y="352958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434840" y="3169702"/>
            <a:ext cx="960120" cy="359882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51960" y="285880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2511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cross-sell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394960" y="3169702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5669280" y="2904526"/>
            <a:ext cx="960120" cy="265176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0" y="259363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55955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Triggered journeys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629400" y="2904526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6903720" y="2828762"/>
            <a:ext cx="960120" cy="75765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20840" y="251786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79399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0" y="2828762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33" name="Shape 30"/>
          <p:cNvSpPr/>
          <p:nvPr/>
        </p:nvSpPr>
        <p:spPr>
          <a:xfrm>
            <a:off x="8138160" y="2658291"/>
            <a:ext cx="960120" cy="17047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55280" y="234739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02843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Loyalist Lookalikes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9098280" y="2658291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37" name="Shape 34"/>
          <p:cNvSpPr/>
          <p:nvPr/>
        </p:nvSpPr>
        <p:spPr>
          <a:xfrm>
            <a:off x="9372600" y="2658291"/>
            <a:ext cx="960120" cy="378823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189720" y="234739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926287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Haircuts: selection bias, overlap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10332720" y="303711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10607040" y="3037114"/>
            <a:ext cx="960120" cy="208352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424160" y="272621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31.0%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49731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case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548640" y="5120640"/>
            <a:ext cx="1097280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2920" y="5687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Axis starts at 20%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6492240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92240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33.0%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7790688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90688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7790688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31.0%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9089136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089136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Downside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9089136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29.5%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10387584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387584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Downside + buffers</a:t>
            </a:r>
            <a:endParaRPr lang="en-US" sz="900" dirty="0"/>
          </a:p>
        </p:txBody>
      </p:sp>
      <p:sp>
        <p:nvSpPr>
          <p:cNvPr id="57" name="Text 54"/>
          <p:cNvSpPr txBox="1"/>
          <p:nvPr/>
        </p:nvSpPr>
        <p:spPr>
          <a:xfrm>
            <a:off x="10387584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30.0%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shifts from rented spend to owned channels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G (today); team plan (tranches T1–T3 gated by CJA holdouts). Brand/other holds $4M, of which $1.0M funds the Fitting Room test.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15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9184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99872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36448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707136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$40M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3712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914400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$60M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50976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02920" y="1783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095232" y="1965960"/>
            <a:ext cx="20726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01912" y="186537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94648" y="1865376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92640" y="17830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−$2M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046988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T3 · only if proven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414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260848" y="2624328"/>
            <a:ext cx="310896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1160" y="2523744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60264" y="2523744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92640" y="24414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−$3M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0469880" y="24414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T2 · after geo holdout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9981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 and creators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949952" y="3282696"/>
            <a:ext cx="155448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49368" y="3182112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004816" y="3182112"/>
            <a:ext cx="201168" cy="20116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92640" y="309981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10469880" y="30998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 from search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7581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328160" y="3941064"/>
            <a:ext cx="414528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2104" y="3840480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227576" y="3840480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92640" y="3758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−$4M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10469880" y="375818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T1 · suppress own buyers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4165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SMS, app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3913632" y="4599432"/>
            <a:ext cx="77724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13048" y="4498848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90288" y="4498848"/>
            <a:ext cx="201168" cy="20116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92640" y="44165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469880" y="4416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 owned build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5074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and other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3706368" y="5257800"/>
            <a:ext cx="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605784" y="515721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605784" y="515721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692640" y="50749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±$0M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10469880" y="5074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incl. $1.0M Fitting Room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3291840" y="5870448"/>
            <a:ext cx="164592" cy="164592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520440" y="58247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4297680" y="5870448"/>
            <a:ext cx="164592" cy="16459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526280" y="58247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5760720" y="582472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change: $0 inside the fixed $120M  ·  owned share 5% → 11%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$120M earns about $25M more contribution a year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H and J (45% contribution margin, $13.5M per 6 pts of repeat); strict CAC = $120M ÷ new customers;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325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Contribution added per year, $M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1920240"/>
            <a:ext cx="2658344" cy="82296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1920240"/>
            <a:ext cx="2475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$15.8M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2816352"/>
            <a:ext cx="2658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at +7 pts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61264" y="1920240"/>
            <a:ext cx="1497421" cy="82296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8424" y="1920240"/>
            <a:ext cx="131454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$8.9M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161264" y="2816352"/>
            <a:ext cx="14974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~170K extra new customers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795845" y="192024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$25M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3474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Lifetime margin per customer vs CAC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374904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3-year LTV × 45% margin, $; web-only vs prospecting CAC $74, others vs $62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Web-only, not subscribed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286000" y="4178808"/>
            <a:ext cx="1034261" cy="237744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11701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  ·  0.94× CAC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4645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286000" y="4709160"/>
            <a:ext cx="1901705" cy="237744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79145" y="4645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  ·  2.1× CAC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5175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App-installed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286000" y="5239512"/>
            <a:ext cx="2735786" cy="23774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113226" y="51755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  ·  3.0× CAC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CAC, measured two ways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400800" y="1828800"/>
            <a:ext cx="5285232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83680" y="1938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Effective CAC (case's Exhibit J measure)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~$54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4183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−12% to −14%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400800" y="3017520"/>
            <a:ext cx="5285232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31272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new-customer CAC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58368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~$57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418320" y="3429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−8%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00800" y="4343400"/>
            <a:ext cx="5285232" cy="1051560"/>
          </a:xfrm>
          <a:prstGeom prst="roundRect">
            <a:avLst>
              <a:gd name="adj" fmla="val 6957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583680" y="43434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Converting one web-only buyer into an app user is worth about $115 of margin, almost two new-customer CACs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click undervalues owned channels about three times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Attribution IQ, Order Revenue ($337,044), Marketing Channel, Person container, 90-day lookback,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17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0%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017520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3584448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858768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4425696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20%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700016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266944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541264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108192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82512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694944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223760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594360" y="1737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508699" y="1920240"/>
            <a:ext cx="35332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17259" y="1828800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70583" y="1828800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26615" y="17373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41.5% → 45.7%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22494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Organic, direct, SEO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363517" y="2432304"/>
            <a:ext cx="673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72077" y="2340864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39377" y="2340864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95409" y="224942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 → 16.8%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27614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102730" y="2944368"/>
            <a:ext cx="10095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011290" y="2852928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112240" y="2852928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68272" y="276148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 → 14.1%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327355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94317" y="3456432"/>
            <a:ext cx="75712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02877" y="3364992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078590" y="3364992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34622" y="327355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→ 13.7%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78561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Influencer, affiliate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035430" y="3968496"/>
            <a:ext cx="10095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943990" y="3877056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044940" y="3877056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00972" y="378561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 → 13.3%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502920" y="4261104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9436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3244657" y="4480560"/>
            <a:ext cx="504749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153217" y="4389120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657966" y="4389120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913998" y="4297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 → 8.7%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02920" y="4773168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94360" y="48097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3076407" y="4992624"/>
            <a:ext cx="227137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2984967" y="4901184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212104" y="4901184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468136" y="48097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→ 3.4%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02920" y="5285232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94360" y="53218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push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3135295" y="5504688"/>
            <a:ext cx="126187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043855" y="5413248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170042" y="5413248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3426074" y="53218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1.4% → 2.9%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3017520" y="5943600"/>
            <a:ext cx="146304" cy="146304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3218688" y="5897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touch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4206240" y="5943600"/>
            <a:ext cx="146304" cy="1463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407408" y="5897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Participation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8595360" y="1737360"/>
            <a:ext cx="3090672" cy="1828800"/>
          </a:xfrm>
          <a:prstGeom prst="roundRect">
            <a:avLst>
              <a:gd name="adj" fmla="val 4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778240" y="18288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4.8% → 15.0%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channels: last-touch credit vs share of revenue they take part in</a:t>
            </a:r>
            <a:endParaRPr lang="en-US" sz="1200" dirty="0"/>
          </a:p>
        </p:txBody>
      </p:sp>
      <p:sp>
        <p:nvSpPr>
          <p:cNvPr id="70" name="Shape 67"/>
          <p:cNvSpPr/>
          <p:nvPr/>
        </p:nvSpPr>
        <p:spPr>
          <a:xfrm>
            <a:off x="8595360" y="3749040"/>
            <a:ext cx="309067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778240" y="38404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 → 12.4%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barely moves from last to first touch, so its cut rests on holdouts, not attribution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risks, each with a mitigation and an early warning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case section 7 risk matrix. Positions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18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097280" y="146304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23160" y="146304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749040" y="146304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7280" y="278892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423160" y="278892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49040" y="278892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" y="411480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23160" y="411480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749040" y="411480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7280" y="548640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Likelihood →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 rot="16200000">
            <a:off x="-731520" y="33238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977640" y="192024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776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77640" y="324612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977640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651760" y="324612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651760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651760" y="192024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65176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651760" y="457200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5176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77640" y="457200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776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1572768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12648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Selection bias inflates lift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126480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Randomized 10% holdout; A5 haircut built in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669280" y="2240280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669280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126480" y="21305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 owners resist cuts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126480" y="2423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Scorecards move to incremental revenue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669280" y="2907792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0" y="2907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126480" y="27980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 fatigue, unsubscribes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126480" y="3090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Fewer, triggered sends; guardrail pauses tranche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669280" y="3575304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66928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126480" y="34655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 and privacy (TCPA, CCPA)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6126480" y="3758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Transactional and marketing consent split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669280" y="4242816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66928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6126480" y="4133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Fitting Room doesn't pay back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6126480" y="44256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One-season test; stops if it loses to Passport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669280" y="4910328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0" y="4910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6126480" y="4800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or signal shock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6126480" y="5093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share 5% → 11%; suppression by lists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Fallout: 77% of people who add to cart never order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Fallout visualization, Quince case data view,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19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95844" y="1289304"/>
            <a:ext cx="659726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fall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20" y="1325880"/>
            <a:ext cx="652411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 (A1): 60,000 → 2,592 buyers; 69% leave after a product view and 77% of cart adders never order, so recovery is new money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assist far more than they close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Attribution panel, Order Revenue across Marketing Channel, Last Touch, First Touch, Linear, Participation, 90-day lookback; total Order Revenue $337,044.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370052"/>
            <a:ext cx="11256264" cy="407217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attr_t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6628"/>
            <a:ext cx="11183112" cy="399902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take part in 15.0% of revenue but get 4.8% on last touch; paid channels barely move between models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engaged buyers return 2.7× faster in week two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Cohort Table, inclusion and return Orders ≥ 1, weekly,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21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cohort_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4078"/>
            <a:ext cx="5454396" cy="36098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buyers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2" descr="/tmp/claude-0/-home-user-Quince/7efe80ae-a049-50c2-9886-98bf7ca3a04a/scratchpad/assets/cja_cohort_e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464078"/>
            <a:ext cx="5454396" cy="360980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(inclusion segment)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week-2 return is 5.6% for engaged buyers vs 2.1% for all buyers; half of engaged returns land in weeks 1–4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Flow: almost no message follows an abandoned cart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Flow from add_to_cart, Person container,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9013" y="1289304"/>
            <a:ext cx="1075092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89" y="1325880"/>
            <a:ext cx="1067777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(A4): 11,610 add-to-cart paths; 6,088 go to checkout, 1 is followed by an email, the rest end with no message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engagement after order one drives repeat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freeform tables with engagement segments and sequential segments,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2293173"/>
            <a:ext cx="5527548" cy="195161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9749"/>
            <a:ext cx="5454396" cy="18784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by engagement (A2)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2286317"/>
            <a:ext cx="5527548" cy="196532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2" descr="/tmp/claude-0/-home-user-Quince/7efe80ae-a049-50c2-9886-98bf7ca3a04a/scratchpad/assets/cja_a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2322893"/>
            <a:ext cx="5454396" cy="189217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after order one (A5)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engaged buyers are 24.5% of buyers but 66% of repeaters (A2); after order one, 57 of 265 app users and 37 of 315 SMS users repeat (A5)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 the Second Purchase</dc:title>
  <dc:subject>PptxGenJS Presentation</dc:subject>
  <dc:creator>Team G27</dc:creator>
  <cp:lastModifiedBy>Team G27</cp:lastModifiedBy>
  <cp:revision>1</cp:revision>
  <dcterms:created xsi:type="dcterms:W3CDTF">2026-10-17T11:22:35Z</dcterms:created>
  <dcterms:modified xsi:type="dcterms:W3CDTF">2026-10-17T11:22:35Z</dcterms:modified>
</cp:coreProperties>
</file>