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Engaged buyers</c:v>
                </c:pt>
              </c:strCache>
            </c:strRef>
          </c:tx>
          <c:spPr>
            <a:solidFill>
              <a:srgbClr val="1D4ED8"/>
            </a:solidFill>
            <a:ln w="28575" cap="flat">
              <a:solidFill>
                <a:srgbClr val="1D4ED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2.9</c:v>
                </c:pt>
                <c:pt idx="1">
                  <c:v>5.6</c:v>
                </c:pt>
                <c:pt idx="2">
                  <c:v>4.4</c:v>
                </c:pt>
                <c:pt idx="3">
                  <c:v>4</c:v>
                </c:pt>
                <c:pt idx="4">
                  <c:v>2.3</c:v>
                </c:pt>
                <c:pt idx="5">
                  <c:v>3.1</c:v>
                </c:pt>
                <c:pt idx="6">
                  <c:v>2.7</c:v>
                </c:pt>
                <c:pt idx="7">
                  <c:v>1.7</c:v>
                </c:pt>
                <c:pt idx="8">
                  <c:v>3.8</c:v>
                </c:pt>
                <c:pt idx="9">
                  <c:v>2.3</c:v>
                </c:pt>
                <c:pt idx="10">
                  <c:v>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All buyers</c:v>
                </c:pt>
              </c:strCache>
            </c:strRef>
          </c:tx>
          <c:spPr>
            <a:solidFill>
              <a:srgbClr val="94A3B8"/>
            </a:solidFill>
            <a:ln w="28575" cap="flat">
              <a:solidFill>
                <a:srgbClr val="94A3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4A3B8"/>
              </a:solidFill>
              <a:ln w="9525" cap="flat">
                <a:solidFill>
                  <a:srgbClr val="94A3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1.3</c:v>
                </c:pt>
                <c:pt idx="1">
                  <c:v>2.1</c:v>
                </c:pt>
                <c:pt idx="2">
                  <c:v>1.4</c:v>
                </c:pt>
                <c:pt idx="3">
                  <c:v>1.6</c:v>
                </c:pt>
                <c:pt idx="4">
                  <c:v>1.3</c:v>
                </c:pt>
                <c:pt idx="5">
                  <c:v>1.6</c:v>
                </c:pt>
                <c:pt idx="6">
                  <c:v>1.3</c:v>
                </c:pt>
                <c:pt idx="7">
                  <c:v>0.8</c:v>
                </c:pt>
                <c:pt idx="8">
                  <c:v>1.7</c:v>
                </c:pt>
                <c:pt idx="9">
                  <c:v>1.3</c:v>
                </c:pt>
                <c:pt idx="10">
                  <c:v>0.6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EF2F7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1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2434"/>
            <a:ext cx="1188720" cy="35474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875520" y="566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viral first buyers into repeat customers with the same $120M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97180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and lifecycle strategy  ·  Grounded in Adobe Customer Journey Analytics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  ·  Graduate Track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Owning the second purchase lifts repeat to 31% at $0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(Quince case data view, Jan–Apr 2026); case Exhibits D, G, H, J; team analysis. Impact figures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11183112" cy="1078992"/>
          </a:xfrm>
          <a:prstGeom prst="roundRect">
            <a:avLst>
              <a:gd name="adj" fmla="val 8475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4173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$9M of the fixed $120M from rented reach to owned reach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1865376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   ·   Win the Golden Month   ·   Never pay twice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41080" y="1572768"/>
            <a:ext cx="1024128" cy="548640"/>
          </a:xfrm>
          <a:prstGeom prst="chevron">
            <a:avLst/>
          </a:prstGeom>
          <a:solidFill>
            <a:srgbClr val="1D4ED8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42248" y="15727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628632" y="1572768"/>
            <a:ext cx="1024128" cy="548640"/>
          </a:xfrm>
          <a:prstGeom prst="chevron">
            <a:avLst/>
          </a:prstGeom>
          <a:solidFill>
            <a:srgbClr val="2563EB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829800" y="15727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0616184" y="1572768"/>
            <a:ext cx="1024128" cy="548640"/>
          </a:xfrm>
          <a:prstGeom prst="chevron">
            <a:avLst/>
          </a:prstGeom>
          <a:solidFill>
            <a:srgbClr val="3B82F6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817352" y="157276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2606040"/>
            <a:ext cx="6903720" cy="603504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2724912"/>
            <a:ext cx="365760" cy="36576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47" y="2805379"/>
            <a:ext cx="204826" cy="20482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70432" y="260604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2542032" y="26060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each year; owned reach compounds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02920" y="3328416"/>
            <a:ext cx="6903720" cy="603504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0080" y="3447288"/>
            <a:ext cx="365760" cy="36576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" y="3527755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170432" y="33284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2542032" y="332841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 decides who buys twice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502920" y="4050792"/>
            <a:ext cx="6903720" cy="603504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40080" y="4169664"/>
            <a:ext cx="365760" cy="36576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" y="4250131"/>
            <a:ext cx="204826" cy="20482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170432" y="40507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2542032" y="405079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tactics fast; trust and consent take years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502920" y="4773168"/>
            <a:ext cx="6903720" cy="603504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40080" y="4892040"/>
            <a:ext cx="365760" cy="36576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" y="4972507"/>
            <a:ext cx="204826" cy="20482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170432" y="477316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2542032" y="47731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is ready; the lifecycle muscle must be built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02920" y="5495544"/>
            <a:ext cx="6903720" cy="603504"/>
          </a:xfrm>
          <a:prstGeom prst="roundRect">
            <a:avLst>
              <a:gd name="adj" fmla="val 1212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40080" y="5614416"/>
            <a:ext cx="365760" cy="36576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" y="5694883"/>
            <a:ext cx="204826" cy="20482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170432" y="549554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2542032" y="5495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scale by month nine</a:t>
            </a:r>
            <a:endParaRPr lang="en-US" sz="1250" dirty="0"/>
          </a:p>
        </p:txBody>
      </p:sp>
      <p:sp>
        <p:nvSpPr>
          <p:cNvPr id="43" name="Shape 35"/>
          <p:cNvSpPr/>
          <p:nvPr/>
        </p:nvSpPr>
        <p:spPr>
          <a:xfrm>
            <a:off x="7726680" y="2606040"/>
            <a:ext cx="3959352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790956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7909560" y="29535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200" dirty="0"/>
          </a:p>
        </p:txBody>
      </p:sp>
      <p:sp>
        <p:nvSpPr>
          <p:cNvPr id="46" name="Text 38"/>
          <p:cNvSpPr txBox="1"/>
          <p:nvPr/>
        </p:nvSpPr>
        <p:spPr>
          <a:xfrm>
            <a:off x="9921240" y="2715768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≥ 30%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Range 29.5–33%</a:t>
            </a:r>
            <a:endParaRPr lang="en-US" sz="1000" dirty="0"/>
          </a:p>
        </p:txBody>
      </p:sp>
      <p:sp>
        <p:nvSpPr>
          <p:cNvPr id="47" name="Shape 39"/>
          <p:cNvSpPr/>
          <p:nvPr/>
        </p:nvSpPr>
        <p:spPr>
          <a:xfrm>
            <a:off x="7726680" y="3593592"/>
            <a:ext cx="3959352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7909560" y="3685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7909560" y="394106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200" dirty="0"/>
          </a:p>
        </p:txBody>
      </p:sp>
      <p:sp>
        <p:nvSpPr>
          <p:cNvPr id="50" name="Text 42"/>
          <p:cNvSpPr txBox="1"/>
          <p:nvPr/>
        </p:nvSpPr>
        <p:spPr>
          <a:xfrm>
            <a:off x="9921240" y="370332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−10%</a:t>
            </a:r>
            <a:endParaRPr lang="en-US" sz="1000" dirty="0"/>
          </a:p>
        </p:txBody>
      </p:sp>
      <p:sp>
        <p:nvSpPr>
          <p:cNvPr id="51" name="Shape 43"/>
          <p:cNvSpPr/>
          <p:nvPr/>
        </p:nvSpPr>
        <p:spPr>
          <a:xfrm>
            <a:off x="7726680" y="4581144"/>
            <a:ext cx="3959352" cy="877824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90956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7909560" y="49286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+$25M / yr</a:t>
            </a:r>
            <a:endParaRPr lang="en-US" sz="2200" dirty="0"/>
          </a:p>
        </p:txBody>
      </p:sp>
      <p:sp>
        <p:nvSpPr>
          <p:cNvPr id="54" name="Text 46"/>
          <p:cNvSpPr txBox="1"/>
          <p:nvPr/>
        </p:nvSpPr>
        <p:spPr>
          <a:xfrm>
            <a:off x="9921240" y="469087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same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$120M budget</a:t>
            </a:r>
            <a:endParaRPr lang="en-US" sz="1000" dirty="0"/>
          </a:p>
        </p:txBody>
      </p:sp>
      <p:sp>
        <p:nvSpPr>
          <p:cNvPr id="55" name="Shape 47"/>
          <p:cNvSpPr/>
          <p:nvPr/>
        </p:nvSpPr>
        <p:spPr>
          <a:xfrm>
            <a:off x="7726680" y="5596128"/>
            <a:ext cx="127101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5669280"/>
            <a:ext cx="219456" cy="219456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8065008" y="55961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 new budget</a:t>
            </a:r>
            <a:endParaRPr lang="en-US" sz="950" dirty="0"/>
          </a:p>
        </p:txBody>
      </p:sp>
      <p:sp>
        <p:nvSpPr>
          <p:cNvPr id="58" name="Shape 49"/>
          <p:cNvSpPr/>
          <p:nvPr/>
        </p:nvSpPr>
        <p:spPr>
          <a:xfrm>
            <a:off x="9070848" y="5596128"/>
            <a:ext cx="127101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2288" y="5669280"/>
            <a:ext cx="219456" cy="219456"/>
          </a:xfrm>
          <a:prstGeom prst="rect">
            <a:avLst/>
          </a:prstGeom>
        </p:spPr>
      </p:pic>
      <p:sp>
        <p:nvSpPr>
          <p:cNvPr id="60" name="Text 50"/>
          <p:cNvSpPr txBox="1"/>
          <p:nvPr/>
        </p:nvSpPr>
        <p:spPr>
          <a:xfrm>
            <a:off x="9409176" y="55961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discounts</a:t>
            </a:r>
            <a:endParaRPr lang="en-US" sz="950" dirty="0"/>
          </a:p>
        </p:txBody>
      </p:sp>
      <p:sp>
        <p:nvSpPr>
          <p:cNvPr id="61" name="Shape 51"/>
          <p:cNvSpPr/>
          <p:nvPr/>
        </p:nvSpPr>
        <p:spPr>
          <a:xfrm>
            <a:off x="10415016" y="5596128"/>
            <a:ext cx="127101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6456" y="5669280"/>
            <a:ext cx="219456" cy="219456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10753344" y="55961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 in CJA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 reach costs more each year; owned reach compounds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B, D, G, H; Adjust and AppsFlyer ATT benchmarks; University of Michigan consumer sentiment (May 2026); Meta and TikTok public announcements.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3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of budget sits on three social platforms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60020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FY2026 paid marketing budget, $120M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2514600"/>
            <a:ext cx="2523744" cy="566928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26664" y="2514600"/>
            <a:ext cx="771144" cy="566928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97808" y="2514600"/>
            <a:ext cx="560832" cy="566928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8640" y="2514600"/>
            <a:ext cx="140208" cy="566928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98848" y="2514600"/>
            <a:ext cx="210312" cy="566928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251460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3154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026664" y="31546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 $22M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06368" y="34015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$16M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99432" y="2514600"/>
            <a:ext cx="0" cy="-320040"/>
          </a:xfrm>
          <a:prstGeom prst="line">
            <a:avLst/>
          </a:prstGeom>
          <a:noFill/>
          <a:ln w="1270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532888" y="19933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$6M = $1.43 per customer</a:t>
            </a:r>
            <a:endParaRPr lang="en-US" sz="1000" dirty="0"/>
          </a:p>
        </p:txBody>
      </p:sp>
      <p:pic>
        <p:nvPicPr>
          <p:cNvPr id="22" name="Image 1" descr="/tmp/claude-0/-home-user-Quince/7efe80ae-a049-50c2-9886-98bf7ca3a04a/scratchpad/assets/m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3749040"/>
            <a:ext cx="274320" cy="274320"/>
          </a:xfrm>
          <a:prstGeom prst="rect">
            <a:avLst/>
          </a:prstGeom>
        </p:spPr>
      </p:pic>
      <p:pic>
        <p:nvPicPr>
          <p:cNvPr id="23" name="Image 2" descr="/tmp/claude-0/-home-user-Quince/7efe80ae-a049-50c2-9886-98bf7ca3a04a/scratchpad/assets/tikt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49040"/>
            <a:ext cx="274320" cy="274320"/>
          </a:xfrm>
          <a:prstGeom prst="rect">
            <a:avLst/>
          </a:prstGeom>
        </p:spPr>
      </p:pic>
      <p:pic>
        <p:nvPicPr>
          <p:cNvPr id="24" name="Image 3" descr="/tmp/claude-0/-home-user-Quince/7efe80ae-a049-50c2-9886-98bf7ca3a04a/scratchpad/assets/pinter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4168" y="374904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874520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set by platforms Quince doesn't control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1325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is up 29% in two years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120640" y="16002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customer acquisition cost, $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394960" y="2870036"/>
            <a:ext cx="868680" cy="106188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212080" y="254085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5120640" y="398678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years ago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720840" y="2560320"/>
            <a:ext cx="868680" cy="137160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537960" y="223113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6446520" y="398678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5257800" y="3931920"/>
            <a:ext cx="2560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498080" y="1965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7498080" y="19659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+29%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549640" y="132588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customers are worth 2.6× more</a:t>
            </a:r>
            <a:endParaRPr lang="en-US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8549640" y="1600200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Estimated 3-year LTV per customer, $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8869680" y="3326966"/>
            <a:ext cx="868680" cy="60495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8686800" y="299778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8595360" y="39867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Web-only,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subscribed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10241280" y="2331720"/>
            <a:ext cx="868680" cy="160020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10058400" y="200253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</a:t>
            </a:r>
            <a:endParaRPr lang="en-US" sz="1500" dirty="0"/>
          </a:p>
        </p:txBody>
      </p:sp>
      <p:sp>
        <p:nvSpPr>
          <p:cNvPr id="44" name="Text 38"/>
          <p:cNvSpPr txBox="1"/>
          <p:nvPr/>
        </p:nvSpPr>
        <p:spPr>
          <a:xfrm>
            <a:off x="9966960" y="3986784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</a:t>
            </a:r>
            <a:endParaRPr lang="en-US" sz="1000" dirty="0"/>
          </a:p>
        </p:txBody>
      </p:sp>
      <p:sp>
        <p:nvSpPr>
          <p:cNvPr id="45" name="Shape 39"/>
          <p:cNvSpPr/>
          <p:nvPr/>
        </p:nvSpPr>
        <p:spPr>
          <a:xfrm>
            <a:off x="8732520" y="3931920"/>
            <a:ext cx="274320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02920" y="4526280"/>
            <a:ext cx="3648456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667512" y="4709160"/>
            <a:ext cx="457200" cy="45720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809744"/>
            <a:ext cx="256032" cy="256032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1280160" y="4636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loss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1280160" y="49194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tracking opt-in ~35–50%; Safari and Firefox block third-party cookies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4270248" y="4526280"/>
            <a:ext cx="3648456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4434840" y="4709160"/>
            <a:ext cx="457200" cy="45720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809744"/>
            <a:ext cx="256032" cy="256032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5047488" y="4636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concentration</a:t>
            </a:r>
            <a:endParaRPr lang="en-US" sz="1200" dirty="0"/>
          </a:p>
        </p:txBody>
      </p:sp>
      <p:sp>
        <p:nvSpPr>
          <p:cNvPr id="55" name="Text 47"/>
          <p:cNvSpPr txBox="1"/>
          <p:nvPr/>
        </p:nvSpPr>
        <p:spPr>
          <a:xfrm>
            <a:off x="5047488" y="49194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 automates targeting by default; TikTok's U.S. ownership changed</a:t>
            </a:r>
            <a:endParaRPr lang="en-US" sz="1050" dirty="0"/>
          </a:p>
        </p:txBody>
      </p:sp>
      <p:sp>
        <p:nvSpPr>
          <p:cNvPr id="56" name="Shape 48"/>
          <p:cNvSpPr/>
          <p:nvPr/>
        </p:nvSpPr>
        <p:spPr>
          <a:xfrm>
            <a:off x="8037576" y="4526280"/>
            <a:ext cx="3648456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7" name="Shape 49"/>
          <p:cNvSpPr/>
          <p:nvPr/>
        </p:nvSpPr>
        <p:spPr>
          <a:xfrm>
            <a:off x="8202168" y="4709160"/>
            <a:ext cx="457200" cy="45720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5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2752" y="4809744"/>
            <a:ext cx="256032" cy="256032"/>
          </a:xfrm>
          <a:prstGeom prst="rect">
            <a:avLst/>
          </a:prstGeom>
        </p:spPr>
      </p:pic>
      <p:sp>
        <p:nvSpPr>
          <p:cNvPr id="59" name="Text 50"/>
          <p:cNvSpPr txBox="1"/>
          <p:nvPr/>
        </p:nvSpPr>
        <p:spPr>
          <a:xfrm>
            <a:off x="8814816" y="4636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 demand</a:t>
            </a:r>
            <a:endParaRPr lang="en-US" sz="1200" dirty="0"/>
          </a:p>
        </p:txBody>
      </p:sp>
      <p:sp>
        <p:nvSpPr>
          <p:cNvPr id="60" name="Text 51"/>
          <p:cNvSpPr txBox="1"/>
          <p:nvPr/>
        </p:nvSpPr>
        <p:spPr>
          <a:xfrm>
            <a:off x="8814816" y="49194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Consumer sentiment hit a record-low 44.8; price can't be the lever</a:t>
            </a:r>
            <a:endParaRPr lang="en-US" sz="1050" dirty="0"/>
          </a:p>
        </p:txBody>
      </p:sp>
      <p:sp>
        <p:nvSpPr>
          <p:cNvPr id="61" name="Shape 52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rents 60% of its reach from platforms that see less every year, and spends $1.43 per customer on what it owns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one, not traffic, decides who buys twice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1 Jan–30 Apr 2026, 60,000 people. Panels A1 (Fallout), A4 (Flow), A2/A5 (segments), A6 (category), Cohort Table.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35331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41832" y="132588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breaks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41832" y="1600200"/>
            <a:ext cx="3099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 funnel, people (A1)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15968" y="135331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15968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32588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comes back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1600200"/>
            <a:ext cx="3099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rate after order one (A5)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29016" y="135331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29016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567928" y="132588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act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567928" y="1600200"/>
            <a:ext cx="3099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return rate after first order (Cohort)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0116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508760" y="2011680"/>
            <a:ext cx="1828800" cy="365760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401568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48716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view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1508760" y="2487168"/>
            <a:ext cx="1114532" cy="365760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87300" y="248716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36,566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96265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508760" y="2962656"/>
            <a:ext cx="345613" cy="3657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918381" y="29626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43814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1508760" y="3438144"/>
            <a:ext cx="177333" cy="3657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750101" y="34381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5,818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91363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1508760" y="3913632"/>
            <a:ext cx="109728" cy="3657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682496" y="391363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2,592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1005840" y="4462272"/>
            <a:ext cx="301752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143000" y="4498848"/>
            <a:ext cx="2788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carts never order; 1 message follows 11,610 cart adds (A4)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407408" y="3749040"/>
            <a:ext cx="338328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36008" y="3399229"/>
            <a:ext cx="731520" cy="349811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07408" y="3088333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361688" y="37947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engaged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715000" y="2878233"/>
            <a:ext cx="731520" cy="870807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86400" y="2567337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440680" y="37947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after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one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6793992" y="2148840"/>
            <a:ext cx="731520" cy="160020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565392" y="18379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21.5%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6519672" y="37947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after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one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4498848" y="1938528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98848" y="19385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4.6× more repeat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407408" y="427939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by category touched (A6)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407408" y="45720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184648" y="4608576"/>
            <a:ext cx="1325001" cy="21945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555369" y="45720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13.7%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4407408" y="4956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84648" y="4992624"/>
            <a:ext cx="2011680" cy="21945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242048" y="49560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20.8%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8485632" y="1993392"/>
            <a:ext cx="987552" cy="2048256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485632" y="3767328"/>
            <a:ext cx="98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1–4</a:t>
            </a:r>
            <a:endParaRPr lang="en-US" sz="900" dirty="0"/>
          </a:p>
        </p:txBody>
      </p:sp>
      <p:graphicFrame>
        <p:nvGraphicFramePr>
          <p:cNvPr id="59" name="Chart 0" descr=""/>
          <p:cNvGraphicFramePr/>
          <p:nvPr/>
        </p:nvGraphicFramePr>
        <p:xfrm>
          <a:off x="8129016" y="1828800"/>
          <a:ext cx="3557016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0" name="Shape 56"/>
          <p:cNvSpPr/>
          <p:nvPr/>
        </p:nvSpPr>
        <p:spPr>
          <a:xfrm>
            <a:off x="8220456" y="4681728"/>
            <a:ext cx="3429000" cy="658368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8357616" y="470001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 vs ~1%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week-2 return, engaged vs non-engaged buyers</a:t>
            </a:r>
            <a:endParaRPr lang="en-US" sz="1200" dirty="0"/>
          </a:p>
        </p:txBody>
      </p:sp>
      <p:sp>
        <p:nvSpPr>
          <p:cNvPr id="62" name="Shape 5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65" name="Text 6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abandoners within hours, engaged buyers in weeks 1–4, and cashmere buyers with a second category by day 21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tactics fast; trust and consent take years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M; company filings and press (Shein acquisition of Everlane, May 2026); positions are team judgment, not measured values.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914400" y="1417320"/>
            <a:ext cx="5806440" cy="1988820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5394960"/>
            <a:ext cx="5806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1417320"/>
            <a:ext cx="0" cy="397764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17620" y="1417320"/>
            <a:ext cx="0" cy="39776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914400" y="3406140"/>
            <a:ext cx="58064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914400" y="5440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5440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903220" y="5440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 rot="16200000">
            <a:off x="-1005840" y="32689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customer relationship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14173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516636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Rented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073048" y="1613916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1" name="Image 1" descr="/tmp/claude-0/-home-user-Quince/7efe80ae-a049-50c2-9886-98bf7ca3a04a/scratchpad/assets/amaz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32" y="1700525"/>
            <a:ext cx="758952" cy="229118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2139239" y="2329891"/>
            <a:ext cx="68580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3" name="Image 2" descr="/tmp/claude-0/-home-user-Quince/7efe80ae-a049-50c2-9886-98bf7ca3a04a/scratchpad/assets/uniql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267" y="2412187"/>
            <a:ext cx="237744" cy="23774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1073048" y="3125419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5" name="Image 3" descr="/tmp/claude-0/-home-user-Quince/7efe80ae-a049-50c2-9886-98bf7ca3a04a/scratchpad/assets/she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632" y="3247803"/>
            <a:ext cx="758952" cy="15756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3942893" y="3006090"/>
            <a:ext cx="114300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7" name="Image 4" descr="/tmp/claude-0/-home-user-Quince/7efe80ae-a049-50c2-9886-98bf7ca3a04a/scratchpad/assets/everla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477" y="3159844"/>
            <a:ext cx="941832" cy="9482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4643323" y="1574140"/>
            <a:ext cx="160020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29" name="Image 5" descr="/tmp/claude-0/-home-user-Quince/7efe80ae-a049-50c2-9886-98bf7ca3a04a/scratchpad/assets/williams_sonom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3907" y="1725655"/>
            <a:ext cx="1399032" cy="9930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5405018" y="2409444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pic>
        <p:nvPicPr>
          <p:cNvPr id="31" name="Image 6" descr="/tmp/claude-0/-home-user-Quince/7efe80ae-a049-50c2-9886-98bf7ca3a04a/scratchpad/assets/tapes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5602" y="2520621"/>
            <a:ext cx="804672" cy="179983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5311750" y="3761842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94A3B8">
                <a:alpha val="25000"/>
              </a:srgbClr>
            </a:outerShdw>
          </a:effectLst>
        </p:spPr>
      </p:sp>
      <p:sp>
        <p:nvSpPr>
          <p:cNvPr id="33" name="Text 24"/>
          <p:cNvSpPr txBox="1"/>
          <p:nvPr/>
        </p:nvSpPr>
        <p:spPr>
          <a:xfrm>
            <a:off x="5311750" y="3761842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CUYANA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1004468" y="355518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owns Everlane since 2026</a:t>
            </a:r>
            <a:endParaRPr lang="en-US" sz="850" dirty="0"/>
          </a:p>
        </p:txBody>
      </p:sp>
      <p:sp>
        <p:nvSpPr>
          <p:cNvPr id="35" name="Shape 26"/>
          <p:cNvSpPr/>
          <p:nvPr/>
        </p:nvSpPr>
        <p:spPr>
          <a:xfrm>
            <a:off x="2902306" y="4658411"/>
            <a:ext cx="1133856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dash"/>
          </a:ln>
        </p:spPr>
      </p:sp>
      <p:pic>
        <p:nvPicPr>
          <p:cNvPr id="36" name="Image 7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0268" y="4749851"/>
            <a:ext cx="857932" cy="25603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4091026" y="4768139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38" name="Shape 28"/>
          <p:cNvSpPr/>
          <p:nvPr/>
        </p:nvSpPr>
        <p:spPr>
          <a:xfrm>
            <a:off x="3469234" y="2168957"/>
            <a:ext cx="0" cy="2452878"/>
          </a:xfrm>
          <a:prstGeom prst="line">
            <a:avLst/>
          </a:prstGeom>
          <a:noFill/>
          <a:ln w="3175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39" name="Shape 29"/>
          <p:cNvSpPr/>
          <p:nvPr/>
        </p:nvSpPr>
        <p:spPr>
          <a:xfrm>
            <a:off x="2902306" y="1675181"/>
            <a:ext cx="1133856" cy="438912"/>
          </a:xfrm>
          <a:prstGeom prst="roundRect">
            <a:avLst>
              <a:gd name="adj" fmla="val 20833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40" name="Image 8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0268" y="1766621"/>
            <a:ext cx="857932" cy="256032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4091026" y="1784909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950" dirty="0"/>
          </a:p>
        </p:txBody>
      </p:sp>
      <p:sp>
        <p:nvSpPr>
          <p:cNvPr id="42" name="Text 31"/>
          <p:cNvSpPr txBox="1"/>
          <p:nvPr/>
        </p:nvSpPr>
        <p:spPr>
          <a:xfrm>
            <a:off x="3578962" y="311193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price,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relationship</a:t>
            </a:r>
            <a:endParaRPr lang="en-US" sz="950" dirty="0"/>
          </a:p>
        </p:txBody>
      </p:sp>
      <p:sp>
        <p:nvSpPr>
          <p:cNvPr id="43" name="Text 32"/>
          <p:cNvSpPr txBox="1"/>
          <p:nvPr/>
        </p:nvSpPr>
        <p:spPr>
          <a:xfrm>
            <a:off x="7269480" y="13258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for a rival to copy</a:t>
            </a:r>
            <a:endParaRPr lang="en-US" sz="1300" dirty="0"/>
          </a:p>
        </p:txBody>
      </p:sp>
      <p:sp>
        <p:nvSpPr>
          <p:cNvPr id="44" name="Text 33"/>
          <p:cNvSpPr txBox="1"/>
          <p:nvPr/>
        </p:nvSpPr>
        <p:spPr>
          <a:xfrm>
            <a:off x="7269480" y="160020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Quarters</a:t>
            </a:r>
            <a:endParaRPr lang="en-US" sz="1000" dirty="0"/>
          </a:p>
        </p:txBody>
      </p:sp>
      <p:sp>
        <p:nvSpPr>
          <p:cNvPr id="45" name="Text 34"/>
          <p:cNvSpPr txBox="1"/>
          <p:nvPr/>
        </p:nvSpPr>
        <p:spPr>
          <a:xfrm>
            <a:off x="7269480" y="196596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journeys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9098280" y="2020824"/>
            <a:ext cx="251460" cy="219456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9395460" y="19659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quarter</a:t>
            </a:r>
            <a:endParaRPr lang="en-US" sz="1000" dirty="0"/>
          </a:p>
        </p:txBody>
      </p:sp>
      <p:sp>
        <p:nvSpPr>
          <p:cNvPr id="48" name="Text 37"/>
          <p:cNvSpPr txBox="1"/>
          <p:nvPr/>
        </p:nvSpPr>
        <p:spPr>
          <a:xfrm>
            <a:off x="7269480" y="242316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tracking, care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9098280" y="2478024"/>
            <a:ext cx="502920" cy="219456"/>
          </a:xfrm>
          <a:prstGeom prst="roundRect">
            <a:avLst>
              <a:gd name="adj" fmla="val 25000"/>
            </a:avLst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9646920" y="24231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quarters</a:t>
            </a:r>
            <a:endParaRPr lang="en-US" sz="1000" dirty="0"/>
          </a:p>
        </p:txBody>
      </p:sp>
      <p:sp>
        <p:nvSpPr>
          <p:cNvPr id="51" name="Text 40"/>
          <p:cNvSpPr txBox="1"/>
          <p:nvPr/>
        </p:nvSpPr>
        <p:spPr>
          <a:xfrm>
            <a:off x="7269480" y="288036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Consented, engaged base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9098280" y="2935224"/>
            <a:ext cx="2011680" cy="219456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11155680" y="28803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Years</a:t>
            </a:r>
            <a:endParaRPr lang="en-US" sz="1000" dirty="0"/>
          </a:p>
        </p:txBody>
      </p:sp>
      <p:sp>
        <p:nvSpPr>
          <p:cNvPr id="54" name="Text 43"/>
          <p:cNvSpPr txBox="1"/>
          <p:nvPr/>
        </p:nvSpPr>
        <p:spPr>
          <a:xfrm>
            <a:off x="7269480" y="333756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M2C cost structure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9098280" y="3392424"/>
            <a:ext cx="2011680" cy="219456"/>
          </a:xfrm>
          <a:prstGeom prst="roundRect">
            <a:avLst>
              <a:gd name="adj" fmla="val 25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11155680" y="33375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Years</a:t>
            </a:r>
            <a:endParaRPr lang="en-US" sz="1000" dirty="0"/>
          </a:p>
        </p:txBody>
      </p:sp>
      <p:sp>
        <p:nvSpPr>
          <p:cNvPr id="57" name="Text 46"/>
          <p:cNvSpPr txBox="1"/>
          <p:nvPr/>
        </p:nvSpPr>
        <p:spPr>
          <a:xfrm>
            <a:off x="7269480" y="38862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escalate</a:t>
            </a:r>
            <a:endParaRPr lang="en-US" sz="1300" dirty="0"/>
          </a:p>
        </p:txBody>
      </p:sp>
      <p:sp>
        <p:nvSpPr>
          <p:cNvPr id="58" name="Shape 47"/>
          <p:cNvSpPr/>
          <p:nvPr/>
        </p:nvSpPr>
        <p:spPr>
          <a:xfrm>
            <a:off x="7269480" y="4242816"/>
            <a:ext cx="329184" cy="329184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41900" y="4315236"/>
            <a:ext cx="184343" cy="184343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7699248" y="42245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war</a:t>
            </a:r>
            <a:endParaRPr lang="en-US" sz="1050" dirty="0"/>
          </a:p>
        </p:txBody>
      </p:sp>
      <p:sp>
        <p:nvSpPr>
          <p:cNvPr id="61" name="Text 49"/>
          <p:cNvSpPr txBox="1"/>
          <p:nvPr/>
        </p:nvSpPr>
        <p:spPr>
          <a:xfrm>
            <a:off x="9098280" y="42245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 price; prove quality and access</a:t>
            </a:r>
            <a:endParaRPr lang="en-US" sz="1000" dirty="0"/>
          </a:p>
        </p:txBody>
      </p:sp>
      <p:sp>
        <p:nvSpPr>
          <p:cNvPr id="62" name="Shape 50"/>
          <p:cNvSpPr/>
          <p:nvPr/>
        </p:nvSpPr>
        <p:spPr>
          <a:xfrm>
            <a:off x="7269480" y="4700016"/>
            <a:ext cx="329184" cy="329184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6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1900" y="4772436"/>
            <a:ext cx="184343" cy="184343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7699248" y="4681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bid war</a:t>
            </a:r>
            <a:endParaRPr lang="en-US" sz="1050" dirty="0"/>
          </a:p>
        </p:txBody>
      </p:sp>
      <p:sp>
        <p:nvSpPr>
          <p:cNvPr id="65" name="Text 52"/>
          <p:cNvSpPr txBox="1"/>
          <p:nvPr/>
        </p:nvSpPr>
        <p:spPr>
          <a:xfrm>
            <a:off x="9098280" y="4681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Already suppressed; owned share 5% → 11%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7269480" y="5157216"/>
            <a:ext cx="329184" cy="329184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6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1900" y="5229636"/>
            <a:ext cx="184343" cy="184343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7699248" y="51389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Copycat journeys</a:t>
            </a:r>
            <a:endParaRPr lang="en-US" sz="1050" dirty="0"/>
          </a:p>
        </p:txBody>
      </p:sp>
      <p:sp>
        <p:nvSpPr>
          <p:cNvPr id="69" name="Text 55"/>
          <p:cNvSpPr txBox="1"/>
          <p:nvPr/>
        </p:nvSpPr>
        <p:spPr>
          <a:xfrm>
            <a:off x="9098280" y="51389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lead is ~480K newly engaged buyers a year</a:t>
            </a:r>
            <a:endParaRPr lang="en-US" sz="1000" dirty="0"/>
          </a:p>
        </p:txBody>
      </p:sp>
      <p:sp>
        <p:nvSpPr>
          <p:cNvPr id="70" name="Shape 56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1" name="Shape 57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73" name="Text 58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can't out-discount Shein or out-retarget Amazon; it can be the value brand whose customers are known and reachable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is ready; the lifecycle muscle must be built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I and L; team assessment of readiness; owned-channel build sized at ~$200K per lifecycle role (team estimate).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Readiness today and at month 9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74920" y="1399032"/>
            <a:ext cx="146304" cy="146304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66944" y="13533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97880" y="139903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9904" y="13533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9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1783080"/>
            <a:ext cx="6949440" cy="658368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1911096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06" y="1999610"/>
            <a:ext cx="225308" cy="22530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43000" y="18562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and identity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2112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Stitched person ID across web, app, email, SMS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526280" y="2112264"/>
            <a:ext cx="201168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480560" y="206654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83480" y="206654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0" y="206654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89320" y="206654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2066544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035040" y="2112264"/>
            <a:ext cx="50292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28232" y="2002536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925312" y="2002536"/>
            <a:ext cx="219456" cy="219456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434840" y="2221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502920" y="2551176"/>
            <a:ext cx="6949440" cy="658368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21792" y="2679192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767706"/>
            <a:ext cx="225308" cy="2253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143000" y="2624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app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143000" y="2880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tracking, restock alerts; CJA audiences to journeys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4526280" y="2880360"/>
            <a:ext cx="201168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480560" y="283464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983480" y="283464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486400" y="283464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5989320" y="283464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492240" y="2834640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029200" y="2880360"/>
            <a:ext cx="100584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5925312" y="2770632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919472" y="2770632"/>
            <a:ext cx="219456" cy="219456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434840" y="29900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+ CRM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502920" y="3319272"/>
            <a:ext cx="6949440" cy="658368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621792" y="3447288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306" y="3535802"/>
            <a:ext cx="225308" cy="225308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1143000" y="3392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 and creative</a:t>
            </a:r>
            <a:endParaRPr lang="en-US" sz="1150" dirty="0"/>
          </a:p>
        </p:txBody>
      </p:sp>
      <p:sp>
        <p:nvSpPr>
          <p:cNvPr id="48" name="Text 42"/>
          <p:cNvSpPr txBox="1"/>
          <p:nvPr/>
        </p:nvSpPr>
        <p:spPr>
          <a:xfrm>
            <a:off x="1143000" y="36484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8 lifecycle roles; creator content supply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4526280" y="3648456"/>
            <a:ext cx="201168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4480560" y="360273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4983480" y="360273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5486400" y="360273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5989320" y="360273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6492240" y="3602736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526280" y="3648456"/>
            <a:ext cx="15087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925312" y="3538728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4416552" y="3538728"/>
            <a:ext cx="219456" cy="21945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4434840" y="375818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502920" y="4087368"/>
            <a:ext cx="6949440" cy="658368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621792" y="4215384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306" y="4303898"/>
            <a:ext cx="225308" cy="22530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14300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63" name="Text 56"/>
          <p:cNvSpPr txBox="1"/>
          <p:nvPr/>
        </p:nvSpPr>
        <p:spPr>
          <a:xfrm>
            <a:off x="1143000" y="4416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Holdouts and a weekly incrementality council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4526280" y="4416552"/>
            <a:ext cx="201168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4480560" y="437083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4983480" y="437083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Shape 60"/>
          <p:cNvSpPr/>
          <p:nvPr/>
        </p:nvSpPr>
        <p:spPr>
          <a:xfrm>
            <a:off x="5486400" y="437083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Shape 61"/>
          <p:cNvSpPr/>
          <p:nvPr/>
        </p:nvSpPr>
        <p:spPr>
          <a:xfrm>
            <a:off x="5989320" y="437083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6492240" y="4370832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Shape 63"/>
          <p:cNvSpPr/>
          <p:nvPr/>
        </p:nvSpPr>
        <p:spPr>
          <a:xfrm>
            <a:off x="5029200" y="4416552"/>
            <a:ext cx="15087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71" name="Shape 64"/>
          <p:cNvSpPr/>
          <p:nvPr/>
        </p:nvSpPr>
        <p:spPr>
          <a:xfrm>
            <a:off x="6428232" y="4306824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72" name="Shape 65"/>
          <p:cNvSpPr/>
          <p:nvPr/>
        </p:nvSpPr>
        <p:spPr>
          <a:xfrm>
            <a:off x="4919472" y="4306824"/>
            <a:ext cx="219456" cy="219456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73" name="Text 66"/>
          <p:cNvSpPr txBox="1"/>
          <p:nvPr/>
        </p:nvSpPr>
        <p:spPr>
          <a:xfrm>
            <a:off x="4434840" y="4526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 of Analytics</a:t>
            </a:r>
            <a:endParaRPr lang="en-US" sz="850" dirty="0"/>
          </a:p>
        </p:txBody>
      </p:sp>
      <p:sp>
        <p:nvSpPr>
          <p:cNvPr id="74" name="Shape 67"/>
          <p:cNvSpPr/>
          <p:nvPr/>
        </p:nvSpPr>
        <p:spPr>
          <a:xfrm>
            <a:off x="502920" y="4855464"/>
            <a:ext cx="6949440" cy="658368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5" name="Shape 68"/>
          <p:cNvSpPr/>
          <p:nvPr/>
        </p:nvSpPr>
        <p:spPr>
          <a:xfrm>
            <a:off x="621792" y="498348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306" y="5071994"/>
            <a:ext cx="225308" cy="225308"/>
          </a:xfrm>
          <a:prstGeom prst="rect">
            <a:avLst/>
          </a:prstGeom>
        </p:spPr>
      </p:pic>
      <p:sp>
        <p:nvSpPr>
          <p:cNvPr id="77" name="Text 69"/>
          <p:cNvSpPr txBox="1"/>
          <p:nvPr/>
        </p:nvSpPr>
        <p:spPr>
          <a:xfrm>
            <a:off x="1143000" y="49286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Incentives</a:t>
            </a:r>
            <a:endParaRPr lang="en-US" sz="1150" dirty="0"/>
          </a:p>
        </p:txBody>
      </p:sp>
      <p:sp>
        <p:nvSpPr>
          <p:cNvPr id="78" name="Text 70"/>
          <p:cNvSpPr txBox="1"/>
          <p:nvPr/>
        </p:nvSpPr>
        <p:spPr>
          <a:xfrm>
            <a:off x="1143000" y="5184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move from ROAS to incremental revenue</a:t>
            </a:r>
            <a:endParaRPr lang="en-US" sz="950" dirty="0"/>
          </a:p>
        </p:txBody>
      </p:sp>
      <p:sp>
        <p:nvSpPr>
          <p:cNvPr id="79" name="Shape 71"/>
          <p:cNvSpPr/>
          <p:nvPr/>
        </p:nvSpPr>
        <p:spPr>
          <a:xfrm>
            <a:off x="4526280" y="5184648"/>
            <a:ext cx="201168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</p:sp>
      <p:sp>
        <p:nvSpPr>
          <p:cNvPr id="80" name="Shape 72"/>
          <p:cNvSpPr/>
          <p:nvPr/>
        </p:nvSpPr>
        <p:spPr>
          <a:xfrm>
            <a:off x="4480560" y="513892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Shape 73"/>
          <p:cNvSpPr/>
          <p:nvPr/>
        </p:nvSpPr>
        <p:spPr>
          <a:xfrm>
            <a:off x="4983480" y="513892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Shape 74"/>
          <p:cNvSpPr/>
          <p:nvPr/>
        </p:nvSpPr>
        <p:spPr>
          <a:xfrm>
            <a:off x="5486400" y="513892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Shape 75"/>
          <p:cNvSpPr/>
          <p:nvPr/>
        </p:nvSpPr>
        <p:spPr>
          <a:xfrm>
            <a:off x="5989320" y="513892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Shape 76"/>
          <p:cNvSpPr/>
          <p:nvPr/>
        </p:nvSpPr>
        <p:spPr>
          <a:xfrm>
            <a:off x="6492240" y="5138928"/>
            <a:ext cx="91440" cy="91440"/>
          </a:xfrm>
          <a:prstGeom prst="ellipse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Shape 77"/>
          <p:cNvSpPr/>
          <p:nvPr/>
        </p:nvSpPr>
        <p:spPr>
          <a:xfrm>
            <a:off x="4526280" y="5184648"/>
            <a:ext cx="15087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86" name="Shape 78"/>
          <p:cNvSpPr/>
          <p:nvPr/>
        </p:nvSpPr>
        <p:spPr>
          <a:xfrm>
            <a:off x="5925312" y="5074920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87" name="Shape 79"/>
          <p:cNvSpPr/>
          <p:nvPr/>
        </p:nvSpPr>
        <p:spPr>
          <a:xfrm>
            <a:off x="4416552" y="5074920"/>
            <a:ext cx="219456" cy="21945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88" name="Text 80"/>
          <p:cNvSpPr txBox="1"/>
          <p:nvPr/>
        </p:nvSpPr>
        <p:spPr>
          <a:xfrm>
            <a:off x="4434840" y="529437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CMO + CFO</a:t>
            </a:r>
            <a:endParaRPr lang="en-US" sz="850" dirty="0"/>
          </a:p>
        </p:txBody>
      </p:sp>
      <p:sp>
        <p:nvSpPr>
          <p:cNvPr id="89" name="Text 81"/>
          <p:cNvSpPr txBox="1"/>
          <p:nvPr/>
        </p:nvSpPr>
        <p:spPr>
          <a:xfrm>
            <a:off x="7818120" y="1325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Funded inside the $120M</a:t>
            </a:r>
            <a:endParaRPr lang="en-US" sz="1300" dirty="0"/>
          </a:p>
        </p:txBody>
      </p:sp>
      <p:sp>
        <p:nvSpPr>
          <p:cNvPr id="90" name="Text 82"/>
          <p:cNvSpPr txBox="1"/>
          <p:nvPr/>
        </p:nvSpPr>
        <p:spPr>
          <a:xfrm>
            <a:off x="7818120" y="1600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Owned-channel build moved from rented spend, $M</a:t>
            </a:r>
            <a:endParaRPr lang="en-US" sz="1000" dirty="0"/>
          </a:p>
        </p:txBody>
      </p:sp>
      <p:sp>
        <p:nvSpPr>
          <p:cNvPr id="91" name="Shape 83"/>
          <p:cNvSpPr/>
          <p:nvPr/>
        </p:nvSpPr>
        <p:spPr>
          <a:xfrm>
            <a:off x="7818120" y="2011680"/>
            <a:ext cx="1005840" cy="674827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92" name="Text 84"/>
          <p:cNvSpPr txBox="1"/>
          <p:nvPr/>
        </p:nvSpPr>
        <p:spPr>
          <a:xfrm>
            <a:off x="8915400" y="2011680"/>
            <a:ext cx="685800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$1.6M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9601200" y="2011680"/>
            <a:ext cx="2103120" cy="674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</a:t>
            </a:r>
            <a:endParaRPr lang="en-US" sz="1000" dirty="0"/>
          </a:p>
        </p:txBody>
      </p:sp>
      <p:sp>
        <p:nvSpPr>
          <p:cNvPr id="94" name="Shape 86"/>
          <p:cNvSpPr/>
          <p:nvPr/>
        </p:nvSpPr>
        <p:spPr>
          <a:xfrm>
            <a:off x="7818120" y="2713939"/>
            <a:ext cx="1005840" cy="63093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95" name="Text 87"/>
          <p:cNvSpPr txBox="1"/>
          <p:nvPr/>
        </p:nvSpPr>
        <p:spPr>
          <a:xfrm>
            <a:off x="8915400" y="2713939"/>
            <a:ext cx="685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9601200" y="2713939"/>
            <a:ext cx="210312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sends</a:t>
            </a:r>
            <a:endParaRPr lang="en-US" sz="1000" dirty="0"/>
          </a:p>
        </p:txBody>
      </p:sp>
      <p:sp>
        <p:nvSpPr>
          <p:cNvPr id="97" name="Shape 89"/>
          <p:cNvSpPr/>
          <p:nvPr/>
        </p:nvSpPr>
        <p:spPr>
          <a:xfrm>
            <a:off x="7818120" y="3372307"/>
            <a:ext cx="1005840" cy="499262"/>
          </a:xfrm>
          <a:prstGeom prst="rect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8" name="Text 90"/>
          <p:cNvSpPr txBox="1"/>
          <p:nvPr/>
        </p:nvSpPr>
        <p:spPr>
          <a:xfrm>
            <a:off x="8915400" y="3372307"/>
            <a:ext cx="6858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9601200" y="3372307"/>
            <a:ext cx="210312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App: tracking, care, alerts</a:t>
            </a:r>
            <a:endParaRPr lang="en-US" sz="1000" dirty="0"/>
          </a:p>
        </p:txBody>
      </p:sp>
      <p:sp>
        <p:nvSpPr>
          <p:cNvPr id="100" name="Shape 92"/>
          <p:cNvSpPr/>
          <p:nvPr/>
        </p:nvSpPr>
        <p:spPr>
          <a:xfrm>
            <a:off x="7818120" y="3899002"/>
            <a:ext cx="1005840" cy="499262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101" name="Text 93"/>
          <p:cNvSpPr txBox="1"/>
          <p:nvPr/>
        </p:nvSpPr>
        <p:spPr>
          <a:xfrm>
            <a:off x="8915400" y="3899002"/>
            <a:ext cx="68580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000" dirty="0"/>
          </a:p>
        </p:txBody>
      </p:sp>
      <p:sp>
        <p:nvSpPr>
          <p:cNvPr id="102" name="Text 94"/>
          <p:cNvSpPr txBox="1"/>
          <p:nvPr/>
        </p:nvSpPr>
        <p:spPr>
          <a:xfrm>
            <a:off x="9601200" y="3899002"/>
            <a:ext cx="210312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Creative</a:t>
            </a:r>
            <a:endParaRPr lang="en-US" sz="1000" dirty="0"/>
          </a:p>
        </p:txBody>
      </p:sp>
      <p:sp>
        <p:nvSpPr>
          <p:cNvPr id="103" name="Shape 95"/>
          <p:cNvSpPr/>
          <p:nvPr/>
        </p:nvSpPr>
        <p:spPr>
          <a:xfrm>
            <a:off x="7818120" y="4425696"/>
            <a:ext cx="1005840" cy="41148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04" name="Text 96"/>
          <p:cNvSpPr txBox="1"/>
          <p:nvPr/>
        </p:nvSpPr>
        <p:spPr>
          <a:xfrm>
            <a:off x="8915400" y="442569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$1.0M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9601200" y="44256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recovery, product proof</a:t>
            </a:r>
            <a:endParaRPr lang="en-US" sz="1000" dirty="0"/>
          </a:p>
        </p:txBody>
      </p:sp>
      <p:sp>
        <p:nvSpPr>
          <p:cNvPr id="106" name="Shape 98"/>
          <p:cNvSpPr/>
          <p:nvPr/>
        </p:nvSpPr>
        <p:spPr>
          <a:xfrm>
            <a:off x="7818120" y="4864608"/>
            <a:ext cx="1005840" cy="192024"/>
          </a:xfrm>
          <a:prstGeom prst="rect">
            <a:avLst/>
          </a:prstGeom>
          <a:solidFill>
            <a:srgbClr val="93C5FD"/>
          </a:solidFill>
          <a:ln w="6350">
            <a:solidFill>
              <a:srgbClr val="93C5FD"/>
            </a:solidFill>
            <a:prstDash val="solid"/>
          </a:ln>
        </p:spPr>
      </p:sp>
      <p:sp>
        <p:nvSpPr>
          <p:cNvPr id="107" name="Text 99"/>
          <p:cNvSpPr txBox="1"/>
          <p:nvPr/>
        </p:nvSpPr>
        <p:spPr>
          <a:xfrm>
            <a:off x="8915400" y="486460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9601200" y="48646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 perks</a:t>
            </a:r>
            <a:endParaRPr lang="en-US" sz="1000" dirty="0"/>
          </a:p>
        </p:txBody>
      </p:sp>
      <p:sp>
        <p:nvSpPr>
          <p:cNvPr id="109" name="Shape 101"/>
          <p:cNvSpPr/>
          <p:nvPr/>
        </p:nvSpPr>
        <p:spPr>
          <a:xfrm>
            <a:off x="7818120" y="5084064"/>
            <a:ext cx="1005840" cy="192024"/>
          </a:xfrm>
          <a:prstGeom prst="rect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0" name="Text 102"/>
          <p:cNvSpPr txBox="1"/>
          <p:nvPr/>
        </p:nvSpPr>
        <p:spPr>
          <a:xfrm>
            <a:off x="8915400" y="508406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1000" dirty="0"/>
          </a:p>
        </p:txBody>
      </p:sp>
      <p:sp>
        <p:nvSpPr>
          <p:cNvPr id="111" name="Text 103"/>
          <p:cNvSpPr txBox="1"/>
          <p:nvPr/>
        </p:nvSpPr>
        <p:spPr>
          <a:xfrm>
            <a:off x="9601200" y="508406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1000" dirty="0"/>
          </a:p>
        </p:txBody>
      </p:sp>
      <p:sp>
        <p:nvSpPr>
          <p:cNvPr id="112" name="Text 104"/>
          <p:cNvSpPr txBox="1"/>
          <p:nvPr/>
        </p:nvSpPr>
        <p:spPr>
          <a:xfrm>
            <a:off x="7818120" y="5349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$7.5M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total, $0 new budget</a:t>
            </a:r>
            <a:endParaRPr lang="en-US" sz="1200" dirty="0"/>
          </a:p>
        </p:txBody>
      </p:sp>
      <p:sp>
        <p:nvSpPr>
          <p:cNvPr id="113" name="Shape 105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14" name="Shape 106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116" name="Text 107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gap closes with money already in the budget, and the scorecard change removes the biggest blocker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scale by month nine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plan; gate thresholds from the team's strategy; timelines from case Exhibit I. Tranche 3 moves only if a holdout proves prospecting is over-credited.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7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4884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45186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72618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02920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0352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660654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M9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8086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818388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5820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1133856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M18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11612880" y="1600200"/>
            <a:ext cx="0" cy="274320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502920" y="1764792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" y="1845259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41832" y="16916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Reallocate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02920" y="2496312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387" y="257677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41832" y="2423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and pilot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502920" y="3227832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" y="3308299"/>
            <a:ext cx="204826" cy="204826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41832" y="315468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CJA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2176272" y="1737360"/>
            <a:ext cx="1522476" cy="420624"/>
          </a:xfrm>
          <a:prstGeom prst="roundRect">
            <a:avLst>
              <a:gd name="adj" fmla="val 17391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2258568" y="173736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T1: −$4M retargeting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753612" y="1737360"/>
            <a:ext cx="1522476" cy="420624"/>
          </a:xfrm>
          <a:prstGeom prst="roundRect">
            <a:avLst>
              <a:gd name="adj" fmla="val 17391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835908" y="173736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T2: −$3M search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5330952" y="1737360"/>
            <a:ext cx="1522476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35" name="Text 29"/>
          <p:cNvSpPr txBox="1"/>
          <p:nvPr/>
        </p:nvSpPr>
        <p:spPr>
          <a:xfrm>
            <a:off x="5413248" y="173736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T3: −$2M prospecting, if proven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6908292" y="1737360"/>
            <a:ext cx="4677156" cy="420624"/>
          </a:xfrm>
          <a:prstGeom prst="roundRect">
            <a:avLst>
              <a:gd name="adj" fmla="val 17391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990588" y="1737360"/>
            <a:ext cx="4549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 owned, +$1.5M creators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2176272" y="2468880"/>
            <a:ext cx="1522476" cy="420624"/>
          </a:xfrm>
          <a:prstGeom prst="roundRect">
            <a:avLst>
              <a:gd name="adj" fmla="val 17391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2258568" y="246888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 · 10% holdout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3753612" y="2468880"/>
            <a:ext cx="3099816" cy="420624"/>
          </a:xfrm>
          <a:prstGeom prst="roundRect">
            <a:avLst>
              <a:gd name="adj" fmla="val 17391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835908" y="246888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team, app tracking, journeys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6908292" y="2468880"/>
            <a:ext cx="4677156" cy="420624"/>
          </a:xfrm>
          <a:prstGeom prst="roundRect">
            <a:avLst>
              <a:gd name="adj" fmla="val 17391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990588" y="2468880"/>
            <a:ext cx="4549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rollout, Midwest wave 2, Canada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2176272" y="3200400"/>
            <a:ext cx="9409176" cy="420624"/>
          </a:xfrm>
          <a:prstGeom prst="roundRect">
            <a:avLst>
              <a:gd name="adj" fmla="val 17391"/>
            </a:avLst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2258568" y="3200400"/>
            <a:ext cx="9281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incrementality council · holdouts on every tranche · trusted read from M6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3570732" y="3931920"/>
            <a:ext cx="310896" cy="310896"/>
          </a:xfrm>
          <a:prstGeom prst="diamond">
            <a:avLst/>
          </a:prstGeom>
          <a:solidFill>
            <a:srgbClr val="D977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2674620" y="4297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1</a:t>
            </a:r>
            <a:endParaRPr lang="en-US" sz="1050" dirty="0"/>
          </a:p>
        </p:txBody>
      </p:sp>
      <p:sp>
        <p:nvSpPr>
          <p:cNvPr id="48" name="Text 42"/>
          <p:cNvSpPr txBox="1"/>
          <p:nvPr/>
        </p:nvSpPr>
        <p:spPr>
          <a:xfrm>
            <a:off x="2674620" y="45171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beats holdout by 2+ pts on 30-day repeat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6725412" y="3931920"/>
            <a:ext cx="310896" cy="310896"/>
          </a:xfrm>
          <a:prstGeom prst="diamond">
            <a:avLst/>
          </a:prstGeom>
          <a:solidFill>
            <a:srgbClr val="D9770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829300" y="4297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2</a:t>
            </a:r>
            <a:endParaRPr lang="en-US" sz="1050" dirty="0"/>
          </a:p>
        </p:txBody>
      </p:sp>
      <p:sp>
        <p:nvSpPr>
          <p:cNvPr id="51" name="Text 45"/>
          <p:cNvSpPr txBox="1"/>
          <p:nvPr/>
        </p:nvSpPr>
        <p:spPr>
          <a:xfrm>
            <a:off x="5829300" y="45171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≥ 28%, effective CAC ≤ $58</a:t>
            </a:r>
            <a:endParaRPr lang="en-US" sz="950" dirty="0"/>
          </a:p>
        </p:txBody>
      </p:sp>
      <p:sp>
        <p:nvSpPr>
          <p:cNvPr id="52" name="Shape 46"/>
          <p:cNvSpPr/>
          <p:nvPr/>
        </p:nvSpPr>
        <p:spPr>
          <a:xfrm>
            <a:off x="11457432" y="3931920"/>
            <a:ext cx="310896" cy="310896"/>
          </a:xfrm>
          <a:prstGeom prst="diamond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9582912" y="4297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050" dirty="0"/>
          </a:p>
        </p:txBody>
      </p:sp>
      <p:sp>
        <p:nvSpPr>
          <p:cNvPr id="54" name="Text 48"/>
          <p:cNvSpPr txBox="1"/>
          <p:nvPr/>
        </p:nvSpPr>
        <p:spPr>
          <a:xfrm>
            <a:off x="9582912" y="45171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≥ 30%, effective CAC ≤ $56</a:t>
            </a:r>
            <a:endParaRPr lang="en-US" sz="950" dirty="0"/>
          </a:p>
        </p:txBody>
      </p:sp>
      <p:sp>
        <p:nvSpPr>
          <p:cNvPr id="55" name="Text 49"/>
          <p:cNvSpPr txBox="1"/>
          <p:nvPr/>
        </p:nvSpPr>
        <p:spPr>
          <a:xfrm>
            <a:off x="502920" y="3986784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Pass: next tranche moves. Fail: money goes back.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502920" y="50749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67512" y="5212080"/>
            <a:ext cx="384048" cy="38404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03" y="5296571"/>
            <a:ext cx="215067" cy="215067"/>
          </a:xfrm>
          <a:prstGeom prst="rect">
            <a:avLst/>
          </a:prstGeom>
        </p:spPr>
      </p:pic>
      <p:sp>
        <p:nvSpPr>
          <p:cNvPr id="59" name="Text 52"/>
          <p:cNvSpPr txBox="1"/>
          <p:nvPr/>
        </p:nvSpPr>
        <p:spPr>
          <a:xfrm>
            <a:off x="1161288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050" dirty="0"/>
          </a:p>
        </p:txBody>
      </p:sp>
      <p:sp>
        <p:nvSpPr>
          <p:cNvPr id="60" name="Text 53"/>
          <p:cNvSpPr txBox="1"/>
          <p:nvPr/>
        </p:nvSpPr>
        <p:spPr>
          <a:xfrm>
            <a:off x="1161288" y="546811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≥ 30%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3337560" y="50749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2" name="Shape 55"/>
          <p:cNvSpPr/>
          <p:nvPr/>
        </p:nvSpPr>
        <p:spPr>
          <a:xfrm>
            <a:off x="3502152" y="5212080"/>
            <a:ext cx="384048" cy="38404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6643" y="5296571"/>
            <a:ext cx="215067" cy="215067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3995928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050" dirty="0"/>
          </a:p>
        </p:txBody>
      </p:sp>
      <p:sp>
        <p:nvSpPr>
          <p:cNvPr id="65" name="Text 57"/>
          <p:cNvSpPr txBox="1"/>
          <p:nvPr/>
        </p:nvSpPr>
        <p:spPr>
          <a:xfrm>
            <a:off x="3995928" y="546811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≤ $56</a:t>
            </a:r>
            <a:endParaRPr lang="en-US" sz="1700" dirty="0"/>
          </a:p>
        </p:txBody>
      </p:sp>
      <p:sp>
        <p:nvSpPr>
          <p:cNvPr id="66" name="Shape 58"/>
          <p:cNvSpPr/>
          <p:nvPr/>
        </p:nvSpPr>
        <p:spPr>
          <a:xfrm>
            <a:off x="6172200" y="50749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6336792" y="5212080"/>
            <a:ext cx="384048" cy="38404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1283" y="5296571"/>
            <a:ext cx="215067" cy="215067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6830568" y="5212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efficiency</a:t>
            </a:r>
            <a:endParaRPr lang="en-US" sz="1050" dirty="0"/>
          </a:p>
        </p:txBody>
      </p:sp>
      <p:sp>
        <p:nvSpPr>
          <p:cNvPr id="70" name="Text 61"/>
          <p:cNvSpPr txBox="1"/>
          <p:nvPr/>
        </p:nvSpPr>
        <p:spPr>
          <a:xfrm>
            <a:off x="6830568" y="5468112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Incremental orders per $ vs holdout</a:t>
            </a:r>
            <a:endParaRPr lang="en-US" sz="1150" dirty="0"/>
          </a:p>
        </p:txBody>
      </p:sp>
      <p:sp>
        <p:nvSpPr>
          <p:cNvPr id="71" name="Shape 62"/>
          <p:cNvSpPr/>
          <p:nvPr/>
        </p:nvSpPr>
        <p:spPr>
          <a:xfrm>
            <a:off x="9006840" y="5074920"/>
            <a:ext cx="2679192" cy="1097280"/>
          </a:xfrm>
          <a:prstGeom prst="roundRect">
            <a:avLst>
              <a:gd name="adj" fmla="val 6667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2" name="Text 63"/>
          <p:cNvSpPr txBox="1"/>
          <p:nvPr/>
        </p:nvSpPr>
        <p:spPr>
          <a:xfrm>
            <a:off x="9189720" y="517550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decision</a:t>
            </a:r>
            <a:endParaRPr lang="en-US" sz="120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T1, the South pilot and the weekly council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tree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986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986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Behavioural journey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6557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4655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to target, and when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325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403250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994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599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Repeat-rate bridge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331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reallocation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89864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28986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at stake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346557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346557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 insight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0325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4032504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5994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F94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4599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CJA screenshots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drivers explain the gap, and each maps to one lever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Adobe CJA panels A1–A6; case Exhibits D and G.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260604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517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is 90-day repeat 24% and blended CAC $62 on a fixed $120M?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06040" y="3337560"/>
            <a:ext cx="411480" cy="-152704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017520" y="1371600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27248" y="1371600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46320" y="1810512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66360" y="1371600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0352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is over-credited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Retargeted buyers repeat like organic: 23.0% vs 23.4%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0" y="1673352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601200" y="1517904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0" y="1517904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606040" y="3337560"/>
            <a:ext cx="411480" cy="-4114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017520" y="2487168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127248" y="2487168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mind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846320" y="2926080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66360" y="2487168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03520" y="2578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One-product buyers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28895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Cashmere: 40.7% of buyers, 13.7% repeat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144000" y="2788920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601200" y="2633472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01200" y="2633472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606040" y="3337560"/>
            <a:ext cx="411480" cy="70408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017520" y="3602736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1D4ED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3127248" y="3602736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journey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846320" y="4041648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166360" y="3602736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30352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purchase leaks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303520" y="40050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carts never order; 1 message per 11,610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9144000" y="3904488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3749040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601200" y="3749040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606040" y="3337560"/>
            <a:ext cx="411480" cy="1819656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017520" y="4718304"/>
            <a:ext cx="1828800" cy="877824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1D4ED8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3127248" y="4718304"/>
            <a:ext cx="1645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trust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846320" y="5157216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166360" y="4718304"/>
            <a:ext cx="3886200" cy="877824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303520" y="48097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Found, not yet trusted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303520" y="5120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after a product view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144000" y="5020056"/>
            <a:ext cx="365760" cy="274320"/>
          </a:xfrm>
          <a:prstGeom prst="right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601200" y="4864608"/>
            <a:ext cx="2084832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601200" y="4864608"/>
            <a:ext cx="20848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thread, all levers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= engaged share × engaged repeat + non-engaged share × non-engaged repeat; CAC = $120M ÷ new customers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decide whether a first buyer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panels A1, A2, A4, A5, A6 and Cohort Table;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301714" y="1874520"/>
            <a:ext cx="9585525" cy="0"/>
          </a:xfrm>
          <a:prstGeom prst="line">
            <a:avLst/>
          </a:prstGeom>
          <a:noFill/>
          <a:ln w="38100">
            <a:solidFill>
              <a:srgbClr val="BFDBF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99962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733" y="1705539"/>
            <a:ext cx="337962" cy="3379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7607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45.5% via prospecting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1191986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9436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2597549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320" y="1705539"/>
            <a:ext cx="337962" cy="33796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14622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page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17365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21023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25,227 leave here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214622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214622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Perceived risk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278957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17365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19194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Product-page proof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195137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7907" y="1705539"/>
            <a:ext cx="337962" cy="337962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374381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377124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80782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never order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74381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36" name="Text 30"/>
          <p:cNvSpPr txBox="1"/>
          <p:nvPr/>
        </p:nvSpPr>
        <p:spPr>
          <a:xfrm>
            <a:off x="374381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Unfinished task fades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4387161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377124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78953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5792724" y="1572768"/>
            <a:ext cx="603504" cy="6035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495" y="1705539"/>
            <a:ext cx="337962" cy="337962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5341402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368834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405410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27.1% vs web 22.7%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5341402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46" name="Text 39"/>
          <p:cNvSpPr txBox="1"/>
          <p:nvPr/>
        </p:nvSpPr>
        <p:spPr>
          <a:xfrm>
            <a:off x="5341402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effect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5984748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5368834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5387122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7390311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3082" y="1705539"/>
            <a:ext cx="337962" cy="337962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6938990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</a:t>
            </a:r>
            <a:endParaRPr lang="en-US" sz="1200" dirty="0"/>
          </a:p>
        </p:txBody>
      </p:sp>
      <p:sp>
        <p:nvSpPr>
          <p:cNvPr id="53" name="Shape 45"/>
          <p:cNvSpPr/>
          <p:nvPr/>
        </p:nvSpPr>
        <p:spPr>
          <a:xfrm>
            <a:off x="6966422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4" name="Text 46"/>
          <p:cNvSpPr txBox="1"/>
          <p:nvPr/>
        </p:nvSpPr>
        <p:spPr>
          <a:xfrm>
            <a:off x="7002998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24.5% engage</a:t>
            </a:r>
            <a:endParaRPr lang="en-US" sz="1050" dirty="0"/>
          </a:p>
        </p:txBody>
      </p:sp>
      <p:sp>
        <p:nvSpPr>
          <p:cNvPr id="55" name="Text 47"/>
          <p:cNvSpPr txBox="1"/>
          <p:nvPr/>
        </p:nvSpPr>
        <p:spPr>
          <a:xfrm>
            <a:off x="6938990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56" name="Text 48"/>
          <p:cNvSpPr txBox="1"/>
          <p:nvPr/>
        </p:nvSpPr>
        <p:spPr>
          <a:xfrm>
            <a:off x="6938990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Peak-end, endowment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7582335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58" name="Shape 50"/>
          <p:cNvSpPr/>
          <p:nvPr/>
        </p:nvSpPr>
        <p:spPr>
          <a:xfrm>
            <a:off x="6966422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984710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1050" dirty="0"/>
          </a:p>
        </p:txBody>
      </p:sp>
      <p:sp>
        <p:nvSpPr>
          <p:cNvPr id="60" name="Shape 52"/>
          <p:cNvSpPr/>
          <p:nvPr/>
        </p:nvSpPr>
        <p:spPr>
          <a:xfrm>
            <a:off x="8987899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670" y="1705539"/>
            <a:ext cx="337962" cy="337962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8536577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0–30</a:t>
            </a:r>
            <a:endParaRPr lang="en-US" sz="1200" dirty="0"/>
          </a:p>
        </p:txBody>
      </p:sp>
      <p:sp>
        <p:nvSpPr>
          <p:cNvPr id="63" name="Shape 54"/>
          <p:cNvSpPr/>
          <p:nvPr/>
        </p:nvSpPr>
        <p:spPr>
          <a:xfrm>
            <a:off x="8564009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8600585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Week-2 peak 5.6%</a:t>
            </a:r>
            <a:endParaRPr lang="en-US" sz="1050" dirty="0"/>
          </a:p>
        </p:txBody>
      </p:sp>
      <p:sp>
        <p:nvSpPr>
          <p:cNvPr id="65" name="Text 56"/>
          <p:cNvSpPr txBox="1"/>
          <p:nvPr/>
        </p:nvSpPr>
        <p:spPr>
          <a:xfrm>
            <a:off x="8536577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66" name="Text 57"/>
          <p:cNvSpPr txBox="1"/>
          <p:nvPr/>
        </p:nvSpPr>
        <p:spPr>
          <a:xfrm>
            <a:off x="8536577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Habit formation</a:t>
            </a:r>
            <a:endParaRPr lang="en-US" sz="1050" dirty="0"/>
          </a:p>
        </p:txBody>
      </p:sp>
      <p:sp>
        <p:nvSpPr>
          <p:cNvPr id="67" name="Shape 58"/>
          <p:cNvSpPr/>
          <p:nvPr/>
        </p:nvSpPr>
        <p:spPr>
          <a:xfrm>
            <a:off x="9179923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564009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0"/>
          <p:cNvSpPr txBox="1"/>
          <p:nvPr/>
        </p:nvSpPr>
        <p:spPr>
          <a:xfrm>
            <a:off x="8582297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050" dirty="0"/>
          </a:p>
        </p:txBody>
      </p:sp>
      <p:sp>
        <p:nvSpPr>
          <p:cNvPr id="70" name="Shape 61"/>
          <p:cNvSpPr/>
          <p:nvPr/>
        </p:nvSpPr>
        <p:spPr>
          <a:xfrm>
            <a:off x="10585486" y="1572768"/>
            <a:ext cx="603504" cy="60350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18257" y="1705539"/>
            <a:ext cx="337962" cy="337962"/>
          </a:xfrm>
          <a:prstGeom prst="rect">
            <a:avLst/>
          </a:prstGeom>
        </p:spPr>
      </p:pic>
      <p:sp>
        <p:nvSpPr>
          <p:cNvPr id="72" name="Text 62"/>
          <p:cNvSpPr txBox="1"/>
          <p:nvPr/>
        </p:nvSpPr>
        <p:spPr>
          <a:xfrm>
            <a:off x="10134165" y="2286000"/>
            <a:ext cx="15061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30–90</a:t>
            </a:r>
            <a:endParaRPr lang="en-US" sz="1200" dirty="0"/>
          </a:p>
        </p:txBody>
      </p:sp>
      <p:sp>
        <p:nvSpPr>
          <p:cNvPr id="73" name="Shape 63"/>
          <p:cNvSpPr/>
          <p:nvPr/>
        </p:nvSpPr>
        <p:spPr>
          <a:xfrm>
            <a:off x="10161597" y="2697480"/>
            <a:ext cx="1451283" cy="685800"/>
          </a:xfrm>
          <a:prstGeom prst="roundRect">
            <a:avLst>
              <a:gd name="adj" fmla="val 1066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4" name="Text 64"/>
          <p:cNvSpPr txBox="1"/>
          <p:nvPr/>
        </p:nvSpPr>
        <p:spPr>
          <a:xfrm>
            <a:off x="10198173" y="2697480"/>
            <a:ext cx="13781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13.7%</a:t>
            </a:r>
            <a:endParaRPr lang="en-US" sz="1050" dirty="0"/>
          </a:p>
        </p:txBody>
      </p:sp>
      <p:sp>
        <p:nvSpPr>
          <p:cNvPr id="75" name="Text 65"/>
          <p:cNvSpPr txBox="1"/>
          <p:nvPr/>
        </p:nvSpPr>
        <p:spPr>
          <a:xfrm>
            <a:off x="10134165" y="3566160"/>
            <a:ext cx="15061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Mechanism</a:t>
            </a:r>
            <a:endParaRPr lang="en-US" sz="850" dirty="0"/>
          </a:p>
        </p:txBody>
      </p:sp>
      <p:sp>
        <p:nvSpPr>
          <p:cNvPr id="76" name="Text 66"/>
          <p:cNvSpPr txBox="1"/>
          <p:nvPr/>
        </p:nvSpPr>
        <p:spPr>
          <a:xfrm>
            <a:off x="10134165" y="3767328"/>
            <a:ext cx="15061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Mental accounting</a:t>
            </a:r>
            <a:endParaRPr lang="en-US" sz="1050" dirty="0"/>
          </a:p>
        </p:txBody>
      </p:sp>
      <p:sp>
        <p:nvSpPr>
          <p:cNvPr id="77" name="Shape 67"/>
          <p:cNvSpPr/>
          <p:nvPr/>
        </p:nvSpPr>
        <p:spPr>
          <a:xfrm>
            <a:off x="10777510" y="4297680"/>
            <a:ext cx="219456" cy="274320"/>
          </a:xfrm>
          <a:prstGeom prst="downArrow">
            <a:avLst/>
          </a:prstGeom>
          <a:solidFill>
            <a:srgbClr val="BFDBFE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10161597" y="4663440"/>
            <a:ext cx="1451283" cy="566928"/>
          </a:xfrm>
          <a:prstGeom prst="roundRect">
            <a:avLst>
              <a:gd name="adj" fmla="val 12903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79" name="Text 69"/>
          <p:cNvSpPr txBox="1"/>
          <p:nvPr/>
        </p:nvSpPr>
        <p:spPr>
          <a:xfrm>
            <a:off x="10179885" y="4663440"/>
            <a:ext cx="14147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</a:t>
            </a:r>
            <a:endParaRPr lang="en-US" sz="1050" dirty="0"/>
          </a:p>
        </p:txBody>
      </p:sp>
      <p:sp>
        <p:nvSpPr>
          <p:cNvPr id="80" name="Shape 70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81" name="Shape 71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8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83" name="Text 72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peaks when the parcel opens: Quince asks for the relationship then, and never with a discount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first; paid only where owned can't reach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plan. Every segment is a saved CJA segment that drives both message and measurement.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11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0" y="1691640"/>
            <a:ext cx="950976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5681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60020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 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66857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1195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380330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3714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18718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3056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423453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66837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945014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588398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60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466576" y="1636776"/>
            <a:ext cx="109728" cy="10972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109960" y="1325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90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2011680"/>
            <a:ext cx="11183112" cy="1051560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0080" y="2331720"/>
            <a:ext cx="402336" cy="402336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94" y="2420234"/>
            <a:ext cx="225308" cy="2253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97280" y="201168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02920" y="320040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40080" y="3520440"/>
            <a:ext cx="402336" cy="402336"/>
          </a:xfrm>
          <a:prstGeom prst="ellipse">
            <a:avLst/>
          </a:prstGeom>
          <a:solidFill>
            <a:srgbClr val="64748B"/>
          </a:solidFill>
          <a:ln w="6350">
            <a:solidFill>
              <a:srgbClr val="64748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94" y="3608954"/>
            <a:ext cx="225308" cy="22530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097280" y="320040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02920" y="4389120"/>
            <a:ext cx="11183112" cy="1051560"/>
          </a:xfrm>
          <a:prstGeom prst="rect">
            <a:avLst/>
          </a:prstGeom>
          <a:solidFill>
            <a:srgbClr val="F8FAFC"/>
          </a:solidFill>
          <a:ln w="6350">
            <a:solidFill>
              <a:srgbClr val="F8FAFC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40080" y="4709160"/>
            <a:ext cx="402336" cy="40233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94" y="4797674"/>
            <a:ext cx="225308" cy="22530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1097280" y="438912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2011680" y="207568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2103120" y="207568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 + cart abandoners: Saved Cart</a:t>
            </a:r>
            <a:endParaRPr lang="en-US" sz="950" dirty="0"/>
          </a:p>
        </p:txBody>
      </p:sp>
      <p:sp>
        <p:nvSpPr>
          <p:cNvPr id="38" name="Shape 32"/>
          <p:cNvSpPr/>
          <p:nvPr/>
        </p:nvSpPr>
        <p:spPr>
          <a:xfrm>
            <a:off x="2201875" y="2551176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2293315" y="2551176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buyer: Passport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3913632" y="2551176"/>
            <a:ext cx="3328416" cy="4023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005072" y="255117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buyers, weeks 1–4: second category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7242048" y="2075688"/>
            <a:ext cx="2757830" cy="40233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333488" y="2075688"/>
            <a:ext cx="25749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buyers: Material Journeys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999878" y="2551176"/>
            <a:ext cx="1521562" cy="402336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0091318" y="2551176"/>
            <a:ext cx="13386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Lapsed: restock-first</a:t>
            </a:r>
            <a:endParaRPr lang="en-US" sz="950" dirty="0"/>
          </a:p>
        </p:txBody>
      </p:sp>
      <p:sp>
        <p:nvSpPr>
          <p:cNvPr id="46" name="Shape 40"/>
          <p:cNvSpPr/>
          <p:nvPr/>
        </p:nvSpPr>
        <p:spPr>
          <a:xfrm>
            <a:off x="3723437" y="3264408"/>
            <a:ext cx="1711757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3814877" y="3264408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Unreachable cart abandoners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5435194" y="3739896"/>
            <a:ext cx="3043123" cy="402336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5526634" y="3739896"/>
            <a:ext cx="28602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Non-engaged: customer-match ads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2011680" y="4453128"/>
            <a:ext cx="9509760" cy="4023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03120" y="4453128"/>
            <a:ext cx="9326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buyers and owned-reachable customers removed from paid retargeting from week 1</a:t>
            </a:r>
            <a:endParaRPr lang="en-US" sz="950" dirty="0"/>
          </a:p>
        </p:txBody>
      </p:sp>
      <p:sp>
        <p:nvSpPr>
          <p:cNvPr id="52" name="Shape 46"/>
          <p:cNvSpPr/>
          <p:nvPr/>
        </p:nvSpPr>
        <p:spPr>
          <a:xfrm>
            <a:off x="2011680" y="4928616"/>
            <a:ext cx="3423514" cy="402336"/>
          </a:xfrm>
          <a:prstGeom prst="roundRect">
            <a:avLst>
              <a:gd name="adj" fmla="val 50000"/>
            </a:avLst>
          </a:prstGeom>
          <a:solidFill>
            <a:srgbClr val="F87171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2103120" y="4928616"/>
            <a:ext cx="32406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Single-page bouncers</a:t>
            </a:r>
            <a:endParaRPr lang="en-US" sz="950" dirty="0"/>
          </a:p>
        </p:txBody>
      </p:sp>
      <p:sp>
        <p:nvSpPr>
          <p:cNvPr id="54" name="Shape 48"/>
          <p:cNvSpPr/>
          <p:nvPr/>
        </p:nvSpPr>
        <p:spPr>
          <a:xfrm>
            <a:off x="502920" y="5742432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640080" y="5833872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906292"/>
            <a:ext cx="184343" cy="184343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1097280" y="5742432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retargeting keeps one job: reaching high-intent people Quince has no other way to contact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programs, three flagships, zero discounts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strategy. Each program sits inside one lever, names one behavioural mechanism and has a KPI CJA can read.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325880"/>
            <a:ext cx="3611880" cy="43891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325880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" y="192024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60320" y="19202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Endowment, peak-end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852928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7512" y="28529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It in the App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560320" y="2852928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effect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3785616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7512" y="3785616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3785616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Unfinished task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02920" y="4718304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" y="471830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2560320" y="4718304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288536" y="1325880"/>
            <a:ext cx="3611880" cy="43891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88536" y="1325880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Golden Month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288536" y="192024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531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45936" y="19202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Mental accounting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88536" y="2542032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453128" y="25420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345936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Habit formation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288536" y="3163824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45312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Gift Ledger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345936" y="316382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Implementation intentions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288536" y="3785616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453128" y="37856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Insider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345936" y="37856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Reciprocity, status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288536" y="4407408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53128" y="44074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345936" y="44074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Cue and routine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288536" y="502920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453128" y="5029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Second Life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345936" y="50292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8074152" y="1325880"/>
            <a:ext cx="3611880" cy="43891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074152" y="1325880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074152" y="1920240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0A1F44"/>
          </a:solidFill>
          <a:ln w="9525">
            <a:solidFill>
              <a:srgbClr val="0A1F4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38744" y="192024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 Engine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0131552" y="19202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Suppression by CJA audiences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074152" y="2852928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38744" y="28529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131552" y="2852928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on repeat buyers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8074152" y="3785616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38744" y="3785616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10131552" y="3785616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proof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74152" y="4718304"/>
            <a:ext cx="3611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38744" y="4718304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Fitting Room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31552" y="4718304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by touch, test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502920" y="58338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programs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3337560" y="58338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discounts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6172200" y="58338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tests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9006840" y="58338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levers lift 90-day repeat from 24% to about 31%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E and J (baseline 24%); Adobe CJA A2/A5 for measured haircuts (app 17%, SMS 37%); new-lever sizes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31520" y="4362994"/>
            <a:ext cx="960120" cy="757646"/>
          </a:xfrm>
          <a:prstGeom prst="rect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05209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24.0%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691640" y="436299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965960" y="3908407"/>
            <a:ext cx="960120" cy="454587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3080" y="3597511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562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capture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26080" y="3908407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3200400" y="3529584"/>
            <a:ext cx="960120" cy="378823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17520" y="3218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0906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capture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60520" y="352958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4434840" y="3169702"/>
            <a:ext cx="960120" cy="359882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51960" y="285880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251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cross-sell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394960" y="316970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5669280" y="2904526"/>
            <a:ext cx="960120" cy="265176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0" y="259363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55955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journeys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629400" y="2904526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6903720" y="2828762"/>
            <a:ext cx="960120" cy="75765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20840" y="251786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79399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0" y="2828762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3" name="Shape 30"/>
          <p:cNvSpPr/>
          <p:nvPr/>
        </p:nvSpPr>
        <p:spPr>
          <a:xfrm>
            <a:off x="8138160" y="2658291"/>
            <a:ext cx="960120" cy="17047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5528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02843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Loyalist Lookalikes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9098280" y="2658291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37" name="Shape 34"/>
          <p:cNvSpPr/>
          <p:nvPr/>
        </p:nvSpPr>
        <p:spPr>
          <a:xfrm>
            <a:off x="9372600" y="2658291"/>
            <a:ext cx="960120" cy="378823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189720" y="234739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926287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Haircuts: selection bias, overlap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10332720" y="3037114"/>
            <a:ext cx="27432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10607040" y="3037114"/>
            <a:ext cx="960120" cy="208352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424160" y="272621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497312" y="5193792"/>
            <a:ext cx="1179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case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548640" y="5120640"/>
            <a:ext cx="10972800" cy="0"/>
          </a:xfrm>
          <a:prstGeom prst="line">
            <a:avLst/>
          </a:prstGeom>
          <a:noFill/>
          <a:ln w="9525">
            <a:solidFill>
              <a:srgbClr val="94A3B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29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Axis starts at 20%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6492240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0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33.0%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7790688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90688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7790688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31.0%</a:t>
            </a:r>
            <a:endParaRPr lang="en-US" sz="1500" dirty="0"/>
          </a:p>
        </p:txBody>
      </p:sp>
      <p:sp>
        <p:nvSpPr>
          <p:cNvPr id="52" name="Shape 49"/>
          <p:cNvSpPr/>
          <p:nvPr/>
        </p:nvSpPr>
        <p:spPr>
          <a:xfrm>
            <a:off x="9089136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089136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089136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29.5%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10387584" y="1371600"/>
            <a:ext cx="1225296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387584" y="1399032"/>
            <a:ext cx="12252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Downside + buffers</a:t>
            </a:r>
            <a:endParaRPr lang="en-US" sz="900" dirty="0"/>
          </a:p>
        </p:txBody>
      </p:sp>
      <p:sp>
        <p:nvSpPr>
          <p:cNvPr id="57" name="Text 54"/>
          <p:cNvSpPr txBox="1"/>
          <p:nvPr/>
        </p:nvSpPr>
        <p:spPr>
          <a:xfrm>
            <a:off x="10387584" y="1627632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30.0%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shifts from rented spend to owned channels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G (today); team plan (tranches T1–T3 gated by CJA holdouts). Brand/other holds $4M, of which $1.0M funds the Fitting Room test.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9184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99872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36448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707136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43712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9144000" y="1325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$60M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509760" y="1600200"/>
            <a:ext cx="0" cy="406908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02920" y="17830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95232" y="1965960"/>
            <a:ext cx="20726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201912" y="186537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94648" y="1865376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92640" y="17830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−$2M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4698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T3 · only if proven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414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260848" y="2624328"/>
            <a:ext cx="310896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1160" y="2523744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60264" y="2523744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92640" y="2441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−$3M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0469880" y="2441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 · after geo holdout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9981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and creators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949952" y="3282696"/>
            <a:ext cx="155448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9368" y="3182112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04816" y="3182112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692640" y="309981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10469880" y="30998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 from search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7581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328160" y="3941064"/>
            <a:ext cx="414528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2104" y="3840480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27576" y="3840480"/>
            <a:ext cx="201168" cy="201168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92640" y="3758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−$4M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10469880" y="37581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 · suppress own buyers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4165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SMS, app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3913632" y="4599432"/>
            <a:ext cx="77724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13048" y="4498848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90288" y="4498848"/>
            <a:ext cx="201168" cy="201168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692640" y="44165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469880" y="4416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+$7.5M owned build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50749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and other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3706368" y="5257800"/>
            <a:ext cx="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05784" y="5157216"/>
            <a:ext cx="201168" cy="20116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692640" y="50749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±$0M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10469880" y="5074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incl. $1.0M Fitting Room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3291840" y="5870448"/>
            <a:ext cx="164592" cy="164592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52044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4297680" y="5870448"/>
            <a:ext cx="164592" cy="16459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526280" y="58247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5760720" y="5824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 change: $0 inside the fixed $120M  ·  owned share 5% → 11%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$120M earns about $25M more contribution a year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H and J (45% contribution margin, $13.5M per 6 pts of repeat); strict CAC = $120M ÷ new customers;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15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325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 added per year, $M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1920240"/>
            <a:ext cx="2658344" cy="82296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1920240"/>
            <a:ext cx="24754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$15.8M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2816352"/>
            <a:ext cx="2658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at +7 pts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61264" y="1920240"/>
            <a:ext cx="1497421" cy="822960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8424" y="1920240"/>
            <a:ext cx="131454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$8.9M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161264" y="2816352"/>
            <a:ext cx="14974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~170K extra new customers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795845" y="1920240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$25M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3474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Lifetime margin per customer vs CAC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374904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3-year LTV × 45% margin, $; web-only vs prospecting CAC $74, others vs $62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Web-only, not subscribed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286000" y="4178808"/>
            <a:ext cx="1034261" cy="237744"/>
          </a:xfrm>
          <a:prstGeom prst="rect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11701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  ·  0.94× CAC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46451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286000" y="4709160"/>
            <a:ext cx="1901705" cy="237744"/>
          </a:xfrm>
          <a:prstGeom prst="rect">
            <a:avLst/>
          </a:prstGeom>
          <a:solidFill>
            <a:srgbClr val="60A5FA"/>
          </a:solidFill>
          <a:ln w="6350">
            <a:solidFill>
              <a:srgbClr val="60A5F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79145" y="46451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  ·  2.1× CAC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5175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2286000" y="5239512"/>
            <a:ext cx="2735786" cy="23774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13226" y="51755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  ·  3.0× CAC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CAC, measured two ways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400800" y="182880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83680" y="19385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Effective CAC (case's Exhibit J measure)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2240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~$54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41832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−12% to −14%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6400800" y="3017520"/>
            <a:ext cx="5285232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31272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new-customer CAC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58368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→ ~$57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3429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−8%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00800" y="4343400"/>
            <a:ext cx="5285232" cy="1051560"/>
          </a:xfrm>
          <a:prstGeom prst="roundRect">
            <a:avLst>
              <a:gd name="adj" fmla="val 6957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583680" y="43434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Converting one web-only buyer into an app user is worth about $115 of margin, almost two new-customer CACs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click undervalues owned channels about three times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Attribution IQ, Order Revenue ($337,044), Marketing Channel, Person container, 90-day lookback,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01752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584448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858768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4425696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700016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266944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541264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6108192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82512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6949440" y="1325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50%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223760" y="1600200"/>
            <a:ext cx="0" cy="420624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21" name="Text 18"/>
          <p:cNvSpPr txBox="1"/>
          <p:nvPr/>
        </p:nvSpPr>
        <p:spPr>
          <a:xfrm>
            <a:off x="594360" y="1737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508699" y="1920240"/>
            <a:ext cx="353324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17259" y="182880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70583" y="1828800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026615" y="17373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41.5% → 45.7%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22494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Organic, direct, SEO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363517" y="2432304"/>
            <a:ext cx="6730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2077" y="234086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39377" y="2340864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95409" y="224942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 → 16.8%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2761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102730" y="2944368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011290" y="285292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112240" y="2852928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68272" y="276148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14.1%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327355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94317" y="3456432"/>
            <a:ext cx="75712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02877" y="3364992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078590" y="3364992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34622" y="327355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13.7%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785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Influencer, affiliate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035430" y="3968496"/>
            <a:ext cx="100950" cy="0"/>
          </a:xfrm>
          <a:prstGeom prst="line">
            <a:avLst/>
          </a:prstGeom>
          <a:noFill/>
          <a:ln w="38100">
            <a:solidFill>
              <a:srgbClr val="94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943990" y="3877056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044940" y="3877056"/>
            <a:ext cx="182880" cy="18288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300972" y="3785616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 → 13.3%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502920" y="4261104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94360" y="42976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3244657" y="4480560"/>
            <a:ext cx="504749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3153217" y="4389120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657966" y="4389120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913998" y="4297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 → 8.7%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02920" y="4773168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94360" y="48097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3076407" y="4992624"/>
            <a:ext cx="22713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2984967" y="4901184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212104" y="4901184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468136" y="48097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3.4%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02920" y="5285232"/>
            <a:ext cx="7726680" cy="438912"/>
          </a:xfrm>
          <a:prstGeom prst="rect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94360" y="5321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push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3135295" y="5504688"/>
            <a:ext cx="126187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43855" y="5413248"/>
            <a:ext cx="182880" cy="182880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170042" y="5413248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426074" y="5321808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1.4% → 2.9%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3017520" y="5943600"/>
            <a:ext cx="146304" cy="146304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3218688" y="5897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touch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4206240" y="5943600"/>
            <a:ext cx="146304" cy="14630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407408" y="5897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Participation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8595360" y="173736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8778240" y="182880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 → 15.0%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channels: last-touch credit vs share of revenue they take part in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8595360" y="3749040"/>
            <a:ext cx="309067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778240" y="38404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 → 12.4%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barely moves from last to first touch, so its cut rests on holdouts, not attribution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each with a mitigation and an early warning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case section 7 risk matrix. Positions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1097280" y="146304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749040" y="146304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97280" y="278892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3160" y="278892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49040" y="2788920"/>
            <a:ext cx="1289304" cy="1289304"/>
          </a:xfrm>
          <a:prstGeom prst="rect">
            <a:avLst/>
          </a:prstGeom>
          <a:solidFill>
            <a:srgbClr val="FDE2E2"/>
          </a:solidFill>
          <a:ln w="6350">
            <a:solidFill>
              <a:srgbClr val="FDE2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23160" y="4114800"/>
            <a:ext cx="1289304" cy="1289304"/>
          </a:xfrm>
          <a:prstGeom prst="rect">
            <a:avLst/>
          </a:prstGeom>
          <a:solidFill>
            <a:srgbClr val="E8F5EC"/>
          </a:solidFill>
          <a:ln w="6350">
            <a:solidFill>
              <a:srgbClr val="E8F5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49040" y="4114800"/>
            <a:ext cx="1289304" cy="1289304"/>
          </a:xfrm>
          <a:prstGeom prst="rect">
            <a:avLst/>
          </a:prstGeom>
          <a:solidFill>
            <a:srgbClr val="FEF3C7"/>
          </a:solidFill>
          <a:ln w="635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7280" y="548640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Likelihood →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 rot="16200000">
            <a:off x="-731520" y="33238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97764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776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97764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97764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651760" y="324612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651760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2651760" y="192024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65176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65176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65176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977640" y="4572000"/>
            <a:ext cx="402336" cy="402336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9776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157276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0" y="1463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Selection bias inflates lift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Randomized 10% holdout; A5 haircut built in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669280" y="2240280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69280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126480" y="21305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 owners resist cuts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126480" y="2423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move to incremental revenue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669280" y="2907792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6126480" y="27980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Message fatigue, unsubscribes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126480" y="3090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Fewer, triggered sends; guardrail pauses tranche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669280" y="3575304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669280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126480" y="34655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and privacy (TCPA, CCPA)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6126480" y="3758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Transactional and marketing consent split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5669280" y="4242816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66928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126480" y="4133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Fitting Room doesn't pay back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6126480" y="44256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One-season test; stops if it loses to Passport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669280" y="4910328"/>
            <a:ext cx="329184" cy="329184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0" y="4910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6126480" y="48006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or signal shock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6126480" y="5093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share 5% → 11%; suppression by lists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Fallout: 77% of people who add to cart never order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Fallout visualization, Quince case data view,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95844" y="1289304"/>
            <a:ext cx="659726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20" y="1325880"/>
            <a:ext cx="652411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 (A1): 60,000 → 2,592 buyers; 69% leave after a product view and 77% of cart adders never order, so recovery is new money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assist far more than they close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Attribution panel, Order Revenue across Marketing Channel, Last Touch, First Touch, Linear, Participation, 90-day lookback; total Order Revenue $337,044.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19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370052"/>
            <a:ext cx="11256264" cy="407217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06628"/>
            <a:ext cx="11183112" cy="39990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take part in 15.0% of revenue but get 4.8% on last touch; paid channels barely move between models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engaged buyers return 2.7× faster in week two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Cohort Table, inclusion and return Orders ≥ 1, weekly,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20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4078"/>
            <a:ext cx="5454396" cy="36098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buyers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464078"/>
            <a:ext cx="5454396" cy="36098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(inclusion segment)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week-2 return is 5.6% for engaged buyers vs 2.1% for all buyers; half of engaged returns land in weeks 1–4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Flow: almost no message follows an abandoned cart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Flow from add_to_cart, Person container,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21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9013" y="1289304"/>
            <a:ext cx="1075092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89" y="1325880"/>
            <a:ext cx="1067777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(A4): 11,610 add-to-cart paths; 6,088 go to checkout, 1 is followed by an email, the rest end with no message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engagement after order one drives repeat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freeform tables with engagement segments and sequential segments,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2293173"/>
            <a:ext cx="5527548" cy="195161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0" name="Image 1" descr="/tmp/claude-0/-home-user-Quince/7efe80ae-a049-50c2-9886-98bf7ca3a04a/scratchpad/assets/cja_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9749"/>
            <a:ext cx="5454396" cy="18784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by engagement (A2)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2286317"/>
            <a:ext cx="5527548" cy="196532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pic>
        <p:nvPicPr>
          <p:cNvPr id="13" name="Image 2" descr="/tmp/claude-0/-home-user-Quince/7efe80ae-a049-50c2-9886-98bf7ca3a04a/scratchpad/assets/cja_a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2322893"/>
            <a:ext cx="5454396" cy="189217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after order one (A5)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engaged buyers are 24.5% of buyers but 66% of repeaters (A2); after order one, 57 of 265 app users and 37 of 315 SMS users repeat (A5)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 the Second Purchase</dc:title>
  <dc:subject>PptxGenJS Presentation</dc:subject>
  <dc:creator>Team G27</dc:creator>
  <cp:lastModifiedBy>Team G27</cp:lastModifiedBy>
  <cp:revision>1</cp:revision>
  <dcterms:created xsi:type="dcterms:W3CDTF">2026-10-17T10:59:37Z</dcterms:created>
  <dcterms:modified xsi:type="dcterms:W3CDTF">2026-10-17T10:59:37Z</dcterms:modified>
</cp:coreProperties>
</file>