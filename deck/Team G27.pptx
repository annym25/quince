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case: Quince sells premium basics far below branded prices, straight from its factories, and grew on viral social moments. The problem: those first buyers don't come back. Repeat is 24% against 30 to 35% for peers, and CAC rose from $48 to $62 while 60% of the budget rents reach from social platforms. The question: with the same $120M, no price cuts and CJA as evidence, lift repeat 6 points and cut CAC 10%. Our answer blends the three options. Lever 1 captures every buyer into a channel Quince owns; lever 2 wins the first month with care and a second category; lever 3 stops paying for ads that reach buyers Quince can already message. It needs no new money and meets all three constraints. The next slides prove it: the market, the customer data in CJA, the competition, Quince's capabilities and the 90-day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Market: the category is big and moving online, and customers expect to be recognised. Four forces raise the cost of renting reach. Signal loss: only 35 to 50% of iOS users allow tracking, so retargeting sees and proves less. Platforms automate targeting and TikTok's US ownership changed. Reach costs more: Meta's price per ad rose 12% year on year in Q2 2026. Consumers are cautious, with sentiment at a record low. The industry's answer is first-party data, experiments and personalization. Quince is exposed: 60% of its budget is rented social reach, its retargeting is templated, CAC rose 29% and repeat is below peers.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Customer, all from CJA. 69% of product viewers never add to cart, and 77% of cart adders never order; only one of 11,610 cart paths is followed next by an email. Buyers who engage with email, SMS or the app repeat at 28.1% versus 4.7%; after order one, app users still repeat 21.5%. Repeat orders peak in week 2, and cashmere, touched by 41% of buyers, repeats least. Yet the budget points the other way: 60% is rented from social platforms and 5% goes to channels Quince owns.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Competition, with outside evidence. Amazon's ad business grew 26% to $19.8 billion last quarter: Quince can't win a paid-retargeting auction against it. Shein is the number-two shopping app worldwide, cut US ad spend after the de minimis loophole closed, and is buying Everlane. Everlane shows owned email alone is no moat. Uniqlo and Tapestry use data at scale to win and keep young buyers. Williams-Sonoma both runs a cross-brand loyalty program and sued Quince over dupe comparisons; the case was dismissed but can be refiled, so Quince must earn trust through proof, not comparisons. Cuyana is the closest model. Quince's move: keep its M2C price and build an owned relationship, straight up the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Capabilities: the data is ready, because CJA already stitches one person across channels. Three gaps decide execution. Activation: CJA analyses audiences, but pushing them to ad platforms and journeys needs an activation layer. Lifecycle and creative capacity: email is built for batch-and-blast, so Option A's $2 to 3M from inside the owned line funds the team and creative. Coordination: CJA is new, so growth and analytics meet weekly around one holdout rule. The app and shipping-event feeds are partly there and need confirming.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90-day pilot, lever by lever. Lever 1, capture every buyer, runs on SMS at checkout, app order tracking and email reminders: we split consent, build the abandoner segment in CJA and print Passport cards, then launch and measure cart recovery and opt-ins. Lever 2, the golden month, runs on shipping events fed into CJA and Journey Optimizer, sending a care guide at delivery and a second category by day 21; we measure 30-day repeat. Both are paid from Option A's $2 to 3M inside the existing $6M owned line. Lever 3, never pay twice, turns CJA audiences into daily suppression lists through Real-Time CDP for Meta, Google and TikTok, inside the $14M retargeting line at no extra cost. Seven of the 14 programs start in the pilot; the other seven wait for the holdout. Then the money moves from rented to owned in three gated steps. After day 90, retargeting spend on buyers Quince can already reach moves to owned: up to $3.4 million, which is 24.5% of the $14 million line. In months 4 to 6, a South geo test on branded search, about $6.2 million of the $22 million line; in months 7 to 9, a South test on prospecting, about $16.2 million of the $58 million line. Each step moves only what its holdout proves, so the money follows the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image" Target="../media/image-3-9.png"/><Relationship Id="rId10" Type="http://schemas.openxmlformats.org/officeDocument/2006/relationships/slideLayout" Target="../slideLayouts/slideLayout1.xml"/><Relationship Id="rId11"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1.png"/><Relationship Id="rId10" Type="http://schemas.openxmlformats.org/officeDocument/2006/relationships/image" Target="../media/image-5-2.png"/><Relationship Id="rId11" Type="http://schemas.openxmlformats.org/officeDocument/2006/relationships/image" Target="../media/image-5-4.png"/><Relationship Id="rId12" Type="http://schemas.openxmlformats.org/officeDocument/2006/relationships/image" Target="../media/image-5-5.png"/><Relationship Id="rId13" Type="http://schemas.openxmlformats.org/officeDocument/2006/relationships/image" Target="../media/image-5-3.png"/><Relationship Id="rId14" Type="http://schemas.openxmlformats.org/officeDocument/2006/relationships/image" Target="../media/image-5-6.png"/><Relationship Id="rId15" Type="http://schemas.openxmlformats.org/officeDocument/2006/relationships/image" Target="../media/image-5-7.png"/><Relationship Id="rId16" Type="http://schemas.openxmlformats.org/officeDocument/2006/relationships/slideLayout" Target="../slideLayouts/slideLayout1.xml"/><Relationship Id="rId1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image" Target="../media/image-7-8.png"/><Relationship Id="rId9" Type="http://schemas.openxmlformats.org/officeDocument/2006/relationships/image" Target="../media/image-7-9.png"/><Relationship Id="rId10" Type="http://schemas.openxmlformats.org/officeDocument/2006/relationships/image" Target="../media/image-7-10.png"/><Relationship Id="rId11" Type="http://schemas.openxmlformats.org/officeDocument/2006/relationships/slideLayout" Target="../slideLayouts/slideLayout1.xml"/><Relationship Id="rId1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image" Target="../media/image-14-7.png"/><Relationship Id="rId8" Type="http://schemas.openxmlformats.org/officeDocument/2006/relationships/image" Target="../media/image-14-8.png"/><Relationship Id="rId9" Type="http://schemas.openxmlformats.org/officeDocument/2006/relationships/slideLayout" Target="../slideLayouts/slideLayout1.xml"/><Relationship Id="rId10"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image" Target="../media/image-16-8.png"/><Relationship Id="rId9" Type="http://schemas.openxmlformats.org/officeDocument/2006/relationships/image" Target="../media/image-16-9.png"/><Relationship Id="rId10" Type="http://schemas.openxmlformats.org/officeDocument/2006/relationships/slideLayout" Target="../slideLayouts/slideLayout1.xml"/><Relationship Id="rId11"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image" Target="../media/image-17-7.png"/><Relationship Id="rId8" Type="http://schemas.openxmlformats.org/officeDocument/2006/relationships/image" Target="../media/image-17-8.png"/><Relationship Id="rId9" Type="http://schemas.openxmlformats.org/officeDocument/2006/relationships/image" Target="../media/image-17-9.png"/><Relationship Id="rId10" Type="http://schemas.openxmlformats.org/officeDocument/2006/relationships/image" Target="../media/image-17-10.png"/><Relationship Id="rId11" Type="http://schemas.openxmlformats.org/officeDocument/2006/relationships/image" Target="../media/image-17-11.png"/><Relationship Id="rId12" Type="http://schemas.openxmlformats.org/officeDocument/2006/relationships/slideLayout" Target="../slideLayouts/slideLayout1.xml"/><Relationship Id="rId1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slideLayout" Target="../slideLayouts/slideLayout1.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image" Target="../media/image-24-7.png"/><Relationship Id="rId8" Type="http://schemas.openxmlformats.org/officeDocument/2006/relationships/slideLayout" Target="../slideLayouts/slideLayout1.xml"/><Relationship Id="rId9"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2" Type="http://schemas.openxmlformats.org/officeDocument/2006/relationships/hyperlink" Target="https://experienceleague.adobe.com/en/docs/analytics-platform/using/cja-components/audiences/audiences-overview" TargetMode="External"/><Relationship Id="rId3" Type="http://schemas.openxmlformats.org/officeDocument/2006/relationships/hyperlink" Target="https://www.michiganpublic.org/2026-05-22/shein-buys-everlane-which-sold-millennials-the-dream-of-ethical-affordable-luxury" TargetMode="External"/><Relationship Id="rId4" Type="http://schemas.openxmlformats.org/officeDocument/2006/relationships/hyperlink" Target="https://doi.org/10.1287/mksc.2018.1135" TargetMode="External"/><Relationship Id="rId5" Type="http://schemas.openxmlformats.org/officeDocument/2006/relationships/hyperlink" Target="https://doi.org/10.3982/ECTA12423" TargetMode="External"/><Relationship Id="rId6" Type="http://schemas.openxmlformats.org/officeDocument/2006/relationships/hyperlink" Target="https://www.adjust.com/blog/att-opt-in-rates-2025" TargetMode="External"/><Relationship Id="rId7" Type="http://schemas.openxmlformats.org/officeDocument/2006/relationships/hyperlink" Target="https://www.appsflyer.com/company/newsroom/pr/post-att-growth-2/" TargetMode="External"/><Relationship Id="rId8" Type="http://schemas.openxmlformats.org/officeDocument/2006/relationships/hyperlink" Target="https://www.adweek.com/?p=1954104" TargetMode="External"/><Relationship Id="rId9" Type="http://schemas.openxmlformats.org/officeDocument/2006/relationships/hyperlink" Target="https://www.jonloomer.com/advantage-plus-campaign-setup-targeting/" TargetMode="External"/><Relationship Id="rId10" Type="http://schemas.openxmlformats.org/officeDocument/2006/relationships/hyperlink" Target="https://www.theregister.com/2026/01/23/jv_announces_tiktok_us_acquisition/" TargetMode="External"/><Relationship Id="rId11" Type="http://schemas.openxmlformats.org/officeDocument/2006/relationships/hyperlink" Target="https://www.sca.isr.umich.edu/" TargetMode="External"/><Relationship Id="rId12" Type="http://schemas.openxmlformats.org/officeDocument/2006/relationships/hyperlink" Target="https://www.ecotextile.com/?p=63440" TargetMode="External"/><Relationship Id="rId13" Type="http://schemas.openxmlformats.org/officeDocument/2006/relationships/hyperlink" Target="https://ppc.land/amazon-advertising-gains-26-to-19-8-billion-as-sports-inventory-sells-out/" TargetMode="External"/><Relationship Id="rId14" Type="http://schemas.openxmlformats.org/officeDocument/2006/relationships/hyperlink" Target="https://www.nbcnews.com/business/business-news/shein-temu-see-us-demand-plunge-loophole-cheap-goods-closes-rcna211130" TargetMode="External"/><Relationship Id="rId15" Type="http://schemas.openxmlformats.org/officeDocument/2006/relationships/hyperlink" Target="https://news.bloomberglaw.com/mergers-and-acquisitions/e-commerce-giant-shein-buys-apparel-brand-everlane-reports-say" TargetMode="External"/><Relationship Id="rId16" Type="http://schemas.openxmlformats.org/officeDocument/2006/relationships/hyperlink" Target="https://fashionunited.com/news/business/uniqlos-global-expansion-drives-strong-financial-results-for-fast-retailing/2025100968631" TargetMode="External"/><Relationship Id="rId17" Type="http://schemas.openxmlformats.org/officeDocument/2006/relationships/hyperlink" Target="https://www.businesswire.com/news/home/20250814893486/en" TargetMode="External"/><Relationship Id="rId18" Type="http://schemas.openxmlformats.org/officeDocument/2006/relationships/hyperlink" Target="https://www.thefashionlaw.com/quince-beats-williams-sonoma-false-advertising-claims-over-product-comparisons/" TargetMode="External"/><Relationship Id="rId19" Type="http://schemas.openxmlformats.org/officeDocument/2006/relationships/hyperlink" Target="https://fred.stlouisfed.org/series/ECOMPCTSA" TargetMode="External"/><Relationship Id="rId20" Type="http://schemas.openxmlformats.org/officeDocument/2006/relationships/hyperlink" Target="https://www.mckinsey.com/business-functions/growth-marketing-and-sales/our-insights/the-value-of-getting-personalization-right-or-wrong-is-multiplying" TargetMode="External"/><Relationship Id="rId1" Type="http://schemas.openxmlformats.org/officeDocument/2006/relationships/image" Target="../media/image-27-1.png"/><Relationship Id="rId21" Type="http://schemas.openxmlformats.org/officeDocument/2006/relationships/slideLayout" Target="../slideLayouts/slideLayout1.xml"/><Relationship Id="rId22"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tmp/claude-0/-home-user-Quince/7efe80ae-a049-50c2-9886-98bf7ca3a04a/scratchpad/assets/quince_white.png">    </p:cNvPr>
          <p:cNvPicPr>
            <a:picLocks noChangeAspect="1"/>
          </p:cNvPicPr>
          <p:nvPr/>
        </p:nvPicPr>
        <p:blipFill>
          <a:blip r:embed="rId2"/>
          <a:stretch>
            <a:fillRect/>
          </a:stretch>
        </p:blipFill>
        <p:spPr>
          <a:xfrm>
            <a:off x="548640" y="572434"/>
            <a:ext cx="1188720" cy="354749"/>
          </a:xfrm>
          <a:prstGeom prst="rect">
            <a:avLst/>
          </a:prstGeom>
        </p:spPr>
      </p:pic>
      <p:sp>
        <p:nvSpPr>
          <p:cNvPr id="3" name="Text 0"/>
          <p:cNvSpPr txBox="1"/>
          <p:nvPr/>
        </p:nvSpPr>
        <p:spPr>
          <a:xfrm>
            <a:off x="9875520" y="566928"/>
            <a:ext cx="1828800" cy="365760"/>
          </a:xfrm>
          <a:prstGeom prst="rect">
            <a:avLst/>
          </a:prstGeom>
          <a:noFill/>
          <a:ln/>
        </p:spPr>
        <p:txBody>
          <a:bodyPr wrap="square" lIns="0" tIns="0" rIns="0" bIns="0" rtlCol="0" anchor="ctr"/>
          <a:lstStyle/>
          <a:p>
            <a:pPr algn="r" indent="0" marL="0">
              <a:buNone/>
            </a:pPr>
            <a:r>
              <a:rPr lang="en-US" sz="1300" b="1" dirty="0">
                <a:solidFill>
                  <a:srgbClr val="FFFFFF"/>
                </a:solidFill>
                <a:latin typeface="Inter" pitchFamily="34" charset="0"/>
                <a:ea typeface="Inter" pitchFamily="34" charset="-122"/>
                <a:cs typeface="Inter" pitchFamily="34" charset="-120"/>
              </a:rPr>
              <a:t>Team G27</a:t>
            </a:r>
            <a:endParaRPr lang="en-US" sz="1300" dirty="0"/>
          </a:p>
        </p:txBody>
      </p:sp>
      <p:sp>
        <p:nvSpPr>
          <p:cNvPr id="4" name="Text 1"/>
          <p:cNvSpPr txBox="1"/>
          <p:nvPr/>
        </p:nvSpPr>
        <p:spPr>
          <a:xfrm>
            <a:off x="640080" y="2331720"/>
            <a:ext cx="10515600" cy="1005840"/>
          </a:xfrm>
          <a:prstGeom prst="rect">
            <a:avLst/>
          </a:prstGeom>
          <a:noFill/>
          <a:ln/>
        </p:spPr>
        <p:txBody>
          <a:bodyPr wrap="square" lIns="0" tIns="0" rIns="0" bIns="0" rtlCol="0" anchor="ctr"/>
          <a:lstStyle/>
          <a:p>
            <a:pPr indent="0" marL="0">
              <a:buNone/>
            </a:pPr>
            <a:r>
              <a:rPr lang="en-US" sz="5000" b="1" dirty="0">
                <a:solidFill>
                  <a:srgbClr val="FFFFFF"/>
                </a:solidFill>
                <a:latin typeface="Inter" pitchFamily="34" charset="0"/>
                <a:ea typeface="Inter" pitchFamily="34" charset="-122"/>
                <a:cs typeface="Inter" pitchFamily="34" charset="-120"/>
              </a:rPr>
              <a:t>Own the Second Purchase</a:t>
            </a:r>
            <a:endParaRPr lang="en-US" sz="5000" dirty="0"/>
          </a:p>
        </p:txBody>
      </p:sp>
      <p:sp>
        <p:nvSpPr>
          <p:cNvPr id="5" name="Text 2"/>
          <p:cNvSpPr txBox="1"/>
          <p:nvPr/>
        </p:nvSpPr>
        <p:spPr>
          <a:xfrm>
            <a:off x="640080" y="3429000"/>
            <a:ext cx="10058400" cy="868680"/>
          </a:xfrm>
          <a:prstGeom prst="rect">
            <a:avLst/>
          </a:prstGeom>
          <a:noFill/>
          <a:ln/>
        </p:spPr>
        <p:txBody>
          <a:bodyPr wrap="square" lIns="0" tIns="0" rIns="0" bIns="0" rtlCol="0" anchor="t"/>
          <a:lstStyle/>
          <a:p>
            <a:pPr indent="0" marL="0">
              <a:buNone/>
            </a:pPr>
            <a:r>
              <a:rPr lang="en-US" sz="2000" dirty="0">
                <a:solidFill>
                  <a:srgbClr val="C7D7F5"/>
                </a:solidFill>
                <a:latin typeface="Inter" pitchFamily="34" charset="0"/>
                <a:ea typeface="Inter" pitchFamily="34" charset="-122"/>
                <a:cs typeface="Inter" pitchFamily="34" charset="-120"/>
              </a:rPr>
              <a:t>Turning viral first buyers into repeat customers, inside the same $120M</a:t>
            </a:r>
            <a:endParaRPr lang="en-US" sz="2000" dirty="0"/>
          </a:p>
        </p:txBody>
      </p:sp>
      <p:sp>
        <p:nvSpPr>
          <p:cNvPr id="6" name="Text 3"/>
          <p:cNvSpPr txBox="1"/>
          <p:nvPr/>
        </p:nvSpPr>
        <p:spPr>
          <a:xfrm>
            <a:off x="640080" y="5806440"/>
            <a:ext cx="8229600" cy="274320"/>
          </a:xfrm>
          <a:prstGeom prst="rect">
            <a:avLst/>
          </a:prstGeom>
          <a:noFill/>
          <a:ln/>
        </p:spPr>
        <p:txBody>
          <a:bodyPr wrap="square" lIns="0" tIns="0" rIns="0" bIns="0" rtlCol="0" anchor="t"/>
          <a:lstStyle/>
          <a:p>
            <a:pPr indent="0" marL="0">
              <a:buNone/>
            </a:pPr>
            <a:r>
              <a:rPr lang="en-US" sz="1100" dirty="0">
                <a:solidFill>
                  <a:srgbClr val="AFC4EE"/>
                </a:solidFill>
                <a:latin typeface="Inter" pitchFamily="34" charset="0"/>
                <a:ea typeface="Inter" pitchFamily="34" charset="-122"/>
                <a:cs typeface="Inter" pitchFamily="34" charset="-120"/>
              </a:rPr>
              <a:t>Retargeting and lifecycle strategy  ·  Grounded in Adobe Customer Journey Analytics</a:t>
            </a:r>
            <a:endParaRPr lang="en-US" sz="1100" dirty="0"/>
          </a:p>
        </p:txBody>
      </p:sp>
      <p:sp>
        <p:nvSpPr>
          <p:cNvPr id="7" name="Text 4"/>
          <p:cNvSpPr txBox="1"/>
          <p:nvPr/>
        </p:nvSpPr>
        <p:spPr>
          <a:xfrm>
            <a:off x="640080" y="6108192"/>
            <a:ext cx="8229600" cy="274320"/>
          </a:xfrm>
          <a:prstGeom prst="rect">
            <a:avLst/>
          </a:prstGeom>
          <a:noFill/>
          <a:ln/>
        </p:spPr>
        <p:txBody>
          <a:bodyPr wrap="square" lIns="0" tIns="0" rIns="0" bIns="0" rtlCol="0" anchor="t"/>
          <a:lstStyle/>
          <a:p>
            <a:pPr indent="0" marL="0">
              <a:buNone/>
            </a:pPr>
            <a:r>
              <a:rPr lang="en-US" sz="1100" dirty="0">
                <a:solidFill>
                  <a:srgbClr val="AFC4EE"/>
                </a:solidFill>
                <a:latin typeface="Inter" pitchFamily="34" charset="0"/>
                <a:ea typeface="Inter" pitchFamily="34" charset="-122"/>
                <a:cs typeface="Inter" pitchFamily="34" charset="-120"/>
              </a:rPr>
              <a:t>Case Competition World Cup  ·  Graduate Track  ·  October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9326880" cy="841248"/>
          </a:xfrm>
          <a:prstGeom prst="rect">
            <a:avLst/>
          </a:prstGeom>
          <a:noFill/>
          <a:ln/>
        </p:spPr>
        <p:txBody>
          <a:bodyPr wrap="square" lIns="0" tIns="0" rIns="0" bIns="0" rtlCol="0" anchor="ctr"/>
          <a:lstStyle/>
          <a:p>
            <a:pPr indent="0" marL="0">
              <a:buNone/>
            </a:pPr>
            <a:r>
              <a:rPr lang="en-US" sz="2400" b="1" dirty="0">
                <a:solidFill>
                  <a:srgbClr val="0A1F44"/>
                </a:solidFill>
                <a:latin typeface="Inter" pitchFamily="34" charset="0"/>
                <a:ea typeface="Inter" pitchFamily="34" charset="-122"/>
                <a:cs typeface="Inter" pitchFamily="34" charset="-120"/>
              </a:rPr>
              <a:t>Win the second purchase inside the same $120M</a:t>
            </a:r>
            <a:endParaRPr lang="en-US" sz="2400" dirty="0"/>
          </a:p>
        </p:txBody>
      </p:sp>
      <p:pic>
        <p:nvPicPr>
          <p:cNvPr id="3" name="Image 0" descr="/tmp/claude-0/-home-user-Quince/7efe80ae-a049-50c2-9886-98bf7ca3a04a/scratchpad/assets/quince.png">    </p:cNvPr>
          <p:cNvPicPr>
            <a:picLocks noChangeAspect="1"/>
          </p:cNvPicPr>
          <p:nvPr/>
        </p:nvPicPr>
        <p:blipFill>
          <a:blip r:embed="rId1"/>
          <a:stretch>
            <a:fillRect/>
          </a:stretch>
        </p:blipFill>
        <p:spPr>
          <a:xfrm>
            <a:off x="10236708" y="615544"/>
            <a:ext cx="777240" cy="231951"/>
          </a:xfrm>
          <a:prstGeom prst="rect">
            <a:avLst/>
          </a:prstGeom>
        </p:spPr>
      </p:pic>
      <p:sp>
        <p:nvSpPr>
          <p:cNvPr id="4" name="Shape 1"/>
          <p:cNvSpPr/>
          <p:nvPr/>
        </p:nvSpPr>
        <p:spPr>
          <a:xfrm>
            <a:off x="11155680" y="603504"/>
            <a:ext cx="530352" cy="256032"/>
          </a:xfrm>
          <a:prstGeom prst="roundRect">
            <a:avLst>
              <a:gd name="adj" fmla="val 50000"/>
            </a:avLst>
          </a:prstGeom>
          <a:solidFill>
            <a:srgbClr val="0A1F44"/>
          </a:solidFill>
          <a:ln w="6350">
            <a:solidFill>
              <a:srgbClr val="0A1F44"/>
            </a:solidFill>
            <a:prstDash val="solid"/>
          </a:ln>
        </p:spPr>
      </p:sp>
      <p:sp>
        <p:nvSpPr>
          <p:cNvPr id="5" name="Text 2"/>
          <p:cNvSpPr txBox="1"/>
          <p:nvPr/>
        </p:nvSpPr>
        <p:spPr>
          <a:xfrm>
            <a:off x="11155680" y="603504"/>
            <a:ext cx="530352"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Inter" pitchFamily="34" charset="0"/>
                <a:ea typeface="Inter" pitchFamily="34" charset="-122"/>
                <a:cs typeface="Inter" pitchFamily="34" charset="-120"/>
              </a:rPr>
              <a:t>G27</a:t>
            </a:r>
            <a:endParaRPr lang="en-US" sz="950" dirty="0"/>
          </a:p>
        </p:txBody>
      </p:sp>
      <p:sp>
        <p:nvSpPr>
          <p:cNvPr id="6" name="Shape 3"/>
          <p:cNvSpPr/>
          <p:nvPr/>
        </p:nvSpPr>
        <p:spPr>
          <a:xfrm>
            <a:off x="502920" y="6400800"/>
            <a:ext cx="11183112" cy="0"/>
          </a:xfrm>
          <a:prstGeom prst="line">
            <a:avLst/>
          </a:prstGeom>
          <a:noFill/>
          <a:ln w="9525">
            <a:solidFill>
              <a:srgbClr val="E2E8F0"/>
            </a:solidFill>
            <a:prstDash val="solid"/>
          </a:ln>
        </p:spPr>
      </p:sp>
      <p:sp>
        <p:nvSpPr>
          <p:cNvPr id="7" name="Text 4"/>
          <p:cNvSpPr txBox="1"/>
          <p:nvPr/>
        </p:nvSpPr>
        <p:spPr>
          <a:xfrm>
            <a:off x="502920" y="6464808"/>
            <a:ext cx="9418320" cy="256032"/>
          </a:xfrm>
          <a:prstGeom prst="rect">
            <a:avLst/>
          </a:prstGeom>
          <a:noFill/>
          <a:ln/>
        </p:spPr>
        <p:txBody>
          <a:bodyPr wrap="square" lIns="0" tIns="0" rIns="0" bIns="0" rtlCol="0" anchor="ctr"/>
          <a:lstStyle/>
          <a:p>
            <a:pPr indent="0" marL="0">
              <a:buNone/>
            </a:pPr>
            <a:r>
              <a:rPr lang="en-US" sz="800" dirty="0">
                <a:solidFill>
                  <a:srgbClr val="64748B"/>
                </a:solidFill>
                <a:latin typeface="Inter" pitchFamily="34" charset="0"/>
                <a:ea typeface="Inter" pitchFamily="34" charset="-122"/>
                <a:cs typeface="Inter" pitchFamily="34" charset="-120"/>
              </a:rPr>
              <a:t>Source: case sections 1, 3 and Exhibits G, I, J; Adobe CJA (A2, A3b, A6, Cohort Table), appendix 9–13.</a:t>
            </a:r>
            <a:endParaRPr lang="en-US" sz="800" dirty="0"/>
          </a:p>
        </p:txBody>
      </p:sp>
      <p:sp>
        <p:nvSpPr>
          <p:cNvPr id="8" name="Text 5"/>
          <p:cNvSpPr txBox="1"/>
          <p:nvPr/>
        </p:nvSpPr>
        <p:spPr>
          <a:xfrm>
            <a:off x="9966960" y="6464808"/>
            <a:ext cx="1719072" cy="256032"/>
          </a:xfrm>
          <a:prstGeom prst="rect">
            <a:avLst/>
          </a:prstGeom>
          <a:noFill/>
          <a:ln/>
        </p:spPr>
        <p:txBody>
          <a:bodyPr wrap="square" lIns="0" tIns="0" rIns="0" bIns="0" rtlCol="0" anchor="ctr"/>
          <a:lstStyle/>
          <a:p>
            <a:pPr algn="r" indent="0" marL="0">
              <a:buNone/>
            </a:pPr>
            <a:r>
              <a:rPr lang="en-US" sz="800" dirty="0">
                <a:solidFill>
                  <a:srgbClr val="64748B"/>
                </a:solidFill>
                <a:latin typeface="Inter" pitchFamily="34" charset="0"/>
                <a:ea typeface="Inter" pitchFamily="34" charset="-122"/>
                <a:cs typeface="Inter" pitchFamily="34" charset="-120"/>
              </a:rPr>
              <a:t>Team G27  ·  2</a:t>
            </a:r>
            <a:endParaRPr lang="en-US" sz="800" dirty="0"/>
          </a:p>
        </p:txBody>
      </p:sp>
      <p:sp>
        <p:nvSpPr>
          <p:cNvPr id="9" name="Shape 6"/>
          <p:cNvSpPr/>
          <p:nvPr/>
        </p:nvSpPr>
        <p:spPr>
          <a:xfrm>
            <a:off x="502920" y="1207008"/>
            <a:ext cx="3630168" cy="1024128"/>
          </a:xfrm>
          <a:prstGeom prst="roundRect">
            <a:avLst>
              <a:gd name="adj" fmla="val 5357"/>
            </a:avLst>
          </a:prstGeom>
          <a:solidFill>
            <a:srgbClr val="F8FAFC"/>
          </a:solidFill>
          <a:ln w="9525">
            <a:solidFill>
              <a:srgbClr val="E2E8F0"/>
            </a:solidFill>
            <a:prstDash val="solid"/>
          </a:ln>
        </p:spPr>
      </p:sp>
      <p:sp>
        <p:nvSpPr>
          <p:cNvPr id="10" name="Text 7"/>
          <p:cNvSpPr txBox="1"/>
          <p:nvPr/>
        </p:nvSpPr>
        <p:spPr>
          <a:xfrm>
            <a:off x="649224" y="1261872"/>
            <a:ext cx="3355848" cy="201168"/>
          </a:xfrm>
          <a:prstGeom prst="rect">
            <a:avLst/>
          </a:prstGeom>
          <a:noFill/>
          <a:ln/>
        </p:spPr>
        <p:txBody>
          <a:bodyPr wrap="square" lIns="0" tIns="0" rIns="0" bIns="0" rtlCol="0" anchor="t"/>
          <a:lstStyle/>
          <a:p>
            <a:pPr indent="0" marL="0">
              <a:buNone/>
            </a:pPr>
            <a:r>
              <a:rPr lang="en-US" sz="1100" b="1" dirty="0">
                <a:solidFill>
                  <a:srgbClr val="0A1F44"/>
                </a:solidFill>
                <a:latin typeface="Inter" pitchFamily="34" charset="0"/>
                <a:ea typeface="Inter" pitchFamily="34" charset="-122"/>
                <a:cs typeface="Inter" pitchFamily="34" charset="-120"/>
              </a:rPr>
              <a:t>The company</a:t>
            </a:r>
            <a:endParaRPr lang="en-US" sz="1100" dirty="0"/>
          </a:p>
        </p:txBody>
      </p:sp>
      <p:sp>
        <p:nvSpPr>
          <p:cNvPr id="11" name="Text 8"/>
          <p:cNvSpPr txBox="1"/>
          <p:nvPr/>
        </p:nvSpPr>
        <p:spPr>
          <a:xfrm>
            <a:off x="649224" y="1463040"/>
            <a:ext cx="3355848" cy="731520"/>
          </a:xfrm>
          <a:prstGeom prst="rect">
            <a:avLst/>
          </a:prstGeom>
          <a:noFill/>
          <a:ln/>
        </p:spPr>
        <p:txBody>
          <a:bodyPr wrap="square" lIns="0" tIns="0" rIns="0" bIns="0" rtlCol="0" anchor="t"/>
          <a:lstStyle/>
          <a:p>
            <a:pPr indent="0" marL="0">
              <a:buNone/>
            </a:pPr>
            <a:r>
              <a:rPr lang="en-US" sz="950" dirty="0">
                <a:solidFill>
                  <a:srgbClr val="0F172A"/>
                </a:solidFill>
                <a:latin typeface="Inter" pitchFamily="34" charset="0"/>
                <a:ea typeface="Inter" pitchFamily="34" charset="-122"/>
                <a:cs typeface="Inter" pitchFamily="34" charset="-120"/>
              </a:rPr>
              <a:t>Quince sells premium basics 50%+ below branded prices, shipped direct from its factories (M2C). Viral TikTok and Instagram moments made it one of the fastest-growing US apparel brands.</a:t>
            </a:r>
            <a:endParaRPr lang="en-US" sz="950" dirty="0"/>
          </a:p>
        </p:txBody>
      </p:sp>
      <p:sp>
        <p:nvSpPr>
          <p:cNvPr id="12" name="Shape 9"/>
          <p:cNvSpPr/>
          <p:nvPr/>
        </p:nvSpPr>
        <p:spPr>
          <a:xfrm>
            <a:off x="4279392" y="1207008"/>
            <a:ext cx="3630168" cy="1024128"/>
          </a:xfrm>
          <a:prstGeom prst="roundRect">
            <a:avLst>
              <a:gd name="adj" fmla="val 5357"/>
            </a:avLst>
          </a:prstGeom>
          <a:solidFill>
            <a:srgbClr val="F8FAFC"/>
          </a:solidFill>
          <a:ln w="9525">
            <a:solidFill>
              <a:srgbClr val="E2E8F0"/>
            </a:solidFill>
            <a:prstDash val="solid"/>
          </a:ln>
        </p:spPr>
      </p:sp>
      <p:sp>
        <p:nvSpPr>
          <p:cNvPr id="13" name="Text 10"/>
          <p:cNvSpPr txBox="1"/>
          <p:nvPr/>
        </p:nvSpPr>
        <p:spPr>
          <a:xfrm>
            <a:off x="4425696" y="1261872"/>
            <a:ext cx="3355848" cy="201168"/>
          </a:xfrm>
          <a:prstGeom prst="rect">
            <a:avLst/>
          </a:prstGeom>
          <a:noFill/>
          <a:ln/>
        </p:spPr>
        <p:txBody>
          <a:bodyPr wrap="square" lIns="0" tIns="0" rIns="0" bIns="0" rtlCol="0" anchor="t"/>
          <a:lstStyle/>
          <a:p>
            <a:pPr indent="0" marL="0">
              <a:buNone/>
            </a:pPr>
            <a:r>
              <a:rPr lang="en-US" sz="1100" b="1" dirty="0">
                <a:solidFill>
                  <a:srgbClr val="0A1F44"/>
                </a:solidFill>
                <a:latin typeface="Inter" pitchFamily="34" charset="0"/>
                <a:ea typeface="Inter" pitchFamily="34" charset="-122"/>
                <a:cs typeface="Inter" pitchFamily="34" charset="-120"/>
              </a:rPr>
              <a:t>The problem</a:t>
            </a:r>
            <a:endParaRPr lang="en-US" sz="1100" dirty="0"/>
          </a:p>
        </p:txBody>
      </p:sp>
      <p:sp>
        <p:nvSpPr>
          <p:cNvPr id="14" name="Text 11"/>
          <p:cNvSpPr txBox="1"/>
          <p:nvPr/>
        </p:nvSpPr>
        <p:spPr>
          <a:xfrm>
            <a:off x="4425696" y="1463040"/>
            <a:ext cx="3355848" cy="731520"/>
          </a:xfrm>
          <a:prstGeom prst="rect">
            <a:avLst/>
          </a:prstGeom>
          <a:noFill/>
          <a:ln/>
        </p:spPr>
        <p:txBody>
          <a:bodyPr wrap="square" lIns="0" tIns="0" rIns="0" bIns="0" rtlCol="0" anchor="t"/>
          <a:lstStyle/>
          <a:p>
            <a:pPr indent="0" marL="0">
              <a:buNone/>
            </a:pPr>
            <a:r>
              <a:rPr lang="en-US" sz="950" dirty="0">
                <a:solidFill>
                  <a:srgbClr val="0F172A"/>
                </a:solidFill>
                <a:latin typeface="Inter" pitchFamily="34" charset="0"/>
                <a:ea typeface="Inter" pitchFamily="34" charset="-122"/>
                <a:cs typeface="Inter" pitchFamily="34" charset="-120"/>
              </a:rPr>
              <a:t>First buyers don't come back: 90-day repeat is 24% vs 30–35% for peers, while blended CAC rose $48 → $62. 60% of the $120M budget rents reach from social platforms.</a:t>
            </a:r>
            <a:endParaRPr lang="en-US" sz="950" dirty="0"/>
          </a:p>
        </p:txBody>
      </p:sp>
      <p:sp>
        <p:nvSpPr>
          <p:cNvPr id="15" name="Shape 12"/>
          <p:cNvSpPr/>
          <p:nvPr/>
        </p:nvSpPr>
        <p:spPr>
          <a:xfrm>
            <a:off x="8055864" y="1207008"/>
            <a:ext cx="3630168" cy="1024128"/>
          </a:xfrm>
          <a:prstGeom prst="roundRect">
            <a:avLst>
              <a:gd name="adj" fmla="val 5357"/>
            </a:avLst>
          </a:prstGeom>
          <a:solidFill>
            <a:srgbClr val="F8FAFC"/>
          </a:solidFill>
          <a:ln w="9525">
            <a:solidFill>
              <a:srgbClr val="E2E8F0"/>
            </a:solidFill>
            <a:prstDash val="solid"/>
          </a:ln>
        </p:spPr>
      </p:sp>
      <p:sp>
        <p:nvSpPr>
          <p:cNvPr id="16" name="Text 13"/>
          <p:cNvSpPr txBox="1"/>
          <p:nvPr/>
        </p:nvSpPr>
        <p:spPr>
          <a:xfrm>
            <a:off x="8202168" y="1261872"/>
            <a:ext cx="3355848" cy="201168"/>
          </a:xfrm>
          <a:prstGeom prst="rect">
            <a:avLst/>
          </a:prstGeom>
          <a:noFill/>
          <a:ln/>
        </p:spPr>
        <p:txBody>
          <a:bodyPr wrap="square" lIns="0" tIns="0" rIns="0" bIns="0" rtlCol="0" anchor="t"/>
          <a:lstStyle/>
          <a:p>
            <a:pPr indent="0" marL="0">
              <a:buNone/>
            </a:pPr>
            <a:r>
              <a:rPr lang="en-US" sz="1100" b="1" dirty="0">
                <a:solidFill>
                  <a:srgbClr val="0A1F44"/>
                </a:solidFill>
                <a:latin typeface="Inter" pitchFamily="34" charset="0"/>
                <a:ea typeface="Inter" pitchFamily="34" charset="-122"/>
                <a:cs typeface="Inter" pitchFamily="34" charset="-120"/>
              </a:rPr>
              <a:t>The question</a:t>
            </a:r>
            <a:endParaRPr lang="en-US" sz="1100" dirty="0"/>
          </a:p>
        </p:txBody>
      </p:sp>
      <p:sp>
        <p:nvSpPr>
          <p:cNvPr id="17" name="Text 14"/>
          <p:cNvSpPr txBox="1"/>
          <p:nvPr/>
        </p:nvSpPr>
        <p:spPr>
          <a:xfrm>
            <a:off x="8202168" y="1463040"/>
            <a:ext cx="3355848" cy="731520"/>
          </a:xfrm>
          <a:prstGeom prst="rect">
            <a:avLst/>
          </a:prstGeom>
          <a:noFill/>
          <a:ln/>
        </p:spPr>
        <p:txBody>
          <a:bodyPr wrap="square" lIns="0" tIns="0" rIns="0" bIns="0" rtlCol="0" anchor="t"/>
          <a:lstStyle/>
          <a:p>
            <a:pPr indent="0" marL="0">
              <a:buNone/>
            </a:pPr>
            <a:r>
              <a:rPr lang="en-US" sz="950" dirty="0">
                <a:solidFill>
                  <a:srgbClr val="0F172A"/>
                </a:solidFill>
                <a:latin typeface="Inter" pitchFamily="34" charset="0"/>
                <a:ea typeface="Inter" pitchFamily="34" charset="-122"/>
                <a:cs typeface="Inter" pitchFamily="34" charset="-120"/>
              </a:rPr>
              <a:t>With a fixed $120M, no price cuts and Adobe CJA as the evidence base, how does Quince lift repeat by 6+ points and cut CAC by 10%+ in 12–18 months?</a:t>
            </a:r>
            <a:endParaRPr lang="en-US" sz="950" dirty="0"/>
          </a:p>
        </p:txBody>
      </p:sp>
      <p:sp>
        <p:nvSpPr>
          <p:cNvPr id="18" name="Shape 15"/>
          <p:cNvSpPr/>
          <p:nvPr/>
        </p:nvSpPr>
        <p:spPr>
          <a:xfrm>
            <a:off x="502920" y="2322576"/>
            <a:ext cx="11183112" cy="566928"/>
          </a:xfrm>
          <a:prstGeom prst="roundRect">
            <a:avLst>
              <a:gd name="adj" fmla="val 9677"/>
            </a:avLst>
          </a:prstGeom>
          <a:solidFill>
            <a:srgbClr val="EFF6FF"/>
          </a:solidFill>
          <a:ln w="6350">
            <a:solidFill>
              <a:srgbClr val="EFF6FF"/>
            </a:solidFill>
            <a:prstDash val="solid"/>
          </a:ln>
        </p:spPr>
      </p:sp>
      <p:sp>
        <p:nvSpPr>
          <p:cNvPr id="19" name="Shape 16"/>
          <p:cNvSpPr/>
          <p:nvPr/>
        </p:nvSpPr>
        <p:spPr>
          <a:xfrm>
            <a:off x="502920" y="2322576"/>
            <a:ext cx="73152" cy="566928"/>
          </a:xfrm>
          <a:prstGeom prst="rect">
            <a:avLst/>
          </a:prstGeom>
          <a:solidFill>
            <a:srgbClr val="1D4ED8"/>
          </a:solidFill>
          <a:ln w="6350">
            <a:solidFill>
              <a:srgbClr val="1D4ED8"/>
            </a:solidFill>
            <a:prstDash val="solid"/>
          </a:ln>
        </p:spPr>
      </p:sp>
      <p:sp>
        <p:nvSpPr>
          <p:cNvPr id="20" name="Text 17"/>
          <p:cNvSpPr txBox="1"/>
          <p:nvPr/>
        </p:nvSpPr>
        <p:spPr>
          <a:xfrm>
            <a:off x="731520" y="2322576"/>
            <a:ext cx="10881360" cy="566928"/>
          </a:xfrm>
          <a:prstGeom prst="rect">
            <a:avLst/>
          </a:prstGeom>
          <a:noFill/>
          <a:ln/>
        </p:spPr>
        <p:txBody>
          <a:bodyPr wrap="square" lIns="0" tIns="0" rIns="0" bIns="0" rtlCol="0" anchor="ctr"/>
          <a:lstStyle/>
          <a:p>
            <a:pPr indent="0" marL="0">
              <a:buNone/>
            </a:pPr>
            <a:r>
              <a:rPr lang="en-US" sz="1300" b="1" dirty="0">
                <a:solidFill>
                  <a:srgbClr val="0A1F44"/>
                </a:solidFill>
                <a:latin typeface="Inter" pitchFamily="34" charset="0"/>
                <a:ea typeface="Inter" pitchFamily="34" charset="-122"/>
                <a:cs typeface="Inter" pitchFamily="34" charset="-120"/>
              </a:rPr>
              <a:t>We believe in blending the three options: precise paid retargeting (B) starts it, owned lifecycle (A) builds repeat, CJA holdouts (C) decide every budget move</a:t>
            </a:r>
            <a:endParaRPr lang="en-US" sz="1300" dirty="0"/>
          </a:p>
        </p:txBody>
      </p:sp>
      <p:sp>
        <p:nvSpPr>
          <p:cNvPr id="21" name="Shape 18"/>
          <p:cNvSpPr/>
          <p:nvPr/>
        </p:nvSpPr>
        <p:spPr>
          <a:xfrm>
            <a:off x="502920" y="2980944"/>
            <a:ext cx="3630168" cy="1956816"/>
          </a:xfrm>
          <a:prstGeom prst="roundRect">
            <a:avLst>
              <a:gd name="adj" fmla="val 3738"/>
            </a:avLst>
          </a:prstGeom>
          <a:solidFill>
            <a:srgbClr val="FFFFFF"/>
          </a:solidFill>
          <a:ln w="9525">
            <a:solidFill>
              <a:srgbClr val="E2E8F0"/>
            </a:solidFill>
            <a:prstDash val="solid"/>
          </a:ln>
        </p:spPr>
      </p:sp>
      <p:sp>
        <p:nvSpPr>
          <p:cNvPr id="22" name="Shape 19"/>
          <p:cNvSpPr/>
          <p:nvPr/>
        </p:nvSpPr>
        <p:spPr>
          <a:xfrm>
            <a:off x="502920" y="2980944"/>
            <a:ext cx="3630168" cy="384048"/>
          </a:xfrm>
          <a:prstGeom prst="roundRect">
            <a:avLst>
              <a:gd name="adj" fmla="val 19048"/>
            </a:avLst>
          </a:prstGeom>
          <a:solidFill>
            <a:srgbClr val="0A1F44"/>
          </a:solidFill>
          <a:ln w="6350">
            <a:solidFill>
              <a:srgbClr val="0A1F44"/>
            </a:solidFill>
            <a:prstDash val="solid"/>
          </a:ln>
        </p:spPr>
      </p:sp>
      <p:sp>
        <p:nvSpPr>
          <p:cNvPr id="23" name="Shape 20"/>
          <p:cNvSpPr/>
          <p:nvPr/>
        </p:nvSpPr>
        <p:spPr>
          <a:xfrm>
            <a:off x="502920" y="3218688"/>
            <a:ext cx="3630168" cy="146304"/>
          </a:xfrm>
          <a:prstGeom prst="rect">
            <a:avLst/>
          </a:prstGeom>
          <a:solidFill>
            <a:srgbClr val="0A1F44"/>
          </a:solidFill>
          <a:ln w="6350">
            <a:solidFill>
              <a:srgbClr val="0A1F44"/>
            </a:solidFill>
            <a:prstDash val="solid"/>
          </a:ln>
        </p:spPr>
      </p:sp>
      <p:sp>
        <p:nvSpPr>
          <p:cNvPr id="24" name="Text 21"/>
          <p:cNvSpPr txBox="1"/>
          <p:nvPr/>
        </p:nvSpPr>
        <p:spPr>
          <a:xfrm>
            <a:off x="649224" y="2980944"/>
            <a:ext cx="3355848" cy="384048"/>
          </a:xfrm>
          <a:prstGeom prst="rect">
            <a:avLst/>
          </a:prstGeom>
          <a:noFill/>
          <a:ln/>
        </p:spPr>
        <p:txBody>
          <a:bodyPr wrap="square" lIns="0" tIns="0" rIns="0" bIns="0" rtlCol="0" anchor="ctr"/>
          <a:lstStyle/>
          <a:p>
            <a:pPr indent="0" marL="0">
              <a:buNone/>
            </a:pPr>
            <a:r>
              <a:rPr lang="en-US" sz="1200" b="1" dirty="0">
                <a:solidFill>
                  <a:srgbClr val="8FB2EE"/>
                </a:solidFill>
                <a:latin typeface="Inter" pitchFamily="34" charset="0"/>
                <a:ea typeface="Inter" pitchFamily="34" charset="-122"/>
                <a:cs typeface="Inter" pitchFamily="34" charset="-120"/>
              </a:rPr>
              <a:t>Lever 1  </a:t>
            </a:r>
            <a:pPr indent="0" marL="0">
              <a:buNone/>
            </a:pPr>
            <a:r>
              <a:rPr lang="en-US" sz="1200" b="1" dirty="0">
                <a:solidFill>
                  <a:srgbClr val="FFFFFF"/>
                </a:solidFill>
                <a:latin typeface="Inter" pitchFamily="34" charset="0"/>
                <a:ea typeface="Inter" pitchFamily="34" charset="-122"/>
                <a:cs typeface="Inter" pitchFamily="34" charset="-120"/>
              </a:rPr>
              <a:t>Capture every buyer</a:t>
            </a:r>
            <a:endParaRPr lang="en-US" sz="1200" dirty="0"/>
          </a:p>
        </p:txBody>
      </p:sp>
      <p:sp>
        <p:nvSpPr>
          <p:cNvPr id="25" name="Text 22"/>
          <p:cNvSpPr txBox="1"/>
          <p:nvPr/>
        </p:nvSpPr>
        <p:spPr>
          <a:xfrm>
            <a:off x="649224" y="3410712"/>
            <a:ext cx="3355848" cy="274320"/>
          </a:xfrm>
          <a:prstGeom prst="rect">
            <a:avLst/>
          </a:prstGeom>
          <a:noFill/>
          <a:ln/>
        </p:spPr>
        <p:txBody>
          <a:bodyPr wrap="square" lIns="0" tIns="0" rIns="0" bIns="0" rtlCol="0" anchor="ctr"/>
          <a:lstStyle/>
          <a:p>
            <a:pPr indent="0" marL="0">
              <a:buNone/>
            </a:pPr>
            <a:r>
              <a:rPr lang="en-US" sz="1000" dirty="0">
                <a:solidFill>
                  <a:srgbClr val="0F172A"/>
                </a:solidFill>
                <a:latin typeface="Inter" pitchFamily="34" charset="0"/>
                <a:ea typeface="Inter" pitchFamily="34" charset="-122"/>
                <a:cs typeface="Inter" pitchFamily="34" charset="-120"/>
              </a:rPr>
              <a:t>Every buyer into email, SMS or the app</a:t>
            </a:r>
            <a:endParaRPr lang="en-US" sz="1000" dirty="0"/>
          </a:p>
        </p:txBody>
      </p:sp>
      <p:sp>
        <p:nvSpPr>
          <p:cNvPr id="26" name="Shape 23"/>
          <p:cNvSpPr/>
          <p:nvPr/>
        </p:nvSpPr>
        <p:spPr>
          <a:xfrm>
            <a:off x="612648" y="3730752"/>
            <a:ext cx="3410712" cy="512064"/>
          </a:xfrm>
          <a:prstGeom prst="roundRect">
            <a:avLst>
              <a:gd name="adj" fmla="val 10714"/>
            </a:avLst>
          </a:prstGeom>
          <a:solidFill>
            <a:srgbClr val="EFF6FF"/>
          </a:solidFill>
          <a:ln w="6350">
            <a:solidFill>
              <a:srgbClr val="EFF6FF"/>
            </a:solidFill>
            <a:prstDash val="solid"/>
          </a:ln>
        </p:spPr>
      </p:sp>
      <p:sp>
        <p:nvSpPr>
          <p:cNvPr id="27" name="Text 24"/>
          <p:cNvSpPr txBox="1"/>
          <p:nvPr/>
        </p:nvSpPr>
        <p:spPr>
          <a:xfrm>
            <a:off x="704088" y="3730752"/>
            <a:ext cx="3246120" cy="512064"/>
          </a:xfrm>
          <a:prstGeom prst="rect">
            <a:avLst/>
          </a:prstGeom>
          <a:noFill/>
          <a:ln/>
        </p:spPr>
        <p:txBody>
          <a:bodyPr wrap="square" lIns="0" tIns="0" rIns="0" bIns="0" rtlCol="0" anchor="ctr"/>
          <a:lstStyle/>
          <a:p>
            <a:pPr indent="0" marL="0">
              <a:buNone/>
            </a:pPr>
            <a:r>
              <a:rPr lang="en-US" sz="950" b="1" dirty="0">
                <a:solidFill>
                  <a:srgbClr val="1D4ED8"/>
                </a:solidFill>
                <a:latin typeface="Inter" pitchFamily="34" charset="0"/>
                <a:ea typeface="Inter" pitchFamily="34" charset="-122"/>
                <a:cs typeface="Inter" pitchFamily="34" charset="-120"/>
              </a:rPr>
              <a:t>★ Quince Passport: </a:t>
            </a:r>
            <a:pPr indent="0" marL="0">
              <a:buNone/>
            </a:pPr>
            <a:r>
              <a:rPr lang="en-US" sz="950" dirty="0">
                <a:solidFill>
                  <a:srgbClr val="334155"/>
                </a:solidFill>
                <a:latin typeface="Inter" pitchFamily="34" charset="0"/>
                <a:ea typeface="Inter" pitchFamily="34" charset="-122"/>
                <a:cs typeface="Inter" pitchFamily="34" charset="-120"/>
              </a:rPr>
              <a:t>box card registering each piece for care and restock alerts</a:t>
            </a:r>
            <a:endParaRPr lang="en-US" sz="950" dirty="0"/>
          </a:p>
        </p:txBody>
      </p:sp>
      <p:sp>
        <p:nvSpPr>
          <p:cNvPr id="28" name="Text 25"/>
          <p:cNvSpPr txBox="1"/>
          <p:nvPr/>
        </p:nvSpPr>
        <p:spPr>
          <a:xfrm>
            <a:off x="649224" y="4297680"/>
            <a:ext cx="3355848" cy="566928"/>
          </a:xfrm>
          <a:prstGeom prst="rect">
            <a:avLst/>
          </a:prstGeom>
          <a:noFill/>
          <a:ln/>
        </p:spPr>
        <p:txBody>
          <a:bodyPr wrap="square" lIns="0" tIns="0" rIns="0" bIns="0" rtlCol="0" anchor="ctr"/>
          <a:lstStyle/>
          <a:p>
            <a:pPr indent="0" marL="0">
              <a:buNone/>
            </a:pPr>
            <a:r>
              <a:rPr lang="en-US" sz="950" b="1" dirty="0">
                <a:solidFill>
                  <a:srgbClr val="0A1F44"/>
                </a:solidFill>
                <a:latin typeface="Inter" pitchFamily="34" charset="0"/>
                <a:ea typeface="Inter" pitchFamily="34" charset="-122"/>
                <a:cs typeface="Inter" pitchFamily="34" charset="-120"/>
              </a:rPr>
              <a:t>Only 24.5% of buyers engage, yet they are 66% of repeaters (A2)</a:t>
            </a:r>
            <a:endParaRPr lang="en-US" sz="950" dirty="0"/>
          </a:p>
        </p:txBody>
      </p:sp>
      <p:sp>
        <p:nvSpPr>
          <p:cNvPr id="29" name="Shape 26"/>
          <p:cNvSpPr/>
          <p:nvPr/>
        </p:nvSpPr>
        <p:spPr>
          <a:xfrm>
            <a:off x="4279392" y="2980944"/>
            <a:ext cx="3630168" cy="1956816"/>
          </a:xfrm>
          <a:prstGeom prst="roundRect">
            <a:avLst>
              <a:gd name="adj" fmla="val 3738"/>
            </a:avLst>
          </a:prstGeom>
          <a:solidFill>
            <a:srgbClr val="FFFFFF"/>
          </a:solidFill>
          <a:ln w="9525">
            <a:solidFill>
              <a:srgbClr val="E2E8F0"/>
            </a:solidFill>
            <a:prstDash val="solid"/>
          </a:ln>
        </p:spPr>
      </p:sp>
      <p:sp>
        <p:nvSpPr>
          <p:cNvPr id="30" name="Shape 27"/>
          <p:cNvSpPr/>
          <p:nvPr/>
        </p:nvSpPr>
        <p:spPr>
          <a:xfrm>
            <a:off x="4279392" y="2980944"/>
            <a:ext cx="3630168" cy="384048"/>
          </a:xfrm>
          <a:prstGeom prst="roundRect">
            <a:avLst>
              <a:gd name="adj" fmla="val 19048"/>
            </a:avLst>
          </a:prstGeom>
          <a:solidFill>
            <a:srgbClr val="0A1F44"/>
          </a:solidFill>
          <a:ln w="6350">
            <a:solidFill>
              <a:srgbClr val="0A1F44"/>
            </a:solidFill>
            <a:prstDash val="solid"/>
          </a:ln>
        </p:spPr>
      </p:sp>
      <p:sp>
        <p:nvSpPr>
          <p:cNvPr id="31" name="Shape 28"/>
          <p:cNvSpPr/>
          <p:nvPr/>
        </p:nvSpPr>
        <p:spPr>
          <a:xfrm>
            <a:off x="4279392" y="3218688"/>
            <a:ext cx="3630168" cy="146304"/>
          </a:xfrm>
          <a:prstGeom prst="rect">
            <a:avLst/>
          </a:prstGeom>
          <a:solidFill>
            <a:srgbClr val="0A1F44"/>
          </a:solidFill>
          <a:ln w="6350">
            <a:solidFill>
              <a:srgbClr val="0A1F44"/>
            </a:solidFill>
            <a:prstDash val="solid"/>
          </a:ln>
        </p:spPr>
      </p:sp>
      <p:sp>
        <p:nvSpPr>
          <p:cNvPr id="32" name="Text 29"/>
          <p:cNvSpPr txBox="1"/>
          <p:nvPr/>
        </p:nvSpPr>
        <p:spPr>
          <a:xfrm>
            <a:off x="4425696" y="2980944"/>
            <a:ext cx="3355848" cy="384048"/>
          </a:xfrm>
          <a:prstGeom prst="rect">
            <a:avLst/>
          </a:prstGeom>
          <a:noFill/>
          <a:ln/>
        </p:spPr>
        <p:txBody>
          <a:bodyPr wrap="square" lIns="0" tIns="0" rIns="0" bIns="0" rtlCol="0" anchor="ctr"/>
          <a:lstStyle/>
          <a:p>
            <a:pPr indent="0" marL="0">
              <a:buNone/>
            </a:pPr>
            <a:r>
              <a:rPr lang="en-US" sz="1200" b="1" dirty="0">
                <a:solidFill>
                  <a:srgbClr val="8FB2EE"/>
                </a:solidFill>
                <a:latin typeface="Inter" pitchFamily="34" charset="0"/>
                <a:ea typeface="Inter" pitchFamily="34" charset="-122"/>
                <a:cs typeface="Inter" pitchFamily="34" charset="-120"/>
              </a:rPr>
              <a:t>Lever 2  </a:t>
            </a:r>
            <a:pPr indent="0" marL="0">
              <a:buNone/>
            </a:pPr>
            <a:r>
              <a:rPr lang="en-US" sz="1200" b="1" dirty="0">
                <a:solidFill>
                  <a:srgbClr val="FFFFFF"/>
                </a:solidFill>
                <a:latin typeface="Inter" pitchFamily="34" charset="0"/>
                <a:ea typeface="Inter" pitchFamily="34" charset="-122"/>
                <a:cs typeface="Inter" pitchFamily="34" charset="-120"/>
              </a:rPr>
              <a:t>Win the Golden Month</a:t>
            </a:r>
            <a:endParaRPr lang="en-US" sz="1200" dirty="0"/>
          </a:p>
        </p:txBody>
      </p:sp>
      <p:sp>
        <p:nvSpPr>
          <p:cNvPr id="33" name="Text 30"/>
          <p:cNvSpPr txBox="1"/>
          <p:nvPr/>
        </p:nvSpPr>
        <p:spPr>
          <a:xfrm>
            <a:off x="4425696" y="3410712"/>
            <a:ext cx="3355848" cy="274320"/>
          </a:xfrm>
          <a:prstGeom prst="rect">
            <a:avLst/>
          </a:prstGeom>
          <a:noFill/>
          <a:ln/>
        </p:spPr>
        <p:txBody>
          <a:bodyPr wrap="square" lIns="0" tIns="0" rIns="0" bIns="0" rtlCol="0" anchor="ctr"/>
          <a:lstStyle/>
          <a:p>
            <a:pPr indent="0" marL="0">
              <a:buNone/>
            </a:pPr>
            <a:r>
              <a:rPr lang="en-US" sz="1000" dirty="0">
                <a:solidFill>
                  <a:srgbClr val="0F172A"/>
                </a:solidFill>
                <a:latin typeface="Inter" pitchFamily="34" charset="0"/>
                <a:ea typeface="Inter" pitchFamily="34" charset="-122"/>
                <a:cs typeface="Inter" pitchFamily="34" charset="-120"/>
              </a:rPr>
              <a:t>Care first, then a second category, weeks 1–4</a:t>
            </a:r>
            <a:endParaRPr lang="en-US" sz="1000" dirty="0"/>
          </a:p>
        </p:txBody>
      </p:sp>
      <p:sp>
        <p:nvSpPr>
          <p:cNvPr id="34" name="Shape 31"/>
          <p:cNvSpPr/>
          <p:nvPr/>
        </p:nvSpPr>
        <p:spPr>
          <a:xfrm>
            <a:off x="4389120" y="3730752"/>
            <a:ext cx="3410712" cy="512064"/>
          </a:xfrm>
          <a:prstGeom prst="roundRect">
            <a:avLst>
              <a:gd name="adj" fmla="val 10714"/>
            </a:avLst>
          </a:prstGeom>
          <a:solidFill>
            <a:srgbClr val="EFF6FF"/>
          </a:solidFill>
          <a:ln w="6350">
            <a:solidFill>
              <a:srgbClr val="EFF6FF"/>
            </a:solidFill>
            <a:prstDash val="solid"/>
          </a:ln>
        </p:spPr>
      </p:sp>
      <p:sp>
        <p:nvSpPr>
          <p:cNvPr id="35" name="Text 32"/>
          <p:cNvSpPr txBox="1"/>
          <p:nvPr/>
        </p:nvSpPr>
        <p:spPr>
          <a:xfrm>
            <a:off x="4480560" y="3730752"/>
            <a:ext cx="3246120" cy="512064"/>
          </a:xfrm>
          <a:prstGeom prst="rect">
            <a:avLst/>
          </a:prstGeom>
          <a:noFill/>
          <a:ln/>
        </p:spPr>
        <p:txBody>
          <a:bodyPr wrap="square" lIns="0" tIns="0" rIns="0" bIns="0" rtlCol="0" anchor="ctr"/>
          <a:lstStyle/>
          <a:p>
            <a:pPr indent="0" marL="0">
              <a:buNone/>
            </a:pPr>
            <a:r>
              <a:rPr lang="en-US" sz="950" b="1" dirty="0">
                <a:solidFill>
                  <a:srgbClr val="1D4ED8"/>
                </a:solidFill>
                <a:latin typeface="Inter" pitchFamily="34" charset="0"/>
                <a:ea typeface="Inter" pitchFamily="34" charset="-122"/>
                <a:cs typeface="Inter" pitchFamily="34" charset="-120"/>
              </a:rPr>
              <a:t>★ Material Journeys: </a:t>
            </a:r>
            <a:pPr indent="0" marL="0">
              <a:buNone/>
            </a:pPr>
            <a:r>
              <a:rPr lang="en-US" sz="950" dirty="0">
                <a:solidFill>
                  <a:srgbClr val="334155"/>
                </a:solidFill>
                <a:latin typeface="Inter" pitchFamily="34" charset="0"/>
                <a:ea typeface="Inter" pitchFamily="34" charset="-122"/>
                <a:cs typeface="Inter" pitchFamily="34" charset="-120"/>
              </a:rPr>
              <a:t>how the material is made and cared for, then cashmere → home</a:t>
            </a:r>
            <a:endParaRPr lang="en-US" sz="950" dirty="0"/>
          </a:p>
        </p:txBody>
      </p:sp>
      <p:sp>
        <p:nvSpPr>
          <p:cNvPr id="36" name="Text 33"/>
          <p:cNvSpPr txBox="1"/>
          <p:nvPr/>
        </p:nvSpPr>
        <p:spPr>
          <a:xfrm>
            <a:off x="4425696" y="4297680"/>
            <a:ext cx="3355848" cy="566928"/>
          </a:xfrm>
          <a:prstGeom prst="rect">
            <a:avLst/>
          </a:prstGeom>
          <a:noFill/>
          <a:ln/>
        </p:spPr>
        <p:txBody>
          <a:bodyPr wrap="square" lIns="0" tIns="0" rIns="0" bIns="0" rtlCol="0" anchor="ctr"/>
          <a:lstStyle/>
          <a:p>
            <a:pPr indent="0" marL="0">
              <a:buNone/>
            </a:pPr>
            <a:r>
              <a:rPr lang="en-US" sz="950" b="1" dirty="0">
                <a:solidFill>
                  <a:srgbClr val="0A1F44"/>
                </a:solidFill>
                <a:latin typeface="Inter" pitchFamily="34" charset="0"/>
                <a:ea typeface="Inter" pitchFamily="34" charset="-122"/>
                <a:cs typeface="Inter" pitchFamily="34" charset="-120"/>
              </a:rPr>
              <a:t>Week-2 repeat 5.6% engaged vs 2.1% all; cashmere repeats least, 13.7% (Cohort, A6)</a:t>
            </a:r>
            <a:endParaRPr lang="en-US" sz="950" dirty="0"/>
          </a:p>
        </p:txBody>
      </p:sp>
      <p:sp>
        <p:nvSpPr>
          <p:cNvPr id="37" name="Shape 34"/>
          <p:cNvSpPr/>
          <p:nvPr/>
        </p:nvSpPr>
        <p:spPr>
          <a:xfrm>
            <a:off x="8055864" y="2980944"/>
            <a:ext cx="3630168" cy="1956816"/>
          </a:xfrm>
          <a:prstGeom prst="roundRect">
            <a:avLst>
              <a:gd name="adj" fmla="val 3738"/>
            </a:avLst>
          </a:prstGeom>
          <a:solidFill>
            <a:srgbClr val="FFFFFF"/>
          </a:solidFill>
          <a:ln w="9525">
            <a:solidFill>
              <a:srgbClr val="E2E8F0"/>
            </a:solidFill>
            <a:prstDash val="solid"/>
          </a:ln>
        </p:spPr>
      </p:sp>
      <p:sp>
        <p:nvSpPr>
          <p:cNvPr id="38" name="Shape 35"/>
          <p:cNvSpPr/>
          <p:nvPr/>
        </p:nvSpPr>
        <p:spPr>
          <a:xfrm>
            <a:off x="8055864" y="2980944"/>
            <a:ext cx="3630168" cy="384048"/>
          </a:xfrm>
          <a:prstGeom prst="roundRect">
            <a:avLst>
              <a:gd name="adj" fmla="val 19048"/>
            </a:avLst>
          </a:prstGeom>
          <a:solidFill>
            <a:srgbClr val="0A1F44"/>
          </a:solidFill>
          <a:ln w="6350">
            <a:solidFill>
              <a:srgbClr val="0A1F44"/>
            </a:solidFill>
            <a:prstDash val="solid"/>
          </a:ln>
        </p:spPr>
      </p:sp>
      <p:sp>
        <p:nvSpPr>
          <p:cNvPr id="39" name="Shape 36"/>
          <p:cNvSpPr/>
          <p:nvPr/>
        </p:nvSpPr>
        <p:spPr>
          <a:xfrm>
            <a:off x="8055864" y="3218688"/>
            <a:ext cx="3630168" cy="146304"/>
          </a:xfrm>
          <a:prstGeom prst="rect">
            <a:avLst/>
          </a:prstGeom>
          <a:solidFill>
            <a:srgbClr val="0A1F44"/>
          </a:solidFill>
          <a:ln w="6350">
            <a:solidFill>
              <a:srgbClr val="0A1F44"/>
            </a:solidFill>
            <a:prstDash val="solid"/>
          </a:ln>
        </p:spPr>
      </p:sp>
      <p:sp>
        <p:nvSpPr>
          <p:cNvPr id="40" name="Text 37"/>
          <p:cNvSpPr txBox="1"/>
          <p:nvPr/>
        </p:nvSpPr>
        <p:spPr>
          <a:xfrm>
            <a:off x="8202168" y="2980944"/>
            <a:ext cx="3355848" cy="384048"/>
          </a:xfrm>
          <a:prstGeom prst="rect">
            <a:avLst/>
          </a:prstGeom>
          <a:noFill/>
          <a:ln/>
        </p:spPr>
        <p:txBody>
          <a:bodyPr wrap="square" lIns="0" tIns="0" rIns="0" bIns="0" rtlCol="0" anchor="ctr"/>
          <a:lstStyle/>
          <a:p>
            <a:pPr indent="0" marL="0">
              <a:buNone/>
            </a:pPr>
            <a:r>
              <a:rPr lang="en-US" sz="1200" b="1" dirty="0">
                <a:solidFill>
                  <a:srgbClr val="8FB2EE"/>
                </a:solidFill>
                <a:latin typeface="Inter" pitchFamily="34" charset="0"/>
                <a:ea typeface="Inter" pitchFamily="34" charset="-122"/>
                <a:cs typeface="Inter" pitchFamily="34" charset="-120"/>
              </a:rPr>
              <a:t>Lever 3  </a:t>
            </a:r>
            <a:pPr indent="0" marL="0">
              <a:buNone/>
            </a:pPr>
            <a:r>
              <a:rPr lang="en-US" sz="1200" b="1" dirty="0">
                <a:solidFill>
                  <a:srgbClr val="FFFFFF"/>
                </a:solidFill>
                <a:latin typeface="Inter" pitchFamily="34" charset="0"/>
                <a:ea typeface="Inter" pitchFamily="34" charset="-122"/>
                <a:cs typeface="Inter" pitchFamily="34" charset="-120"/>
              </a:rPr>
              <a:t>Never pay twice</a:t>
            </a:r>
            <a:endParaRPr lang="en-US" sz="1200" dirty="0"/>
          </a:p>
        </p:txBody>
      </p:sp>
      <p:sp>
        <p:nvSpPr>
          <p:cNvPr id="41" name="Text 38"/>
          <p:cNvSpPr txBox="1"/>
          <p:nvPr/>
        </p:nvSpPr>
        <p:spPr>
          <a:xfrm>
            <a:off x="8202168" y="3410712"/>
            <a:ext cx="3355848" cy="274320"/>
          </a:xfrm>
          <a:prstGeom prst="rect">
            <a:avLst/>
          </a:prstGeom>
          <a:noFill/>
          <a:ln/>
        </p:spPr>
        <p:txBody>
          <a:bodyPr wrap="square" lIns="0" tIns="0" rIns="0" bIns="0" rtlCol="0" anchor="ctr"/>
          <a:lstStyle/>
          <a:p>
            <a:pPr indent="0" marL="0">
              <a:buNone/>
            </a:pPr>
            <a:r>
              <a:rPr lang="en-US" sz="1000" dirty="0">
                <a:solidFill>
                  <a:srgbClr val="0F172A"/>
                </a:solidFill>
                <a:latin typeface="Inter" pitchFamily="34" charset="0"/>
                <a:ea typeface="Inter" pitchFamily="34" charset="-122"/>
                <a:cs typeface="Inter" pitchFamily="34" charset="-120"/>
              </a:rPr>
              <a:t>Stop paying for ads that reach buyers Quince can message</a:t>
            </a:r>
            <a:endParaRPr lang="en-US" sz="1000" dirty="0"/>
          </a:p>
        </p:txBody>
      </p:sp>
      <p:sp>
        <p:nvSpPr>
          <p:cNvPr id="42" name="Shape 39"/>
          <p:cNvSpPr/>
          <p:nvPr/>
        </p:nvSpPr>
        <p:spPr>
          <a:xfrm>
            <a:off x="8165592" y="3730752"/>
            <a:ext cx="3410712" cy="512064"/>
          </a:xfrm>
          <a:prstGeom prst="roundRect">
            <a:avLst>
              <a:gd name="adj" fmla="val 10714"/>
            </a:avLst>
          </a:prstGeom>
          <a:solidFill>
            <a:srgbClr val="EFF6FF"/>
          </a:solidFill>
          <a:ln w="6350">
            <a:solidFill>
              <a:srgbClr val="EFF6FF"/>
            </a:solidFill>
            <a:prstDash val="solid"/>
          </a:ln>
        </p:spPr>
      </p:sp>
      <p:sp>
        <p:nvSpPr>
          <p:cNvPr id="43" name="Text 40"/>
          <p:cNvSpPr txBox="1"/>
          <p:nvPr/>
        </p:nvSpPr>
        <p:spPr>
          <a:xfrm>
            <a:off x="8257032" y="3730752"/>
            <a:ext cx="3246120" cy="512064"/>
          </a:xfrm>
          <a:prstGeom prst="rect">
            <a:avLst/>
          </a:prstGeom>
          <a:noFill/>
          <a:ln/>
        </p:spPr>
        <p:txBody>
          <a:bodyPr wrap="square" lIns="0" tIns="0" rIns="0" bIns="0" rtlCol="0" anchor="ctr"/>
          <a:lstStyle/>
          <a:p>
            <a:pPr indent="0" marL="0">
              <a:buNone/>
            </a:pPr>
            <a:r>
              <a:rPr lang="en-US" sz="950" b="1" dirty="0">
                <a:solidFill>
                  <a:srgbClr val="1D4ED8"/>
                </a:solidFill>
                <a:latin typeface="Inter" pitchFamily="34" charset="0"/>
                <a:ea typeface="Inter" pitchFamily="34" charset="-122"/>
                <a:cs typeface="Inter" pitchFamily="34" charset="-120"/>
              </a:rPr>
              <a:t>★ Never Pay Twice Engine: </a:t>
            </a:r>
            <a:pPr indent="0" marL="0">
              <a:buNone/>
            </a:pPr>
            <a:r>
              <a:rPr lang="en-US" sz="950" dirty="0">
                <a:solidFill>
                  <a:srgbClr val="334155"/>
                </a:solidFill>
                <a:latin typeface="Inter" pitchFamily="34" charset="0"/>
                <a:ea typeface="Inter" pitchFamily="34" charset="-122"/>
                <a:cs typeface="Inter" pitchFamily="34" charset="-120"/>
              </a:rPr>
              <a:t>CJA audiences become daily ad suppression lists</a:t>
            </a:r>
            <a:endParaRPr lang="en-US" sz="950" dirty="0"/>
          </a:p>
        </p:txBody>
      </p:sp>
      <p:sp>
        <p:nvSpPr>
          <p:cNvPr id="44" name="Text 41"/>
          <p:cNvSpPr txBox="1"/>
          <p:nvPr/>
        </p:nvSpPr>
        <p:spPr>
          <a:xfrm>
            <a:off x="8202168" y="4297680"/>
            <a:ext cx="3355848" cy="566928"/>
          </a:xfrm>
          <a:prstGeom prst="rect">
            <a:avLst/>
          </a:prstGeom>
          <a:noFill/>
          <a:ln/>
        </p:spPr>
        <p:txBody>
          <a:bodyPr wrap="square" lIns="0" tIns="0" rIns="0" bIns="0" rtlCol="0" anchor="ctr"/>
          <a:lstStyle/>
          <a:p>
            <a:pPr indent="0" marL="0">
              <a:buNone/>
            </a:pPr>
            <a:r>
              <a:rPr lang="en-US" sz="950" b="1" dirty="0">
                <a:solidFill>
                  <a:srgbClr val="0A1F44"/>
                </a:solidFill>
                <a:latin typeface="Inter" pitchFamily="34" charset="0"/>
                <a:ea typeface="Inter" pitchFamily="34" charset="-122"/>
                <a:cs typeface="Inter" pitchFamily="34" charset="-120"/>
              </a:rPr>
              <a:t>Retargeted buyers repeat no better than organic: 23.0% vs 23.4% (A3b)</a:t>
            </a:r>
            <a:endParaRPr lang="en-US" sz="950" dirty="0"/>
          </a:p>
        </p:txBody>
      </p:sp>
      <p:sp>
        <p:nvSpPr>
          <p:cNvPr id="45" name="Shape 42"/>
          <p:cNvSpPr/>
          <p:nvPr/>
        </p:nvSpPr>
        <p:spPr>
          <a:xfrm>
            <a:off x="502920" y="5029200"/>
            <a:ext cx="3630168" cy="1261872"/>
          </a:xfrm>
          <a:prstGeom prst="roundRect">
            <a:avLst>
              <a:gd name="adj" fmla="val 5797"/>
            </a:avLst>
          </a:prstGeom>
          <a:solidFill>
            <a:srgbClr val="F8FAFC"/>
          </a:solidFill>
          <a:ln w="9525">
            <a:solidFill>
              <a:srgbClr val="E2E8F0"/>
            </a:solidFill>
            <a:prstDash val="solid"/>
          </a:ln>
        </p:spPr>
      </p:sp>
      <p:sp>
        <p:nvSpPr>
          <p:cNvPr id="46" name="Text 43"/>
          <p:cNvSpPr txBox="1"/>
          <p:nvPr/>
        </p:nvSpPr>
        <p:spPr>
          <a:xfrm>
            <a:off x="649224" y="5102352"/>
            <a:ext cx="3355848" cy="201168"/>
          </a:xfrm>
          <a:prstGeom prst="rect">
            <a:avLst/>
          </a:prstGeom>
          <a:noFill/>
          <a:ln/>
        </p:spPr>
        <p:txBody>
          <a:bodyPr wrap="square" lIns="0" tIns="0" rIns="0" bIns="0" rtlCol="0" anchor="t"/>
          <a:lstStyle/>
          <a:p>
            <a:pPr indent="0" marL="0">
              <a:buNone/>
            </a:pPr>
            <a:r>
              <a:rPr lang="en-US" sz="1100" b="1" dirty="0">
                <a:solidFill>
                  <a:srgbClr val="0A1F44"/>
                </a:solidFill>
                <a:latin typeface="Inter" pitchFamily="34" charset="0"/>
                <a:ea typeface="Inter" pitchFamily="34" charset="-122"/>
                <a:cs typeface="Inter" pitchFamily="34" charset="-120"/>
              </a:rPr>
              <a:t>No new money: rented → owned</a:t>
            </a:r>
            <a:endParaRPr lang="en-US" sz="1100" dirty="0"/>
          </a:p>
        </p:txBody>
      </p:sp>
      <p:sp>
        <p:nvSpPr>
          <p:cNvPr id="47" name="Text 44"/>
          <p:cNvSpPr txBox="1"/>
          <p:nvPr/>
        </p:nvSpPr>
        <p:spPr>
          <a:xfrm>
            <a:off x="649224" y="5321808"/>
            <a:ext cx="3355848" cy="914400"/>
          </a:xfrm>
          <a:prstGeom prst="rect">
            <a:avLst/>
          </a:prstGeom>
          <a:noFill/>
          <a:ln/>
        </p:spPr>
        <p:txBody>
          <a:bodyPr wrap="square" lIns="0" tIns="0" rIns="0" bIns="0" rtlCol="0" anchor="ctr"/>
          <a:lstStyle/>
          <a:p>
            <a:pPr indent="0" marL="0">
              <a:buNone/>
            </a:pPr>
            <a:r>
              <a:rPr lang="en-US" sz="1050" b="1" dirty="0">
                <a:solidFill>
                  <a:srgbClr val="1D4ED8"/>
                </a:solidFill>
                <a:latin typeface="Inter" pitchFamily="34" charset="0"/>
                <a:ea typeface="Inter" pitchFamily="34" charset="-122"/>
                <a:cs typeface="Inter" pitchFamily="34" charset="-120"/>
              </a:rPr>
              <a:t>A: </a:t>
            </a:r>
            <a:pPr indent="0" marL="0">
              <a:buNone/>
            </a:pPr>
            <a:r>
              <a:rPr lang="en-US" sz="1050" dirty="0">
                <a:solidFill>
                  <a:srgbClr val="0F172A"/>
                </a:solidFill>
                <a:latin typeface="Inter" pitchFamily="34" charset="0"/>
                <a:ea typeface="Inter" pitchFamily="34" charset="-122"/>
                <a:cs typeface="Inter" pitchFamily="34" charset="-120"/>
              </a:rPr>
              <a:t>$2–3M from the $6M owned line</a:t>
            </a:r>
            <a:endParaRPr lang="en-US" sz="1050" dirty="0"/>
          </a:p>
          <a:p>
            <a:pPr indent="0" marL="0">
              <a:buNone/>
            </a:pPr>
            <a:r>
              <a:rPr lang="en-US" sz="1050" b="1" dirty="0">
                <a:solidFill>
                  <a:srgbClr val="1D4ED8"/>
                </a:solidFill>
                <a:latin typeface="Inter" pitchFamily="34" charset="0"/>
                <a:ea typeface="Inter" pitchFamily="34" charset="-122"/>
                <a:cs typeface="Inter" pitchFamily="34" charset="-120"/>
              </a:rPr>
              <a:t>B: </a:t>
            </a:r>
            <a:pPr indent="0" marL="0">
              <a:buNone/>
            </a:pPr>
            <a:r>
              <a:rPr lang="en-US" sz="1050" dirty="0">
                <a:solidFill>
                  <a:srgbClr val="0F172A"/>
                </a:solidFill>
                <a:latin typeface="Inter" pitchFamily="34" charset="0"/>
                <a:ea typeface="Inter" pitchFamily="34" charset="-122"/>
                <a:cs typeface="Inter" pitchFamily="34" charset="-120"/>
              </a:rPr>
              <a:t>inside the $14M retargeting line</a:t>
            </a:r>
            <a:endParaRPr lang="en-US" sz="1050" dirty="0"/>
          </a:p>
          <a:p>
            <a:pPr indent="0" marL="0">
              <a:buNone/>
            </a:pPr>
            <a:r>
              <a:rPr lang="en-US" sz="1050" b="1" dirty="0">
                <a:solidFill>
                  <a:srgbClr val="0A1F44"/>
                </a:solidFill>
                <a:latin typeface="Inter" pitchFamily="34" charset="0"/>
                <a:ea typeface="Inter" pitchFamily="34" charset="-122"/>
                <a:cs typeface="Inter" pitchFamily="34" charset="-120"/>
              </a:rPr>
              <a:t>Then retargeting → search → prospecting move to owned, as holdouts prove</a:t>
            </a:r>
            <a:endParaRPr lang="en-US" sz="1050" dirty="0"/>
          </a:p>
        </p:txBody>
      </p:sp>
      <p:sp>
        <p:nvSpPr>
          <p:cNvPr id="48" name="Shape 45"/>
          <p:cNvSpPr/>
          <p:nvPr/>
        </p:nvSpPr>
        <p:spPr>
          <a:xfrm>
            <a:off x="4279392" y="5029200"/>
            <a:ext cx="3630168" cy="1261872"/>
          </a:xfrm>
          <a:prstGeom prst="roundRect">
            <a:avLst>
              <a:gd name="adj" fmla="val 5797"/>
            </a:avLst>
          </a:prstGeom>
          <a:solidFill>
            <a:srgbClr val="F8FAFC"/>
          </a:solidFill>
          <a:ln w="9525">
            <a:solidFill>
              <a:srgbClr val="E2E8F0"/>
            </a:solidFill>
            <a:prstDash val="solid"/>
          </a:ln>
        </p:spPr>
      </p:sp>
      <p:sp>
        <p:nvSpPr>
          <p:cNvPr id="49" name="Text 46"/>
          <p:cNvSpPr txBox="1"/>
          <p:nvPr/>
        </p:nvSpPr>
        <p:spPr>
          <a:xfrm>
            <a:off x="4425696" y="5102352"/>
            <a:ext cx="3355848" cy="201168"/>
          </a:xfrm>
          <a:prstGeom prst="rect">
            <a:avLst/>
          </a:prstGeom>
          <a:noFill/>
          <a:ln/>
        </p:spPr>
        <p:txBody>
          <a:bodyPr wrap="square" lIns="0" tIns="0" rIns="0" bIns="0" rtlCol="0" anchor="t"/>
          <a:lstStyle/>
          <a:p>
            <a:pPr indent="0" marL="0">
              <a:buNone/>
            </a:pPr>
            <a:r>
              <a:rPr lang="en-US" sz="1100" b="1" dirty="0">
                <a:solidFill>
                  <a:srgbClr val="0A1F44"/>
                </a:solidFill>
                <a:latin typeface="Inter" pitchFamily="34" charset="0"/>
                <a:ea typeface="Inter" pitchFamily="34" charset="-122"/>
                <a:cs typeface="Inter" pitchFamily="34" charset="-120"/>
              </a:rPr>
              <a:t>Impact on the case's targets</a:t>
            </a:r>
            <a:endParaRPr lang="en-US" sz="1100" dirty="0"/>
          </a:p>
        </p:txBody>
      </p:sp>
      <p:sp>
        <p:nvSpPr>
          <p:cNvPr id="50" name="Text 47"/>
          <p:cNvSpPr txBox="1"/>
          <p:nvPr/>
        </p:nvSpPr>
        <p:spPr>
          <a:xfrm>
            <a:off x="4425696" y="5303520"/>
            <a:ext cx="3355848" cy="950976"/>
          </a:xfrm>
          <a:prstGeom prst="rect">
            <a:avLst/>
          </a:prstGeom>
          <a:noFill/>
          <a:ln/>
        </p:spPr>
        <p:txBody>
          <a:bodyPr wrap="square" lIns="0" tIns="0" rIns="0" bIns="0" rtlCol="0" anchor="ctr"/>
          <a:lstStyle/>
          <a:p>
            <a:pPr indent="0" marL="0">
              <a:buNone/>
            </a:pPr>
            <a:r>
              <a:rPr lang="en-US" sz="1300" b="1" dirty="0">
                <a:solidFill>
                  <a:srgbClr val="0A1F44"/>
                </a:solidFill>
                <a:latin typeface="Inter" pitchFamily="34" charset="0"/>
                <a:ea typeface="Inter" pitchFamily="34" charset="-122"/>
                <a:cs typeface="Inter" pitchFamily="34" charset="-120"/>
              </a:rPr>
              <a:t>90-day repeat 24% → 30%+</a:t>
            </a:r>
            <a:endParaRPr lang="en-US" sz="1200" dirty="0"/>
          </a:p>
          <a:p>
            <a:pPr indent="0" marL="0">
              <a:buNone/>
            </a:pPr>
            <a:r>
              <a:rPr lang="en-US" sz="1300" b="1" dirty="0">
                <a:solidFill>
                  <a:srgbClr val="0A1F44"/>
                </a:solidFill>
                <a:latin typeface="Inter" pitchFamily="34" charset="0"/>
                <a:ea typeface="Inter" pitchFamily="34" charset="-122"/>
                <a:cs typeface="Inter" pitchFamily="34" charset="-120"/>
              </a:rPr>
              <a:t>Blended CAC −10% or better</a:t>
            </a:r>
            <a:endParaRPr lang="en-US" sz="1200" dirty="0"/>
          </a:p>
          <a:p>
            <a:pPr indent="0" marL="0">
              <a:buNone/>
            </a:pPr>
            <a:r>
              <a:rPr lang="en-US" sz="900" dirty="0">
                <a:solidFill>
                  <a:srgbClr val="64748B"/>
                </a:solidFill>
                <a:latin typeface="Inter" pitchFamily="34" charset="0"/>
                <a:ea typeface="Inter" pitchFamily="34" charset="-122"/>
                <a:cs typeface="Inter" pitchFamily="34" charset="-120"/>
              </a:rPr>
              <a:t>Needs ~29% of buyers moved into the app, plus category and cart lift (appendix 22)</a:t>
            </a:r>
            <a:endParaRPr lang="en-US" sz="1200" dirty="0"/>
          </a:p>
        </p:txBody>
      </p:sp>
      <p:sp>
        <p:nvSpPr>
          <p:cNvPr id="51" name="Shape 48"/>
          <p:cNvSpPr/>
          <p:nvPr/>
        </p:nvSpPr>
        <p:spPr>
          <a:xfrm>
            <a:off x="8055864" y="5029200"/>
            <a:ext cx="3630168" cy="1261872"/>
          </a:xfrm>
          <a:prstGeom prst="roundRect">
            <a:avLst>
              <a:gd name="adj" fmla="val 5797"/>
            </a:avLst>
          </a:prstGeom>
          <a:solidFill>
            <a:srgbClr val="0A1F44"/>
          </a:solidFill>
          <a:ln w="9525">
            <a:solidFill>
              <a:srgbClr val="0A1F44"/>
            </a:solidFill>
            <a:prstDash val="solid"/>
          </a:ln>
        </p:spPr>
      </p:sp>
      <p:sp>
        <p:nvSpPr>
          <p:cNvPr id="52" name="Text 49"/>
          <p:cNvSpPr txBox="1"/>
          <p:nvPr/>
        </p:nvSpPr>
        <p:spPr>
          <a:xfrm>
            <a:off x="8202168" y="5102352"/>
            <a:ext cx="3355848" cy="201168"/>
          </a:xfrm>
          <a:prstGeom prst="rect">
            <a:avLst/>
          </a:prstGeom>
          <a:noFill/>
          <a:ln/>
        </p:spPr>
        <p:txBody>
          <a:bodyPr wrap="square" lIns="0" tIns="0" rIns="0" bIns="0" rtlCol="0" anchor="t"/>
          <a:lstStyle/>
          <a:p>
            <a:pPr indent="0" marL="0">
              <a:buNone/>
            </a:pPr>
            <a:r>
              <a:rPr lang="en-US" sz="1100" b="1" dirty="0">
                <a:solidFill>
                  <a:srgbClr val="FFFFFF"/>
                </a:solidFill>
                <a:latin typeface="Inter" pitchFamily="34" charset="0"/>
                <a:ea typeface="Inter" pitchFamily="34" charset="-122"/>
                <a:cs typeface="Inter" pitchFamily="34" charset="-120"/>
              </a:rPr>
              <a:t>All three constraints met</a:t>
            </a:r>
            <a:endParaRPr lang="en-US" sz="1100" dirty="0"/>
          </a:p>
        </p:txBody>
      </p:sp>
      <p:pic>
        <p:nvPicPr>
          <p:cNvPr id="53" name="Image 1" descr="preencoded.png">    </p:cNvPr>
          <p:cNvPicPr>
            <a:picLocks noChangeAspect="1"/>
          </p:cNvPicPr>
          <p:nvPr/>
        </p:nvPicPr>
        <p:blipFill>
          <a:blip r:embed="rId2"/>
          <a:stretch>
            <a:fillRect/>
          </a:stretch>
        </p:blipFill>
        <p:spPr>
          <a:xfrm>
            <a:off x="8202168" y="5413248"/>
            <a:ext cx="201168" cy="201168"/>
          </a:xfrm>
          <a:prstGeom prst="rect">
            <a:avLst/>
          </a:prstGeom>
        </p:spPr>
      </p:pic>
      <p:sp>
        <p:nvSpPr>
          <p:cNvPr id="54" name="Text 50"/>
          <p:cNvSpPr txBox="1"/>
          <p:nvPr/>
        </p:nvSpPr>
        <p:spPr>
          <a:xfrm>
            <a:off x="8476488" y="5367528"/>
            <a:ext cx="3081528" cy="292608"/>
          </a:xfrm>
          <a:prstGeom prst="rect">
            <a:avLst/>
          </a:prstGeom>
          <a:noFill/>
          <a:ln/>
        </p:spPr>
        <p:txBody>
          <a:bodyPr wrap="square" lIns="0" tIns="0" rIns="0" bIns="0" rtlCol="0" anchor="ctr"/>
          <a:lstStyle/>
          <a:p>
            <a:pPr indent="0" marL="0">
              <a:buNone/>
            </a:pPr>
            <a:r>
              <a:rPr lang="en-US" sz="1100" b="1" dirty="0">
                <a:solidFill>
                  <a:srgbClr val="FFFFFF"/>
                </a:solidFill>
                <a:latin typeface="Inter" pitchFamily="34" charset="0"/>
                <a:ea typeface="Inter" pitchFamily="34" charset="-122"/>
                <a:cs typeface="Inter" pitchFamily="34" charset="-120"/>
              </a:rPr>
              <a:t>No budget increase</a:t>
            </a:r>
            <a:endParaRPr lang="en-US" sz="1100" dirty="0"/>
          </a:p>
        </p:txBody>
      </p:sp>
      <p:pic>
        <p:nvPicPr>
          <p:cNvPr id="55" name="Image 2" descr="preencoded.png">    </p:cNvPr>
          <p:cNvPicPr>
            <a:picLocks noChangeAspect="1"/>
          </p:cNvPicPr>
          <p:nvPr/>
        </p:nvPicPr>
        <p:blipFill>
          <a:blip r:embed="rId3"/>
          <a:stretch>
            <a:fillRect/>
          </a:stretch>
        </p:blipFill>
        <p:spPr>
          <a:xfrm>
            <a:off x="8202168" y="5696712"/>
            <a:ext cx="201168" cy="201168"/>
          </a:xfrm>
          <a:prstGeom prst="rect">
            <a:avLst/>
          </a:prstGeom>
        </p:spPr>
      </p:pic>
      <p:sp>
        <p:nvSpPr>
          <p:cNvPr id="56" name="Text 51"/>
          <p:cNvSpPr txBox="1"/>
          <p:nvPr/>
        </p:nvSpPr>
        <p:spPr>
          <a:xfrm>
            <a:off x="8476488" y="5650992"/>
            <a:ext cx="3081528" cy="292608"/>
          </a:xfrm>
          <a:prstGeom prst="rect">
            <a:avLst/>
          </a:prstGeom>
          <a:noFill/>
          <a:ln/>
        </p:spPr>
        <p:txBody>
          <a:bodyPr wrap="square" lIns="0" tIns="0" rIns="0" bIns="0" rtlCol="0" anchor="ctr"/>
          <a:lstStyle/>
          <a:p>
            <a:pPr indent="0" marL="0">
              <a:buNone/>
            </a:pPr>
            <a:r>
              <a:rPr lang="en-US" sz="1100" b="1" dirty="0">
                <a:solidFill>
                  <a:srgbClr val="FFFFFF"/>
                </a:solidFill>
                <a:latin typeface="Inter" pitchFamily="34" charset="0"/>
                <a:ea typeface="Inter" pitchFamily="34" charset="-122"/>
                <a:cs typeface="Inter" pitchFamily="34" charset="-120"/>
              </a:rPr>
              <a:t>No price-led retention</a:t>
            </a:r>
            <a:endParaRPr lang="en-US" sz="1100" dirty="0"/>
          </a:p>
        </p:txBody>
      </p:sp>
      <p:pic>
        <p:nvPicPr>
          <p:cNvPr id="57" name="Image 3" descr="preencoded.png">    </p:cNvPr>
          <p:cNvPicPr>
            <a:picLocks noChangeAspect="1"/>
          </p:cNvPicPr>
          <p:nvPr/>
        </p:nvPicPr>
        <p:blipFill>
          <a:blip r:embed="rId4"/>
          <a:stretch>
            <a:fillRect/>
          </a:stretch>
        </p:blipFill>
        <p:spPr>
          <a:xfrm>
            <a:off x="8202168" y="5980176"/>
            <a:ext cx="201168" cy="201168"/>
          </a:xfrm>
          <a:prstGeom prst="rect">
            <a:avLst/>
          </a:prstGeom>
        </p:spPr>
      </p:pic>
      <p:sp>
        <p:nvSpPr>
          <p:cNvPr id="58" name="Text 52"/>
          <p:cNvSpPr txBox="1"/>
          <p:nvPr/>
        </p:nvSpPr>
        <p:spPr>
          <a:xfrm>
            <a:off x="8476488" y="5934456"/>
            <a:ext cx="3081528" cy="292608"/>
          </a:xfrm>
          <a:prstGeom prst="rect">
            <a:avLst/>
          </a:prstGeom>
          <a:noFill/>
          <a:ln/>
        </p:spPr>
        <p:txBody>
          <a:bodyPr wrap="square" lIns="0" tIns="0" rIns="0" bIns="0" rtlCol="0" anchor="ctr"/>
          <a:lstStyle/>
          <a:p>
            <a:pPr indent="0" marL="0">
              <a:buNone/>
            </a:pPr>
            <a:r>
              <a:rPr lang="en-US" sz="1100" b="1" dirty="0">
                <a:solidFill>
                  <a:srgbClr val="FFFFFF"/>
                </a:solidFill>
                <a:latin typeface="Inter" pitchFamily="34" charset="0"/>
                <a:ea typeface="Inter" pitchFamily="34" charset="-122"/>
                <a:cs typeface="Inter" pitchFamily="34" charset="-120"/>
              </a:rPr>
              <a:t>Grounded in Adobe CJA</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9326880" cy="841248"/>
          </a:xfrm>
          <a:prstGeom prst="rect">
            <a:avLst/>
          </a:prstGeom>
          <a:noFill/>
          <a:ln/>
        </p:spPr>
        <p:txBody>
          <a:bodyPr wrap="square" lIns="0" tIns="0" rIns="0" bIns="0" rtlCol="0" anchor="ctr"/>
          <a:lstStyle/>
          <a:p>
            <a:pPr indent="0" marL="0">
              <a:buNone/>
            </a:pPr>
            <a:r>
              <a:rPr lang="en-US" sz="2400" b="1" dirty="0">
                <a:solidFill>
                  <a:srgbClr val="0A1F44"/>
                </a:solidFill>
                <a:latin typeface="Inter" pitchFamily="34" charset="0"/>
                <a:ea typeface="Inter" pitchFamily="34" charset="-122"/>
                <a:cs typeface="Inter" pitchFamily="34" charset="-120"/>
              </a:rPr>
              <a:t>Rented ad platforms get costlier as demand weakens</a:t>
            </a:r>
            <a:endParaRPr lang="en-US" sz="2400" dirty="0"/>
          </a:p>
        </p:txBody>
      </p:sp>
      <p:pic>
        <p:nvPicPr>
          <p:cNvPr id="3" name="Image 0" descr="/tmp/claude-0/-home-user-Quince/7efe80ae-a049-50c2-9886-98bf7ca3a04a/scratchpad/assets/quince.png">    </p:cNvPr>
          <p:cNvPicPr>
            <a:picLocks noChangeAspect="1"/>
          </p:cNvPicPr>
          <p:nvPr/>
        </p:nvPicPr>
        <p:blipFill>
          <a:blip r:embed="rId1"/>
          <a:stretch>
            <a:fillRect/>
          </a:stretch>
        </p:blipFill>
        <p:spPr>
          <a:xfrm>
            <a:off x="10236708" y="615544"/>
            <a:ext cx="777240" cy="231951"/>
          </a:xfrm>
          <a:prstGeom prst="rect">
            <a:avLst/>
          </a:prstGeom>
        </p:spPr>
      </p:pic>
      <p:sp>
        <p:nvSpPr>
          <p:cNvPr id="4" name="Shape 1"/>
          <p:cNvSpPr/>
          <p:nvPr/>
        </p:nvSpPr>
        <p:spPr>
          <a:xfrm>
            <a:off x="11155680" y="603504"/>
            <a:ext cx="530352" cy="256032"/>
          </a:xfrm>
          <a:prstGeom prst="roundRect">
            <a:avLst>
              <a:gd name="adj" fmla="val 50000"/>
            </a:avLst>
          </a:prstGeom>
          <a:solidFill>
            <a:srgbClr val="0A1F44"/>
          </a:solidFill>
          <a:ln w="6350">
            <a:solidFill>
              <a:srgbClr val="0A1F44"/>
            </a:solidFill>
            <a:prstDash val="solid"/>
          </a:ln>
        </p:spPr>
      </p:sp>
      <p:sp>
        <p:nvSpPr>
          <p:cNvPr id="5" name="Text 2"/>
          <p:cNvSpPr txBox="1"/>
          <p:nvPr/>
        </p:nvSpPr>
        <p:spPr>
          <a:xfrm>
            <a:off x="11155680" y="603504"/>
            <a:ext cx="530352"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Inter" pitchFamily="34" charset="0"/>
                <a:ea typeface="Inter" pitchFamily="34" charset="-122"/>
                <a:cs typeface="Inter" pitchFamily="34" charset="-120"/>
              </a:rPr>
              <a:t>G27</a:t>
            </a:r>
            <a:endParaRPr lang="en-US" sz="950" dirty="0"/>
          </a:p>
        </p:txBody>
      </p:sp>
      <p:sp>
        <p:nvSpPr>
          <p:cNvPr id="6" name="Shape 3"/>
          <p:cNvSpPr/>
          <p:nvPr/>
        </p:nvSpPr>
        <p:spPr>
          <a:xfrm>
            <a:off x="502920" y="6400800"/>
            <a:ext cx="11183112" cy="0"/>
          </a:xfrm>
          <a:prstGeom prst="line">
            <a:avLst/>
          </a:prstGeom>
          <a:noFill/>
          <a:ln w="9525">
            <a:solidFill>
              <a:srgbClr val="E2E8F0"/>
            </a:solidFill>
            <a:prstDash val="solid"/>
          </a:ln>
        </p:spPr>
      </p:sp>
      <p:sp>
        <p:nvSpPr>
          <p:cNvPr id="7" name="Text 4"/>
          <p:cNvSpPr txBox="1"/>
          <p:nvPr/>
        </p:nvSpPr>
        <p:spPr>
          <a:xfrm>
            <a:off x="502920" y="6464808"/>
            <a:ext cx="9418320" cy="256032"/>
          </a:xfrm>
          <a:prstGeom prst="rect">
            <a:avLst/>
          </a:prstGeom>
          <a:noFill/>
          <a:ln/>
        </p:spPr>
        <p:txBody>
          <a:bodyPr wrap="square" lIns="0" tIns="0" rIns="0" bIns="0" rtlCol="0" anchor="ctr"/>
          <a:lstStyle/>
          <a:p>
            <a:pPr indent="0" marL="0">
              <a:buNone/>
            </a:pPr>
            <a:r>
              <a:rPr lang="en-US" sz="800" dirty="0">
                <a:solidFill>
                  <a:srgbClr val="64748B"/>
                </a:solidFill>
                <a:latin typeface="Inter" pitchFamily="34" charset="0"/>
                <a:ea typeface="Inter" pitchFamily="34" charset="-122"/>
                <a:cs typeface="Inter" pitchFamily="34" charset="-120"/>
              </a:rPr>
              <a:t>Source: case section 2, Exhibit B; US Census Bureau (Q2 2026); Adjust (Q2 2025); AppsFlyer (Apr 2025); Google (Apr 2025); Meta Q2 2026 results; TikTok USDS JV (Jan 2026); UMich Surveys of Consumers (2026); Cotton Inc. (Jun 2026); McKinsey (2021); Gordon et al. (2019). Links in appendix 27.</a:t>
            </a:r>
            <a:endParaRPr lang="en-US" sz="800" dirty="0"/>
          </a:p>
        </p:txBody>
      </p:sp>
      <p:sp>
        <p:nvSpPr>
          <p:cNvPr id="8" name="Text 5"/>
          <p:cNvSpPr txBox="1"/>
          <p:nvPr/>
        </p:nvSpPr>
        <p:spPr>
          <a:xfrm>
            <a:off x="9966960" y="6464808"/>
            <a:ext cx="1719072" cy="256032"/>
          </a:xfrm>
          <a:prstGeom prst="rect">
            <a:avLst/>
          </a:prstGeom>
          <a:noFill/>
          <a:ln/>
        </p:spPr>
        <p:txBody>
          <a:bodyPr wrap="square" lIns="0" tIns="0" rIns="0" bIns="0" rtlCol="0" anchor="ctr"/>
          <a:lstStyle/>
          <a:p>
            <a:pPr algn="r" indent="0" marL="0">
              <a:buNone/>
            </a:pPr>
            <a:r>
              <a:rPr lang="en-US" sz="800" dirty="0">
                <a:solidFill>
                  <a:srgbClr val="64748B"/>
                </a:solidFill>
                <a:latin typeface="Inter" pitchFamily="34" charset="0"/>
                <a:ea typeface="Inter" pitchFamily="34" charset="-122"/>
                <a:cs typeface="Inter" pitchFamily="34" charset="-120"/>
              </a:rPr>
              <a:t>Team G27  ·  3</a:t>
            </a:r>
            <a:endParaRPr lang="en-US" sz="800" dirty="0"/>
          </a:p>
        </p:txBody>
      </p:sp>
      <p:sp>
        <p:nvSpPr>
          <p:cNvPr id="9" name="Shape 6"/>
          <p:cNvSpPr/>
          <p:nvPr/>
        </p:nvSpPr>
        <p:spPr>
          <a:xfrm>
            <a:off x="502920" y="1207008"/>
            <a:ext cx="2487168" cy="841248"/>
          </a:xfrm>
          <a:prstGeom prst="roundRect">
            <a:avLst>
              <a:gd name="adj" fmla="val 6522"/>
            </a:avLst>
          </a:prstGeom>
          <a:solidFill>
            <a:srgbClr val="F8FAFC"/>
          </a:solidFill>
          <a:ln w="9525">
            <a:solidFill>
              <a:srgbClr val="E2E8F0"/>
            </a:solidFill>
            <a:prstDash val="solid"/>
          </a:ln>
        </p:spPr>
      </p:sp>
      <p:sp>
        <p:nvSpPr>
          <p:cNvPr id="10" name="Text 7"/>
          <p:cNvSpPr txBox="1"/>
          <p:nvPr/>
        </p:nvSpPr>
        <p:spPr>
          <a:xfrm>
            <a:off x="630936" y="1243584"/>
            <a:ext cx="2286000" cy="347472"/>
          </a:xfrm>
          <a:prstGeom prst="rect">
            <a:avLst/>
          </a:prstGeom>
          <a:noFill/>
          <a:ln/>
        </p:spPr>
        <p:txBody>
          <a:bodyPr wrap="square" lIns="0" tIns="0" rIns="0" bIns="0" rtlCol="0" anchor="ctr"/>
          <a:lstStyle/>
          <a:p>
            <a:pPr indent="0" marL="0">
              <a:buNone/>
            </a:pPr>
            <a:r>
              <a:rPr lang="en-US" sz="1800" b="1" dirty="0">
                <a:solidFill>
                  <a:srgbClr val="1D4ED8"/>
                </a:solidFill>
                <a:latin typeface="Inter" pitchFamily="34" charset="0"/>
                <a:ea typeface="Inter" pitchFamily="34" charset="-122"/>
                <a:cs typeface="Inter" pitchFamily="34" charset="-120"/>
              </a:rPr>
              <a:t>~$180B</a:t>
            </a:r>
            <a:endParaRPr lang="en-US" sz="1800" dirty="0"/>
          </a:p>
        </p:txBody>
      </p:sp>
      <p:sp>
        <p:nvSpPr>
          <p:cNvPr id="11" name="Text 8"/>
          <p:cNvSpPr txBox="1"/>
          <p:nvPr/>
        </p:nvSpPr>
        <p:spPr>
          <a:xfrm>
            <a:off x="630936" y="1591056"/>
            <a:ext cx="2286000" cy="420624"/>
          </a:xfrm>
          <a:prstGeom prst="rect">
            <a:avLst/>
          </a:prstGeom>
          <a:noFill/>
          <a:ln/>
        </p:spPr>
        <p:txBody>
          <a:bodyPr wrap="square" lIns="0" tIns="0" rIns="0" bIns="0" rtlCol="0" anchor="t"/>
          <a:lstStyle/>
          <a:p>
            <a:pPr indent="0" marL="0">
              <a:buNone/>
            </a:pPr>
            <a:r>
              <a:rPr lang="en-US" sz="850" dirty="0">
                <a:solidFill>
                  <a:srgbClr val="334155"/>
                </a:solidFill>
                <a:latin typeface="Inter" pitchFamily="34" charset="0"/>
                <a:ea typeface="Inter" pitchFamily="34" charset="-122"/>
                <a:cs typeface="Inter" pitchFamily="34" charset="-120"/>
              </a:rPr>
              <a:t>US online apparel, accessories and home; growing mid-single digits (case, illustrative)</a:t>
            </a:r>
            <a:endParaRPr lang="en-US" sz="850" dirty="0"/>
          </a:p>
        </p:txBody>
      </p:sp>
      <p:sp>
        <p:nvSpPr>
          <p:cNvPr id="12" name="Shape 9"/>
          <p:cNvSpPr/>
          <p:nvPr/>
        </p:nvSpPr>
        <p:spPr>
          <a:xfrm>
            <a:off x="3108960" y="1207008"/>
            <a:ext cx="2487168" cy="841248"/>
          </a:xfrm>
          <a:prstGeom prst="roundRect">
            <a:avLst>
              <a:gd name="adj" fmla="val 6522"/>
            </a:avLst>
          </a:prstGeom>
          <a:solidFill>
            <a:srgbClr val="F8FAFC"/>
          </a:solidFill>
          <a:ln w="9525">
            <a:solidFill>
              <a:srgbClr val="E2E8F0"/>
            </a:solidFill>
            <a:prstDash val="solid"/>
          </a:ln>
        </p:spPr>
      </p:sp>
      <p:sp>
        <p:nvSpPr>
          <p:cNvPr id="13" name="Text 10"/>
          <p:cNvSpPr txBox="1"/>
          <p:nvPr/>
        </p:nvSpPr>
        <p:spPr>
          <a:xfrm>
            <a:off x="3236976" y="1243584"/>
            <a:ext cx="2286000" cy="347472"/>
          </a:xfrm>
          <a:prstGeom prst="rect">
            <a:avLst/>
          </a:prstGeom>
          <a:noFill/>
          <a:ln/>
        </p:spPr>
        <p:txBody>
          <a:bodyPr wrap="square" lIns="0" tIns="0" rIns="0" bIns="0" rtlCol="0" anchor="ctr"/>
          <a:lstStyle/>
          <a:p>
            <a:pPr indent="0" marL="0">
              <a:buNone/>
            </a:pPr>
            <a:r>
              <a:rPr lang="en-US" sz="1800" b="1" dirty="0">
                <a:solidFill>
                  <a:srgbClr val="1D4ED8"/>
                </a:solidFill>
                <a:latin typeface="Inter" pitchFamily="34" charset="0"/>
                <a:ea typeface="Inter" pitchFamily="34" charset="-122"/>
                <a:cs typeface="Inter" pitchFamily="34" charset="-120"/>
              </a:rPr>
              <a:t>17.1%</a:t>
            </a:r>
            <a:endParaRPr lang="en-US" sz="1800" dirty="0"/>
          </a:p>
        </p:txBody>
      </p:sp>
      <p:sp>
        <p:nvSpPr>
          <p:cNvPr id="14" name="Text 11"/>
          <p:cNvSpPr txBox="1"/>
          <p:nvPr/>
        </p:nvSpPr>
        <p:spPr>
          <a:xfrm>
            <a:off x="3236976" y="1591056"/>
            <a:ext cx="2286000" cy="420624"/>
          </a:xfrm>
          <a:prstGeom prst="rect">
            <a:avLst/>
          </a:prstGeom>
          <a:noFill/>
          <a:ln/>
        </p:spPr>
        <p:txBody>
          <a:bodyPr wrap="square" lIns="0" tIns="0" rIns="0" bIns="0" rtlCol="0" anchor="t"/>
          <a:lstStyle/>
          <a:p>
            <a:pPr indent="0" marL="0">
              <a:buNone/>
            </a:pPr>
            <a:r>
              <a:rPr lang="en-US" sz="850" dirty="0">
                <a:solidFill>
                  <a:srgbClr val="334155"/>
                </a:solidFill>
                <a:latin typeface="Inter" pitchFamily="34" charset="0"/>
                <a:ea typeface="Inter" pitchFamily="34" charset="-122"/>
                <a:cs typeface="Inter" pitchFamily="34" charset="-120"/>
              </a:rPr>
              <a:t>of US retail sales were online in Q2 2026; e-commerce grew 12.2% vs 6.7% for all retail (Census)</a:t>
            </a:r>
            <a:endParaRPr lang="en-US" sz="850" dirty="0"/>
          </a:p>
        </p:txBody>
      </p:sp>
      <p:sp>
        <p:nvSpPr>
          <p:cNvPr id="15" name="Shape 12"/>
          <p:cNvSpPr/>
          <p:nvPr/>
        </p:nvSpPr>
        <p:spPr>
          <a:xfrm>
            <a:off x="5715000" y="1207008"/>
            <a:ext cx="2487168" cy="841248"/>
          </a:xfrm>
          <a:prstGeom prst="roundRect">
            <a:avLst>
              <a:gd name="adj" fmla="val 6522"/>
            </a:avLst>
          </a:prstGeom>
          <a:solidFill>
            <a:srgbClr val="F8FAFC"/>
          </a:solidFill>
          <a:ln w="9525">
            <a:solidFill>
              <a:srgbClr val="E2E8F0"/>
            </a:solidFill>
            <a:prstDash val="solid"/>
          </a:ln>
        </p:spPr>
      </p:sp>
      <p:sp>
        <p:nvSpPr>
          <p:cNvPr id="16" name="Text 13"/>
          <p:cNvSpPr txBox="1"/>
          <p:nvPr/>
        </p:nvSpPr>
        <p:spPr>
          <a:xfrm>
            <a:off x="5843016" y="1243584"/>
            <a:ext cx="2286000" cy="347472"/>
          </a:xfrm>
          <a:prstGeom prst="rect">
            <a:avLst/>
          </a:prstGeom>
          <a:noFill/>
          <a:ln/>
        </p:spPr>
        <p:txBody>
          <a:bodyPr wrap="square" lIns="0" tIns="0" rIns="0" bIns="0" rtlCol="0" anchor="ctr"/>
          <a:lstStyle/>
          <a:p>
            <a:pPr indent="0" marL="0">
              <a:buNone/>
            </a:pPr>
            <a:r>
              <a:rPr lang="en-US" sz="1800" b="1" dirty="0">
                <a:solidFill>
                  <a:srgbClr val="1D4ED8"/>
                </a:solidFill>
                <a:latin typeface="Inter" pitchFamily="34" charset="0"/>
                <a:ea typeface="Inter" pitchFamily="34" charset="-122"/>
                <a:cs typeface="Inter" pitchFamily="34" charset="-120"/>
              </a:rPr>
              <a:t>71%</a:t>
            </a:r>
            <a:endParaRPr lang="en-US" sz="1800" dirty="0"/>
          </a:p>
        </p:txBody>
      </p:sp>
      <p:sp>
        <p:nvSpPr>
          <p:cNvPr id="17" name="Text 14"/>
          <p:cNvSpPr txBox="1"/>
          <p:nvPr/>
        </p:nvSpPr>
        <p:spPr>
          <a:xfrm>
            <a:off x="5843016" y="1591056"/>
            <a:ext cx="2286000" cy="420624"/>
          </a:xfrm>
          <a:prstGeom prst="rect">
            <a:avLst/>
          </a:prstGeom>
          <a:noFill/>
          <a:ln/>
        </p:spPr>
        <p:txBody>
          <a:bodyPr wrap="square" lIns="0" tIns="0" rIns="0" bIns="0" rtlCol="0" anchor="t"/>
          <a:lstStyle/>
          <a:p>
            <a:pPr indent="0" marL="0">
              <a:buNone/>
            </a:pPr>
            <a:r>
              <a:rPr lang="en-US" sz="850" dirty="0">
                <a:solidFill>
                  <a:srgbClr val="334155"/>
                </a:solidFill>
                <a:latin typeface="Inter" pitchFamily="34" charset="0"/>
                <a:ea typeface="Inter" pitchFamily="34" charset="-122"/>
                <a:cs typeface="Inter" pitchFamily="34" charset="-120"/>
              </a:rPr>
              <a:t>of consumers expect personalized interactions; 76% are frustrated without them (McKinsey)</a:t>
            </a:r>
            <a:endParaRPr lang="en-US" sz="850" dirty="0"/>
          </a:p>
        </p:txBody>
      </p:sp>
      <p:sp>
        <p:nvSpPr>
          <p:cNvPr id="18" name="Text 15"/>
          <p:cNvSpPr txBox="1"/>
          <p:nvPr/>
        </p:nvSpPr>
        <p:spPr>
          <a:xfrm>
            <a:off x="502920" y="2157984"/>
            <a:ext cx="7498080" cy="256032"/>
          </a:xfrm>
          <a:prstGeom prst="rect">
            <a:avLst/>
          </a:prstGeom>
          <a:noFill/>
          <a:ln/>
        </p:spPr>
        <p:txBody>
          <a:bodyPr wrap="square" lIns="0" tIns="0" rIns="0" bIns="0" rtlCol="0" anchor="t"/>
          <a:lstStyle/>
          <a:p>
            <a:pPr indent="0" marL="0">
              <a:buNone/>
            </a:pPr>
            <a:r>
              <a:rPr lang="en-US" sz="1200" b="1" dirty="0">
                <a:solidFill>
                  <a:srgbClr val="0A1F44"/>
                </a:solidFill>
                <a:latin typeface="Inter" pitchFamily="34" charset="0"/>
                <a:ea typeface="Inter" pitchFamily="34" charset="-122"/>
                <a:cs typeface="Inter" pitchFamily="34" charset="-120"/>
              </a:rPr>
              <a:t>Four forces reshaping how DTC brands reach customers</a:t>
            </a:r>
            <a:endParaRPr lang="en-US" sz="1200" dirty="0"/>
          </a:p>
        </p:txBody>
      </p:sp>
      <p:sp>
        <p:nvSpPr>
          <p:cNvPr id="19" name="Shape 16"/>
          <p:cNvSpPr/>
          <p:nvPr/>
        </p:nvSpPr>
        <p:spPr>
          <a:xfrm>
            <a:off x="502920" y="2487168"/>
            <a:ext cx="3685032" cy="1828800"/>
          </a:xfrm>
          <a:prstGeom prst="roundRect">
            <a:avLst>
              <a:gd name="adj" fmla="val 4000"/>
            </a:avLst>
          </a:prstGeom>
          <a:solidFill>
            <a:srgbClr val="FFFFFF"/>
          </a:solidFill>
          <a:ln w="9525">
            <a:solidFill>
              <a:srgbClr val="E2E8F0"/>
            </a:solidFill>
            <a:prstDash val="solid"/>
          </a:ln>
        </p:spPr>
      </p:sp>
      <p:sp>
        <p:nvSpPr>
          <p:cNvPr id="20" name="Shape 17"/>
          <p:cNvSpPr/>
          <p:nvPr/>
        </p:nvSpPr>
        <p:spPr>
          <a:xfrm>
            <a:off x="630936" y="2596896"/>
            <a:ext cx="365760" cy="365760"/>
          </a:xfrm>
          <a:prstGeom prst="ellipse">
            <a:avLst/>
          </a:prstGeom>
          <a:solidFill>
            <a:srgbClr val="EFF6FF"/>
          </a:solidFill>
          <a:ln w="6350">
            <a:solidFill>
              <a:srgbClr val="EFF6FF"/>
            </a:solidFill>
            <a:prstDash val="solid"/>
          </a:ln>
        </p:spPr>
      </p:sp>
      <p:pic>
        <p:nvPicPr>
          <p:cNvPr id="21" name="Image 1" descr="preencoded.png">    </p:cNvPr>
          <p:cNvPicPr>
            <a:picLocks noChangeAspect="1"/>
          </p:cNvPicPr>
          <p:nvPr/>
        </p:nvPicPr>
        <p:blipFill>
          <a:blip r:embed="rId2"/>
          <a:stretch>
            <a:fillRect/>
          </a:stretch>
        </p:blipFill>
        <p:spPr>
          <a:xfrm>
            <a:off x="711403" y="2677363"/>
            <a:ext cx="204826" cy="204826"/>
          </a:xfrm>
          <a:prstGeom prst="rect">
            <a:avLst/>
          </a:prstGeom>
        </p:spPr>
      </p:pic>
      <p:sp>
        <p:nvSpPr>
          <p:cNvPr id="22" name="Text 18"/>
          <p:cNvSpPr txBox="1"/>
          <p:nvPr/>
        </p:nvSpPr>
        <p:spPr>
          <a:xfrm>
            <a:off x="1088136" y="2596896"/>
            <a:ext cx="2953512" cy="365760"/>
          </a:xfrm>
          <a:prstGeom prst="rect">
            <a:avLst/>
          </a:prstGeom>
          <a:noFill/>
          <a:ln/>
        </p:spPr>
        <p:txBody>
          <a:bodyPr wrap="square" lIns="0" tIns="0" rIns="0" bIns="0" rtlCol="0" anchor="ctr"/>
          <a:lstStyle/>
          <a:p>
            <a:pPr indent="0" marL="0">
              <a:buNone/>
            </a:pPr>
            <a:r>
              <a:rPr lang="en-US" sz="1250" b="1" dirty="0">
                <a:solidFill>
                  <a:srgbClr val="0A1F44"/>
                </a:solidFill>
                <a:latin typeface="Inter" pitchFamily="34" charset="0"/>
                <a:ea typeface="Inter" pitchFamily="34" charset="-122"/>
                <a:cs typeface="Inter" pitchFamily="34" charset="-120"/>
              </a:rPr>
              <a:t>Signal loss</a:t>
            </a:r>
            <a:endParaRPr lang="en-US" sz="1250" dirty="0"/>
          </a:p>
        </p:txBody>
      </p:sp>
      <p:sp>
        <p:nvSpPr>
          <p:cNvPr id="23" name="Text 19"/>
          <p:cNvSpPr txBox="1"/>
          <p:nvPr/>
        </p:nvSpPr>
        <p:spPr>
          <a:xfrm>
            <a:off x="649224" y="3054096"/>
            <a:ext cx="3410712" cy="731520"/>
          </a:xfrm>
          <a:prstGeom prst="rect">
            <a:avLst/>
          </a:prstGeom>
          <a:noFill/>
          <a:ln/>
        </p:spPr>
        <p:txBody>
          <a:bodyPr wrap="square" lIns="0" tIns="0" rIns="0" bIns="0" rtlCol="0" anchor="ctr"/>
          <a:lstStyle/>
          <a:p>
            <a:pPr indent="0" marL="0">
              <a:buNone/>
            </a:pPr>
            <a:r>
              <a:rPr lang="en-US" sz="1100" dirty="0">
                <a:solidFill>
                  <a:srgbClr val="0F172A"/>
                </a:solidFill>
                <a:latin typeface="Inter" pitchFamily="34" charset="0"/>
                <a:ea typeface="Inter" pitchFamily="34" charset="-122"/>
                <a:cs typeface="Inter" pitchFamily="34" charset="-120"/>
              </a:rPr>
              <a:t>Only 35–50% of iOS users allow tracking (Adjust; AppsFlyer)</a:t>
            </a:r>
            <a:endParaRPr lang="en-US" sz="1100" dirty="0"/>
          </a:p>
        </p:txBody>
      </p:sp>
      <p:sp>
        <p:nvSpPr>
          <p:cNvPr id="24" name="Shape 20"/>
          <p:cNvSpPr/>
          <p:nvPr/>
        </p:nvSpPr>
        <p:spPr>
          <a:xfrm>
            <a:off x="612648" y="3858768"/>
            <a:ext cx="3465576" cy="347472"/>
          </a:xfrm>
          <a:prstGeom prst="roundRect">
            <a:avLst>
              <a:gd name="adj" fmla="val 15789"/>
            </a:avLst>
          </a:prstGeom>
          <a:solidFill>
            <a:srgbClr val="EFF6FF"/>
          </a:solidFill>
          <a:ln w="6350">
            <a:solidFill>
              <a:srgbClr val="EFF6FF"/>
            </a:solidFill>
            <a:prstDash val="solid"/>
          </a:ln>
        </p:spPr>
      </p:sp>
      <p:sp>
        <p:nvSpPr>
          <p:cNvPr id="25" name="Text 21"/>
          <p:cNvSpPr txBox="1"/>
          <p:nvPr/>
        </p:nvSpPr>
        <p:spPr>
          <a:xfrm>
            <a:off x="704088" y="3858768"/>
            <a:ext cx="3319272" cy="347472"/>
          </a:xfrm>
          <a:prstGeom prst="rect">
            <a:avLst/>
          </a:prstGeom>
          <a:noFill/>
          <a:ln/>
        </p:spPr>
        <p:txBody>
          <a:bodyPr wrap="square" lIns="0" tIns="0" rIns="0" bIns="0" rtlCol="0" anchor="ctr"/>
          <a:lstStyle/>
          <a:p>
            <a:pPr indent="0" marL="0">
              <a:buNone/>
            </a:pPr>
            <a:r>
              <a:rPr lang="en-US" sz="1000" b="1" dirty="0">
                <a:solidFill>
                  <a:srgbClr val="1D4ED8"/>
                </a:solidFill>
                <a:latin typeface="Inter" pitchFamily="34" charset="0"/>
                <a:ea typeface="Inter" pitchFamily="34" charset="-122"/>
                <a:cs typeface="Inter" pitchFamily="34" charset="-120"/>
              </a:rPr>
              <a:t>So what: </a:t>
            </a:r>
            <a:pPr indent="0" marL="0">
              <a:buNone/>
            </a:pPr>
            <a:r>
              <a:rPr lang="en-US" sz="1000" b="1" dirty="0">
                <a:solidFill>
                  <a:srgbClr val="0A1F44"/>
                </a:solidFill>
                <a:latin typeface="Inter" pitchFamily="34" charset="0"/>
                <a:ea typeface="Inter" pitchFamily="34" charset="-122"/>
                <a:cs typeface="Inter" pitchFamily="34" charset="-120"/>
              </a:rPr>
              <a:t>Retargeting sees, and proves, less</a:t>
            </a:r>
            <a:endParaRPr lang="en-US" sz="1000" dirty="0"/>
          </a:p>
        </p:txBody>
      </p:sp>
      <p:sp>
        <p:nvSpPr>
          <p:cNvPr id="26" name="Shape 22"/>
          <p:cNvSpPr/>
          <p:nvPr/>
        </p:nvSpPr>
        <p:spPr>
          <a:xfrm>
            <a:off x="4315968" y="2487168"/>
            <a:ext cx="3685032" cy="1828800"/>
          </a:xfrm>
          <a:prstGeom prst="roundRect">
            <a:avLst>
              <a:gd name="adj" fmla="val 4000"/>
            </a:avLst>
          </a:prstGeom>
          <a:solidFill>
            <a:srgbClr val="FFFFFF"/>
          </a:solidFill>
          <a:ln w="9525">
            <a:solidFill>
              <a:srgbClr val="E2E8F0"/>
            </a:solidFill>
            <a:prstDash val="solid"/>
          </a:ln>
        </p:spPr>
      </p:sp>
      <p:sp>
        <p:nvSpPr>
          <p:cNvPr id="27" name="Shape 23"/>
          <p:cNvSpPr/>
          <p:nvPr/>
        </p:nvSpPr>
        <p:spPr>
          <a:xfrm>
            <a:off x="4443984" y="2596896"/>
            <a:ext cx="365760" cy="365760"/>
          </a:xfrm>
          <a:prstGeom prst="ellipse">
            <a:avLst/>
          </a:prstGeom>
          <a:solidFill>
            <a:srgbClr val="EFF6FF"/>
          </a:solidFill>
          <a:ln w="6350">
            <a:solidFill>
              <a:srgbClr val="EFF6FF"/>
            </a:solidFill>
            <a:prstDash val="solid"/>
          </a:ln>
        </p:spPr>
      </p:sp>
      <p:pic>
        <p:nvPicPr>
          <p:cNvPr id="28" name="Image 2" descr="preencoded.png">    </p:cNvPr>
          <p:cNvPicPr>
            <a:picLocks noChangeAspect="1"/>
          </p:cNvPicPr>
          <p:nvPr/>
        </p:nvPicPr>
        <p:blipFill>
          <a:blip r:embed="rId3"/>
          <a:stretch>
            <a:fillRect/>
          </a:stretch>
        </p:blipFill>
        <p:spPr>
          <a:xfrm>
            <a:off x="4524451" y="2677363"/>
            <a:ext cx="204826" cy="204826"/>
          </a:xfrm>
          <a:prstGeom prst="rect">
            <a:avLst/>
          </a:prstGeom>
        </p:spPr>
      </p:pic>
      <p:sp>
        <p:nvSpPr>
          <p:cNvPr id="29" name="Text 24"/>
          <p:cNvSpPr txBox="1"/>
          <p:nvPr/>
        </p:nvSpPr>
        <p:spPr>
          <a:xfrm>
            <a:off x="4901184" y="2596896"/>
            <a:ext cx="2953512" cy="365760"/>
          </a:xfrm>
          <a:prstGeom prst="rect">
            <a:avLst/>
          </a:prstGeom>
          <a:noFill/>
          <a:ln/>
        </p:spPr>
        <p:txBody>
          <a:bodyPr wrap="square" lIns="0" tIns="0" rIns="0" bIns="0" rtlCol="0" anchor="ctr"/>
          <a:lstStyle/>
          <a:p>
            <a:pPr indent="0" marL="0">
              <a:buNone/>
            </a:pPr>
            <a:r>
              <a:rPr lang="en-US" sz="1250" b="1" dirty="0">
                <a:solidFill>
                  <a:srgbClr val="0A1F44"/>
                </a:solidFill>
                <a:latin typeface="Inter" pitchFamily="34" charset="0"/>
                <a:ea typeface="Inter" pitchFamily="34" charset="-122"/>
                <a:cs typeface="Inter" pitchFamily="34" charset="-120"/>
              </a:rPr>
              <a:t>Platforms automate</a:t>
            </a:r>
            <a:endParaRPr lang="en-US" sz="1250" dirty="0"/>
          </a:p>
        </p:txBody>
      </p:sp>
      <p:sp>
        <p:nvSpPr>
          <p:cNvPr id="30" name="Text 25"/>
          <p:cNvSpPr txBox="1"/>
          <p:nvPr/>
        </p:nvSpPr>
        <p:spPr>
          <a:xfrm>
            <a:off x="4462272" y="3054096"/>
            <a:ext cx="3410712" cy="731520"/>
          </a:xfrm>
          <a:prstGeom prst="rect">
            <a:avLst/>
          </a:prstGeom>
          <a:noFill/>
          <a:ln/>
        </p:spPr>
        <p:txBody>
          <a:bodyPr wrap="square" lIns="0" tIns="0" rIns="0" bIns="0" rtlCol="0" anchor="ctr"/>
          <a:lstStyle/>
          <a:p>
            <a:pPr indent="0" marL="0">
              <a:buNone/>
            </a:pPr>
            <a:r>
              <a:rPr lang="en-US" sz="1100" dirty="0">
                <a:solidFill>
                  <a:srgbClr val="0F172A"/>
                </a:solidFill>
                <a:latin typeface="Inter" pitchFamily="34" charset="0"/>
                <a:ea typeface="Inter" pitchFamily="34" charset="-122"/>
                <a:cs typeface="Inter" pitchFamily="34" charset="-120"/>
              </a:rPr>
              <a:t>Meta defaults to Advantage+; TikTok US has new owners (2026)</a:t>
            </a:r>
            <a:endParaRPr lang="en-US" sz="1100" dirty="0"/>
          </a:p>
        </p:txBody>
      </p:sp>
      <p:sp>
        <p:nvSpPr>
          <p:cNvPr id="31" name="Shape 26"/>
          <p:cNvSpPr/>
          <p:nvPr/>
        </p:nvSpPr>
        <p:spPr>
          <a:xfrm>
            <a:off x="4425696" y="3858768"/>
            <a:ext cx="3465576" cy="347472"/>
          </a:xfrm>
          <a:prstGeom prst="roundRect">
            <a:avLst>
              <a:gd name="adj" fmla="val 15789"/>
            </a:avLst>
          </a:prstGeom>
          <a:solidFill>
            <a:srgbClr val="EFF6FF"/>
          </a:solidFill>
          <a:ln w="6350">
            <a:solidFill>
              <a:srgbClr val="EFF6FF"/>
            </a:solidFill>
            <a:prstDash val="solid"/>
          </a:ln>
        </p:spPr>
      </p:sp>
      <p:sp>
        <p:nvSpPr>
          <p:cNvPr id="32" name="Text 27"/>
          <p:cNvSpPr txBox="1"/>
          <p:nvPr/>
        </p:nvSpPr>
        <p:spPr>
          <a:xfrm>
            <a:off x="4517136" y="3858768"/>
            <a:ext cx="3319272" cy="347472"/>
          </a:xfrm>
          <a:prstGeom prst="rect">
            <a:avLst/>
          </a:prstGeom>
          <a:noFill/>
          <a:ln/>
        </p:spPr>
        <p:txBody>
          <a:bodyPr wrap="square" lIns="0" tIns="0" rIns="0" bIns="0" rtlCol="0" anchor="ctr"/>
          <a:lstStyle/>
          <a:p>
            <a:pPr indent="0" marL="0">
              <a:buNone/>
            </a:pPr>
            <a:r>
              <a:rPr lang="en-US" sz="1000" b="1" dirty="0">
                <a:solidFill>
                  <a:srgbClr val="1D4ED8"/>
                </a:solidFill>
                <a:latin typeface="Inter" pitchFamily="34" charset="0"/>
                <a:ea typeface="Inter" pitchFamily="34" charset="-122"/>
                <a:cs typeface="Inter" pitchFamily="34" charset="-120"/>
              </a:rPr>
              <a:t>So what: </a:t>
            </a:r>
            <a:pPr indent="0" marL="0">
              <a:buNone/>
            </a:pPr>
            <a:r>
              <a:rPr lang="en-US" sz="1000" b="1" dirty="0">
                <a:solidFill>
                  <a:srgbClr val="0A1F44"/>
                </a:solidFill>
                <a:latin typeface="Inter" pitchFamily="34" charset="0"/>
                <a:ea typeface="Inter" pitchFamily="34" charset="-122"/>
                <a:cs typeface="Inter" pitchFamily="34" charset="-120"/>
              </a:rPr>
              <a:t>Less control, more platform risk</a:t>
            </a:r>
            <a:endParaRPr lang="en-US" sz="1000" dirty="0"/>
          </a:p>
        </p:txBody>
      </p:sp>
      <p:sp>
        <p:nvSpPr>
          <p:cNvPr id="33" name="Shape 28"/>
          <p:cNvSpPr/>
          <p:nvPr/>
        </p:nvSpPr>
        <p:spPr>
          <a:xfrm>
            <a:off x="502920" y="4425696"/>
            <a:ext cx="3685032" cy="1828800"/>
          </a:xfrm>
          <a:prstGeom prst="roundRect">
            <a:avLst>
              <a:gd name="adj" fmla="val 4000"/>
            </a:avLst>
          </a:prstGeom>
          <a:solidFill>
            <a:srgbClr val="FFFFFF"/>
          </a:solidFill>
          <a:ln w="9525">
            <a:solidFill>
              <a:srgbClr val="E2E8F0"/>
            </a:solidFill>
            <a:prstDash val="solid"/>
          </a:ln>
        </p:spPr>
      </p:sp>
      <p:sp>
        <p:nvSpPr>
          <p:cNvPr id="34" name="Shape 29"/>
          <p:cNvSpPr/>
          <p:nvPr/>
        </p:nvSpPr>
        <p:spPr>
          <a:xfrm>
            <a:off x="630936" y="4535424"/>
            <a:ext cx="365760" cy="365760"/>
          </a:xfrm>
          <a:prstGeom prst="ellipse">
            <a:avLst/>
          </a:prstGeom>
          <a:solidFill>
            <a:srgbClr val="EFF6FF"/>
          </a:solidFill>
          <a:ln w="6350">
            <a:solidFill>
              <a:srgbClr val="EFF6FF"/>
            </a:solidFill>
            <a:prstDash val="solid"/>
          </a:ln>
        </p:spPr>
      </p:sp>
      <p:pic>
        <p:nvPicPr>
          <p:cNvPr id="35" name="Image 3" descr="preencoded.png">    </p:cNvPr>
          <p:cNvPicPr>
            <a:picLocks noChangeAspect="1"/>
          </p:cNvPicPr>
          <p:nvPr/>
        </p:nvPicPr>
        <p:blipFill>
          <a:blip r:embed="rId4"/>
          <a:stretch>
            <a:fillRect/>
          </a:stretch>
        </p:blipFill>
        <p:spPr>
          <a:xfrm>
            <a:off x="711403" y="4615891"/>
            <a:ext cx="204826" cy="204826"/>
          </a:xfrm>
          <a:prstGeom prst="rect">
            <a:avLst/>
          </a:prstGeom>
        </p:spPr>
      </p:pic>
      <p:sp>
        <p:nvSpPr>
          <p:cNvPr id="36" name="Text 30"/>
          <p:cNvSpPr txBox="1"/>
          <p:nvPr/>
        </p:nvSpPr>
        <p:spPr>
          <a:xfrm>
            <a:off x="1088136" y="4535424"/>
            <a:ext cx="2953512" cy="365760"/>
          </a:xfrm>
          <a:prstGeom prst="rect">
            <a:avLst/>
          </a:prstGeom>
          <a:noFill/>
          <a:ln/>
        </p:spPr>
        <p:txBody>
          <a:bodyPr wrap="square" lIns="0" tIns="0" rIns="0" bIns="0" rtlCol="0" anchor="ctr"/>
          <a:lstStyle/>
          <a:p>
            <a:pPr indent="0" marL="0">
              <a:buNone/>
            </a:pPr>
            <a:r>
              <a:rPr lang="en-US" sz="1250" b="1" dirty="0">
                <a:solidFill>
                  <a:srgbClr val="0A1F44"/>
                </a:solidFill>
                <a:latin typeface="Inter" pitchFamily="34" charset="0"/>
                <a:ea typeface="Inter" pitchFamily="34" charset="-122"/>
                <a:cs typeface="Inter" pitchFamily="34" charset="-120"/>
              </a:rPr>
              <a:t>Reach costs more</a:t>
            </a:r>
            <a:endParaRPr lang="en-US" sz="1250" dirty="0"/>
          </a:p>
        </p:txBody>
      </p:sp>
      <p:sp>
        <p:nvSpPr>
          <p:cNvPr id="37" name="Text 31"/>
          <p:cNvSpPr txBox="1"/>
          <p:nvPr/>
        </p:nvSpPr>
        <p:spPr>
          <a:xfrm>
            <a:off x="649224" y="4992624"/>
            <a:ext cx="3410712" cy="731520"/>
          </a:xfrm>
          <a:prstGeom prst="rect">
            <a:avLst/>
          </a:prstGeom>
          <a:noFill/>
          <a:ln/>
        </p:spPr>
        <p:txBody>
          <a:bodyPr wrap="square" lIns="0" tIns="0" rIns="0" bIns="0" rtlCol="0" anchor="ctr"/>
          <a:lstStyle/>
          <a:p>
            <a:pPr indent="0" marL="0">
              <a:buNone/>
            </a:pPr>
            <a:r>
              <a:rPr lang="en-US" sz="1100" dirty="0">
                <a:solidFill>
                  <a:srgbClr val="0F172A"/>
                </a:solidFill>
                <a:latin typeface="Inter" pitchFamily="34" charset="0"/>
                <a:ea typeface="Inter" pitchFamily="34" charset="-122"/>
                <a:cs typeface="Inter" pitchFamily="34" charset="-120"/>
              </a:rPr>
              <a:t>Meta price per ad +12% year on year (Q2 2026)</a:t>
            </a:r>
            <a:endParaRPr lang="en-US" sz="1100" dirty="0"/>
          </a:p>
        </p:txBody>
      </p:sp>
      <p:sp>
        <p:nvSpPr>
          <p:cNvPr id="38" name="Shape 32"/>
          <p:cNvSpPr/>
          <p:nvPr/>
        </p:nvSpPr>
        <p:spPr>
          <a:xfrm>
            <a:off x="612648" y="5797296"/>
            <a:ext cx="3465576" cy="347472"/>
          </a:xfrm>
          <a:prstGeom prst="roundRect">
            <a:avLst>
              <a:gd name="adj" fmla="val 15789"/>
            </a:avLst>
          </a:prstGeom>
          <a:solidFill>
            <a:srgbClr val="EFF6FF"/>
          </a:solidFill>
          <a:ln w="6350">
            <a:solidFill>
              <a:srgbClr val="EFF6FF"/>
            </a:solidFill>
            <a:prstDash val="solid"/>
          </a:ln>
        </p:spPr>
      </p:sp>
      <p:sp>
        <p:nvSpPr>
          <p:cNvPr id="39" name="Text 33"/>
          <p:cNvSpPr txBox="1"/>
          <p:nvPr/>
        </p:nvSpPr>
        <p:spPr>
          <a:xfrm>
            <a:off x="704088" y="5797296"/>
            <a:ext cx="3319272" cy="347472"/>
          </a:xfrm>
          <a:prstGeom prst="rect">
            <a:avLst/>
          </a:prstGeom>
          <a:noFill/>
          <a:ln/>
        </p:spPr>
        <p:txBody>
          <a:bodyPr wrap="square" lIns="0" tIns="0" rIns="0" bIns="0" rtlCol="0" anchor="ctr"/>
          <a:lstStyle/>
          <a:p>
            <a:pPr indent="0" marL="0">
              <a:buNone/>
            </a:pPr>
            <a:r>
              <a:rPr lang="en-US" sz="1000" b="1" dirty="0">
                <a:solidFill>
                  <a:srgbClr val="1D4ED8"/>
                </a:solidFill>
                <a:latin typeface="Inter" pitchFamily="34" charset="0"/>
                <a:ea typeface="Inter" pitchFamily="34" charset="-122"/>
                <a:cs typeface="Inter" pitchFamily="34" charset="-120"/>
              </a:rPr>
              <a:t>So what: </a:t>
            </a:r>
            <a:pPr indent="0" marL="0">
              <a:buNone/>
            </a:pPr>
            <a:r>
              <a:rPr lang="en-US" sz="1000" b="1" dirty="0">
                <a:solidFill>
                  <a:srgbClr val="0A1F44"/>
                </a:solidFill>
                <a:latin typeface="Inter" pitchFamily="34" charset="0"/>
                <a:ea typeface="Inter" pitchFamily="34" charset="-122"/>
                <a:cs typeface="Inter" pitchFamily="34" charset="-120"/>
              </a:rPr>
              <a:t>Every new customer is dearer</a:t>
            </a:r>
            <a:endParaRPr lang="en-US" sz="1000" dirty="0"/>
          </a:p>
        </p:txBody>
      </p:sp>
      <p:sp>
        <p:nvSpPr>
          <p:cNvPr id="40" name="Shape 34"/>
          <p:cNvSpPr/>
          <p:nvPr/>
        </p:nvSpPr>
        <p:spPr>
          <a:xfrm>
            <a:off x="4315968" y="4425696"/>
            <a:ext cx="3685032" cy="1828800"/>
          </a:xfrm>
          <a:prstGeom prst="roundRect">
            <a:avLst>
              <a:gd name="adj" fmla="val 4000"/>
            </a:avLst>
          </a:prstGeom>
          <a:solidFill>
            <a:srgbClr val="FFFFFF"/>
          </a:solidFill>
          <a:ln w="9525">
            <a:solidFill>
              <a:srgbClr val="E2E8F0"/>
            </a:solidFill>
            <a:prstDash val="solid"/>
          </a:ln>
        </p:spPr>
      </p:sp>
      <p:sp>
        <p:nvSpPr>
          <p:cNvPr id="41" name="Shape 35"/>
          <p:cNvSpPr/>
          <p:nvPr/>
        </p:nvSpPr>
        <p:spPr>
          <a:xfrm>
            <a:off x="4443984" y="4535424"/>
            <a:ext cx="365760" cy="365760"/>
          </a:xfrm>
          <a:prstGeom prst="ellipse">
            <a:avLst/>
          </a:prstGeom>
          <a:solidFill>
            <a:srgbClr val="EFF6FF"/>
          </a:solidFill>
          <a:ln w="6350">
            <a:solidFill>
              <a:srgbClr val="EFF6FF"/>
            </a:solidFill>
            <a:prstDash val="solid"/>
          </a:ln>
        </p:spPr>
      </p:sp>
      <p:pic>
        <p:nvPicPr>
          <p:cNvPr id="42" name="Image 4" descr="preencoded.png">    </p:cNvPr>
          <p:cNvPicPr>
            <a:picLocks noChangeAspect="1"/>
          </p:cNvPicPr>
          <p:nvPr/>
        </p:nvPicPr>
        <p:blipFill>
          <a:blip r:embed="rId5"/>
          <a:stretch>
            <a:fillRect/>
          </a:stretch>
        </p:blipFill>
        <p:spPr>
          <a:xfrm>
            <a:off x="4524451" y="4615891"/>
            <a:ext cx="204826" cy="204826"/>
          </a:xfrm>
          <a:prstGeom prst="rect">
            <a:avLst/>
          </a:prstGeom>
        </p:spPr>
      </p:pic>
      <p:sp>
        <p:nvSpPr>
          <p:cNvPr id="43" name="Text 36"/>
          <p:cNvSpPr txBox="1"/>
          <p:nvPr/>
        </p:nvSpPr>
        <p:spPr>
          <a:xfrm>
            <a:off x="4901184" y="4535424"/>
            <a:ext cx="2953512" cy="365760"/>
          </a:xfrm>
          <a:prstGeom prst="rect">
            <a:avLst/>
          </a:prstGeom>
          <a:noFill/>
          <a:ln/>
        </p:spPr>
        <p:txBody>
          <a:bodyPr wrap="square" lIns="0" tIns="0" rIns="0" bIns="0" rtlCol="0" anchor="ctr"/>
          <a:lstStyle/>
          <a:p>
            <a:pPr indent="0" marL="0">
              <a:buNone/>
            </a:pPr>
            <a:r>
              <a:rPr lang="en-US" sz="1250" b="1" dirty="0">
                <a:solidFill>
                  <a:srgbClr val="0A1F44"/>
                </a:solidFill>
                <a:latin typeface="Inter" pitchFamily="34" charset="0"/>
                <a:ea typeface="Inter" pitchFamily="34" charset="-122"/>
                <a:cs typeface="Inter" pitchFamily="34" charset="-120"/>
              </a:rPr>
              <a:t>Cautious consumer</a:t>
            </a:r>
            <a:endParaRPr lang="en-US" sz="1250" dirty="0"/>
          </a:p>
        </p:txBody>
      </p:sp>
      <p:sp>
        <p:nvSpPr>
          <p:cNvPr id="44" name="Text 37"/>
          <p:cNvSpPr txBox="1"/>
          <p:nvPr/>
        </p:nvSpPr>
        <p:spPr>
          <a:xfrm>
            <a:off x="4462272" y="4992624"/>
            <a:ext cx="3410712" cy="731520"/>
          </a:xfrm>
          <a:prstGeom prst="rect">
            <a:avLst/>
          </a:prstGeom>
          <a:noFill/>
          <a:ln/>
        </p:spPr>
        <p:txBody>
          <a:bodyPr wrap="square" lIns="0" tIns="0" rIns="0" bIns="0" rtlCol="0" anchor="ctr"/>
          <a:lstStyle/>
          <a:p>
            <a:pPr indent="0" marL="0">
              <a:buNone/>
            </a:pPr>
            <a:r>
              <a:rPr lang="en-US" sz="1100" dirty="0">
                <a:solidFill>
                  <a:srgbClr val="0F172A"/>
                </a:solidFill>
                <a:latin typeface="Inter" pitchFamily="34" charset="0"/>
                <a:ea typeface="Inter" pitchFamily="34" charset="-122"/>
                <a:cs typeface="Inter" pitchFamily="34" charset="-120"/>
              </a:rPr>
              <a:t>Sentiment at a record low in 2026 (UMich); tariffs lift prices</a:t>
            </a:r>
            <a:endParaRPr lang="en-US" sz="1100" dirty="0"/>
          </a:p>
        </p:txBody>
      </p:sp>
      <p:sp>
        <p:nvSpPr>
          <p:cNvPr id="45" name="Shape 38"/>
          <p:cNvSpPr/>
          <p:nvPr/>
        </p:nvSpPr>
        <p:spPr>
          <a:xfrm>
            <a:off x="4425696" y="5797296"/>
            <a:ext cx="3465576" cy="347472"/>
          </a:xfrm>
          <a:prstGeom prst="roundRect">
            <a:avLst>
              <a:gd name="adj" fmla="val 15789"/>
            </a:avLst>
          </a:prstGeom>
          <a:solidFill>
            <a:srgbClr val="EFF6FF"/>
          </a:solidFill>
          <a:ln w="6350">
            <a:solidFill>
              <a:srgbClr val="EFF6FF"/>
            </a:solidFill>
            <a:prstDash val="solid"/>
          </a:ln>
        </p:spPr>
      </p:sp>
      <p:sp>
        <p:nvSpPr>
          <p:cNvPr id="46" name="Text 39"/>
          <p:cNvSpPr txBox="1"/>
          <p:nvPr/>
        </p:nvSpPr>
        <p:spPr>
          <a:xfrm>
            <a:off x="4517136" y="5797296"/>
            <a:ext cx="3319272" cy="347472"/>
          </a:xfrm>
          <a:prstGeom prst="rect">
            <a:avLst/>
          </a:prstGeom>
          <a:noFill/>
          <a:ln/>
        </p:spPr>
        <p:txBody>
          <a:bodyPr wrap="square" lIns="0" tIns="0" rIns="0" bIns="0" rtlCol="0" anchor="ctr"/>
          <a:lstStyle/>
          <a:p>
            <a:pPr indent="0" marL="0">
              <a:buNone/>
            </a:pPr>
            <a:r>
              <a:rPr lang="en-US" sz="1000" b="1" dirty="0">
                <a:solidFill>
                  <a:srgbClr val="1D4ED8"/>
                </a:solidFill>
                <a:latin typeface="Inter" pitchFamily="34" charset="0"/>
                <a:ea typeface="Inter" pitchFamily="34" charset="-122"/>
                <a:cs typeface="Inter" pitchFamily="34" charset="-120"/>
              </a:rPr>
              <a:t>So what: </a:t>
            </a:r>
            <a:pPr indent="0" marL="0">
              <a:buNone/>
            </a:pPr>
            <a:r>
              <a:rPr lang="en-US" sz="1000" b="1" dirty="0">
                <a:solidFill>
                  <a:srgbClr val="0A1F44"/>
                </a:solidFill>
                <a:latin typeface="Inter" pitchFamily="34" charset="0"/>
                <a:ea typeface="Inter" pitchFamily="34" charset="-122"/>
                <a:cs typeface="Inter" pitchFamily="34" charset="-120"/>
              </a:rPr>
              <a:t>Every buyer kept matters more</a:t>
            </a:r>
            <a:endParaRPr lang="en-US" sz="1000" dirty="0"/>
          </a:p>
        </p:txBody>
      </p:sp>
      <p:sp>
        <p:nvSpPr>
          <p:cNvPr id="47" name="Text 40"/>
          <p:cNvSpPr txBox="1"/>
          <p:nvPr/>
        </p:nvSpPr>
        <p:spPr>
          <a:xfrm>
            <a:off x="8275320" y="1207008"/>
            <a:ext cx="3410712" cy="274320"/>
          </a:xfrm>
          <a:prstGeom prst="rect">
            <a:avLst/>
          </a:prstGeom>
          <a:noFill/>
          <a:ln/>
        </p:spPr>
        <p:txBody>
          <a:bodyPr wrap="square" lIns="0" tIns="0" rIns="0" bIns="0" rtlCol="0" anchor="t"/>
          <a:lstStyle/>
          <a:p>
            <a:pPr indent="0" marL="0">
              <a:buNone/>
            </a:pPr>
            <a:r>
              <a:rPr lang="en-US" sz="1250" b="1" dirty="0">
                <a:solidFill>
                  <a:srgbClr val="0A1F44"/>
                </a:solidFill>
                <a:latin typeface="Inter" pitchFamily="34" charset="0"/>
                <a:ea typeface="Inter" pitchFamily="34" charset="-122"/>
                <a:cs typeface="Inter" pitchFamily="34" charset="-120"/>
              </a:rPr>
              <a:t>The industry's answer</a:t>
            </a:r>
            <a:endParaRPr lang="en-US" sz="1250" dirty="0"/>
          </a:p>
        </p:txBody>
      </p:sp>
      <p:sp>
        <p:nvSpPr>
          <p:cNvPr id="48" name="Text 41"/>
          <p:cNvSpPr txBox="1"/>
          <p:nvPr/>
        </p:nvSpPr>
        <p:spPr>
          <a:xfrm>
            <a:off x="8275320" y="1481328"/>
            <a:ext cx="3410712" cy="219456"/>
          </a:xfrm>
          <a:prstGeom prst="rect">
            <a:avLst/>
          </a:prstGeom>
          <a:noFill/>
          <a:ln/>
        </p:spPr>
        <p:txBody>
          <a:bodyPr wrap="square" lIns="0" tIns="0" rIns="0" bIns="0" rtlCol="0" anchor="t"/>
          <a:lstStyle/>
          <a:p>
            <a:pPr indent="0" marL="0">
              <a:buNone/>
            </a:pPr>
            <a:r>
              <a:rPr lang="en-US" sz="950" dirty="0">
                <a:solidFill>
                  <a:srgbClr val="64748B"/>
                </a:solidFill>
                <a:latin typeface="Inter" pitchFamily="34" charset="0"/>
                <a:ea typeface="Inter" pitchFamily="34" charset="-122"/>
                <a:cs typeface="Inter" pitchFamily="34" charset="-120"/>
              </a:rPr>
              <a:t>Case Exhibit B; McKinsey; Gordon et al.</a:t>
            </a:r>
            <a:endParaRPr lang="en-US" sz="950" dirty="0"/>
          </a:p>
        </p:txBody>
      </p:sp>
      <p:sp>
        <p:nvSpPr>
          <p:cNvPr id="49" name="Shape 42"/>
          <p:cNvSpPr/>
          <p:nvPr/>
        </p:nvSpPr>
        <p:spPr>
          <a:xfrm>
            <a:off x="8275320" y="1819656"/>
            <a:ext cx="329184" cy="329184"/>
          </a:xfrm>
          <a:prstGeom prst="ellipse">
            <a:avLst/>
          </a:prstGeom>
          <a:solidFill>
            <a:srgbClr val="EFF6FF"/>
          </a:solidFill>
          <a:ln w="6350">
            <a:solidFill>
              <a:srgbClr val="EFF6FF"/>
            </a:solidFill>
            <a:prstDash val="solid"/>
          </a:ln>
        </p:spPr>
      </p:sp>
      <p:pic>
        <p:nvPicPr>
          <p:cNvPr id="50" name="Image 5" descr="preencoded.png">    </p:cNvPr>
          <p:cNvPicPr>
            <a:picLocks noChangeAspect="1"/>
          </p:cNvPicPr>
          <p:nvPr/>
        </p:nvPicPr>
        <p:blipFill>
          <a:blip r:embed="rId6"/>
          <a:stretch>
            <a:fillRect/>
          </a:stretch>
        </p:blipFill>
        <p:spPr>
          <a:xfrm>
            <a:off x="8347740" y="1892076"/>
            <a:ext cx="184343" cy="184343"/>
          </a:xfrm>
          <a:prstGeom prst="rect">
            <a:avLst/>
          </a:prstGeom>
        </p:spPr>
      </p:pic>
      <p:sp>
        <p:nvSpPr>
          <p:cNvPr id="51" name="Text 43"/>
          <p:cNvSpPr txBox="1"/>
          <p:nvPr/>
        </p:nvSpPr>
        <p:spPr>
          <a:xfrm>
            <a:off x="8695944" y="1783080"/>
            <a:ext cx="2990088" cy="640080"/>
          </a:xfrm>
          <a:prstGeom prst="rect">
            <a:avLst/>
          </a:prstGeom>
          <a:noFill/>
          <a:ln/>
        </p:spPr>
        <p:txBody>
          <a:bodyPr wrap="square" lIns="0" tIns="0" rIns="0" bIns="0" rtlCol="0" anchor="t"/>
          <a:lstStyle/>
          <a:p>
            <a:pPr indent="0" marL="0">
              <a:buNone/>
            </a:pPr>
            <a:r>
              <a:rPr lang="en-US" sz="1050" b="1" dirty="0">
                <a:solidFill>
                  <a:srgbClr val="0A1F44"/>
                </a:solidFill>
                <a:latin typeface="Inter" pitchFamily="34" charset="0"/>
                <a:ea typeface="Inter" pitchFamily="34" charset="-122"/>
                <a:cs typeface="Inter" pitchFamily="34" charset="-120"/>
              </a:rPr>
              <a:t>First-party data wins</a:t>
            </a:r>
            <a:endParaRPr lang="en-US" sz="1050" dirty="0"/>
          </a:p>
          <a:p>
            <a:pPr indent="0" marL="0">
              <a:buNone/>
            </a:pPr>
            <a:r>
              <a:rPr lang="en-US" sz="900" dirty="0">
                <a:solidFill>
                  <a:srgbClr val="334155"/>
                </a:solidFill>
                <a:latin typeface="Inter" pitchFamily="34" charset="0"/>
                <a:ea typeface="Inter" pitchFamily="34" charset="-122"/>
                <a:cs typeface="Inter" pitchFamily="34" charset="-120"/>
              </a:rPr>
              <a:t>Own the customer, escape signal loss</a:t>
            </a:r>
            <a:endParaRPr lang="en-US" sz="1050" dirty="0"/>
          </a:p>
        </p:txBody>
      </p:sp>
      <p:sp>
        <p:nvSpPr>
          <p:cNvPr id="52" name="Shape 44"/>
          <p:cNvSpPr/>
          <p:nvPr/>
        </p:nvSpPr>
        <p:spPr>
          <a:xfrm>
            <a:off x="8275320" y="2496312"/>
            <a:ext cx="329184" cy="329184"/>
          </a:xfrm>
          <a:prstGeom prst="ellipse">
            <a:avLst/>
          </a:prstGeom>
          <a:solidFill>
            <a:srgbClr val="EFF6FF"/>
          </a:solidFill>
          <a:ln w="6350">
            <a:solidFill>
              <a:srgbClr val="EFF6FF"/>
            </a:solidFill>
            <a:prstDash val="solid"/>
          </a:ln>
        </p:spPr>
      </p:sp>
      <p:pic>
        <p:nvPicPr>
          <p:cNvPr id="53" name="Image 6" descr="preencoded.png">    </p:cNvPr>
          <p:cNvPicPr>
            <a:picLocks noChangeAspect="1"/>
          </p:cNvPicPr>
          <p:nvPr/>
        </p:nvPicPr>
        <p:blipFill>
          <a:blip r:embed="rId7"/>
          <a:stretch>
            <a:fillRect/>
          </a:stretch>
        </p:blipFill>
        <p:spPr>
          <a:xfrm>
            <a:off x="8347740" y="2568732"/>
            <a:ext cx="184343" cy="184343"/>
          </a:xfrm>
          <a:prstGeom prst="rect">
            <a:avLst/>
          </a:prstGeom>
        </p:spPr>
      </p:pic>
      <p:sp>
        <p:nvSpPr>
          <p:cNvPr id="54" name="Text 45"/>
          <p:cNvSpPr txBox="1"/>
          <p:nvPr/>
        </p:nvSpPr>
        <p:spPr>
          <a:xfrm>
            <a:off x="8695944" y="2459736"/>
            <a:ext cx="2990088" cy="640080"/>
          </a:xfrm>
          <a:prstGeom prst="rect">
            <a:avLst/>
          </a:prstGeom>
          <a:noFill/>
          <a:ln/>
        </p:spPr>
        <p:txBody>
          <a:bodyPr wrap="square" lIns="0" tIns="0" rIns="0" bIns="0" rtlCol="0" anchor="t"/>
          <a:lstStyle/>
          <a:p>
            <a:pPr indent="0" marL="0">
              <a:buNone/>
            </a:pPr>
            <a:r>
              <a:rPr lang="en-US" sz="1050" b="1" dirty="0">
                <a:solidFill>
                  <a:srgbClr val="0A1F44"/>
                </a:solidFill>
                <a:latin typeface="Inter" pitchFamily="34" charset="0"/>
                <a:ea typeface="Inter" pitchFamily="34" charset="-122"/>
                <a:cs typeface="Inter" pitchFamily="34" charset="-120"/>
              </a:rPr>
              <a:t>Measure by experiment</a:t>
            </a:r>
            <a:endParaRPr lang="en-US" sz="1050" dirty="0"/>
          </a:p>
          <a:p>
            <a:pPr indent="0" marL="0">
              <a:buNone/>
            </a:pPr>
            <a:r>
              <a:rPr lang="en-US" sz="900" dirty="0">
                <a:solidFill>
                  <a:srgbClr val="334155"/>
                </a:solidFill>
                <a:latin typeface="Inter" pitchFamily="34" charset="0"/>
                <a:ea typeface="Inter" pitchFamily="34" charset="-122"/>
                <a:cs typeface="Inter" pitchFamily="34" charset="-120"/>
              </a:rPr>
              <a:t>Attribution can miss true lift (Gordon)</a:t>
            </a:r>
            <a:endParaRPr lang="en-US" sz="1050" dirty="0"/>
          </a:p>
        </p:txBody>
      </p:sp>
      <p:sp>
        <p:nvSpPr>
          <p:cNvPr id="55" name="Shape 46"/>
          <p:cNvSpPr/>
          <p:nvPr/>
        </p:nvSpPr>
        <p:spPr>
          <a:xfrm>
            <a:off x="8275320" y="3172968"/>
            <a:ext cx="329184" cy="329184"/>
          </a:xfrm>
          <a:prstGeom prst="ellipse">
            <a:avLst/>
          </a:prstGeom>
          <a:solidFill>
            <a:srgbClr val="EFF6FF"/>
          </a:solidFill>
          <a:ln w="6350">
            <a:solidFill>
              <a:srgbClr val="EFF6FF"/>
            </a:solidFill>
            <a:prstDash val="solid"/>
          </a:ln>
        </p:spPr>
      </p:sp>
      <p:pic>
        <p:nvPicPr>
          <p:cNvPr id="56" name="Image 7" descr="preencoded.png">    </p:cNvPr>
          <p:cNvPicPr>
            <a:picLocks noChangeAspect="1"/>
          </p:cNvPicPr>
          <p:nvPr/>
        </p:nvPicPr>
        <p:blipFill>
          <a:blip r:embed="rId8"/>
          <a:stretch>
            <a:fillRect/>
          </a:stretch>
        </p:blipFill>
        <p:spPr>
          <a:xfrm>
            <a:off x="8347740" y="3245388"/>
            <a:ext cx="184343" cy="184343"/>
          </a:xfrm>
          <a:prstGeom prst="rect">
            <a:avLst/>
          </a:prstGeom>
        </p:spPr>
      </p:pic>
      <p:sp>
        <p:nvSpPr>
          <p:cNvPr id="57" name="Text 47"/>
          <p:cNvSpPr txBox="1"/>
          <p:nvPr/>
        </p:nvSpPr>
        <p:spPr>
          <a:xfrm>
            <a:off x="8695944" y="3136392"/>
            <a:ext cx="2990088" cy="640080"/>
          </a:xfrm>
          <a:prstGeom prst="rect">
            <a:avLst/>
          </a:prstGeom>
          <a:noFill/>
          <a:ln/>
        </p:spPr>
        <p:txBody>
          <a:bodyPr wrap="square" lIns="0" tIns="0" rIns="0" bIns="0" rtlCol="0" anchor="t"/>
          <a:lstStyle/>
          <a:p>
            <a:pPr indent="0" marL="0">
              <a:buNone/>
            </a:pPr>
            <a:r>
              <a:rPr lang="en-US" sz="1050" b="1" dirty="0">
                <a:solidFill>
                  <a:srgbClr val="0A1F44"/>
                </a:solidFill>
                <a:latin typeface="Inter" pitchFamily="34" charset="0"/>
                <a:ea typeface="Inter" pitchFamily="34" charset="-122"/>
                <a:cs typeface="Inter" pitchFamily="34" charset="-120"/>
              </a:rPr>
              <a:t>Personalize the journey</a:t>
            </a:r>
            <a:endParaRPr lang="en-US" sz="1050" dirty="0"/>
          </a:p>
          <a:p>
            <a:pPr indent="0" marL="0">
              <a:buNone/>
            </a:pPr>
            <a:r>
              <a:rPr lang="en-US" sz="900" dirty="0">
                <a:solidFill>
                  <a:srgbClr val="334155"/>
                </a:solidFill>
                <a:latin typeface="Inter" pitchFamily="34" charset="0"/>
                <a:ea typeface="Inter" pitchFamily="34" charset="-122"/>
                <a:cs typeface="Inter" pitchFamily="34" charset="-120"/>
              </a:rPr>
              <a:t>Leaders earn 40% more from it (McKinsey)</a:t>
            </a:r>
            <a:endParaRPr lang="en-US" sz="1050" dirty="0"/>
          </a:p>
        </p:txBody>
      </p:sp>
      <p:sp>
        <p:nvSpPr>
          <p:cNvPr id="58" name="Shape 48"/>
          <p:cNvSpPr/>
          <p:nvPr/>
        </p:nvSpPr>
        <p:spPr>
          <a:xfrm>
            <a:off x="8275320" y="3849624"/>
            <a:ext cx="329184" cy="329184"/>
          </a:xfrm>
          <a:prstGeom prst="ellipse">
            <a:avLst/>
          </a:prstGeom>
          <a:solidFill>
            <a:srgbClr val="EFF6FF"/>
          </a:solidFill>
          <a:ln w="6350">
            <a:solidFill>
              <a:srgbClr val="EFF6FF"/>
            </a:solidFill>
            <a:prstDash val="solid"/>
          </a:ln>
        </p:spPr>
      </p:sp>
      <p:pic>
        <p:nvPicPr>
          <p:cNvPr id="59" name="Image 8" descr="preencoded.png">    </p:cNvPr>
          <p:cNvPicPr>
            <a:picLocks noChangeAspect="1"/>
          </p:cNvPicPr>
          <p:nvPr/>
        </p:nvPicPr>
        <p:blipFill>
          <a:blip r:embed="rId9"/>
          <a:stretch>
            <a:fillRect/>
          </a:stretch>
        </p:blipFill>
        <p:spPr>
          <a:xfrm>
            <a:off x="8347740" y="3922044"/>
            <a:ext cx="184343" cy="184343"/>
          </a:xfrm>
          <a:prstGeom prst="rect">
            <a:avLst/>
          </a:prstGeom>
        </p:spPr>
      </p:pic>
      <p:sp>
        <p:nvSpPr>
          <p:cNvPr id="60" name="Text 49"/>
          <p:cNvSpPr txBox="1"/>
          <p:nvPr/>
        </p:nvSpPr>
        <p:spPr>
          <a:xfrm>
            <a:off x="8695944" y="3813048"/>
            <a:ext cx="2990088" cy="640080"/>
          </a:xfrm>
          <a:prstGeom prst="rect">
            <a:avLst/>
          </a:prstGeom>
          <a:noFill/>
          <a:ln/>
        </p:spPr>
        <p:txBody>
          <a:bodyPr wrap="square" lIns="0" tIns="0" rIns="0" bIns="0" rtlCol="0" anchor="t"/>
          <a:lstStyle/>
          <a:p>
            <a:pPr indent="0" marL="0">
              <a:buNone/>
            </a:pPr>
            <a:r>
              <a:rPr lang="en-US" sz="1050" b="1" dirty="0">
                <a:solidFill>
                  <a:srgbClr val="0A1F44"/>
                </a:solidFill>
                <a:latin typeface="Inter" pitchFamily="34" charset="0"/>
                <a:ea typeface="Inter" pitchFamily="34" charset="-122"/>
                <a:cs typeface="Inter" pitchFamily="34" charset="-120"/>
              </a:rPr>
              <a:t>Privacy tightens</a:t>
            </a:r>
            <a:endParaRPr lang="en-US" sz="1050" dirty="0"/>
          </a:p>
          <a:p>
            <a:pPr indent="0" marL="0">
              <a:buNone/>
            </a:pPr>
            <a:r>
              <a:rPr lang="en-US" sz="900" dirty="0">
                <a:solidFill>
                  <a:srgbClr val="334155"/>
                </a:solidFill>
                <a:latin typeface="Inter" pitchFamily="34" charset="0"/>
                <a:ea typeface="Inter" pitchFamily="34" charset="-122"/>
                <a:cs typeface="Inter" pitchFamily="34" charset="-120"/>
              </a:rPr>
              <a:t>CCPA limits how identity is unified</a:t>
            </a:r>
            <a:endParaRPr lang="en-US" sz="1050" dirty="0"/>
          </a:p>
        </p:txBody>
      </p:sp>
      <p:sp>
        <p:nvSpPr>
          <p:cNvPr id="61" name="Shape 50"/>
          <p:cNvSpPr/>
          <p:nvPr/>
        </p:nvSpPr>
        <p:spPr>
          <a:xfrm>
            <a:off x="8275320" y="4553712"/>
            <a:ext cx="3410712" cy="1700784"/>
          </a:xfrm>
          <a:prstGeom prst="roundRect">
            <a:avLst>
              <a:gd name="adj" fmla="val 3226"/>
            </a:avLst>
          </a:prstGeom>
          <a:solidFill>
            <a:srgbClr val="0A1F44"/>
          </a:solidFill>
          <a:ln w="6350">
            <a:solidFill>
              <a:srgbClr val="0A1F44"/>
            </a:solidFill>
            <a:prstDash val="solid"/>
          </a:ln>
        </p:spPr>
      </p:sp>
      <p:sp>
        <p:nvSpPr>
          <p:cNvPr id="62" name="Text 51"/>
          <p:cNvSpPr txBox="1"/>
          <p:nvPr/>
        </p:nvSpPr>
        <p:spPr>
          <a:xfrm>
            <a:off x="8403336" y="4553712"/>
            <a:ext cx="3191256" cy="1700784"/>
          </a:xfrm>
          <a:prstGeom prst="rect">
            <a:avLst/>
          </a:prstGeom>
          <a:noFill/>
          <a:ln/>
        </p:spPr>
        <p:txBody>
          <a:bodyPr wrap="square" lIns="0" tIns="0" rIns="0" bIns="0" rtlCol="0" anchor="ctr"/>
          <a:lstStyle/>
          <a:p>
            <a:pPr indent="0" marL="0">
              <a:spcAft>
                <a:spcPts val="300"/>
              </a:spcAft>
              <a:buNone/>
            </a:pPr>
            <a:r>
              <a:rPr lang="en-US" sz="1150" b="1" dirty="0">
                <a:solidFill>
                  <a:srgbClr val="FFFFFF"/>
                </a:solidFill>
                <a:latin typeface="Inter" pitchFamily="34" charset="0"/>
                <a:ea typeface="Inter" pitchFamily="34" charset="-122"/>
                <a:cs typeface="Inter" pitchFamily="34" charset="-120"/>
              </a:rPr>
              <a:t>Where Quince is exposed</a:t>
            </a:r>
            <a:endParaRPr lang="en-US" sz="1200" dirty="0"/>
          </a:p>
          <a:p>
            <a:pPr indent="0" marL="0">
              <a:spcAft>
                <a:spcPts val="300"/>
              </a:spcAft>
              <a:buNone/>
            </a:pPr>
            <a:r>
              <a:rPr lang="en-US" sz="950" dirty="0">
                <a:solidFill>
                  <a:srgbClr val="FFFFFF"/>
                </a:solidFill>
                <a:latin typeface="Inter" pitchFamily="34" charset="0"/>
                <a:ea typeface="Inter" pitchFamily="34" charset="-122"/>
                <a:cs typeface="Inter" pitchFamily="34" charset="-120"/>
              </a:rPr>
              <a:t>• 60% of the $120M sits on Meta, TikTok and Pinterest (Exhibit G)</a:t>
            </a:r>
            <a:endParaRPr lang="en-US" sz="1200" dirty="0"/>
          </a:p>
          <a:p>
            <a:pPr indent="0" marL="0">
              <a:spcAft>
                <a:spcPts val="300"/>
              </a:spcAft>
              <a:buNone/>
            </a:pPr>
            <a:r>
              <a:rPr lang="en-US" sz="950" dirty="0">
                <a:solidFill>
                  <a:srgbClr val="FFFFFF"/>
                </a:solidFill>
                <a:latin typeface="Inter" pitchFamily="34" charset="0"/>
                <a:ea typeface="Inter" pitchFamily="34" charset="-122"/>
                <a:cs typeface="Inter" pitchFamily="34" charset="-120"/>
              </a:rPr>
              <a:t>• Retargeting is templated ads; email is batch-and-blast (case s. 1)</a:t>
            </a:r>
            <a:endParaRPr lang="en-US" sz="1200" dirty="0"/>
          </a:p>
          <a:p>
            <a:pPr indent="0" marL="0">
              <a:spcAft>
                <a:spcPts val="300"/>
              </a:spcAft>
              <a:buNone/>
            </a:pPr>
            <a:r>
              <a:rPr lang="en-US" sz="950" dirty="0">
                <a:solidFill>
                  <a:srgbClr val="FFFFFF"/>
                </a:solidFill>
                <a:latin typeface="Inter" pitchFamily="34" charset="0"/>
                <a:ea typeface="Inter" pitchFamily="34" charset="-122"/>
                <a:cs typeface="Inter" pitchFamily="34" charset="-120"/>
              </a:rPr>
              <a:t>• CAC $48 → $62 (+29%); repeat 24% vs 30–35% (case s. 3)</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9326880" cy="841248"/>
          </a:xfrm>
          <a:prstGeom prst="rect">
            <a:avLst/>
          </a:prstGeom>
          <a:noFill/>
          <a:ln/>
        </p:spPr>
        <p:txBody>
          <a:bodyPr wrap="square" lIns="0" tIns="0" rIns="0" bIns="0" rtlCol="0" anchor="ctr"/>
          <a:lstStyle/>
          <a:p>
            <a:pPr indent="0" marL="0">
              <a:buNone/>
            </a:pPr>
            <a:r>
              <a:rPr lang="en-US" sz="2400" b="1" dirty="0">
                <a:solidFill>
                  <a:srgbClr val="0A1F44"/>
                </a:solidFill>
                <a:latin typeface="Inter" pitchFamily="34" charset="0"/>
                <a:ea typeface="Inter" pitchFamily="34" charset="-122"/>
                <a:cs typeface="Inter" pitchFamily="34" charset="-120"/>
              </a:rPr>
              <a:t>Quince rents reach, then loses most shoppers at the cart</a:t>
            </a:r>
            <a:endParaRPr lang="en-US" sz="2400" dirty="0"/>
          </a:p>
        </p:txBody>
      </p:sp>
      <p:pic>
        <p:nvPicPr>
          <p:cNvPr id="3" name="Image 0" descr="/tmp/claude-0/-home-user-Quince/7efe80ae-a049-50c2-9886-98bf7ca3a04a/scratchpad/assets/quince.png">    </p:cNvPr>
          <p:cNvPicPr>
            <a:picLocks noChangeAspect="1"/>
          </p:cNvPicPr>
          <p:nvPr/>
        </p:nvPicPr>
        <p:blipFill>
          <a:blip r:embed="rId1"/>
          <a:stretch>
            <a:fillRect/>
          </a:stretch>
        </p:blipFill>
        <p:spPr>
          <a:xfrm>
            <a:off x="10236708" y="615544"/>
            <a:ext cx="777240" cy="231951"/>
          </a:xfrm>
          <a:prstGeom prst="rect">
            <a:avLst/>
          </a:prstGeom>
        </p:spPr>
      </p:pic>
      <p:sp>
        <p:nvSpPr>
          <p:cNvPr id="4" name="Shape 1"/>
          <p:cNvSpPr/>
          <p:nvPr/>
        </p:nvSpPr>
        <p:spPr>
          <a:xfrm>
            <a:off x="11155680" y="603504"/>
            <a:ext cx="530352" cy="256032"/>
          </a:xfrm>
          <a:prstGeom prst="roundRect">
            <a:avLst>
              <a:gd name="adj" fmla="val 50000"/>
            </a:avLst>
          </a:prstGeom>
          <a:solidFill>
            <a:srgbClr val="0A1F44"/>
          </a:solidFill>
          <a:ln w="6350">
            <a:solidFill>
              <a:srgbClr val="0A1F44"/>
            </a:solidFill>
            <a:prstDash val="solid"/>
          </a:ln>
        </p:spPr>
      </p:sp>
      <p:sp>
        <p:nvSpPr>
          <p:cNvPr id="5" name="Text 2"/>
          <p:cNvSpPr txBox="1"/>
          <p:nvPr/>
        </p:nvSpPr>
        <p:spPr>
          <a:xfrm>
            <a:off x="11155680" y="603504"/>
            <a:ext cx="530352"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Inter" pitchFamily="34" charset="0"/>
                <a:ea typeface="Inter" pitchFamily="34" charset="-122"/>
                <a:cs typeface="Inter" pitchFamily="34" charset="-120"/>
              </a:rPr>
              <a:t>G27</a:t>
            </a:r>
            <a:endParaRPr lang="en-US" sz="950" dirty="0"/>
          </a:p>
        </p:txBody>
      </p:sp>
      <p:sp>
        <p:nvSpPr>
          <p:cNvPr id="6" name="Shape 3"/>
          <p:cNvSpPr/>
          <p:nvPr/>
        </p:nvSpPr>
        <p:spPr>
          <a:xfrm>
            <a:off x="502920" y="6400800"/>
            <a:ext cx="11183112" cy="0"/>
          </a:xfrm>
          <a:prstGeom prst="line">
            <a:avLst/>
          </a:prstGeom>
          <a:noFill/>
          <a:ln w="9525">
            <a:solidFill>
              <a:srgbClr val="E2E8F0"/>
            </a:solidFill>
            <a:prstDash val="solid"/>
          </a:ln>
        </p:spPr>
      </p:sp>
      <p:sp>
        <p:nvSpPr>
          <p:cNvPr id="7" name="Text 4"/>
          <p:cNvSpPr txBox="1"/>
          <p:nvPr/>
        </p:nvSpPr>
        <p:spPr>
          <a:xfrm>
            <a:off x="502920" y="6464808"/>
            <a:ext cx="9418320" cy="256032"/>
          </a:xfrm>
          <a:prstGeom prst="rect">
            <a:avLst/>
          </a:prstGeom>
          <a:noFill/>
          <a:ln/>
        </p:spPr>
        <p:txBody>
          <a:bodyPr wrap="square" lIns="0" tIns="0" rIns="0" bIns="0" rtlCol="0" anchor="ctr"/>
          <a:lstStyle/>
          <a:p>
            <a:pPr indent="0" marL="0">
              <a:buNone/>
            </a:pPr>
            <a:r>
              <a:rPr lang="en-US" sz="800" dirty="0">
                <a:solidFill>
                  <a:srgbClr val="64748B"/>
                </a:solidFill>
                <a:latin typeface="Inter" pitchFamily="34" charset="0"/>
                <a:ea typeface="Inter" pitchFamily="34" charset="-122"/>
                <a:cs typeface="Inter" pitchFamily="34" charset="-120"/>
              </a:rPr>
              <a:t>Source: Adobe CJA, Quince Case Data View, 1 Jan–30 Apr 2026 (Fallout A1, segments A2/A5, Flow A4, Cohort Table, A6), appendix 9–13; case Exhibits A, D, G. CJA repeat covers ~3 months, so it is used for relative gaps, not vs the case's 24%.</a:t>
            </a:r>
            <a:endParaRPr lang="en-US" sz="800" dirty="0"/>
          </a:p>
        </p:txBody>
      </p:sp>
      <p:sp>
        <p:nvSpPr>
          <p:cNvPr id="8" name="Text 5"/>
          <p:cNvSpPr txBox="1"/>
          <p:nvPr/>
        </p:nvSpPr>
        <p:spPr>
          <a:xfrm>
            <a:off x="9966960" y="6464808"/>
            <a:ext cx="1719072" cy="256032"/>
          </a:xfrm>
          <a:prstGeom prst="rect">
            <a:avLst/>
          </a:prstGeom>
          <a:noFill/>
          <a:ln/>
        </p:spPr>
        <p:txBody>
          <a:bodyPr wrap="square" lIns="0" tIns="0" rIns="0" bIns="0" rtlCol="0" anchor="ctr"/>
          <a:lstStyle/>
          <a:p>
            <a:pPr algn="r" indent="0" marL="0">
              <a:buNone/>
            </a:pPr>
            <a:r>
              <a:rPr lang="en-US" sz="800" dirty="0">
                <a:solidFill>
                  <a:srgbClr val="64748B"/>
                </a:solidFill>
                <a:latin typeface="Inter" pitchFamily="34" charset="0"/>
                <a:ea typeface="Inter" pitchFamily="34" charset="-122"/>
                <a:cs typeface="Inter" pitchFamily="34" charset="-120"/>
              </a:rPr>
              <a:t>Team G27  ·  4</a:t>
            </a:r>
            <a:endParaRPr lang="en-US" sz="800" dirty="0"/>
          </a:p>
        </p:txBody>
      </p:sp>
      <p:sp>
        <p:nvSpPr>
          <p:cNvPr id="9" name="Text 6"/>
          <p:cNvSpPr txBox="1"/>
          <p:nvPr/>
        </p:nvSpPr>
        <p:spPr>
          <a:xfrm>
            <a:off x="502920" y="1234440"/>
            <a:ext cx="4206240" cy="274320"/>
          </a:xfrm>
          <a:prstGeom prst="rect">
            <a:avLst/>
          </a:prstGeom>
          <a:noFill/>
          <a:ln/>
        </p:spPr>
        <p:txBody>
          <a:bodyPr wrap="square" lIns="0" tIns="0" rIns="0" bIns="0" rtlCol="0" anchor="t"/>
          <a:lstStyle/>
          <a:p>
            <a:pPr indent="0" marL="0">
              <a:buNone/>
            </a:pPr>
            <a:r>
              <a:rPr lang="en-US" sz="1250" b="1" dirty="0">
                <a:solidFill>
                  <a:srgbClr val="0A1F44"/>
                </a:solidFill>
                <a:latin typeface="Inter" pitchFamily="34" charset="0"/>
                <a:ea typeface="Inter" pitchFamily="34" charset="-122"/>
                <a:cs typeface="Inter" pitchFamily="34" charset="-120"/>
              </a:rPr>
              <a:t>Where the funnel breaks</a:t>
            </a:r>
            <a:endParaRPr lang="en-US" sz="1250" dirty="0"/>
          </a:p>
        </p:txBody>
      </p:sp>
      <p:sp>
        <p:nvSpPr>
          <p:cNvPr id="10" name="Text 7"/>
          <p:cNvSpPr txBox="1"/>
          <p:nvPr/>
        </p:nvSpPr>
        <p:spPr>
          <a:xfrm>
            <a:off x="502920" y="1508760"/>
            <a:ext cx="4206240" cy="219456"/>
          </a:xfrm>
          <a:prstGeom prst="rect">
            <a:avLst/>
          </a:prstGeom>
          <a:noFill/>
          <a:ln/>
        </p:spPr>
        <p:txBody>
          <a:bodyPr wrap="square" lIns="0" tIns="0" rIns="0" bIns="0" rtlCol="0" anchor="t"/>
          <a:lstStyle/>
          <a:p>
            <a:pPr indent="0" marL="0">
              <a:buNone/>
            </a:pPr>
            <a:r>
              <a:rPr lang="en-US" sz="950" dirty="0">
                <a:solidFill>
                  <a:srgbClr val="64748B"/>
                </a:solidFill>
                <a:latin typeface="Inter" pitchFamily="34" charset="0"/>
                <a:ea typeface="Inter" pitchFamily="34" charset="-122"/>
                <a:cs typeface="Inter" pitchFamily="34" charset="-120"/>
              </a:rPr>
              <a:t>People at each step (Fallout)</a:t>
            </a:r>
            <a:endParaRPr lang="en-US" sz="950" dirty="0"/>
          </a:p>
        </p:txBody>
      </p:sp>
      <p:sp>
        <p:nvSpPr>
          <p:cNvPr id="11" name="Shape 8"/>
          <p:cNvSpPr/>
          <p:nvPr/>
        </p:nvSpPr>
        <p:spPr>
          <a:xfrm>
            <a:off x="594360" y="2103120"/>
            <a:ext cx="566928" cy="1965960"/>
          </a:xfrm>
          <a:prstGeom prst="rect">
            <a:avLst/>
          </a:prstGeom>
          <a:solidFill>
            <a:srgbClr val="93B4F5"/>
          </a:solidFill>
          <a:ln w="6350">
            <a:solidFill>
              <a:srgbClr val="93B4F5"/>
            </a:solidFill>
            <a:prstDash val="solid"/>
          </a:ln>
        </p:spPr>
      </p:sp>
      <p:sp>
        <p:nvSpPr>
          <p:cNvPr id="12" name="Text 9"/>
          <p:cNvSpPr txBox="1"/>
          <p:nvPr/>
        </p:nvSpPr>
        <p:spPr>
          <a:xfrm>
            <a:off x="411480" y="1883664"/>
            <a:ext cx="932688" cy="201168"/>
          </a:xfrm>
          <a:prstGeom prst="rect">
            <a:avLst/>
          </a:prstGeom>
          <a:noFill/>
          <a:ln/>
        </p:spPr>
        <p:txBody>
          <a:bodyPr wrap="square" lIns="0" tIns="0" rIns="0" bIns="0" rtlCol="0" anchor="t"/>
          <a:lstStyle/>
          <a:p>
            <a:pPr algn="ctr" indent="0" marL="0">
              <a:buNone/>
            </a:pPr>
            <a:r>
              <a:rPr lang="en-US" sz="900" b="1" dirty="0">
                <a:solidFill>
                  <a:srgbClr val="0A1F44"/>
                </a:solidFill>
                <a:latin typeface="Inter" pitchFamily="34" charset="0"/>
                <a:ea typeface="Inter" pitchFamily="34" charset="-122"/>
                <a:cs typeface="Inter" pitchFamily="34" charset="-120"/>
              </a:rPr>
              <a:t>60,000</a:t>
            </a:r>
            <a:endParaRPr lang="en-US" sz="900" dirty="0"/>
          </a:p>
        </p:txBody>
      </p:sp>
      <p:sp>
        <p:nvSpPr>
          <p:cNvPr id="13" name="Text 10"/>
          <p:cNvSpPr txBox="1"/>
          <p:nvPr/>
        </p:nvSpPr>
        <p:spPr>
          <a:xfrm>
            <a:off x="411480" y="4105656"/>
            <a:ext cx="932688" cy="201168"/>
          </a:xfrm>
          <a:prstGeom prst="rect">
            <a:avLst/>
          </a:prstGeom>
          <a:noFill/>
          <a:ln/>
        </p:spPr>
        <p:txBody>
          <a:bodyPr wrap="square" lIns="0" tIns="0" rIns="0" bIns="0" rtlCol="0" anchor="t"/>
          <a:lstStyle/>
          <a:p>
            <a:pPr algn="ctr" indent="0" marL="0">
              <a:buNone/>
            </a:pPr>
            <a:r>
              <a:rPr lang="en-US" sz="900" dirty="0">
                <a:solidFill>
                  <a:srgbClr val="0F172A"/>
                </a:solidFill>
                <a:latin typeface="Inter" pitchFamily="34" charset="0"/>
                <a:ea typeface="Inter" pitchFamily="34" charset="-122"/>
                <a:cs typeface="Inter" pitchFamily="34" charset="-120"/>
              </a:rPr>
              <a:t>Landing</a:t>
            </a:r>
            <a:endParaRPr lang="en-US" sz="900" dirty="0"/>
          </a:p>
        </p:txBody>
      </p:sp>
      <p:sp>
        <p:nvSpPr>
          <p:cNvPr id="14" name="Shape 11"/>
          <p:cNvSpPr/>
          <p:nvPr/>
        </p:nvSpPr>
        <p:spPr>
          <a:xfrm>
            <a:off x="1417320" y="2871216"/>
            <a:ext cx="566928" cy="1197864"/>
          </a:xfrm>
          <a:prstGeom prst="rect">
            <a:avLst/>
          </a:prstGeom>
          <a:solidFill>
            <a:srgbClr val="93B4F5"/>
          </a:solidFill>
          <a:ln w="6350">
            <a:solidFill>
              <a:srgbClr val="93B4F5"/>
            </a:solidFill>
            <a:prstDash val="solid"/>
          </a:ln>
        </p:spPr>
      </p:sp>
      <p:sp>
        <p:nvSpPr>
          <p:cNvPr id="15" name="Text 12"/>
          <p:cNvSpPr txBox="1"/>
          <p:nvPr/>
        </p:nvSpPr>
        <p:spPr>
          <a:xfrm>
            <a:off x="1234440" y="2651760"/>
            <a:ext cx="932688" cy="201168"/>
          </a:xfrm>
          <a:prstGeom prst="rect">
            <a:avLst/>
          </a:prstGeom>
          <a:noFill/>
          <a:ln/>
        </p:spPr>
        <p:txBody>
          <a:bodyPr wrap="square" lIns="0" tIns="0" rIns="0" bIns="0" rtlCol="0" anchor="t"/>
          <a:lstStyle/>
          <a:p>
            <a:pPr algn="ctr" indent="0" marL="0">
              <a:buNone/>
            </a:pPr>
            <a:r>
              <a:rPr lang="en-US" sz="900" b="1" dirty="0">
                <a:solidFill>
                  <a:srgbClr val="0A1F44"/>
                </a:solidFill>
                <a:latin typeface="Inter" pitchFamily="34" charset="0"/>
                <a:ea typeface="Inter" pitchFamily="34" charset="-122"/>
                <a:cs typeface="Inter" pitchFamily="34" charset="-120"/>
              </a:rPr>
              <a:t>36,566</a:t>
            </a:r>
            <a:endParaRPr lang="en-US" sz="900" dirty="0"/>
          </a:p>
        </p:txBody>
      </p:sp>
      <p:sp>
        <p:nvSpPr>
          <p:cNvPr id="16" name="Text 13"/>
          <p:cNvSpPr txBox="1"/>
          <p:nvPr/>
        </p:nvSpPr>
        <p:spPr>
          <a:xfrm>
            <a:off x="1234440" y="4105656"/>
            <a:ext cx="932688" cy="201168"/>
          </a:xfrm>
          <a:prstGeom prst="rect">
            <a:avLst/>
          </a:prstGeom>
          <a:noFill/>
          <a:ln/>
        </p:spPr>
        <p:txBody>
          <a:bodyPr wrap="square" lIns="0" tIns="0" rIns="0" bIns="0" rtlCol="0" anchor="t"/>
          <a:lstStyle/>
          <a:p>
            <a:pPr algn="ctr" indent="0" marL="0">
              <a:buNone/>
            </a:pPr>
            <a:r>
              <a:rPr lang="en-US" sz="900" dirty="0">
                <a:solidFill>
                  <a:srgbClr val="0F172A"/>
                </a:solidFill>
                <a:latin typeface="Inter" pitchFamily="34" charset="0"/>
                <a:ea typeface="Inter" pitchFamily="34" charset="-122"/>
                <a:cs typeface="Inter" pitchFamily="34" charset="-120"/>
              </a:rPr>
              <a:t>Product</a:t>
            </a:r>
            <a:endParaRPr lang="en-US" sz="900" dirty="0"/>
          </a:p>
        </p:txBody>
      </p:sp>
      <p:sp>
        <p:nvSpPr>
          <p:cNvPr id="17" name="Shape 14"/>
          <p:cNvSpPr/>
          <p:nvPr/>
        </p:nvSpPr>
        <p:spPr>
          <a:xfrm>
            <a:off x="2240280" y="3694176"/>
            <a:ext cx="566928" cy="374904"/>
          </a:xfrm>
          <a:prstGeom prst="rect">
            <a:avLst/>
          </a:prstGeom>
          <a:solidFill>
            <a:srgbClr val="1D4ED8"/>
          </a:solidFill>
          <a:ln w="6350">
            <a:solidFill>
              <a:srgbClr val="1D4ED8"/>
            </a:solidFill>
            <a:prstDash val="solid"/>
          </a:ln>
        </p:spPr>
      </p:sp>
      <p:sp>
        <p:nvSpPr>
          <p:cNvPr id="18" name="Text 15"/>
          <p:cNvSpPr txBox="1"/>
          <p:nvPr/>
        </p:nvSpPr>
        <p:spPr>
          <a:xfrm>
            <a:off x="2057400" y="3474720"/>
            <a:ext cx="932688" cy="201168"/>
          </a:xfrm>
          <a:prstGeom prst="rect">
            <a:avLst/>
          </a:prstGeom>
          <a:noFill/>
          <a:ln/>
        </p:spPr>
        <p:txBody>
          <a:bodyPr wrap="square" lIns="0" tIns="0" rIns="0" bIns="0" rtlCol="0" anchor="t"/>
          <a:lstStyle/>
          <a:p>
            <a:pPr algn="ctr" indent="0" marL="0">
              <a:buNone/>
            </a:pPr>
            <a:r>
              <a:rPr lang="en-US" sz="900" b="1" dirty="0">
                <a:solidFill>
                  <a:srgbClr val="0A1F44"/>
                </a:solidFill>
                <a:latin typeface="Inter" pitchFamily="34" charset="0"/>
                <a:ea typeface="Inter" pitchFamily="34" charset="-122"/>
                <a:cs typeface="Inter" pitchFamily="34" charset="-120"/>
              </a:rPr>
              <a:t>11,339</a:t>
            </a:r>
            <a:endParaRPr lang="en-US" sz="900" dirty="0"/>
          </a:p>
        </p:txBody>
      </p:sp>
      <p:sp>
        <p:nvSpPr>
          <p:cNvPr id="19" name="Text 16"/>
          <p:cNvSpPr txBox="1"/>
          <p:nvPr/>
        </p:nvSpPr>
        <p:spPr>
          <a:xfrm>
            <a:off x="2057400" y="4105656"/>
            <a:ext cx="932688" cy="201168"/>
          </a:xfrm>
          <a:prstGeom prst="rect">
            <a:avLst/>
          </a:prstGeom>
          <a:noFill/>
          <a:ln/>
        </p:spPr>
        <p:txBody>
          <a:bodyPr wrap="square" lIns="0" tIns="0" rIns="0" bIns="0" rtlCol="0" anchor="t"/>
          <a:lstStyle/>
          <a:p>
            <a:pPr algn="ctr" indent="0" marL="0">
              <a:buNone/>
            </a:pPr>
            <a:r>
              <a:rPr lang="en-US" sz="900" dirty="0">
                <a:solidFill>
                  <a:srgbClr val="0F172A"/>
                </a:solidFill>
                <a:latin typeface="Inter" pitchFamily="34" charset="0"/>
                <a:ea typeface="Inter" pitchFamily="34" charset="-122"/>
                <a:cs typeface="Inter" pitchFamily="34" charset="-120"/>
              </a:rPr>
              <a:t>Cart</a:t>
            </a:r>
            <a:endParaRPr lang="en-US" sz="900" dirty="0"/>
          </a:p>
        </p:txBody>
      </p:sp>
      <p:sp>
        <p:nvSpPr>
          <p:cNvPr id="20" name="Shape 17"/>
          <p:cNvSpPr/>
          <p:nvPr/>
        </p:nvSpPr>
        <p:spPr>
          <a:xfrm>
            <a:off x="3063240" y="3877056"/>
            <a:ext cx="566928" cy="192024"/>
          </a:xfrm>
          <a:prstGeom prst="rect">
            <a:avLst/>
          </a:prstGeom>
          <a:solidFill>
            <a:srgbClr val="1D4ED8"/>
          </a:solidFill>
          <a:ln w="6350">
            <a:solidFill>
              <a:srgbClr val="1D4ED8"/>
            </a:solidFill>
            <a:prstDash val="solid"/>
          </a:ln>
        </p:spPr>
      </p:sp>
      <p:sp>
        <p:nvSpPr>
          <p:cNvPr id="21" name="Text 18"/>
          <p:cNvSpPr txBox="1"/>
          <p:nvPr/>
        </p:nvSpPr>
        <p:spPr>
          <a:xfrm>
            <a:off x="2880360" y="3657600"/>
            <a:ext cx="932688" cy="201168"/>
          </a:xfrm>
          <a:prstGeom prst="rect">
            <a:avLst/>
          </a:prstGeom>
          <a:noFill/>
          <a:ln/>
        </p:spPr>
        <p:txBody>
          <a:bodyPr wrap="square" lIns="0" tIns="0" rIns="0" bIns="0" rtlCol="0" anchor="t"/>
          <a:lstStyle/>
          <a:p>
            <a:pPr algn="ctr" indent="0" marL="0">
              <a:buNone/>
            </a:pPr>
            <a:r>
              <a:rPr lang="en-US" sz="900" b="1" dirty="0">
                <a:solidFill>
                  <a:srgbClr val="0A1F44"/>
                </a:solidFill>
                <a:latin typeface="Inter" pitchFamily="34" charset="0"/>
                <a:ea typeface="Inter" pitchFamily="34" charset="-122"/>
                <a:cs typeface="Inter" pitchFamily="34" charset="-120"/>
              </a:rPr>
              <a:t>5,818</a:t>
            </a:r>
            <a:endParaRPr lang="en-US" sz="900" dirty="0"/>
          </a:p>
        </p:txBody>
      </p:sp>
      <p:sp>
        <p:nvSpPr>
          <p:cNvPr id="22" name="Text 19"/>
          <p:cNvSpPr txBox="1"/>
          <p:nvPr/>
        </p:nvSpPr>
        <p:spPr>
          <a:xfrm>
            <a:off x="2880360" y="4105656"/>
            <a:ext cx="932688" cy="201168"/>
          </a:xfrm>
          <a:prstGeom prst="rect">
            <a:avLst/>
          </a:prstGeom>
          <a:noFill/>
          <a:ln/>
        </p:spPr>
        <p:txBody>
          <a:bodyPr wrap="square" lIns="0" tIns="0" rIns="0" bIns="0" rtlCol="0" anchor="t"/>
          <a:lstStyle/>
          <a:p>
            <a:pPr algn="ctr" indent="0" marL="0">
              <a:buNone/>
            </a:pPr>
            <a:r>
              <a:rPr lang="en-US" sz="900" dirty="0">
                <a:solidFill>
                  <a:srgbClr val="0F172A"/>
                </a:solidFill>
                <a:latin typeface="Inter" pitchFamily="34" charset="0"/>
                <a:ea typeface="Inter" pitchFamily="34" charset="-122"/>
                <a:cs typeface="Inter" pitchFamily="34" charset="-120"/>
              </a:rPr>
              <a:t>Checkout</a:t>
            </a:r>
            <a:endParaRPr lang="en-US" sz="900" dirty="0"/>
          </a:p>
        </p:txBody>
      </p:sp>
      <p:sp>
        <p:nvSpPr>
          <p:cNvPr id="23" name="Shape 20"/>
          <p:cNvSpPr/>
          <p:nvPr/>
        </p:nvSpPr>
        <p:spPr>
          <a:xfrm>
            <a:off x="3886200" y="3977640"/>
            <a:ext cx="566928" cy="91440"/>
          </a:xfrm>
          <a:prstGeom prst="rect">
            <a:avLst/>
          </a:prstGeom>
          <a:solidFill>
            <a:srgbClr val="1D4ED8"/>
          </a:solidFill>
          <a:ln w="6350">
            <a:solidFill>
              <a:srgbClr val="1D4ED8"/>
            </a:solidFill>
            <a:prstDash val="solid"/>
          </a:ln>
        </p:spPr>
      </p:sp>
      <p:sp>
        <p:nvSpPr>
          <p:cNvPr id="24" name="Text 21"/>
          <p:cNvSpPr txBox="1"/>
          <p:nvPr/>
        </p:nvSpPr>
        <p:spPr>
          <a:xfrm>
            <a:off x="3703320" y="3758184"/>
            <a:ext cx="932688" cy="201168"/>
          </a:xfrm>
          <a:prstGeom prst="rect">
            <a:avLst/>
          </a:prstGeom>
          <a:noFill/>
          <a:ln/>
        </p:spPr>
        <p:txBody>
          <a:bodyPr wrap="square" lIns="0" tIns="0" rIns="0" bIns="0" rtlCol="0" anchor="t"/>
          <a:lstStyle/>
          <a:p>
            <a:pPr algn="ctr" indent="0" marL="0">
              <a:buNone/>
            </a:pPr>
            <a:r>
              <a:rPr lang="en-US" sz="900" b="1" dirty="0">
                <a:solidFill>
                  <a:srgbClr val="0A1F44"/>
                </a:solidFill>
                <a:latin typeface="Inter" pitchFamily="34" charset="0"/>
                <a:ea typeface="Inter" pitchFamily="34" charset="-122"/>
                <a:cs typeface="Inter" pitchFamily="34" charset="-120"/>
              </a:rPr>
              <a:t>2,592</a:t>
            </a:r>
            <a:endParaRPr lang="en-US" sz="900" dirty="0"/>
          </a:p>
        </p:txBody>
      </p:sp>
      <p:sp>
        <p:nvSpPr>
          <p:cNvPr id="25" name="Text 22"/>
          <p:cNvSpPr txBox="1"/>
          <p:nvPr/>
        </p:nvSpPr>
        <p:spPr>
          <a:xfrm>
            <a:off x="3703320" y="4105656"/>
            <a:ext cx="932688" cy="201168"/>
          </a:xfrm>
          <a:prstGeom prst="rect">
            <a:avLst/>
          </a:prstGeom>
          <a:noFill/>
          <a:ln/>
        </p:spPr>
        <p:txBody>
          <a:bodyPr wrap="square" lIns="0" tIns="0" rIns="0" bIns="0" rtlCol="0" anchor="t"/>
          <a:lstStyle/>
          <a:p>
            <a:pPr algn="ctr" indent="0" marL="0">
              <a:buNone/>
            </a:pPr>
            <a:r>
              <a:rPr lang="en-US" sz="900" dirty="0">
                <a:solidFill>
                  <a:srgbClr val="0F172A"/>
                </a:solidFill>
                <a:latin typeface="Inter" pitchFamily="34" charset="0"/>
                <a:ea typeface="Inter" pitchFamily="34" charset="-122"/>
                <a:cs typeface="Inter" pitchFamily="34" charset="-120"/>
              </a:rPr>
              <a:t>Order</a:t>
            </a:r>
            <a:endParaRPr lang="en-US" sz="900" dirty="0"/>
          </a:p>
        </p:txBody>
      </p:sp>
      <p:sp>
        <p:nvSpPr>
          <p:cNvPr id="26" name="Shape 23"/>
          <p:cNvSpPr/>
          <p:nvPr/>
        </p:nvSpPr>
        <p:spPr>
          <a:xfrm>
            <a:off x="502920" y="4069080"/>
            <a:ext cx="4206240" cy="0"/>
          </a:xfrm>
          <a:prstGeom prst="line">
            <a:avLst/>
          </a:prstGeom>
          <a:noFill/>
          <a:ln w="12700">
            <a:solidFill>
              <a:srgbClr val="0F172A"/>
            </a:solidFill>
            <a:prstDash val="solid"/>
          </a:ln>
        </p:spPr>
      </p:sp>
      <p:sp>
        <p:nvSpPr>
          <p:cNvPr id="27" name="Shape 24"/>
          <p:cNvSpPr/>
          <p:nvPr/>
        </p:nvSpPr>
        <p:spPr>
          <a:xfrm>
            <a:off x="2020824" y="2560320"/>
            <a:ext cx="502920" cy="0"/>
          </a:xfrm>
          <a:prstGeom prst="line">
            <a:avLst/>
          </a:prstGeom>
          <a:noFill/>
          <a:ln w="15875">
            <a:solidFill>
              <a:srgbClr val="DC2626"/>
            </a:solidFill>
            <a:prstDash val="solid"/>
          </a:ln>
        </p:spPr>
      </p:sp>
      <p:sp>
        <p:nvSpPr>
          <p:cNvPr id="28" name="Shape 25"/>
          <p:cNvSpPr/>
          <p:nvPr/>
        </p:nvSpPr>
        <p:spPr>
          <a:xfrm>
            <a:off x="2020824" y="2560320"/>
            <a:ext cx="0" cy="91440"/>
          </a:xfrm>
          <a:prstGeom prst="line">
            <a:avLst/>
          </a:prstGeom>
          <a:noFill/>
          <a:ln w="15875">
            <a:solidFill>
              <a:srgbClr val="DC2626"/>
            </a:solidFill>
            <a:prstDash val="solid"/>
          </a:ln>
        </p:spPr>
      </p:sp>
      <p:sp>
        <p:nvSpPr>
          <p:cNvPr id="29" name="Shape 26"/>
          <p:cNvSpPr/>
          <p:nvPr/>
        </p:nvSpPr>
        <p:spPr>
          <a:xfrm>
            <a:off x="2523744" y="2560320"/>
            <a:ext cx="0" cy="91440"/>
          </a:xfrm>
          <a:prstGeom prst="line">
            <a:avLst/>
          </a:prstGeom>
          <a:noFill/>
          <a:ln w="15875">
            <a:solidFill>
              <a:srgbClr val="DC2626"/>
            </a:solidFill>
            <a:prstDash val="solid"/>
          </a:ln>
        </p:spPr>
      </p:sp>
      <p:sp>
        <p:nvSpPr>
          <p:cNvPr id="30" name="Shape 27"/>
          <p:cNvSpPr/>
          <p:nvPr/>
        </p:nvSpPr>
        <p:spPr>
          <a:xfrm>
            <a:off x="1979676" y="2331720"/>
            <a:ext cx="585216" cy="228600"/>
          </a:xfrm>
          <a:prstGeom prst="roundRect">
            <a:avLst>
              <a:gd name="adj" fmla="val 48000"/>
            </a:avLst>
          </a:prstGeom>
          <a:solidFill>
            <a:srgbClr val="DC2626"/>
          </a:solidFill>
          <a:ln w="6350">
            <a:solidFill>
              <a:srgbClr val="DC2626"/>
            </a:solidFill>
            <a:prstDash val="solid"/>
          </a:ln>
        </p:spPr>
      </p:sp>
      <p:sp>
        <p:nvSpPr>
          <p:cNvPr id="31" name="Text 28"/>
          <p:cNvSpPr txBox="1"/>
          <p:nvPr/>
        </p:nvSpPr>
        <p:spPr>
          <a:xfrm>
            <a:off x="1979676" y="2331720"/>
            <a:ext cx="585216" cy="228600"/>
          </a:xfrm>
          <a:prstGeom prst="rect">
            <a:avLst/>
          </a:prstGeom>
          <a:noFill/>
          <a:ln/>
        </p:spPr>
        <p:txBody>
          <a:bodyPr wrap="square" lIns="0" tIns="0" rIns="0" bIns="0" rtlCol="0" anchor="ctr"/>
          <a:lstStyle/>
          <a:p>
            <a:pPr algn="ctr" indent="0" marL="0">
              <a:buNone/>
            </a:pPr>
            <a:r>
              <a:rPr lang="en-US" sz="950" b="1" dirty="0">
                <a:solidFill>
                  <a:srgbClr val="FFFFFF"/>
                </a:solidFill>
                <a:latin typeface="Inter" pitchFamily="34" charset="0"/>
                <a:ea typeface="Inter" pitchFamily="34" charset="-122"/>
                <a:cs typeface="Inter" pitchFamily="34" charset="-120"/>
              </a:rPr>
              <a:t>−69%</a:t>
            </a:r>
            <a:endParaRPr lang="en-US" sz="950" dirty="0"/>
          </a:p>
        </p:txBody>
      </p:sp>
      <p:sp>
        <p:nvSpPr>
          <p:cNvPr id="32" name="Shape 29"/>
          <p:cNvSpPr/>
          <p:nvPr/>
        </p:nvSpPr>
        <p:spPr>
          <a:xfrm>
            <a:off x="2523744" y="3337560"/>
            <a:ext cx="1645920" cy="0"/>
          </a:xfrm>
          <a:prstGeom prst="line">
            <a:avLst/>
          </a:prstGeom>
          <a:noFill/>
          <a:ln w="15875">
            <a:solidFill>
              <a:srgbClr val="DC2626"/>
            </a:solidFill>
            <a:prstDash val="solid"/>
          </a:ln>
        </p:spPr>
      </p:sp>
      <p:sp>
        <p:nvSpPr>
          <p:cNvPr id="33" name="Shape 30"/>
          <p:cNvSpPr/>
          <p:nvPr/>
        </p:nvSpPr>
        <p:spPr>
          <a:xfrm>
            <a:off x="2523744" y="3337560"/>
            <a:ext cx="0" cy="91440"/>
          </a:xfrm>
          <a:prstGeom prst="line">
            <a:avLst/>
          </a:prstGeom>
          <a:noFill/>
          <a:ln w="15875">
            <a:solidFill>
              <a:srgbClr val="DC2626"/>
            </a:solidFill>
            <a:prstDash val="solid"/>
          </a:ln>
        </p:spPr>
      </p:sp>
      <p:sp>
        <p:nvSpPr>
          <p:cNvPr id="34" name="Shape 31"/>
          <p:cNvSpPr/>
          <p:nvPr/>
        </p:nvSpPr>
        <p:spPr>
          <a:xfrm>
            <a:off x="4169664" y="3337560"/>
            <a:ext cx="0" cy="91440"/>
          </a:xfrm>
          <a:prstGeom prst="line">
            <a:avLst/>
          </a:prstGeom>
          <a:noFill/>
          <a:ln w="15875">
            <a:solidFill>
              <a:srgbClr val="DC2626"/>
            </a:solidFill>
            <a:prstDash val="solid"/>
          </a:ln>
        </p:spPr>
      </p:sp>
      <p:sp>
        <p:nvSpPr>
          <p:cNvPr id="35" name="Shape 32"/>
          <p:cNvSpPr/>
          <p:nvPr/>
        </p:nvSpPr>
        <p:spPr>
          <a:xfrm>
            <a:off x="3054096" y="3108960"/>
            <a:ext cx="585216" cy="228600"/>
          </a:xfrm>
          <a:prstGeom prst="roundRect">
            <a:avLst>
              <a:gd name="adj" fmla="val 48000"/>
            </a:avLst>
          </a:prstGeom>
          <a:solidFill>
            <a:srgbClr val="DC2626"/>
          </a:solidFill>
          <a:ln w="6350">
            <a:solidFill>
              <a:srgbClr val="DC2626"/>
            </a:solidFill>
            <a:prstDash val="solid"/>
          </a:ln>
        </p:spPr>
      </p:sp>
      <p:sp>
        <p:nvSpPr>
          <p:cNvPr id="36" name="Text 33"/>
          <p:cNvSpPr txBox="1"/>
          <p:nvPr/>
        </p:nvSpPr>
        <p:spPr>
          <a:xfrm>
            <a:off x="3054096" y="3108960"/>
            <a:ext cx="585216" cy="228600"/>
          </a:xfrm>
          <a:prstGeom prst="rect">
            <a:avLst/>
          </a:prstGeom>
          <a:noFill/>
          <a:ln/>
        </p:spPr>
        <p:txBody>
          <a:bodyPr wrap="square" lIns="0" tIns="0" rIns="0" bIns="0" rtlCol="0" anchor="ctr"/>
          <a:lstStyle/>
          <a:p>
            <a:pPr algn="ctr" indent="0" marL="0">
              <a:buNone/>
            </a:pPr>
            <a:r>
              <a:rPr lang="en-US" sz="950" b="1" dirty="0">
                <a:solidFill>
                  <a:srgbClr val="FFFFFF"/>
                </a:solidFill>
                <a:latin typeface="Inter" pitchFamily="34" charset="0"/>
                <a:ea typeface="Inter" pitchFamily="34" charset="-122"/>
                <a:cs typeface="Inter" pitchFamily="34" charset="-120"/>
              </a:rPr>
              <a:t>−77%</a:t>
            </a:r>
            <a:endParaRPr lang="en-US" sz="950" dirty="0"/>
          </a:p>
        </p:txBody>
      </p:sp>
      <p:sp>
        <p:nvSpPr>
          <p:cNvPr id="37" name="Shape 34"/>
          <p:cNvSpPr/>
          <p:nvPr/>
        </p:nvSpPr>
        <p:spPr>
          <a:xfrm>
            <a:off x="1481328" y="1755648"/>
            <a:ext cx="3227832" cy="566928"/>
          </a:xfrm>
          <a:prstGeom prst="roundRect">
            <a:avLst>
              <a:gd name="adj" fmla="val 9677"/>
            </a:avLst>
          </a:prstGeom>
          <a:solidFill>
            <a:srgbClr val="FFFFFF"/>
          </a:solidFill>
          <a:ln w="12700">
            <a:solidFill>
              <a:srgbClr val="94A3B8"/>
            </a:solidFill>
            <a:prstDash val="solid"/>
          </a:ln>
        </p:spPr>
      </p:sp>
      <p:sp>
        <p:nvSpPr>
          <p:cNvPr id="38" name="Text 35"/>
          <p:cNvSpPr txBox="1"/>
          <p:nvPr/>
        </p:nvSpPr>
        <p:spPr>
          <a:xfrm>
            <a:off x="1572768" y="1755648"/>
            <a:ext cx="3090672" cy="566928"/>
          </a:xfrm>
          <a:prstGeom prst="rect">
            <a:avLst/>
          </a:prstGeom>
          <a:noFill/>
          <a:ln/>
        </p:spPr>
        <p:txBody>
          <a:bodyPr wrap="square" lIns="0" tIns="0" rIns="0" bIns="0" rtlCol="0" anchor="ctr"/>
          <a:lstStyle/>
          <a:p>
            <a:pPr indent="0" marL="0">
              <a:buNone/>
            </a:pPr>
            <a:r>
              <a:rPr lang="en-US" sz="900" b="1" dirty="0">
                <a:solidFill>
                  <a:srgbClr val="0A1F44"/>
                </a:solidFill>
                <a:latin typeface="Inter" pitchFamily="34" charset="0"/>
                <a:ea typeface="Inter" pitchFamily="34" charset="-122"/>
                <a:cs typeface="Inter" pitchFamily="34" charset="-120"/>
              </a:rPr>
              <a:t>Price signals quality: </a:t>
            </a:r>
            <a:pPr indent="0" marL="0">
              <a:buNone/>
            </a:pPr>
            <a:r>
              <a:rPr lang="en-US" sz="900" dirty="0">
                <a:solidFill>
                  <a:srgbClr val="0F172A"/>
                </a:solidFill>
                <a:latin typeface="Inter" pitchFamily="34" charset="0"/>
                <a:ea typeface="Inter" pitchFamily="34" charset="-122"/>
                <a:cs typeface="Inter" pitchFamily="34" charset="-120"/>
              </a:rPr>
              <a:t>cashmere at half price can feel too good to be true (hypothesis)</a:t>
            </a:r>
            <a:endParaRPr lang="en-US" sz="900" dirty="0"/>
          </a:p>
        </p:txBody>
      </p:sp>
      <p:sp>
        <p:nvSpPr>
          <p:cNvPr id="39" name="Shape 36"/>
          <p:cNvSpPr/>
          <p:nvPr/>
        </p:nvSpPr>
        <p:spPr>
          <a:xfrm>
            <a:off x="502920" y="4343400"/>
            <a:ext cx="4206240" cy="411480"/>
          </a:xfrm>
          <a:prstGeom prst="roundRect">
            <a:avLst>
              <a:gd name="adj" fmla="val 13333"/>
            </a:avLst>
          </a:prstGeom>
          <a:solidFill>
            <a:srgbClr val="EFF6FF"/>
          </a:solidFill>
          <a:ln w="6350">
            <a:solidFill>
              <a:srgbClr val="EFF6FF"/>
            </a:solidFill>
            <a:prstDash val="solid"/>
          </a:ln>
        </p:spPr>
      </p:sp>
      <p:sp>
        <p:nvSpPr>
          <p:cNvPr id="40" name="Text 37"/>
          <p:cNvSpPr txBox="1"/>
          <p:nvPr/>
        </p:nvSpPr>
        <p:spPr>
          <a:xfrm>
            <a:off x="621792" y="4343400"/>
            <a:ext cx="4023360" cy="411480"/>
          </a:xfrm>
          <a:prstGeom prst="rect">
            <a:avLst/>
          </a:prstGeom>
          <a:noFill/>
          <a:ln/>
        </p:spPr>
        <p:txBody>
          <a:bodyPr wrap="square" lIns="0" tIns="0" rIns="0" bIns="0" rtlCol="0" anchor="ctr"/>
          <a:lstStyle/>
          <a:p>
            <a:pPr indent="0" marL="0">
              <a:buNone/>
            </a:pPr>
            <a:r>
              <a:rPr lang="en-US" sz="950" b="1" dirty="0">
                <a:solidFill>
                  <a:srgbClr val="1D4ED8"/>
                </a:solidFill>
                <a:latin typeface="Inter" pitchFamily="34" charset="0"/>
                <a:ea typeface="Inter" pitchFamily="34" charset="-122"/>
                <a:cs typeface="Inter" pitchFamily="34" charset="-120"/>
              </a:rPr>
              <a:t>Only 1 </a:t>
            </a:r>
            <a:pPr indent="0" marL="0">
              <a:buNone/>
            </a:pPr>
            <a:r>
              <a:rPr lang="en-US" sz="950" dirty="0">
                <a:solidFill>
                  <a:srgbClr val="0A1F44"/>
                </a:solidFill>
                <a:latin typeface="Inter" pitchFamily="34" charset="0"/>
                <a:ea typeface="Inter" pitchFamily="34" charset="-122"/>
                <a:cs typeface="Inter" pitchFamily="34" charset="-120"/>
              </a:rPr>
              <a:t>of ~5,500 cart paths that stop before checkout gets an email next (Flow)</a:t>
            </a:r>
            <a:endParaRPr lang="en-US" sz="950" dirty="0"/>
          </a:p>
        </p:txBody>
      </p:sp>
      <p:sp>
        <p:nvSpPr>
          <p:cNvPr id="41" name="Shape 38"/>
          <p:cNvSpPr/>
          <p:nvPr/>
        </p:nvSpPr>
        <p:spPr>
          <a:xfrm>
            <a:off x="4892040" y="1280160"/>
            <a:ext cx="0" cy="3474720"/>
          </a:xfrm>
          <a:prstGeom prst="line">
            <a:avLst/>
          </a:prstGeom>
          <a:noFill/>
          <a:ln w="9525">
            <a:solidFill>
              <a:srgbClr val="E2E8F0"/>
            </a:solidFill>
            <a:prstDash val="solid"/>
          </a:ln>
        </p:spPr>
      </p:sp>
      <p:sp>
        <p:nvSpPr>
          <p:cNvPr id="42" name="Text 39"/>
          <p:cNvSpPr txBox="1"/>
          <p:nvPr/>
        </p:nvSpPr>
        <p:spPr>
          <a:xfrm>
            <a:off x="5074920" y="1234440"/>
            <a:ext cx="3291840" cy="274320"/>
          </a:xfrm>
          <a:prstGeom prst="rect">
            <a:avLst/>
          </a:prstGeom>
          <a:noFill/>
          <a:ln/>
        </p:spPr>
        <p:txBody>
          <a:bodyPr wrap="square" lIns="0" tIns="0" rIns="0" bIns="0" rtlCol="0" anchor="t"/>
          <a:lstStyle/>
          <a:p>
            <a:pPr indent="0" marL="0">
              <a:buNone/>
            </a:pPr>
            <a:r>
              <a:rPr lang="en-US" sz="1250" b="1" dirty="0">
                <a:solidFill>
                  <a:srgbClr val="0A1F44"/>
                </a:solidFill>
                <a:latin typeface="Inter" pitchFamily="34" charset="0"/>
                <a:ea typeface="Inter" pitchFamily="34" charset="-122"/>
                <a:cs typeface="Inter" pitchFamily="34" charset="-120"/>
              </a:rPr>
              <a:t>Who comes back</a:t>
            </a:r>
            <a:endParaRPr lang="en-US" sz="1250" dirty="0"/>
          </a:p>
        </p:txBody>
      </p:sp>
      <p:sp>
        <p:nvSpPr>
          <p:cNvPr id="43" name="Text 40"/>
          <p:cNvSpPr txBox="1"/>
          <p:nvPr/>
        </p:nvSpPr>
        <p:spPr>
          <a:xfrm>
            <a:off x="5074920" y="1508760"/>
            <a:ext cx="3291840" cy="219456"/>
          </a:xfrm>
          <a:prstGeom prst="rect">
            <a:avLst/>
          </a:prstGeom>
          <a:noFill/>
          <a:ln/>
        </p:spPr>
        <p:txBody>
          <a:bodyPr wrap="square" lIns="0" tIns="0" rIns="0" bIns="0" rtlCol="0" anchor="t"/>
          <a:lstStyle/>
          <a:p>
            <a:pPr indent="0" marL="0">
              <a:buNone/>
            </a:pPr>
            <a:r>
              <a:rPr lang="en-US" sz="950" dirty="0">
                <a:solidFill>
                  <a:srgbClr val="64748B"/>
                </a:solidFill>
                <a:latin typeface="Inter" pitchFamily="34" charset="0"/>
                <a:ea typeface="Inter" pitchFamily="34" charset="-122"/>
                <a:cs typeface="Inter" pitchFamily="34" charset="-120"/>
              </a:rPr>
              <a:t>Repeat rate in the CJA window</a:t>
            </a:r>
            <a:endParaRPr lang="en-US" sz="950" dirty="0"/>
          </a:p>
        </p:txBody>
      </p:sp>
      <p:sp>
        <p:nvSpPr>
          <p:cNvPr id="44" name="Text 41"/>
          <p:cNvSpPr txBox="1"/>
          <p:nvPr/>
        </p:nvSpPr>
        <p:spPr>
          <a:xfrm>
            <a:off x="5074920" y="1783080"/>
            <a:ext cx="3200400" cy="201168"/>
          </a:xfrm>
          <a:prstGeom prst="rect">
            <a:avLst/>
          </a:prstGeom>
          <a:noFill/>
          <a:ln/>
        </p:spPr>
        <p:txBody>
          <a:bodyPr wrap="square" lIns="0" tIns="0" rIns="0" bIns="0" rtlCol="0" anchor="t"/>
          <a:lstStyle/>
          <a:p>
            <a:pPr indent="0" marL="0">
              <a:buNone/>
            </a:pPr>
            <a:r>
              <a:rPr lang="en-US" sz="900" dirty="0">
                <a:solidFill>
                  <a:srgbClr val="0F172A"/>
                </a:solidFill>
                <a:latin typeface="Inter" pitchFamily="34" charset="0"/>
                <a:ea typeface="Inter" pitchFamily="34" charset="-122"/>
                <a:cs typeface="Inter" pitchFamily="34" charset="-120"/>
              </a:rPr>
              <a:t>Engaged with email, SMS or app (A2)</a:t>
            </a:r>
            <a:endParaRPr lang="en-US" sz="900" dirty="0"/>
          </a:p>
        </p:txBody>
      </p:sp>
      <p:sp>
        <p:nvSpPr>
          <p:cNvPr id="45" name="Shape 42"/>
          <p:cNvSpPr/>
          <p:nvPr/>
        </p:nvSpPr>
        <p:spPr>
          <a:xfrm>
            <a:off x="5074920" y="1993392"/>
            <a:ext cx="2331720" cy="201168"/>
          </a:xfrm>
          <a:prstGeom prst="rect">
            <a:avLst/>
          </a:prstGeom>
          <a:solidFill>
            <a:srgbClr val="1D4ED8"/>
          </a:solidFill>
          <a:ln w="6350">
            <a:solidFill>
              <a:srgbClr val="1D4ED8"/>
            </a:solidFill>
            <a:prstDash val="solid"/>
          </a:ln>
        </p:spPr>
      </p:sp>
      <p:sp>
        <p:nvSpPr>
          <p:cNvPr id="46" name="Text 43"/>
          <p:cNvSpPr txBox="1"/>
          <p:nvPr/>
        </p:nvSpPr>
        <p:spPr>
          <a:xfrm>
            <a:off x="7479792" y="1947672"/>
            <a:ext cx="640080" cy="274320"/>
          </a:xfrm>
          <a:prstGeom prst="rect">
            <a:avLst/>
          </a:prstGeom>
          <a:noFill/>
          <a:ln/>
        </p:spPr>
        <p:txBody>
          <a:bodyPr wrap="square" lIns="0" tIns="0" rIns="0" bIns="0" rtlCol="0" anchor="ctr"/>
          <a:lstStyle/>
          <a:p>
            <a:pPr indent="0" marL="0">
              <a:buNone/>
            </a:pPr>
            <a:r>
              <a:rPr lang="en-US" sz="1000" b="1" dirty="0">
                <a:solidFill>
                  <a:srgbClr val="0A1F44"/>
                </a:solidFill>
                <a:latin typeface="Inter" pitchFamily="34" charset="0"/>
                <a:ea typeface="Inter" pitchFamily="34" charset="-122"/>
                <a:cs typeface="Inter" pitchFamily="34" charset="-120"/>
              </a:rPr>
              <a:t>28.1%</a:t>
            </a:r>
            <a:endParaRPr lang="en-US" sz="1000" dirty="0"/>
          </a:p>
        </p:txBody>
      </p:sp>
      <p:sp>
        <p:nvSpPr>
          <p:cNvPr id="47" name="Text 44"/>
          <p:cNvSpPr txBox="1"/>
          <p:nvPr/>
        </p:nvSpPr>
        <p:spPr>
          <a:xfrm>
            <a:off x="5074920" y="2258568"/>
            <a:ext cx="3200400" cy="201168"/>
          </a:xfrm>
          <a:prstGeom prst="rect">
            <a:avLst/>
          </a:prstGeom>
          <a:noFill/>
          <a:ln/>
        </p:spPr>
        <p:txBody>
          <a:bodyPr wrap="square" lIns="0" tIns="0" rIns="0" bIns="0" rtlCol="0" anchor="t"/>
          <a:lstStyle/>
          <a:p>
            <a:pPr indent="0" marL="0">
              <a:buNone/>
            </a:pPr>
            <a:r>
              <a:rPr lang="en-US" sz="900" dirty="0">
                <a:solidFill>
                  <a:srgbClr val="0F172A"/>
                </a:solidFill>
                <a:latin typeface="Inter" pitchFamily="34" charset="0"/>
                <a:ea typeface="Inter" pitchFamily="34" charset="-122"/>
                <a:cs typeface="Inter" pitchFamily="34" charset="-120"/>
              </a:rPr>
              <a:t>App after order one (A5, n=265)</a:t>
            </a:r>
            <a:endParaRPr lang="en-US" sz="900" dirty="0"/>
          </a:p>
        </p:txBody>
      </p:sp>
      <p:sp>
        <p:nvSpPr>
          <p:cNvPr id="48" name="Shape 45"/>
          <p:cNvSpPr/>
          <p:nvPr/>
        </p:nvSpPr>
        <p:spPr>
          <a:xfrm>
            <a:off x="5074920" y="2468880"/>
            <a:ext cx="1784056" cy="201168"/>
          </a:xfrm>
          <a:prstGeom prst="rect">
            <a:avLst/>
          </a:prstGeom>
          <a:solidFill>
            <a:srgbClr val="2563EB"/>
          </a:solidFill>
          <a:ln w="6350">
            <a:solidFill>
              <a:srgbClr val="2563EB"/>
            </a:solidFill>
            <a:prstDash val="solid"/>
          </a:ln>
        </p:spPr>
      </p:sp>
      <p:sp>
        <p:nvSpPr>
          <p:cNvPr id="49" name="Text 46"/>
          <p:cNvSpPr txBox="1"/>
          <p:nvPr/>
        </p:nvSpPr>
        <p:spPr>
          <a:xfrm>
            <a:off x="6932128" y="2423160"/>
            <a:ext cx="640080" cy="274320"/>
          </a:xfrm>
          <a:prstGeom prst="rect">
            <a:avLst/>
          </a:prstGeom>
          <a:noFill/>
          <a:ln/>
        </p:spPr>
        <p:txBody>
          <a:bodyPr wrap="square" lIns="0" tIns="0" rIns="0" bIns="0" rtlCol="0" anchor="ctr"/>
          <a:lstStyle/>
          <a:p>
            <a:pPr indent="0" marL="0">
              <a:buNone/>
            </a:pPr>
            <a:r>
              <a:rPr lang="en-US" sz="1000" b="1" dirty="0">
                <a:solidFill>
                  <a:srgbClr val="0A1F44"/>
                </a:solidFill>
                <a:latin typeface="Inter" pitchFamily="34" charset="0"/>
                <a:ea typeface="Inter" pitchFamily="34" charset="-122"/>
                <a:cs typeface="Inter" pitchFamily="34" charset="-120"/>
              </a:rPr>
              <a:t>21.5%</a:t>
            </a:r>
            <a:endParaRPr lang="en-US" sz="1000" dirty="0"/>
          </a:p>
        </p:txBody>
      </p:sp>
      <p:sp>
        <p:nvSpPr>
          <p:cNvPr id="50" name="Text 47"/>
          <p:cNvSpPr txBox="1"/>
          <p:nvPr/>
        </p:nvSpPr>
        <p:spPr>
          <a:xfrm>
            <a:off x="5074920" y="2734056"/>
            <a:ext cx="3200400" cy="201168"/>
          </a:xfrm>
          <a:prstGeom prst="rect">
            <a:avLst/>
          </a:prstGeom>
          <a:noFill/>
          <a:ln/>
        </p:spPr>
        <p:txBody>
          <a:bodyPr wrap="square" lIns="0" tIns="0" rIns="0" bIns="0" rtlCol="0" anchor="t"/>
          <a:lstStyle/>
          <a:p>
            <a:pPr indent="0" marL="0">
              <a:buNone/>
            </a:pPr>
            <a:r>
              <a:rPr lang="en-US" sz="900" dirty="0">
                <a:solidFill>
                  <a:srgbClr val="0F172A"/>
                </a:solidFill>
                <a:latin typeface="Inter" pitchFamily="34" charset="0"/>
                <a:ea typeface="Inter" pitchFamily="34" charset="-122"/>
                <a:cs typeface="Inter" pitchFamily="34" charset="-120"/>
              </a:rPr>
              <a:t>SMS after order one (A5, n=315)</a:t>
            </a:r>
            <a:endParaRPr lang="en-US" sz="900" dirty="0"/>
          </a:p>
        </p:txBody>
      </p:sp>
      <p:sp>
        <p:nvSpPr>
          <p:cNvPr id="51" name="Shape 48"/>
          <p:cNvSpPr/>
          <p:nvPr/>
        </p:nvSpPr>
        <p:spPr>
          <a:xfrm>
            <a:off x="5074920" y="2944368"/>
            <a:ext cx="970859" cy="201168"/>
          </a:xfrm>
          <a:prstGeom prst="rect">
            <a:avLst/>
          </a:prstGeom>
          <a:solidFill>
            <a:srgbClr val="60A5FA"/>
          </a:solidFill>
          <a:ln w="6350">
            <a:solidFill>
              <a:srgbClr val="60A5FA"/>
            </a:solidFill>
            <a:prstDash val="solid"/>
          </a:ln>
        </p:spPr>
      </p:sp>
      <p:sp>
        <p:nvSpPr>
          <p:cNvPr id="52" name="Text 49"/>
          <p:cNvSpPr txBox="1"/>
          <p:nvPr/>
        </p:nvSpPr>
        <p:spPr>
          <a:xfrm>
            <a:off x="6118931" y="2898648"/>
            <a:ext cx="640080" cy="274320"/>
          </a:xfrm>
          <a:prstGeom prst="rect">
            <a:avLst/>
          </a:prstGeom>
          <a:noFill/>
          <a:ln/>
        </p:spPr>
        <p:txBody>
          <a:bodyPr wrap="square" lIns="0" tIns="0" rIns="0" bIns="0" rtlCol="0" anchor="ctr"/>
          <a:lstStyle/>
          <a:p>
            <a:pPr indent="0" marL="0">
              <a:buNone/>
            </a:pPr>
            <a:r>
              <a:rPr lang="en-US" sz="1000" b="1" dirty="0">
                <a:solidFill>
                  <a:srgbClr val="0A1F44"/>
                </a:solidFill>
                <a:latin typeface="Inter" pitchFamily="34" charset="0"/>
                <a:ea typeface="Inter" pitchFamily="34" charset="-122"/>
                <a:cs typeface="Inter" pitchFamily="34" charset="-120"/>
              </a:rPr>
              <a:t>11.7%</a:t>
            </a:r>
            <a:endParaRPr lang="en-US" sz="1000" dirty="0"/>
          </a:p>
        </p:txBody>
      </p:sp>
      <p:sp>
        <p:nvSpPr>
          <p:cNvPr id="53" name="Text 50"/>
          <p:cNvSpPr txBox="1"/>
          <p:nvPr/>
        </p:nvSpPr>
        <p:spPr>
          <a:xfrm>
            <a:off x="5074920" y="3209544"/>
            <a:ext cx="3200400" cy="201168"/>
          </a:xfrm>
          <a:prstGeom prst="rect">
            <a:avLst/>
          </a:prstGeom>
          <a:noFill/>
          <a:ln/>
        </p:spPr>
        <p:txBody>
          <a:bodyPr wrap="square" lIns="0" tIns="0" rIns="0" bIns="0" rtlCol="0" anchor="t"/>
          <a:lstStyle/>
          <a:p>
            <a:pPr indent="0" marL="0">
              <a:buNone/>
            </a:pPr>
            <a:r>
              <a:rPr lang="en-US" sz="900" dirty="0">
                <a:solidFill>
                  <a:srgbClr val="0F172A"/>
                </a:solidFill>
                <a:latin typeface="Inter" pitchFamily="34" charset="0"/>
                <a:ea typeface="Inter" pitchFamily="34" charset="-122"/>
                <a:cs typeface="Inter" pitchFamily="34" charset="-120"/>
              </a:rPr>
              <a:t>Not engaged (A2)</a:t>
            </a:r>
            <a:endParaRPr lang="en-US" sz="900" dirty="0"/>
          </a:p>
        </p:txBody>
      </p:sp>
      <p:sp>
        <p:nvSpPr>
          <p:cNvPr id="54" name="Shape 51"/>
          <p:cNvSpPr/>
          <p:nvPr/>
        </p:nvSpPr>
        <p:spPr>
          <a:xfrm>
            <a:off x="5074920" y="3419856"/>
            <a:ext cx="390003" cy="201168"/>
          </a:xfrm>
          <a:prstGeom prst="rect">
            <a:avLst/>
          </a:prstGeom>
          <a:solidFill>
            <a:srgbClr val="94A3B8"/>
          </a:solidFill>
          <a:ln w="6350">
            <a:solidFill>
              <a:srgbClr val="94A3B8"/>
            </a:solidFill>
            <a:prstDash val="solid"/>
          </a:ln>
        </p:spPr>
      </p:sp>
      <p:sp>
        <p:nvSpPr>
          <p:cNvPr id="55" name="Text 52"/>
          <p:cNvSpPr txBox="1"/>
          <p:nvPr/>
        </p:nvSpPr>
        <p:spPr>
          <a:xfrm>
            <a:off x="5538075" y="3374136"/>
            <a:ext cx="640080" cy="274320"/>
          </a:xfrm>
          <a:prstGeom prst="rect">
            <a:avLst/>
          </a:prstGeom>
          <a:noFill/>
          <a:ln/>
        </p:spPr>
        <p:txBody>
          <a:bodyPr wrap="square" lIns="0" tIns="0" rIns="0" bIns="0" rtlCol="0" anchor="ctr"/>
          <a:lstStyle/>
          <a:p>
            <a:pPr indent="0" marL="0">
              <a:buNone/>
            </a:pPr>
            <a:r>
              <a:rPr lang="en-US" sz="1000" b="1" dirty="0">
                <a:solidFill>
                  <a:srgbClr val="0A1F44"/>
                </a:solidFill>
                <a:latin typeface="Inter" pitchFamily="34" charset="0"/>
                <a:ea typeface="Inter" pitchFamily="34" charset="-122"/>
                <a:cs typeface="Inter" pitchFamily="34" charset="-120"/>
              </a:rPr>
              <a:t>4.7%</a:t>
            </a:r>
            <a:endParaRPr lang="en-US" sz="1000" dirty="0"/>
          </a:p>
        </p:txBody>
      </p:sp>
      <p:sp>
        <p:nvSpPr>
          <p:cNvPr id="56" name="Shape 53"/>
          <p:cNvSpPr/>
          <p:nvPr/>
        </p:nvSpPr>
        <p:spPr>
          <a:xfrm>
            <a:off x="5074920" y="3794760"/>
            <a:ext cx="3291840" cy="960120"/>
          </a:xfrm>
          <a:prstGeom prst="roundRect">
            <a:avLst>
              <a:gd name="adj" fmla="val 5714"/>
            </a:avLst>
          </a:prstGeom>
          <a:solidFill>
            <a:srgbClr val="EFF6FF"/>
          </a:solidFill>
          <a:ln w="6350">
            <a:solidFill>
              <a:srgbClr val="EFF6FF"/>
            </a:solidFill>
            <a:prstDash val="solid"/>
          </a:ln>
        </p:spPr>
      </p:sp>
      <p:sp>
        <p:nvSpPr>
          <p:cNvPr id="57" name="Text 54"/>
          <p:cNvSpPr txBox="1"/>
          <p:nvPr/>
        </p:nvSpPr>
        <p:spPr>
          <a:xfrm>
            <a:off x="5175504" y="3794760"/>
            <a:ext cx="3127248" cy="960120"/>
          </a:xfrm>
          <a:prstGeom prst="rect">
            <a:avLst/>
          </a:prstGeom>
          <a:noFill/>
          <a:ln/>
        </p:spPr>
        <p:txBody>
          <a:bodyPr wrap="square" lIns="0" tIns="0" rIns="0" bIns="0" rtlCol="0" anchor="ctr"/>
          <a:lstStyle/>
          <a:p>
            <a:pPr indent="0" marL="0">
              <a:buNone/>
            </a:pPr>
            <a:r>
              <a:rPr lang="en-US" sz="1500" b="1" dirty="0">
                <a:solidFill>
                  <a:srgbClr val="1D4ED8"/>
                </a:solidFill>
                <a:latin typeface="Inter" pitchFamily="34" charset="0"/>
                <a:ea typeface="Inter" pitchFamily="34" charset="-122"/>
                <a:cs typeface="Inter" pitchFamily="34" charset="-120"/>
              </a:rPr>
              <a:t>24.5% </a:t>
            </a:r>
            <a:pPr indent="0" marL="0">
              <a:buNone/>
            </a:pPr>
            <a:r>
              <a:rPr lang="en-US" sz="1000" dirty="0">
                <a:solidFill>
                  <a:srgbClr val="0A1F44"/>
                </a:solidFill>
                <a:latin typeface="Inter" pitchFamily="34" charset="0"/>
                <a:ea typeface="Inter" pitchFamily="34" charset="-122"/>
                <a:cs typeface="Inter" pitchFamily="34" charset="-120"/>
              </a:rPr>
              <a:t>of buyers engage, yet they are </a:t>
            </a:r>
            <a:pPr indent="0" marL="0">
              <a:buNone/>
            </a:pPr>
            <a:r>
              <a:rPr lang="en-US" sz="1500" b="1" dirty="0">
                <a:solidFill>
                  <a:srgbClr val="1D4ED8"/>
                </a:solidFill>
                <a:latin typeface="Inter" pitchFamily="34" charset="0"/>
                <a:ea typeface="Inter" pitchFamily="34" charset="-122"/>
                <a:cs typeface="Inter" pitchFamily="34" charset="-120"/>
              </a:rPr>
              <a:t>66% </a:t>
            </a:r>
            <a:pPr indent="0" marL="0">
              <a:buNone/>
            </a:pPr>
            <a:r>
              <a:rPr lang="en-US" sz="1000" dirty="0">
                <a:solidFill>
                  <a:srgbClr val="0A1F44"/>
                </a:solidFill>
                <a:latin typeface="Inter" pitchFamily="34" charset="0"/>
                <a:ea typeface="Inter" pitchFamily="34" charset="-122"/>
                <a:cs typeface="Inter" pitchFamily="34" charset="-120"/>
              </a:rPr>
              <a:t>of repeat buyers (A2)</a:t>
            </a:r>
            <a:endParaRPr lang="en-US" sz="1000" dirty="0"/>
          </a:p>
        </p:txBody>
      </p:sp>
      <p:sp>
        <p:nvSpPr>
          <p:cNvPr id="58" name="Shape 55"/>
          <p:cNvSpPr/>
          <p:nvPr/>
        </p:nvSpPr>
        <p:spPr>
          <a:xfrm>
            <a:off x="8549640" y="1280160"/>
            <a:ext cx="0" cy="3474720"/>
          </a:xfrm>
          <a:prstGeom prst="line">
            <a:avLst/>
          </a:prstGeom>
          <a:noFill/>
          <a:ln w="9525">
            <a:solidFill>
              <a:srgbClr val="E2E8F0"/>
            </a:solidFill>
            <a:prstDash val="solid"/>
          </a:ln>
        </p:spPr>
      </p:sp>
      <p:sp>
        <p:nvSpPr>
          <p:cNvPr id="59" name="Text 56"/>
          <p:cNvSpPr txBox="1"/>
          <p:nvPr/>
        </p:nvSpPr>
        <p:spPr>
          <a:xfrm>
            <a:off x="8732520" y="1234440"/>
            <a:ext cx="2953512" cy="274320"/>
          </a:xfrm>
          <a:prstGeom prst="rect">
            <a:avLst/>
          </a:prstGeom>
          <a:noFill/>
          <a:ln/>
        </p:spPr>
        <p:txBody>
          <a:bodyPr wrap="square" lIns="0" tIns="0" rIns="0" bIns="0" rtlCol="0" anchor="t"/>
          <a:lstStyle/>
          <a:p>
            <a:pPr indent="0" marL="0">
              <a:buNone/>
            </a:pPr>
            <a:r>
              <a:rPr lang="en-US" sz="1250" b="1" dirty="0">
                <a:solidFill>
                  <a:srgbClr val="0A1F44"/>
                </a:solidFill>
                <a:latin typeface="Inter" pitchFamily="34" charset="0"/>
                <a:ea typeface="Inter" pitchFamily="34" charset="-122"/>
                <a:cs typeface="Inter" pitchFamily="34" charset="-120"/>
              </a:rPr>
              <a:t>When, and what next</a:t>
            </a:r>
            <a:endParaRPr lang="en-US" sz="1250" dirty="0"/>
          </a:p>
        </p:txBody>
      </p:sp>
      <p:sp>
        <p:nvSpPr>
          <p:cNvPr id="60" name="Text 57"/>
          <p:cNvSpPr txBox="1"/>
          <p:nvPr/>
        </p:nvSpPr>
        <p:spPr>
          <a:xfrm>
            <a:off x="8732520" y="1508760"/>
            <a:ext cx="2953512" cy="219456"/>
          </a:xfrm>
          <a:prstGeom prst="rect">
            <a:avLst/>
          </a:prstGeom>
          <a:noFill/>
          <a:ln/>
        </p:spPr>
        <p:txBody>
          <a:bodyPr wrap="square" lIns="0" tIns="0" rIns="0" bIns="0" rtlCol="0" anchor="t"/>
          <a:lstStyle/>
          <a:p>
            <a:pPr indent="0" marL="0">
              <a:buNone/>
            </a:pPr>
            <a:r>
              <a:rPr lang="en-US" sz="950" dirty="0">
                <a:solidFill>
                  <a:srgbClr val="64748B"/>
                </a:solidFill>
                <a:latin typeface="Inter" pitchFamily="34" charset="0"/>
                <a:ea typeface="Inter" pitchFamily="34" charset="-122"/>
                <a:cs typeface="Inter" pitchFamily="34" charset="-120"/>
              </a:rPr>
              <a:t>Repeat orders in week 2 (Cohort)</a:t>
            </a:r>
            <a:endParaRPr lang="en-US" sz="950" dirty="0"/>
          </a:p>
        </p:txBody>
      </p:sp>
      <p:sp>
        <p:nvSpPr>
          <p:cNvPr id="61" name="Text 58"/>
          <p:cNvSpPr txBox="1"/>
          <p:nvPr/>
        </p:nvSpPr>
        <p:spPr>
          <a:xfrm>
            <a:off x="8732520" y="1783080"/>
            <a:ext cx="1005840" cy="310896"/>
          </a:xfrm>
          <a:prstGeom prst="rect">
            <a:avLst/>
          </a:prstGeom>
          <a:noFill/>
          <a:ln/>
        </p:spPr>
        <p:txBody>
          <a:bodyPr wrap="square" lIns="0" tIns="0" rIns="0" bIns="0" rtlCol="0" anchor="ctr"/>
          <a:lstStyle/>
          <a:p>
            <a:pPr indent="0" marL="0">
              <a:buNone/>
            </a:pPr>
            <a:r>
              <a:rPr lang="en-US" sz="950" dirty="0">
                <a:solidFill>
                  <a:srgbClr val="0F172A"/>
                </a:solidFill>
                <a:latin typeface="Inter" pitchFamily="34" charset="0"/>
                <a:ea typeface="Inter" pitchFamily="34" charset="-122"/>
                <a:cs typeface="Inter" pitchFamily="34" charset="-120"/>
              </a:rPr>
              <a:t>Engaged</a:t>
            </a:r>
            <a:endParaRPr lang="en-US" sz="950" dirty="0"/>
          </a:p>
        </p:txBody>
      </p:sp>
      <p:sp>
        <p:nvSpPr>
          <p:cNvPr id="62" name="Shape 59"/>
          <p:cNvSpPr/>
          <p:nvPr/>
        </p:nvSpPr>
        <p:spPr>
          <a:xfrm>
            <a:off x="9738360" y="1847088"/>
            <a:ext cx="1325880" cy="182880"/>
          </a:xfrm>
          <a:prstGeom prst="rect">
            <a:avLst/>
          </a:prstGeom>
          <a:solidFill>
            <a:srgbClr val="1D4ED8"/>
          </a:solidFill>
          <a:ln w="6350">
            <a:solidFill>
              <a:srgbClr val="1D4ED8"/>
            </a:solidFill>
            <a:prstDash val="solid"/>
          </a:ln>
        </p:spPr>
      </p:sp>
      <p:sp>
        <p:nvSpPr>
          <p:cNvPr id="63" name="Text 60"/>
          <p:cNvSpPr txBox="1"/>
          <p:nvPr/>
        </p:nvSpPr>
        <p:spPr>
          <a:xfrm>
            <a:off x="11119104" y="1783080"/>
            <a:ext cx="548640" cy="310896"/>
          </a:xfrm>
          <a:prstGeom prst="rect">
            <a:avLst/>
          </a:prstGeom>
          <a:noFill/>
          <a:ln/>
        </p:spPr>
        <p:txBody>
          <a:bodyPr wrap="square" lIns="0" tIns="0" rIns="0" bIns="0" rtlCol="0" anchor="ctr"/>
          <a:lstStyle/>
          <a:p>
            <a:pPr indent="0" marL="0">
              <a:buNone/>
            </a:pPr>
            <a:r>
              <a:rPr lang="en-US" sz="1000" b="1" dirty="0">
                <a:solidFill>
                  <a:srgbClr val="0A1F44"/>
                </a:solidFill>
                <a:latin typeface="Inter" pitchFamily="34" charset="0"/>
                <a:ea typeface="Inter" pitchFamily="34" charset="-122"/>
                <a:cs typeface="Inter" pitchFamily="34" charset="-120"/>
              </a:rPr>
              <a:t>5.6%</a:t>
            </a:r>
            <a:endParaRPr lang="en-US" sz="1000" dirty="0"/>
          </a:p>
        </p:txBody>
      </p:sp>
      <p:sp>
        <p:nvSpPr>
          <p:cNvPr id="64" name="Text 61"/>
          <p:cNvSpPr txBox="1"/>
          <p:nvPr/>
        </p:nvSpPr>
        <p:spPr>
          <a:xfrm>
            <a:off x="8732520" y="2148840"/>
            <a:ext cx="1005840" cy="310896"/>
          </a:xfrm>
          <a:prstGeom prst="rect">
            <a:avLst/>
          </a:prstGeom>
          <a:noFill/>
          <a:ln/>
        </p:spPr>
        <p:txBody>
          <a:bodyPr wrap="square" lIns="0" tIns="0" rIns="0" bIns="0" rtlCol="0" anchor="ctr"/>
          <a:lstStyle/>
          <a:p>
            <a:pPr indent="0" marL="0">
              <a:buNone/>
            </a:pPr>
            <a:r>
              <a:rPr lang="en-US" sz="950" dirty="0">
                <a:solidFill>
                  <a:srgbClr val="0F172A"/>
                </a:solidFill>
                <a:latin typeface="Inter" pitchFamily="34" charset="0"/>
                <a:ea typeface="Inter" pitchFamily="34" charset="-122"/>
                <a:cs typeface="Inter" pitchFamily="34" charset="-120"/>
              </a:rPr>
              <a:t>All buyers</a:t>
            </a:r>
            <a:endParaRPr lang="en-US" sz="950" dirty="0"/>
          </a:p>
        </p:txBody>
      </p:sp>
      <p:sp>
        <p:nvSpPr>
          <p:cNvPr id="65" name="Shape 62"/>
          <p:cNvSpPr/>
          <p:nvPr/>
        </p:nvSpPr>
        <p:spPr>
          <a:xfrm>
            <a:off x="9738360" y="2212848"/>
            <a:ext cx="497205" cy="182880"/>
          </a:xfrm>
          <a:prstGeom prst="rect">
            <a:avLst/>
          </a:prstGeom>
          <a:solidFill>
            <a:srgbClr val="94A3B8"/>
          </a:solidFill>
          <a:ln w="6350">
            <a:solidFill>
              <a:srgbClr val="94A3B8"/>
            </a:solidFill>
            <a:prstDash val="solid"/>
          </a:ln>
        </p:spPr>
      </p:sp>
      <p:sp>
        <p:nvSpPr>
          <p:cNvPr id="66" name="Text 63"/>
          <p:cNvSpPr txBox="1"/>
          <p:nvPr/>
        </p:nvSpPr>
        <p:spPr>
          <a:xfrm>
            <a:off x="10290429" y="2148840"/>
            <a:ext cx="548640" cy="310896"/>
          </a:xfrm>
          <a:prstGeom prst="rect">
            <a:avLst/>
          </a:prstGeom>
          <a:noFill/>
          <a:ln/>
        </p:spPr>
        <p:txBody>
          <a:bodyPr wrap="square" lIns="0" tIns="0" rIns="0" bIns="0" rtlCol="0" anchor="ctr"/>
          <a:lstStyle/>
          <a:p>
            <a:pPr indent="0" marL="0">
              <a:buNone/>
            </a:pPr>
            <a:r>
              <a:rPr lang="en-US" sz="1000" b="1" dirty="0">
                <a:solidFill>
                  <a:srgbClr val="0A1F44"/>
                </a:solidFill>
                <a:latin typeface="Inter" pitchFamily="34" charset="0"/>
                <a:ea typeface="Inter" pitchFamily="34" charset="-122"/>
                <a:cs typeface="Inter" pitchFamily="34" charset="-120"/>
              </a:rPr>
              <a:t>2.1%</a:t>
            </a:r>
            <a:endParaRPr lang="en-US" sz="1000" dirty="0"/>
          </a:p>
        </p:txBody>
      </p:sp>
      <p:sp>
        <p:nvSpPr>
          <p:cNvPr id="67" name="Text 64"/>
          <p:cNvSpPr txBox="1"/>
          <p:nvPr/>
        </p:nvSpPr>
        <p:spPr>
          <a:xfrm>
            <a:off x="8732520" y="2523744"/>
            <a:ext cx="2926080" cy="201168"/>
          </a:xfrm>
          <a:prstGeom prst="rect">
            <a:avLst/>
          </a:prstGeom>
          <a:noFill/>
          <a:ln/>
        </p:spPr>
        <p:txBody>
          <a:bodyPr wrap="square" lIns="0" tIns="0" rIns="0" bIns="0" rtlCol="0" anchor="t"/>
          <a:lstStyle/>
          <a:p>
            <a:pPr indent="0" marL="0">
              <a:buNone/>
            </a:pPr>
            <a:r>
              <a:rPr lang="en-US" sz="850" i="1" dirty="0">
                <a:solidFill>
                  <a:srgbClr val="64748B"/>
                </a:solidFill>
                <a:latin typeface="Inter" pitchFamily="34" charset="0"/>
                <a:ea typeface="Inter" pitchFamily="34" charset="-122"/>
                <a:cs typeface="Inter" pitchFamily="34" charset="-120"/>
              </a:rPr>
              <a:t>Half of engaged repeats land in weeks 1–4</a:t>
            </a:r>
            <a:endParaRPr lang="en-US" sz="850" dirty="0"/>
          </a:p>
        </p:txBody>
      </p:sp>
      <p:sp>
        <p:nvSpPr>
          <p:cNvPr id="68" name="Text 65"/>
          <p:cNvSpPr txBox="1"/>
          <p:nvPr/>
        </p:nvSpPr>
        <p:spPr>
          <a:xfrm>
            <a:off x="8732520" y="2816352"/>
            <a:ext cx="2953512" cy="219456"/>
          </a:xfrm>
          <a:prstGeom prst="rect">
            <a:avLst/>
          </a:prstGeom>
          <a:noFill/>
          <a:ln/>
        </p:spPr>
        <p:txBody>
          <a:bodyPr wrap="square" lIns="0" tIns="0" rIns="0" bIns="0" rtlCol="0" anchor="t"/>
          <a:lstStyle/>
          <a:p>
            <a:pPr indent="0" marL="0">
              <a:buNone/>
            </a:pPr>
            <a:r>
              <a:rPr lang="en-US" sz="950" b="1" dirty="0">
                <a:solidFill>
                  <a:srgbClr val="0A1F44"/>
                </a:solidFill>
                <a:latin typeface="Inter" pitchFamily="34" charset="0"/>
                <a:ea typeface="Inter" pitchFamily="34" charset="-122"/>
                <a:cs typeface="Inter" pitchFamily="34" charset="-120"/>
              </a:rPr>
              <a:t>Repeat by category touched (A6)</a:t>
            </a:r>
            <a:endParaRPr lang="en-US" sz="950" dirty="0"/>
          </a:p>
        </p:txBody>
      </p:sp>
      <p:sp>
        <p:nvSpPr>
          <p:cNvPr id="69" name="Text 66"/>
          <p:cNvSpPr txBox="1"/>
          <p:nvPr/>
        </p:nvSpPr>
        <p:spPr>
          <a:xfrm>
            <a:off x="8732520" y="3072384"/>
            <a:ext cx="914400" cy="237744"/>
          </a:xfrm>
          <a:prstGeom prst="rect">
            <a:avLst/>
          </a:prstGeom>
          <a:noFill/>
          <a:ln/>
        </p:spPr>
        <p:txBody>
          <a:bodyPr wrap="square" lIns="0" tIns="0" rIns="0" bIns="0" rtlCol="0" anchor="ctr"/>
          <a:lstStyle/>
          <a:p>
            <a:pPr indent="0" marL="0">
              <a:buNone/>
            </a:pPr>
            <a:r>
              <a:rPr lang="en-US" sz="900" dirty="0">
                <a:solidFill>
                  <a:srgbClr val="0F172A"/>
                </a:solidFill>
                <a:latin typeface="Inter" pitchFamily="34" charset="0"/>
                <a:ea typeface="Inter" pitchFamily="34" charset="-122"/>
                <a:cs typeface="Inter" pitchFamily="34" charset="-120"/>
              </a:rPr>
              <a:t>Home</a:t>
            </a:r>
            <a:endParaRPr lang="en-US" sz="900" dirty="0"/>
          </a:p>
        </p:txBody>
      </p:sp>
      <p:sp>
        <p:nvSpPr>
          <p:cNvPr id="70" name="Shape 67"/>
          <p:cNvSpPr/>
          <p:nvPr/>
        </p:nvSpPr>
        <p:spPr>
          <a:xfrm>
            <a:off x="9646920" y="3118104"/>
            <a:ext cx="1463040" cy="146304"/>
          </a:xfrm>
          <a:prstGeom prst="rect">
            <a:avLst/>
          </a:prstGeom>
          <a:solidFill>
            <a:srgbClr val="1D4ED8"/>
          </a:solidFill>
          <a:ln w="6350">
            <a:solidFill>
              <a:srgbClr val="1D4ED8"/>
            </a:solidFill>
            <a:prstDash val="solid"/>
          </a:ln>
        </p:spPr>
      </p:sp>
      <p:sp>
        <p:nvSpPr>
          <p:cNvPr id="71" name="Text 68"/>
          <p:cNvSpPr txBox="1"/>
          <p:nvPr/>
        </p:nvSpPr>
        <p:spPr>
          <a:xfrm>
            <a:off x="11164824" y="3072384"/>
            <a:ext cx="548640" cy="237744"/>
          </a:xfrm>
          <a:prstGeom prst="rect">
            <a:avLst/>
          </a:prstGeom>
          <a:noFill/>
          <a:ln/>
        </p:spPr>
        <p:txBody>
          <a:bodyPr wrap="square" lIns="0" tIns="0" rIns="0" bIns="0" rtlCol="0" anchor="ctr"/>
          <a:lstStyle/>
          <a:p>
            <a:pPr indent="0" marL="0">
              <a:buNone/>
            </a:pPr>
            <a:r>
              <a:rPr lang="en-US" sz="900" b="1" dirty="0">
                <a:solidFill>
                  <a:srgbClr val="0A1F44"/>
                </a:solidFill>
                <a:latin typeface="Inter" pitchFamily="34" charset="0"/>
                <a:ea typeface="Inter" pitchFamily="34" charset="-122"/>
                <a:cs typeface="Inter" pitchFamily="34" charset="-120"/>
              </a:rPr>
              <a:t>20.8%</a:t>
            </a:r>
            <a:endParaRPr lang="en-US" sz="900" dirty="0"/>
          </a:p>
        </p:txBody>
      </p:sp>
      <p:sp>
        <p:nvSpPr>
          <p:cNvPr id="72" name="Text 69"/>
          <p:cNvSpPr txBox="1"/>
          <p:nvPr/>
        </p:nvSpPr>
        <p:spPr>
          <a:xfrm>
            <a:off x="8732520" y="3346704"/>
            <a:ext cx="914400" cy="237744"/>
          </a:xfrm>
          <a:prstGeom prst="rect">
            <a:avLst/>
          </a:prstGeom>
          <a:noFill/>
          <a:ln/>
        </p:spPr>
        <p:txBody>
          <a:bodyPr wrap="square" lIns="0" tIns="0" rIns="0" bIns="0" rtlCol="0" anchor="ctr"/>
          <a:lstStyle/>
          <a:p>
            <a:pPr indent="0" marL="0">
              <a:buNone/>
            </a:pPr>
            <a:r>
              <a:rPr lang="en-US" sz="900" dirty="0">
                <a:solidFill>
                  <a:srgbClr val="0F172A"/>
                </a:solidFill>
                <a:latin typeface="Inter" pitchFamily="34" charset="0"/>
                <a:ea typeface="Inter" pitchFamily="34" charset="-122"/>
                <a:cs typeface="Inter" pitchFamily="34" charset="-120"/>
              </a:rPr>
              <a:t>Jewelry</a:t>
            </a:r>
            <a:endParaRPr lang="en-US" sz="900" dirty="0"/>
          </a:p>
        </p:txBody>
      </p:sp>
      <p:sp>
        <p:nvSpPr>
          <p:cNvPr id="73" name="Shape 70"/>
          <p:cNvSpPr/>
          <p:nvPr/>
        </p:nvSpPr>
        <p:spPr>
          <a:xfrm>
            <a:off x="9646920" y="3392424"/>
            <a:ext cx="1371600" cy="146304"/>
          </a:xfrm>
          <a:prstGeom prst="rect">
            <a:avLst/>
          </a:prstGeom>
          <a:solidFill>
            <a:srgbClr val="1D4ED8"/>
          </a:solidFill>
          <a:ln w="6350">
            <a:solidFill>
              <a:srgbClr val="1D4ED8"/>
            </a:solidFill>
            <a:prstDash val="solid"/>
          </a:ln>
        </p:spPr>
      </p:sp>
      <p:sp>
        <p:nvSpPr>
          <p:cNvPr id="74" name="Text 71"/>
          <p:cNvSpPr txBox="1"/>
          <p:nvPr/>
        </p:nvSpPr>
        <p:spPr>
          <a:xfrm>
            <a:off x="11073384" y="3346704"/>
            <a:ext cx="548640" cy="237744"/>
          </a:xfrm>
          <a:prstGeom prst="rect">
            <a:avLst/>
          </a:prstGeom>
          <a:noFill/>
          <a:ln/>
        </p:spPr>
        <p:txBody>
          <a:bodyPr wrap="square" lIns="0" tIns="0" rIns="0" bIns="0" rtlCol="0" anchor="ctr"/>
          <a:lstStyle/>
          <a:p>
            <a:pPr indent="0" marL="0">
              <a:buNone/>
            </a:pPr>
            <a:r>
              <a:rPr lang="en-US" sz="900" b="1" dirty="0">
                <a:solidFill>
                  <a:srgbClr val="0A1F44"/>
                </a:solidFill>
                <a:latin typeface="Inter" pitchFamily="34" charset="0"/>
                <a:ea typeface="Inter" pitchFamily="34" charset="-122"/>
                <a:cs typeface="Inter" pitchFamily="34" charset="-120"/>
              </a:rPr>
              <a:t>19.5%</a:t>
            </a:r>
            <a:endParaRPr lang="en-US" sz="900" dirty="0"/>
          </a:p>
        </p:txBody>
      </p:sp>
      <p:sp>
        <p:nvSpPr>
          <p:cNvPr id="75" name="Text 72"/>
          <p:cNvSpPr txBox="1"/>
          <p:nvPr/>
        </p:nvSpPr>
        <p:spPr>
          <a:xfrm>
            <a:off x="8732520" y="3621024"/>
            <a:ext cx="914400" cy="237744"/>
          </a:xfrm>
          <a:prstGeom prst="rect">
            <a:avLst/>
          </a:prstGeom>
          <a:noFill/>
          <a:ln/>
        </p:spPr>
        <p:txBody>
          <a:bodyPr wrap="square" lIns="0" tIns="0" rIns="0" bIns="0" rtlCol="0" anchor="ctr"/>
          <a:lstStyle/>
          <a:p>
            <a:pPr indent="0" marL="0">
              <a:buNone/>
            </a:pPr>
            <a:r>
              <a:rPr lang="en-US" sz="900" dirty="0">
                <a:solidFill>
                  <a:srgbClr val="0F172A"/>
                </a:solidFill>
                <a:latin typeface="Inter" pitchFamily="34" charset="0"/>
                <a:ea typeface="Inter" pitchFamily="34" charset="-122"/>
                <a:cs typeface="Inter" pitchFamily="34" charset="-120"/>
              </a:rPr>
              <a:t>Beauty</a:t>
            </a:r>
            <a:endParaRPr lang="en-US" sz="900" dirty="0"/>
          </a:p>
        </p:txBody>
      </p:sp>
      <p:sp>
        <p:nvSpPr>
          <p:cNvPr id="76" name="Shape 73"/>
          <p:cNvSpPr/>
          <p:nvPr/>
        </p:nvSpPr>
        <p:spPr>
          <a:xfrm>
            <a:off x="9646920" y="3666744"/>
            <a:ext cx="1301262" cy="146304"/>
          </a:xfrm>
          <a:prstGeom prst="rect">
            <a:avLst/>
          </a:prstGeom>
          <a:solidFill>
            <a:srgbClr val="1D4ED8"/>
          </a:solidFill>
          <a:ln w="6350">
            <a:solidFill>
              <a:srgbClr val="1D4ED8"/>
            </a:solidFill>
            <a:prstDash val="solid"/>
          </a:ln>
        </p:spPr>
      </p:sp>
      <p:sp>
        <p:nvSpPr>
          <p:cNvPr id="77" name="Text 74"/>
          <p:cNvSpPr txBox="1"/>
          <p:nvPr/>
        </p:nvSpPr>
        <p:spPr>
          <a:xfrm>
            <a:off x="11003046" y="3621024"/>
            <a:ext cx="548640" cy="237744"/>
          </a:xfrm>
          <a:prstGeom prst="rect">
            <a:avLst/>
          </a:prstGeom>
          <a:noFill/>
          <a:ln/>
        </p:spPr>
        <p:txBody>
          <a:bodyPr wrap="square" lIns="0" tIns="0" rIns="0" bIns="0" rtlCol="0" anchor="ctr"/>
          <a:lstStyle/>
          <a:p>
            <a:pPr indent="0" marL="0">
              <a:buNone/>
            </a:pPr>
            <a:r>
              <a:rPr lang="en-US" sz="900" b="1" dirty="0">
                <a:solidFill>
                  <a:srgbClr val="0A1F44"/>
                </a:solidFill>
                <a:latin typeface="Inter" pitchFamily="34" charset="0"/>
                <a:ea typeface="Inter" pitchFamily="34" charset="-122"/>
                <a:cs typeface="Inter" pitchFamily="34" charset="-120"/>
              </a:rPr>
              <a:t>18.5%</a:t>
            </a:r>
            <a:endParaRPr lang="en-US" sz="900" dirty="0"/>
          </a:p>
        </p:txBody>
      </p:sp>
      <p:sp>
        <p:nvSpPr>
          <p:cNvPr id="78" name="Text 75"/>
          <p:cNvSpPr txBox="1"/>
          <p:nvPr/>
        </p:nvSpPr>
        <p:spPr>
          <a:xfrm>
            <a:off x="8732520" y="3895344"/>
            <a:ext cx="914400" cy="237744"/>
          </a:xfrm>
          <a:prstGeom prst="rect">
            <a:avLst/>
          </a:prstGeom>
          <a:noFill/>
          <a:ln/>
        </p:spPr>
        <p:txBody>
          <a:bodyPr wrap="square" lIns="0" tIns="0" rIns="0" bIns="0" rtlCol="0" anchor="ctr"/>
          <a:lstStyle/>
          <a:p>
            <a:pPr indent="0" marL="0">
              <a:buNone/>
            </a:pPr>
            <a:r>
              <a:rPr lang="en-US" sz="900" dirty="0">
                <a:solidFill>
                  <a:srgbClr val="0F172A"/>
                </a:solidFill>
                <a:latin typeface="Inter" pitchFamily="34" charset="0"/>
                <a:ea typeface="Inter" pitchFamily="34" charset="-122"/>
                <a:cs typeface="Inter" pitchFamily="34" charset="-120"/>
              </a:rPr>
              <a:t>Cashmere</a:t>
            </a:r>
            <a:endParaRPr lang="en-US" sz="900" dirty="0"/>
          </a:p>
        </p:txBody>
      </p:sp>
      <p:sp>
        <p:nvSpPr>
          <p:cNvPr id="79" name="Shape 76"/>
          <p:cNvSpPr/>
          <p:nvPr/>
        </p:nvSpPr>
        <p:spPr>
          <a:xfrm>
            <a:off x="9646920" y="3941064"/>
            <a:ext cx="963637" cy="146304"/>
          </a:xfrm>
          <a:prstGeom prst="rect">
            <a:avLst/>
          </a:prstGeom>
          <a:solidFill>
            <a:srgbClr val="94A3B8"/>
          </a:solidFill>
          <a:ln w="6350">
            <a:solidFill>
              <a:srgbClr val="94A3B8"/>
            </a:solidFill>
            <a:prstDash val="solid"/>
          </a:ln>
        </p:spPr>
      </p:sp>
      <p:sp>
        <p:nvSpPr>
          <p:cNvPr id="80" name="Text 77"/>
          <p:cNvSpPr txBox="1"/>
          <p:nvPr/>
        </p:nvSpPr>
        <p:spPr>
          <a:xfrm>
            <a:off x="10665421" y="3895344"/>
            <a:ext cx="548640" cy="237744"/>
          </a:xfrm>
          <a:prstGeom prst="rect">
            <a:avLst/>
          </a:prstGeom>
          <a:noFill/>
          <a:ln/>
        </p:spPr>
        <p:txBody>
          <a:bodyPr wrap="square" lIns="0" tIns="0" rIns="0" bIns="0" rtlCol="0" anchor="ctr"/>
          <a:lstStyle/>
          <a:p>
            <a:pPr indent="0" marL="0">
              <a:buNone/>
            </a:pPr>
            <a:r>
              <a:rPr lang="en-US" sz="900" b="1" dirty="0">
                <a:solidFill>
                  <a:srgbClr val="0A1F44"/>
                </a:solidFill>
                <a:latin typeface="Inter" pitchFamily="34" charset="0"/>
                <a:ea typeface="Inter" pitchFamily="34" charset="-122"/>
                <a:cs typeface="Inter" pitchFamily="34" charset="-120"/>
              </a:rPr>
              <a:t>13.7%</a:t>
            </a:r>
            <a:endParaRPr lang="en-US" sz="900" dirty="0"/>
          </a:p>
        </p:txBody>
      </p:sp>
      <p:sp>
        <p:nvSpPr>
          <p:cNvPr id="81" name="Shape 78"/>
          <p:cNvSpPr/>
          <p:nvPr/>
        </p:nvSpPr>
        <p:spPr>
          <a:xfrm>
            <a:off x="8732520" y="4251960"/>
            <a:ext cx="2953512" cy="502920"/>
          </a:xfrm>
          <a:prstGeom prst="roundRect">
            <a:avLst>
              <a:gd name="adj" fmla="val 10909"/>
            </a:avLst>
          </a:prstGeom>
          <a:solidFill>
            <a:srgbClr val="EFF6FF"/>
          </a:solidFill>
          <a:ln w="6350">
            <a:solidFill>
              <a:srgbClr val="EFF6FF"/>
            </a:solidFill>
            <a:prstDash val="solid"/>
          </a:ln>
        </p:spPr>
      </p:sp>
      <p:sp>
        <p:nvSpPr>
          <p:cNvPr id="82" name="Text 79"/>
          <p:cNvSpPr txBox="1"/>
          <p:nvPr/>
        </p:nvSpPr>
        <p:spPr>
          <a:xfrm>
            <a:off x="8805672" y="4251960"/>
            <a:ext cx="2816352" cy="502920"/>
          </a:xfrm>
          <a:prstGeom prst="rect">
            <a:avLst/>
          </a:prstGeom>
          <a:noFill/>
          <a:ln/>
        </p:spPr>
        <p:txBody>
          <a:bodyPr wrap="square" lIns="0" tIns="0" rIns="0" bIns="0" rtlCol="0" anchor="ctr"/>
          <a:lstStyle/>
          <a:p>
            <a:pPr indent="0" marL="0">
              <a:buNone/>
            </a:pPr>
            <a:r>
              <a:rPr lang="en-US" sz="950" b="1" dirty="0">
                <a:solidFill>
                  <a:srgbClr val="0A1F44"/>
                </a:solidFill>
                <a:latin typeface="Inter" pitchFamily="34" charset="0"/>
                <a:ea typeface="Inter" pitchFamily="34" charset="-122"/>
                <a:cs typeface="Inter" pitchFamily="34" charset="-120"/>
              </a:rPr>
              <a:t>Cashmere: touched by 40.7% of buyers, repeats least</a:t>
            </a:r>
            <a:endParaRPr lang="en-US" sz="950" dirty="0"/>
          </a:p>
        </p:txBody>
      </p:sp>
      <p:sp>
        <p:nvSpPr>
          <p:cNvPr id="83" name="Shape 80"/>
          <p:cNvSpPr/>
          <p:nvPr/>
        </p:nvSpPr>
        <p:spPr>
          <a:xfrm>
            <a:off x="502920" y="5029200"/>
            <a:ext cx="11183112" cy="1188720"/>
          </a:xfrm>
          <a:prstGeom prst="roundRect">
            <a:avLst>
              <a:gd name="adj" fmla="val 4615"/>
            </a:avLst>
          </a:prstGeom>
          <a:solidFill>
            <a:srgbClr val="F8FAFC"/>
          </a:solidFill>
          <a:ln w="9525">
            <a:solidFill>
              <a:srgbClr val="E2E8F0"/>
            </a:solidFill>
            <a:prstDash val="solid"/>
          </a:ln>
        </p:spPr>
      </p:sp>
      <p:sp>
        <p:nvSpPr>
          <p:cNvPr id="84" name="Text 81"/>
          <p:cNvSpPr txBox="1"/>
          <p:nvPr/>
        </p:nvSpPr>
        <p:spPr>
          <a:xfrm>
            <a:off x="640080" y="5029200"/>
            <a:ext cx="1737360" cy="1188720"/>
          </a:xfrm>
          <a:prstGeom prst="rect">
            <a:avLst/>
          </a:prstGeom>
          <a:noFill/>
          <a:ln/>
        </p:spPr>
        <p:txBody>
          <a:bodyPr wrap="square" lIns="0" tIns="0" rIns="0" bIns="0" rtlCol="0" anchor="ctr"/>
          <a:lstStyle/>
          <a:p>
            <a:pPr indent="0" marL="0">
              <a:buNone/>
            </a:pPr>
            <a:r>
              <a:rPr lang="en-US" sz="1000" b="1" dirty="0">
                <a:solidFill>
                  <a:srgbClr val="0A1F44"/>
                </a:solidFill>
                <a:latin typeface="Inter" pitchFamily="34" charset="0"/>
                <a:ea typeface="Inter" pitchFamily="34" charset="-122"/>
                <a:cs typeface="Inter" pitchFamily="34" charset="-120"/>
              </a:rPr>
              <a:t>Where the $120M goes</a:t>
            </a:r>
            <a:endParaRPr lang="en-US" sz="1000" dirty="0"/>
          </a:p>
          <a:p>
            <a:pPr indent="0" marL="0">
              <a:buNone/>
            </a:pPr>
            <a:r>
              <a:rPr lang="en-US" sz="850" dirty="0">
                <a:solidFill>
                  <a:srgbClr val="64748B"/>
                </a:solidFill>
                <a:latin typeface="Inter" pitchFamily="34" charset="0"/>
                <a:ea typeface="Inter" pitchFamily="34" charset="-122"/>
                <a:cs typeface="Inter" pitchFamily="34" charset="-120"/>
              </a:rPr>
              <a:t>FY2026 (Exhibit G)</a:t>
            </a:r>
            <a:endParaRPr lang="en-US" sz="1000" dirty="0"/>
          </a:p>
        </p:txBody>
      </p:sp>
      <p:sp>
        <p:nvSpPr>
          <p:cNvPr id="85" name="Shape 82"/>
          <p:cNvSpPr/>
          <p:nvPr/>
        </p:nvSpPr>
        <p:spPr>
          <a:xfrm>
            <a:off x="2423160" y="5303520"/>
            <a:ext cx="2368296" cy="384048"/>
          </a:xfrm>
          <a:prstGeom prst="rect">
            <a:avLst/>
          </a:prstGeom>
          <a:solidFill>
            <a:srgbClr val="93B4F5"/>
          </a:solidFill>
          <a:ln w="6350">
            <a:solidFill>
              <a:srgbClr val="93B4F5"/>
            </a:solidFill>
            <a:prstDash val="solid"/>
          </a:ln>
        </p:spPr>
      </p:sp>
      <p:sp>
        <p:nvSpPr>
          <p:cNvPr id="86" name="Text 83"/>
          <p:cNvSpPr txBox="1"/>
          <p:nvPr/>
        </p:nvSpPr>
        <p:spPr>
          <a:xfrm>
            <a:off x="2450592" y="5303520"/>
            <a:ext cx="2331720" cy="384048"/>
          </a:xfrm>
          <a:prstGeom prst="rect">
            <a:avLst/>
          </a:prstGeom>
          <a:noFill/>
          <a:ln/>
        </p:spPr>
        <p:txBody>
          <a:bodyPr wrap="square" lIns="0" tIns="0" rIns="0" bIns="0" rtlCol="0" anchor="ctr"/>
          <a:lstStyle/>
          <a:p>
            <a:pPr indent="0" marL="0">
              <a:buNone/>
            </a:pPr>
            <a:r>
              <a:rPr lang="en-US" sz="850" b="1" dirty="0">
                <a:solidFill>
                  <a:srgbClr val="0A1F44"/>
                </a:solidFill>
                <a:latin typeface="Inter" pitchFamily="34" charset="0"/>
                <a:ea typeface="Inter" pitchFamily="34" charset="-122"/>
                <a:cs typeface="Inter" pitchFamily="34" charset="-120"/>
              </a:rPr>
              <a:t>Prospecting $58M</a:t>
            </a:r>
            <a:endParaRPr lang="en-US" sz="850" dirty="0"/>
          </a:p>
        </p:txBody>
      </p:sp>
      <p:sp>
        <p:nvSpPr>
          <p:cNvPr id="87" name="Shape 84"/>
          <p:cNvSpPr/>
          <p:nvPr/>
        </p:nvSpPr>
        <p:spPr>
          <a:xfrm>
            <a:off x="4809744" y="5303520"/>
            <a:ext cx="557784" cy="384048"/>
          </a:xfrm>
          <a:prstGeom prst="rect">
            <a:avLst/>
          </a:prstGeom>
          <a:solidFill>
            <a:srgbClr val="93B4F5"/>
          </a:solidFill>
          <a:ln w="6350">
            <a:solidFill>
              <a:srgbClr val="93B4F5"/>
            </a:solidFill>
            <a:prstDash val="solid"/>
          </a:ln>
        </p:spPr>
      </p:sp>
      <p:sp>
        <p:nvSpPr>
          <p:cNvPr id="88" name="Text 85"/>
          <p:cNvSpPr txBox="1"/>
          <p:nvPr/>
        </p:nvSpPr>
        <p:spPr>
          <a:xfrm>
            <a:off x="4837176" y="5303520"/>
            <a:ext cx="521208" cy="384048"/>
          </a:xfrm>
          <a:prstGeom prst="rect">
            <a:avLst/>
          </a:prstGeom>
          <a:noFill/>
          <a:ln/>
        </p:spPr>
        <p:txBody>
          <a:bodyPr wrap="square" lIns="0" tIns="0" rIns="0" bIns="0" rtlCol="0" anchor="ctr"/>
          <a:lstStyle/>
          <a:p>
            <a:pPr indent="0" marL="0">
              <a:buNone/>
            </a:pPr>
            <a:r>
              <a:rPr lang="en-US" sz="850" b="1" dirty="0">
                <a:solidFill>
                  <a:srgbClr val="0A1F44"/>
                </a:solidFill>
                <a:latin typeface="Inter" pitchFamily="34" charset="0"/>
                <a:ea typeface="Inter" pitchFamily="34" charset="-122"/>
                <a:cs typeface="Inter" pitchFamily="34" charset="-120"/>
              </a:rPr>
              <a:t>Retarg. $14M</a:t>
            </a:r>
            <a:endParaRPr lang="en-US" sz="850" dirty="0"/>
          </a:p>
        </p:txBody>
      </p:sp>
      <p:sp>
        <p:nvSpPr>
          <p:cNvPr id="89" name="Shape 86"/>
          <p:cNvSpPr/>
          <p:nvPr/>
        </p:nvSpPr>
        <p:spPr>
          <a:xfrm>
            <a:off x="5385816" y="5303520"/>
            <a:ext cx="886968" cy="384048"/>
          </a:xfrm>
          <a:prstGeom prst="rect">
            <a:avLst/>
          </a:prstGeom>
          <a:solidFill>
            <a:srgbClr val="CBD5E1"/>
          </a:solidFill>
          <a:ln w="6350">
            <a:solidFill>
              <a:srgbClr val="CBD5E1"/>
            </a:solidFill>
            <a:prstDash val="solid"/>
          </a:ln>
        </p:spPr>
      </p:sp>
      <p:sp>
        <p:nvSpPr>
          <p:cNvPr id="90" name="Text 87"/>
          <p:cNvSpPr txBox="1"/>
          <p:nvPr/>
        </p:nvSpPr>
        <p:spPr>
          <a:xfrm>
            <a:off x="5413248" y="5303520"/>
            <a:ext cx="850392" cy="384048"/>
          </a:xfrm>
          <a:prstGeom prst="rect">
            <a:avLst/>
          </a:prstGeom>
          <a:noFill/>
          <a:ln/>
        </p:spPr>
        <p:txBody>
          <a:bodyPr wrap="square" lIns="0" tIns="0" rIns="0" bIns="0" rtlCol="0" anchor="ctr"/>
          <a:lstStyle/>
          <a:p>
            <a:pPr indent="0" marL="0">
              <a:buNone/>
            </a:pPr>
            <a:r>
              <a:rPr lang="en-US" sz="850" b="1" dirty="0">
                <a:solidFill>
                  <a:srgbClr val="0A1F44"/>
                </a:solidFill>
                <a:latin typeface="Inter" pitchFamily="34" charset="0"/>
                <a:ea typeface="Inter" pitchFamily="34" charset="-122"/>
                <a:cs typeface="Inter" pitchFamily="34" charset="-120"/>
              </a:rPr>
              <a:t>Search $22M</a:t>
            </a:r>
            <a:endParaRPr lang="en-US" sz="850" dirty="0"/>
          </a:p>
        </p:txBody>
      </p:sp>
      <p:sp>
        <p:nvSpPr>
          <p:cNvPr id="91" name="Shape 88"/>
          <p:cNvSpPr/>
          <p:nvPr/>
        </p:nvSpPr>
        <p:spPr>
          <a:xfrm>
            <a:off x="6291072" y="5303520"/>
            <a:ext cx="640080" cy="384048"/>
          </a:xfrm>
          <a:prstGeom prst="rect">
            <a:avLst/>
          </a:prstGeom>
          <a:solidFill>
            <a:srgbClr val="CBD5E1"/>
          </a:solidFill>
          <a:ln w="6350">
            <a:solidFill>
              <a:srgbClr val="CBD5E1"/>
            </a:solidFill>
            <a:prstDash val="solid"/>
          </a:ln>
        </p:spPr>
      </p:sp>
      <p:sp>
        <p:nvSpPr>
          <p:cNvPr id="92" name="Text 89"/>
          <p:cNvSpPr txBox="1"/>
          <p:nvPr/>
        </p:nvSpPr>
        <p:spPr>
          <a:xfrm>
            <a:off x="6318504" y="5303520"/>
            <a:ext cx="603504" cy="384048"/>
          </a:xfrm>
          <a:prstGeom prst="rect">
            <a:avLst/>
          </a:prstGeom>
          <a:noFill/>
          <a:ln/>
        </p:spPr>
        <p:txBody>
          <a:bodyPr wrap="square" lIns="0" tIns="0" rIns="0" bIns="0" rtlCol="0" anchor="ctr"/>
          <a:lstStyle/>
          <a:p>
            <a:pPr indent="0" marL="0">
              <a:buNone/>
            </a:pPr>
            <a:r>
              <a:rPr lang="en-US" sz="850" b="1" dirty="0">
                <a:solidFill>
                  <a:srgbClr val="0A1F44"/>
                </a:solidFill>
                <a:latin typeface="Inter" pitchFamily="34" charset="0"/>
                <a:ea typeface="Inter" pitchFamily="34" charset="-122"/>
                <a:cs typeface="Inter" pitchFamily="34" charset="-120"/>
              </a:rPr>
              <a:t>Influencer $16M</a:t>
            </a:r>
            <a:endParaRPr lang="en-US" sz="850" dirty="0"/>
          </a:p>
        </p:txBody>
      </p:sp>
      <p:sp>
        <p:nvSpPr>
          <p:cNvPr id="93" name="Shape 90"/>
          <p:cNvSpPr/>
          <p:nvPr/>
        </p:nvSpPr>
        <p:spPr>
          <a:xfrm>
            <a:off x="6949440" y="5303520"/>
            <a:ext cx="228600" cy="384048"/>
          </a:xfrm>
          <a:prstGeom prst="rect">
            <a:avLst/>
          </a:prstGeom>
          <a:solidFill>
            <a:srgbClr val="1D4ED8"/>
          </a:solidFill>
          <a:ln w="6350">
            <a:solidFill>
              <a:srgbClr val="1D4ED8"/>
            </a:solidFill>
            <a:prstDash val="solid"/>
          </a:ln>
        </p:spPr>
      </p:sp>
      <p:sp>
        <p:nvSpPr>
          <p:cNvPr id="94" name="Shape 91"/>
          <p:cNvSpPr/>
          <p:nvPr/>
        </p:nvSpPr>
        <p:spPr>
          <a:xfrm>
            <a:off x="7196328" y="5303520"/>
            <a:ext cx="146304" cy="384048"/>
          </a:xfrm>
          <a:prstGeom prst="rect">
            <a:avLst/>
          </a:prstGeom>
          <a:solidFill>
            <a:srgbClr val="E2E8F0"/>
          </a:solidFill>
          <a:ln w="6350">
            <a:solidFill>
              <a:srgbClr val="E2E8F0"/>
            </a:solidFill>
            <a:prstDash val="solid"/>
          </a:ln>
        </p:spPr>
      </p:sp>
      <p:sp>
        <p:nvSpPr>
          <p:cNvPr id="95" name="Shape 92"/>
          <p:cNvSpPr/>
          <p:nvPr/>
        </p:nvSpPr>
        <p:spPr>
          <a:xfrm>
            <a:off x="2423160" y="5733288"/>
            <a:ext cx="2962656" cy="0"/>
          </a:xfrm>
          <a:prstGeom prst="line">
            <a:avLst/>
          </a:prstGeom>
          <a:noFill/>
          <a:ln w="15875">
            <a:solidFill>
              <a:srgbClr val="1D4ED8"/>
            </a:solidFill>
            <a:prstDash val="solid"/>
          </a:ln>
        </p:spPr>
      </p:sp>
      <p:sp>
        <p:nvSpPr>
          <p:cNvPr id="96" name="Text 93"/>
          <p:cNvSpPr txBox="1"/>
          <p:nvPr/>
        </p:nvSpPr>
        <p:spPr>
          <a:xfrm>
            <a:off x="2423160" y="5760720"/>
            <a:ext cx="2103120" cy="201168"/>
          </a:xfrm>
          <a:prstGeom prst="rect">
            <a:avLst/>
          </a:prstGeom>
          <a:noFill/>
          <a:ln/>
        </p:spPr>
        <p:txBody>
          <a:bodyPr wrap="square" lIns="0" tIns="0" rIns="0" bIns="0" rtlCol="0" anchor="t"/>
          <a:lstStyle/>
          <a:p>
            <a:pPr indent="0" marL="0">
              <a:buNone/>
            </a:pPr>
            <a:r>
              <a:rPr lang="en-US" sz="800" b="1" dirty="0">
                <a:solidFill>
                  <a:srgbClr val="1D4ED8"/>
                </a:solidFill>
                <a:latin typeface="Inter" pitchFamily="34" charset="0"/>
                <a:ea typeface="Inter" pitchFamily="34" charset="-122"/>
                <a:cs typeface="Inter" pitchFamily="34" charset="-120"/>
              </a:rPr>
              <a:t>60% rented from social platforms</a:t>
            </a:r>
            <a:endParaRPr lang="en-US" sz="800" dirty="0"/>
          </a:p>
        </p:txBody>
      </p:sp>
      <p:pic>
        <p:nvPicPr>
          <p:cNvPr id="97" name="Image 1" descr="/tmp/claude-0/-home-user-Quince/7efe80ae-a049-50c2-9886-98bf7ca3a04a/scratchpad/assets/meta.png">    </p:cNvPr>
          <p:cNvPicPr>
            <a:picLocks noChangeAspect="1"/>
          </p:cNvPicPr>
          <p:nvPr/>
        </p:nvPicPr>
        <p:blipFill>
          <a:blip r:embed="rId2"/>
          <a:stretch>
            <a:fillRect/>
          </a:stretch>
        </p:blipFill>
        <p:spPr>
          <a:xfrm>
            <a:off x="4553712" y="5833872"/>
            <a:ext cx="128016" cy="128016"/>
          </a:xfrm>
          <a:prstGeom prst="rect">
            <a:avLst/>
          </a:prstGeom>
        </p:spPr>
      </p:pic>
      <p:pic>
        <p:nvPicPr>
          <p:cNvPr id="98" name="Image 2" descr="/tmp/claude-0/-home-user-Quince/7efe80ae-a049-50c2-9886-98bf7ca3a04a/scratchpad/assets/tiktok.png">    </p:cNvPr>
          <p:cNvPicPr>
            <a:picLocks noChangeAspect="1"/>
          </p:cNvPicPr>
          <p:nvPr/>
        </p:nvPicPr>
        <p:blipFill>
          <a:blip r:embed="rId3"/>
          <a:stretch>
            <a:fillRect/>
          </a:stretch>
        </p:blipFill>
        <p:spPr>
          <a:xfrm>
            <a:off x="4919472" y="5833872"/>
            <a:ext cx="128016" cy="128016"/>
          </a:xfrm>
          <a:prstGeom prst="rect">
            <a:avLst/>
          </a:prstGeom>
        </p:spPr>
      </p:pic>
      <p:pic>
        <p:nvPicPr>
          <p:cNvPr id="99" name="Image 3" descr="/tmp/claude-0/-home-user-Quince/7efe80ae-a049-50c2-9886-98bf7ca3a04a/scratchpad/assets/pinterest.png">    </p:cNvPr>
          <p:cNvPicPr>
            <a:picLocks noChangeAspect="1"/>
          </p:cNvPicPr>
          <p:nvPr/>
        </p:nvPicPr>
        <p:blipFill>
          <a:blip r:embed="rId4"/>
          <a:stretch>
            <a:fillRect/>
          </a:stretch>
        </p:blipFill>
        <p:spPr>
          <a:xfrm>
            <a:off x="5285232" y="5833872"/>
            <a:ext cx="128016" cy="128016"/>
          </a:xfrm>
          <a:prstGeom prst="rect">
            <a:avLst/>
          </a:prstGeom>
        </p:spPr>
      </p:pic>
      <p:pic>
        <p:nvPicPr>
          <p:cNvPr id="100" name="Image 4" descr="/tmp/claude-0/-home-user-Quince/7efe80ae-a049-50c2-9886-98bf7ca3a04a/scratchpad/assets/google.png">    </p:cNvPr>
          <p:cNvPicPr>
            <a:picLocks noChangeAspect="1"/>
          </p:cNvPicPr>
          <p:nvPr/>
        </p:nvPicPr>
        <p:blipFill>
          <a:blip r:embed="rId5"/>
          <a:stretch>
            <a:fillRect/>
          </a:stretch>
        </p:blipFill>
        <p:spPr>
          <a:xfrm>
            <a:off x="5774436" y="5833872"/>
            <a:ext cx="128016" cy="128016"/>
          </a:xfrm>
          <a:prstGeom prst="rect">
            <a:avLst/>
          </a:prstGeom>
        </p:spPr>
      </p:pic>
      <p:sp>
        <p:nvSpPr>
          <p:cNvPr id="101" name="Text 94"/>
          <p:cNvSpPr txBox="1"/>
          <p:nvPr/>
        </p:nvSpPr>
        <p:spPr>
          <a:xfrm>
            <a:off x="5897880" y="5760720"/>
            <a:ext cx="1463040" cy="201168"/>
          </a:xfrm>
          <a:prstGeom prst="rect">
            <a:avLst/>
          </a:prstGeom>
          <a:noFill/>
          <a:ln/>
        </p:spPr>
        <p:txBody>
          <a:bodyPr wrap="square" lIns="0" tIns="0" rIns="0" bIns="0" rtlCol="0" anchor="t"/>
          <a:lstStyle/>
          <a:p>
            <a:pPr algn="r" indent="0" marL="0">
              <a:buNone/>
            </a:pPr>
            <a:r>
              <a:rPr lang="en-US" sz="850" b="1" dirty="0">
                <a:solidFill>
                  <a:srgbClr val="1D4ED8"/>
                </a:solidFill>
                <a:latin typeface="Inter" pitchFamily="34" charset="0"/>
                <a:ea typeface="Inter" pitchFamily="34" charset="-122"/>
                <a:cs typeface="Inter" pitchFamily="34" charset="-120"/>
              </a:rPr>
              <a:t>Owned $6M · Brand $4M</a:t>
            </a:r>
            <a:endParaRPr lang="en-US" sz="850" dirty="0"/>
          </a:p>
        </p:txBody>
      </p:sp>
      <p:sp>
        <p:nvSpPr>
          <p:cNvPr id="102" name="Text 95"/>
          <p:cNvSpPr txBox="1"/>
          <p:nvPr/>
        </p:nvSpPr>
        <p:spPr>
          <a:xfrm>
            <a:off x="7543800" y="5029200"/>
            <a:ext cx="4069080" cy="1188720"/>
          </a:xfrm>
          <a:prstGeom prst="rect">
            <a:avLst/>
          </a:prstGeom>
          <a:noFill/>
          <a:ln/>
        </p:spPr>
        <p:txBody>
          <a:bodyPr wrap="square" lIns="0" tIns="0" rIns="0" bIns="0" rtlCol="0" anchor="ctr"/>
          <a:lstStyle/>
          <a:p>
            <a:pPr indent="0" marL="0">
              <a:buNone/>
            </a:pPr>
            <a:r>
              <a:rPr lang="en-US" sz="1400" b="1" dirty="0">
                <a:solidFill>
                  <a:srgbClr val="1D4ED8"/>
                </a:solidFill>
                <a:latin typeface="Inter" pitchFamily="34" charset="0"/>
                <a:ea typeface="Inter" pitchFamily="34" charset="-122"/>
                <a:cs typeface="Inter" pitchFamily="34" charset="-120"/>
              </a:rPr>
              <a:t>5% </a:t>
            </a:r>
            <a:pPr indent="0" marL="0">
              <a:buNone/>
            </a:pPr>
            <a:r>
              <a:rPr lang="en-US" sz="950" dirty="0">
                <a:solidFill>
                  <a:srgbClr val="0A1F44"/>
                </a:solidFill>
                <a:latin typeface="Inter" pitchFamily="34" charset="0"/>
                <a:ea typeface="Inter" pitchFamily="34" charset="-122"/>
                <a:cs typeface="Inter" pitchFamily="34" charset="-120"/>
              </a:rPr>
              <a:t>owned: $1.43 per active customer (A, G). </a:t>
            </a:r>
            <a:pPr indent="0" marL="0">
              <a:buNone/>
            </a:pPr>
            <a:r>
              <a:rPr lang="en-US" sz="1400" b="1" dirty="0">
                <a:solidFill>
                  <a:srgbClr val="1D4ED8"/>
                </a:solidFill>
                <a:latin typeface="Inter" pitchFamily="34" charset="0"/>
                <a:ea typeface="Inter" pitchFamily="34" charset="-122"/>
                <a:cs typeface="Inter" pitchFamily="34" charset="-120"/>
              </a:rPr>
              <a:t>$31 </a:t>
            </a:r>
            <a:pPr indent="0" marL="0">
              <a:buNone/>
            </a:pPr>
            <a:r>
              <a:rPr lang="en-US" sz="950" dirty="0">
                <a:solidFill>
                  <a:srgbClr val="0A1F44"/>
                </a:solidFill>
                <a:latin typeface="Inter" pitchFamily="34" charset="0"/>
                <a:ea typeface="Inter" pitchFamily="34" charset="-122"/>
                <a:cs typeface="Inter" pitchFamily="34" charset="-120"/>
              </a:rPr>
              <a:t>retargeting CAC counts sales that would happen anyway (D)</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9326880" cy="841248"/>
          </a:xfrm>
          <a:prstGeom prst="rect">
            <a:avLst/>
          </a:prstGeom>
          <a:noFill/>
          <a:ln/>
        </p:spPr>
        <p:txBody>
          <a:bodyPr wrap="square" lIns="0" tIns="0" rIns="0" bIns="0" rtlCol="0" anchor="ctr"/>
          <a:lstStyle/>
          <a:p>
            <a:pPr indent="0" marL="0">
              <a:buNone/>
            </a:pPr>
            <a:r>
              <a:rPr lang="en-US" sz="2400" b="1" dirty="0">
                <a:solidFill>
                  <a:srgbClr val="0A1F44"/>
                </a:solidFill>
                <a:latin typeface="Inter" pitchFamily="34" charset="0"/>
                <a:ea typeface="Inter" pitchFamily="34" charset="-122"/>
                <a:cs typeface="Inter" pitchFamily="34" charset="-120"/>
              </a:rPr>
              <a:t>Rivals can copy discounts, not M2C cost plus owned reach</a:t>
            </a:r>
            <a:endParaRPr lang="en-US" sz="2400" dirty="0"/>
          </a:p>
        </p:txBody>
      </p:sp>
      <p:pic>
        <p:nvPicPr>
          <p:cNvPr id="3" name="Image 0" descr="/tmp/claude-0/-home-user-Quince/7efe80ae-a049-50c2-9886-98bf7ca3a04a/scratchpad/assets/quince.png">    </p:cNvPr>
          <p:cNvPicPr>
            <a:picLocks noChangeAspect="1"/>
          </p:cNvPicPr>
          <p:nvPr/>
        </p:nvPicPr>
        <p:blipFill>
          <a:blip r:embed="rId1"/>
          <a:stretch>
            <a:fillRect/>
          </a:stretch>
        </p:blipFill>
        <p:spPr>
          <a:xfrm>
            <a:off x="10236708" y="615544"/>
            <a:ext cx="777240" cy="231951"/>
          </a:xfrm>
          <a:prstGeom prst="rect">
            <a:avLst/>
          </a:prstGeom>
        </p:spPr>
      </p:pic>
      <p:sp>
        <p:nvSpPr>
          <p:cNvPr id="4" name="Shape 1"/>
          <p:cNvSpPr/>
          <p:nvPr/>
        </p:nvSpPr>
        <p:spPr>
          <a:xfrm>
            <a:off x="11155680" y="603504"/>
            <a:ext cx="530352" cy="256032"/>
          </a:xfrm>
          <a:prstGeom prst="roundRect">
            <a:avLst>
              <a:gd name="adj" fmla="val 50000"/>
            </a:avLst>
          </a:prstGeom>
          <a:solidFill>
            <a:srgbClr val="0A1F44"/>
          </a:solidFill>
          <a:ln w="6350">
            <a:solidFill>
              <a:srgbClr val="0A1F44"/>
            </a:solidFill>
            <a:prstDash val="solid"/>
          </a:ln>
        </p:spPr>
      </p:sp>
      <p:sp>
        <p:nvSpPr>
          <p:cNvPr id="5" name="Text 2"/>
          <p:cNvSpPr txBox="1"/>
          <p:nvPr/>
        </p:nvSpPr>
        <p:spPr>
          <a:xfrm>
            <a:off x="11155680" y="603504"/>
            <a:ext cx="530352"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Inter" pitchFamily="34" charset="0"/>
                <a:ea typeface="Inter" pitchFamily="34" charset="-122"/>
                <a:cs typeface="Inter" pitchFamily="34" charset="-120"/>
              </a:rPr>
              <a:t>G27</a:t>
            </a:r>
            <a:endParaRPr lang="en-US" sz="950" dirty="0"/>
          </a:p>
        </p:txBody>
      </p:sp>
      <p:sp>
        <p:nvSpPr>
          <p:cNvPr id="6" name="Shape 3"/>
          <p:cNvSpPr/>
          <p:nvPr/>
        </p:nvSpPr>
        <p:spPr>
          <a:xfrm>
            <a:off x="502920" y="6400800"/>
            <a:ext cx="11183112" cy="0"/>
          </a:xfrm>
          <a:prstGeom prst="line">
            <a:avLst/>
          </a:prstGeom>
          <a:noFill/>
          <a:ln w="9525">
            <a:solidFill>
              <a:srgbClr val="E2E8F0"/>
            </a:solidFill>
            <a:prstDash val="solid"/>
          </a:ln>
        </p:spPr>
      </p:sp>
      <p:sp>
        <p:nvSpPr>
          <p:cNvPr id="7" name="Text 4"/>
          <p:cNvSpPr txBox="1"/>
          <p:nvPr/>
        </p:nvSpPr>
        <p:spPr>
          <a:xfrm>
            <a:off x="502920" y="6464808"/>
            <a:ext cx="9418320" cy="256032"/>
          </a:xfrm>
          <a:prstGeom prst="rect">
            <a:avLst/>
          </a:prstGeom>
          <a:noFill/>
          <a:ln/>
        </p:spPr>
        <p:txBody>
          <a:bodyPr wrap="square" lIns="0" tIns="0" rIns="0" bIns="0" rtlCol="0" anchor="ctr"/>
          <a:lstStyle/>
          <a:p>
            <a:pPr indent="0" marL="0">
              <a:buNone/>
            </a:pPr>
            <a:r>
              <a:rPr lang="en-US" sz="800" dirty="0">
                <a:solidFill>
                  <a:srgbClr val="64748B"/>
                </a:solidFill>
                <a:latin typeface="Inter" pitchFamily="34" charset="0"/>
                <a:ea typeface="Inter" pitchFamily="34" charset="-122"/>
                <a:cs typeface="Inter" pitchFamily="34" charset="-120"/>
              </a:rPr>
              <a:t>Source: case Exhibit M, section 7; Amazon Q2 2026 results; Sensor Tower via CNBC (2025) and State of Mobile 2026; Bloomberg Law, NPR (May 2026); Fast Retailing FY2025; Tapestry FY2025 results; Williams-Sonoma 10-K; The Fashion Law (30 Sep 2026). Map positions are team judgment.</a:t>
            </a:r>
            <a:endParaRPr lang="en-US" sz="800" dirty="0"/>
          </a:p>
        </p:txBody>
      </p:sp>
      <p:sp>
        <p:nvSpPr>
          <p:cNvPr id="8" name="Text 5"/>
          <p:cNvSpPr txBox="1"/>
          <p:nvPr/>
        </p:nvSpPr>
        <p:spPr>
          <a:xfrm>
            <a:off x="9966960" y="6464808"/>
            <a:ext cx="1719072" cy="256032"/>
          </a:xfrm>
          <a:prstGeom prst="rect">
            <a:avLst/>
          </a:prstGeom>
          <a:noFill/>
          <a:ln/>
        </p:spPr>
        <p:txBody>
          <a:bodyPr wrap="square" lIns="0" tIns="0" rIns="0" bIns="0" rtlCol="0" anchor="ctr"/>
          <a:lstStyle/>
          <a:p>
            <a:pPr algn="r" indent="0" marL="0">
              <a:buNone/>
            </a:pPr>
            <a:r>
              <a:rPr lang="en-US" sz="800" dirty="0">
                <a:solidFill>
                  <a:srgbClr val="64748B"/>
                </a:solidFill>
                <a:latin typeface="Inter" pitchFamily="34" charset="0"/>
                <a:ea typeface="Inter" pitchFamily="34" charset="-122"/>
                <a:cs typeface="Inter" pitchFamily="34" charset="-120"/>
              </a:rPr>
              <a:t>Team G27  ·  5</a:t>
            </a:r>
            <a:endParaRPr lang="en-US" sz="800" dirty="0"/>
          </a:p>
        </p:txBody>
      </p:sp>
      <p:sp>
        <p:nvSpPr>
          <p:cNvPr id="9" name="Text 6"/>
          <p:cNvSpPr txBox="1"/>
          <p:nvPr/>
        </p:nvSpPr>
        <p:spPr>
          <a:xfrm>
            <a:off x="502920" y="1188720"/>
            <a:ext cx="4297680" cy="237744"/>
          </a:xfrm>
          <a:prstGeom prst="rect">
            <a:avLst/>
          </a:prstGeom>
          <a:noFill/>
          <a:ln/>
        </p:spPr>
        <p:txBody>
          <a:bodyPr wrap="square" lIns="0" tIns="0" rIns="0" bIns="0" rtlCol="0" anchor="t"/>
          <a:lstStyle/>
          <a:p>
            <a:pPr indent="0" marL="0">
              <a:buNone/>
            </a:pPr>
            <a:r>
              <a:rPr lang="en-US" sz="1100" b="1" dirty="0">
                <a:solidFill>
                  <a:srgbClr val="0A1F44"/>
                </a:solidFill>
                <a:latin typeface="Inter" pitchFamily="34" charset="0"/>
                <a:ea typeface="Inter" pitchFamily="34" charset="-122"/>
                <a:cs typeface="Inter" pitchFamily="34" charset="-120"/>
              </a:rPr>
              <a:t>Price vs depth of owned relationship (team judgment)</a:t>
            </a:r>
            <a:endParaRPr lang="en-US" sz="1100" dirty="0"/>
          </a:p>
        </p:txBody>
      </p:sp>
      <p:sp>
        <p:nvSpPr>
          <p:cNvPr id="10" name="Shape 7"/>
          <p:cNvSpPr/>
          <p:nvPr/>
        </p:nvSpPr>
        <p:spPr>
          <a:xfrm>
            <a:off x="868680" y="1572768"/>
            <a:ext cx="0" cy="2587752"/>
          </a:xfrm>
          <a:prstGeom prst="line">
            <a:avLst/>
          </a:prstGeom>
          <a:noFill/>
          <a:ln w="12700">
            <a:solidFill>
              <a:srgbClr val="0F172A"/>
            </a:solidFill>
            <a:prstDash val="solid"/>
          </a:ln>
        </p:spPr>
      </p:sp>
      <p:sp>
        <p:nvSpPr>
          <p:cNvPr id="11" name="Shape 8"/>
          <p:cNvSpPr/>
          <p:nvPr/>
        </p:nvSpPr>
        <p:spPr>
          <a:xfrm>
            <a:off x="868680" y="4160520"/>
            <a:ext cx="3657600" cy="0"/>
          </a:xfrm>
          <a:prstGeom prst="line">
            <a:avLst/>
          </a:prstGeom>
          <a:noFill/>
          <a:ln w="12700">
            <a:solidFill>
              <a:srgbClr val="0F172A"/>
            </a:solidFill>
            <a:prstDash val="solid"/>
          </a:ln>
        </p:spPr>
      </p:sp>
      <p:sp>
        <p:nvSpPr>
          <p:cNvPr id="12" name="Shape 9"/>
          <p:cNvSpPr/>
          <p:nvPr/>
        </p:nvSpPr>
        <p:spPr>
          <a:xfrm>
            <a:off x="2697480" y="1572768"/>
            <a:ext cx="0" cy="2587752"/>
          </a:xfrm>
          <a:prstGeom prst="line">
            <a:avLst/>
          </a:prstGeom>
          <a:noFill/>
          <a:ln w="9525">
            <a:solidFill>
              <a:srgbClr val="D5DCE6"/>
            </a:solidFill>
            <a:prstDash val="dash"/>
          </a:ln>
        </p:spPr>
      </p:sp>
      <p:sp>
        <p:nvSpPr>
          <p:cNvPr id="13" name="Shape 10"/>
          <p:cNvSpPr/>
          <p:nvPr/>
        </p:nvSpPr>
        <p:spPr>
          <a:xfrm>
            <a:off x="868680" y="2866644"/>
            <a:ext cx="3657600" cy="0"/>
          </a:xfrm>
          <a:prstGeom prst="line">
            <a:avLst/>
          </a:prstGeom>
          <a:noFill/>
          <a:ln w="9525">
            <a:solidFill>
              <a:srgbClr val="D5DCE6"/>
            </a:solidFill>
            <a:prstDash val="solid"/>
          </a:ln>
        </p:spPr>
      </p:sp>
      <p:sp>
        <p:nvSpPr>
          <p:cNvPr id="14" name="Text 11"/>
          <p:cNvSpPr txBox="1"/>
          <p:nvPr/>
        </p:nvSpPr>
        <p:spPr>
          <a:xfrm>
            <a:off x="868680" y="4197096"/>
            <a:ext cx="731520" cy="182880"/>
          </a:xfrm>
          <a:prstGeom prst="rect">
            <a:avLst/>
          </a:prstGeom>
          <a:noFill/>
          <a:ln/>
        </p:spPr>
        <p:txBody>
          <a:bodyPr wrap="square" lIns="0" tIns="0" rIns="0" bIns="0" rtlCol="0" anchor="t"/>
          <a:lstStyle/>
          <a:p>
            <a:pPr indent="0" marL="0">
              <a:buNone/>
            </a:pPr>
            <a:r>
              <a:rPr lang="en-US" sz="850" dirty="0">
                <a:solidFill>
                  <a:srgbClr val="64748B"/>
                </a:solidFill>
                <a:latin typeface="Inter" pitchFamily="34" charset="0"/>
                <a:ea typeface="Inter" pitchFamily="34" charset="-122"/>
                <a:cs typeface="Inter" pitchFamily="34" charset="-120"/>
              </a:rPr>
              <a:t>Value</a:t>
            </a:r>
            <a:endParaRPr lang="en-US" sz="850" dirty="0"/>
          </a:p>
        </p:txBody>
      </p:sp>
      <p:sp>
        <p:nvSpPr>
          <p:cNvPr id="15" name="Text 12"/>
          <p:cNvSpPr txBox="1"/>
          <p:nvPr/>
        </p:nvSpPr>
        <p:spPr>
          <a:xfrm>
            <a:off x="2148840" y="4197096"/>
            <a:ext cx="1097280" cy="182880"/>
          </a:xfrm>
          <a:prstGeom prst="rect">
            <a:avLst/>
          </a:prstGeom>
          <a:noFill/>
          <a:ln/>
        </p:spPr>
        <p:txBody>
          <a:bodyPr wrap="square" lIns="0" tIns="0" rIns="0" bIns="0" rtlCol="0" anchor="t"/>
          <a:lstStyle/>
          <a:p>
            <a:pPr algn="ctr" indent="0" marL="0">
              <a:buNone/>
            </a:pPr>
            <a:r>
              <a:rPr lang="en-US" sz="850" b="1" dirty="0">
                <a:solidFill>
                  <a:srgbClr val="0F172A"/>
                </a:solidFill>
                <a:latin typeface="Inter" pitchFamily="34" charset="0"/>
                <a:ea typeface="Inter" pitchFamily="34" charset="-122"/>
                <a:cs typeface="Inter" pitchFamily="34" charset="-120"/>
              </a:rPr>
              <a:t>Price →</a:t>
            </a:r>
            <a:endParaRPr lang="en-US" sz="850" dirty="0"/>
          </a:p>
        </p:txBody>
      </p:sp>
      <p:sp>
        <p:nvSpPr>
          <p:cNvPr id="16" name="Text 13"/>
          <p:cNvSpPr txBox="1"/>
          <p:nvPr/>
        </p:nvSpPr>
        <p:spPr>
          <a:xfrm>
            <a:off x="3794760" y="4197096"/>
            <a:ext cx="731520" cy="182880"/>
          </a:xfrm>
          <a:prstGeom prst="rect">
            <a:avLst/>
          </a:prstGeom>
          <a:noFill/>
          <a:ln/>
        </p:spPr>
        <p:txBody>
          <a:bodyPr wrap="square" lIns="0" tIns="0" rIns="0" bIns="0" rtlCol="0" anchor="t"/>
          <a:lstStyle/>
          <a:p>
            <a:pPr algn="r" indent="0" marL="0">
              <a:buNone/>
            </a:pPr>
            <a:r>
              <a:rPr lang="en-US" sz="850" dirty="0">
                <a:solidFill>
                  <a:srgbClr val="64748B"/>
                </a:solidFill>
                <a:latin typeface="Inter" pitchFamily="34" charset="0"/>
                <a:ea typeface="Inter" pitchFamily="34" charset="-122"/>
                <a:cs typeface="Inter" pitchFamily="34" charset="-120"/>
              </a:rPr>
              <a:t>Premium</a:t>
            </a:r>
            <a:endParaRPr lang="en-US" sz="850" dirty="0"/>
          </a:p>
        </p:txBody>
      </p:sp>
      <p:sp>
        <p:nvSpPr>
          <p:cNvPr id="17" name="Text 14"/>
          <p:cNvSpPr txBox="1"/>
          <p:nvPr/>
        </p:nvSpPr>
        <p:spPr>
          <a:xfrm rot="16200000">
            <a:off x="-320040" y="2775204"/>
            <a:ext cx="2011680" cy="182880"/>
          </a:xfrm>
          <a:prstGeom prst="rect">
            <a:avLst/>
          </a:prstGeom>
          <a:noFill/>
          <a:ln/>
        </p:spPr>
        <p:txBody>
          <a:bodyPr wrap="square" lIns="0" tIns="0" rIns="0" bIns="0" rtlCol="0" anchor="t"/>
          <a:lstStyle/>
          <a:p>
            <a:pPr algn="ctr" indent="0" marL="0">
              <a:buNone/>
            </a:pPr>
            <a:r>
              <a:rPr lang="en-US" sz="850" b="1" dirty="0">
                <a:solidFill>
                  <a:srgbClr val="0F172A"/>
                </a:solidFill>
                <a:latin typeface="Inter" pitchFamily="34" charset="0"/>
                <a:ea typeface="Inter" pitchFamily="34" charset="-122"/>
                <a:cs typeface="Inter" pitchFamily="34" charset="-120"/>
              </a:rPr>
              <a:t>Owned relationship →</a:t>
            </a:r>
            <a:endParaRPr lang="en-US" sz="850" dirty="0"/>
          </a:p>
        </p:txBody>
      </p:sp>
      <p:sp>
        <p:nvSpPr>
          <p:cNvPr id="18" name="Shape 15"/>
          <p:cNvSpPr/>
          <p:nvPr/>
        </p:nvSpPr>
        <p:spPr>
          <a:xfrm>
            <a:off x="978408" y="1712671"/>
            <a:ext cx="658368" cy="237744"/>
          </a:xfrm>
          <a:prstGeom prst="roundRect">
            <a:avLst>
              <a:gd name="adj" fmla="val 23077"/>
            </a:avLst>
          </a:prstGeom>
          <a:solidFill>
            <a:srgbClr val="FFFFFF"/>
          </a:solidFill>
          <a:ln w="9525">
            <a:solidFill>
              <a:srgbClr val="E2E8F0"/>
            </a:solidFill>
            <a:prstDash val="solid"/>
          </a:ln>
        </p:spPr>
      </p:sp>
      <p:pic>
        <p:nvPicPr>
          <p:cNvPr id="19" name="Image 1" descr="/tmp/claude-0/-home-user-Quince/7efe80ae-a049-50c2-9886-98bf7ca3a04a/scratchpad/assets/amazon.png">    </p:cNvPr>
          <p:cNvPicPr>
            <a:picLocks noChangeAspect="1"/>
          </p:cNvPicPr>
          <p:nvPr/>
        </p:nvPicPr>
        <p:blipFill>
          <a:blip r:embed="rId2"/>
          <a:stretch>
            <a:fillRect/>
          </a:stretch>
        </p:blipFill>
        <p:spPr>
          <a:xfrm>
            <a:off x="1095566" y="1767535"/>
            <a:ext cx="424053" cy="128016"/>
          </a:xfrm>
          <a:prstGeom prst="rect">
            <a:avLst/>
          </a:prstGeom>
        </p:spPr>
      </p:pic>
      <p:sp>
        <p:nvSpPr>
          <p:cNvPr id="20" name="Shape 16"/>
          <p:cNvSpPr/>
          <p:nvPr/>
        </p:nvSpPr>
        <p:spPr>
          <a:xfrm>
            <a:off x="1197864" y="2385487"/>
            <a:ext cx="365760" cy="237744"/>
          </a:xfrm>
          <a:prstGeom prst="roundRect">
            <a:avLst>
              <a:gd name="adj" fmla="val 23077"/>
            </a:avLst>
          </a:prstGeom>
          <a:solidFill>
            <a:srgbClr val="FFFFFF"/>
          </a:solidFill>
          <a:ln w="9525">
            <a:solidFill>
              <a:srgbClr val="E2E8F0"/>
            </a:solidFill>
            <a:prstDash val="solid"/>
          </a:ln>
        </p:spPr>
      </p:sp>
      <p:pic>
        <p:nvPicPr>
          <p:cNvPr id="21" name="Image 2" descr="/tmp/claude-0/-home-user-Quince/7efe80ae-a049-50c2-9886-98bf7ca3a04a/scratchpad/assets/uniqlo.png">    </p:cNvPr>
          <p:cNvPicPr>
            <a:picLocks noChangeAspect="1"/>
          </p:cNvPicPr>
          <p:nvPr/>
        </p:nvPicPr>
        <p:blipFill>
          <a:blip r:embed="rId3"/>
          <a:stretch>
            <a:fillRect/>
          </a:stretch>
        </p:blipFill>
        <p:spPr>
          <a:xfrm>
            <a:off x="1280160" y="2403775"/>
            <a:ext cx="201168" cy="201168"/>
          </a:xfrm>
          <a:prstGeom prst="rect">
            <a:avLst/>
          </a:prstGeom>
        </p:spPr>
      </p:pic>
      <p:sp>
        <p:nvSpPr>
          <p:cNvPr id="22" name="Shape 17"/>
          <p:cNvSpPr/>
          <p:nvPr/>
        </p:nvSpPr>
        <p:spPr>
          <a:xfrm>
            <a:off x="978408" y="2954792"/>
            <a:ext cx="658368" cy="237744"/>
          </a:xfrm>
          <a:prstGeom prst="roundRect">
            <a:avLst>
              <a:gd name="adj" fmla="val 23077"/>
            </a:avLst>
          </a:prstGeom>
          <a:solidFill>
            <a:srgbClr val="FFFFFF"/>
          </a:solidFill>
          <a:ln w="9525">
            <a:solidFill>
              <a:srgbClr val="E2E8F0"/>
            </a:solidFill>
            <a:prstDash val="solid"/>
          </a:ln>
        </p:spPr>
      </p:sp>
      <p:pic>
        <p:nvPicPr>
          <p:cNvPr id="23" name="Image 3" descr="/tmp/claude-0/-home-user-Quince/7efe80ae-a049-50c2-9886-98bf7ca3a04a/scratchpad/assets/shein.png">    </p:cNvPr>
          <p:cNvPicPr>
            <a:picLocks noChangeAspect="1"/>
          </p:cNvPicPr>
          <p:nvPr/>
        </p:nvPicPr>
        <p:blipFill>
          <a:blip r:embed="rId4"/>
          <a:stretch>
            <a:fillRect/>
          </a:stretch>
        </p:blipFill>
        <p:spPr>
          <a:xfrm>
            <a:off x="1042416" y="3018610"/>
            <a:ext cx="530352" cy="110108"/>
          </a:xfrm>
          <a:prstGeom prst="rect">
            <a:avLst/>
          </a:prstGeom>
        </p:spPr>
      </p:pic>
      <p:sp>
        <p:nvSpPr>
          <p:cNvPr id="24" name="Shape 18"/>
          <p:cNvSpPr/>
          <p:nvPr/>
        </p:nvSpPr>
        <p:spPr>
          <a:xfrm>
            <a:off x="2743200" y="3110057"/>
            <a:ext cx="786384" cy="237744"/>
          </a:xfrm>
          <a:prstGeom prst="roundRect">
            <a:avLst>
              <a:gd name="adj" fmla="val 23077"/>
            </a:avLst>
          </a:prstGeom>
          <a:solidFill>
            <a:srgbClr val="FFFFFF"/>
          </a:solidFill>
          <a:ln w="9525">
            <a:solidFill>
              <a:srgbClr val="E2E8F0"/>
            </a:solidFill>
            <a:prstDash val="solid"/>
          </a:ln>
        </p:spPr>
      </p:sp>
      <p:pic>
        <p:nvPicPr>
          <p:cNvPr id="25" name="Image 4" descr="/tmp/claude-0/-home-user-Quince/7efe80ae-a049-50c2-9886-98bf7ca3a04a/scratchpad/assets/everlane.png">    </p:cNvPr>
          <p:cNvPicPr>
            <a:picLocks noChangeAspect="1"/>
          </p:cNvPicPr>
          <p:nvPr/>
        </p:nvPicPr>
        <p:blipFill>
          <a:blip r:embed="rId5"/>
          <a:stretch>
            <a:fillRect/>
          </a:stretch>
        </p:blipFill>
        <p:spPr>
          <a:xfrm>
            <a:off x="2807208" y="3195786"/>
            <a:ext cx="658368" cy="66287"/>
          </a:xfrm>
          <a:prstGeom prst="rect">
            <a:avLst/>
          </a:prstGeom>
        </p:spPr>
      </p:pic>
      <p:sp>
        <p:nvSpPr>
          <p:cNvPr id="26" name="Shape 19"/>
          <p:cNvSpPr/>
          <p:nvPr/>
        </p:nvSpPr>
        <p:spPr>
          <a:xfrm>
            <a:off x="3630168" y="3368832"/>
            <a:ext cx="694944" cy="237744"/>
          </a:xfrm>
          <a:prstGeom prst="roundRect">
            <a:avLst>
              <a:gd name="adj" fmla="val 23077"/>
            </a:avLst>
          </a:prstGeom>
          <a:solidFill>
            <a:srgbClr val="FFFFFF"/>
          </a:solidFill>
          <a:ln w="9525">
            <a:solidFill>
              <a:srgbClr val="E2E8F0"/>
            </a:solidFill>
            <a:prstDash val="solid"/>
          </a:ln>
        </p:spPr>
      </p:sp>
      <p:sp>
        <p:nvSpPr>
          <p:cNvPr id="27" name="Text 20"/>
          <p:cNvSpPr txBox="1"/>
          <p:nvPr/>
        </p:nvSpPr>
        <p:spPr>
          <a:xfrm>
            <a:off x="3630168" y="3368832"/>
            <a:ext cx="694944" cy="237744"/>
          </a:xfrm>
          <a:prstGeom prst="rect">
            <a:avLst/>
          </a:prstGeom>
          <a:noFill/>
          <a:ln/>
        </p:spPr>
        <p:txBody>
          <a:bodyPr wrap="square" lIns="0" tIns="0" rIns="0" bIns="0" rtlCol="0" anchor="ctr"/>
          <a:lstStyle/>
          <a:p>
            <a:pPr algn="ctr" indent="0" marL="0">
              <a:buNone/>
            </a:pPr>
            <a:r>
              <a:rPr lang="en-US" sz="750" b="1" spc="200" kern="0" dirty="0">
                <a:solidFill>
                  <a:srgbClr val="0F172A"/>
                </a:solidFill>
                <a:latin typeface="Inter" pitchFamily="34" charset="0"/>
                <a:ea typeface="Inter" pitchFamily="34" charset="-122"/>
                <a:cs typeface="Inter" pitchFamily="34" charset="-120"/>
              </a:rPr>
              <a:t>CUYANA</a:t>
            </a:r>
            <a:endParaRPr lang="en-US" sz="750" dirty="0"/>
          </a:p>
        </p:txBody>
      </p:sp>
      <p:sp>
        <p:nvSpPr>
          <p:cNvPr id="28" name="Shape 21"/>
          <p:cNvSpPr/>
          <p:nvPr/>
        </p:nvSpPr>
        <p:spPr>
          <a:xfrm>
            <a:off x="3666744" y="2230222"/>
            <a:ext cx="694944" cy="237744"/>
          </a:xfrm>
          <a:prstGeom prst="roundRect">
            <a:avLst>
              <a:gd name="adj" fmla="val 23077"/>
            </a:avLst>
          </a:prstGeom>
          <a:solidFill>
            <a:srgbClr val="FFFFFF"/>
          </a:solidFill>
          <a:ln w="9525">
            <a:solidFill>
              <a:srgbClr val="E2E8F0"/>
            </a:solidFill>
            <a:prstDash val="solid"/>
          </a:ln>
        </p:spPr>
      </p:sp>
      <p:pic>
        <p:nvPicPr>
          <p:cNvPr id="29" name="Image 5" descr="/tmp/claude-0/-home-user-Quince/7efe80ae-a049-50c2-9886-98bf7ca3a04a/scratchpad/assets/tapestry.png">    </p:cNvPr>
          <p:cNvPicPr>
            <a:picLocks noChangeAspect="1"/>
          </p:cNvPicPr>
          <p:nvPr/>
        </p:nvPicPr>
        <p:blipFill>
          <a:blip r:embed="rId6"/>
          <a:stretch>
            <a:fillRect/>
          </a:stretch>
        </p:blipFill>
        <p:spPr>
          <a:xfrm>
            <a:off x="3730752" y="2285691"/>
            <a:ext cx="566928" cy="126806"/>
          </a:xfrm>
          <a:prstGeom prst="rect">
            <a:avLst/>
          </a:prstGeom>
        </p:spPr>
      </p:pic>
      <p:sp>
        <p:nvSpPr>
          <p:cNvPr id="30" name="Shape 22"/>
          <p:cNvSpPr/>
          <p:nvPr/>
        </p:nvSpPr>
        <p:spPr>
          <a:xfrm>
            <a:off x="2807208" y="1660916"/>
            <a:ext cx="1097280" cy="237744"/>
          </a:xfrm>
          <a:prstGeom prst="roundRect">
            <a:avLst>
              <a:gd name="adj" fmla="val 23077"/>
            </a:avLst>
          </a:prstGeom>
          <a:solidFill>
            <a:srgbClr val="FFFFFF"/>
          </a:solidFill>
          <a:ln w="9525">
            <a:solidFill>
              <a:srgbClr val="E2E8F0"/>
            </a:solidFill>
            <a:prstDash val="solid"/>
          </a:ln>
        </p:spPr>
      </p:sp>
      <p:pic>
        <p:nvPicPr>
          <p:cNvPr id="31" name="Image 6" descr="/tmp/claude-0/-home-user-Quince/7efe80ae-a049-50c2-9886-98bf7ca3a04a/scratchpad/assets/williams_sonoma.png">    </p:cNvPr>
          <p:cNvPicPr>
            <a:picLocks noChangeAspect="1"/>
          </p:cNvPicPr>
          <p:nvPr/>
        </p:nvPicPr>
        <p:blipFill>
          <a:blip r:embed="rId7"/>
          <a:stretch>
            <a:fillRect/>
          </a:stretch>
        </p:blipFill>
        <p:spPr>
          <a:xfrm>
            <a:off x="2871216" y="1745388"/>
            <a:ext cx="969264" cy="68800"/>
          </a:xfrm>
          <a:prstGeom prst="rect">
            <a:avLst/>
          </a:prstGeom>
        </p:spPr>
      </p:pic>
      <p:sp>
        <p:nvSpPr>
          <p:cNvPr id="32" name="Shape 23"/>
          <p:cNvSpPr/>
          <p:nvPr/>
        </p:nvSpPr>
        <p:spPr>
          <a:xfrm>
            <a:off x="2258568" y="2598908"/>
            <a:ext cx="0" cy="1156533"/>
          </a:xfrm>
          <a:prstGeom prst="line">
            <a:avLst/>
          </a:prstGeom>
          <a:noFill/>
          <a:ln w="25400">
            <a:solidFill>
              <a:srgbClr val="1D4ED8"/>
            </a:solidFill>
            <a:prstDash val="solid"/>
            <a:headEnd type="triangle"/>
          </a:ln>
        </p:spPr>
      </p:sp>
      <p:sp>
        <p:nvSpPr>
          <p:cNvPr id="33" name="Shape 24"/>
          <p:cNvSpPr/>
          <p:nvPr/>
        </p:nvSpPr>
        <p:spPr>
          <a:xfrm>
            <a:off x="1874520" y="2315444"/>
            <a:ext cx="768096" cy="274320"/>
          </a:xfrm>
          <a:prstGeom prst="roundRect">
            <a:avLst>
              <a:gd name="adj" fmla="val 20000"/>
            </a:avLst>
          </a:prstGeom>
          <a:solidFill>
            <a:srgbClr val="1D4ED8"/>
          </a:solidFill>
          <a:ln w="6350">
            <a:solidFill>
              <a:srgbClr val="1D4ED8"/>
            </a:solidFill>
            <a:prstDash val="solid"/>
          </a:ln>
        </p:spPr>
      </p:sp>
      <p:pic>
        <p:nvPicPr>
          <p:cNvPr id="34" name="Image 7" descr="/tmp/claude-0/-home-user-Quince/7efe80ae-a049-50c2-9886-98bf7ca3a04a/scratchpad/assets/quince_white.png">    </p:cNvPr>
          <p:cNvPicPr>
            <a:picLocks noChangeAspect="1"/>
          </p:cNvPicPr>
          <p:nvPr/>
        </p:nvPicPr>
        <p:blipFill>
          <a:blip r:embed="rId8"/>
          <a:stretch>
            <a:fillRect/>
          </a:stretch>
        </p:blipFill>
        <p:spPr>
          <a:xfrm>
            <a:off x="1998124" y="2374880"/>
            <a:ext cx="520887" cy="155448"/>
          </a:xfrm>
          <a:prstGeom prst="rect">
            <a:avLst/>
          </a:prstGeom>
        </p:spPr>
      </p:pic>
      <p:sp>
        <p:nvSpPr>
          <p:cNvPr id="35" name="Shape 25"/>
          <p:cNvSpPr/>
          <p:nvPr/>
        </p:nvSpPr>
        <p:spPr>
          <a:xfrm>
            <a:off x="1874520" y="3764585"/>
            <a:ext cx="768096" cy="274320"/>
          </a:xfrm>
          <a:prstGeom prst="roundRect">
            <a:avLst>
              <a:gd name="adj" fmla="val 20000"/>
            </a:avLst>
          </a:prstGeom>
          <a:solidFill>
            <a:srgbClr val="FFFFFF"/>
          </a:solidFill>
          <a:ln w="12700">
            <a:solidFill>
              <a:srgbClr val="94A3B8"/>
            </a:solidFill>
            <a:prstDash val="dash"/>
          </a:ln>
        </p:spPr>
      </p:sp>
      <p:pic>
        <p:nvPicPr>
          <p:cNvPr id="36" name="Image 8" descr="/tmp/claude-0/-home-user-Quince/7efe80ae-a049-50c2-9886-98bf7ca3a04a/scratchpad/assets/quince.png">    </p:cNvPr>
          <p:cNvPicPr>
            <a:picLocks noChangeAspect="1"/>
          </p:cNvPicPr>
          <p:nvPr/>
        </p:nvPicPr>
        <p:blipFill>
          <a:blip r:embed="rId9"/>
          <a:stretch>
            <a:fillRect/>
          </a:stretch>
        </p:blipFill>
        <p:spPr>
          <a:xfrm>
            <a:off x="1998124" y="3824021"/>
            <a:ext cx="520887" cy="155448"/>
          </a:xfrm>
          <a:prstGeom prst="rect">
            <a:avLst/>
          </a:prstGeom>
        </p:spPr>
      </p:pic>
      <p:sp>
        <p:nvSpPr>
          <p:cNvPr id="37" name="Text 26"/>
          <p:cNvSpPr txBox="1"/>
          <p:nvPr/>
        </p:nvSpPr>
        <p:spPr>
          <a:xfrm>
            <a:off x="2670048" y="2361164"/>
            <a:ext cx="548640" cy="182880"/>
          </a:xfrm>
          <a:prstGeom prst="rect">
            <a:avLst/>
          </a:prstGeom>
          <a:noFill/>
          <a:ln/>
        </p:spPr>
        <p:txBody>
          <a:bodyPr wrap="square" lIns="0" tIns="0" rIns="0" bIns="0" rtlCol="0" anchor="ctr"/>
          <a:lstStyle/>
          <a:p>
            <a:pPr indent="0" marL="0">
              <a:buNone/>
            </a:pPr>
            <a:r>
              <a:rPr lang="en-US" sz="850" b="1" dirty="0">
                <a:solidFill>
                  <a:srgbClr val="1D4ED8"/>
                </a:solidFill>
                <a:latin typeface="Inter" pitchFamily="34" charset="0"/>
                <a:ea typeface="Inter" pitchFamily="34" charset="-122"/>
                <a:cs typeface="Inter" pitchFamily="34" charset="-120"/>
              </a:rPr>
              <a:t>target</a:t>
            </a:r>
            <a:endParaRPr lang="en-US" sz="850" dirty="0"/>
          </a:p>
        </p:txBody>
      </p:sp>
      <p:sp>
        <p:nvSpPr>
          <p:cNvPr id="38" name="Text 27"/>
          <p:cNvSpPr txBox="1"/>
          <p:nvPr/>
        </p:nvSpPr>
        <p:spPr>
          <a:xfrm>
            <a:off x="2670048" y="3810305"/>
            <a:ext cx="548640" cy="182880"/>
          </a:xfrm>
          <a:prstGeom prst="rect">
            <a:avLst/>
          </a:prstGeom>
          <a:noFill/>
          <a:ln/>
        </p:spPr>
        <p:txBody>
          <a:bodyPr wrap="square" lIns="0" tIns="0" rIns="0" bIns="0" rtlCol="0" anchor="ctr"/>
          <a:lstStyle/>
          <a:p>
            <a:pPr indent="0" marL="0">
              <a:buNone/>
            </a:pPr>
            <a:r>
              <a:rPr lang="en-US" sz="850" b="1" dirty="0">
                <a:solidFill>
                  <a:srgbClr val="64748B"/>
                </a:solidFill>
                <a:latin typeface="Inter" pitchFamily="34" charset="0"/>
                <a:ea typeface="Inter" pitchFamily="34" charset="-122"/>
                <a:cs typeface="Inter" pitchFamily="34" charset="-120"/>
              </a:rPr>
              <a:t>today</a:t>
            </a:r>
            <a:endParaRPr lang="en-US" sz="850" dirty="0"/>
          </a:p>
        </p:txBody>
      </p:sp>
      <p:sp>
        <p:nvSpPr>
          <p:cNvPr id="39" name="Shape 28"/>
          <p:cNvSpPr/>
          <p:nvPr/>
        </p:nvSpPr>
        <p:spPr>
          <a:xfrm>
            <a:off x="502920" y="4462272"/>
            <a:ext cx="4206240" cy="1801368"/>
          </a:xfrm>
          <a:prstGeom prst="roundRect">
            <a:avLst>
              <a:gd name="adj" fmla="val 3046"/>
            </a:avLst>
          </a:prstGeom>
          <a:solidFill>
            <a:srgbClr val="EFF6FF"/>
          </a:solidFill>
          <a:ln w="6350">
            <a:solidFill>
              <a:srgbClr val="EFF6FF"/>
            </a:solidFill>
            <a:prstDash val="solid"/>
          </a:ln>
        </p:spPr>
      </p:sp>
      <p:sp>
        <p:nvSpPr>
          <p:cNvPr id="40" name="Text 29"/>
          <p:cNvSpPr txBox="1"/>
          <p:nvPr/>
        </p:nvSpPr>
        <p:spPr>
          <a:xfrm>
            <a:off x="640080" y="4526280"/>
            <a:ext cx="3931920" cy="219456"/>
          </a:xfrm>
          <a:prstGeom prst="rect">
            <a:avLst/>
          </a:prstGeom>
          <a:noFill/>
          <a:ln/>
        </p:spPr>
        <p:txBody>
          <a:bodyPr wrap="square" lIns="0" tIns="0" rIns="0" bIns="0" rtlCol="0" anchor="t"/>
          <a:lstStyle/>
          <a:p>
            <a:pPr indent="0" marL="0">
              <a:buNone/>
            </a:pPr>
            <a:r>
              <a:rPr lang="en-US" sz="1100" b="1" dirty="0">
                <a:solidFill>
                  <a:srgbClr val="0A1F44"/>
                </a:solidFill>
                <a:latin typeface="Inter" pitchFamily="34" charset="0"/>
                <a:ea typeface="Inter" pitchFamily="34" charset="-122"/>
                <a:cs typeface="Inter" pitchFamily="34" charset="-120"/>
              </a:rPr>
              <a:t>What a rival can copy, and how fast</a:t>
            </a:r>
            <a:endParaRPr lang="en-US" sz="1100" dirty="0"/>
          </a:p>
        </p:txBody>
      </p:sp>
      <p:sp>
        <p:nvSpPr>
          <p:cNvPr id="41" name="Text 30"/>
          <p:cNvSpPr txBox="1"/>
          <p:nvPr/>
        </p:nvSpPr>
        <p:spPr>
          <a:xfrm>
            <a:off x="640080" y="4791456"/>
            <a:ext cx="1600200" cy="420624"/>
          </a:xfrm>
          <a:prstGeom prst="rect">
            <a:avLst/>
          </a:prstGeom>
          <a:noFill/>
          <a:ln/>
        </p:spPr>
        <p:txBody>
          <a:bodyPr wrap="square" lIns="0" tIns="0" rIns="0" bIns="0" rtlCol="0" anchor="ctr"/>
          <a:lstStyle/>
          <a:p>
            <a:pPr indent="0" marL="0">
              <a:buNone/>
            </a:pPr>
            <a:r>
              <a:rPr lang="en-US" sz="950" b="1" dirty="0">
                <a:solidFill>
                  <a:srgbClr val="0A1F44"/>
                </a:solidFill>
                <a:latin typeface="Inter" pitchFamily="34" charset="0"/>
                <a:ea typeface="Inter" pitchFamily="34" charset="-122"/>
                <a:cs typeface="Inter" pitchFamily="34" charset="-120"/>
              </a:rPr>
              <a:t>A 20% discount</a:t>
            </a:r>
            <a:endParaRPr lang="en-US" sz="950" dirty="0"/>
          </a:p>
        </p:txBody>
      </p:sp>
      <p:sp>
        <p:nvSpPr>
          <p:cNvPr id="42" name="Shape 31"/>
          <p:cNvSpPr/>
          <p:nvPr/>
        </p:nvSpPr>
        <p:spPr>
          <a:xfrm>
            <a:off x="2286000" y="4864608"/>
            <a:ext cx="2286000" cy="109728"/>
          </a:xfrm>
          <a:prstGeom prst="rect">
            <a:avLst/>
          </a:prstGeom>
          <a:solidFill>
            <a:srgbClr val="DCE5F2"/>
          </a:solidFill>
          <a:ln w="6350">
            <a:solidFill>
              <a:srgbClr val="DCE5F2"/>
            </a:solidFill>
            <a:prstDash val="solid"/>
          </a:ln>
        </p:spPr>
      </p:sp>
      <p:sp>
        <p:nvSpPr>
          <p:cNvPr id="43" name="Shape 32"/>
          <p:cNvSpPr/>
          <p:nvPr/>
        </p:nvSpPr>
        <p:spPr>
          <a:xfrm>
            <a:off x="2286000" y="4864608"/>
            <a:ext cx="274320" cy="109728"/>
          </a:xfrm>
          <a:prstGeom prst="rect">
            <a:avLst/>
          </a:prstGeom>
          <a:solidFill>
            <a:srgbClr val="60A5FA"/>
          </a:solidFill>
          <a:ln w="6350">
            <a:solidFill>
              <a:srgbClr val="60A5FA"/>
            </a:solidFill>
            <a:prstDash val="solid"/>
          </a:ln>
        </p:spPr>
      </p:sp>
      <p:sp>
        <p:nvSpPr>
          <p:cNvPr id="44" name="Text 33"/>
          <p:cNvSpPr txBox="1"/>
          <p:nvPr/>
        </p:nvSpPr>
        <p:spPr>
          <a:xfrm>
            <a:off x="2286000" y="4992624"/>
            <a:ext cx="2331720" cy="219456"/>
          </a:xfrm>
          <a:prstGeom prst="rect">
            <a:avLst/>
          </a:prstGeom>
          <a:noFill/>
          <a:ln/>
        </p:spPr>
        <p:txBody>
          <a:bodyPr wrap="square" lIns="0" tIns="0" rIns="0" bIns="0" rtlCol="0" anchor="t"/>
          <a:lstStyle/>
          <a:p>
            <a:pPr indent="0" marL="0">
              <a:buNone/>
            </a:pPr>
            <a:r>
              <a:rPr lang="en-US" sz="800" dirty="0">
                <a:solidFill>
                  <a:srgbClr val="334155"/>
                </a:solidFill>
                <a:latin typeface="Inter" pitchFamily="34" charset="0"/>
                <a:ea typeface="Inter" pitchFamily="34" charset="-122"/>
                <a:cs typeface="Inter" pitchFamily="34" charset="-120"/>
              </a:rPr>
              <a:t>Overnight: any rival, any day</a:t>
            </a:r>
            <a:endParaRPr lang="en-US" sz="800" dirty="0"/>
          </a:p>
        </p:txBody>
      </p:sp>
      <p:sp>
        <p:nvSpPr>
          <p:cNvPr id="45" name="Text 34"/>
          <p:cNvSpPr txBox="1"/>
          <p:nvPr/>
        </p:nvSpPr>
        <p:spPr>
          <a:xfrm>
            <a:off x="640080" y="5266944"/>
            <a:ext cx="1600200" cy="420624"/>
          </a:xfrm>
          <a:prstGeom prst="rect">
            <a:avLst/>
          </a:prstGeom>
          <a:noFill/>
          <a:ln/>
        </p:spPr>
        <p:txBody>
          <a:bodyPr wrap="square" lIns="0" tIns="0" rIns="0" bIns="0" rtlCol="0" anchor="ctr"/>
          <a:lstStyle/>
          <a:p>
            <a:pPr indent="0" marL="0">
              <a:buNone/>
            </a:pPr>
            <a:r>
              <a:rPr lang="en-US" sz="950" b="1" dirty="0">
                <a:solidFill>
                  <a:srgbClr val="0A1F44"/>
                </a:solidFill>
                <a:latin typeface="Inter" pitchFamily="34" charset="0"/>
                <a:ea typeface="Inter" pitchFamily="34" charset="-122"/>
                <a:cs typeface="Inter" pitchFamily="34" charset="-120"/>
              </a:rPr>
              <a:t>Journeys and suppression lists</a:t>
            </a:r>
            <a:endParaRPr lang="en-US" sz="950" dirty="0"/>
          </a:p>
        </p:txBody>
      </p:sp>
      <p:sp>
        <p:nvSpPr>
          <p:cNvPr id="46" name="Shape 35"/>
          <p:cNvSpPr/>
          <p:nvPr/>
        </p:nvSpPr>
        <p:spPr>
          <a:xfrm>
            <a:off x="2286000" y="5340096"/>
            <a:ext cx="2286000" cy="109728"/>
          </a:xfrm>
          <a:prstGeom prst="rect">
            <a:avLst/>
          </a:prstGeom>
          <a:solidFill>
            <a:srgbClr val="DCE5F2"/>
          </a:solidFill>
          <a:ln w="6350">
            <a:solidFill>
              <a:srgbClr val="DCE5F2"/>
            </a:solidFill>
            <a:prstDash val="solid"/>
          </a:ln>
        </p:spPr>
      </p:sp>
      <p:sp>
        <p:nvSpPr>
          <p:cNvPr id="47" name="Shape 36"/>
          <p:cNvSpPr/>
          <p:nvPr/>
        </p:nvSpPr>
        <p:spPr>
          <a:xfrm>
            <a:off x="2286000" y="5340096"/>
            <a:ext cx="1028700" cy="109728"/>
          </a:xfrm>
          <a:prstGeom prst="rect">
            <a:avLst/>
          </a:prstGeom>
          <a:solidFill>
            <a:srgbClr val="2563EB"/>
          </a:solidFill>
          <a:ln w="6350">
            <a:solidFill>
              <a:srgbClr val="2563EB"/>
            </a:solidFill>
            <a:prstDash val="solid"/>
          </a:ln>
        </p:spPr>
      </p:sp>
      <p:sp>
        <p:nvSpPr>
          <p:cNvPr id="48" name="Text 37"/>
          <p:cNvSpPr txBox="1"/>
          <p:nvPr/>
        </p:nvSpPr>
        <p:spPr>
          <a:xfrm>
            <a:off x="2286000" y="5468112"/>
            <a:ext cx="2331720" cy="219456"/>
          </a:xfrm>
          <a:prstGeom prst="rect">
            <a:avLst/>
          </a:prstGeom>
          <a:noFill/>
          <a:ln/>
        </p:spPr>
        <p:txBody>
          <a:bodyPr wrap="square" lIns="0" tIns="0" rIns="0" bIns="0" rtlCol="0" anchor="t"/>
          <a:lstStyle/>
          <a:p>
            <a:pPr indent="0" marL="0">
              <a:buNone/>
            </a:pPr>
            <a:r>
              <a:rPr lang="en-US" sz="800" dirty="0">
                <a:solidFill>
                  <a:srgbClr val="334155"/>
                </a:solidFill>
                <a:latin typeface="Inter" pitchFamily="34" charset="0"/>
                <a:ea typeface="Inter" pitchFamily="34" charset="-122"/>
                <a:cs typeface="Inter" pitchFamily="34" charset="-120"/>
              </a:rPr>
              <a:t>A quarter or two: Everlane ran them and still sold</a:t>
            </a:r>
            <a:endParaRPr lang="en-US" sz="800" dirty="0"/>
          </a:p>
        </p:txBody>
      </p:sp>
      <p:sp>
        <p:nvSpPr>
          <p:cNvPr id="49" name="Text 38"/>
          <p:cNvSpPr txBox="1"/>
          <p:nvPr/>
        </p:nvSpPr>
        <p:spPr>
          <a:xfrm>
            <a:off x="640080" y="5742432"/>
            <a:ext cx="1600200" cy="420624"/>
          </a:xfrm>
          <a:prstGeom prst="rect">
            <a:avLst/>
          </a:prstGeom>
          <a:noFill/>
          <a:ln/>
        </p:spPr>
        <p:txBody>
          <a:bodyPr wrap="square" lIns="0" tIns="0" rIns="0" bIns="0" rtlCol="0" anchor="ctr"/>
          <a:lstStyle/>
          <a:p>
            <a:pPr indent="0" marL="0">
              <a:buNone/>
            </a:pPr>
            <a:r>
              <a:rPr lang="en-US" sz="950" b="1" dirty="0">
                <a:solidFill>
                  <a:srgbClr val="0A1F44"/>
                </a:solidFill>
                <a:latin typeface="Inter" pitchFamily="34" charset="0"/>
                <a:ea typeface="Inter" pitchFamily="34" charset="-122"/>
                <a:cs typeface="Inter" pitchFamily="34" charset="-120"/>
              </a:rPr>
              <a:t>M2C cost + consented audience</a:t>
            </a:r>
            <a:endParaRPr lang="en-US" sz="950" dirty="0"/>
          </a:p>
        </p:txBody>
      </p:sp>
      <p:sp>
        <p:nvSpPr>
          <p:cNvPr id="50" name="Shape 39"/>
          <p:cNvSpPr/>
          <p:nvPr/>
        </p:nvSpPr>
        <p:spPr>
          <a:xfrm>
            <a:off x="2286000" y="5815584"/>
            <a:ext cx="2286000" cy="109728"/>
          </a:xfrm>
          <a:prstGeom prst="rect">
            <a:avLst/>
          </a:prstGeom>
          <a:solidFill>
            <a:srgbClr val="DCE5F2"/>
          </a:solidFill>
          <a:ln w="6350">
            <a:solidFill>
              <a:srgbClr val="DCE5F2"/>
            </a:solidFill>
            <a:prstDash val="solid"/>
          </a:ln>
        </p:spPr>
      </p:sp>
      <p:sp>
        <p:nvSpPr>
          <p:cNvPr id="51" name="Shape 40"/>
          <p:cNvSpPr/>
          <p:nvPr/>
        </p:nvSpPr>
        <p:spPr>
          <a:xfrm>
            <a:off x="2286000" y="5815584"/>
            <a:ext cx="2286000" cy="109728"/>
          </a:xfrm>
          <a:prstGeom prst="rect">
            <a:avLst/>
          </a:prstGeom>
          <a:solidFill>
            <a:srgbClr val="0A1F44"/>
          </a:solidFill>
          <a:ln w="6350">
            <a:solidFill>
              <a:srgbClr val="0A1F44"/>
            </a:solidFill>
            <a:prstDash val="solid"/>
          </a:ln>
        </p:spPr>
      </p:sp>
      <p:sp>
        <p:nvSpPr>
          <p:cNvPr id="52" name="Text 41"/>
          <p:cNvSpPr txBox="1"/>
          <p:nvPr/>
        </p:nvSpPr>
        <p:spPr>
          <a:xfrm>
            <a:off x="2286000" y="5943600"/>
            <a:ext cx="2331720" cy="219456"/>
          </a:xfrm>
          <a:prstGeom prst="rect">
            <a:avLst/>
          </a:prstGeom>
          <a:noFill/>
          <a:ln/>
        </p:spPr>
        <p:txBody>
          <a:bodyPr wrap="square" lIns="0" tIns="0" rIns="0" bIns="0" rtlCol="0" anchor="t"/>
          <a:lstStyle/>
          <a:p>
            <a:pPr indent="0" marL="0">
              <a:buNone/>
            </a:pPr>
            <a:r>
              <a:rPr lang="en-US" sz="800" dirty="0">
                <a:solidFill>
                  <a:srgbClr val="334155"/>
                </a:solidFill>
                <a:latin typeface="Inter" pitchFamily="34" charset="0"/>
                <a:ea typeface="Inter" pitchFamily="34" charset="-122"/>
                <a:cs typeface="Inter" pitchFamily="34" charset="-120"/>
              </a:rPr>
              <a:t>Years: own factories plus buyers who opted in</a:t>
            </a:r>
            <a:endParaRPr lang="en-US" sz="800" dirty="0"/>
          </a:p>
        </p:txBody>
      </p:sp>
      <p:sp>
        <p:nvSpPr>
          <p:cNvPr id="53" name="Text 42"/>
          <p:cNvSpPr txBox="1"/>
          <p:nvPr/>
        </p:nvSpPr>
        <p:spPr>
          <a:xfrm>
            <a:off x="4937760" y="1170432"/>
            <a:ext cx="1234440" cy="237744"/>
          </a:xfrm>
          <a:prstGeom prst="rect">
            <a:avLst/>
          </a:prstGeom>
          <a:noFill/>
          <a:ln/>
        </p:spPr>
        <p:txBody>
          <a:bodyPr wrap="square" lIns="0" tIns="0" rIns="0" bIns="0" rtlCol="0" anchor="t"/>
          <a:lstStyle/>
          <a:p>
            <a:pPr indent="0" marL="0">
              <a:buNone/>
            </a:pPr>
            <a:r>
              <a:rPr lang="en-US" sz="1100" b="1" dirty="0">
                <a:solidFill>
                  <a:srgbClr val="0A1F44"/>
                </a:solidFill>
                <a:latin typeface="Inter" pitchFamily="34" charset="0"/>
                <a:ea typeface="Inter" pitchFamily="34" charset="-122"/>
                <a:cs typeface="Inter" pitchFamily="34" charset="-120"/>
              </a:rPr>
              <a:t>Rival</a:t>
            </a:r>
            <a:endParaRPr lang="en-US" sz="1100" dirty="0"/>
          </a:p>
        </p:txBody>
      </p:sp>
      <p:sp>
        <p:nvSpPr>
          <p:cNvPr id="54" name="Text 43"/>
          <p:cNvSpPr txBox="1"/>
          <p:nvPr/>
        </p:nvSpPr>
        <p:spPr>
          <a:xfrm>
            <a:off x="6172200" y="1170432"/>
            <a:ext cx="3063240" cy="237744"/>
          </a:xfrm>
          <a:prstGeom prst="rect">
            <a:avLst/>
          </a:prstGeom>
          <a:noFill/>
          <a:ln/>
        </p:spPr>
        <p:txBody>
          <a:bodyPr wrap="square" lIns="0" tIns="0" rIns="0" bIns="0" rtlCol="0" anchor="t"/>
          <a:lstStyle/>
          <a:p>
            <a:pPr indent="0" marL="0">
              <a:buNone/>
            </a:pPr>
            <a:r>
              <a:rPr lang="en-US" sz="1100" b="1" dirty="0">
                <a:solidFill>
                  <a:srgbClr val="0A1F44"/>
                </a:solidFill>
                <a:latin typeface="Inter" pitchFamily="34" charset="0"/>
                <a:ea typeface="Inter" pitchFamily="34" charset="-122"/>
                <a:cs typeface="Inter" pitchFamily="34" charset="-120"/>
              </a:rPr>
              <a:t>What they do (evidence)</a:t>
            </a:r>
            <a:endParaRPr lang="en-US" sz="1100" dirty="0"/>
          </a:p>
        </p:txBody>
      </p:sp>
      <p:sp>
        <p:nvSpPr>
          <p:cNvPr id="55" name="Text 44"/>
          <p:cNvSpPr txBox="1"/>
          <p:nvPr/>
        </p:nvSpPr>
        <p:spPr>
          <a:xfrm>
            <a:off x="9326880" y="1170432"/>
            <a:ext cx="2359152" cy="237744"/>
          </a:xfrm>
          <a:prstGeom prst="rect">
            <a:avLst/>
          </a:prstGeom>
          <a:noFill/>
          <a:ln/>
        </p:spPr>
        <p:txBody>
          <a:bodyPr wrap="square" lIns="0" tIns="0" rIns="0" bIns="0" rtlCol="0" anchor="t"/>
          <a:lstStyle/>
          <a:p>
            <a:pPr indent="0" marL="0">
              <a:buNone/>
            </a:pPr>
            <a:r>
              <a:rPr lang="en-US" sz="1100" b="1" dirty="0">
                <a:solidFill>
                  <a:srgbClr val="0A1F44"/>
                </a:solidFill>
                <a:latin typeface="Inter" pitchFamily="34" charset="0"/>
                <a:ea typeface="Inter" pitchFamily="34" charset="-122"/>
                <a:cs typeface="Inter" pitchFamily="34" charset="-120"/>
              </a:rPr>
              <a:t>What it means for Quince</a:t>
            </a:r>
            <a:endParaRPr lang="en-US" sz="1100" dirty="0"/>
          </a:p>
        </p:txBody>
      </p:sp>
      <p:sp>
        <p:nvSpPr>
          <p:cNvPr id="56" name="Shape 45"/>
          <p:cNvSpPr/>
          <p:nvPr/>
        </p:nvSpPr>
        <p:spPr>
          <a:xfrm>
            <a:off x="4937760" y="1444752"/>
            <a:ext cx="6748272" cy="658368"/>
          </a:xfrm>
          <a:prstGeom prst="roundRect">
            <a:avLst>
              <a:gd name="adj" fmla="val 5556"/>
            </a:avLst>
          </a:prstGeom>
          <a:solidFill>
            <a:srgbClr val="F8FAFC"/>
          </a:solidFill>
          <a:ln w="6350">
            <a:solidFill>
              <a:srgbClr val="F8FAFC"/>
            </a:solidFill>
            <a:prstDash val="solid"/>
          </a:ln>
        </p:spPr>
      </p:sp>
      <p:pic>
        <p:nvPicPr>
          <p:cNvPr id="57" name="Image 9" descr="/tmp/claude-0/-home-user-Quince/7efe80ae-a049-50c2-9886-98bf7ca3a04a/scratchpad/assets/amazon.png">    </p:cNvPr>
          <p:cNvPicPr>
            <a:picLocks noChangeAspect="1"/>
          </p:cNvPicPr>
          <p:nvPr/>
        </p:nvPicPr>
        <p:blipFill>
          <a:blip r:embed="rId10"/>
          <a:stretch>
            <a:fillRect/>
          </a:stretch>
        </p:blipFill>
        <p:spPr>
          <a:xfrm>
            <a:off x="5201793" y="1682496"/>
            <a:ext cx="605790" cy="182880"/>
          </a:xfrm>
          <a:prstGeom prst="rect">
            <a:avLst/>
          </a:prstGeom>
        </p:spPr>
      </p:pic>
      <p:sp>
        <p:nvSpPr>
          <p:cNvPr id="58" name="Text 46"/>
          <p:cNvSpPr txBox="1"/>
          <p:nvPr/>
        </p:nvSpPr>
        <p:spPr>
          <a:xfrm>
            <a:off x="6172200" y="1444752"/>
            <a:ext cx="3063240" cy="658368"/>
          </a:xfrm>
          <a:prstGeom prst="rect">
            <a:avLst/>
          </a:prstGeom>
          <a:noFill/>
          <a:ln/>
        </p:spPr>
        <p:txBody>
          <a:bodyPr wrap="square" lIns="0" tIns="0" rIns="0" bIns="0" rtlCol="0" anchor="ctr"/>
          <a:lstStyle/>
          <a:p>
            <a:pPr indent="0" marL="0">
              <a:buNone/>
            </a:pPr>
            <a:r>
              <a:rPr lang="en-US" sz="1000" dirty="0">
                <a:solidFill>
                  <a:srgbClr val="0F172A"/>
                </a:solidFill>
                <a:latin typeface="Inter" pitchFamily="34" charset="0"/>
                <a:ea typeface="Inter" pitchFamily="34" charset="-122"/>
                <a:cs typeface="Inter" pitchFamily="34" charset="-120"/>
              </a:rPr>
              <a:t>Ads revenue $19.8B in Q2 2026, +26%</a:t>
            </a:r>
            <a:endParaRPr lang="en-US" sz="1000" dirty="0"/>
          </a:p>
        </p:txBody>
      </p:sp>
      <p:sp>
        <p:nvSpPr>
          <p:cNvPr id="59" name="Shape 47"/>
          <p:cNvSpPr/>
          <p:nvPr/>
        </p:nvSpPr>
        <p:spPr>
          <a:xfrm>
            <a:off x="9326880" y="1554480"/>
            <a:ext cx="45720" cy="438912"/>
          </a:xfrm>
          <a:prstGeom prst="rect">
            <a:avLst/>
          </a:prstGeom>
          <a:solidFill>
            <a:srgbClr val="1D4ED8"/>
          </a:solidFill>
          <a:ln w="6350">
            <a:solidFill>
              <a:srgbClr val="1D4ED8"/>
            </a:solidFill>
            <a:prstDash val="solid"/>
          </a:ln>
        </p:spPr>
      </p:sp>
      <p:sp>
        <p:nvSpPr>
          <p:cNvPr id="60" name="Text 48"/>
          <p:cNvSpPr txBox="1"/>
          <p:nvPr/>
        </p:nvSpPr>
        <p:spPr>
          <a:xfrm>
            <a:off x="9436608" y="1444752"/>
            <a:ext cx="2194560" cy="658368"/>
          </a:xfrm>
          <a:prstGeom prst="rect">
            <a:avLst/>
          </a:prstGeom>
          <a:noFill/>
          <a:ln/>
        </p:spPr>
        <p:txBody>
          <a:bodyPr wrap="square" lIns="0" tIns="0" rIns="0" bIns="0" rtlCol="0" anchor="ctr"/>
          <a:lstStyle/>
          <a:p>
            <a:pPr indent="0" marL="0">
              <a:buNone/>
            </a:pPr>
            <a:r>
              <a:rPr lang="en-US" sz="1000" b="1" dirty="0">
                <a:solidFill>
                  <a:srgbClr val="0A1F44"/>
                </a:solidFill>
                <a:latin typeface="Inter" pitchFamily="34" charset="0"/>
                <a:ea typeface="Inter" pitchFamily="34" charset="-122"/>
                <a:cs typeface="Inter" pitchFamily="34" charset="-120"/>
              </a:rPr>
              <a:t>Wins any retargeting auction</a:t>
            </a:r>
            <a:endParaRPr lang="en-US" sz="1000" dirty="0"/>
          </a:p>
        </p:txBody>
      </p:sp>
      <p:sp>
        <p:nvSpPr>
          <p:cNvPr id="61" name="Shape 49"/>
          <p:cNvSpPr/>
          <p:nvPr/>
        </p:nvSpPr>
        <p:spPr>
          <a:xfrm>
            <a:off x="4937760" y="2157984"/>
            <a:ext cx="6748272" cy="658368"/>
          </a:xfrm>
          <a:prstGeom prst="roundRect">
            <a:avLst>
              <a:gd name="adj" fmla="val 5556"/>
            </a:avLst>
          </a:prstGeom>
          <a:solidFill>
            <a:srgbClr val="FFFFFF"/>
          </a:solidFill>
          <a:ln w="6350">
            <a:solidFill>
              <a:srgbClr val="FFFFFF"/>
            </a:solidFill>
            <a:prstDash val="solid"/>
          </a:ln>
        </p:spPr>
      </p:sp>
      <p:pic>
        <p:nvPicPr>
          <p:cNvPr id="62" name="Image 10" descr="/tmp/claude-0/-home-user-Quince/7efe80ae-a049-50c2-9886-98bf7ca3a04a/scratchpad/assets/shein.png">    </p:cNvPr>
          <p:cNvPicPr>
            <a:picLocks noChangeAspect="1"/>
          </p:cNvPicPr>
          <p:nvPr/>
        </p:nvPicPr>
        <p:blipFill>
          <a:blip r:embed="rId11"/>
          <a:stretch>
            <a:fillRect/>
          </a:stretch>
        </p:blipFill>
        <p:spPr>
          <a:xfrm>
            <a:off x="5064252" y="2395728"/>
            <a:ext cx="880872" cy="182880"/>
          </a:xfrm>
          <a:prstGeom prst="rect">
            <a:avLst/>
          </a:prstGeom>
        </p:spPr>
      </p:pic>
      <p:sp>
        <p:nvSpPr>
          <p:cNvPr id="63" name="Text 50"/>
          <p:cNvSpPr txBox="1"/>
          <p:nvPr/>
        </p:nvSpPr>
        <p:spPr>
          <a:xfrm>
            <a:off x="6172200" y="2157984"/>
            <a:ext cx="3063240" cy="658368"/>
          </a:xfrm>
          <a:prstGeom prst="rect">
            <a:avLst/>
          </a:prstGeom>
          <a:noFill/>
          <a:ln/>
        </p:spPr>
        <p:txBody>
          <a:bodyPr wrap="square" lIns="0" tIns="0" rIns="0" bIns="0" rtlCol="0" anchor="ctr"/>
          <a:lstStyle/>
          <a:p>
            <a:pPr indent="0" marL="0">
              <a:buNone/>
            </a:pPr>
            <a:r>
              <a:rPr lang="en-US" sz="1000" dirty="0">
                <a:solidFill>
                  <a:srgbClr val="0F172A"/>
                </a:solidFill>
                <a:latin typeface="Inter" pitchFamily="34" charset="0"/>
                <a:ea typeface="Inter" pitchFamily="34" charset="-122"/>
                <a:cs typeface="Inter" pitchFamily="34" charset="-120"/>
              </a:rPr>
              <a:t>#2 shopping app worldwide; buying Everlane</a:t>
            </a:r>
            <a:endParaRPr lang="en-US" sz="1000" dirty="0"/>
          </a:p>
        </p:txBody>
      </p:sp>
      <p:sp>
        <p:nvSpPr>
          <p:cNvPr id="64" name="Shape 51"/>
          <p:cNvSpPr/>
          <p:nvPr/>
        </p:nvSpPr>
        <p:spPr>
          <a:xfrm>
            <a:off x="9326880" y="2267712"/>
            <a:ext cx="45720" cy="438912"/>
          </a:xfrm>
          <a:prstGeom prst="rect">
            <a:avLst/>
          </a:prstGeom>
          <a:solidFill>
            <a:srgbClr val="1D4ED8"/>
          </a:solidFill>
          <a:ln w="6350">
            <a:solidFill>
              <a:srgbClr val="1D4ED8"/>
            </a:solidFill>
            <a:prstDash val="solid"/>
          </a:ln>
        </p:spPr>
      </p:sp>
      <p:sp>
        <p:nvSpPr>
          <p:cNvPr id="65" name="Text 52"/>
          <p:cNvSpPr txBox="1"/>
          <p:nvPr/>
        </p:nvSpPr>
        <p:spPr>
          <a:xfrm>
            <a:off x="9436608" y="2157984"/>
            <a:ext cx="2194560" cy="658368"/>
          </a:xfrm>
          <a:prstGeom prst="rect">
            <a:avLst/>
          </a:prstGeom>
          <a:noFill/>
          <a:ln/>
        </p:spPr>
        <p:txBody>
          <a:bodyPr wrap="square" lIns="0" tIns="0" rIns="0" bIns="0" rtlCol="0" anchor="ctr"/>
          <a:lstStyle/>
          <a:p>
            <a:pPr indent="0" marL="0">
              <a:buNone/>
            </a:pPr>
            <a:r>
              <a:rPr lang="en-US" sz="1000" b="1" dirty="0">
                <a:solidFill>
                  <a:srgbClr val="0A1F44"/>
                </a:solidFill>
                <a:latin typeface="Inter" pitchFamily="34" charset="0"/>
                <a:ea typeface="Inter" pitchFamily="34" charset="-122"/>
                <a:cs typeface="Inter" pitchFamily="34" charset="-120"/>
              </a:rPr>
              <a:t>The price end is crowded</a:t>
            </a:r>
            <a:endParaRPr lang="en-US" sz="1000" dirty="0"/>
          </a:p>
        </p:txBody>
      </p:sp>
      <p:sp>
        <p:nvSpPr>
          <p:cNvPr id="66" name="Shape 53"/>
          <p:cNvSpPr/>
          <p:nvPr/>
        </p:nvSpPr>
        <p:spPr>
          <a:xfrm>
            <a:off x="4937760" y="2871216"/>
            <a:ext cx="6748272" cy="658368"/>
          </a:xfrm>
          <a:prstGeom prst="roundRect">
            <a:avLst>
              <a:gd name="adj" fmla="val 5556"/>
            </a:avLst>
          </a:prstGeom>
          <a:solidFill>
            <a:srgbClr val="F8FAFC"/>
          </a:solidFill>
          <a:ln w="6350">
            <a:solidFill>
              <a:srgbClr val="F8FAFC"/>
            </a:solidFill>
            <a:prstDash val="solid"/>
          </a:ln>
        </p:spPr>
      </p:sp>
      <p:pic>
        <p:nvPicPr>
          <p:cNvPr id="67" name="Image 11" descr="/tmp/claude-0/-home-user-Quince/7efe80ae-a049-50c2-9886-98bf7ca3a04a/scratchpad/assets/everlane.png">    </p:cNvPr>
          <p:cNvPicPr>
            <a:picLocks noChangeAspect="1"/>
          </p:cNvPicPr>
          <p:nvPr/>
        </p:nvPicPr>
        <p:blipFill>
          <a:blip r:embed="rId12"/>
          <a:stretch>
            <a:fillRect/>
          </a:stretch>
        </p:blipFill>
        <p:spPr>
          <a:xfrm>
            <a:off x="5024628" y="3152066"/>
            <a:ext cx="960120" cy="96669"/>
          </a:xfrm>
          <a:prstGeom prst="rect">
            <a:avLst/>
          </a:prstGeom>
        </p:spPr>
      </p:pic>
      <p:sp>
        <p:nvSpPr>
          <p:cNvPr id="68" name="Text 54"/>
          <p:cNvSpPr txBox="1"/>
          <p:nvPr/>
        </p:nvSpPr>
        <p:spPr>
          <a:xfrm>
            <a:off x="6172200" y="2871216"/>
            <a:ext cx="3063240" cy="658368"/>
          </a:xfrm>
          <a:prstGeom prst="rect">
            <a:avLst/>
          </a:prstGeom>
          <a:noFill/>
          <a:ln/>
        </p:spPr>
        <p:txBody>
          <a:bodyPr wrap="square" lIns="0" tIns="0" rIns="0" bIns="0" rtlCol="0" anchor="ctr"/>
          <a:lstStyle/>
          <a:p>
            <a:pPr indent="0" marL="0">
              <a:buNone/>
            </a:pPr>
            <a:r>
              <a:rPr lang="en-US" sz="1000" dirty="0">
                <a:solidFill>
                  <a:srgbClr val="0F172A"/>
                </a:solidFill>
                <a:latin typeface="Inter" pitchFamily="34" charset="0"/>
                <a:ea typeface="Inter" pitchFamily="34" charset="-122"/>
                <a:cs typeface="Inter" pitchFamily="34" charset="-120"/>
              </a:rPr>
              <a:t>Mature email and SMS, still sold to Shein</a:t>
            </a:r>
            <a:endParaRPr lang="en-US" sz="1000" dirty="0"/>
          </a:p>
        </p:txBody>
      </p:sp>
      <p:sp>
        <p:nvSpPr>
          <p:cNvPr id="69" name="Shape 55"/>
          <p:cNvSpPr/>
          <p:nvPr/>
        </p:nvSpPr>
        <p:spPr>
          <a:xfrm>
            <a:off x="9326880" y="2980944"/>
            <a:ext cx="45720" cy="438912"/>
          </a:xfrm>
          <a:prstGeom prst="rect">
            <a:avLst/>
          </a:prstGeom>
          <a:solidFill>
            <a:srgbClr val="1D4ED8"/>
          </a:solidFill>
          <a:ln w="6350">
            <a:solidFill>
              <a:srgbClr val="1D4ED8"/>
            </a:solidFill>
            <a:prstDash val="solid"/>
          </a:ln>
        </p:spPr>
      </p:sp>
      <p:sp>
        <p:nvSpPr>
          <p:cNvPr id="70" name="Text 56"/>
          <p:cNvSpPr txBox="1"/>
          <p:nvPr/>
        </p:nvSpPr>
        <p:spPr>
          <a:xfrm>
            <a:off x="9436608" y="2871216"/>
            <a:ext cx="2194560" cy="658368"/>
          </a:xfrm>
          <a:prstGeom prst="rect">
            <a:avLst/>
          </a:prstGeom>
          <a:noFill/>
          <a:ln/>
        </p:spPr>
        <p:txBody>
          <a:bodyPr wrap="square" lIns="0" tIns="0" rIns="0" bIns="0" rtlCol="0" anchor="ctr"/>
          <a:lstStyle/>
          <a:p>
            <a:pPr indent="0" marL="0">
              <a:buNone/>
            </a:pPr>
            <a:r>
              <a:rPr lang="en-US" sz="1000" b="1" dirty="0">
                <a:solidFill>
                  <a:srgbClr val="0A1F44"/>
                </a:solidFill>
                <a:latin typeface="Inter" pitchFamily="34" charset="0"/>
                <a:ea typeface="Inter" pitchFamily="34" charset="-122"/>
                <a:cs typeface="Inter" pitchFamily="34" charset="-120"/>
              </a:rPr>
              <a:t>Owned channels alone aren't a moat</a:t>
            </a:r>
            <a:endParaRPr lang="en-US" sz="1000" dirty="0"/>
          </a:p>
        </p:txBody>
      </p:sp>
      <p:sp>
        <p:nvSpPr>
          <p:cNvPr id="71" name="Shape 57"/>
          <p:cNvSpPr/>
          <p:nvPr/>
        </p:nvSpPr>
        <p:spPr>
          <a:xfrm>
            <a:off x="4937760" y="3584448"/>
            <a:ext cx="6748272" cy="658368"/>
          </a:xfrm>
          <a:prstGeom prst="roundRect">
            <a:avLst>
              <a:gd name="adj" fmla="val 5556"/>
            </a:avLst>
          </a:prstGeom>
          <a:solidFill>
            <a:srgbClr val="FFFFFF"/>
          </a:solidFill>
          <a:ln w="6350">
            <a:solidFill>
              <a:srgbClr val="FFFFFF"/>
            </a:solidFill>
            <a:prstDash val="solid"/>
          </a:ln>
        </p:spPr>
      </p:sp>
      <p:pic>
        <p:nvPicPr>
          <p:cNvPr id="72" name="Image 12" descr="/tmp/claude-0/-home-user-Quince/7efe80ae-a049-50c2-9886-98bf7ca3a04a/scratchpad/assets/uniqlo.png">    </p:cNvPr>
          <p:cNvPicPr>
            <a:picLocks noChangeAspect="1"/>
          </p:cNvPicPr>
          <p:nvPr/>
        </p:nvPicPr>
        <p:blipFill>
          <a:blip r:embed="rId13"/>
          <a:stretch>
            <a:fillRect/>
          </a:stretch>
        </p:blipFill>
        <p:spPr>
          <a:xfrm>
            <a:off x="5358384" y="3767328"/>
            <a:ext cx="292608" cy="292608"/>
          </a:xfrm>
          <a:prstGeom prst="rect">
            <a:avLst/>
          </a:prstGeom>
        </p:spPr>
      </p:pic>
      <p:sp>
        <p:nvSpPr>
          <p:cNvPr id="73" name="Text 58"/>
          <p:cNvSpPr txBox="1"/>
          <p:nvPr/>
        </p:nvSpPr>
        <p:spPr>
          <a:xfrm>
            <a:off x="6172200" y="3584448"/>
            <a:ext cx="3063240" cy="658368"/>
          </a:xfrm>
          <a:prstGeom prst="rect">
            <a:avLst/>
          </a:prstGeom>
          <a:noFill/>
          <a:ln/>
        </p:spPr>
        <p:txBody>
          <a:bodyPr wrap="square" lIns="0" tIns="0" rIns="0" bIns="0" rtlCol="0" anchor="ctr"/>
          <a:lstStyle/>
          <a:p>
            <a:pPr indent="0" marL="0">
              <a:buNone/>
            </a:pPr>
            <a:r>
              <a:rPr lang="en-US" sz="1000" dirty="0">
                <a:solidFill>
                  <a:srgbClr val="0F172A"/>
                </a:solidFill>
                <a:latin typeface="Inter" pitchFamily="34" charset="0"/>
                <a:ea typeface="Inter" pitchFamily="34" charset="-122"/>
                <a:cs typeface="Inter" pitchFamily="34" charset="-120"/>
              </a:rPr>
              <a:t>App loyalty; 13.5M members in China</a:t>
            </a:r>
            <a:endParaRPr lang="en-US" sz="1000" dirty="0"/>
          </a:p>
        </p:txBody>
      </p:sp>
      <p:sp>
        <p:nvSpPr>
          <p:cNvPr id="74" name="Shape 59"/>
          <p:cNvSpPr/>
          <p:nvPr/>
        </p:nvSpPr>
        <p:spPr>
          <a:xfrm>
            <a:off x="9326880" y="3694176"/>
            <a:ext cx="45720" cy="438912"/>
          </a:xfrm>
          <a:prstGeom prst="rect">
            <a:avLst/>
          </a:prstGeom>
          <a:solidFill>
            <a:srgbClr val="1D4ED8"/>
          </a:solidFill>
          <a:ln w="6350">
            <a:solidFill>
              <a:srgbClr val="1D4ED8"/>
            </a:solidFill>
            <a:prstDash val="solid"/>
          </a:ln>
        </p:spPr>
      </p:sp>
      <p:sp>
        <p:nvSpPr>
          <p:cNvPr id="75" name="Text 60"/>
          <p:cNvSpPr txBox="1"/>
          <p:nvPr/>
        </p:nvSpPr>
        <p:spPr>
          <a:xfrm>
            <a:off x="9436608" y="3584448"/>
            <a:ext cx="2194560" cy="658368"/>
          </a:xfrm>
          <a:prstGeom prst="rect">
            <a:avLst/>
          </a:prstGeom>
          <a:noFill/>
          <a:ln/>
        </p:spPr>
        <p:txBody>
          <a:bodyPr wrap="square" lIns="0" tIns="0" rIns="0" bIns="0" rtlCol="0" anchor="ctr"/>
          <a:lstStyle/>
          <a:p>
            <a:pPr indent="0" marL="0">
              <a:buNone/>
            </a:pPr>
            <a:r>
              <a:rPr lang="en-US" sz="1000" b="1" dirty="0">
                <a:solidFill>
                  <a:srgbClr val="0A1F44"/>
                </a:solidFill>
                <a:latin typeface="Inter" pitchFamily="34" charset="0"/>
                <a:ea typeface="Inter" pitchFamily="34" charset="-122"/>
                <a:cs typeface="Inter" pitchFamily="34" charset="-120"/>
              </a:rPr>
              <a:t>Data scale Quince can't copy</a:t>
            </a:r>
            <a:endParaRPr lang="en-US" sz="1000" dirty="0"/>
          </a:p>
        </p:txBody>
      </p:sp>
      <p:sp>
        <p:nvSpPr>
          <p:cNvPr id="76" name="Shape 61"/>
          <p:cNvSpPr/>
          <p:nvPr/>
        </p:nvSpPr>
        <p:spPr>
          <a:xfrm>
            <a:off x="4937760" y="4297680"/>
            <a:ext cx="6748272" cy="658368"/>
          </a:xfrm>
          <a:prstGeom prst="roundRect">
            <a:avLst>
              <a:gd name="adj" fmla="val 5556"/>
            </a:avLst>
          </a:prstGeom>
          <a:solidFill>
            <a:srgbClr val="F8FAFC"/>
          </a:solidFill>
          <a:ln w="6350">
            <a:solidFill>
              <a:srgbClr val="F8FAFC"/>
            </a:solidFill>
            <a:prstDash val="solid"/>
          </a:ln>
        </p:spPr>
      </p:sp>
      <p:pic>
        <p:nvPicPr>
          <p:cNvPr id="77" name="Image 13" descr="/tmp/claude-0/-home-user-Quince/7efe80ae-a049-50c2-9886-98bf7ca3a04a/scratchpad/assets/tapestry.png">    </p:cNvPr>
          <p:cNvPicPr>
            <a:picLocks noChangeAspect="1"/>
          </p:cNvPicPr>
          <p:nvPr/>
        </p:nvPicPr>
        <p:blipFill>
          <a:blip r:embed="rId14"/>
          <a:stretch>
            <a:fillRect/>
          </a:stretch>
        </p:blipFill>
        <p:spPr>
          <a:xfrm>
            <a:off x="5095875" y="4535424"/>
            <a:ext cx="817626" cy="182880"/>
          </a:xfrm>
          <a:prstGeom prst="rect">
            <a:avLst/>
          </a:prstGeom>
        </p:spPr>
      </p:pic>
      <p:sp>
        <p:nvSpPr>
          <p:cNvPr id="78" name="Text 62"/>
          <p:cNvSpPr txBox="1"/>
          <p:nvPr/>
        </p:nvSpPr>
        <p:spPr>
          <a:xfrm>
            <a:off x="6172200" y="4297680"/>
            <a:ext cx="3063240" cy="658368"/>
          </a:xfrm>
          <a:prstGeom prst="rect">
            <a:avLst/>
          </a:prstGeom>
          <a:noFill/>
          <a:ln/>
        </p:spPr>
        <p:txBody>
          <a:bodyPr wrap="square" lIns="0" tIns="0" rIns="0" bIns="0" rtlCol="0" anchor="ctr"/>
          <a:lstStyle/>
          <a:p>
            <a:pPr indent="0" marL="0">
              <a:buNone/>
            </a:pPr>
            <a:r>
              <a:rPr lang="en-US" sz="1000" dirty="0">
                <a:solidFill>
                  <a:srgbClr val="0F172A"/>
                </a:solidFill>
                <a:latin typeface="Inter" pitchFamily="34" charset="0"/>
                <a:ea typeface="Inter" pitchFamily="34" charset="-122"/>
                <a:cs typeface="Inter" pitchFamily="34" charset="-120"/>
              </a:rPr>
              <a:t>6.8M new US customers, ~60% Gen Z/Millennial</a:t>
            </a:r>
            <a:endParaRPr lang="en-US" sz="1000" dirty="0"/>
          </a:p>
        </p:txBody>
      </p:sp>
      <p:sp>
        <p:nvSpPr>
          <p:cNvPr id="79" name="Shape 63"/>
          <p:cNvSpPr/>
          <p:nvPr/>
        </p:nvSpPr>
        <p:spPr>
          <a:xfrm>
            <a:off x="9326880" y="4407408"/>
            <a:ext cx="45720" cy="438912"/>
          </a:xfrm>
          <a:prstGeom prst="rect">
            <a:avLst/>
          </a:prstGeom>
          <a:solidFill>
            <a:srgbClr val="1D4ED8"/>
          </a:solidFill>
          <a:ln w="6350">
            <a:solidFill>
              <a:srgbClr val="1D4ED8"/>
            </a:solidFill>
            <a:prstDash val="solid"/>
          </a:ln>
        </p:spPr>
      </p:sp>
      <p:sp>
        <p:nvSpPr>
          <p:cNvPr id="80" name="Text 64"/>
          <p:cNvSpPr txBox="1"/>
          <p:nvPr/>
        </p:nvSpPr>
        <p:spPr>
          <a:xfrm>
            <a:off x="9436608" y="4297680"/>
            <a:ext cx="2194560" cy="658368"/>
          </a:xfrm>
          <a:prstGeom prst="rect">
            <a:avLst/>
          </a:prstGeom>
          <a:noFill/>
          <a:ln/>
        </p:spPr>
        <p:txBody>
          <a:bodyPr wrap="square" lIns="0" tIns="0" rIns="0" bIns="0" rtlCol="0" anchor="ctr"/>
          <a:lstStyle/>
          <a:p>
            <a:pPr indent="0" marL="0">
              <a:buNone/>
            </a:pPr>
            <a:r>
              <a:rPr lang="en-US" sz="1000" b="1" dirty="0">
                <a:solidFill>
                  <a:srgbClr val="0A1F44"/>
                </a:solidFill>
                <a:latin typeface="Inter" pitchFamily="34" charset="0"/>
                <a:ea typeface="Inter" pitchFamily="34" charset="-122"/>
                <a:cs typeface="Inter" pitchFamily="34" charset="-120"/>
              </a:rPr>
              <a:t>Data wins young buyers</a:t>
            </a:r>
            <a:endParaRPr lang="en-US" sz="1000" dirty="0"/>
          </a:p>
        </p:txBody>
      </p:sp>
      <p:sp>
        <p:nvSpPr>
          <p:cNvPr id="81" name="Shape 65"/>
          <p:cNvSpPr/>
          <p:nvPr/>
        </p:nvSpPr>
        <p:spPr>
          <a:xfrm>
            <a:off x="4937760" y="5010912"/>
            <a:ext cx="6748272" cy="658368"/>
          </a:xfrm>
          <a:prstGeom prst="roundRect">
            <a:avLst>
              <a:gd name="adj" fmla="val 5556"/>
            </a:avLst>
          </a:prstGeom>
          <a:solidFill>
            <a:srgbClr val="FFFFFF"/>
          </a:solidFill>
          <a:ln w="6350">
            <a:solidFill>
              <a:srgbClr val="FFFFFF"/>
            </a:solidFill>
            <a:prstDash val="solid"/>
          </a:ln>
        </p:spPr>
      </p:sp>
      <p:pic>
        <p:nvPicPr>
          <p:cNvPr id="82" name="Image 14" descr="/tmp/claude-0/-home-user-Quince/7efe80ae-a049-50c2-9886-98bf7ca3a04a/scratchpad/assets/williams_sonoma.png">    </p:cNvPr>
          <p:cNvPicPr>
            <a:picLocks noChangeAspect="1"/>
          </p:cNvPicPr>
          <p:nvPr/>
        </p:nvPicPr>
        <p:blipFill>
          <a:blip r:embed="rId15"/>
          <a:stretch>
            <a:fillRect/>
          </a:stretch>
        </p:blipFill>
        <p:spPr>
          <a:xfrm>
            <a:off x="5024628" y="5306021"/>
            <a:ext cx="960120" cy="68150"/>
          </a:xfrm>
          <a:prstGeom prst="rect">
            <a:avLst/>
          </a:prstGeom>
        </p:spPr>
      </p:pic>
      <p:sp>
        <p:nvSpPr>
          <p:cNvPr id="83" name="Text 66"/>
          <p:cNvSpPr txBox="1"/>
          <p:nvPr/>
        </p:nvSpPr>
        <p:spPr>
          <a:xfrm>
            <a:off x="6172200" y="5010912"/>
            <a:ext cx="3063240" cy="658368"/>
          </a:xfrm>
          <a:prstGeom prst="rect">
            <a:avLst/>
          </a:prstGeom>
          <a:noFill/>
          <a:ln/>
        </p:spPr>
        <p:txBody>
          <a:bodyPr wrap="square" lIns="0" tIns="0" rIns="0" bIns="0" rtlCol="0" anchor="ctr"/>
          <a:lstStyle/>
          <a:p>
            <a:pPr indent="0" marL="0">
              <a:buNone/>
            </a:pPr>
            <a:r>
              <a:rPr lang="en-US" sz="1000" dirty="0">
                <a:solidFill>
                  <a:srgbClr val="0F172A"/>
                </a:solidFill>
                <a:latin typeface="Inter" pitchFamily="34" charset="0"/>
                <a:ea typeface="Inter" pitchFamily="34" charset="-122"/>
                <a:cs typeface="Inter" pitchFamily="34" charset="-120"/>
              </a:rPr>
              <a:t>The Key loyalty; sued Quince over "dupes"</a:t>
            </a:r>
            <a:endParaRPr lang="en-US" sz="1000" dirty="0"/>
          </a:p>
        </p:txBody>
      </p:sp>
      <p:sp>
        <p:nvSpPr>
          <p:cNvPr id="84" name="Shape 67"/>
          <p:cNvSpPr/>
          <p:nvPr/>
        </p:nvSpPr>
        <p:spPr>
          <a:xfrm>
            <a:off x="9326880" y="5120640"/>
            <a:ext cx="45720" cy="438912"/>
          </a:xfrm>
          <a:prstGeom prst="rect">
            <a:avLst/>
          </a:prstGeom>
          <a:solidFill>
            <a:srgbClr val="1D4ED8"/>
          </a:solidFill>
          <a:ln w="6350">
            <a:solidFill>
              <a:srgbClr val="1D4ED8"/>
            </a:solidFill>
            <a:prstDash val="solid"/>
          </a:ln>
        </p:spPr>
      </p:sp>
      <p:sp>
        <p:nvSpPr>
          <p:cNvPr id="85" name="Text 68"/>
          <p:cNvSpPr txBox="1"/>
          <p:nvPr/>
        </p:nvSpPr>
        <p:spPr>
          <a:xfrm>
            <a:off x="9436608" y="5010912"/>
            <a:ext cx="2194560" cy="658368"/>
          </a:xfrm>
          <a:prstGeom prst="rect">
            <a:avLst/>
          </a:prstGeom>
          <a:noFill/>
          <a:ln/>
        </p:spPr>
        <p:txBody>
          <a:bodyPr wrap="square" lIns="0" tIns="0" rIns="0" bIns="0" rtlCol="0" anchor="ctr"/>
          <a:lstStyle/>
          <a:p>
            <a:pPr indent="0" marL="0">
              <a:buNone/>
            </a:pPr>
            <a:r>
              <a:rPr lang="en-US" sz="1000" b="1" dirty="0">
                <a:solidFill>
                  <a:srgbClr val="0A1F44"/>
                </a:solidFill>
                <a:latin typeface="Inter" pitchFamily="34" charset="0"/>
                <a:ea typeface="Inter" pitchFamily="34" charset="-122"/>
                <a:cs typeface="Inter" pitchFamily="34" charset="-120"/>
              </a:rPr>
              <a:t>Trust must come from proof</a:t>
            </a:r>
            <a:endParaRPr lang="en-US" sz="1000" dirty="0"/>
          </a:p>
        </p:txBody>
      </p:sp>
      <p:sp>
        <p:nvSpPr>
          <p:cNvPr id="86" name="Shape 69"/>
          <p:cNvSpPr/>
          <p:nvPr/>
        </p:nvSpPr>
        <p:spPr>
          <a:xfrm>
            <a:off x="4937760" y="5724144"/>
            <a:ext cx="6748272" cy="658368"/>
          </a:xfrm>
          <a:prstGeom prst="roundRect">
            <a:avLst>
              <a:gd name="adj" fmla="val 5556"/>
            </a:avLst>
          </a:prstGeom>
          <a:solidFill>
            <a:srgbClr val="F8FAFC"/>
          </a:solidFill>
          <a:ln w="6350">
            <a:solidFill>
              <a:srgbClr val="F8FAFC"/>
            </a:solidFill>
            <a:prstDash val="solid"/>
          </a:ln>
        </p:spPr>
      </p:sp>
      <p:sp>
        <p:nvSpPr>
          <p:cNvPr id="87" name="Text 70"/>
          <p:cNvSpPr txBox="1"/>
          <p:nvPr/>
        </p:nvSpPr>
        <p:spPr>
          <a:xfrm>
            <a:off x="4937760" y="5724144"/>
            <a:ext cx="1143000" cy="658368"/>
          </a:xfrm>
          <a:prstGeom prst="rect">
            <a:avLst/>
          </a:prstGeom>
          <a:noFill/>
          <a:ln/>
        </p:spPr>
        <p:txBody>
          <a:bodyPr wrap="square" lIns="0" tIns="0" rIns="0" bIns="0" rtlCol="0" anchor="ctr"/>
          <a:lstStyle/>
          <a:p>
            <a:pPr algn="ctr" indent="0" marL="0">
              <a:buNone/>
            </a:pPr>
            <a:r>
              <a:rPr lang="en-US" sz="950" b="1" spc="300" kern="0" dirty="0">
                <a:solidFill>
                  <a:srgbClr val="0F172A"/>
                </a:solidFill>
                <a:latin typeface="Inter" pitchFamily="34" charset="0"/>
                <a:ea typeface="Inter" pitchFamily="34" charset="-122"/>
                <a:cs typeface="Inter" pitchFamily="34" charset="-120"/>
              </a:rPr>
              <a:t>CUYANA</a:t>
            </a:r>
            <a:endParaRPr lang="en-US" sz="950" dirty="0"/>
          </a:p>
        </p:txBody>
      </p:sp>
      <p:sp>
        <p:nvSpPr>
          <p:cNvPr id="88" name="Text 71"/>
          <p:cNvSpPr txBox="1"/>
          <p:nvPr/>
        </p:nvSpPr>
        <p:spPr>
          <a:xfrm>
            <a:off x="6172200" y="5724144"/>
            <a:ext cx="3063240" cy="658368"/>
          </a:xfrm>
          <a:prstGeom prst="rect">
            <a:avLst/>
          </a:prstGeom>
          <a:noFill/>
          <a:ln/>
        </p:spPr>
        <p:txBody>
          <a:bodyPr wrap="square" lIns="0" tIns="0" rIns="0" bIns="0" rtlCol="0" anchor="ctr"/>
          <a:lstStyle/>
          <a:p>
            <a:pPr indent="0" marL="0">
              <a:buNone/>
            </a:pPr>
            <a:r>
              <a:rPr lang="en-US" sz="1000" dirty="0">
                <a:solidFill>
                  <a:srgbClr val="0F172A"/>
                </a:solidFill>
                <a:latin typeface="Inter" pitchFamily="34" charset="0"/>
                <a:ea typeface="Inter" pitchFamily="34" charset="-122"/>
                <a:cs typeface="Inter" pitchFamily="34" charset="-120"/>
              </a:rPr>
              <a:t>Owned-channel loyalty, little paid (Exh. M)</a:t>
            </a:r>
            <a:endParaRPr lang="en-US" sz="1000" dirty="0"/>
          </a:p>
        </p:txBody>
      </p:sp>
      <p:sp>
        <p:nvSpPr>
          <p:cNvPr id="89" name="Shape 72"/>
          <p:cNvSpPr/>
          <p:nvPr/>
        </p:nvSpPr>
        <p:spPr>
          <a:xfrm>
            <a:off x="9326880" y="5833872"/>
            <a:ext cx="45720" cy="438912"/>
          </a:xfrm>
          <a:prstGeom prst="rect">
            <a:avLst/>
          </a:prstGeom>
          <a:solidFill>
            <a:srgbClr val="1D4ED8"/>
          </a:solidFill>
          <a:ln w="6350">
            <a:solidFill>
              <a:srgbClr val="1D4ED8"/>
            </a:solidFill>
            <a:prstDash val="solid"/>
          </a:ln>
        </p:spPr>
      </p:sp>
      <p:sp>
        <p:nvSpPr>
          <p:cNvPr id="90" name="Text 73"/>
          <p:cNvSpPr txBox="1"/>
          <p:nvPr/>
        </p:nvSpPr>
        <p:spPr>
          <a:xfrm>
            <a:off x="9436608" y="5724144"/>
            <a:ext cx="2194560" cy="658368"/>
          </a:xfrm>
          <a:prstGeom prst="rect">
            <a:avLst/>
          </a:prstGeom>
          <a:noFill/>
          <a:ln/>
        </p:spPr>
        <p:txBody>
          <a:bodyPr wrap="square" lIns="0" tIns="0" rIns="0" bIns="0" rtlCol="0" anchor="ctr"/>
          <a:lstStyle/>
          <a:p>
            <a:pPr indent="0" marL="0">
              <a:buNone/>
            </a:pPr>
            <a:r>
              <a:rPr lang="en-US" sz="1000" b="1" dirty="0">
                <a:solidFill>
                  <a:srgbClr val="0A1F44"/>
                </a:solidFill>
                <a:latin typeface="Inter" pitchFamily="34" charset="0"/>
                <a:ea typeface="Inter" pitchFamily="34" charset="-122"/>
                <a:cs typeface="Inter" pitchFamily="34" charset="-120"/>
              </a:rPr>
              <a:t>Closest to our target</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9326880" cy="841248"/>
          </a:xfrm>
          <a:prstGeom prst="rect">
            <a:avLst/>
          </a:prstGeom>
          <a:noFill/>
          <a:ln/>
        </p:spPr>
        <p:txBody>
          <a:bodyPr wrap="square" lIns="0" tIns="0" rIns="0" bIns="0" rtlCol="0" anchor="ctr"/>
          <a:lstStyle/>
          <a:p>
            <a:pPr indent="0" marL="0">
              <a:buNone/>
            </a:pPr>
            <a:r>
              <a:rPr lang="en-US" sz="2400" b="1" dirty="0">
                <a:solidFill>
                  <a:srgbClr val="0A1F44"/>
                </a:solidFill>
                <a:latin typeface="Inter" pitchFamily="34" charset="0"/>
                <a:ea typeface="Inter" pitchFamily="34" charset="-122"/>
                <a:cs typeface="Inter" pitchFamily="34" charset="-120"/>
              </a:rPr>
              <a:t>Quince has the CJA identity data; now it must activate it</a:t>
            </a:r>
            <a:endParaRPr lang="en-US" sz="2400" dirty="0"/>
          </a:p>
        </p:txBody>
      </p:sp>
      <p:pic>
        <p:nvPicPr>
          <p:cNvPr id="3" name="Image 0" descr="/tmp/claude-0/-home-user-Quince/7efe80ae-a049-50c2-9886-98bf7ca3a04a/scratchpad/assets/quince.png">    </p:cNvPr>
          <p:cNvPicPr>
            <a:picLocks noChangeAspect="1"/>
          </p:cNvPicPr>
          <p:nvPr/>
        </p:nvPicPr>
        <p:blipFill>
          <a:blip r:embed="rId1"/>
          <a:stretch>
            <a:fillRect/>
          </a:stretch>
        </p:blipFill>
        <p:spPr>
          <a:xfrm>
            <a:off x="10236708" y="615544"/>
            <a:ext cx="777240" cy="231951"/>
          </a:xfrm>
          <a:prstGeom prst="rect">
            <a:avLst/>
          </a:prstGeom>
        </p:spPr>
      </p:pic>
      <p:sp>
        <p:nvSpPr>
          <p:cNvPr id="4" name="Shape 1"/>
          <p:cNvSpPr/>
          <p:nvPr/>
        </p:nvSpPr>
        <p:spPr>
          <a:xfrm>
            <a:off x="11155680" y="603504"/>
            <a:ext cx="530352" cy="256032"/>
          </a:xfrm>
          <a:prstGeom prst="roundRect">
            <a:avLst>
              <a:gd name="adj" fmla="val 50000"/>
            </a:avLst>
          </a:prstGeom>
          <a:solidFill>
            <a:srgbClr val="0A1F44"/>
          </a:solidFill>
          <a:ln w="6350">
            <a:solidFill>
              <a:srgbClr val="0A1F44"/>
            </a:solidFill>
            <a:prstDash val="solid"/>
          </a:ln>
        </p:spPr>
      </p:sp>
      <p:sp>
        <p:nvSpPr>
          <p:cNvPr id="5" name="Text 2"/>
          <p:cNvSpPr txBox="1"/>
          <p:nvPr/>
        </p:nvSpPr>
        <p:spPr>
          <a:xfrm>
            <a:off x="11155680" y="603504"/>
            <a:ext cx="530352"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Inter" pitchFamily="34" charset="0"/>
                <a:ea typeface="Inter" pitchFamily="34" charset="-122"/>
                <a:cs typeface="Inter" pitchFamily="34" charset="-120"/>
              </a:rPr>
              <a:t>G27</a:t>
            </a:r>
            <a:endParaRPr lang="en-US" sz="950" dirty="0"/>
          </a:p>
        </p:txBody>
      </p:sp>
      <p:sp>
        <p:nvSpPr>
          <p:cNvPr id="6" name="Shape 3"/>
          <p:cNvSpPr/>
          <p:nvPr/>
        </p:nvSpPr>
        <p:spPr>
          <a:xfrm>
            <a:off x="502920" y="6400800"/>
            <a:ext cx="11183112" cy="0"/>
          </a:xfrm>
          <a:prstGeom prst="line">
            <a:avLst/>
          </a:prstGeom>
          <a:noFill/>
          <a:ln w="9525">
            <a:solidFill>
              <a:srgbClr val="E2E8F0"/>
            </a:solidFill>
            <a:prstDash val="solid"/>
          </a:ln>
        </p:spPr>
      </p:sp>
      <p:sp>
        <p:nvSpPr>
          <p:cNvPr id="7" name="Text 4"/>
          <p:cNvSpPr txBox="1"/>
          <p:nvPr/>
        </p:nvSpPr>
        <p:spPr>
          <a:xfrm>
            <a:off x="502920" y="6464808"/>
            <a:ext cx="9418320" cy="256032"/>
          </a:xfrm>
          <a:prstGeom prst="rect">
            <a:avLst/>
          </a:prstGeom>
          <a:noFill/>
          <a:ln/>
        </p:spPr>
        <p:txBody>
          <a:bodyPr wrap="square" lIns="0" tIns="0" rIns="0" bIns="0" rtlCol="0" anchor="ctr"/>
          <a:lstStyle/>
          <a:p>
            <a:pPr indent="0" marL="0">
              <a:buNone/>
            </a:pPr>
            <a:r>
              <a:rPr lang="en-US" sz="800" dirty="0">
                <a:solidFill>
                  <a:srgbClr val="64748B"/>
                </a:solidFill>
                <a:latin typeface="Inter" pitchFamily="34" charset="0"/>
                <a:ea typeface="Inter" pitchFamily="34" charset="-122"/>
                <a:cs typeface="Inter" pitchFamily="34" charset="-120"/>
              </a:rPr>
              <a:t>Source: case sections 1, 3, 4, 7; Exhibits A, I, K, L. Status is team assessment against the case. Adobe CJA analyses audiences; activation runs through Real-Time CDP or Journey Optimizer (Adobe Experience League).</a:t>
            </a:r>
            <a:endParaRPr lang="en-US" sz="800" dirty="0"/>
          </a:p>
        </p:txBody>
      </p:sp>
      <p:sp>
        <p:nvSpPr>
          <p:cNvPr id="8" name="Text 5"/>
          <p:cNvSpPr txBox="1"/>
          <p:nvPr/>
        </p:nvSpPr>
        <p:spPr>
          <a:xfrm>
            <a:off x="9966960" y="6464808"/>
            <a:ext cx="1719072" cy="256032"/>
          </a:xfrm>
          <a:prstGeom prst="rect">
            <a:avLst/>
          </a:prstGeom>
          <a:noFill/>
          <a:ln/>
        </p:spPr>
        <p:txBody>
          <a:bodyPr wrap="square" lIns="0" tIns="0" rIns="0" bIns="0" rtlCol="0" anchor="ctr"/>
          <a:lstStyle/>
          <a:p>
            <a:pPr algn="r" indent="0" marL="0">
              <a:buNone/>
            </a:pPr>
            <a:r>
              <a:rPr lang="en-US" sz="800" dirty="0">
                <a:solidFill>
                  <a:srgbClr val="64748B"/>
                </a:solidFill>
                <a:latin typeface="Inter" pitchFamily="34" charset="0"/>
                <a:ea typeface="Inter" pitchFamily="34" charset="-122"/>
                <a:cs typeface="Inter" pitchFamily="34" charset="-120"/>
              </a:rPr>
              <a:t>Team G27  ·  6</a:t>
            </a:r>
            <a:endParaRPr lang="en-US" sz="800" dirty="0"/>
          </a:p>
        </p:txBody>
      </p:sp>
      <p:sp>
        <p:nvSpPr>
          <p:cNvPr id="9" name="Text 6"/>
          <p:cNvSpPr txBox="1"/>
          <p:nvPr/>
        </p:nvSpPr>
        <p:spPr>
          <a:xfrm>
            <a:off x="502920" y="1234440"/>
            <a:ext cx="6400800" cy="274320"/>
          </a:xfrm>
          <a:prstGeom prst="rect">
            <a:avLst/>
          </a:prstGeom>
          <a:noFill/>
          <a:ln/>
        </p:spPr>
        <p:txBody>
          <a:bodyPr wrap="square" lIns="0" tIns="0" rIns="0" bIns="0" rtlCol="0" anchor="t"/>
          <a:lstStyle/>
          <a:p>
            <a:pPr indent="0" marL="0">
              <a:buNone/>
            </a:pPr>
            <a:r>
              <a:rPr lang="en-US" sz="1250" b="1" dirty="0">
                <a:solidFill>
                  <a:srgbClr val="0A1F44"/>
                </a:solidFill>
                <a:latin typeface="Inter" pitchFamily="34" charset="0"/>
                <a:ea typeface="Inter" pitchFamily="34" charset="-122"/>
                <a:cs typeface="Inter" pitchFamily="34" charset="-120"/>
              </a:rPr>
              <a:t>Readiness against what the plan needs</a:t>
            </a:r>
            <a:endParaRPr lang="en-US" sz="1250" dirty="0"/>
          </a:p>
        </p:txBody>
      </p:sp>
      <p:sp>
        <p:nvSpPr>
          <p:cNvPr id="10" name="Shape 7"/>
          <p:cNvSpPr/>
          <p:nvPr/>
        </p:nvSpPr>
        <p:spPr>
          <a:xfrm>
            <a:off x="502920" y="1645920"/>
            <a:ext cx="6400800" cy="548640"/>
          </a:xfrm>
          <a:prstGeom prst="roundRect">
            <a:avLst>
              <a:gd name="adj" fmla="val 10000"/>
            </a:avLst>
          </a:prstGeom>
          <a:solidFill>
            <a:srgbClr val="FFFFFF"/>
          </a:solidFill>
          <a:ln w="9525">
            <a:solidFill>
              <a:srgbClr val="E2E8F0"/>
            </a:solidFill>
            <a:prstDash val="solid"/>
          </a:ln>
        </p:spPr>
      </p:sp>
      <p:sp>
        <p:nvSpPr>
          <p:cNvPr id="11" name="Shape 8"/>
          <p:cNvSpPr/>
          <p:nvPr/>
        </p:nvSpPr>
        <p:spPr>
          <a:xfrm>
            <a:off x="502920" y="1645920"/>
            <a:ext cx="64008" cy="548640"/>
          </a:xfrm>
          <a:prstGeom prst="rect">
            <a:avLst/>
          </a:prstGeom>
          <a:solidFill>
            <a:srgbClr val="60A5FA"/>
          </a:solidFill>
          <a:ln w="6350">
            <a:solidFill>
              <a:srgbClr val="60A5FA"/>
            </a:solidFill>
            <a:prstDash val="solid"/>
          </a:ln>
        </p:spPr>
      </p:sp>
      <p:sp>
        <p:nvSpPr>
          <p:cNvPr id="12" name="Text 9"/>
          <p:cNvSpPr txBox="1"/>
          <p:nvPr/>
        </p:nvSpPr>
        <p:spPr>
          <a:xfrm>
            <a:off x="685800" y="1645920"/>
            <a:ext cx="1691640" cy="548640"/>
          </a:xfrm>
          <a:prstGeom prst="rect">
            <a:avLst/>
          </a:prstGeom>
          <a:noFill/>
          <a:ln/>
        </p:spPr>
        <p:txBody>
          <a:bodyPr wrap="square" lIns="0" tIns="0" rIns="0" bIns="0" rtlCol="0" anchor="ctr"/>
          <a:lstStyle/>
          <a:p>
            <a:pPr indent="0" marL="0">
              <a:buNone/>
            </a:pPr>
            <a:r>
              <a:rPr lang="en-US" sz="1050" b="1" dirty="0">
                <a:solidFill>
                  <a:srgbClr val="0A1F44"/>
                </a:solidFill>
                <a:latin typeface="Inter" pitchFamily="34" charset="0"/>
                <a:ea typeface="Inter" pitchFamily="34" charset="-122"/>
                <a:cs typeface="Inter" pitchFamily="34" charset="-120"/>
              </a:rPr>
              <a:t>Data and identity</a:t>
            </a:r>
            <a:endParaRPr lang="en-US" sz="1050" dirty="0"/>
          </a:p>
        </p:txBody>
      </p:sp>
      <p:sp>
        <p:nvSpPr>
          <p:cNvPr id="13" name="Shape 10"/>
          <p:cNvSpPr/>
          <p:nvPr/>
        </p:nvSpPr>
        <p:spPr>
          <a:xfrm>
            <a:off x="2395728" y="1810512"/>
            <a:ext cx="658368" cy="219456"/>
          </a:xfrm>
          <a:prstGeom prst="roundRect">
            <a:avLst>
              <a:gd name="adj" fmla="val 50000"/>
            </a:avLst>
          </a:prstGeom>
          <a:solidFill>
            <a:srgbClr val="60A5FA"/>
          </a:solidFill>
          <a:ln w="6350">
            <a:solidFill>
              <a:srgbClr val="60A5FA"/>
            </a:solidFill>
            <a:prstDash val="solid"/>
          </a:ln>
        </p:spPr>
      </p:sp>
      <p:sp>
        <p:nvSpPr>
          <p:cNvPr id="14" name="Text 11"/>
          <p:cNvSpPr txBox="1"/>
          <p:nvPr/>
        </p:nvSpPr>
        <p:spPr>
          <a:xfrm>
            <a:off x="2395728" y="1810512"/>
            <a:ext cx="658368" cy="219456"/>
          </a:xfrm>
          <a:prstGeom prst="rect">
            <a:avLst/>
          </a:prstGeom>
          <a:noFill/>
          <a:ln/>
        </p:spPr>
        <p:txBody>
          <a:bodyPr wrap="square" lIns="0" tIns="0" rIns="0" bIns="0" rtlCol="0" anchor="ctr"/>
          <a:lstStyle/>
          <a:p>
            <a:pPr algn="ctr" indent="0" marL="0">
              <a:buNone/>
            </a:pPr>
            <a:r>
              <a:rPr lang="en-US" sz="850" b="1" dirty="0">
                <a:solidFill>
                  <a:srgbClr val="FFFFFF"/>
                </a:solidFill>
                <a:latin typeface="Inter" pitchFamily="34" charset="0"/>
                <a:ea typeface="Inter" pitchFamily="34" charset="-122"/>
                <a:cs typeface="Inter" pitchFamily="34" charset="-120"/>
              </a:rPr>
              <a:t>Partial</a:t>
            </a:r>
            <a:endParaRPr lang="en-US" sz="850" dirty="0"/>
          </a:p>
        </p:txBody>
      </p:sp>
      <p:sp>
        <p:nvSpPr>
          <p:cNvPr id="15" name="Text 12"/>
          <p:cNvSpPr txBox="1"/>
          <p:nvPr/>
        </p:nvSpPr>
        <p:spPr>
          <a:xfrm>
            <a:off x="3182112" y="1645920"/>
            <a:ext cx="3657600" cy="548640"/>
          </a:xfrm>
          <a:prstGeom prst="rect">
            <a:avLst/>
          </a:prstGeom>
          <a:noFill/>
          <a:ln/>
        </p:spPr>
        <p:txBody>
          <a:bodyPr wrap="square" lIns="0" tIns="0" rIns="0" bIns="0" rtlCol="0" anchor="ctr"/>
          <a:lstStyle/>
          <a:p>
            <a:pPr indent="0" marL="0">
              <a:buNone/>
            </a:pPr>
            <a:r>
              <a:rPr lang="en-US" sz="950" dirty="0">
                <a:solidFill>
                  <a:srgbClr val="0F172A"/>
                </a:solidFill>
                <a:latin typeface="Inter" pitchFamily="34" charset="0"/>
                <a:ea typeface="Inter" pitchFamily="34" charset="-122"/>
                <a:cs typeface="Inter" pitchFamily="34" charset="-120"/>
              </a:rPr>
              <a:t>Person ID is stitched (Exhibit L); fix owned-event logging and attribution set-up in month 1</a:t>
            </a:r>
            <a:endParaRPr lang="en-US" sz="950" dirty="0"/>
          </a:p>
        </p:txBody>
      </p:sp>
      <p:sp>
        <p:nvSpPr>
          <p:cNvPr id="16" name="Shape 13"/>
          <p:cNvSpPr/>
          <p:nvPr/>
        </p:nvSpPr>
        <p:spPr>
          <a:xfrm>
            <a:off x="502920" y="2286000"/>
            <a:ext cx="6400800" cy="548640"/>
          </a:xfrm>
          <a:prstGeom prst="roundRect">
            <a:avLst>
              <a:gd name="adj" fmla="val 10000"/>
            </a:avLst>
          </a:prstGeom>
          <a:solidFill>
            <a:srgbClr val="FFFFFF"/>
          </a:solidFill>
          <a:ln w="9525">
            <a:solidFill>
              <a:srgbClr val="E2E8F0"/>
            </a:solidFill>
            <a:prstDash val="solid"/>
          </a:ln>
        </p:spPr>
      </p:sp>
      <p:sp>
        <p:nvSpPr>
          <p:cNvPr id="17" name="Shape 14"/>
          <p:cNvSpPr/>
          <p:nvPr/>
        </p:nvSpPr>
        <p:spPr>
          <a:xfrm>
            <a:off x="502920" y="2286000"/>
            <a:ext cx="64008" cy="548640"/>
          </a:xfrm>
          <a:prstGeom prst="rect">
            <a:avLst/>
          </a:prstGeom>
          <a:solidFill>
            <a:srgbClr val="0A1F44"/>
          </a:solidFill>
          <a:ln w="6350">
            <a:solidFill>
              <a:srgbClr val="0A1F44"/>
            </a:solidFill>
            <a:prstDash val="solid"/>
          </a:ln>
        </p:spPr>
      </p:sp>
      <p:sp>
        <p:nvSpPr>
          <p:cNvPr id="18" name="Text 15"/>
          <p:cNvSpPr txBox="1"/>
          <p:nvPr/>
        </p:nvSpPr>
        <p:spPr>
          <a:xfrm>
            <a:off x="685800" y="2286000"/>
            <a:ext cx="1691640" cy="548640"/>
          </a:xfrm>
          <a:prstGeom prst="rect">
            <a:avLst/>
          </a:prstGeom>
          <a:noFill/>
          <a:ln/>
        </p:spPr>
        <p:txBody>
          <a:bodyPr wrap="square" lIns="0" tIns="0" rIns="0" bIns="0" rtlCol="0" anchor="ctr"/>
          <a:lstStyle/>
          <a:p>
            <a:pPr indent="0" marL="0">
              <a:buNone/>
            </a:pPr>
            <a:r>
              <a:rPr lang="en-US" sz="1050" b="1" dirty="0">
                <a:solidFill>
                  <a:srgbClr val="0A1F44"/>
                </a:solidFill>
                <a:latin typeface="Inter" pitchFamily="34" charset="0"/>
                <a:ea typeface="Inter" pitchFamily="34" charset="-122"/>
                <a:cs typeface="Inter" pitchFamily="34" charset="-120"/>
              </a:rPr>
              <a:t>Activation</a:t>
            </a:r>
            <a:endParaRPr lang="en-US" sz="1050" dirty="0"/>
          </a:p>
        </p:txBody>
      </p:sp>
      <p:sp>
        <p:nvSpPr>
          <p:cNvPr id="19" name="Shape 16"/>
          <p:cNvSpPr/>
          <p:nvPr/>
        </p:nvSpPr>
        <p:spPr>
          <a:xfrm>
            <a:off x="2395728" y="2450592"/>
            <a:ext cx="658368" cy="219456"/>
          </a:xfrm>
          <a:prstGeom prst="roundRect">
            <a:avLst>
              <a:gd name="adj" fmla="val 50000"/>
            </a:avLst>
          </a:prstGeom>
          <a:solidFill>
            <a:srgbClr val="0A1F44"/>
          </a:solidFill>
          <a:ln w="6350">
            <a:solidFill>
              <a:srgbClr val="0A1F44"/>
            </a:solidFill>
            <a:prstDash val="solid"/>
          </a:ln>
        </p:spPr>
      </p:sp>
      <p:sp>
        <p:nvSpPr>
          <p:cNvPr id="20" name="Text 17"/>
          <p:cNvSpPr txBox="1"/>
          <p:nvPr/>
        </p:nvSpPr>
        <p:spPr>
          <a:xfrm>
            <a:off x="2395728" y="2450592"/>
            <a:ext cx="658368" cy="219456"/>
          </a:xfrm>
          <a:prstGeom prst="rect">
            <a:avLst/>
          </a:prstGeom>
          <a:noFill/>
          <a:ln/>
        </p:spPr>
        <p:txBody>
          <a:bodyPr wrap="square" lIns="0" tIns="0" rIns="0" bIns="0" rtlCol="0" anchor="ctr"/>
          <a:lstStyle/>
          <a:p>
            <a:pPr algn="ctr" indent="0" marL="0">
              <a:buNone/>
            </a:pPr>
            <a:r>
              <a:rPr lang="en-US" sz="850" b="1" dirty="0">
                <a:solidFill>
                  <a:srgbClr val="FFFFFF"/>
                </a:solidFill>
                <a:latin typeface="Inter" pitchFamily="34" charset="0"/>
                <a:ea typeface="Inter" pitchFamily="34" charset="-122"/>
                <a:cs typeface="Inter" pitchFamily="34" charset="-120"/>
              </a:rPr>
              <a:t>Gap</a:t>
            </a:r>
            <a:endParaRPr lang="en-US" sz="850" dirty="0"/>
          </a:p>
        </p:txBody>
      </p:sp>
      <p:sp>
        <p:nvSpPr>
          <p:cNvPr id="21" name="Text 18"/>
          <p:cNvSpPr txBox="1"/>
          <p:nvPr/>
        </p:nvSpPr>
        <p:spPr>
          <a:xfrm>
            <a:off x="3182112" y="2286000"/>
            <a:ext cx="3657600" cy="548640"/>
          </a:xfrm>
          <a:prstGeom prst="rect">
            <a:avLst/>
          </a:prstGeom>
          <a:noFill/>
          <a:ln/>
        </p:spPr>
        <p:txBody>
          <a:bodyPr wrap="square" lIns="0" tIns="0" rIns="0" bIns="0" rtlCol="0" anchor="ctr"/>
          <a:lstStyle/>
          <a:p>
            <a:pPr indent="0" marL="0">
              <a:buNone/>
            </a:pPr>
            <a:r>
              <a:rPr lang="en-US" sz="950" dirty="0">
                <a:solidFill>
                  <a:srgbClr val="0F172A"/>
                </a:solidFill>
                <a:latin typeface="Inter" pitchFamily="34" charset="0"/>
                <a:ea typeface="Inter" pitchFamily="34" charset="-122"/>
                <a:cs typeface="Inter" pitchFamily="34" charset="-120"/>
              </a:rPr>
              <a:t>Real-Time CDP (ads) and Journey Optimizer (messages), from Option A's $2–3M</a:t>
            </a:r>
            <a:endParaRPr lang="en-US" sz="950" dirty="0"/>
          </a:p>
        </p:txBody>
      </p:sp>
      <p:sp>
        <p:nvSpPr>
          <p:cNvPr id="22" name="Shape 19"/>
          <p:cNvSpPr/>
          <p:nvPr/>
        </p:nvSpPr>
        <p:spPr>
          <a:xfrm>
            <a:off x="502920" y="2926080"/>
            <a:ext cx="6400800" cy="548640"/>
          </a:xfrm>
          <a:prstGeom prst="roundRect">
            <a:avLst>
              <a:gd name="adj" fmla="val 10000"/>
            </a:avLst>
          </a:prstGeom>
          <a:solidFill>
            <a:srgbClr val="FFFFFF"/>
          </a:solidFill>
          <a:ln w="9525">
            <a:solidFill>
              <a:srgbClr val="E2E8F0"/>
            </a:solidFill>
            <a:prstDash val="solid"/>
          </a:ln>
        </p:spPr>
      </p:sp>
      <p:sp>
        <p:nvSpPr>
          <p:cNvPr id="23" name="Shape 20"/>
          <p:cNvSpPr/>
          <p:nvPr/>
        </p:nvSpPr>
        <p:spPr>
          <a:xfrm>
            <a:off x="502920" y="2926080"/>
            <a:ext cx="64008" cy="548640"/>
          </a:xfrm>
          <a:prstGeom prst="rect">
            <a:avLst/>
          </a:prstGeom>
          <a:solidFill>
            <a:srgbClr val="0A1F44"/>
          </a:solidFill>
          <a:ln w="6350">
            <a:solidFill>
              <a:srgbClr val="0A1F44"/>
            </a:solidFill>
            <a:prstDash val="solid"/>
          </a:ln>
        </p:spPr>
      </p:sp>
      <p:sp>
        <p:nvSpPr>
          <p:cNvPr id="24" name="Text 21"/>
          <p:cNvSpPr txBox="1"/>
          <p:nvPr/>
        </p:nvSpPr>
        <p:spPr>
          <a:xfrm>
            <a:off x="685800" y="2926080"/>
            <a:ext cx="1691640" cy="548640"/>
          </a:xfrm>
          <a:prstGeom prst="rect">
            <a:avLst/>
          </a:prstGeom>
          <a:noFill/>
          <a:ln/>
        </p:spPr>
        <p:txBody>
          <a:bodyPr wrap="square" lIns="0" tIns="0" rIns="0" bIns="0" rtlCol="0" anchor="ctr"/>
          <a:lstStyle/>
          <a:p>
            <a:pPr indent="0" marL="0">
              <a:buNone/>
            </a:pPr>
            <a:r>
              <a:rPr lang="en-US" sz="1050" b="1" dirty="0">
                <a:solidFill>
                  <a:srgbClr val="0A1F44"/>
                </a:solidFill>
                <a:latin typeface="Inter" pitchFamily="34" charset="0"/>
                <a:ea typeface="Inter" pitchFamily="34" charset="-122"/>
                <a:cs typeface="Inter" pitchFamily="34" charset="-120"/>
              </a:rPr>
              <a:t>Lifecycle and creative</a:t>
            </a:r>
            <a:endParaRPr lang="en-US" sz="1050" dirty="0"/>
          </a:p>
        </p:txBody>
      </p:sp>
      <p:sp>
        <p:nvSpPr>
          <p:cNvPr id="25" name="Shape 22"/>
          <p:cNvSpPr/>
          <p:nvPr/>
        </p:nvSpPr>
        <p:spPr>
          <a:xfrm>
            <a:off x="2395728" y="3090672"/>
            <a:ext cx="658368" cy="219456"/>
          </a:xfrm>
          <a:prstGeom prst="roundRect">
            <a:avLst>
              <a:gd name="adj" fmla="val 50000"/>
            </a:avLst>
          </a:prstGeom>
          <a:solidFill>
            <a:srgbClr val="0A1F44"/>
          </a:solidFill>
          <a:ln w="6350">
            <a:solidFill>
              <a:srgbClr val="0A1F44"/>
            </a:solidFill>
            <a:prstDash val="solid"/>
          </a:ln>
        </p:spPr>
      </p:sp>
      <p:sp>
        <p:nvSpPr>
          <p:cNvPr id="26" name="Text 23"/>
          <p:cNvSpPr txBox="1"/>
          <p:nvPr/>
        </p:nvSpPr>
        <p:spPr>
          <a:xfrm>
            <a:off x="2395728" y="3090672"/>
            <a:ext cx="658368" cy="219456"/>
          </a:xfrm>
          <a:prstGeom prst="rect">
            <a:avLst/>
          </a:prstGeom>
          <a:noFill/>
          <a:ln/>
        </p:spPr>
        <p:txBody>
          <a:bodyPr wrap="square" lIns="0" tIns="0" rIns="0" bIns="0" rtlCol="0" anchor="ctr"/>
          <a:lstStyle/>
          <a:p>
            <a:pPr algn="ctr" indent="0" marL="0">
              <a:buNone/>
            </a:pPr>
            <a:r>
              <a:rPr lang="en-US" sz="850" b="1" dirty="0">
                <a:solidFill>
                  <a:srgbClr val="FFFFFF"/>
                </a:solidFill>
                <a:latin typeface="Inter" pitchFamily="34" charset="0"/>
                <a:ea typeface="Inter" pitchFamily="34" charset="-122"/>
                <a:cs typeface="Inter" pitchFamily="34" charset="-120"/>
              </a:rPr>
              <a:t>Gap</a:t>
            </a:r>
            <a:endParaRPr lang="en-US" sz="850" dirty="0"/>
          </a:p>
        </p:txBody>
      </p:sp>
      <p:sp>
        <p:nvSpPr>
          <p:cNvPr id="27" name="Text 24"/>
          <p:cNvSpPr txBox="1"/>
          <p:nvPr/>
        </p:nvSpPr>
        <p:spPr>
          <a:xfrm>
            <a:off x="3182112" y="2926080"/>
            <a:ext cx="3657600" cy="548640"/>
          </a:xfrm>
          <a:prstGeom prst="rect">
            <a:avLst/>
          </a:prstGeom>
          <a:noFill/>
          <a:ln/>
        </p:spPr>
        <p:txBody>
          <a:bodyPr wrap="square" lIns="0" tIns="0" rIns="0" bIns="0" rtlCol="0" anchor="ctr"/>
          <a:lstStyle/>
          <a:p>
            <a:pPr indent="0" marL="0">
              <a:buNone/>
            </a:pPr>
            <a:r>
              <a:rPr lang="en-US" sz="950" dirty="0">
                <a:solidFill>
                  <a:srgbClr val="0F172A"/>
                </a:solidFill>
                <a:latin typeface="Inter" pitchFamily="34" charset="0"/>
                <a:ea typeface="Inter" pitchFamily="34" charset="-122"/>
                <a:cs typeface="Inter" pitchFamily="34" charset="-120"/>
              </a:rPr>
              <a:t>Email is batch-and-blast: lifecycle team and creative, same budget</a:t>
            </a:r>
            <a:endParaRPr lang="en-US" sz="950" dirty="0"/>
          </a:p>
        </p:txBody>
      </p:sp>
      <p:sp>
        <p:nvSpPr>
          <p:cNvPr id="28" name="Shape 25"/>
          <p:cNvSpPr/>
          <p:nvPr/>
        </p:nvSpPr>
        <p:spPr>
          <a:xfrm>
            <a:off x="502920" y="3566160"/>
            <a:ext cx="6400800" cy="548640"/>
          </a:xfrm>
          <a:prstGeom prst="roundRect">
            <a:avLst>
              <a:gd name="adj" fmla="val 10000"/>
            </a:avLst>
          </a:prstGeom>
          <a:solidFill>
            <a:srgbClr val="FFFFFF"/>
          </a:solidFill>
          <a:ln w="9525">
            <a:solidFill>
              <a:srgbClr val="E2E8F0"/>
            </a:solidFill>
            <a:prstDash val="solid"/>
          </a:ln>
        </p:spPr>
      </p:sp>
      <p:sp>
        <p:nvSpPr>
          <p:cNvPr id="29" name="Shape 26"/>
          <p:cNvSpPr/>
          <p:nvPr/>
        </p:nvSpPr>
        <p:spPr>
          <a:xfrm>
            <a:off x="502920" y="3566160"/>
            <a:ext cx="64008" cy="548640"/>
          </a:xfrm>
          <a:prstGeom prst="rect">
            <a:avLst/>
          </a:prstGeom>
          <a:solidFill>
            <a:srgbClr val="0A1F44"/>
          </a:solidFill>
          <a:ln w="6350">
            <a:solidFill>
              <a:srgbClr val="0A1F44"/>
            </a:solidFill>
            <a:prstDash val="solid"/>
          </a:ln>
        </p:spPr>
      </p:sp>
      <p:sp>
        <p:nvSpPr>
          <p:cNvPr id="30" name="Text 27"/>
          <p:cNvSpPr txBox="1"/>
          <p:nvPr/>
        </p:nvSpPr>
        <p:spPr>
          <a:xfrm>
            <a:off x="685800" y="3566160"/>
            <a:ext cx="1691640" cy="548640"/>
          </a:xfrm>
          <a:prstGeom prst="rect">
            <a:avLst/>
          </a:prstGeom>
          <a:noFill/>
          <a:ln/>
        </p:spPr>
        <p:txBody>
          <a:bodyPr wrap="square" lIns="0" tIns="0" rIns="0" bIns="0" rtlCol="0" anchor="ctr"/>
          <a:lstStyle/>
          <a:p>
            <a:pPr indent="0" marL="0">
              <a:buNone/>
            </a:pPr>
            <a:r>
              <a:rPr lang="en-US" sz="1050" b="1" dirty="0">
                <a:solidFill>
                  <a:srgbClr val="0A1F44"/>
                </a:solidFill>
                <a:latin typeface="Inter" pitchFamily="34" charset="0"/>
                <a:ea typeface="Inter" pitchFamily="34" charset="-122"/>
                <a:cs typeface="Inter" pitchFamily="34" charset="-120"/>
              </a:rPr>
              <a:t>Growth–analytics</a:t>
            </a:r>
            <a:endParaRPr lang="en-US" sz="1050" dirty="0"/>
          </a:p>
        </p:txBody>
      </p:sp>
      <p:sp>
        <p:nvSpPr>
          <p:cNvPr id="31" name="Shape 28"/>
          <p:cNvSpPr/>
          <p:nvPr/>
        </p:nvSpPr>
        <p:spPr>
          <a:xfrm>
            <a:off x="2395728" y="3730752"/>
            <a:ext cx="658368" cy="219456"/>
          </a:xfrm>
          <a:prstGeom prst="roundRect">
            <a:avLst>
              <a:gd name="adj" fmla="val 50000"/>
            </a:avLst>
          </a:prstGeom>
          <a:solidFill>
            <a:srgbClr val="0A1F44"/>
          </a:solidFill>
          <a:ln w="6350">
            <a:solidFill>
              <a:srgbClr val="0A1F44"/>
            </a:solidFill>
            <a:prstDash val="solid"/>
          </a:ln>
        </p:spPr>
      </p:sp>
      <p:sp>
        <p:nvSpPr>
          <p:cNvPr id="32" name="Text 29"/>
          <p:cNvSpPr txBox="1"/>
          <p:nvPr/>
        </p:nvSpPr>
        <p:spPr>
          <a:xfrm>
            <a:off x="2395728" y="3730752"/>
            <a:ext cx="658368" cy="219456"/>
          </a:xfrm>
          <a:prstGeom prst="rect">
            <a:avLst/>
          </a:prstGeom>
          <a:noFill/>
          <a:ln/>
        </p:spPr>
        <p:txBody>
          <a:bodyPr wrap="square" lIns="0" tIns="0" rIns="0" bIns="0" rtlCol="0" anchor="ctr"/>
          <a:lstStyle/>
          <a:p>
            <a:pPr algn="ctr" indent="0" marL="0">
              <a:buNone/>
            </a:pPr>
            <a:r>
              <a:rPr lang="en-US" sz="850" b="1" dirty="0">
                <a:solidFill>
                  <a:srgbClr val="FFFFFF"/>
                </a:solidFill>
                <a:latin typeface="Inter" pitchFamily="34" charset="0"/>
                <a:ea typeface="Inter" pitchFamily="34" charset="-122"/>
                <a:cs typeface="Inter" pitchFamily="34" charset="-120"/>
              </a:rPr>
              <a:t>Gap</a:t>
            </a:r>
            <a:endParaRPr lang="en-US" sz="850" dirty="0"/>
          </a:p>
        </p:txBody>
      </p:sp>
      <p:sp>
        <p:nvSpPr>
          <p:cNvPr id="33" name="Text 30"/>
          <p:cNvSpPr txBox="1"/>
          <p:nvPr/>
        </p:nvSpPr>
        <p:spPr>
          <a:xfrm>
            <a:off x="3182112" y="3566160"/>
            <a:ext cx="3657600" cy="548640"/>
          </a:xfrm>
          <a:prstGeom prst="rect">
            <a:avLst/>
          </a:prstGeom>
          <a:noFill/>
          <a:ln/>
        </p:spPr>
        <p:txBody>
          <a:bodyPr wrap="square" lIns="0" tIns="0" rIns="0" bIns="0" rtlCol="0" anchor="ctr"/>
          <a:lstStyle/>
          <a:p>
            <a:pPr indent="0" marL="0">
              <a:buNone/>
            </a:pPr>
            <a:r>
              <a:rPr lang="en-US" sz="950" dirty="0">
                <a:solidFill>
                  <a:srgbClr val="0F172A"/>
                </a:solidFill>
                <a:latin typeface="Inter" pitchFamily="34" charset="0"/>
                <a:ea typeface="Inter" pitchFamily="34" charset="-122"/>
                <a:cs typeface="Inter" pitchFamily="34" charset="-120"/>
              </a:rPr>
              <a:t>CJA is new: one weekly council, one holdout rule</a:t>
            </a:r>
            <a:endParaRPr lang="en-US" sz="950" dirty="0"/>
          </a:p>
        </p:txBody>
      </p:sp>
      <p:sp>
        <p:nvSpPr>
          <p:cNvPr id="34" name="Shape 31"/>
          <p:cNvSpPr/>
          <p:nvPr/>
        </p:nvSpPr>
        <p:spPr>
          <a:xfrm>
            <a:off x="502920" y="4206240"/>
            <a:ext cx="6400800" cy="548640"/>
          </a:xfrm>
          <a:prstGeom prst="roundRect">
            <a:avLst>
              <a:gd name="adj" fmla="val 10000"/>
            </a:avLst>
          </a:prstGeom>
          <a:solidFill>
            <a:srgbClr val="FFFFFF"/>
          </a:solidFill>
          <a:ln w="9525">
            <a:solidFill>
              <a:srgbClr val="E2E8F0"/>
            </a:solidFill>
            <a:prstDash val="solid"/>
          </a:ln>
        </p:spPr>
      </p:sp>
      <p:sp>
        <p:nvSpPr>
          <p:cNvPr id="35" name="Shape 32"/>
          <p:cNvSpPr/>
          <p:nvPr/>
        </p:nvSpPr>
        <p:spPr>
          <a:xfrm>
            <a:off x="502920" y="4206240"/>
            <a:ext cx="64008" cy="548640"/>
          </a:xfrm>
          <a:prstGeom prst="rect">
            <a:avLst/>
          </a:prstGeom>
          <a:solidFill>
            <a:srgbClr val="60A5FA"/>
          </a:solidFill>
          <a:ln w="6350">
            <a:solidFill>
              <a:srgbClr val="60A5FA"/>
            </a:solidFill>
            <a:prstDash val="solid"/>
          </a:ln>
        </p:spPr>
      </p:sp>
      <p:sp>
        <p:nvSpPr>
          <p:cNvPr id="36" name="Text 33"/>
          <p:cNvSpPr txBox="1"/>
          <p:nvPr/>
        </p:nvSpPr>
        <p:spPr>
          <a:xfrm>
            <a:off x="685800" y="4206240"/>
            <a:ext cx="1691640" cy="548640"/>
          </a:xfrm>
          <a:prstGeom prst="rect">
            <a:avLst/>
          </a:prstGeom>
          <a:noFill/>
          <a:ln/>
        </p:spPr>
        <p:txBody>
          <a:bodyPr wrap="square" lIns="0" tIns="0" rIns="0" bIns="0" rtlCol="0" anchor="ctr"/>
          <a:lstStyle/>
          <a:p>
            <a:pPr indent="0" marL="0">
              <a:buNone/>
            </a:pPr>
            <a:r>
              <a:rPr lang="en-US" sz="1050" b="1" dirty="0">
                <a:solidFill>
                  <a:srgbClr val="0A1F44"/>
                </a:solidFill>
                <a:latin typeface="Inter" pitchFamily="34" charset="0"/>
                <a:ea typeface="Inter" pitchFamily="34" charset="-122"/>
                <a:cs typeface="Inter" pitchFamily="34" charset="-120"/>
              </a:rPr>
              <a:t>App</a:t>
            </a:r>
            <a:endParaRPr lang="en-US" sz="1050" dirty="0"/>
          </a:p>
        </p:txBody>
      </p:sp>
      <p:sp>
        <p:nvSpPr>
          <p:cNvPr id="37" name="Shape 34"/>
          <p:cNvSpPr/>
          <p:nvPr/>
        </p:nvSpPr>
        <p:spPr>
          <a:xfrm>
            <a:off x="2395728" y="4370832"/>
            <a:ext cx="658368" cy="219456"/>
          </a:xfrm>
          <a:prstGeom prst="roundRect">
            <a:avLst>
              <a:gd name="adj" fmla="val 50000"/>
            </a:avLst>
          </a:prstGeom>
          <a:solidFill>
            <a:srgbClr val="60A5FA"/>
          </a:solidFill>
          <a:ln w="6350">
            <a:solidFill>
              <a:srgbClr val="60A5FA"/>
            </a:solidFill>
            <a:prstDash val="solid"/>
          </a:ln>
        </p:spPr>
      </p:sp>
      <p:sp>
        <p:nvSpPr>
          <p:cNvPr id="38" name="Text 35"/>
          <p:cNvSpPr txBox="1"/>
          <p:nvPr/>
        </p:nvSpPr>
        <p:spPr>
          <a:xfrm>
            <a:off x="2395728" y="4370832"/>
            <a:ext cx="658368" cy="219456"/>
          </a:xfrm>
          <a:prstGeom prst="rect">
            <a:avLst/>
          </a:prstGeom>
          <a:noFill/>
          <a:ln/>
        </p:spPr>
        <p:txBody>
          <a:bodyPr wrap="square" lIns="0" tIns="0" rIns="0" bIns="0" rtlCol="0" anchor="ctr"/>
          <a:lstStyle/>
          <a:p>
            <a:pPr algn="ctr" indent="0" marL="0">
              <a:buNone/>
            </a:pPr>
            <a:r>
              <a:rPr lang="en-US" sz="850" b="1" dirty="0">
                <a:solidFill>
                  <a:srgbClr val="FFFFFF"/>
                </a:solidFill>
                <a:latin typeface="Inter" pitchFamily="34" charset="0"/>
                <a:ea typeface="Inter" pitchFamily="34" charset="-122"/>
                <a:cs typeface="Inter" pitchFamily="34" charset="-120"/>
              </a:rPr>
              <a:t>Partial</a:t>
            </a:r>
            <a:endParaRPr lang="en-US" sz="850" dirty="0"/>
          </a:p>
        </p:txBody>
      </p:sp>
      <p:sp>
        <p:nvSpPr>
          <p:cNvPr id="39" name="Text 36"/>
          <p:cNvSpPr txBox="1"/>
          <p:nvPr/>
        </p:nvSpPr>
        <p:spPr>
          <a:xfrm>
            <a:off x="3182112" y="4206240"/>
            <a:ext cx="3657600" cy="548640"/>
          </a:xfrm>
          <a:prstGeom prst="rect">
            <a:avLst/>
          </a:prstGeom>
          <a:noFill/>
          <a:ln/>
        </p:spPr>
        <p:txBody>
          <a:bodyPr wrap="square" lIns="0" tIns="0" rIns="0" bIns="0" rtlCol="0" anchor="ctr"/>
          <a:lstStyle/>
          <a:p>
            <a:pPr indent="0" marL="0">
              <a:buNone/>
            </a:pPr>
            <a:r>
              <a:rPr lang="en-US" sz="950" dirty="0">
                <a:solidFill>
                  <a:srgbClr val="0F172A"/>
                </a:solidFill>
                <a:latin typeface="Inter" pitchFamily="34" charset="0"/>
                <a:ea typeface="Inter" pitchFamily="34" charset="-122"/>
                <a:cs typeface="Inter" pitchFamily="34" charset="-120"/>
              </a:rPr>
              <a:t>22% of sessions (Exhibit A): add tracking and restock alerts</a:t>
            </a:r>
            <a:endParaRPr lang="en-US" sz="950" dirty="0"/>
          </a:p>
        </p:txBody>
      </p:sp>
      <p:sp>
        <p:nvSpPr>
          <p:cNvPr id="40" name="Shape 37"/>
          <p:cNvSpPr/>
          <p:nvPr/>
        </p:nvSpPr>
        <p:spPr>
          <a:xfrm>
            <a:off x="502920" y="4846320"/>
            <a:ext cx="6400800" cy="548640"/>
          </a:xfrm>
          <a:prstGeom prst="roundRect">
            <a:avLst>
              <a:gd name="adj" fmla="val 10000"/>
            </a:avLst>
          </a:prstGeom>
          <a:solidFill>
            <a:srgbClr val="FFFFFF"/>
          </a:solidFill>
          <a:ln w="9525">
            <a:solidFill>
              <a:srgbClr val="E2E8F0"/>
            </a:solidFill>
            <a:prstDash val="solid"/>
          </a:ln>
        </p:spPr>
      </p:sp>
      <p:sp>
        <p:nvSpPr>
          <p:cNvPr id="41" name="Shape 38"/>
          <p:cNvSpPr/>
          <p:nvPr/>
        </p:nvSpPr>
        <p:spPr>
          <a:xfrm>
            <a:off x="502920" y="4846320"/>
            <a:ext cx="64008" cy="548640"/>
          </a:xfrm>
          <a:prstGeom prst="rect">
            <a:avLst/>
          </a:prstGeom>
          <a:solidFill>
            <a:srgbClr val="60A5FA"/>
          </a:solidFill>
          <a:ln w="6350">
            <a:solidFill>
              <a:srgbClr val="60A5FA"/>
            </a:solidFill>
            <a:prstDash val="solid"/>
          </a:ln>
        </p:spPr>
      </p:sp>
      <p:sp>
        <p:nvSpPr>
          <p:cNvPr id="42" name="Text 39"/>
          <p:cNvSpPr txBox="1"/>
          <p:nvPr/>
        </p:nvSpPr>
        <p:spPr>
          <a:xfrm>
            <a:off x="685800" y="4846320"/>
            <a:ext cx="1691640" cy="548640"/>
          </a:xfrm>
          <a:prstGeom prst="rect">
            <a:avLst/>
          </a:prstGeom>
          <a:noFill/>
          <a:ln/>
        </p:spPr>
        <p:txBody>
          <a:bodyPr wrap="square" lIns="0" tIns="0" rIns="0" bIns="0" rtlCol="0" anchor="ctr"/>
          <a:lstStyle/>
          <a:p>
            <a:pPr indent="0" marL="0">
              <a:buNone/>
            </a:pPr>
            <a:r>
              <a:rPr lang="en-US" sz="1050" b="1" dirty="0">
                <a:solidFill>
                  <a:srgbClr val="0A1F44"/>
                </a:solidFill>
                <a:latin typeface="Inter" pitchFamily="34" charset="0"/>
                <a:ea typeface="Inter" pitchFamily="34" charset="-122"/>
                <a:cs typeface="Inter" pitchFamily="34" charset="-120"/>
              </a:rPr>
              <a:t>Shipping events</a:t>
            </a:r>
            <a:endParaRPr lang="en-US" sz="1050" dirty="0"/>
          </a:p>
        </p:txBody>
      </p:sp>
      <p:sp>
        <p:nvSpPr>
          <p:cNvPr id="43" name="Shape 40"/>
          <p:cNvSpPr/>
          <p:nvPr/>
        </p:nvSpPr>
        <p:spPr>
          <a:xfrm>
            <a:off x="2395728" y="5010912"/>
            <a:ext cx="658368" cy="219456"/>
          </a:xfrm>
          <a:prstGeom prst="roundRect">
            <a:avLst>
              <a:gd name="adj" fmla="val 50000"/>
            </a:avLst>
          </a:prstGeom>
          <a:solidFill>
            <a:srgbClr val="60A5FA"/>
          </a:solidFill>
          <a:ln w="6350">
            <a:solidFill>
              <a:srgbClr val="60A5FA"/>
            </a:solidFill>
            <a:prstDash val="solid"/>
          </a:ln>
        </p:spPr>
      </p:sp>
      <p:sp>
        <p:nvSpPr>
          <p:cNvPr id="44" name="Text 41"/>
          <p:cNvSpPr txBox="1"/>
          <p:nvPr/>
        </p:nvSpPr>
        <p:spPr>
          <a:xfrm>
            <a:off x="2395728" y="5010912"/>
            <a:ext cx="658368" cy="219456"/>
          </a:xfrm>
          <a:prstGeom prst="rect">
            <a:avLst/>
          </a:prstGeom>
          <a:noFill/>
          <a:ln/>
        </p:spPr>
        <p:txBody>
          <a:bodyPr wrap="square" lIns="0" tIns="0" rIns="0" bIns="0" rtlCol="0" anchor="ctr"/>
          <a:lstStyle/>
          <a:p>
            <a:pPr algn="ctr" indent="0" marL="0">
              <a:buNone/>
            </a:pPr>
            <a:r>
              <a:rPr lang="en-US" sz="850" b="1" dirty="0">
                <a:solidFill>
                  <a:srgbClr val="FFFFFF"/>
                </a:solidFill>
                <a:latin typeface="Inter" pitchFamily="34" charset="0"/>
                <a:ea typeface="Inter" pitchFamily="34" charset="-122"/>
                <a:cs typeface="Inter" pitchFamily="34" charset="-120"/>
              </a:rPr>
              <a:t>Partial</a:t>
            </a:r>
            <a:endParaRPr lang="en-US" sz="850" dirty="0"/>
          </a:p>
        </p:txBody>
      </p:sp>
      <p:sp>
        <p:nvSpPr>
          <p:cNvPr id="45" name="Text 42"/>
          <p:cNvSpPr txBox="1"/>
          <p:nvPr/>
        </p:nvSpPr>
        <p:spPr>
          <a:xfrm>
            <a:off x="3182112" y="4846320"/>
            <a:ext cx="3657600" cy="548640"/>
          </a:xfrm>
          <a:prstGeom prst="rect">
            <a:avLst/>
          </a:prstGeom>
          <a:noFill/>
          <a:ln/>
        </p:spPr>
        <p:txBody>
          <a:bodyPr wrap="square" lIns="0" tIns="0" rIns="0" bIns="0" rtlCol="0" anchor="ctr"/>
          <a:lstStyle/>
          <a:p>
            <a:pPr indent="0" marL="0">
              <a:buNone/>
            </a:pPr>
            <a:r>
              <a:rPr lang="en-US" sz="950" dirty="0">
                <a:solidFill>
                  <a:srgbClr val="0F172A"/>
                </a:solidFill>
                <a:latin typeface="Inter" pitchFamily="34" charset="0"/>
                <a:ea typeface="Inter" pitchFamily="34" charset="-122"/>
                <a:cs typeface="Inter" pitchFamily="34" charset="-120"/>
              </a:rPr>
              <a:t>Quince ships direct: confirm 3PL events carry the order ID</a:t>
            </a:r>
            <a:endParaRPr lang="en-US" sz="950" dirty="0"/>
          </a:p>
        </p:txBody>
      </p:sp>
      <p:sp>
        <p:nvSpPr>
          <p:cNvPr id="46" name="Shape 43"/>
          <p:cNvSpPr/>
          <p:nvPr/>
        </p:nvSpPr>
        <p:spPr>
          <a:xfrm>
            <a:off x="502920" y="5486400"/>
            <a:ext cx="6400800" cy="548640"/>
          </a:xfrm>
          <a:prstGeom prst="roundRect">
            <a:avLst>
              <a:gd name="adj" fmla="val 10000"/>
            </a:avLst>
          </a:prstGeom>
          <a:solidFill>
            <a:srgbClr val="FFFFFF"/>
          </a:solidFill>
          <a:ln w="9525">
            <a:solidFill>
              <a:srgbClr val="E2E8F0"/>
            </a:solidFill>
            <a:prstDash val="solid"/>
          </a:ln>
        </p:spPr>
      </p:sp>
      <p:sp>
        <p:nvSpPr>
          <p:cNvPr id="47" name="Shape 44"/>
          <p:cNvSpPr/>
          <p:nvPr/>
        </p:nvSpPr>
        <p:spPr>
          <a:xfrm>
            <a:off x="502920" y="5486400"/>
            <a:ext cx="64008" cy="548640"/>
          </a:xfrm>
          <a:prstGeom prst="rect">
            <a:avLst/>
          </a:prstGeom>
          <a:solidFill>
            <a:srgbClr val="60A5FA"/>
          </a:solidFill>
          <a:ln w="6350">
            <a:solidFill>
              <a:srgbClr val="60A5FA"/>
            </a:solidFill>
            <a:prstDash val="solid"/>
          </a:ln>
        </p:spPr>
      </p:sp>
      <p:sp>
        <p:nvSpPr>
          <p:cNvPr id="48" name="Text 45"/>
          <p:cNvSpPr txBox="1"/>
          <p:nvPr/>
        </p:nvSpPr>
        <p:spPr>
          <a:xfrm>
            <a:off x="685800" y="5486400"/>
            <a:ext cx="1691640" cy="548640"/>
          </a:xfrm>
          <a:prstGeom prst="rect">
            <a:avLst/>
          </a:prstGeom>
          <a:noFill/>
          <a:ln/>
        </p:spPr>
        <p:txBody>
          <a:bodyPr wrap="square" lIns="0" tIns="0" rIns="0" bIns="0" rtlCol="0" anchor="ctr"/>
          <a:lstStyle/>
          <a:p>
            <a:pPr indent="0" marL="0">
              <a:buNone/>
            </a:pPr>
            <a:r>
              <a:rPr lang="en-US" sz="1050" b="1" dirty="0">
                <a:solidFill>
                  <a:srgbClr val="0A1F44"/>
                </a:solidFill>
                <a:latin typeface="Inter" pitchFamily="34" charset="0"/>
                <a:ea typeface="Inter" pitchFamily="34" charset="-122"/>
                <a:cs typeface="Inter" pitchFamily="34" charset="-120"/>
              </a:rPr>
              <a:t>Privacy and consent</a:t>
            </a:r>
            <a:endParaRPr lang="en-US" sz="1050" dirty="0"/>
          </a:p>
        </p:txBody>
      </p:sp>
      <p:sp>
        <p:nvSpPr>
          <p:cNvPr id="49" name="Shape 46"/>
          <p:cNvSpPr/>
          <p:nvPr/>
        </p:nvSpPr>
        <p:spPr>
          <a:xfrm>
            <a:off x="2395728" y="5650992"/>
            <a:ext cx="658368" cy="219456"/>
          </a:xfrm>
          <a:prstGeom prst="roundRect">
            <a:avLst>
              <a:gd name="adj" fmla="val 50000"/>
            </a:avLst>
          </a:prstGeom>
          <a:solidFill>
            <a:srgbClr val="60A5FA"/>
          </a:solidFill>
          <a:ln w="6350">
            <a:solidFill>
              <a:srgbClr val="60A5FA"/>
            </a:solidFill>
            <a:prstDash val="solid"/>
          </a:ln>
        </p:spPr>
      </p:sp>
      <p:sp>
        <p:nvSpPr>
          <p:cNvPr id="50" name="Text 47"/>
          <p:cNvSpPr txBox="1"/>
          <p:nvPr/>
        </p:nvSpPr>
        <p:spPr>
          <a:xfrm>
            <a:off x="2395728" y="5650992"/>
            <a:ext cx="658368" cy="219456"/>
          </a:xfrm>
          <a:prstGeom prst="rect">
            <a:avLst/>
          </a:prstGeom>
          <a:noFill/>
          <a:ln/>
        </p:spPr>
        <p:txBody>
          <a:bodyPr wrap="square" lIns="0" tIns="0" rIns="0" bIns="0" rtlCol="0" anchor="ctr"/>
          <a:lstStyle/>
          <a:p>
            <a:pPr algn="ctr" indent="0" marL="0">
              <a:buNone/>
            </a:pPr>
            <a:r>
              <a:rPr lang="en-US" sz="850" b="1" dirty="0">
                <a:solidFill>
                  <a:srgbClr val="FFFFFF"/>
                </a:solidFill>
                <a:latin typeface="Inter" pitchFamily="34" charset="0"/>
                <a:ea typeface="Inter" pitchFamily="34" charset="-122"/>
                <a:cs typeface="Inter" pitchFamily="34" charset="-120"/>
              </a:rPr>
              <a:t>Partial</a:t>
            </a:r>
            <a:endParaRPr lang="en-US" sz="850" dirty="0"/>
          </a:p>
        </p:txBody>
      </p:sp>
      <p:sp>
        <p:nvSpPr>
          <p:cNvPr id="51" name="Text 48"/>
          <p:cNvSpPr txBox="1"/>
          <p:nvPr/>
        </p:nvSpPr>
        <p:spPr>
          <a:xfrm>
            <a:off x="3182112" y="5486400"/>
            <a:ext cx="3657600" cy="548640"/>
          </a:xfrm>
          <a:prstGeom prst="rect">
            <a:avLst/>
          </a:prstGeom>
          <a:noFill/>
          <a:ln/>
        </p:spPr>
        <p:txBody>
          <a:bodyPr wrap="square" lIns="0" tIns="0" rIns="0" bIns="0" rtlCol="0" anchor="ctr"/>
          <a:lstStyle/>
          <a:p>
            <a:pPr indent="0" marL="0">
              <a:buNone/>
            </a:pPr>
            <a:r>
              <a:rPr lang="en-US" sz="950" dirty="0">
                <a:solidFill>
                  <a:srgbClr val="0F172A"/>
                </a:solidFill>
                <a:latin typeface="Inter" pitchFamily="34" charset="0"/>
                <a:ea typeface="Inter" pitchFamily="34" charset="-122"/>
                <a:cs typeface="Inter" pitchFamily="34" charset="-120"/>
              </a:rPr>
              <a:t>CCPA: split transactional and marketing SMS consent</a:t>
            </a:r>
            <a:endParaRPr lang="en-US" sz="950" dirty="0"/>
          </a:p>
        </p:txBody>
      </p:sp>
      <p:sp>
        <p:nvSpPr>
          <p:cNvPr id="52" name="Text 49"/>
          <p:cNvSpPr txBox="1"/>
          <p:nvPr/>
        </p:nvSpPr>
        <p:spPr>
          <a:xfrm>
            <a:off x="7178040" y="1234440"/>
            <a:ext cx="4507992" cy="274320"/>
          </a:xfrm>
          <a:prstGeom prst="rect">
            <a:avLst/>
          </a:prstGeom>
          <a:noFill/>
          <a:ln/>
        </p:spPr>
        <p:txBody>
          <a:bodyPr wrap="square" lIns="0" tIns="0" rIns="0" bIns="0" rtlCol="0" anchor="t"/>
          <a:lstStyle/>
          <a:p>
            <a:pPr indent="0" marL="0">
              <a:buNone/>
            </a:pPr>
            <a:r>
              <a:rPr lang="en-US" sz="1250" b="1" dirty="0">
                <a:solidFill>
                  <a:srgbClr val="0A1F44"/>
                </a:solidFill>
                <a:latin typeface="Inter" pitchFamily="34" charset="0"/>
                <a:ea typeface="Inter" pitchFamily="34" charset="-122"/>
                <a:cs typeface="Inter" pitchFamily="34" charset="-120"/>
              </a:rPr>
              <a:t>How shipping events become journeys</a:t>
            </a:r>
            <a:endParaRPr lang="en-US" sz="1250" dirty="0"/>
          </a:p>
        </p:txBody>
      </p:sp>
      <p:sp>
        <p:nvSpPr>
          <p:cNvPr id="53" name="Text 50"/>
          <p:cNvSpPr txBox="1"/>
          <p:nvPr/>
        </p:nvSpPr>
        <p:spPr>
          <a:xfrm>
            <a:off x="7178040" y="1508760"/>
            <a:ext cx="4507992" cy="219456"/>
          </a:xfrm>
          <a:prstGeom prst="rect">
            <a:avLst/>
          </a:prstGeom>
          <a:noFill/>
          <a:ln/>
        </p:spPr>
        <p:txBody>
          <a:bodyPr wrap="square" lIns="0" tIns="0" rIns="0" bIns="0" rtlCol="0" anchor="t"/>
          <a:lstStyle/>
          <a:p>
            <a:pPr indent="0" marL="0">
              <a:buNone/>
            </a:pPr>
            <a:r>
              <a:rPr lang="en-US" sz="950" dirty="0">
                <a:solidFill>
                  <a:srgbClr val="64748B"/>
                </a:solidFill>
                <a:latin typeface="Inter" pitchFamily="34" charset="0"/>
                <a:ea typeface="Inter" pitchFamily="34" charset="-122"/>
                <a:cs typeface="Inter" pitchFamily="34" charset="-120"/>
              </a:rPr>
              <a:t>Material Journeys, end to end (appendix 24)</a:t>
            </a:r>
            <a:endParaRPr lang="en-US" sz="950" dirty="0"/>
          </a:p>
        </p:txBody>
      </p:sp>
      <p:sp>
        <p:nvSpPr>
          <p:cNvPr id="54" name="Shape 51"/>
          <p:cNvSpPr/>
          <p:nvPr/>
        </p:nvSpPr>
        <p:spPr>
          <a:xfrm>
            <a:off x="7178040" y="1810512"/>
            <a:ext cx="4507992" cy="658368"/>
          </a:xfrm>
          <a:prstGeom prst="roundRect">
            <a:avLst>
              <a:gd name="adj" fmla="val 8333"/>
            </a:avLst>
          </a:prstGeom>
          <a:solidFill>
            <a:srgbClr val="0A1F44"/>
          </a:solidFill>
          <a:ln w="6350">
            <a:solidFill>
              <a:srgbClr val="0A1F44"/>
            </a:solidFill>
            <a:prstDash val="solid"/>
          </a:ln>
        </p:spPr>
      </p:sp>
      <p:pic>
        <p:nvPicPr>
          <p:cNvPr id="55" name="Image 1" descr="preencoded.png">    </p:cNvPr>
          <p:cNvPicPr>
            <a:picLocks noChangeAspect="1"/>
          </p:cNvPicPr>
          <p:nvPr/>
        </p:nvPicPr>
        <p:blipFill>
          <a:blip r:embed="rId2"/>
          <a:stretch>
            <a:fillRect/>
          </a:stretch>
        </p:blipFill>
        <p:spPr>
          <a:xfrm>
            <a:off x="7315200" y="1947672"/>
            <a:ext cx="292608" cy="292608"/>
          </a:xfrm>
          <a:prstGeom prst="rect">
            <a:avLst/>
          </a:prstGeom>
        </p:spPr>
      </p:pic>
      <p:sp>
        <p:nvSpPr>
          <p:cNvPr id="56" name="Text 52"/>
          <p:cNvSpPr txBox="1"/>
          <p:nvPr/>
        </p:nvSpPr>
        <p:spPr>
          <a:xfrm>
            <a:off x="7726680" y="1810512"/>
            <a:ext cx="3867912" cy="658368"/>
          </a:xfrm>
          <a:prstGeom prst="rect">
            <a:avLst/>
          </a:prstGeom>
          <a:noFill/>
          <a:ln/>
        </p:spPr>
        <p:txBody>
          <a:bodyPr wrap="square" lIns="0" tIns="0" rIns="0" bIns="0" rtlCol="0" anchor="ctr"/>
          <a:lstStyle/>
          <a:p>
            <a:pPr indent="0" marL="0">
              <a:buNone/>
            </a:pPr>
            <a:r>
              <a:rPr lang="en-US" sz="1100" b="1" dirty="0">
                <a:solidFill>
                  <a:srgbClr val="FFFFFF"/>
                </a:solidFill>
                <a:latin typeface="Inter" pitchFamily="34" charset="0"/>
                <a:ea typeface="Inter" pitchFamily="34" charset="-122"/>
                <a:cs typeface="Inter" pitchFamily="34" charset="-120"/>
              </a:rPr>
              <a:t>Factories and 3PL</a:t>
            </a:r>
            <a:endParaRPr lang="en-US" sz="1200" dirty="0"/>
          </a:p>
          <a:p>
            <a:pPr indent="0" marL="0">
              <a:buNone/>
            </a:pPr>
            <a:r>
              <a:rPr lang="en-US" sz="900" dirty="0">
                <a:solidFill>
                  <a:srgbClr val="FFFFFF"/>
                </a:solidFill>
                <a:latin typeface="Inter" pitchFamily="34" charset="0"/>
                <a:ea typeface="Inter" pitchFamily="34" charset="-122"/>
                <a:cs typeface="Inter" pitchFamily="34" charset="-120"/>
              </a:rPr>
              <a:t>shipped · in transit · delivered</a:t>
            </a:r>
            <a:endParaRPr lang="en-US" sz="1200" dirty="0"/>
          </a:p>
        </p:txBody>
      </p:sp>
      <p:sp>
        <p:nvSpPr>
          <p:cNvPr id="57" name="Shape 53"/>
          <p:cNvSpPr/>
          <p:nvPr/>
        </p:nvSpPr>
        <p:spPr>
          <a:xfrm>
            <a:off x="9340596" y="2487168"/>
            <a:ext cx="182880" cy="173736"/>
          </a:xfrm>
          <a:prstGeom prst="downArrow">
            <a:avLst/>
          </a:prstGeom>
          <a:solidFill>
            <a:srgbClr val="94A3B8"/>
          </a:solidFill>
          <a:ln w="6350">
            <a:solidFill>
              <a:srgbClr val="94A3B8"/>
            </a:solidFill>
            <a:prstDash val="solid"/>
          </a:ln>
        </p:spPr>
      </p:sp>
      <p:sp>
        <p:nvSpPr>
          <p:cNvPr id="58" name="Shape 54"/>
          <p:cNvSpPr/>
          <p:nvPr/>
        </p:nvSpPr>
        <p:spPr>
          <a:xfrm>
            <a:off x="7178040" y="2679192"/>
            <a:ext cx="4507992" cy="658368"/>
          </a:xfrm>
          <a:prstGeom prst="roundRect">
            <a:avLst>
              <a:gd name="adj" fmla="val 8333"/>
            </a:avLst>
          </a:prstGeom>
          <a:solidFill>
            <a:srgbClr val="1D4ED8"/>
          </a:solidFill>
          <a:ln w="6350">
            <a:solidFill>
              <a:srgbClr val="1D4ED8"/>
            </a:solidFill>
            <a:prstDash val="solid"/>
          </a:ln>
        </p:spPr>
      </p:sp>
      <p:pic>
        <p:nvPicPr>
          <p:cNvPr id="59" name="Image 2" descr="preencoded.png">    </p:cNvPr>
          <p:cNvPicPr>
            <a:picLocks noChangeAspect="1"/>
          </p:cNvPicPr>
          <p:nvPr/>
        </p:nvPicPr>
        <p:blipFill>
          <a:blip r:embed="rId3"/>
          <a:stretch>
            <a:fillRect/>
          </a:stretch>
        </p:blipFill>
        <p:spPr>
          <a:xfrm>
            <a:off x="7315200" y="2816352"/>
            <a:ext cx="292608" cy="292608"/>
          </a:xfrm>
          <a:prstGeom prst="rect">
            <a:avLst/>
          </a:prstGeom>
        </p:spPr>
      </p:pic>
      <p:sp>
        <p:nvSpPr>
          <p:cNvPr id="60" name="Text 55"/>
          <p:cNvSpPr txBox="1"/>
          <p:nvPr/>
        </p:nvSpPr>
        <p:spPr>
          <a:xfrm>
            <a:off x="7726680" y="2679192"/>
            <a:ext cx="3867912" cy="658368"/>
          </a:xfrm>
          <a:prstGeom prst="rect">
            <a:avLst/>
          </a:prstGeom>
          <a:noFill/>
          <a:ln/>
        </p:spPr>
        <p:txBody>
          <a:bodyPr wrap="square" lIns="0" tIns="0" rIns="0" bIns="0" rtlCol="0" anchor="ctr"/>
          <a:lstStyle/>
          <a:p>
            <a:pPr indent="0" marL="0">
              <a:buNone/>
            </a:pPr>
            <a:r>
              <a:rPr lang="en-US" sz="1100" b="1" dirty="0">
                <a:solidFill>
                  <a:srgbClr val="FFFFFF"/>
                </a:solidFill>
                <a:latin typeface="Inter" pitchFamily="34" charset="0"/>
                <a:ea typeface="Inter" pitchFamily="34" charset="-122"/>
                <a:cs typeface="Inter" pitchFamily="34" charset="-120"/>
              </a:rPr>
              <a:t>Order and fulfillment events</a:t>
            </a:r>
            <a:endParaRPr lang="en-US" sz="1200" dirty="0"/>
          </a:p>
          <a:p>
            <a:pPr indent="0" marL="0">
              <a:buNone/>
            </a:pPr>
            <a:r>
              <a:rPr lang="en-US" sz="900" dirty="0">
                <a:solidFill>
                  <a:srgbClr val="FFFFFF"/>
                </a:solidFill>
                <a:latin typeface="Inter" pitchFamily="34" charset="0"/>
                <a:ea typeface="Inter" pitchFamily="34" charset="-122"/>
                <a:cs typeface="Inter" pitchFamily="34" charset="-120"/>
              </a:rPr>
              <a:t>keyed to the order ID</a:t>
            </a:r>
            <a:endParaRPr lang="en-US" sz="1200" dirty="0"/>
          </a:p>
        </p:txBody>
      </p:sp>
      <p:sp>
        <p:nvSpPr>
          <p:cNvPr id="61" name="Shape 56"/>
          <p:cNvSpPr/>
          <p:nvPr/>
        </p:nvSpPr>
        <p:spPr>
          <a:xfrm>
            <a:off x="9340596" y="3355848"/>
            <a:ext cx="182880" cy="173736"/>
          </a:xfrm>
          <a:prstGeom prst="downArrow">
            <a:avLst/>
          </a:prstGeom>
          <a:solidFill>
            <a:srgbClr val="94A3B8"/>
          </a:solidFill>
          <a:ln w="6350">
            <a:solidFill>
              <a:srgbClr val="94A3B8"/>
            </a:solidFill>
            <a:prstDash val="solid"/>
          </a:ln>
        </p:spPr>
      </p:sp>
      <p:sp>
        <p:nvSpPr>
          <p:cNvPr id="62" name="Shape 57"/>
          <p:cNvSpPr/>
          <p:nvPr/>
        </p:nvSpPr>
        <p:spPr>
          <a:xfrm>
            <a:off x="7178040" y="3547872"/>
            <a:ext cx="4507992" cy="658368"/>
          </a:xfrm>
          <a:prstGeom prst="roundRect">
            <a:avLst>
              <a:gd name="adj" fmla="val 8333"/>
            </a:avLst>
          </a:prstGeom>
          <a:solidFill>
            <a:srgbClr val="2563EB"/>
          </a:solidFill>
          <a:ln w="6350">
            <a:solidFill>
              <a:srgbClr val="2563EB"/>
            </a:solidFill>
            <a:prstDash val="solid"/>
          </a:ln>
        </p:spPr>
      </p:sp>
      <p:pic>
        <p:nvPicPr>
          <p:cNvPr id="63" name="Image 3" descr="preencoded.png">    </p:cNvPr>
          <p:cNvPicPr>
            <a:picLocks noChangeAspect="1"/>
          </p:cNvPicPr>
          <p:nvPr/>
        </p:nvPicPr>
        <p:blipFill>
          <a:blip r:embed="rId4"/>
          <a:stretch>
            <a:fillRect/>
          </a:stretch>
        </p:blipFill>
        <p:spPr>
          <a:xfrm>
            <a:off x="7315200" y="3685032"/>
            <a:ext cx="292608" cy="292608"/>
          </a:xfrm>
          <a:prstGeom prst="rect">
            <a:avLst/>
          </a:prstGeom>
        </p:spPr>
      </p:pic>
      <p:sp>
        <p:nvSpPr>
          <p:cNvPr id="64" name="Text 58"/>
          <p:cNvSpPr txBox="1"/>
          <p:nvPr/>
        </p:nvSpPr>
        <p:spPr>
          <a:xfrm>
            <a:off x="7726680" y="3547872"/>
            <a:ext cx="3867912" cy="658368"/>
          </a:xfrm>
          <a:prstGeom prst="rect">
            <a:avLst/>
          </a:prstGeom>
          <a:noFill/>
          <a:ln/>
        </p:spPr>
        <p:txBody>
          <a:bodyPr wrap="square" lIns="0" tIns="0" rIns="0" bIns="0" rtlCol="0" anchor="ctr"/>
          <a:lstStyle/>
          <a:p>
            <a:pPr indent="0" marL="0">
              <a:buNone/>
            </a:pPr>
            <a:r>
              <a:rPr lang="en-US" sz="1100" b="1" dirty="0">
                <a:solidFill>
                  <a:srgbClr val="FFFFFF"/>
                </a:solidFill>
                <a:latin typeface="Inter" pitchFamily="34" charset="0"/>
                <a:ea typeface="Inter" pitchFamily="34" charset="-122"/>
                <a:cs typeface="Inter" pitchFamily="34" charset="-120"/>
              </a:rPr>
              <a:t>Adobe CJA person ID</a:t>
            </a:r>
            <a:endParaRPr lang="en-US" sz="1200" dirty="0"/>
          </a:p>
          <a:p>
            <a:pPr indent="0" marL="0">
              <a:buNone/>
            </a:pPr>
            <a:r>
              <a:rPr lang="en-US" sz="900" dirty="0">
                <a:solidFill>
                  <a:srgbClr val="FFFFFF"/>
                </a:solidFill>
                <a:latin typeface="Inter" pitchFamily="34" charset="0"/>
                <a:ea typeface="Inter" pitchFamily="34" charset="-122"/>
                <a:cs typeface="Inter" pitchFamily="34" charset="-120"/>
              </a:rPr>
              <a:t>order → person → audience</a:t>
            </a:r>
            <a:endParaRPr lang="en-US" sz="1200" dirty="0"/>
          </a:p>
        </p:txBody>
      </p:sp>
      <p:sp>
        <p:nvSpPr>
          <p:cNvPr id="65" name="Shape 59"/>
          <p:cNvSpPr/>
          <p:nvPr/>
        </p:nvSpPr>
        <p:spPr>
          <a:xfrm>
            <a:off x="9340596" y="4224528"/>
            <a:ext cx="182880" cy="173736"/>
          </a:xfrm>
          <a:prstGeom prst="downArrow">
            <a:avLst/>
          </a:prstGeom>
          <a:solidFill>
            <a:srgbClr val="94A3B8"/>
          </a:solidFill>
          <a:ln w="6350">
            <a:solidFill>
              <a:srgbClr val="94A3B8"/>
            </a:solidFill>
            <a:prstDash val="solid"/>
          </a:ln>
        </p:spPr>
      </p:sp>
      <p:sp>
        <p:nvSpPr>
          <p:cNvPr id="66" name="Shape 60"/>
          <p:cNvSpPr/>
          <p:nvPr/>
        </p:nvSpPr>
        <p:spPr>
          <a:xfrm>
            <a:off x="7178040" y="4416552"/>
            <a:ext cx="4507992" cy="658368"/>
          </a:xfrm>
          <a:prstGeom prst="roundRect">
            <a:avLst>
              <a:gd name="adj" fmla="val 8333"/>
            </a:avLst>
          </a:prstGeom>
          <a:solidFill>
            <a:srgbClr val="3B82F6"/>
          </a:solidFill>
          <a:ln w="6350">
            <a:solidFill>
              <a:srgbClr val="3B82F6"/>
            </a:solidFill>
            <a:prstDash val="solid"/>
          </a:ln>
        </p:spPr>
      </p:sp>
      <p:pic>
        <p:nvPicPr>
          <p:cNvPr id="67" name="Image 4" descr="preencoded.png">    </p:cNvPr>
          <p:cNvPicPr>
            <a:picLocks noChangeAspect="1"/>
          </p:cNvPicPr>
          <p:nvPr/>
        </p:nvPicPr>
        <p:blipFill>
          <a:blip r:embed="rId5"/>
          <a:stretch>
            <a:fillRect/>
          </a:stretch>
        </p:blipFill>
        <p:spPr>
          <a:xfrm>
            <a:off x="7315200" y="4553712"/>
            <a:ext cx="292608" cy="292608"/>
          </a:xfrm>
          <a:prstGeom prst="rect">
            <a:avLst/>
          </a:prstGeom>
        </p:spPr>
      </p:pic>
      <p:sp>
        <p:nvSpPr>
          <p:cNvPr id="68" name="Text 61"/>
          <p:cNvSpPr txBox="1"/>
          <p:nvPr/>
        </p:nvSpPr>
        <p:spPr>
          <a:xfrm>
            <a:off x="7726680" y="4416552"/>
            <a:ext cx="3867912" cy="658368"/>
          </a:xfrm>
          <a:prstGeom prst="rect">
            <a:avLst/>
          </a:prstGeom>
          <a:noFill/>
          <a:ln/>
        </p:spPr>
        <p:txBody>
          <a:bodyPr wrap="square" lIns="0" tIns="0" rIns="0" bIns="0" rtlCol="0" anchor="ctr"/>
          <a:lstStyle/>
          <a:p>
            <a:pPr indent="0" marL="0">
              <a:buNone/>
            </a:pPr>
            <a:r>
              <a:rPr lang="en-US" sz="1100" b="1" dirty="0">
                <a:solidFill>
                  <a:srgbClr val="FFFFFF"/>
                </a:solidFill>
                <a:latin typeface="Inter" pitchFamily="34" charset="0"/>
                <a:ea typeface="Inter" pitchFamily="34" charset="-122"/>
                <a:cs typeface="Inter" pitchFamily="34" charset="-120"/>
              </a:rPr>
              <a:t>Journey Optimizer triggers</a:t>
            </a:r>
            <a:endParaRPr lang="en-US" sz="1200" dirty="0"/>
          </a:p>
          <a:p>
            <a:pPr indent="0" marL="0">
              <a:buNone/>
            </a:pPr>
            <a:r>
              <a:rPr lang="en-US" sz="900" dirty="0">
                <a:solidFill>
                  <a:srgbClr val="FFFFFF"/>
                </a:solidFill>
                <a:latin typeface="Inter" pitchFamily="34" charset="0"/>
                <a:ea typeface="Inter" pitchFamily="34" charset="-122"/>
                <a:cs typeface="Inter" pitchFamily="34" charset="-120"/>
              </a:rPr>
              <a:t>care · delivery ask · day 21</a:t>
            </a:r>
            <a:endParaRPr lang="en-US" sz="1200" dirty="0"/>
          </a:p>
        </p:txBody>
      </p:sp>
      <p:sp>
        <p:nvSpPr>
          <p:cNvPr id="69" name="Shape 62"/>
          <p:cNvSpPr/>
          <p:nvPr/>
        </p:nvSpPr>
        <p:spPr>
          <a:xfrm>
            <a:off x="9340596" y="5093208"/>
            <a:ext cx="182880" cy="173736"/>
          </a:xfrm>
          <a:prstGeom prst="downArrow">
            <a:avLst/>
          </a:prstGeom>
          <a:solidFill>
            <a:srgbClr val="94A3B8"/>
          </a:solidFill>
          <a:ln w="6350">
            <a:solidFill>
              <a:srgbClr val="94A3B8"/>
            </a:solidFill>
            <a:prstDash val="solid"/>
          </a:ln>
        </p:spPr>
      </p:sp>
      <p:sp>
        <p:nvSpPr>
          <p:cNvPr id="70" name="Shape 63"/>
          <p:cNvSpPr/>
          <p:nvPr/>
        </p:nvSpPr>
        <p:spPr>
          <a:xfrm>
            <a:off x="7178040" y="5285232"/>
            <a:ext cx="4507992" cy="658368"/>
          </a:xfrm>
          <a:prstGeom prst="roundRect">
            <a:avLst>
              <a:gd name="adj" fmla="val 8333"/>
            </a:avLst>
          </a:prstGeom>
          <a:solidFill>
            <a:srgbClr val="60A5FA"/>
          </a:solidFill>
          <a:ln w="6350">
            <a:solidFill>
              <a:srgbClr val="60A5FA"/>
            </a:solidFill>
            <a:prstDash val="solid"/>
          </a:ln>
        </p:spPr>
      </p:sp>
      <p:pic>
        <p:nvPicPr>
          <p:cNvPr id="71" name="Image 5" descr="preencoded.png">    </p:cNvPr>
          <p:cNvPicPr>
            <a:picLocks noChangeAspect="1"/>
          </p:cNvPicPr>
          <p:nvPr/>
        </p:nvPicPr>
        <p:blipFill>
          <a:blip r:embed="rId6"/>
          <a:stretch>
            <a:fillRect/>
          </a:stretch>
        </p:blipFill>
        <p:spPr>
          <a:xfrm>
            <a:off x="7315200" y="5422392"/>
            <a:ext cx="292608" cy="292608"/>
          </a:xfrm>
          <a:prstGeom prst="rect">
            <a:avLst/>
          </a:prstGeom>
        </p:spPr>
      </p:pic>
      <p:sp>
        <p:nvSpPr>
          <p:cNvPr id="72" name="Text 64"/>
          <p:cNvSpPr txBox="1"/>
          <p:nvPr/>
        </p:nvSpPr>
        <p:spPr>
          <a:xfrm>
            <a:off x="7726680" y="5285232"/>
            <a:ext cx="3867912" cy="658368"/>
          </a:xfrm>
          <a:prstGeom prst="rect">
            <a:avLst/>
          </a:prstGeom>
          <a:noFill/>
          <a:ln/>
        </p:spPr>
        <p:txBody>
          <a:bodyPr wrap="square" lIns="0" tIns="0" rIns="0" bIns="0" rtlCol="0" anchor="ctr"/>
          <a:lstStyle/>
          <a:p>
            <a:pPr indent="0" marL="0">
              <a:buNone/>
            </a:pPr>
            <a:r>
              <a:rPr lang="en-US" sz="1100" b="1" dirty="0">
                <a:solidFill>
                  <a:srgbClr val="FFFFFF"/>
                </a:solidFill>
                <a:latin typeface="Inter" pitchFamily="34" charset="0"/>
                <a:ea typeface="Inter" pitchFamily="34" charset="-122"/>
                <a:cs typeface="Inter" pitchFamily="34" charset="-120"/>
              </a:rPr>
              <a:t>Owned channels</a:t>
            </a:r>
            <a:endParaRPr lang="en-US" sz="1200" dirty="0"/>
          </a:p>
          <a:p>
            <a:pPr indent="0" marL="0">
              <a:buNone/>
            </a:pPr>
            <a:r>
              <a:rPr lang="en-US" sz="900" dirty="0">
                <a:solidFill>
                  <a:srgbClr val="FFFFFF"/>
                </a:solidFill>
                <a:latin typeface="Inter" pitchFamily="34" charset="0"/>
                <a:ea typeface="Inter" pitchFamily="34" charset="-122"/>
                <a:cs typeface="Inter" pitchFamily="34" charset="-120"/>
              </a:rPr>
              <a:t>SMS · email · app push</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9326880" cy="841248"/>
          </a:xfrm>
          <a:prstGeom prst="rect">
            <a:avLst/>
          </a:prstGeom>
          <a:noFill/>
          <a:ln/>
        </p:spPr>
        <p:txBody>
          <a:bodyPr wrap="square" lIns="0" tIns="0" rIns="0" bIns="0" rtlCol="0" anchor="ctr"/>
          <a:lstStyle/>
          <a:p>
            <a:pPr indent="0" marL="0">
              <a:buNone/>
            </a:pPr>
            <a:r>
              <a:rPr lang="en-US" sz="2400" b="1" dirty="0">
                <a:solidFill>
                  <a:srgbClr val="0A1F44"/>
                </a:solidFill>
                <a:latin typeface="Inter" pitchFamily="34" charset="0"/>
                <a:ea typeface="Inter" pitchFamily="34" charset="-122"/>
                <a:cs typeface="Inter" pitchFamily="34" charset="-120"/>
              </a:rPr>
              <a:t>We will prove the model in a 90-day pilot before scaling</a:t>
            </a:r>
            <a:endParaRPr lang="en-US" sz="2400" dirty="0"/>
          </a:p>
        </p:txBody>
      </p:sp>
      <p:pic>
        <p:nvPicPr>
          <p:cNvPr id="3" name="Image 0" descr="/tmp/claude-0/-home-user-Quince/7efe80ae-a049-50c2-9886-98bf7ca3a04a/scratchpad/assets/quince.png">    </p:cNvPr>
          <p:cNvPicPr>
            <a:picLocks noChangeAspect="1"/>
          </p:cNvPicPr>
          <p:nvPr/>
        </p:nvPicPr>
        <p:blipFill>
          <a:blip r:embed="rId1"/>
          <a:stretch>
            <a:fillRect/>
          </a:stretch>
        </p:blipFill>
        <p:spPr>
          <a:xfrm>
            <a:off x="10236708" y="615544"/>
            <a:ext cx="777240" cy="231951"/>
          </a:xfrm>
          <a:prstGeom prst="rect">
            <a:avLst/>
          </a:prstGeom>
        </p:spPr>
      </p:pic>
      <p:sp>
        <p:nvSpPr>
          <p:cNvPr id="4" name="Shape 1"/>
          <p:cNvSpPr/>
          <p:nvPr/>
        </p:nvSpPr>
        <p:spPr>
          <a:xfrm>
            <a:off x="11155680" y="603504"/>
            <a:ext cx="530352" cy="256032"/>
          </a:xfrm>
          <a:prstGeom prst="roundRect">
            <a:avLst>
              <a:gd name="adj" fmla="val 50000"/>
            </a:avLst>
          </a:prstGeom>
          <a:solidFill>
            <a:srgbClr val="0A1F44"/>
          </a:solidFill>
          <a:ln w="6350">
            <a:solidFill>
              <a:srgbClr val="0A1F44"/>
            </a:solidFill>
            <a:prstDash val="solid"/>
          </a:ln>
        </p:spPr>
      </p:sp>
      <p:sp>
        <p:nvSpPr>
          <p:cNvPr id="5" name="Text 2"/>
          <p:cNvSpPr txBox="1"/>
          <p:nvPr/>
        </p:nvSpPr>
        <p:spPr>
          <a:xfrm>
            <a:off x="11155680" y="603504"/>
            <a:ext cx="530352"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Inter" pitchFamily="34" charset="0"/>
                <a:ea typeface="Inter" pitchFamily="34" charset="-122"/>
                <a:cs typeface="Inter" pitchFamily="34" charset="-120"/>
              </a:rPr>
              <a:t>G27</a:t>
            </a:r>
            <a:endParaRPr lang="en-US" sz="950" dirty="0"/>
          </a:p>
        </p:txBody>
      </p:sp>
      <p:sp>
        <p:nvSpPr>
          <p:cNvPr id="6" name="Shape 3"/>
          <p:cNvSpPr/>
          <p:nvPr/>
        </p:nvSpPr>
        <p:spPr>
          <a:xfrm>
            <a:off x="502920" y="6400800"/>
            <a:ext cx="11183112" cy="0"/>
          </a:xfrm>
          <a:prstGeom prst="line">
            <a:avLst/>
          </a:prstGeom>
          <a:noFill/>
          <a:ln w="9525">
            <a:solidFill>
              <a:srgbClr val="E2E8F0"/>
            </a:solidFill>
            <a:prstDash val="solid"/>
          </a:ln>
        </p:spPr>
      </p:sp>
      <p:sp>
        <p:nvSpPr>
          <p:cNvPr id="7" name="Text 4"/>
          <p:cNvSpPr txBox="1"/>
          <p:nvPr/>
        </p:nvSpPr>
        <p:spPr>
          <a:xfrm>
            <a:off x="502920" y="6464808"/>
            <a:ext cx="9418320" cy="256032"/>
          </a:xfrm>
          <a:prstGeom prst="rect">
            <a:avLst/>
          </a:prstGeom>
          <a:noFill/>
          <a:ln/>
        </p:spPr>
        <p:txBody>
          <a:bodyPr wrap="square" lIns="0" tIns="0" rIns="0" bIns="0" rtlCol="0" anchor="ctr"/>
          <a:lstStyle/>
          <a:p>
            <a:pPr indent="0" marL="0">
              <a:buNone/>
            </a:pPr>
            <a:r>
              <a:rPr lang="en-US" sz="800" dirty="0">
                <a:solidFill>
                  <a:srgbClr val="64748B"/>
                </a:solidFill>
                <a:latin typeface="Inter" pitchFamily="34" charset="0"/>
                <a:ea typeface="Inter" pitchFamily="34" charset="-122"/>
                <a:cs typeface="Inter" pitchFamily="34" charset="-120"/>
              </a:rPr>
              <a:t>Source: case Exhibits G (budget), I (cost by option), N (regions); Adobe CJA A1, A2, A3b, A6, Cohort Table. Pilot design and sequencing are the team's. South test sizes assume spend follows the customer split (South 28%, Exhibit N). 10% randomized South holdout throughout.</a:t>
            </a:r>
            <a:endParaRPr lang="en-US" sz="800" dirty="0"/>
          </a:p>
        </p:txBody>
      </p:sp>
      <p:sp>
        <p:nvSpPr>
          <p:cNvPr id="8" name="Text 5"/>
          <p:cNvSpPr txBox="1"/>
          <p:nvPr/>
        </p:nvSpPr>
        <p:spPr>
          <a:xfrm>
            <a:off x="9966960" y="6464808"/>
            <a:ext cx="1719072" cy="256032"/>
          </a:xfrm>
          <a:prstGeom prst="rect">
            <a:avLst/>
          </a:prstGeom>
          <a:noFill/>
          <a:ln/>
        </p:spPr>
        <p:txBody>
          <a:bodyPr wrap="square" lIns="0" tIns="0" rIns="0" bIns="0" rtlCol="0" anchor="ctr"/>
          <a:lstStyle/>
          <a:p>
            <a:pPr algn="r" indent="0" marL="0">
              <a:buNone/>
            </a:pPr>
            <a:r>
              <a:rPr lang="en-US" sz="800" dirty="0">
                <a:solidFill>
                  <a:srgbClr val="64748B"/>
                </a:solidFill>
                <a:latin typeface="Inter" pitchFamily="34" charset="0"/>
                <a:ea typeface="Inter" pitchFamily="34" charset="-122"/>
                <a:cs typeface="Inter" pitchFamily="34" charset="-120"/>
              </a:rPr>
              <a:t>Team G27  ·  7</a:t>
            </a:r>
            <a:endParaRPr lang="en-US" sz="800" dirty="0"/>
          </a:p>
        </p:txBody>
      </p:sp>
      <p:sp>
        <p:nvSpPr>
          <p:cNvPr id="9" name="Text 6"/>
          <p:cNvSpPr txBox="1"/>
          <p:nvPr/>
        </p:nvSpPr>
        <p:spPr>
          <a:xfrm>
            <a:off x="502920" y="1207008"/>
            <a:ext cx="2103120" cy="310896"/>
          </a:xfrm>
          <a:prstGeom prst="rect">
            <a:avLst/>
          </a:prstGeom>
          <a:noFill/>
          <a:ln/>
        </p:spPr>
        <p:txBody>
          <a:bodyPr wrap="square" lIns="0" tIns="0" rIns="0" bIns="0" rtlCol="0" anchor="ctr"/>
          <a:lstStyle/>
          <a:p>
            <a:pPr indent="0" marL="0">
              <a:buNone/>
            </a:pPr>
            <a:r>
              <a:rPr lang="en-US" sz="1100" b="1" dirty="0">
                <a:solidFill>
                  <a:srgbClr val="0A1F44"/>
                </a:solidFill>
                <a:latin typeface="Inter" pitchFamily="34" charset="0"/>
                <a:ea typeface="Inter" pitchFamily="34" charset="-122"/>
                <a:cs typeface="Inter" pitchFamily="34" charset="-120"/>
              </a:rPr>
              <a:t>Lever</a:t>
            </a:r>
            <a:endParaRPr lang="en-US" sz="1100" dirty="0"/>
          </a:p>
        </p:txBody>
      </p:sp>
      <p:sp>
        <p:nvSpPr>
          <p:cNvPr id="10" name="Text 7"/>
          <p:cNvSpPr txBox="1"/>
          <p:nvPr/>
        </p:nvSpPr>
        <p:spPr>
          <a:xfrm>
            <a:off x="2697480" y="1207008"/>
            <a:ext cx="1600200" cy="310896"/>
          </a:xfrm>
          <a:prstGeom prst="rect">
            <a:avLst/>
          </a:prstGeom>
          <a:noFill/>
          <a:ln/>
        </p:spPr>
        <p:txBody>
          <a:bodyPr wrap="square" lIns="0" tIns="0" rIns="0" bIns="0" rtlCol="0" anchor="ctr"/>
          <a:lstStyle/>
          <a:p>
            <a:pPr indent="0" marL="0">
              <a:buNone/>
            </a:pPr>
            <a:r>
              <a:rPr lang="en-US" sz="1100" b="1" dirty="0">
                <a:solidFill>
                  <a:srgbClr val="0A1F44"/>
                </a:solidFill>
                <a:latin typeface="Inter" pitchFamily="34" charset="0"/>
                <a:ea typeface="Inter" pitchFamily="34" charset="-122"/>
                <a:cs typeface="Inter" pitchFamily="34" charset="-120"/>
              </a:rPr>
              <a:t>Built with</a:t>
            </a:r>
            <a:endParaRPr lang="en-US" sz="1100" dirty="0"/>
          </a:p>
        </p:txBody>
      </p:sp>
      <p:sp>
        <p:nvSpPr>
          <p:cNvPr id="11" name="Shape 8"/>
          <p:cNvSpPr/>
          <p:nvPr/>
        </p:nvSpPr>
        <p:spPr>
          <a:xfrm>
            <a:off x="4352544" y="1207008"/>
            <a:ext cx="1847088" cy="310896"/>
          </a:xfrm>
          <a:prstGeom prst="chevron">
            <a:avLst/>
          </a:prstGeom>
          <a:solidFill>
            <a:srgbClr val="0A1F44"/>
          </a:solidFill>
          <a:ln w="6350">
            <a:solidFill>
              <a:srgbClr val="0A1F44"/>
            </a:solidFill>
            <a:prstDash val="solid"/>
          </a:ln>
        </p:spPr>
      </p:sp>
      <p:sp>
        <p:nvSpPr>
          <p:cNvPr id="12" name="Text 9"/>
          <p:cNvSpPr txBox="1"/>
          <p:nvPr/>
        </p:nvSpPr>
        <p:spPr>
          <a:xfrm>
            <a:off x="4553712" y="1207008"/>
            <a:ext cx="1554480" cy="310896"/>
          </a:xfrm>
          <a:prstGeom prst="rect">
            <a:avLst/>
          </a:prstGeom>
          <a:noFill/>
          <a:ln/>
        </p:spPr>
        <p:txBody>
          <a:bodyPr wrap="square" lIns="0" tIns="0" rIns="0" bIns="0" rtlCol="0" anchor="ctr"/>
          <a:lstStyle/>
          <a:p>
            <a:pPr indent="0" marL="0">
              <a:buNone/>
            </a:pPr>
            <a:r>
              <a:rPr lang="en-US" sz="950" b="1" dirty="0">
                <a:solidFill>
                  <a:srgbClr val="FFFFFF"/>
                </a:solidFill>
                <a:latin typeface="Inter" pitchFamily="34" charset="0"/>
                <a:ea typeface="Inter" pitchFamily="34" charset="-122"/>
                <a:cs typeface="Inter" pitchFamily="34" charset="-120"/>
              </a:rPr>
              <a:t>Set up · wk 1–4</a:t>
            </a:r>
            <a:endParaRPr lang="en-US" sz="950" dirty="0"/>
          </a:p>
        </p:txBody>
      </p:sp>
      <p:sp>
        <p:nvSpPr>
          <p:cNvPr id="13" name="Shape 10"/>
          <p:cNvSpPr/>
          <p:nvPr/>
        </p:nvSpPr>
        <p:spPr>
          <a:xfrm>
            <a:off x="6144768" y="1207008"/>
            <a:ext cx="1847088" cy="310896"/>
          </a:xfrm>
          <a:prstGeom prst="chevron">
            <a:avLst/>
          </a:prstGeom>
          <a:solidFill>
            <a:srgbClr val="1D4ED8"/>
          </a:solidFill>
          <a:ln w="6350">
            <a:solidFill>
              <a:srgbClr val="1D4ED8"/>
            </a:solidFill>
            <a:prstDash val="solid"/>
          </a:ln>
        </p:spPr>
      </p:sp>
      <p:sp>
        <p:nvSpPr>
          <p:cNvPr id="14" name="Text 11"/>
          <p:cNvSpPr txBox="1"/>
          <p:nvPr/>
        </p:nvSpPr>
        <p:spPr>
          <a:xfrm>
            <a:off x="6345936" y="1207008"/>
            <a:ext cx="1554480" cy="310896"/>
          </a:xfrm>
          <a:prstGeom prst="rect">
            <a:avLst/>
          </a:prstGeom>
          <a:noFill/>
          <a:ln/>
        </p:spPr>
        <p:txBody>
          <a:bodyPr wrap="square" lIns="0" tIns="0" rIns="0" bIns="0" rtlCol="0" anchor="ctr"/>
          <a:lstStyle/>
          <a:p>
            <a:pPr indent="0" marL="0">
              <a:buNone/>
            </a:pPr>
            <a:r>
              <a:rPr lang="en-US" sz="950" b="1" dirty="0">
                <a:solidFill>
                  <a:srgbClr val="FFFFFF"/>
                </a:solidFill>
                <a:latin typeface="Inter" pitchFamily="34" charset="0"/>
                <a:ea typeface="Inter" pitchFamily="34" charset="-122"/>
                <a:cs typeface="Inter" pitchFamily="34" charset="-120"/>
              </a:rPr>
              <a:t>Launch · wk 5–8</a:t>
            </a:r>
            <a:endParaRPr lang="en-US" sz="950" dirty="0"/>
          </a:p>
        </p:txBody>
      </p:sp>
      <p:sp>
        <p:nvSpPr>
          <p:cNvPr id="15" name="Shape 12"/>
          <p:cNvSpPr/>
          <p:nvPr/>
        </p:nvSpPr>
        <p:spPr>
          <a:xfrm>
            <a:off x="7936992" y="1207008"/>
            <a:ext cx="1755648" cy="310896"/>
          </a:xfrm>
          <a:prstGeom prst="chevron">
            <a:avLst/>
          </a:prstGeom>
          <a:solidFill>
            <a:srgbClr val="2563EB"/>
          </a:solidFill>
          <a:ln w="6350">
            <a:solidFill>
              <a:srgbClr val="2563EB"/>
            </a:solidFill>
            <a:prstDash val="solid"/>
          </a:ln>
        </p:spPr>
      </p:sp>
      <p:sp>
        <p:nvSpPr>
          <p:cNvPr id="16" name="Text 13"/>
          <p:cNvSpPr txBox="1"/>
          <p:nvPr/>
        </p:nvSpPr>
        <p:spPr>
          <a:xfrm>
            <a:off x="8138160" y="1207008"/>
            <a:ext cx="1463040" cy="310896"/>
          </a:xfrm>
          <a:prstGeom prst="rect">
            <a:avLst/>
          </a:prstGeom>
          <a:noFill/>
          <a:ln/>
        </p:spPr>
        <p:txBody>
          <a:bodyPr wrap="square" lIns="0" tIns="0" rIns="0" bIns="0" rtlCol="0" anchor="ctr"/>
          <a:lstStyle/>
          <a:p>
            <a:pPr indent="0" marL="0">
              <a:buNone/>
            </a:pPr>
            <a:r>
              <a:rPr lang="en-US" sz="950" b="1" dirty="0">
                <a:solidFill>
                  <a:srgbClr val="FFFFFF"/>
                </a:solidFill>
                <a:latin typeface="Inter" pitchFamily="34" charset="0"/>
                <a:ea typeface="Inter" pitchFamily="34" charset="-122"/>
                <a:cs typeface="Inter" pitchFamily="34" charset="-120"/>
              </a:rPr>
              <a:t>Measure · wk 9–12</a:t>
            </a:r>
            <a:endParaRPr lang="en-US" sz="950" dirty="0"/>
          </a:p>
        </p:txBody>
      </p:sp>
      <p:sp>
        <p:nvSpPr>
          <p:cNvPr id="17" name="Text 14"/>
          <p:cNvSpPr txBox="1"/>
          <p:nvPr/>
        </p:nvSpPr>
        <p:spPr>
          <a:xfrm>
            <a:off x="9747504" y="1207008"/>
            <a:ext cx="1938528" cy="310896"/>
          </a:xfrm>
          <a:prstGeom prst="rect">
            <a:avLst/>
          </a:prstGeom>
          <a:noFill/>
          <a:ln/>
        </p:spPr>
        <p:txBody>
          <a:bodyPr wrap="square" lIns="0" tIns="0" rIns="0" bIns="0" rtlCol="0" anchor="ctr"/>
          <a:lstStyle/>
          <a:p>
            <a:pPr indent="0" marL="0">
              <a:buNone/>
            </a:pPr>
            <a:r>
              <a:rPr lang="en-US" sz="1100" b="1" dirty="0">
                <a:solidFill>
                  <a:srgbClr val="0A1F44"/>
                </a:solidFill>
                <a:latin typeface="Inter" pitchFamily="34" charset="0"/>
                <a:ea typeface="Inter" pitchFamily="34" charset="-122"/>
                <a:cs typeface="Inter" pitchFamily="34" charset="-120"/>
              </a:rPr>
              <a:t>Paid from</a:t>
            </a:r>
            <a:endParaRPr lang="en-US" sz="1100" dirty="0"/>
          </a:p>
        </p:txBody>
      </p:sp>
      <p:sp>
        <p:nvSpPr>
          <p:cNvPr id="18" name="Shape 15"/>
          <p:cNvSpPr/>
          <p:nvPr/>
        </p:nvSpPr>
        <p:spPr>
          <a:xfrm>
            <a:off x="502920" y="1591056"/>
            <a:ext cx="11183112" cy="1234440"/>
          </a:xfrm>
          <a:prstGeom prst="roundRect">
            <a:avLst>
              <a:gd name="adj" fmla="val 5926"/>
            </a:avLst>
          </a:prstGeom>
          <a:solidFill>
            <a:srgbClr val="F8FAFC"/>
          </a:solidFill>
          <a:ln w="9525">
            <a:solidFill>
              <a:srgbClr val="E2E8F0"/>
            </a:solidFill>
            <a:prstDash val="solid"/>
          </a:ln>
        </p:spPr>
      </p:sp>
      <p:sp>
        <p:nvSpPr>
          <p:cNvPr id="19" name="Shape 16"/>
          <p:cNvSpPr/>
          <p:nvPr/>
        </p:nvSpPr>
        <p:spPr>
          <a:xfrm>
            <a:off x="612648" y="1719072"/>
            <a:ext cx="329184" cy="329184"/>
          </a:xfrm>
          <a:prstGeom prst="ellipse">
            <a:avLst/>
          </a:prstGeom>
          <a:solidFill>
            <a:srgbClr val="0A1F44"/>
          </a:solidFill>
          <a:ln w="6350">
            <a:solidFill>
              <a:srgbClr val="0A1F44"/>
            </a:solidFill>
            <a:prstDash val="solid"/>
          </a:ln>
        </p:spPr>
      </p:sp>
      <p:sp>
        <p:nvSpPr>
          <p:cNvPr id="20" name="Text 17"/>
          <p:cNvSpPr txBox="1"/>
          <p:nvPr/>
        </p:nvSpPr>
        <p:spPr>
          <a:xfrm>
            <a:off x="612648" y="1719072"/>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1</a:t>
            </a:r>
            <a:endParaRPr lang="en-US" sz="1200" dirty="0"/>
          </a:p>
        </p:txBody>
      </p:sp>
      <p:sp>
        <p:nvSpPr>
          <p:cNvPr id="21" name="Text 18"/>
          <p:cNvSpPr txBox="1"/>
          <p:nvPr/>
        </p:nvSpPr>
        <p:spPr>
          <a:xfrm>
            <a:off x="1014984" y="1682496"/>
            <a:ext cx="1554480" cy="402336"/>
          </a:xfrm>
          <a:prstGeom prst="rect">
            <a:avLst/>
          </a:prstGeom>
          <a:noFill/>
          <a:ln/>
        </p:spPr>
        <p:txBody>
          <a:bodyPr wrap="square" lIns="0" tIns="0" rIns="0" bIns="0" rtlCol="0" anchor="ctr"/>
          <a:lstStyle/>
          <a:p>
            <a:pPr indent="0" marL="0">
              <a:buNone/>
            </a:pPr>
            <a:r>
              <a:rPr lang="en-US" sz="1150" b="1" dirty="0">
                <a:solidFill>
                  <a:srgbClr val="0A1F44"/>
                </a:solidFill>
                <a:latin typeface="Inter" pitchFamily="34" charset="0"/>
                <a:ea typeface="Inter" pitchFamily="34" charset="-122"/>
                <a:cs typeface="Inter" pitchFamily="34" charset="-120"/>
              </a:rPr>
              <a:t>Capture every buyer</a:t>
            </a:r>
            <a:endParaRPr lang="en-US" sz="1150" dirty="0"/>
          </a:p>
        </p:txBody>
      </p:sp>
      <p:sp>
        <p:nvSpPr>
          <p:cNvPr id="22" name="Text 19"/>
          <p:cNvSpPr txBox="1"/>
          <p:nvPr/>
        </p:nvSpPr>
        <p:spPr>
          <a:xfrm>
            <a:off x="630936" y="2103120"/>
            <a:ext cx="1920240" cy="420624"/>
          </a:xfrm>
          <a:prstGeom prst="rect">
            <a:avLst/>
          </a:prstGeom>
          <a:noFill/>
          <a:ln/>
        </p:spPr>
        <p:txBody>
          <a:bodyPr wrap="square" lIns="0" tIns="0" rIns="0" bIns="0" rtlCol="0" anchor="t"/>
          <a:lstStyle/>
          <a:p>
            <a:pPr indent="0" marL="0">
              <a:buNone/>
            </a:pPr>
            <a:r>
              <a:rPr lang="en-US" sz="900" dirty="0">
                <a:solidFill>
                  <a:srgbClr val="334155"/>
                </a:solidFill>
                <a:latin typeface="Inter" pitchFamily="34" charset="0"/>
                <a:ea typeface="Inter" pitchFamily="34" charset="-122"/>
                <a:cs typeface="Inter" pitchFamily="34" charset="-120"/>
              </a:rPr>
              <a:t>77% of cart adders never order; only 24.5% engage</a:t>
            </a:r>
            <a:endParaRPr lang="en-US" sz="900" dirty="0"/>
          </a:p>
        </p:txBody>
      </p:sp>
      <p:sp>
        <p:nvSpPr>
          <p:cNvPr id="23" name="Shape 20"/>
          <p:cNvSpPr/>
          <p:nvPr/>
        </p:nvSpPr>
        <p:spPr>
          <a:xfrm>
            <a:off x="2697480" y="1682496"/>
            <a:ext cx="256032" cy="256032"/>
          </a:xfrm>
          <a:prstGeom prst="ellipse">
            <a:avLst/>
          </a:prstGeom>
          <a:solidFill>
            <a:srgbClr val="EFF6FF"/>
          </a:solidFill>
          <a:ln w="6350">
            <a:solidFill>
              <a:srgbClr val="EFF6FF"/>
            </a:solidFill>
            <a:prstDash val="solid"/>
          </a:ln>
        </p:spPr>
      </p:sp>
      <p:pic>
        <p:nvPicPr>
          <p:cNvPr id="24" name="Image 1" descr="preencoded.png">    </p:cNvPr>
          <p:cNvPicPr>
            <a:picLocks noChangeAspect="1"/>
          </p:cNvPicPr>
          <p:nvPr/>
        </p:nvPicPr>
        <p:blipFill>
          <a:blip r:embed="rId2"/>
          <a:stretch>
            <a:fillRect/>
          </a:stretch>
        </p:blipFill>
        <p:spPr>
          <a:xfrm>
            <a:off x="2753807" y="1738823"/>
            <a:ext cx="143378" cy="143378"/>
          </a:xfrm>
          <a:prstGeom prst="rect">
            <a:avLst/>
          </a:prstGeom>
        </p:spPr>
      </p:pic>
      <p:sp>
        <p:nvSpPr>
          <p:cNvPr id="25" name="Text 21"/>
          <p:cNvSpPr txBox="1"/>
          <p:nvPr/>
        </p:nvSpPr>
        <p:spPr>
          <a:xfrm>
            <a:off x="3008376" y="1682496"/>
            <a:ext cx="1271016" cy="256032"/>
          </a:xfrm>
          <a:prstGeom prst="rect">
            <a:avLst/>
          </a:prstGeom>
          <a:noFill/>
          <a:ln/>
        </p:spPr>
        <p:txBody>
          <a:bodyPr wrap="square" lIns="0" tIns="0" rIns="0" bIns="0" rtlCol="0" anchor="ctr"/>
          <a:lstStyle/>
          <a:p>
            <a:pPr indent="0" marL="0">
              <a:buNone/>
            </a:pPr>
            <a:r>
              <a:rPr lang="en-US" sz="900" b="1" dirty="0">
                <a:solidFill>
                  <a:srgbClr val="0A1F44"/>
                </a:solidFill>
                <a:latin typeface="Inter" pitchFamily="34" charset="0"/>
                <a:ea typeface="Inter" pitchFamily="34" charset="-122"/>
                <a:cs typeface="Inter" pitchFamily="34" charset="-120"/>
              </a:rPr>
              <a:t>SMS at checkout</a:t>
            </a:r>
            <a:endParaRPr lang="en-US" sz="900" dirty="0"/>
          </a:p>
        </p:txBody>
      </p:sp>
      <p:sp>
        <p:nvSpPr>
          <p:cNvPr id="26" name="Shape 22"/>
          <p:cNvSpPr/>
          <p:nvPr/>
        </p:nvSpPr>
        <p:spPr>
          <a:xfrm>
            <a:off x="2697480" y="1965960"/>
            <a:ext cx="256032" cy="256032"/>
          </a:xfrm>
          <a:prstGeom prst="ellipse">
            <a:avLst/>
          </a:prstGeom>
          <a:solidFill>
            <a:srgbClr val="EFF6FF"/>
          </a:solidFill>
          <a:ln w="6350">
            <a:solidFill>
              <a:srgbClr val="EFF6FF"/>
            </a:solidFill>
            <a:prstDash val="solid"/>
          </a:ln>
        </p:spPr>
      </p:sp>
      <p:pic>
        <p:nvPicPr>
          <p:cNvPr id="27" name="Image 2" descr="preencoded.png">    </p:cNvPr>
          <p:cNvPicPr>
            <a:picLocks noChangeAspect="1"/>
          </p:cNvPicPr>
          <p:nvPr/>
        </p:nvPicPr>
        <p:blipFill>
          <a:blip r:embed="rId3"/>
          <a:stretch>
            <a:fillRect/>
          </a:stretch>
        </p:blipFill>
        <p:spPr>
          <a:xfrm>
            <a:off x="2753807" y="2022287"/>
            <a:ext cx="143378" cy="143378"/>
          </a:xfrm>
          <a:prstGeom prst="rect">
            <a:avLst/>
          </a:prstGeom>
        </p:spPr>
      </p:pic>
      <p:sp>
        <p:nvSpPr>
          <p:cNvPr id="28" name="Text 23"/>
          <p:cNvSpPr txBox="1"/>
          <p:nvPr/>
        </p:nvSpPr>
        <p:spPr>
          <a:xfrm>
            <a:off x="3008376" y="1965960"/>
            <a:ext cx="1271016" cy="256032"/>
          </a:xfrm>
          <a:prstGeom prst="rect">
            <a:avLst/>
          </a:prstGeom>
          <a:noFill/>
          <a:ln/>
        </p:spPr>
        <p:txBody>
          <a:bodyPr wrap="square" lIns="0" tIns="0" rIns="0" bIns="0" rtlCol="0" anchor="ctr"/>
          <a:lstStyle/>
          <a:p>
            <a:pPr indent="0" marL="0">
              <a:buNone/>
            </a:pPr>
            <a:r>
              <a:rPr lang="en-US" sz="900" b="1" dirty="0">
                <a:solidFill>
                  <a:srgbClr val="0A1F44"/>
                </a:solidFill>
                <a:latin typeface="Inter" pitchFamily="34" charset="0"/>
                <a:ea typeface="Inter" pitchFamily="34" charset="-122"/>
                <a:cs typeface="Inter" pitchFamily="34" charset="-120"/>
              </a:rPr>
              <a:t>App order tracking</a:t>
            </a:r>
            <a:endParaRPr lang="en-US" sz="900" dirty="0"/>
          </a:p>
        </p:txBody>
      </p:sp>
      <p:sp>
        <p:nvSpPr>
          <p:cNvPr id="29" name="Shape 24"/>
          <p:cNvSpPr/>
          <p:nvPr/>
        </p:nvSpPr>
        <p:spPr>
          <a:xfrm>
            <a:off x="2697480" y="2249424"/>
            <a:ext cx="256032" cy="256032"/>
          </a:xfrm>
          <a:prstGeom prst="ellipse">
            <a:avLst/>
          </a:prstGeom>
          <a:solidFill>
            <a:srgbClr val="EFF6FF"/>
          </a:solidFill>
          <a:ln w="6350">
            <a:solidFill>
              <a:srgbClr val="EFF6FF"/>
            </a:solidFill>
            <a:prstDash val="solid"/>
          </a:ln>
        </p:spPr>
      </p:sp>
      <p:pic>
        <p:nvPicPr>
          <p:cNvPr id="30" name="Image 3" descr="preencoded.png">    </p:cNvPr>
          <p:cNvPicPr>
            <a:picLocks noChangeAspect="1"/>
          </p:cNvPicPr>
          <p:nvPr/>
        </p:nvPicPr>
        <p:blipFill>
          <a:blip r:embed="rId4"/>
          <a:stretch>
            <a:fillRect/>
          </a:stretch>
        </p:blipFill>
        <p:spPr>
          <a:xfrm>
            <a:off x="2753807" y="2305751"/>
            <a:ext cx="143378" cy="143378"/>
          </a:xfrm>
          <a:prstGeom prst="rect">
            <a:avLst/>
          </a:prstGeom>
        </p:spPr>
      </p:pic>
      <p:sp>
        <p:nvSpPr>
          <p:cNvPr id="31" name="Text 25"/>
          <p:cNvSpPr txBox="1"/>
          <p:nvPr/>
        </p:nvSpPr>
        <p:spPr>
          <a:xfrm>
            <a:off x="3008376" y="2249424"/>
            <a:ext cx="1271016" cy="256032"/>
          </a:xfrm>
          <a:prstGeom prst="rect">
            <a:avLst/>
          </a:prstGeom>
          <a:noFill/>
          <a:ln/>
        </p:spPr>
        <p:txBody>
          <a:bodyPr wrap="square" lIns="0" tIns="0" rIns="0" bIns="0" rtlCol="0" anchor="ctr"/>
          <a:lstStyle/>
          <a:p>
            <a:pPr indent="0" marL="0">
              <a:buNone/>
            </a:pPr>
            <a:r>
              <a:rPr lang="en-US" sz="900" b="1" dirty="0">
                <a:solidFill>
                  <a:srgbClr val="0A1F44"/>
                </a:solidFill>
                <a:latin typeface="Inter" pitchFamily="34" charset="0"/>
                <a:ea typeface="Inter" pitchFamily="34" charset="-122"/>
                <a:cs typeface="Inter" pitchFamily="34" charset="-120"/>
              </a:rPr>
              <a:t>Email reminders</a:t>
            </a:r>
            <a:endParaRPr lang="en-US" sz="900" dirty="0"/>
          </a:p>
        </p:txBody>
      </p:sp>
      <p:sp>
        <p:nvSpPr>
          <p:cNvPr id="32" name="Shape 26"/>
          <p:cNvSpPr/>
          <p:nvPr/>
        </p:nvSpPr>
        <p:spPr>
          <a:xfrm>
            <a:off x="4389120" y="1682496"/>
            <a:ext cx="1664208" cy="731520"/>
          </a:xfrm>
          <a:prstGeom prst="roundRect">
            <a:avLst>
              <a:gd name="adj" fmla="val 7500"/>
            </a:avLst>
          </a:prstGeom>
          <a:solidFill>
            <a:srgbClr val="FFFFFF"/>
          </a:solidFill>
          <a:ln w="9525">
            <a:solidFill>
              <a:srgbClr val="E2E8F0"/>
            </a:solidFill>
            <a:prstDash val="solid"/>
          </a:ln>
        </p:spPr>
      </p:sp>
      <p:sp>
        <p:nvSpPr>
          <p:cNvPr id="33" name="Text 27"/>
          <p:cNvSpPr txBox="1"/>
          <p:nvPr/>
        </p:nvSpPr>
        <p:spPr>
          <a:xfrm>
            <a:off x="4480560" y="1682496"/>
            <a:ext cx="1499616" cy="731520"/>
          </a:xfrm>
          <a:prstGeom prst="rect">
            <a:avLst/>
          </a:prstGeom>
          <a:noFill/>
          <a:ln/>
        </p:spPr>
        <p:txBody>
          <a:bodyPr wrap="square" lIns="0" tIns="0" rIns="0" bIns="0" rtlCol="0" anchor="ctr"/>
          <a:lstStyle/>
          <a:p>
            <a:pPr indent="0" marL="0">
              <a:buNone/>
            </a:pPr>
            <a:r>
              <a:rPr lang="en-US" sz="900" dirty="0">
                <a:solidFill>
                  <a:srgbClr val="0F172A"/>
                </a:solidFill>
                <a:latin typeface="Inter" pitchFamily="34" charset="0"/>
                <a:ea typeface="Inter" pitchFamily="34" charset="-122"/>
                <a:cs typeface="Inter" pitchFamily="34" charset="-120"/>
              </a:rPr>
              <a:t>Consent split; CJA abandoner segment; Passport cards</a:t>
            </a:r>
            <a:endParaRPr lang="en-US" sz="900" dirty="0"/>
          </a:p>
        </p:txBody>
      </p:sp>
      <p:sp>
        <p:nvSpPr>
          <p:cNvPr id="34" name="Shape 28"/>
          <p:cNvSpPr/>
          <p:nvPr/>
        </p:nvSpPr>
        <p:spPr>
          <a:xfrm>
            <a:off x="6181344" y="1682496"/>
            <a:ext cx="1664208" cy="731520"/>
          </a:xfrm>
          <a:prstGeom prst="roundRect">
            <a:avLst>
              <a:gd name="adj" fmla="val 7500"/>
            </a:avLst>
          </a:prstGeom>
          <a:solidFill>
            <a:srgbClr val="FFFFFF"/>
          </a:solidFill>
          <a:ln w="9525">
            <a:solidFill>
              <a:srgbClr val="E2E8F0"/>
            </a:solidFill>
            <a:prstDash val="solid"/>
          </a:ln>
        </p:spPr>
      </p:sp>
      <p:sp>
        <p:nvSpPr>
          <p:cNvPr id="35" name="Text 29"/>
          <p:cNvSpPr txBox="1"/>
          <p:nvPr/>
        </p:nvSpPr>
        <p:spPr>
          <a:xfrm>
            <a:off x="6272784" y="1682496"/>
            <a:ext cx="1499616" cy="731520"/>
          </a:xfrm>
          <a:prstGeom prst="rect">
            <a:avLst/>
          </a:prstGeom>
          <a:noFill/>
          <a:ln/>
        </p:spPr>
        <p:txBody>
          <a:bodyPr wrap="square" lIns="0" tIns="0" rIns="0" bIns="0" rtlCol="0" anchor="ctr"/>
          <a:lstStyle/>
          <a:p>
            <a:pPr indent="0" marL="0">
              <a:buNone/>
            </a:pPr>
            <a:r>
              <a:rPr lang="en-US" sz="900" dirty="0">
                <a:solidFill>
                  <a:srgbClr val="0F172A"/>
                </a:solidFill>
                <a:latin typeface="Inter" pitchFamily="34" charset="0"/>
                <a:ea typeface="Inter" pitchFamily="34" charset="-122"/>
                <a:cs typeface="Inter" pitchFamily="34" charset="-120"/>
              </a:rPr>
              <a:t>SMS opt-in, app tracking, cart reminders at 1h and 24h</a:t>
            </a:r>
            <a:endParaRPr lang="en-US" sz="900" dirty="0"/>
          </a:p>
        </p:txBody>
      </p:sp>
      <p:sp>
        <p:nvSpPr>
          <p:cNvPr id="36" name="Shape 30"/>
          <p:cNvSpPr/>
          <p:nvPr/>
        </p:nvSpPr>
        <p:spPr>
          <a:xfrm>
            <a:off x="7973568" y="1682496"/>
            <a:ext cx="1572768" cy="731520"/>
          </a:xfrm>
          <a:prstGeom prst="roundRect">
            <a:avLst>
              <a:gd name="adj" fmla="val 7500"/>
            </a:avLst>
          </a:prstGeom>
          <a:solidFill>
            <a:srgbClr val="EFF6FF"/>
          </a:solidFill>
          <a:ln w="9525">
            <a:solidFill>
              <a:srgbClr val="E2E8F0"/>
            </a:solidFill>
            <a:prstDash val="solid"/>
          </a:ln>
        </p:spPr>
      </p:sp>
      <p:sp>
        <p:nvSpPr>
          <p:cNvPr id="37" name="Text 31"/>
          <p:cNvSpPr txBox="1"/>
          <p:nvPr/>
        </p:nvSpPr>
        <p:spPr>
          <a:xfrm>
            <a:off x="8065008" y="1682496"/>
            <a:ext cx="1408176" cy="731520"/>
          </a:xfrm>
          <a:prstGeom prst="rect">
            <a:avLst/>
          </a:prstGeom>
          <a:noFill/>
          <a:ln/>
        </p:spPr>
        <p:txBody>
          <a:bodyPr wrap="square" lIns="0" tIns="0" rIns="0" bIns="0" rtlCol="0" anchor="ctr"/>
          <a:lstStyle/>
          <a:p>
            <a:pPr indent="0" marL="0">
              <a:buNone/>
            </a:pPr>
            <a:r>
              <a:rPr lang="en-US" sz="900" b="1" dirty="0">
                <a:solidFill>
                  <a:srgbClr val="0A1F44"/>
                </a:solidFill>
                <a:latin typeface="Inter" pitchFamily="34" charset="0"/>
                <a:ea typeface="Inter" pitchFamily="34" charset="-122"/>
                <a:cs typeface="Inter" pitchFamily="34" charset="-120"/>
              </a:rPr>
              <a:t>Cart recovery; opt-ins per 100 orders</a:t>
            </a:r>
            <a:endParaRPr lang="en-US" sz="900" dirty="0"/>
          </a:p>
        </p:txBody>
      </p:sp>
      <p:sp>
        <p:nvSpPr>
          <p:cNvPr id="38" name="Shape 32"/>
          <p:cNvSpPr/>
          <p:nvPr/>
        </p:nvSpPr>
        <p:spPr>
          <a:xfrm>
            <a:off x="612648" y="2505456"/>
            <a:ext cx="9025128" cy="0"/>
          </a:xfrm>
          <a:prstGeom prst="line">
            <a:avLst/>
          </a:prstGeom>
          <a:noFill/>
          <a:ln w="6350">
            <a:solidFill>
              <a:srgbClr val="E2E8F0"/>
            </a:solidFill>
            <a:prstDash val="solid"/>
          </a:ln>
        </p:spPr>
      </p:sp>
      <p:sp>
        <p:nvSpPr>
          <p:cNvPr id="39" name="Text 33"/>
          <p:cNvSpPr txBox="1"/>
          <p:nvPr/>
        </p:nvSpPr>
        <p:spPr>
          <a:xfrm>
            <a:off x="630936" y="2560320"/>
            <a:ext cx="1371600" cy="228600"/>
          </a:xfrm>
          <a:prstGeom prst="rect">
            <a:avLst/>
          </a:prstGeom>
          <a:noFill/>
          <a:ln/>
        </p:spPr>
        <p:txBody>
          <a:bodyPr wrap="square" lIns="0" tIns="0" rIns="0" bIns="0" rtlCol="0" anchor="ctr"/>
          <a:lstStyle/>
          <a:p>
            <a:pPr indent="0" marL="0">
              <a:buNone/>
            </a:pPr>
            <a:r>
              <a:rPr lang="en-US" sz="900" b="1" dirty="0">
                <a:solidFill>
                  <a:srgbClr val="0A1F44"/>
                </a:solidFill>
                <a:latin typeface="Inter" pitchFamily="34" charset="0"/>
                <a:ea typeface="Inter" pitchFamily="34" charset="-122"/>
                <a:cs typeface="Inter" pitchFamily="34" charset="-120"/>
              </a:rPr>
              <a:t>Programs</a:t>
            </a:r>
            <a:endParaRPr lang="en-US" sz="900" dirty="0"/>
          </a:p>
        </p:txBody>
      </p:sp>
      <p:sp>
        <p:nvSpPr>
          <p:cNvPr id="40" name="Shape 34"/>
          <p:cNvSpPr/>
          <p:nvPr/>
        </p:nvSpPr>
        <p:spPr>
          <a:xfrm>
            <a:off x="2697480" y="2560320"/>
            <a:ext cx="1033272" cy="228600"/>
          </a:xfrm>
          <a:prstGeom prst="roundRect">
            <a:avLst>
              <a:gd name="adj" fmla="val 48000"/>
            </a:avLst>
          </a:prstGeom>
          <a:solidFill>
            <a:srgbClr val="0A1F44"/>
          </a:solidFill>
          <a:ln w="9525">
            <a:solidFill>
              <a:srgbClr val="0A1F44"/>
            </a:solidFill>
            <a:prstDash val="solid"/>
          </a:ln>
        </p:spPr>
      </p:sp>
      <p:sp>
        <p:nvSpPr>
          <p:cNvPr id="41" name="Text 35"/>
          <p:cNvSpPr txBox="1"/>
          <p:nvPr/>
        </p:nvSpPr>
        <p:spPr>
          <a:xfrm>
            <a:off x="2697480" y="2560320"/>
            <a:ext cx="1033272" cy="228600"/>
          </a:xfrm>
          <a:prstGeom prst="rect">
            <a:avLst/>
          </a:prstGeom>
          <a:noFill/>
          <a:ln/>
        </p:spPr>
        <p:txBody>
          <a:bodyPr wrap="square" lIns="0" tIns="0" rIns="0" bIns="0" rtlCol="0" anchor="ctr"/>
          <a:lstStyle/>
          <a:p>
            <a:pPr algn="ctr" indent="0" marL="0">
              <a:buNone/>
            </a:pPr>
            <a:r>
              <a:rPr lang="en-US" sz="750" b="1" dirty="0">
                <a:solidFill>
                  <a:srgbClr val="FFFFFF"/>
                </a:solidFill>
                <a:latin typeface="Inter" pitchFamily="34" charset="0"/>
                <a:ea typeface="Inter" pitchFamily="34" charset="-122"/>
                <a:cs typeface="Inter" pitchFamily="34" charset="-120"/>
              </a:rPr>
              <a:t>★ Quince Passport</a:t>
            </a:r>
            <a:endParaRPr lang="en-US" sz="750" dirty="0"/>
          </a:p>
        </p:txBody>
      </p:sp>
      <p:sp>
        <p:nvSpPr>
          <p:cNvPr id="42" name="Shape 36"/>
          <p:cNvSpPr/>
          <p:nvPr/>
        </p:nvSpPr>
        <p:spPr>
          <a:xfrm>
            <a:off x="3785616" y="2560320"/>
            <a:ext cx="1121054" cy="228600"/>
          </a:xfrm>
          <a:prstGeom prst="roundRect">
            <a:avLst>
              <a:gd name="adj" fmla="val 48000"/>
            </a:avLst>
          </a:prstGeom>
          <a:solidFill>
            <a:srgbClr val="0A1F44"/>
          </a:solidFill>
          <a:ln w="9525">
            <a:solidFill>
              <a:srgbClr val="0A1F44"/>
            </a:solidFill>
            <a:prstDash val="solid"/>
          </a:ln>
        </p:spPr>
      </p:sp>
      <p:sp>
        <p:nvSpPr>
          <p:cNvPr id="43" name="Text 37"/>
          <p:cNvSpPr txBox="1"/>
          <p:nvPr/>
        </p:nvSpPr>
        <p:spPr>
          <a:xfrm>
            <a:off x="3785616" y="2560320"/>
            <a:ext cx="1121054" cy="228600"/>
          </a:xfrm>
          <a:prstGeom prst="rect">
            <a:avLst/>
          </a:prstGeom>
          <a:noFill/>
          <a:ln/>
        </p:spPr>
        <p:txBody>
          <a:bodyPr wrap="square" lIns="0" tIns="0" rIns="0" bIns="0" rtlCol="0" anchor="ctr"/>
          <a:lstStyle/>
          <a:p>
            <a:pPr algn="ctr" indent="0" marL="0">
              <a:buNone/>
            </a:pPr>
            <a:r>
              <a:rPr lang="en-US" sz="750" b="1" dirty="0">
                <a:solidFill>
                  <a:srgbClr val="FFFFFF"/>
                </a:solidFill>
                <a:latin typeface="Inter" pitchFamily="34" charset="0"/>
                <a:ea typeface="Inter" pitchFamily="34" charset="-122"/>
                <a:cs typeface="Inter" pitchFamily="34" charset="-120"/>
              </a:rPr>
              <a:t>Track It in the App</a:t>
            </a:r>
            <a:endParaRPr lang="en-US" sz="750" dirty="0"/>
          </a:p>
        </p:txBody>
      </p:sp>
      <p:sp>
        <p:nvSpPr>
          <p:cNvPr id="44" name="Shape 38"/>
          <p:cNvSpPr/>
          <p:nvPr/>
        </p:nvSpPr>
        <p:spPr>
          <a:xfrm>
            <a:off x="4961534" y="2560320"/>
            <a:ext cx="676656" cy="228600"/>
          </a:xfrm>
          <a:prstGeom prst="roundRect">
            <a:avLst>
              <a:gd name="adj" fmla="val 48000"/>
            </a:avLst>
          </a:prstGeom>
          <a:solidFill>
            <a:srgbClr val="0A1F44"/>
          </a:solidFill>
          <a:ln w="9525">
            <a:solidFill>
              <a:srgbClr val="0A1F44"/>
            </a:solidFill>
            <a:prstDash val="solid"/>
          </a:ln>
        </p:spPr>
      </p:sp>
      <p:sp>
        <p:nvSpPr>
          <p:cNvPr id="45" name="Text 39"/>
          <p:cNvSpPr txBox="1"/>
          <p:nvPr/>
        </p:nvSpPr>
        <p:spPr>
          <a:xfrm>
            <a:off x="4961534" y="2560320"/>
            <a:ext cx="676656" cy="228600"/>
          </a:xfrm>
          <a:prstGeom prst="rect">
            <a:avLst/>
          </a:prstGeom>
          <a:noFill/>
          <a:ln/>
        </p:spPr>
        <p:txBody>
          <a:bodyPr wrap="square" lIns="0" tIns="0" rIns="0" bIns="0" rtlCol="0" anchor="ctr"/>
          <a:lstStyle/>
          <a:p>
            <a:pPr algn="ctr" indent="0" marL="0">
              <a:buNone/>
            </a:pPr>
            <a:r>
              <a:rPr lang="en-US" sz="750" b="1" dirty="0">
                <a:solidFill>
                  <a:srgbClr val="FFFFFF"/>
                </a:solidFill>
                <a:latin typeface="Inter" pitchFamily="34" charset="0"/>
                <a:ea typeface="Inter" pitchFamily="34" charset="-122"/>
                <a:cs typeface="Inter" pitchFamily="34" charset="-120"/>
              </a:rPr>
              <a:t>Saved Cart</a:t>
            </a:r>
            <a:endParaRPr lang="en-US" sz="750" dirty="0"/>
          </a:p>
        </p:txBody>
      </p:sp>
      <p:sp>
        <p:nvSpPr>
          <p:cNvPr id="46" name="Shape 40"/>
          <p:cNvSpPr/>
          <p:nvPr/>
        </p:nvSpPr>
        <p:spPr>
          <a:xfrm>
            <a:off x="5693054" y="2560320"/>
            <a:ext cx="1269187" cy="228600"/>
          </a:xfrm>
          <a:prstGeom prst="roundRect">
            <a:avLst>
              <a:gd name="adj" fmla="val 48000"/>
            </a:avLst>
          </a:prstGeom>
          <a:solidFill>
            <a:srgbClr val="FFFFFF"/>
          </a:solidFill>
          <a:ln w="9525">
            <a:solidFill>
              <a:srgbClr val="94A3B8"/>
            </a:solidFill>
            <a:prstDash val="dash"/>
          </a:ln>
        </p:spPr>
      </p:sp>
      <p:sp>
        <p:nvSpPr>
          <p:cNvPr id="47" name="Text 41"/>
          <p:cNvSpPr txBox="1"/>
          <p:nvPr/>
        </p:nvSpPr>
        <p:spPr>
          <a:xfrm>
            <a:off x="5693054" y="2560320"/>
            <a:ext cx="1269187" cy="228600"/>
          </a:xfrm>
          <a:prstGeom prst="rect">
            <a:avLst/>
          </a:prstGeom>
          <a:noFill/>
          <a:ln/>
        </p:spPr>
        <p:txBody>
          <a:bodyPr wrap="square" lIns="0" tIns="0" rIns="0" bIns="0" rtlCol="0" anchor="ctr"/>
          <a:lstStyle/>
          <a:p>
            <a:pPr algn="ctr" indent="0" marL="0">
              <a:buNone/>
            </a:pPr>
            <a:r>
              <a:rPr lang="en-US" sz="750" b="1" dirty="0">
                <a:solidFill>
                  <a:srgbClr val="64748B"/>
                </a:solidFill>
                <a:latin typeface="Inter" pitchFamily="34" charset="0"/>
                <a:ea typeface="Inter" pitchFamily="34" charset="-122"/>
                <a:cs typeface="Inter" pitchFamily="34" charset="-120"/>
              </a:rPr>
              <a:t>Restock-First Waitlist</a:t>
            </a:r>
            <a:endParaRPr lang="en-US" sz="750" dirty="0"/>
          </a:p>
        </p:txBody>
      </p:sp>
      <p:sp>
        <p:nvSpPr>
          <p:cNvPr id="48" name="Shape 42"/>
          <p:cNvSpPr/>
          <p:nvPr/>
        </p:nvSpPr>
        <p:spPr>
          <a:xfrm>
            <a:off x="9747504" y="1682496"/>
            <a:ext cx="1847088" cy="1051560"/>
          </a:xfrm>
          <a:prstGeom prst="roundRect">
            <a:avLst>
              <a:gd name="adj" fmla="val 5217"/>
            </a:avLst>
          </a:prstGeom>
          <a:solidFill>
            <a:srgbClr val="0A1F44"/>
          </a:solidFill>
          <a:ln w="6350">
            <a:solidFill>
              <a:srgbClr val="0A1F44"/>
            </a:solidFill>
            <a:prstDash val="solid"/>
          </a:ln>
        </p:spPr>
      </p:sp>
      <p:sp>
        <p:nvSpPr>
          <p:cNvPr id="49" name="Text 43"/>
          <p:cNvSpPr txBox="1"/>
          <p:nvPr/>
        </p:nvSpPr>
        <p:spPr>
          <a:xfrm>
            <a:off x="9875520" y="1682496"/>
            <a:ext cx="1664208" cy="1051560"/>
          </a:xfrm>
          <a:prstGeom prst="rect">
            <a:avLst/>
          </a:prstGeom>
          <a:noFill/>
          <a:ln/>
        </p:spPr>
        <p:txBody>
          <a:bodyPr wrap="square" lIns="0" tIns="0" rIns="0" bIns="0" rtlCol="0" anchor="ctr"/>
          <a:lstStyle/>
          <a:p>
            <a:pPr indent="0" marL="0">
              <a:buNone/>
            </a:pPr>
            <a:r>
              <a:rPr lang="en-US" sz="1100" b="1" dirty="0">
                <a:solidFill>
                  <a:srgbClr val="FFFFFF"/>
                </a:solidFill>
                <a:latin typeface="Inter" pitchFamily="34" charset="0"/>
                <a:ea typeface="Inter" pitchFamily="34" charset="-122"/>
                <a:cs typeface="Inter" pitchFamily="34" charset="-120"/>
              </a:rPr>
              <a:t>$6M owned line</a:t>
            </a:r>
            <a:endParaRPr lang="en-US" sz="1200" dirty="0"/>
          </a:p>
          <a:p>
            <a:pPr indent="0" marL="0">
              <a:buNone/>
            </a:pPr>
            <a:r>
              <a:rPr lang="en-US" sz="900" dirty="0">
                <a:solidFill>
                  <a:srgbClr val="C7D7F5"/>
                </a:solidFill>
                <a:latin typeface="Inter" pitchFamily="34" charset="0"/>
                <a:ea typeface="Inter" pitchFamily="34" charset="-122"/>
                <a:cs typeface="Inter" pitchFamily="34" charset="-120"/>
              </a:rPr>
              <a:t>Option A's $2–3M (Exhibit I)</a:t>
            </a:r>
            <a:endParaRPr lang="en-US" sz="1200" dirty="0"/>
          </a:p>
        </p:txBody>
      </p:sp>
      <p:sp>
        <p:nvSpPr>
          <p:cNvPr id="50" name="Shape 44"/>
          <p:cNvSpPr/>
          <p:nvPr/>
        </p:nvSpPr>
        <p:spPr>
          <a:xfrm>
            <a:off x="502920" y="2916936"/>
            <a:ext cx="11183112" cy="1234440"/>
          </a:xfrm>
          <a:prstGeom prst="roundRect">
            <a:avLst>
              <a:gd name="adj" fmla="val 5926"/>
            </a:avLst>
          </a:prstGeom>
          <a:solidFill>
            <a:srgbClr val="FFFFFF"/>
          </a:solidFill>
          <a:ln w="9525">
            <a:solidFill>
              <a:srgbClr val="E2E8F0"/>
            </a:solidFill>
            <a:prstDash val="solid"/>
          </a:ln>
        </p:spPr>
      </p:sp>
      <p:sp>
        <p:nvSpPr>
          <p:cNvPr id="51" name="Shape 45"/>
          <p:cNvSpPr/>
          <p:nvPr/>
        </p:nvSpPr>
        <p:spPr>
          <a:xfrm>
            <a:off x="612648" y="3044952"/>
            <a:ext cx="329184" cy="329184"/>
          </a:xfrm>
          <a:prstGeom prst="ellipse">
            <a:avLst/>
          </a:prstGeom>
          <a:solidFill>
            <a:srgbClr val="0A1F44"/>
          </a:solidFill>
          <a:ln w="6350">
            <a:solidFill>
              <a:srgbClr val="0A1F44"/>
            </a:solidFill>
            <a:prstDash val="solid"/>
          </a:ln>
        </p:spPr>
      </p:sp>
      <p:sp>
        <p:nvSpPr>
          <p:cNvPr id="52" name="Text 46"/>
          <p:cNvSpPr txBox="1"/>
          <p:nvPr/>
        </p:nvSpPr>
        <p:spPr>
          <a:xfrm>
            <a:off x="612648" y="3044952"/>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2</a:t>
            </a:r>
            <a:endParaRPr lang="en-US" sz="1200" dirty="0"/>
          </a:p>
        </p:txBody>
      </p:sp>
      <p:sp>
        <p:nvSpPr>
          <p:cNvPr id="53" name="Text 47"/>
          <p:cNvSpPr txBox="1"/>
          <p:nvPr/>
        </p:nvSpPr>
        <p:spPr>
          <a:xfrm>
            <a:off x="1014984" y="3008376"/>
            <a:ext cx="1554480" cy="402336"/>
          </a:xfrm>
          <a:prstGeom prst="rect">
            <a:avLst/>
          </a:prstGeom>
          <a:noFill/>
          <a:ln/>
        </p:spPr>
        <p:txBody>
          <a:bodyPr wrap="square" lIns="0" tIns="0" rIns="0" bIns="0" rtlCol="0" anchor="ctr"/>
          <a:lstStyle/>
          <a:p>
            <a:pPr indent="0" marL="0">
              <a:buNone/>
            </a:pPr>
            <a:r>
              <a:rPr lang="en-US" sz="1150" b="1" dirty="0">
                <a:solidFill>
                  <a:srgbClr val="0A1F44"/>
                </a:solidFill>
                <a:latin typeface="Inter" pitchFamily="34" charset="0"/>
                <a:ea typeface="Inter" pitchFamily="34" charset="-122"/>
                <a:cs typeface="Inter" pitchFamily="34" charset="-120"/>
              </a:rPr>
              <a:t>Win the Golden Month</a:t>
            </a:r>
            <a:endParaRPr lang="en-US" sz="1150" dirty="0"/>
          </a:p>
        </p:txBody>
      </p:sp>
      <p:sp>
        <p:nvSpPr>
          <p:cNvPr id="54" name="Text 48"/>
          <p:cNvSpPr txBox="1"/>
          <p:nvPr/>
        </p:nvSpPr>
        <p:spPr>
          <a:xfrm>
            <a:off x="630936" y="3429000"/>
            <a:ext cx="1920240" cy="420624"/>
          </a:xfrm>
          <a:prstGeom prst="rect">
            <a:avLst/>
          </a:prstGeom>
          <a:noFill/>
          <a:ln/>
        </p:spPr>
        <p:txBody>
          <a:bodyPr wrap="square" lIns="0" tIns="0" rIns="0" bIns="0" rtlCol="0" anchor="t"/>
          <a:lstStyle/>
          <a:p>
            <a:pPr indent="0" marL="0">
              <a:buNone/>
            </a:pPr>
            <a:r>
              <a:rPr lang="en-US" sz="900" dirty="0">
                <a:solidFill>
                  <a:srgbClr val="334155"/>
                </a:solidFill>
                <a:latin typeface="Inter" pitchFamily="34" charset="0"/>
                <a:ea typeface="Inter" pitchFamily="34" charset="-122"/>
                <a:cs typeface="Inter" pitchFamily="34" charset="-120"/>
              </a:rPr>
              <a:t>Repeat peaks in week 2; cashmere repeats least, 13.7%</a:t>
            </a:r>
            <a:endParaRPr lang="en-US" sz="900" dirty="0"/>
          </a:p>
        </p:txBody>
      </p:sp>
      <p:sp>
        <p:nvSpPr>
          <p:cNvPr id="55" name="Shape 49"/>
          <p:cNvSpPr/>
          <p:nvPr/>
        </p:nvSpPr>
        <p:spPr>
          <a:xfrm>
            <a:off x="2697480" y="3008376"/>
            <a:ext cx="256032" cy="256032"/>
          </a:xfrm>
          <a:prstGeom prst="ellipse">
            <a:avLst/>
          </a:prstGeom>
          <a:solidFill>
            <a:srgbClr val="EFF6FF"/>
          </a:solidFill>
          <a:ln w="6350">
            <a:solidFill>
              <a:srgbClr val="EFF6FF"/>
            </a:solidFill>
            <a:prstDash val="solid"/>
          </a:ln>
        </p:spPr>
      </p:sp>
      <p:pic>
        <p:nvPicPr>
          <p:cNvPr id="56" name="Image 4" descr="preencoded.png">    </p:cNvPr>
          <p:cNvPicPr>
            <a:picLocks noChangeAspect="1"/>
          </p:cNvPicPr>
          <p:nvPr/>
        </p:nvPicPr>
        <p:blipFill>
          <a:blip r:embed="rId5"/>
          <a:stretch>
            <a:fillRect/>
          </a:stretch>
        </p:blipFill>
        <p:spPr>
          <a:xfrm>
            <a:off x="2753807" y="3064703"/>
            <a:ext cx="143378" cy="143378"/>
          </a:xfrm>
          <a:prstGeom prst="rect">
            <a:avLst/>
          </a:prstGeom>
        </p:spPr>
      </p:pic>
      <p:sp>
        <p:nvSpPr>
          <p:cNvPr id="57" name="Text 50"/>
          <p:cNvSpPr txBox="1"/>
          <p:nvPr/>
        </p:nvSpPr>
        <p:spPr>
          <a:xfrm>
            <a:off x="3008376" y="3008376"/>
            <a:ext cx="1271016" cy="256032"/>
          </a:xfrm>
          <a:prstGeom prst="rect">
            <a:avLst/>
          </a:prstGeom>
          <a:noFill/>
          <a:ln/>
        </p:spPr>
        <p:txBody>
          <a:bodyPr wrap="square" lIns="0" tIns="0" rIns="0" bIns="0" rtlCol="0" anchor="ctr"/>
          <a:lstStyle/>
          <a:p>
            <a:pPr indent="0" marL="0">
              <a:buNone/>
            </a:pPr>
            <a:r>
              <a:rPr lang="en-US" sz="900" b="1" dirty="0">
                <a:solidFill>
                  <a:srgbClr val="0A1F44"/>
                </a:solidFill>
                <a:latin typeface="Inter" pitchFamily="34" charset="0"/>
                <a:ea typeface="Inter" pitchFamily="34" charset="-122"/>
                <a:cs typeface="Inter" pitchFamily="34" charset="-120"/>
              </a:rPr>
              <a:t>Shipping events</a:t>
            </a:r>
            <a:endParaRPr lang="en-US" sz="900" dirty="0"/>
          </a:p>
        </p:txBody>
      </p:sp>
      <p:sp>
        <p:nvSpPr>
          <p:cNvPr id="58" name="Shape 51"/>
          <p:cNvSpPr/>
          <p:nvPr/>
        </p:nvSpPr>
        <p:spPr>
          <a:xfrm>
            <a:off x="2697480" y="3291840"/>
            <a:ext cx="256032" cy="256032"/>
          </a:xfrm>
          <a:prstGeom prst="ellipse">
            <a:avLst/>
          </a:prstGeom>
          <a:solidFill>
            <a:srgbClr val="EFF6FF"/>
          </a:solidFill>
          <a:ln w="6350">
            <a:solidFill>
              <a:srgbClr val="EFF6FF"/>
            </a:solidFill>
            <a:prstDash val="solid"/>
          </a:ln>
        </p:spPr>
      </p:sp>
      <p:pic>
        <p:nvPicPr>
          <p:cNvPr id="59" name="Image 5" descr="preencoded.png">    </p:cNvPr>
          <p:cNvPicPr>
            <a:picLocks noChangeAspect="1"/>
          </p:cNvPicPr>
          <p:nvPr/>
        </p:nvPicPr>
        <p:blipFill>
          <a:blip r:embed="rId6"/>
          <a:stretch>
            <a:fillRect/>
          </a:stretch>
        </p:blipFill>
        <p:spPr>
          <a:xfrm>
            <a:off x="2753807" y="3348167"/>
            <a:ext cx="143378" cy="143378"/>
          </a:xfrm>
          <a:prstGeom prst="rect">
            <a:avLst/>
          </a:prstGeom>
        </p:spPr>
      </p:pic>
      <p:sp>
        <p:nvSpPr>
          <p:cNvPr id="60" name="Text 52"/>
          <p:cNvSpPr txBox="1"/>
          <p:nvPr/>
        </p:nvSpPr>
        <p:spPr>
          <a:xfrm>
            <a:off x="3008376" y="3291840"/>
            <a:ext cx="1271016" cy="256032"/>
          </a:xfrm>
          <a:prstGeom prst="rect">
            <a:avLst/>
          </a:prstGeom>
          <a:noFill/>
          <a:ln/>
        </p:spPr>
        <p:txBody>
          <a:bodyPr wrap="square" lIns="0" tIns="0" rIns="0" bIns="0" rtlCol="0" anchor="ctr"/>
          <a:lstStyle/>
          <a:p>
            <a:pPr indent="0" marL="0">
              <a:buNone/>
            </a:pPr>
            <a:r>
              <a:rPr lang="en-US" sz="900" b="1" dirty="0">
                <a:solidFill>
                  <a:srgbClr val="0A1F44"/>
                </a:solidFill>
                <a:latin typeface="Inter" pitchFamily="34" charset="0"/>
                <a:ea typeface="Inter" pitchFamily="34" charset="-122"/>
                <a:cs typeface="Inter" pitchFamily="34" charset="-120"/>
              </a:rPr>
              <a:t>Journey Optimizer</a:t>
            </a:r>
            <a:endParaRPr lang="en-US" sz="900" dirty="0"/>
          </a:p>
        </p:txBody>
      </p:sp>
      <p:sp>
        <p:nvSpPr>
          <p:cNvPr id="61" name="Shape 53"/>
          <p:cNvSpPr/>
          <p:nvPr/>
        </p:nvSpPr>
        <p:spPr>
          <a:xfrm>
            <a:off x="2697480" y="3575304"/>
            <a:ext cx="256032" cy="256032"/>
          </a:xfrm>
          <a:prstGeom prst="ellipse">
            <a:avLst/>
          </a:prstGeom>
          <a:solidFill>
            <a:srgbClr val="EFF6FF"/>
          </a:solidFill>
          <a:ln w="6350">
            <a:solidFill>
              <a:srgbClr val="EFF6FF"/>
            </a:solidFill>
            <a:prstDash val="solid"/>
          </a:ln>
        </p:spPr>
      </p:sp>
      <p:pic>
        <p:nvPicPr>
          <p:cNvPr id="62" name="Image 6" descr="preencoded.png">    </p:cNvPr>
          <p:cNvPicPr>
            <a:picLocks noChangeAspect="1"/>
          </p:cNvPicPr>
          <p:nvPr/>
        </p:nvPicPr>
        <p:blipFill>
          <a:blip r:embed="rId7"/>
          <a:stretch>
            <a:fillRect/>
          </a:stretch>
        </p:blipFill>
        <p:spPr>
          <a:xfrm>
            <a:off x="2753807" y="3631631"/>
            <a:ext cx="143378" cy="143378"/>
          </a:xfrm>
          <a:prstGeom prst="rect">
            <a:avLst/>
          </a:prstGeom>
        </p:spPr>
      </p:pic>
      <p:sp>
        <p:nvSpPr>
          <p:cNvPr id="63" name="Text 54"/>
          <p:cNvSpPr txBox="1"/>
          <p:nvPr/>
        </p:nvSpPr>
        <p:spPr>
          <a:xfrm>
            <a:off x="3008376" y="3575304"/>
            <a:ext cx="1271016" cy="256032"/>
          </a:xfrm>
          <a:prstGeom prst="rect">
            <a:avLst/>
          </a:prstGeom>
          <a:noFill/>
          <a:ln/>
        </p:spPr>
        <p:txBody>
          <a:bodyPr wrap="square" lIns="0" tIns="0" rIns="0" bIns="0" rtlCol="0" anchor="ctr"/>
          <a:lstStyle/>
          <a:p>
            <a:pPr indent="0" marL="0">
              <a:buNone/>
            </a:pPr>
            <a:r>
              <a:rPr lang="en-US" sz="900" b="1" dirty="0">
                <a:solidFill>
                  <a:srgbClr val="0A1F44"/>
                </a:solidFill>
                <a:latin typeface="Inter" pitchFamily="34" charset="0"/>
                <a:ea typeface="Inter" pitchFamily="34" charset="-122"/>
                <a:cs typeface="Inter" pitchFamily="34" charset="-120"/>
              </a:rPr>
              <a:t>Email + app push</a:t>
            </a:r>
            <a:endParaRPr lang="en-US" sz="900" dirty="0"/>
          </a:p>
        </p:txBody>
      </p:sp>
      <p:sp>
        <p:nvSpPr>
          <p:cNvPr id="64" name="Shape 55"/>
          <p:cNvSpPr/>
          <p:nvPr/>
        </p:nvSpPr>
        <p:spPr>
          <a:xfrm>
            <a:off x="4389120" y="3008376"/>
            <a:ext cx="1664208" cy="731520"/>
          </a:xfrm>
          <a:prstGeom prst="roundRect">
            <a:avLst>
              <a:gd name="adj" fmla="val 7500"/>
            </a:avLst>
          </a:prstGeom>
          <a:solidFill>
            <a:srgbClr val="FFFFFF"/>
          </a:solidFill>
          <a:ln w="9525">
            <a:solidFill>
              <a:srgbClr val="E2E8F0"/>
            </a:solidFill>
            <a:prstDash val="solid"/>
          </a:ln>
        </p:spPr>
      </p:sp>
      <p:sp>
        <p:nvSpPr>
          <p:cNvPr id="65" name="Text 56"/>
          <p:cNvSpPr txBox="1"/>
          <p:nvPr/>
        </p:nvSpPr>
        <p:spPr>
          <a:xfrm>
            <a:off x="4480560" y="3008376"/>
            <a:ext cx="1499616" cy="731520"/>
          </a:xfrm>
          <a:prstGeom prst="rect">
            <a:avLst/>
          </a:prstGeom>
          <a:noFill/>
          <a:ln/>
        </p:spPr>
        <p:txBody>
          <a:bodyPr wrap="square" lIns="0" tIns="0" rIns="0" bIns="0" rtlCol="0" anchor="ctr"/>
          <a:lstStyle/>
          <a:p>
            <a:pPr indent="0" marL="0">
              <a:buNone/>
            </a:pPr>
            <a:r>
              <a:rPr lang="en-US" sz="900" dirty="0">
                <a:solidFill>
                  <a:srgbClr val="0F172A"/>
                </a:solidFill>
                <a:latin typeface="Inter" pitchFamily="34" charset="0"/>
                <a:ea typeface="Inter" pitchFamily="34" charset="-122"/>
                <a:cs typeface="Inter" pitchFamily="34" charset="-120"/>
              </a:rPr>
              <a:t>Delivery events to person ID; care and next-category content</a:t>
            </a:r>
            <a:endParaRPr lang="en-US" sz="900" dirty="0"/>
          </a:p>
        </p:txBody>
      </p:sp>
      <p:sp>
        <p:nvSpPr>
          <p:cNvPr id="66" name="Shape 57"/>
          <p:cNvSpPr/>
          <p:nvPr/>
        </p:nvSpPr>
        <p:spPr>
          <a:xfrm>
            <a:off x="6181344" y="3008376"/>
            <a:ext cx="1664208" cy="731520"/>
          </a:xfrm>
          <a:prstGeom prst="roundRect">
            <a:avLst>
              <a:gd name="adj" fmla="val 7500"/>
            </a:avLst>
          </a:prstGeom>
          <a:solidFill>
            <a:srgbClr val="FFFFFF"/>
          </a:solidFill>
          <a:ln w="9525">
            <a:solidFill>
              <a:srgbClr val="E2E8F0"/>
            </a:solidFill>
            <a:prstDash val="solid"/>
          </a:ln>
        </p:spPr>
      </p:sp>
      <p:sp>
        <p:nvSpPr>
          <p:cNvPr id="67" name="Text 58"/>
          <p:cNvSpPr txBox="1"/>
          <p:nvPr/>
        </p:nvSpPr>
        <p:spPr>
          <a:xfrm>
            <a:off x="6272784" y="3008376"/>
            <a:ext cx="1499616" cy="731520"/>
          </a:xfrm>
          <a:prstGeom prst="rect">
            <a:avLst/>
          </a:prstGeom>
          <a:noFill/>
          <a:ln/>
        </p:spPr>
        <p:txBody>
          <a:bodyPr wrap="square" lIns="0" tIns="0" rIns="0" bIns="0" rtlCol="0" anchor="ctr"/>
          <a:lstStyle/>
          <a:p>
            <a:pPr indent="0" marL="0">
              <a:buNone/>
            </a:pPr>
            <a:r>
              <a:rPr lang="en-US" sz="900" dirty="0">
                <a:solidFill>
                  <a:srgbClr val="0F172A"/>
                </a:solidFill>
                <a:latin typeface="Inter" pitchFamily="34" charset="0"/>
                <a:ea typeface="Inter" pitchFamily="34" charset="-122"/>
                <a:cs typeface="Inter" pitchFamily="34" charset="-120"/>
              </a:rPr>
              <a:t>Care guide at delivery; second category by day 21</a:t>
            </a:r>
            <a:endParaRPr lang="en-US" sz="900" dirty="0"/>
          </a:p>
        </p:txBody>
      </p:sp>
      <p:sp>
        <p:nvSpPr>
          <p:cNvPr id="68" name="Shape 59"/>
          <p:cNvSpPr/>
          <p:nvPr/>
        </p:nvSpPr>
        <p:spPr>
          <a:xfrm>
            <a:off x="7973568" y="3008376"/>
            <a:ext cx="1572768" cy="731520"/>
          </a:xfrm>
          <a:prstGeom prst="roundRect">
            <a:avLst>
              <a:gd name="adj" fmla="val 7500"/>
            </a:avLst>
          </a:prstGeom>
          <a:solidFill>
            <a:srgbClr val="EFF6FF"/>
          </a:solidFill>
          <a:ln w="9525">
            <a:solidFill>
              <a:srgbClr val="E2E8F0"/>
            </a:solidFill>
            <a:prstDash val="solid"/>
          </a:ln>
        </p:spPr>
      </p:sp>
      <p:sp>
        <p:nvSpPr>
          <p:cNvPr id="69" name="Text 60"/>
          <p:cNvSpPr txBox="1"/>
          <p:nvPr/>
        </p:nvSpPr>
        <p:spPr>
          <a:xfrm>
            <a:off x="8065008" y="3008376"/>
            <a:ext cx="1408176" cy="731520"/>
          </a:xfrm>
          <a:prstGeom prst="rect">
            <a:avLst/>
          </a:prstGeom>
          <a:noFill/>
          <a:ln/>
        </p:spPr>
        <p:txBody>
          <a:bodyPr wrap="square" lIns="0" tIns="0" rIns="0" bIns="0" rtlCol="0" anchor="ctr"/>
          <a:lstStyle/>
          <a:p>
            <a:pPr indent="0" marL="0">
              <a:buNone/>
            </a:pPr>
            <a:r>
              <a:rPr lang="en-US" sz="900" b="1" dirty="0">
                <a:solidFill>
                  <a:srgbClr val="0A1F44"/>
                </a:solidFill>
                <a:latin typeface="Inter" pitchFamily="34" charset="0"/>
                <a:ea typeface="Inter" pitchFamily="34" charset="-122"/>
                <a:cs typeface="Inter" pitchFamily="34" charset="-120"/>
              </a:rPr>
              <a:t>30-day and week-2 repeat</a:t>
            </a:r>
            <a:endParaRPr lang="en-US" sz="900" dirty="0"/>
          </a:p>
        </p:txBody>
      </p:sp>
      <p:sp>
        <p:nvSpPr>
          <p:cNvPr id="70" name="Shape 61"/>
          <p:cNvSpPr/>
          <p:nvPr/>
        </p:nvSpPr>
        <p:spPr>
          <a:xfrm>
            <a:off x="612648" y="3831336"/>
            <a:ext cx="9025128" cy="0"/>
          </a:xfrm>
          <a:prstGeom prst="line">
            <a:avLst/>
          </a:prstGeom>
          <a:noFill/>
          <a:ln w="6350">
            <a:solidFill>
              <a:srgbClr val="E2E8F0"/>
            </a:solidFill>
            <a:prstDash val="solid"/>
          </a:ln>
        </p:spPr>
      </p:sp>
      <p:sp>
        <p:nvSpPr>
          <p:cNvPr id="71" name="Text 62"/>
          <p:cNvSpPr txBox="1"/>
          <p:nvPr/>
        </p:nvSpPr>
        <p:spPr>
          <a:xfrm>
            <a:off x="630936" y="3886200"/>
            <a:ext cx="1371600" cy="228600"/>
          </a:xfrm>
          <a:prstGeom prst="rect">
            <a:avLst/>
          </a:prstGeom>
          <a:noFill/>
          <a:ln/>
        </p:spPr>
        <p:txBody>
          <a:bodyPr wrap="square" lIns="0" tIns="0" rIns="0" bIns="0" rtlCol="0" anchor="ctr"/>
          <a:lstStyle/>
          <a:p>
            <a:pPr indent="0" marL="0">
              <a:buNone/>
            </a:pPr>
            <a:r>
              <a:rPr lang="en-US" sz="900" b="1" dirty="0">
                <a:solidFill>
                  <a:srgbClr val="0A1F44"/>
                </a:solidFill>
                <a:latin typeface="Inter" pitchFamily="34" charset="0"/>
                <a:ea typeface="Inter" pitchFamily="34" charset="-122"/>
                <a:cs typeface="Inter" pitchFamily="34" charset="-120"/>
              </a:rPr>
              <a:t>Programs</a:t>
            </a:r>
            <a:endParaRPr lang="en-US" sz="900" dirty="0"/>
          </a:p>
        </p:txBody>
      </p:sp>
      <p:sp>
        <p:nvSpPr>
          <p:cNvPr id="72" name="Shape 63"/>
          <p:cNvSpPr/>
          <p:nvPr/>
        </p:nvSpPr>
        <p:spPr>
          <a:xfrm>
            <a:off x="2697480" y="3886200"/>
            <a:ext cx="1280160" cy="228600"/>
          </a:xfrm>
          <a:prstGeom prst="roundRect">
            <a:avLst>
              <a:gd name="adj" fmla="val 48000"/>
            </a:avLst>
          </a:prstGeom>
          <a:solidFill>
            <a:srgbClr val="0A1F44"/>
          </a:solidFill>
          <a:ln w="9525">
            <a:solidFill>
              <a:srgbClr val="0A1F44"/>
            </a:solidFill>
            <a:prstDash val="solid"/>
          </a:ln>
        </p:spPr>
      </p:sp>
      <p:sp>
        <p:nvSpPr>
          <p:cNvPr id="73" name="Text 64"/>
          <p:cNvSpPr txBox="1"/>
          <p:nvPr/>
        </p:nvSpPr>
        <p:spPr>
          <a:xfrm>
            <a:off x="2697480" y="3886200"/>
            <a:ext cx="1280160" cy="228600"/>
          </a:xfrm>
          <a:prstGeom prst="rect">
            <a:avLst/>
          </a:prstGeom>
          <a:noFill/>
          <a:ln/>
        </p:spPr>
        <p:txBody>
          <a:bodyPr wrap="square" lIns="0" tIns="0" rIns="0" bIns="0" rtlCol="0" anchor="ctr"/>
          <a:lstStyle/>
          <a:p>
            <a:pPr algn="ctr" indent="0" marL="0">
              <a:buNone/>
            </a:pPr>
            <a:r>
              <a:rPr lang="en-US" sz="750" b="1" dirty="0">
                <a:solidFill>
                  <a:srgbClr val="FFFFFF"/>
                </a:solidFill>
                <a:latin typeface="Inter" pitchFamily="34" charset="0"/>
                <a:ea typeface="Inter" pitchFamily="34" charset="-122"/>
                <a:cs typeface="Inter" pitchFamily="34" charset="-120"/>
              </a:rPr>
              <a:t>★ Material Journeys v1</a:t>
            </a:r>
            <a:endParaRPr lang="en-US" sz="750" dirty="0"/>
          </a:p>
        </p:txBody>
      </p:sp>
      <p:sp>
        <p:nvSpPr>
          <p:cNvPr id="74" name="Shape 65"/>
          <p:cNvSpPr/>
          <p:nvPr/>
        </p:nvSpPr>
        <p:spPr>
          <a:xfrm>
            <a:off x="4032504" y="3886200"/>
            <a:ext cx="824789" cy="228600"/>
          </a:xfrm>
          <a:prstGeom prst="roundRect">
            <a:avLst>
              <a:gd name="adj" fmla="val 48000"/>
            </a:avLst>
          </a:prstGeom>
          <a:solidFill>
            <a:srgbClr val="0A1F44"/>
          </a:solidFill>
          <a:ln w="9525">
            <a:solidFill>
              <a:srgbClr val="0A1F44"/>
            </a:solidFill>
            <a:prstDash val="solid"/>
          </a:ln>
        </p:spPr>
      </p:sp>
      <p:sp>
        <p:nvSpPr>
          <p:cNvPr id="75" name="Text 66"/>
          <p:cNvSpPr txBox="1"/>
          <p:nvPr/>
        </p:nvSpPr>
        <p:spPr>
          <a:xfrm>
            <a:off x="4032504" y="3886200"/>
            <a:ext cx="824789" cy="228600"/>
          </a:xfrm>
          <a:prstGeom prst="rect">
            <a:avLst/>
          </a:prstGeom>
          <a:noFill/>
          <a:ln/>
        </p:spPr>
        <p:txBody>
          <a:bodyPr wrap="square" lIns="0" tIns="0" rIns="0" bIns="0" rtlCol="0" anchor="ctr"/>
          <a:lstStyle/>
          <a:p>
            <a:pPr algn="ctr" indent="0" marL="0">
              <a:buNone/>
            </a:pPr>
            <a:r>
              <a:rPr lang="en-US" sz="750" b="1" dirty="0">
                <a:solidFill>
                  <a:srgbClr val="FFFFFF"/>
                </a:solidFill>
                <a:latin typeface="Inter" pitchFamily="34" charset="0"/>
                <a:ea typeface="Inter" pitchFamily="34" charset="-122"/>
                <a:cs typeface="Inter" pitchFamily="34" charset="-120"/>
              </a:rPr>
              <a:t>Care Calendar</a:t>
            </a:r>
            <a:endParaRPr lang="en-US" sz="750" dirty="0"/>
          </a:p>
        </p:txBody>
      </p:sp>
      <p:sp>
        <p:nvSpPr>
          <p:cNvPr id="76" name="Shape 67"/>
          <p:cNvSpPr/>
          <p:nvPr/>
        </p:nvSpPr>
        <p:spPr>
          <a:xfrm>
            <a:off x="4912157" y="3886200"/>
            <a:ext cx="726034" cy="228600"/>
          </a:xfrm>
          <a:prstGeom prst="roundRect">
            <a:avLst>
              <a:gd name="adj" fmla="val 48000"/>
            </a:avLst>
          </a:prstGeom>
          <a:solidFill>
            <a:srgbClr val="FFFFFF"/>
          </a:solidFill>
          <a:ln w="9525">
            <a:solidFill>
              <a:srgbClr val="94A3B8"/>
            </a:solidFill>
            <a:prstDash val="dash"/>
          </a:ln>
        </p:spPr>
      </p:sp>
      <p:sp>
        <p:nvSpPr>
          <p:cNvPr id="77" name="Text 68"/>
          <p:cNvSpPr txBox="1"/>
          <p:nvPr/>
        </p:nvSpPr>
        <p:spPr>
          <a:xfrm>
            <a:off x="4912157" y="3886200"/>
            <a:ext cx="726034" cy="228600"/>
          </a:xfrm>
          <a:prstGeom prst="rect">
            <a:avLst/>
          </a:prstGeom>
          <a:noFill/>
          <a:ln/>
        </p:spPr>
        <p:txBody>
          <a:bodyPr wrap="square" lIns="0" tIns="0" rIns="0" bIns="0" rtlCol="0" anchor="ctr"/>
          <a:lstStyle/>
          <a:p>
            <a:pPr algn="ctr" indent="0" marL="0">
              <a:buNone/>
            </a:pPr>
            <a:r>
              <a:rPr lang="en-US" sz="750" b="1" dirty="0">
                <a:solidFill>
                  <a:srgbClr val="64748B"/>
                </a:solidFill>
                <a:latin typeface="Inter" pitchFamily="34" charset="0"/>
                <a:ea typeface="Inter" pitchFamily="34" charset="-122"/>
                <a:cs typeface="Inter" pitchFamily="34" charset="-120"/>
              </a:rPr>
              <a:t>Gift Ledger</a:t>
            </a:r>
            <a:endParaRPr lang="en-US" sz="750" dirty="0"/>
          </a:p>
        </p:txBody>
      </p:sp>
      <p:sp>
        <p:nvSpPr>
          <p:cNvPr id="78" name="Shape 69"/>
          <p:cNvSpPr/>
          <p:nvPr/>
        </p:nvSpPr>
        <p:spPr>
          <a:xfrm>
            <a:off x="5693054" y="3886200"/>
            <a:ext cx="874166" cy="228600"/>
          </a:xfrm>
          <a:prstGeom prst="roundRect">
            <a:avLst>
              <a:gd name="adj" fmla="val 48000"/>
            </a:avLst>
          </a:prstGeom>
          <a:solidFill>
            <a:srgbClr val="FFFFFF"/>
          </a:solidFill>
          <a:ln w="9525">
            <a:solidFill>
              <a:srgbClr val="94A3B8"/>
            </a:solidFill>
            <a:prstDash val="dash"/>
          </a:ln>
        </p:spPr>
      </p:sp>
      <p:sp>
        <p:nvSpPr>
          <p:cNvPr id="79" name="Text 70"/>
          <p:cNvSpPr txBox="1"/>
          <p:nvPr/>
        </p:nvSpPr>
        <p:spPr>
          <a:xfrm>
            <a:off x="5693054" y="3886200"/>
            <a:ext cx="874166" cy="228600"/>
          </a:xfrm>
          <a:prstGeom prst="rect">
            <a:avLst/>
          </a:prstGeom>
          <a:noFill/>
          <a:ln/>
        </p:spPr>
        <p:txBody>
          <a:bodyPr wrap="square" lIns="0" tIns="0" rIns="0" bIns="0" rtlCol="0" anchor="ctr"/>
          <a:lstStyle/>
          <a:p>
            <a:pPr algn="ctr" indent="0" marL="0">
              <a:buNone/>
            </a:pPr>
            <a:r>
              <a:rPr lang="en-US" sz="750" b="1" dirty="0">
                <a:solidFill>
                  <a:srgbClr val="64748B"/>
                </a:solidFill>
                <a:latin typeface="Inter" pitchFamily="34" charset="0"/>
                <a:ea typeface="Inter" pitchFamily="34" charset="-122"/>
                <a:cs typeface="Inter" pitchFamily="34" charset="-120"/>
              </a:rPr>
              <a:t>Quince Insider</a:t>
            </a:r>
            <a:endParaRPr lang="en-US" sz="750" dirty="0"/>
          </a:p>
        </p:txBody>
      </p:sp>
      <p:sp>
        <p:nvSpPr>
          <p:cNvPr id="80" name="Shape 71"/>
          <p:cNvSpPr/>
          <p:nvPr/>
        </p:nvSpPr>
        <p:spPr>
          <a:xfrm>
            <a:off x="6622085" y="3886200"/>
            <a:ext cx="824789" cy="228600"/>
          </a:xfrm>
          <a:prstGeom prst="roundRect">
            <a:avLst>
              <a:gd name="adj" fmla="val 48000"/>
            </a:avLst>
          </a:prstGeom>
          <a:solidFill>
            <a:srgbClr val="FFFFFF"/>
          </a:solidFill>
          <a:ln w="9525">
            <a:solidFill>
              <a:srgbClr val="94A3B8"/>
            </a:solidFill>
            <a:prstDash val="dash"/>
          </a:ln>
        </p:spPr>
      </p:sp>
      <p:sp>
        <p:nvSpPr>
          <p:cNvPr id="81" name="Text 72"/>
          <p:cNvSpPr txBox="1"/>
          <p:nvPr/>
        </p:nvSpPr>
        <p:spPr>
          <a:xfrm>
            <a:off x="6622085" y="3886200"/>
            <a:ext cx="824789" cy="228600"/>
          </a:xfrm>
          <a:prstGeom prst="rect">
            <a:avLst/>
          </a:prstGeom>
          <a:noFill/>
          <a:ln/>
        </p:spPr>
        <p:txBody>
          <a:bodyPr wrap="square" lIns="0" tIns="0" rIns="0" bIns="0" rtlCol="0" anchor="ctr"/>
          <a:lstStyle/>
          <a:p>
            <a:pPr algn="ctr" indent="0" marL="0">
              <a:buNone/>
            </a:pPr>
            <a:r>
              <a:rPr lang="en-US" sz="750" b="1" dirty="0">
                <a:solidFill>
                  <a:srgbClr val="64748B"/>
                </a:solidFill>
                <a:latin typeface="Inter" pitchFamily="34" charset="0"/>
                <a:ea typeface="Inter" pitchFamily="34" charset="-122"/>
                <a:cs typeface="Inter" pitchFamily="34" charset="-120"/>
              </a:rPr>
              <a:t>Beauty Refill</a:t>
            </a:r>
            <a:endParaRPr lang="en-US" sz="750" dirty="0"/>
          </a:p>
        </p:txBody>
      </p:sp>
      <p:sp>
        <p:nvSpPr>
          <p:cNvPr id="82" name="Shape 73"/>
          <p:cNvSpPr/>
          <p:nvPr/>
        </p:nvSpPr>
        <p:spPr>
          <a:xfrm>
            <a:off x="7501738" y="3886200"/>
            <a:ext cx="1170432" cy="228600"/>
          </a:xfrm>
          <a:prstGeom prst="roundRect">
            <a:avLst>
              <a:gd name="adj" fmla="val 48000"/>
            </a:avLst>
          </a:prstGeom>
          <a:solidFill>
            <a:srgbClr val="FFFFFF"/>
          </a:solidFill>
          <a:ln w="9525">
            <a:solidFill>
              <a:srgbClr val="94A3B8"/>
            </a:solidFill>
            <a:prstDash val="dash"/>
          </a:ln>
        </p:spPr>
      </p:sp>
      <p:sp>
        <p:nvSpPr>
          <p:cNvPr id="83" name="Text 74"/>
          <p:cNvSpPr txBox="1"/>
          <p:nvPr/>
        </p:nvSpPr>
        <p:spPr>
          <a:xfrm>
            <a:off x="7501738" y="3886200"/>
            <a:ext cx="1170432" cy="228600"/>
          </a:xfrm>
          <a:prstGeom prst="rect">
            <a:avLst/>
          </a:prstGeom>
          <a:noFill/>
          <a:ln/>
        </p:spPr>
        <p:txBody>
          <a:bodyPr wrap="square" lIns="0" tIns="0" rIns="0" bIns="0" rtlCol="0" anchor="ctr"/>
          <a:lstStyle/>
          <a:p>
            <a:pPr algn="ctr" indent="0" marL="0">
              <a:buNone/>
            </a:pPr>
            <a:r>
              <a:rPr lang="en-US" sz="750" b="1" dirty="0">
                <a:solidFill>
                  <a:srgbClr val="64748B"/>
                </a:solidFill>
                <a:latin typeface="Inter" pitchFamily="34" charset="0"/>
                <a:ea typeface="Inter" pitchFamily="34" charset="-122"/>
                <a:cs typeface="Inter" pitchFamily="34" charset="-120"/>
              </a:rPr>
              <a:t>Cashmere Second Life</a:t>
            </a:r>
            <a:endParaRPr lang="en-US" sz="750" dirty="0"/>
          </a:p>
        </p:txBody>
      </p:sp>
      <p:sp>
        <p:nvSpPr>
          <p:cNvPr id="84" name="Shape 75"/>
          <p:cNvSpPr/>
          <p:nvPr/>
        </p:nvSpPr>
        <p:spPr>
          <a:xfrm>
            <a:off x="9747504" y="3008376"/>
            <a:ext cx="1847088" cy="1051560"/>
          </a:xfrm>
          <a:prstGeom prst="roundRect">
            <a:avLst>
              <a:gd name="adj" fmla="val 5217"/>
            </a:avLst>
          </a:prstGeom>
          <a:solidFill>
            <a:srgbClr val="0A1F44"/>
          </a:solidFill>
          <a:ln w="6350">
            <a:solidFill>
              <a:srgbClr val="0A1F44"/>
            </a:solidFill>
            <a:prstDash val="solid"/>
          </a:ln>
        </p:spPr>
      </p:sp>
      <p:sp>
        <p:nvSpPr>
          <p:cNvPr id="85" name="Text 76"/>
          <p:cNvSpPr txBox="1"/>
          <p:nvPr/>
        </p:nvSpPr>
        <p:spPr>
          <a:xfrm>
            <a:off x="9875520" y="3008376"/>
            <a:ext cx="1664208" cy="1051560"/>
          </a:xfrm>
          <a:prstGeom prst="rect">
            <a:avLst/>
          </a:prstGeom>
          <a:noFill/>
          <a:ln/>
        </p:spPr>
        <p:txBody>
          <a:bodyPr wrap="square" lIns="0" tIns="0" rIns="0" bIns="0" rtlCol="0" anchor="ctr"/>
          <a:lstStyle/>
          <a:p>
            <a:pPr indent="0" marL="0">
              <a:buNone/>
            </a:pPr>
            <a:r>
              <a:rPr lang="en-US" sz="1100" b="1" dirty="0">
                <a:solidFill>
                  <a:srgbClr val="FFFFFF"/>
                </a:solidFill>
                <a:latin typeface="Inter" pitchFamily="34" charset="0"/>
                <a:ea typeface="Inter" pitchFamily="34" charset="-122"/>
                <a:cs typeface="Inter" pitchFamily="34" charset="-120"/>
              </a:rPr>
              <a:t>$6M owned line</a:t>
            </a:r>
            <a:endParaRPr lang="en-US" sz="1200" dirty="0"/>
          </a:p>
          <a:p>
            <a:pPr indent="0" marL="0">
              <a:buNone/>
            </a:pPr>
            <a:r>
              <a:rPr lang="en-US" sz="900" dirty="0">
                <a:solidFill>
                  <a:srgbClr val="C7D7F5"/>
                </a:solidFill>
                <a:latin typeface="Inter" pitchFamily="34" charset="0"/>
                <a:ea typeface="Inter" pitchFamily="34" charset="-122"/>
                <a:cs typeface="Inter" pitchFamily="34" charset="-120"/>
              </a:rPr>
              <a:t>same Option A budget</a:t>
            </a:r>
            <a:endParaRPr lang="en-US" sz="1200" dirty="0"/>
          </a:p>
        </p:txBody>
      </p:sp>
      <p:sp>
        <p:nvSpPr>
          <p:cNvPr id="86" name="Shape 77"/>
          <p:cNvSpPr/>
          <p:nvPr/>
        </p:nvSpPr>
        <p:spPr>
          <a:xfrm>
            <a:off x="502920" y="4242816"/>
            <a:ext cx="11183112" cy="1234440"/>
          </a:xfrm>
          <a:prstGeom prst="roundRect">
            <a:avLst>
              <a:gd name="adj" fmla="val 5926"/>
            </a:avLst>
          </a:prstGeom>
          <a:solidFill>
            <a:srgbClr val="F8FAFC"/>
          </a:solidFill>
          <a:ln w="9525">
            <a:solidFill>
              <a:srgbClr val="E2E8F0"/>
            </a:solidFill>
            <a:prstDash val="solid"/>
          </a:ln>
        </p:spPr>
      </p:sp>
      <p:sp>
        <p:nvSpPr>
          <p:cNvPr id="87" name="Shape 78"/>
          <p:cNvSpPr/>
          <p:nvPr/>
        </p:nvSpPr>
        <p:spPr>
          <a:xfrm>
            <a:off x="612648" y="4370832"/>
            <a:ext cx="329184" cy="329184"/>
          </a:xfrm>
          <a:prstGeom prst="ellipse">
            <a:avLst/>
          </a:prstGeom>
          <a:solidFill>
            <a:srgbClr val="0A1F44"/>
          </a:solidFill>
          <a:ln w="6350">
            <a:solidFill>
              <a:srgbClr val="0A1F44"/>
            </a:solidFill>
            <a:prstDash val="solid"/>
          </a:ln>
        </p:spPr>
      </p:sp>
      <p:sp>
        <p:nvSpPr>
          <p:cNvPr id="88" name="Text 79"/>
          <p:cNvSpPr txBox="1"/>
          <p:nvPr/>
        </p:nvSpPr>
        <p:spPr>
          <a:xfrm>
            <a:off x="612648" y="4370832"/>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3</a:t>
            </a:r>
            <a:endParaRPr lang="en-US" sz="1200" dirty="0"/>
          </a:p>
        </p:txBody>
      </p:sp>
      <p:sp>
        <p:nvSpPr>
          <p:cNvPr id="89" name="Text 80"/>
          <p:cNvSpPr txBox="1"/>
          <p:nvPr/>
        </p:nvSpPr>
        <p:spPr>
          <a:xfrm>
            <a:off x="1014984" y="4334256"/>
            <a:ext cx="1554480" cy="402336"/>
          </a:xfrm>
          <a:prstGeom prst="rect">
            <a:avLst/>
          </a:prstGeom>
          <a:noFill/>
          <a:ln/>
        </p:spPr>
        <p:txBody>
          <a:bodyPr wrap="square" lIns="0" tIns="0" rIns="0" bIns="0" rtlCol="0" anchor="ctr"/>
          <a:lstStyle/>
          <a:p>
            <a:pPr indent="0" marL="0">
              <a:buNone/>
            </a:pPr>
            <a:r>
              <a:rPr lang="en-US" sz="1150" b="1" dirty="0">
                <a:solidFill>
                  <a:srgbClr val="0A1F44"/>
                </a:solidFill>
                <a:latin typeface="Inter" pitchFamily="34" charset="0"/>
                <a:ea typeface="Inter" pitchFamily="34" charset="-122"/>
                <a:cs typeface="Inter" pitchFamily="34" charset="-120"/>
              </a:rPr>
              <a:t>Never pay twice</a:t>
            </a:r>
            <a:endParaRPr lang="en-US" sz="1150" dirty="0"/>
          </a:p>
        </p:txBody>
      </p:sp>
      <p:sp>
        <p:nvSpPr>
          <p:cNvPr id="90" name="Text 81"/>
          <p:cNvSpPr txBox="1"/>
          <p:nvPr/>
        </p:nvSpPr>
        <p:spPr>
          <a:xfrm>
            <a:off x="630936" y="4754880"/>
            <a:ext cx="1920240" cy="420624"/>
          </a:xfrm>
          <a:prstGeom prst="rect">
            <a:avLst/>
          </a:prstGeom>
          <a:noFill/>
          <a:ln/>
        </p:spPr>
        <p:txBody>
          <a:bodyPr wrap="square" lIns="0" tIns="0" rIns="0" bIns="0" rtlCol="0" anchor="t"/>
          <a:lstStyle/>
          <a:p>
            <a:pPr indent="0" marL="0">
              <a:buNone/>
            </a:pPr>
            <a:r>
              <a:rPr lang="en-US" sz="900" dirty="0">
                <a:solidFill>
                  <a:srgbClr val="334155"/>
                </a:solidFill>
                <a:latin typeface="Inter" pitchFamily="34" charset="0"/>
                <a:ea typeface="Inter" pitchFamily="34" charset="-122"/>
                <a:cs typeface="Inter" pitchFamily="34" charset="-120"/>
              </a:rPr>
              <a:t>Retargeted buyers repeat 23.0%, same as organic 23.4%</a:t>
            </a:r>
            <a:endParaRPr lang="en-US" sz="900" dirty="0"/>
          </a:p>
        </p:txBody>
      </p:sp>
      <p:sp>
        <p:nvSpPr>
          <p:cNvPr id="91" name="Shape 82"/>
          <p:cNvSpPr/>
          <p:nvPr/>
        </p:nvSpPr>
        <p:spPr>
          <a:xfrm>
            <a:off x="2697480" y="4334256"/>
            <a:ext cx="256032" cy="256032"/>
          </a:xfrm>
          <a:prstGeom prst="ellipse">
            <a:avLst/>
          </a:prstGeom>
          <a:solidFill>
            <a:srgbClr val="EFF6FF"/>
          </a:solidFill>
          <a:ln w="6350">
            <a:solidFill>
              <a:srgbClr val="EFF6FF"/>
            </a:solidFill>
            <a:prstDash val="solid"/>
          </a:ln>
        </p:spPr>
      </p:sp>
      <p:pic>
        <p:nvPicPr>
          <p:cNvPr id="92" name="Image 7" descr="preencoded.png">    </p:cNvPr>
          <p:cNvPicPr>
            <a:picLocks noChangeAspect="1"/>
          </p:cNvPicPr>
          <p:nvPr/>
        </p:nvPicPr>
        <p:blipFill>
          <a:blip r:embed="rId8"/>
          <a:stretch>
            <a:fillRect/>
          </a:stretch>
        </p:blipFill>
        <p:spPr>
          <a:xfrm>
            <a:off x="2753807" y="4390583"/>
            <a:ext cx="143378" cy="143378"/>
          </a:xfrm>
          <a:prstGeom prst="rect">
            <a:avLst/>
          </a:prstGeom>
        </p:spPr>
      </p:pic>
      <p:sp>
        <p:nvSpPr>
          <p:cNvPr id="93" name="Text 83"/>
          <p:cNvSpPr txBox="1"/>
          <p:nvPr/>
        </p:nvSpPr>
        <p:spPr>
          <a:xfrm>
            <a:off x="3008376" y="4334256"/>
            <a:ext cx="1271016" cy="256032"/>
          </a:xfrm>
          <a:prstGeom prst="rect">
            <a:avLst/>
          </a:prstGeom>
          <a:noFill/>
          <a:ln/>
        </p:spPr>
        <p:txBody>
          <a:bodyPr wrap="square" lIns="0" tIns="0" rIns="0" bIns="0" rtlCol="0" anchor="ctr"/>
          <a:lstStyle/>
          <a:p>
            <a:pPr indent="0" marL="0">
              <a:buNone/>
            </a:pPr>
            <a:r>
              <a:rPr lang="en-US" sz="900" b="1" dirty="0">
                <a:solidFill>
                  <a:srgbClr val="0A1F44"/>
                </a:solidFill>
                <a:latin typeface="Inter" pitchFamily="34" charset="0"/>
                <a:ea typeface="Inter" pitchFamily="34" charset="-122"/>
                <a:cs typeface="Inter" pitchFamily="34" charset="-120"/>
              </a:rPr>
              <a:t>CJA audiences</a:t>
            </a:r>
            <a:endParaRPr lang="en-US" sz="900" dirty="0"/>
          </a:p>
        </p:txBody>
      </p:sp>
      <p:sp>
        <p:nvSpPr>
          <p:cNvPr id="94" name="Shape 84"/>
          <p:cNvSpPr/>
          <p:nvPr/>
        </p:nvSpPr>
        <p:spPr>
          <a:xfrm>
            <a:off x="2697480" y="4617720"/>
            <a:ext cx="256032" cy="256032"/>
          </a:xfrm>
          <a:prstGeom prst="ellipse">
            <a:avLst/>
          </a:prstGeom>
          <a:solidFill>
            <a:srgbClr val="EFF6FF"/>
          </a:solidFill>
          <a:ln w="6350">
            <a:solidFill>
              <a:srgbClr val="EFF6FF"/>
            </a:solidFill>
            <a:prstDash val="solid"/>
          </a:ln>
        </p:spPr>
      </p:sp>
      <p:pic>
        <p:nvPicPr>
          <p:cNvPr id="95" name="Image 8" descr="preencoded.png">    </p:cNvPr>
          <p:cNvPicPr>
            <a:picLocks noChangeAspect="1"/>
          </p:cNvPicPr>
          <p:nvPr/>
        </p:nvPicPr>
        <p:blipFill>
          <a:blip r:embed="rId9"/>
          <a:stretch>
            <a:fillRect/>
          </a:stretch>
        </p:blipFill>
        <p:spPr>
          <a:xfrm>
            <a:off x="2753807" y="4674047"/>
            <a:ext cx="143378" cy="143378"/>
          </a:xfrm>
          <a:prstGeom prst="rect">
            <a:avLst/>
          </a:prstGeom>
        </p:spPr>
      </p:pic>
      <p:sp>
        <p:nvSpPr>
          <p:cNvPr id="96" name="Text 85"/>
          <p:cNvSpPr txBox="1"/>
          <p:nvPr/>
        </p:nvSpPr>
        <p:spPr>
          <a:xfrm>
            <a:off x="3008376" y="4617720"/>
            <a:ext cx="1271016" cy="256032"/>
          </a:xfrm>
          <a:prstGeom prst="rect">
            <a:avLst/>
          </a:prstGeom>
          <a:noFill/>
          <a:ln/>
        </p:spPr>
        <p:txBody>
          <a:bodyPr wrap="square" lIns="0" tIns="0" rIns="0" bIns="0" rtlCol="0" anchor="ctr"/>
          <a:lstStyle/>
          <a:p>
            <a:pPr indent="0" marL="0">
              <a:buNone/>
            </a:pPr>
            <a:r>
              <a:rPr lang="en-US" sz="900" b="1" dirty="0">
                <a:solidFill>
                  <a:srgbClr val="0A1F44"/>
                </a:solidFill>
                <a:latin typeface="Inter" pitchFamily="34" charset="0"/>
                <a:ea typeface="Inter" pitchFamily="34" charset="-122"/>
                <a:cs typeface="Inter" pitchFamily="34" charset="-120"/>
              </a:rPr>
              <a:t>Real-Time CDP</a:t>
            </a:r>
            <a:endParaRPr lang="en-US" sz="900" dirty="0"/>
          </a:p>
        </p:txBody>
      </p:sp>
      <p:sp>
        <p:nvSpPr>
          <p:cNvPr id="97" name="Shape 86"/>
          <p:cNvSpPr/>
          <p:nvPr/>
        </p:nvSpPr>
        <p:spPr>
          <a:xfrm>
            <a:off x="2697480" y="4901184"/>
            <a:ext cx="256032" cy="256032"/>
          </a:xfrm>
          <a:prstGeom prst="ellipse">
            <a:avLst/>
          </a:prstGeom>
          <a:solidFill>
            <a:srgbClr val="EFF6FF"/>
          </a:solidFill>
          <a:ln w="6350">
            <a:solidFill>
              <a:srgbClr val="EFF6FF"/>
            </a:solidFill>
            <a:prstDash val="solid"/>
          </a:ln>
        </p:spPr>
      </p:sp>
      <p:pic>
        <p:nvPicPr>
          <p:cNvPr id="98" name="Image 9" descr="preencoded.png">    </p:cNvPr>
          <p:cNvPicPr>
            <a:picLocks noChangeAspect="1"/>
          </p:cNvPicPr>
          <p:nvPr/>
        </p:nvPicPr>
        <p:blipFill>
          <a:blip r:embed="rId10"/>
          <a:stretch>
            <a:fillRect/>
          </a:stretch>
        </p:blipFill>
        <p:spPr>
          <a:xfrm>
            <a:off x="2753807" y="4957511"/>
            <a:ext cx="143378" cy="143378"/>
          </a:xfrm>
          <a:prstGeom prst="rect">
            <a:avLst/>
          </a:prstGeom>
        </p:spPr>
      </p:pic>
      <p:sp>
        <p:nvSpPr>
          <p:cNvPr id="99" name="Text 87"/>
          <p:cNvSpPr txBox="1"/>
          <p:nvPr/>
        </p:nvSpPr>
        <p:spPr>
          <a:xfrm>
            <a:off x="3008376" y="4901184"/>
            <a:ext cx="1271016" cy="256032"/>
          </a:xfrm>
          <a:prstGeom prst="rect">
            <a:avLst/>
          </a:prstGeom>
          <a:noFill/>
          <a:ln/>
        </p:spPr>
        <p:txBody>
          <a:bodyPr wrap="square" lIns="0" tIns="0" rIns="0" bIns="0" rtlCol="0" anchor="ctr"/>
          <a:lstStyle/>
          <a:p>
            <a:pPr indent="0" marL="0">
              <a:buNone/>
            </a:pPr>
            <a:r>
              <a:rPr lang="en-US" sz="900" b="1" dirty="0">
                <a:solidFill>
                  <a:srgbClr val="0A1F44"/>
                </a:solidFill>
                <a:latin typeface="Inter" pitchFamily="34" charset="0"/>
                <a:ea typeface="Inter" pitchFamily="34" charset="-122"/>
                <a:cs typeface="Inter" pitchFamily="34" charset="-120"/>
              </a:rPr>
              <a:t>Meta, Google, TikTok</a:t>
            </a:r>
            <a:endParaRPr lang="en-US" sz="900" dirty="0"/>
          </a:p>
        </p:txBody>
      </p:sp>
      <p:sp>
        <p:nvSpPr>
          <p:cNvPr id="100" name="Shape 88"/>
          <p:cNvSpPr/>
          <p:nvPr/>
        </p:nvSpPr>
        <p:spPr>
          <a:xfrm>
            <a:off x="4389120" y="4334256"/>
            <a:ext cx="1664208" cy="731520"/>
          </a:xfrm>
          <a:prstGeom prst="roundRect">
            <a:avLst>
              <a:gd name="adj" fmla="val 7500"/>
            </a:avLst>
          </a:prstGeom>
          <a:solidFill>
            <a:srgbClr val="FFFFFF"/>
          </a:solidFill>
          <a:ln w="9525">
            <a:solidFill>
              <a:srgbClr val="E2E8F0"/>
            </a:solidFill>
            <a:prstDash val="solid"/>
          </a:ln>
        </p:spPr>
      </p:sp>
      <p:sp>
        <p:nvSpPr>
          <p:cNvPr id="101" name="Text 89"/>
          <p:cNvSpPr txBox="1"/>
          <p:nvPr/>
        </p:nvSpPr>
        <p:spPr>
          <a:xfrm>
            <a:off x="4480560" y="4334256"/>
            <a:ext cx="1499616" cy="731520"/>
          </a:xfrm>
          <a:prstGeom prst="rect">
            <a:avLst/>
          </a:prstGeom>
          <a:noFill/>
          <a:ln/>
        </p:spPr>
        <p:txBody>
          <a:bodyPr wrap="square" lIns="0" tIns="0" rIns="0" bIns="0" rtlCol="0" anchor="ctr"/>
          <a:lstStyle/>
          <a:p>
            <a:pPr indent="0" marL="0">
              <a:buNone/>
            </a:pPr>
            <a:r>
              <a:rPr lang="en-US" sz="900" dirty="0">
                <a:solidFill>
                  <a:srgbClr val="0F172A"/>
                </a:solidFill>
                <a:latin typeface="Inter" pitchFamily="34" charset="0"/>
                <a:ea typeface="Inter" pitchFamily="34" charset="-122"/>
                <a:cs typeface="Inter" pitchFamily="34" charset="-120"/>
              </a:rPr>
              <a:t>Recent and owned-reachable buyers as CJA audiences</a:t>
            </a:r>
            <a:endParaRPr lang="en-US" sz="900" dirty="0"/>
          </a:p>
        </p:txBody>
      </p:sp>
      <p:sp>
        <p:nvSpPr>
          <p:cNvPr id="102" name="Shape 90"/>
          <p:cNvSpPr/>
          <p:nvPr/>
        </p:nvSpPr>
        <p:spPr>
          <a:xfrm>
            <a:off x="6181344" y="4334256"/>
            <a:ext cx="1664208" cy="731520"/>
          </a:xfrm>
          <a:prstGeom prst="roundRect">
            <a:avLst>
              <a:gd name="adj" fmla="val 7500"/>
            </a:avLst>
          </a:prstGeom>
          <a:solidFill>
            <a:srgbClr val="FFFFFF"/>
          </a:solidFill>
          <a:ln w="9525">
            <a:solidFill>
              <a:srgbClr val="E2E8F0"/>
            </a:solidFill>
            <a:prstDash val="solid"/>
          </a:ln>
        </p:spPr>
      </p:sp>
      <p:sp>
        <p:nvSpPr>
          <p:cNvPr id="103" name="Text 91"/>
          <p:cNvSpPr txBox="1"/>
          <p:nvPr/>
        </p:nvSpPr>
        <p:spPr>
          <a:xfrm>
            <a:off x="6272784" y="4334256"/>
            <a:ext cx="1499616" cy="731520"/>
          </a:xfrm>
          <a:prstGeom prst="rect">
            <a:avLst/>
          </a:prstGeom>
          <a:noFill/>
          <a:ln/>
        </p:spPr>
        <p:txBody>
          <a:bodyPr wrap="square" lIns="0" tIns="0" rIns="0" bIns="0" rtlCol="0" anchor="ctr"/>
          <a:lstStyle/>
          <a:p>
            <a:pPr indent="0" marL="0">
              <a:buNone/>
            </a:pPr>
            <a:r>
              <a:rPr lang="en-US" sz="900" dirty="0">
                <a:solidFill>
                  <a:srgbClr val="0F172A"/>
                </a:solidFill>
                <a:latin typeface="Inter" pitchFamily="34" charset="0"/>
                <a:ea typeface="Inter" pitchFamily="34" charset="-122"/>
                <a:cs typeface="Inter" pitchFamily="34" charset="-120"/>
              </a:rPr>
              <a:t>Daily suppression lists; frequency caps</a:t>
            </a:r>
            <a:endParaRPr lang="en-US" sz="900" dirty="0"/>
          </a:p>
        </p:txBody>
      </p:sp>
      <p:sp>
        <p:nvSpPr>
          <p:cNvPr id="104" name="Shape 92"/>
          <p:cNvSpPr/>
          <p:nvPr/>
        </p:nvSpPr>
        <p:spPr>
          <a:xfrm>
            <a:off x="7973568" y="4334256"/>
            <a:ext cx="1572768" cy="731520"/>
          </a:xfrm>
          <a:prstGeom prst="roundRect">
            <a:avLst>
              <a:gd name="adj" fmla="val 7500"/>
            </a:avLst>
          </a:prstGeom>
          <a:solidFill>
            <a:srgbClr val="EFF6FF"/>
          </a:solidFill>
          <a:ln w="9525">
            <a:solidFill>
              <a:srgbClr val="E2E8F0"/>
            </a:solidFill>
            <a:prstDash val="solid"/>
          </a:ln>
        </p:spPr>
      </p:sp>
      <p:sp>
        <p:nvSpPr>
          <p:cNvPr id="105" name="Text 93"/>
          <p:cNvSpPr txBox="1"/>
          <p:nvPr/>
        </p:nvSpPr>
        <p:spPr>
          <a:xfrm>
            <a:off x="8065008" y="4334256"/>
            <a:ext cx="1408176" cy="731520"/>
          </a:xfrm>
          <a:prstGeom prst="rect">
            <a:avLst/>
          </a:prstGeom>
          <a:noFill/>
          <a:ln/>
        </p:spPr>
        <p:txBody>
          <a:bodyPr wrap="square" lIns="0" tIns="0" rIns="0" bIns="0" rtlCol="0" anchor="ctr"/>
          <a:lstStyle/>
          <a:p>
            <a:pPr indent="0" marL="0">
              <a:buNone/>
            </a:pPr>
            <a:r>
              <a:rPr lang="en-US" sz="900" b="1" dirty="0">
                <a:solidFill>
                  <a:srgbClr val="0A1F44"/>
                </a:solidFill>
                <a:latin typeface="Inter" pitchFamily="34" charset="0"/>
                <a:ea typeface="Inter" pitchFamily="34" charset="-122"/>
                <a:cs typeface="Inter" pitchFamily="34" charset="-120"/>
              </a:rPr>
              <a:t>Incremental orders per retargeting $</a:t>
            </a:r>
            <a:endParaRPr lang="en-US" sz="900" dirty="0"/>
          </a:p>
        </p:txBody>
      </p:sp>
      <p:sp>
        <p:nvSpPr>
          <p:cNvPr id="106" name="Shape 94"/>
          <p:cNvSpPr/>
          <p:nvPr/>
        </p:nvSpPr>
        <p:spPr>
          <a:xfrm>
            <a:off x="612648" y="5157216"/>
            <a:ext cx="9025128" cy="0"/>
          </a:xfrm>
          <a:prstGeom prst="line">
            <a:avLst/>
          </a:prstGeom>
          <a:noFill/>
          <a:ln w="6350">
            <a:solidFill>
              <a:srgbClr val="E2E8F0"/>
            </a:solidFill>
            <a:prstDash val="solid"/>
          </a:ln>
        </p:spPr>
      </p:sp>
      <p:sp>
        <p:nvSpPr>
          <p:cNvPr id="107" name="Text 95"/>
          <p:cNvSpPr txBox="1"/>
          <p:nvPr/>
        </p:nvSpPr>
        <p:spPr>
          <a:xfrm>
            <a:off x="630936" y="5212080"/>
            <a:ext cx="1371600" cy="228600"/>
          </a:xfrm>
          <a:prstGeom prst="rect">
            <a:avLst/>
          </a:prstGeom>
          <a:noFill/>
          <a:ln/>
        </p:spPr>
        <p:txBody>
          <a:bodyPr wrap="square" lIns="0" tIns="0" rIns="0" bIns="0" rtlCol="0" anchor="ctr"/>
          <a:lstStyle/>
          <a:p>
            <a:pPr indent="0" marL="0">
              <a:buNone/>
            </a:pPr>
            <a:r>
              <a:rPr lang="en-US" sz="900" b="1" dirty="0">
                <a:solidFill>
                  <a:srgbClr val="0A1F44"/>
                </a:solidFill>
                <a:latin typeface="Inter" pitchFamily="34" charset="0"/>
                <a:ea typeface="Inter" pitchFamily="34" charset="-122"/>
                <a:cs typeface="Inter" pitchFamily="34" charset="-120"/>
              </a:rPr>
              <a:t>Programs</a:t>
            </a:r>
            <a:endParaRPr lang="en-US" sz="900" dirty="0"/>
          </a:p>
        </p:txBody>
      </p:sp>
      <p:sp>
        <p:nvSpPr>
          <p:cNvPr id="108" name="Shape 96"/>
          <p:cNvSpPr/>
          <p:nvPr/>
        </p:nvSpPr>
        <p:spPr>
          <a:xfrm>
            <a:off x="2697480" y="5212080"/>
            <a:ext cx="1378915" cy="228600"/>
          </a:xfrm>
          <a:prstGeom prst="roundRect">
            <a:avLst>
              <a:gd name="adj" fmla="val 48000"/>
            </a:avLst>
          </a:prstGeom>
          <a:solidFill>
            <a:srgbClr val="0A1F44"/>
          </a:solidFill>
          <a:ln w="9525">
            <a:solidFill>
              <a:srgbClr val="0A1F44"/>
            </a:solidFill>
            <a:prstDash val="solid"/>
          </a:ln>
        </p:spPr>
      </p:sp>
      <p:sp>
        <p:nvSpPr>
          <p:cNvPr id="109" name="Text 97"/>
          <p:cNvSpPr txBox="1"/>
          <p:nvPr/>
        </p:nvSpPr>
        <p:spPr>
          <a:xfrm>
            <a:off x="2697480" y="5212080"/>
            <a:ext cx="1378915" cy="228600"/>
          </a:xfrm>
          <a:prstGeom prst="rect">
            <a:avLst/>
          </a:prstGeom>
          <a:noFill/>
          <a:ln/>
        </p:spPr>
        <p:txBody>
          <a:bodyPr wrap="square" lIns="0" tIns="0" rIns="0" bIns="0" rtlCol="0" anchor="ctr"/>
          <a:lstStyle/>
          <a:p>
            <a:pPr algn="ctr" indent="0" marL="0">
              <a:buNone/>
            </a:pPr>
            <a:r>
              <a:rPr lang="en-US" sz="750" b="1" dirty="0">
                <a:solidFill>
                  <a:srgbClr val="FFFFFF"/>
                </a:solidFill>
                <a:latin typeface="Inter" pitchFamily="34" charset="0"/>
                <a:ea typeface="Inter" pitchFamily="34" charset="-122"/>
                <a:cs typeface="Inter" pitchFamily="34" charset="-120"/>
              </a:rPr>
              <a:t>★ Never Pay Twice Engine</a:t>
            </a:r>
            <a:endParaRPr lang="en-US" sz="750" dirty="0"/>
          </a:p>
        </p:txBody>
      </p:sp>
      <p:sp>
        <p:nvSpPr>
          <p:cNvPr id="110" name="Shape 98"/>
          <p:cNvSpPr/>
          <p:nvPr/>
        </p:nvSpPr>
        <p:spPr>
          <a:xfrm>
            <a:off x="4131259" y="5212080"/>
            <a:ext cx="874166" cy="228600"/>
          </a:xfrm>
          <a:prstGeom prst="roundRect">
            <a:avLst>
              <a:gd name="adj" fmla="val 48000"/>
            </a:avLst>
          </a:prstGeom>
          <a:solidFill>
            <a:srgbClr val="0A1F44"/>
          </a:solidFill>
          <a:ln w="9525">
            <a:solidFill>
              <a:srgbClr val="0A1F44"/>
            </a:solidFill>
            <a:prstDash val="solid"/>
          </a:ln>
        </p:spPr>
      </p:sp>
      <p:sp>
        <p:nvSpPr>
          <p:cNvPr id="111" name="Text 99"/>
          <p:cNvSpPr txBox="1"/>
          <p:nvPr/>
        </p:nvSpPr>
        <p:spPr>
          <a:xfrm>
            <a:off x="4131259" y="5212080"/>
            <a:ext cx="874166" cy="228600"/>
          </a:xfrm>
          <a:prstGeom prst="rect">
            <a:avLst/>
          </a:prstGeom>
          <a:noFill/>
          <a:ln/>
        </p:spPr>
        <p:txBody>
          <a:bodyPr wrap="square" lIns="0" tIns="0" rIns="0" bIns="0" rtlCol="0" anchor="ctr"/>
          <a:lstStyle/>
          <a:p>
            <a:pPr algn="ctr" indent="0" marL="0">
              <a:buNone/>
            </a:pPr>
            <a:r>
              <a:rPr lang="en-US" sz="750" b="1" dirty="0">
                <a:solidFill>
                  <a:srgbClr val="FFFFFF"/>
                </a:solidFill>
                <a:latin typeface="Inter" pitchFamily="34" charset="0"/>
                <a:ea typeface="Inter" pitchFamily="34" charset="-122"/>
                <a:cs typeface="Inter" pitchFamily="34" charset="-120"/>
              </a:rPr>
              <a:t>Proof Creators</a:t>
            </a:r>
            <a:endParaRPr lang="en-US" sz="750" dirty="0"/>
          </a:p>
        </p:txBody>
      </p:sp>
      <p:sp>
        <p:nvSpPr>
          <p:cNvPr id="112" name="Shape 100"/>
          <p:cNvSpPr/>
          <p:nvPr/>
        </p:nvSpPr>
        <p:spPr>
          <a:xfrm>
            <a:off x="5060290" y="5212080"/>
            <a:ext cx="1121054" cy="228600"/>
          </a:xfrm>
          <a:prstGeom prst="roundRect">
            <a:avLst>
              <a:gd name="adj" fmla="val 48000"/>
            </a:avLst>
          </a:prstGeom>
          <a:solidFill>
            <a:srgbClr val="FFFFFF"/>
          </a:solidFill>
          <a:ln w="9525">
            <a:solidFill>
              <a:srgbClr val="94A3B8"/>
            </a:solidFill>
            <a:prstDash val="dash"/>
          </a:ln>
        </p:spPr>
      </p:sp>
      <p:sp>
        <p:nvSpPr>
          <p:cNvPr id="113" name="Text 101"/>
          <p:cNvSpPr txBox="1"/>
          <p:nvPr/>
        </p:nvSpPr>
        <p:spPr>
          <a:xfrm>
            <a:off x="5060290" y="5212080"/>
            <a:ext cx="1121054" cy="228600"/>
          </a:xfrm>
          <a:prstGeom prst="rect">
            <a:avLst/>
          </a:prstGeom>
          <a:noFill/>
          <a:ln/>
        </p:spPr>
        <p:txBody>
          <a:bodyPr wrap="square" lIns="0" tIns="0" rIns="0" bIns="0" rtlCol="0" anchor="ctr"/>
          <a:lstStyle/>
          <a:p>
            <a:pPr algn="ctr" indent="0" marL="0">
              <a:buNone/>
            </a:pPr>
            <a:r>
              <a:rPr lang="en-US" sz="750" b="1" dirty="0">
                <a:solidFill>
                  <a:srgbClr val="64748B"/>
                </a:solidFill>
                <a:latin typeface="Inter" pitchFamily="34" charset="0"/>
                <a:ea typeface="Inter" pitchFamily="34" charset="-122"/>
                <a:cs typeface="Inter" pitchFamily="34" charset="-120"/>
              </a:rPr>
              <a:t>Loyalist Lookalikes</a:t>
            </a:r>
            <a:endParaRPr lang="en-US" sz="750" dirty="0"/>
          </a:p>
        </p:txBody>
      </p:sp>
      <p:sp>
        <p:nvSpPr>
          <p:cNvPr id="114" name="Shape 102"/>
          <p:cNvSpPr/>
          <p:nvPr/>
        </p:nvSpPr>
        <p:spPr>
          <a:xfrm>
            <a:off x="6236208" y="5212080"/>
            <a:ext cx="972922" cy="228600"/>
          </a:xfrm>
          <a:prstGeom prst="roundRect">
            <a:avLst>
              <a:gd name="adj" fmla="val 48000"/>
            </a:avLst>
          </a:prstGeom>
          <a:solidFill>
            <a:srgbClr val="FFFFFF"/>
          </a:solidFill>
          <a:ln w="9525">
            <a:solidFill>
              <a:srgbClr val="94A3B8"/>
            </a:solidFill>
            <a:prstDash val="dash"/>
          </a:ln>
        </p:spPr>
      </p:sp>
      <p:sp>
        <p:nvSpPr>
          <p:cNvPr id="115" name="Text 103"/>
          <p:cNvSpPr txBox="1"/>
          <p:nvPr/>
        </p:nvSpPr>
        <p:spPr>
          <a:xfrm>
            <a:off x="6236208" y="5212080"/>
            <a:ext cx="972922" cy="228600"/>
          </a:xfrm>
          <a:prstGeom prst="rect">
            <a:avLst/>
          </a:prstGeom>
          <a:noFill/>
          <a:ln/>
        </p:spPr>
        <p:txBody>
          <a:bodyPr wrap="square" lIns="0" tIns="0" rIns="0" bIns="0" rtlCol="0" anchor="ctr"/>
          <a:lstStyle/>
          <a:p>
            <a:pPr algn="ctr" indent="0" marL="0">
              <a:buNone/>
            </a:pPr>
            <a:r>
              <a:rPr lang="en-US" sz="750" b="1" dirty="0">
                <a:solidFill>
                  <a:srgbClr val="64748B"/>
                </a:solidFill>
                <a:latin typeface="Inter" pitchFamily="34" charset="0"/>
                <a:ea typeface="Inter" pitchFamily="34" charset="-122"/>
                <a:cs typeface="Inter" pitchFamily="34" charset="-120"/>
              </a:rPr>
              <a:t>The Fitting Room</a:t>
            </a:r>
            <a:endParaRPr lang="en-US" sz="750" dirty="0"/>
          </a:p>
        </p:txBody>
      </p:sp>
      <p:sp>
        <p:nvSpPr>
          <p:cNvPr id="116" name="Shape 104"/>
          <p:cNvSpPr/>
          <p:nvPr/>
        </p:nvSpPr>
        <p:spPr>
          <a:xfrm>
            <a:off x="9747504" y="4334256"/>
            <a:ext cx="1847088" cy="1051560"/>
          </a:xfrm>
          <a:prstGeom prst="roundRect">
            <a:avLst>
              <a:gd name="adj" fmla="val 5217"/>
            </a:avLst>
          </a:prstGeom>
          <a:solidFill>
            <a:srgbClr val="0A1F44"/>
          </a:solidFill>
          <a:ln w="6350">
            <a:solidFill>
              <a:srgbClr val="0A1F44"/>
            </a:solidFill>
            <a:prstDash val="solid"/>
          </a:ln>
        </p:spPr>
      </p:sp>
      <p:sp>
        <p:nvSpPr>
          <p:cNvPr id="117" name="Text 105"/>
          <p:cNvSpPr txBox="1"/>
          <p:nvPr/>
        </p:nvSpPr>
        <p:spPr>
          <a:xfrm>
            <a:off x="9875520" y="4334256"/>
            <a:ext cx="1664208" cy="1051560"/>
          </a:xfrm>
          <a:prstGeom prst="rect">
            <a:avLst/>
          </a:prstGeom>
          <a:noFill/>
          <a:ln/>
        </p:spPr>
        <p:txBody>
          <a:bodyPr wrap="square" lIns="0" tIns="0" rIns="0" bIns="0" rtlCol="0" anchor="ctr"/>
          <a:lstStyle/>
          <a:p>
            <a:pPr indent="0" marL="0">
              <a:buNone/>
            </a:pPr>
            <a:r>
              <a:rPr lang="en-US" sz="1100" b="1" dirty="0">
                <a:solidFill>
                  <a:srgbClr val="FFFFFF"/>
                </a:solidFill>
                <a:latin typeface="Inter" pitchFamily="34" charset="0"/>
                <a:ea typeface="Inter" pitchFamily="34" charset="-122"/>
                <a:cs typeface="Inter" pitchFamily="34" charset="-120"/>
              </a:rPr>
              <a:t>$14M retargeting line</a:t>
            </a:r>
            <a:endParaRPr lang="en-US" sz="1200" dirty="0"/>
          </a:p>
          <a:p>
            <a:pPr indent="0" marL="0">
              <a:buNone/>
            </a:pPr>
            <a:r>
              <a:rPr lang="en-US" sz="900" dirty="0">
                <a:solidFill>
                  <a:srgbClr val="C7D7F5"/>
                </a:solidFill>
                <a:latin typeface="Inter" pitchFamily="34" charset="0"/>
                <a:ea typeface="Inter" pitchFamily="34" charset="-122"/>
                <a:cs typeface="Inter" pitchFamily="34" charset="-120"/>
              </a:rPr>
              <a:t>re-aimed, $0 incremental</a:t>
            </a:r>
            <a:endParaRPr lang="en-US" sz="1200" dirty="0"/>
          </a:p>
        </p:txBody>
      </p:sp>
      <p:sp>
        <p:nvSpPr>
          <p:cNvPr id="118" name="Shape 106"/>
          <p:cNvSpPr/>
          <p:nvPr/>
        </p:nvSpPr>
        <p:spPr>
          <a:xfrm>
            <a:off x="4389120" y="5568696"/>
            <a:ext cx="274320" cy="128016"/>
          </a:xfrm>
          <a:prstGeom prst="roundRect">
            <a:avLst>
              <a:gd name="adj" fmla="val 50000"/>
            </a:avLst>
          </a:prstGeom>
          <a:solidFill>
            <a:srgbClr val="0A1F44"/>
          </a:solidFill>
          <a:ln w="6350">
            <a:solidFill>
              <a:srgbClr val="0A1F44"/>
            </a:solidFill>
            <a:prstDash val="solid"/>
          </a:ln>
        </p:spPr>
      </p:sp>
      <p:sp>
        <p:nvSpPr>
          <p:cNvPr id="119" name="Text 107"/>
          <p:cNvSpPr txBox="1"/>
          <p:nvPr/>
        </p:nvSpPr>
        <p:spPr>
          <a:xfrm>
            <a:off x="4709160" y="5532120"/>
            <a:ext cx="2103120" cy="201168"/>
          </a:xfrm>
          <a:prstGeom prst="rect">
            <a:avLst/>
          </a:prstGeom>
          <a:noFill/>
          <a:ln/>
        </p:spPr>
        <p:txBody>
          <a:bodyPr wrap="square" lIns="0" tIns="0" rIns="0" bIns="0" rtlCol="0" anchor="ctr"/>
          <a:lstStyle/>
          <a:p>
            <a:pPr indent="0" marL="0">
              <a:buNone/>
            </a:pPr>
            <a:r>
              <a:rPr lang="en-US" sz="800" dirty="0">
                <a:solidFill>
                  <a:srgbClr val="64748B"/>
                </a:solidFill>
                <a:latin typeface="Inter" pitchFamily="34" charset="0"/>
                <a:ea typeface="Inter" pitchFamily="34" charset="-122"/>
                <a:cs typeface="Inter" pitchFamily="34" charset="-120"/>
              </a:rPr>
              <a:t>in the 90-day pilot (★ flagship)</a:t>
            </a:r>
            <a:endParaRPr lang="en-US" sz="800" dirty="0"/>
          </a:p>
        </p:txBody>
      </p:sp>
      <p:sp>
        <p:nvSpPr>
          <p:cNvPr id="120" name="Shape 108"/>
          <p:cNvSpPr/>
          <p:nvPr/>
        </p:nvSpPr>
        <p:spPr>
          <a:xfrm>
            <a:off x="6766560" y="5568696"/>
            <a:ext cx="274320" cy="128016"/>
          </a:xfrm>
          <a:prstGeom prst="roundRect">
            <a:avLst>
              <a:gd name="adj" fmla="val 50000"/>
            </a:avLst>
          </a:prstGeom>
          <a:solidFill>
            <a:srgbClr val="FFFFFF"/>
          </a:solidFill>
          <a:ln w="9525">
            <a:solidFill>
              <a:srgbClr val="94A3B8"/>
            </a:solidFill>
            <a:prstDash val="dash"/>
          </a:ln>
        </p:spPr>
      </p:sp>
      <p:sp>
        <p:nvSpPr>
          <p:cNvPr id="121" name="Text 109"/>
          <p:cNvSpPr txBox="1"/>
          <p:nvPr/>
        </p:nvSpPr>
        <p:spPr>
          <a:xfrm>
            <a:off x="7086600" y="5532120"/>
            <a:ext cx="2286000" cy="201168"/>
          </a:xfrm>
          <a:prstGeom prst="rect">
            <a:avLst/>
          </a:prstGeom>
          <a:noFill/>
          <a:ln/>
        </p:spPr>
        <p:txBody>
          <a:bodyPr wrap="square" lIns="0" tIns="0" rIns="0" bIns="0" rtlCol="0" anchor="ctr"/>
          <a:lstStyle/>
          <a:p>
            <a:pPr indent="0" marL="0">
              <a:buNone/>
            </a:pPr>
            <a:r>
              <a:rPr lang="en-US" sz="800" dirty="0">
                <a:solidFill>
                  <a:srgbClr val="64748B"/>
                </a:solidFill>
                <a:latin typeface="Inter" pitchFamily="34" charset="0"/>
                <a:ea typeface="Inter" pitchFamily="34" charset="-122"/>
                <a:cs typeface="Inter" pitchFamily="34" charset="-120"/>
              </a:rPr>
              <a:t>after day 90, if the holdout passes</a:t>
            </a:r>
            <a:endParaRPr lang="en-US" sz="800" dirty="0"/>
          </a:p>
        </p:txBody>
      </p:sp>
      <p:sp>
        <p:nvSpPr>
          <p:cNvPr id="122" name="Text 110"/>
          <p:cNvSpPr txBox="1"/>
          <p:nvPr/>
        </p:nvSpPr>
        <p:spPr>
          <a:xfrm>
            <a:off x="9747504" y="5532120"/>
            <a:ext cx="2011680" cy="201168"/>
          </a:xfrm>
          <a:prstGeom prst="rect">
            <a:avLst/>
          </a:prstGeom>
          <a:noFill/>
          <a:ln/>
        </p:spPr>
        <p:txBody>
          <a:bodyPr wrap="square" lIns="0" tIns="0" rIns="0" bIns="0" rtlCol="0" anchor="ctr"/>
          <a:lstStyle/>
          <a:p>
            <a:pPr algn="r" indent="0" marL="0">
              <a:buNone/>
            </a:pPr>
            <a:r>
              <a:rPr lang="en-US" sz="850" b="1" dirty="0">
                <a:solidFill>
                  <a:srgbClr val="0A1F44"/>
                </a:solidFill>
                <a:latin typeface="Inter" pitchFamily="34" charset="0"/>
                <a:ea typeface="Inter" pitchFamily="34" charset="-122"/>
                <a:cs typeface="Inter" pitchFamily="34" charset="-120"/>
              </a:rPr>
              <a:t>14 programs · 0 discounts</a:t>
            </a:r>
            <a:endParaRPr lang="en-US" sz="850" dirty="0"/>
          </a:p>
        </p:txBody>
      </p:sp>
      <p:sp>
        <p:nvSpPr>
          <p:cNvPr id="123" name="Shape 111"/>
          <p:cNvSpPr/>
          <p:nvPr/>
        </p:nvSpPr>
        <p:spPr>
          <a:xfrm>
            <a:off x="502920" y="5788152"/>
            <a:ext cx="1783080" cy="603504"/>
          </a:xfrm>
          <a:prstGeom prst="roundRect">
            <a:avLst>
              <a:gd name="adj" fmla="val 9091"/>
            </a:avLst>
          </a:prstGeom>
          <a:solidFill>
            <a:srgbClr val="0A1F44"/>
          </a:solidFill>
          <a:ln w="6350">
            <a:solidFill>
              <a:srgbClr val="0A1F44"/>
            </a:solidFill>
            <a:prstDash val="solid"/>
          </a:ln>
        </p:spPr>
      </p:sp>
      <p:sp>
        <p:nvSpPr>
          <p:cNvPr id="124" name="Text 112"/>
          <p:cNvSpPr txBox="1"/>
          <p:nvPr/>
        </p:nvSpPr>
        <p:spPr>
          <a:xfrm>
            <a:off x="603504" y="5788152"/>
            <a:ext cx="1645920" cy="603504"/>
          </a:xfrm>
          <a:prstGeom prst="rect">
            <a:avLst/>
          </a:prstGeom>
          <a:noFill/>
          <a:ln/>
        </p:spPr>
        <p:txBody>
          <a:bodyPr wrap="square" lIns="0" tIns="0" rIns="0" bIns="0" rtlCol="0" anchor="ctr"/>
          <a:lstStyle/>
          <a:p>
            <a:pPr indent="0" marL="0">
              <a:buNone/>
            </a:pPr>
            <a:r>
              <a:rPr lang="en-US" sz="1100" b="1" dirty="0">
                <a:solidFill>
                  <a:srgbClr val="FFFFFF"/>
                </a:solidFill>
                <a:latin typeface="Inter" pitchFamily="34" charset="0"/>
                <a:ea typeface="Inter" pitchFamily="34" charset="-122"/>
                <a:cs typeface="Inter" pitchFamily="34" charset="-120"/>
              </a:rPr>
              <a:t>Rented → owned</a:t>
            </a:r>
            <a:endParaRPr lang="en-US" sz="1200" dirty="0"/>
          </a:p>
          <a:p>
            <a:pPr indent="0" marL="0">
              <a:buNone/>
            </a:pPr>
            <a:r>
              <a:rPr lang="en-US" sz="850" dirty="0">
                <a:solidFill>
                  <a:srgbClr val="C7D7F5"/>
                </a:solidFill>
                <a:latin typeface="Inter" pitchFamily="34" charset="0"/>
                <a:ea typeface="Inter" pitchFamily="34" charset="-122"/>
                <a:cs typeface="Inter" pitchFamily="34" charset="-120"/>
              </a:rPr>
              <a:t>inside the fixed $120M</a:t>
            </a:r>
            <a:endParaRPr lang="en-US" sz="1200" dirty="0"/>
          </a:p>
        </p:txBody>
      </p:sp>
      <p:sp>
        <p:nvSpPr>
          <p:cNvPr id="125" name="Shape 113"/>
          <p:cNvSpPr/>
          <p:nvPr/>
        </p:nvSpPr>
        <p:spPr>
          <a:xfrm>
            <a:off x="2377440" y="5788152"/>
            <a:ext cx="2578608" cy="603504"/>
          </a:xfrm>
          <a:prstGeom prst="chevron">
            <a:avLst/>
          </a:prstGeom>
          <a:solidFill>
            <a:srgbClr val="1D4ED8"/>
          </a:solidFill>
          <a:ln w="12700">
            <a:solidFill>
              <a:srgbClr val="FFFFFF"/>
            </a:solidFill>
            <a:prstDash val="solid"/>
          </a:ln>
        </p:spPr>
      </p:sp>
      <p:sp>
        <p:nvSpPr>
          <p:cNvPr id="126" name="Text 114"/>
          <p:cNvSpPr txBox="1"/>
          <p:nvPr/>
        </p:nvSpPr>
        <p:spPr>
          <a:xfrm>
            <a:off x="2688336" y="5788152"/>
            <a:ext cx="2029968" cy="603504"/>
          </a:xfrm>
          <a:prstGeom prst="rect">
            <a:avLst/>
          </a:prstGeom>
          <a:noFill/>
          <a:ln/>
        </p:spPr>
        <p:txBody>
          <a:bodyPr wrap="square" lIns="0" tIns="0" rIns="0" bIns="0" rtlCol="0" anchor="ctr"/>
          <a:lstStyle/>
          <a:p>
            <a:pPr indent="0" marL="0">
              <a:buNone/>
            </a:pPr>
            <a:r>
              <a:rPr lang="en-US" sz="800" b="1" dirty="0">
                <a:solidFill>
                  <a:srgbClr val="DCE7FB"/>
                </a:solidFill>
                <a:latin typeface="Inter" pitchFamily="34" charset="0"/>
                <a:ea typeface="Inter" pitchFamily="34" charset="-122"/>
                <a:cs typeface="Inter" pitchFamily="34" charset="-120"/>
              </a:rPr>
              <a:t>After day 90</a:t>
            </a:r>
            <a:endParaRPr lang="en-US" sz="1200" dirty="0"/>
          </a:p>
          <a:p>
            <a:pPr indent="0" marL="0">
              <a:buNone/>
            </a:pPr>
            <a:r>
              <a:rPr lang="en-US" sz="1000" b="1" dirty="0">
                <a:solidFill>
                  <a:srgbClr val="FFFFFF"/>
                </a:solidFill>
                <a:latin typeface="Inter" pitchFamily="34" charset="0"/>
                <a:ea typeface="Inter" pitchFamily="34" charset="-122"/>
                <a:cs typeface="Inter" pitchFamily="34" charset="-120"/>
              </a:rPr>
              <a:t>Retargeting → owned</a:t>
            </a:r>
            <a:endParaRPr lang="en-US" sz="1200" dirty="0"/>
          </a:p>
          <a:p>
            <a:pPr indent="0" marL="0">
              <a:buNone/>
            </a:pPr>
            <a:r>
              <a:rPr lang="en-US" sz="850" dirty="0">
                <a:solidFill>
                  <a:srgbClr val="FFFFFF"/>
                </a:solidFill>
                <a:latin typeface="Inter" pitchFamily="34" charset="0"/>
                <a:ea typeface="Inter" pitchFamily="34" charset="-122"/>
                <a:cs typeface="Inter" pitchFamily="34" charset="-120"/>
              </a:rPr>
              <a:t>up to $3.4M (24.5% × $14M)</a:t>
            </a:r>
            <a:endParaRPr lang="en-US" sz="1200" dirty="0"/>
          </a:p>
        </p:txBody>
      </p:sp>
      <p:sp>
        <p:nvSpPr>
          <p:cNvPr id="127" name="Shape 115"/>
          <p:cNvSpPr/>
          <p:nvPr/>
        </p:nvSpPr>
        <p:spPr>
          <a:xfrm>
            <a:off x="4919472" y="5788152"/>
            <a:ext cx="2578608" cy="603504"/>
          </a:xfrm>
          <a:prstGeom prst="chevron">
            <a:avLst/>
          </a:prstGeom>
          <a:solidFill>
            <a:srgbClr val="2563EB"/>
          </a:solidFill>
          <a:ln w="12700">
            <a:solidFill>
              <a:srgbClr val="FFFFFF"/>
            </a:solidFill>
            <a:prstDash val="solid"/>
          </a:ln>
        </p:spPr>
      </p:sp>
      <p:sp>
        <p:nvSpPr>
          <p:cNvPr id="128" name="Text 116"/>
          <p:cNvSpPr txBox="1"/>
          <p:nvPr/>
        </p:nvSpPr>
        <p:spPr>
          <a:xfrm>
            <a:off x="5230368" y="5788152"/>
            <a:ext cx="2029968" cy="603504"/>
          </a:xfrm>
          <a:prstGeom prst="rect">
            <a:avLst/>
          </a:prstGeom>
          <a:noFill/>
          <a:ln/>
        </p:spPr>
        <p:txBody>
          <a:bodyPr wrap="square" lIns="0" tIns="0" rIns="0" bIns="0" rtlCol="0" anchor="ctr"/>
          <a:lstStyle/>
          <a:p>
            <a:pPr indent="0" marL="0">
              <a:buNone/>
            </a:pPr>
            <a:r>
              <a:rPr lang="en-US" sz="800" b="1" dirty="0">
                <a:solidFill>
                  <a:srgbClr val="DCE7FB"/>
                </a:solidFill>
                <a:latin typeface="Inter" pitchFamily="34" charset="0"/>
                <a:ea typeface="Inter" pitchFamily="34" charset="-122"/>
                <a:cs typeface="Inter" pitchFamily="34" charset="-120"/>
              </a:rPr>
              <a:t>Months 4–6</a:t>
            </a:r>
            <a:endParaRPr lang="en-US" sz="1200" dirty="0"/>
          </a:p>
          <a:p>
            <a:pPr indent="0" marL="0">
              <a:buNone/>
            </a:pPr>
            <a:r>
              <a:rPr lang="en-US" sz="1000" b="1" dirty="0">
                <a:solidFill>
                  <a:srgbClr val="FFFFFF"/>
                </a:solidFill>
                <a:latin typeface="Inter" pitchFamily="34" charset="0"/>
                <a:ea typeface="Inter" pitchFamily="34" charset="-122"/>
                <a:cs typeface="Inter" pitchFamily="34" charset="-120"/>
              </a:rPr>
              <a:t>Branded search → owned</a:t>
            </a:r>
            <a:endParaRPr lang="en-US" sz="1200" dirty="0"/>
          </a:p>
          <a:p>
            <a:pPr indent="0" marL="0">
              <a:buNone/>
            </a:pPr>
            <a:r>
              <a:rPr lang="en-US" sz="850" dirty="0">
                <a:solidFill>
                  <a:srgbClr val="FFFFFF"/>
                </a:solidFill>
                <a:latin typeface="Inter" pitchFamily="34" charset="0"/>
                <a:ea typeface="Inter" pitchFamily="34" charset="-122"/>
                <a:cs typeface="Inter" pitchFamily="34" charset="-120"/>
              </a:rPr>
              <a:t>test ~$6.2M (South 28% × $22M)</a:t>
            </a:r>
            <a:endParaRPr lang="en-US" sz="1200" dirty="0"/>
          </a:p>
        </p:txBody>
      </p:sp>
      <p:sp>
        <p:nvSpPr>
          <p:cNvPr id="129" name="Shape 117"/>
          <p:cNvSpPr/>
          <p:nvPr/>
        </p:nvSpPr>
        <p:spPr>
          <a:xfrm>
            <a:off x="7461504" y="5788152"/>
            <a:ext cx="2578608" cy="603504"/>
          </a:xfrm>
          <a:prstGeom prst="chevron">
            <a:avLst/>
          </a:prstGeom>
          <a:solidFill>
            <a:srgbClr val="60A5FA"/>
          </a:solidFill>
          <a:ln w="12700">
            <a:solidFill>
              <a:srgbClr val="FFFFFF"/>
            </a:solidFill>
            <a:prstDash val="solid"/>
          </a:ln>
        </p:spPr>
      </p:sp>
      <p:sp>
        <p:nvSpPr>
          <p:cNvPr id="130" name="Text 118"/>
          <p:cNvSpPr txBox="1"/>
          <p:nvPr/>
        </p:nvSpPr>
        <p:spPr>
          <a:xfrm>
            <a:off x="7772400" y="5788152"/>
            <a:ext cx="2029968" cy="603504"/>
          </a:xfrm>
          <a:prstGeom prst="rect">
            <a:avLst/>
          </a:prstGeom>
          <a:noFill/>
          <a:ln/>
        </p:spPr>
        <p:txBody>
          <a:bodyPr wrap="square" lIns="0" tIns="0" rIns="0" bIns="0" rtlCol="0" anchor="ctr"/>
          <a:lstStyle/>
          <a:p>
            <a:pPr indent="0" marL="0">
              <a:buNone/>
            </a:pPr>
            <a:r>
              <a:rPr lang="en-US" sz="800" b="1" dirty="0">
                <a:solidFill>
                  <a:srgbClr val="DCE7FB"/>
                </a:solidFill>
                <a:latin typeface="Inter" pitchFamily="34" charset="0"/>
                <a:ea typeface="Inter" pitchFamily="34" charset="-122"/>
                <a:cs typeface="Inter" pitchFamily="34" charset="-120"/>
              </a:rPr>
              <a:t>Months 7–9</a:t>
            </a:r>
            <a:endParaRPr lang="en-US" sz="1200" dirty="0"/>
          </a:p>
          <a:p>
            <a:pPr indent="0" marL="0">
              <a:buNone/>
            </a:pPr>
            <a:r>
              <a:rPr lang="en-US" sz="1000" b="1" dirty="0">
                <a:solidFill>
                  <a:srgbClr val="FFFFFF"/>
                </a:solidFill>
                <a:latin typeface="Inter" pitchFamily="34" charset="0"/>
                <a:ea typeface="Inter" pitchFamily="34" charset="-122"/>
                <a:cs typeface="Inter" pitchFamily="34" charset="-120"/>
              </a:rPr>
              <a:t>Prospecting → owned</a:t>
            </a:r>
            <a:endParaRPr lang="en-US" sz="1200" dirty="0"/>
          </a:p>
          <a:p>
            <a:pPr indent="0" marL="0">
              <a:buNone/>
            </a:pPr>
            <a:r>
              <a:rPr lang="en-US" sz="850" dirty="0">
                <a:solidFill>
                  <a:srgbClr val="FFFFFF"/>
                </a:solidFill>
                <a:latin typeface="Inter" pitchFamily="34" charset="0"/>
                <a:ea typeface="Inter" pitchFamily="34" charset="-122"/>
                <a:cs typeface="Inter" pitchFamily="34" charset="-120"/>
              </a:rPr>
              <a:t>test ~$16.2M (South 28% × $58M)</a:t>
            </a:r>
            <a:endParaRPr lang="en-US" sz="1200" dirty="0"/>
          </a:p>
        </p:txBody>
      </p:sp>
      <p:sp>
        <p:nvSpPr>
          <p:cNvPr id="131" name="Shape 119"/>
          <p:cNvSpPr/>
          <p:nvPr/>
        </p:nvSpPr>
        <p:spPr>
          <a:xfrm>
            <a:off x="9747504" y="5788152"/>
            <a:ext cx="1938528" cy="603504"/>
          </a:xfrm>
          <a:prstGeom prst="roundRect">
            <a:avLst>
              <a:gd name="adj" fmla="val 9091"/>
            </a:avLst>
          </a:prstGeom>
          <a:solidFill>
            <a:srgbClr val="EFF6FF"/>
          </a:solidFill>
          <a:ln w="6350">
            <a:solidFill>
              <a:srgbClr val="EFF6FF"/>
            </a:solidFill>
            <a:prstDash val="solid"/>
          </a:ln>
        </p:spPr>
      </p:sp>
      <p:sp>
        <p:nvSpPr>
          <p:cNvPr id="132" name="Text 120"/>
          <p:cNvSpPr txBox="1"/>
          <p:nvPr/>
        </p:nvSpPr>
        <p:spPr>
          <a:xfrm>
            <a:off x="9838944" y="5788152"/>
            <a:ext cx="1801368" cy="603504"/>
          </a:xfrm>
          <a:prstGeom prst="rect">
            <a:avLst/>
          </a:prstGeom>
          <a:noFill/>
          <a:ln/>
        </p:spPr>
        <p:txBody>
          <a:bodyPr wrap="square" lIns="0" tIns="0" rIns="0" bIns="0" rtlCol="0" anchor="ctr"/>
          <a:lstStyle/>
          <a:p>
            <a:pPr indent="0" marL="0">
              <a:buNone/>
            </a:pPr>
            <a:r>
              <a:rPr lang="en-US" sz="850" dirty="0">
                <a:solidFill>
                  <a:srgbClr val="0F172A"/>
                </a:solidFill>
                <a:latin typeface="Inter" pitchFamily="34" charset="0"/>
                <a:ea typeface="Inter" pitchFamily="34" charset="-122"/>
                <a:cs typeface="Inter" pitchFamily="34" charset="-120"/>
              </a:rPr>
              <a:t>Each step moves only </a:t>
            </a:r>
            <a:pPr indent="0" marL="0">
              <a:buNone/>
            </a:pPr>
            <a:r>
              <a:rPr lang="en-US" sz="850" b="1" dirty="0">
                <a:solidFill>
                  <a:srgbClr val="0A1F44"/>
                </a:solidFill>
                <a:latin typeface="Inter" pitchFamily="34" charset="0"/>
                <a:ea typeface="Inter" pitchFamily="34" charset="-122"/>
                <a:cs typeface="Inter" pitchFamily="34" charset="-120"/>
              </a:rPr>
              <a:t>what its holdout proves</a:t>
            </a:r>
            <a:pPr indent="0" marL="0">
              <a:buNone/>
            </a:pPr>
            <a:r>
              <a:rPr lang="en-US" sz="850" dirty="0">
                <a:solidFill>
                  <a:srgbClr val="0F172A"/>
                </a:solidFill>
                <a:latin typeface="Inter" pitchFamily="34" charset="0"/>
                <a:ea typeface="Inter" pitchFamily="34" charset="-122"/>
                <a:cs typeface="Inter" pitchFamily="34" charset="-120"/>
              </a:rPr>
              <a:t>; scale, adjust or stop</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822960"/>
            <a:ext cx="7315200" cy="822960"/>
          </a:xfrm>
          <a:prstGeom prst="rect">
            <a:avLst/>
          </a:prstGeom>
          <a:noFill/>
          <a:ln/>
        </p:spPr>
        <p:txBody>
          <a:bodyPr wrap="square" lIns="0" tIns="0" rIns="0" bIns="0" rtlCol="0" anchor="t"/>
          <a:lstStyle/>
          <a:p>
            <a:pPr indent="0" marL="0">
              <a:buNone/>
            </a:pPr>
            <a:r>
              <a:rPr lang="en-US" sz="4000" b="1" dirty="0">
                <a:solidFill>
                  <a:srgbClr val="FFFFFF"/>
                </a:solidFill>
                <a:latin typeface="Inter" pitchFamily="34" charset="0"/>
                <a:ea typeface="Inter" pitchFamily="34" charset="-122"/>
                <a:cs typeface="Inter" pitchFamily="34" charset="-120"/>
              </a:rPr>
              <a:t>Appendix</a:t>
            </a:r>
            <a:endParaRPr lang="en-US" sz="4000" dirty="0"/>
          </a:p>
        </p:txBody>
      </p:sp>
      <p:sp>
        <p:nvSpPr>
          <p:cNvPr id="3" name="Text 1"/>
          <p:cNvSpPr txBox="1"/>
          <p:nvPr/>
        </p:nvSpPr>
        <p:spPr>
          <a:xfrm>
            <a:off x="640080" y="1874520"/>
            <a:ext cx="3657600" cy="274320"/>
          </a:xfrm>
          <a:prstGeom prst="rect">
            <a:avLst/>
          </a:prstGeom>
          <a:noFill/>
          <a:ln/>
        </p:spPr>
        <p:txBody>
          <a:bodyPr wrap="square" lIns="0" tIns="0" rIns="0" bIns="0" rtlCol="0" anchor="t"/>
          <a:lstStyle/>
          <a:p>
            <a:pPr indent="0" marL="0">
              <a:buNone/>
            </a:pPr>
            <a:r>
              <a:rPr lang="en-US" sz="1000" b="1" dirty="0">
                <a:solidFill>
                  <a:srgbClr val="8FB2EE"/>
                </a:solidFill>
                <a:latin typeface="Inter" pitchFamily="34" charset="0"/>
                <a:ea typeface="Inter" pitchFamily="34" charset="-122"/>
                <a:cs typeface="Inter" pitchFamily="34" charset="-120"/>
              </a:rPr>
              <a:t>ADOBE CJA EVIDENCE</a:t>
            </a:r>
            <a:endParaRPr lang="en-US" sz="1000" dirty="0"/>
          </a:p>
        </p:txBody>
      </p:sp>
      <p:sp>
        <p:nvSpPr>
          <p:cNvPr id="4" name="Text 2"/>
          <p:cNvSpPr txBox="1"/>
          <p:nvPr/>
        </p:nvSpPr>
        <p:spPr>
          <a:xfrm>
            <a:off x="4572000" y="1874520"/>
            <a:ext cx="3657600" cy="274320"/>
          </a:xfrm>
          <a:prstGeom prst="rect">
            <a:avLst/>
          </a:prstGeom>
          <a:noFill/>
          <a:ln/>
        </p:spPr>
        <p:txBody>
          <a:bodyPr wrap="square" lIns="0" tIns="0" rIns="0" bIns="0" rtlCol="0" anchor="t"/>
          <a:lstStyle/>
          <a:p>
            <a:pPr indent="0" marL="0">
              <a:buNone/>
            </a:pPr>
            <a:r>
              <a:rPr lang="en-US" sz="1000" b="1" dirty="0">
                <a:solidFill>
                  <a:srgbClr val="8FB2EE"/>
                </a:solidFill>
                <a:latin typeface="Inter" pitchFamily="34" charset="0"/>
                <a:ea typeface="Inter" pitchFamily="34" charset="-122"/>
                <a:cs typeface="Inter" pitchFamily="34" charset="-120"/>
              </a:rPr>
              <a:t>BACKUP ANALYSIS</a:t>
            </a:r>
            <a:endParaRPr lang="en-US" sz="1000" dirty="0"/>
          </a:p>
        </p:txBody>
      </p:sp>
      <p:sp>
        <p:nvSpPr>
          <p:cNvPr id="5" name="Text 3"/>
          <p:cNvSpPr txBox="1"/>
          <p:nvPr/>
        </p:nvSpPr>
        <p:spPr>
          <a:xfrm>
            <a:off x="640080" y="2240280"/>
            <a:ext cx="457200" cy="329184"/>
          </a:xfrm>
          <a:prstGeom prst="rect">
            <a:avLst/>
          </a:prstGeom>
          <a:noFill/>
          <a:ln/>
        </p:spPr>
        <p:txBody>
          <a:bodyPr wrap="square" lIns="0" tIns="0" rIns="0" bIns="0" rtlCol="0" anchor="ctr"/>
          <a:lstStyle/>
          <a:p>
            <a:pPr indent="0" marL="0">
              <a:buNone/>
            </a:pPr>
            <a:r>
              <a:rPr lang="en-US" sz="1300" b="1" dirty="0">
                <a:solidFill>
                  <a:srgbClr val="6F94DD"/>
                </a:solidFill>
                <a:latin typeface="Inter" pitchFamily="34" charset="0"/>
                <a:ea typeface="Inter" pitchFamily="34" charset="-122"/>
                <a:cs typeface="Inter" pitchFamily="34" charset="-120"/>
              </a:rPr>
              <a:t>9</a:t>
            </a:r>
            <a:endParaRPr lang="en-US" sz="1300" dirty="0"/>
          </a:p>
        </p:txBody>
      </p:sp>
      <p:sp>
        <p:nvSpPr>
          <p:cNvPr id="6" name="Text 4"/>
          <p:cNvSpPr txBox="1"/>
          <p:nvPr/>
        </p:nvSpPr>
        <p:spPr>
          <a:xfrm>
            <a:off x="1143000" y="2240280"/>
            <a:ext cx="3200400" cy="329184"/>
          </a:xfrm>
          <a:prstGeom prst="rect">
            <a:avLst/>
          </a:prstGeom>
          <a:noFill/>
          <a:ln/>
        </p:spPr>
        <p:txBody>
          <a:bodyPr wrap="square" lIns="0" tIns="0" rIns="0" bIns="0" rtlCol="0" anchor="ctr"/>
          <a:lstStyle/>
          <a:p>
            <a:pPr indent="0" marL="0">
              <a:buNone/>
            </a:pPr>
            <a:r>
              <a:rPr lang="en-US" sz="1300" dirty="0">
                <a:solidFill>
                  <a:srgbClr val="FFFFFF"/>
                </a:solidFill>
                <a:latin typeface="Inter" pitchFamily="34" charset="0"/>
                <a:ea typeface="Inter" pitchFamily="34" charset="-122"/>
                <a:cs typeface="Inter" pitchFamily="34" charset="-120"/>
              </a:rPr>
              <a:t>Fallout</a:t>
            </a:r>
            <a:endParaRPr lang="en-US" sz="1300" dirty="0"/>
          </a:p>
        </p:txBody>
      </p:sp>
      <p:sp>
        <p:nvSpPr>
          <p:cNvPr id="7" name="Text 5"/>
          <p:cNvSpPr txBox="1"/>
          <p:nvPr/>
        </p:nvSpPr>
        <p:spPr>
          <a:xfrm>
            <a:off x="640080" y="2624328"/>
            <a:ext cx="457200" cy="329184"/>
          </a:xfrm>
          <a:prstGeom prst="rect">
            <a:avLst/>
          </a:prstGeom>
          <a:noFill/>
          <a:ln/>
        </p:spPr>
        <p:txBody>
          <a:bodyPr wrap="square" lIns="0" tIns="0" rIns="0" bIns="0" rtlCol="0" anchor="ctr"/>
          <a:lstStyle/>
          <a:p>
            <a:pPr indent="0" marL="0">
              <a:buNone/>
            </a:pPr>
            <a:r>
              <a:rPr lang="en-US" sz="1300" b="1" dirty="0">
                <a:solidFill>
                  <a:srgbClr val="6F94DD"/>
                </a:solidFill>
                <a:latin typeface="Inter" pitchFamily="34" charset="0"/>
                <a:ea typeface="Inter" pitchFamily="34" charset="-122"/>
                <a:cs typeface="Inter" pitchFamily="34" charset="-120"/>
              </a:rPr>
              <a:t>10</a:t>
            </a:r>
            <a:endParaRPr lang="en-US" sz="1300" dirty="0"/>
          </a:p>
        </p:txBody>
      </p:sp>
      <p:sp>
        <p:nvSpPr>
          <p:cNvPr id="8" name="Text 6"/>
          <p:cNvSpPr txBox="1"/>
          <p:nvPr/>
        </p:nvSpPr>
        <p:spPr>
          <a:xfrm>
            <a:off x="1143000" y="2624328"/>
            <a:ext cx="3200400" cy="329184"/>
          </a:xfrm>
          <a:prstGeom prst="rect">
            <a:avLst/>
          </a:prstGeom>
          <a:noFill/>
          <a:ln/>
        </p:spPr>
        <p:txBody>
          <a:bodyPr wrap="square" lIns="0" tIns="0" rIns="0" bIns="0" rtlCol="0" anchor="ctr"/>
          <a:lstStyle/>
          <a:p>
            <a:pPr indent="0" marL="0">
              <a:buNone/>
            </a:pPr>
            <a:r>
              <a:rPr lang="en-US" sz="1300" dirty="0">
                <a:solidFill>
                  <a:srgbClr val="FFFFFF"/>
                </a:solidFill>
                <a:latin typeface="Inter" pitchFamily="34" charset="0"/>
                <a:ea typeface="Inter" pitchFamily="34" charset="-122"/>
                <a:cs typeface="Inter" pitchFamily="34" charset="-120"/>
              </a:rPr>
              <a:t>Attribution IQ</a:t>
            </a:r>
            <a:endParaRPr lang="en-US" sz="1300" dirty="0"/>
          </a:p>
        </p:txBody>
      </p:sp>
      <p:sp>
        <p:nvSpPr>
          <p:cNvPr id="9" name="Text 7"/>
          <p:cNvSpPr txBox="1"/>
          <p:nvPr/>
        </p:nvSpPr>
        <p:spPr>
          <a:xfrm>
            <a:off x="640080" y="3008376"/>
            <a:ext cx="457200" cy="329184"/>
          </a:xfrm>
          <a:prstGeom prst="rect">
            <a:avLst/>
          </a:prstGeom>
          <a:noFill/>
          <a:ln/>
        </p:spPr>
        <p:txBody>
          <a:bodyPr wrap="square" lIns="0" tIns="0" rIns="0" bIns="0" rtlCol="0" anchor="ctr"/>
          <a:lstStyle/>
          <a:p>
            <a:pPr indent="0" marL="0">
              <a:buNone/>
            </a:pPr>
            <a:r>
              <a:rPr lang="en-US" sz="1300" b="1" dirty="0">
                <a:solidFill>
                  <a:srgbClr val="6F94DD"/>
                </a:solidFill>
                <a:latin typeface="Inter" pitchFamily="34" charset="0"/>
                <a:ea typeface="Inter" pitchFamily="34" charset="-122"/>
                <a:cs typeface="Inter" pitchFamily="34" charset="-120"/>
              </a:rPr>
              <a:t>11</a:t>
            </a:r>
            <a:endParaRPr lang="en-US" sz="1300" dirty="0"/>
          </a:p>
        </p:txBody>
      </p:sp>
      <p:sp>
        <p:nvSpPr>
          <p:cNvPr id="10" name="Text 8"/>
          <p:cNvSpPr txBox="1"/>
          <p:nvPr/>
        </p:nvSpPr>
        <p:spPr>
          <a:xfrm>
            <a:off x="1143000" y="3008376"/>
            <a:ext cx="3200400" cy="329184"/>
          </a:xfrm>
          <a:prstGeom prst="rect">
            <a:avLst/>
          </a:prstGeom>
          <a:noFill/>
          <a:ln/>
        </p:spPr>
        <p:txBody>
          <a:bodyPr wrap="square" lIns="0" tIns="0" rIns="0" bIns="0" rtlCol="0" anchor="ctr"/>
          <a:lstStyle/>
          <a:p>
            <a:pPr indent="0" marL="0">
              <a:buNone/>
            </a:pPr>
            <a:r>
              <a:rPr lang="en-US" sz="1300" dirty="0">
                <a:solidFill>
                  <a:srgbClr val="FFFFFF"/>
                </a:solidFill>
                <a:latin typeface="Inter" pitchFamily="34" charset="0"/>
                <a:ea typeface="Inter" pitchFamily="34" charset="-122"/>
                <a:cs typeface="Inter" pitchFamily="34" charset="-120"/>
              </a:rPr>
              <a:t>Cohort Table</a:t>
            </a:r>
            <a:endParaRPr lang="en-US" sz="1300" dirty="0"/>
          </a:p>
        </p:txBody>
      </p:sp>
      <p:sp>
        <p:nvSpPr>
          <p:cNvPr id="11" name="Text 9"/>
          <p:cNvSpPr txBox="1"/>
          <p:nvPr/>
        </p:nvSpPr>
        <p:spPr>
          <a:xfrm>
            <a:off x="640080" y="3392424"/>
            <a:ext cx="457200" cy="329184"/>
          </a:xfrm>
          <a:prstGeom prst="rect">
            <a:avLst/>
          </a:prstGeom>
          <a:noFill/>
          <a:ln/>
        </p:spPr>
        <p:txBody>
          <a:bodyPr wrap="square" lIns="0" tIns="0" rIns="0" bIns="0" rtlCol="0" anchor="ctr"/>
          <a:lstStyle/>
          <a:p>
            <a:pPr indent="0" marL="0">
              <a:buNone/>
            </a:pPr>
            <a:r>
              <a:rPr lang="en-US" sz="1300" b="1" dirty="0">
                <a:solidFill>
                  <a:srgbClr val="6F94DD"/>
                </a:solidFill>
                <a:latin typeface="Inter" pitchFamily="34" charset="0"/>
                <a:ea typeface="Inter" pitchFamily="34" charset="-122"/>
                <a:cs typeface="Inter" pitchFamily="34" charset="-120"/>
              </a:rPr>
              <a:t>12</a:t>
            </a:r>
            <a:endParaRPr lang="en-US" sz="1300" dirty="0"/>
          </a:p>
        </p:txBody>
      </p:sp>
      <p:sp>
        <p:nvSpPr>
          <p:cNvPr id="12" name="Text 10"/>
          <p:cNvSpPr txBox="1"/>
          <p:nvPr/>
        </p:nvSpPr>
        <p:spPr>
          <a:xfrm>
            <a:off x="1143000" y="3392424"/>
            <a:ext cx="3200400" cy="329184"/>
          </a:xfrm>
          <a:prstGeom prst="rect">
            <a:avLst/>
          </a:prstGeom>
          <a:noFill/>
          <a:ln/>
        </p:spPr>
        <p:txBody>
          <a:bodyPr wrap="square" lIns="0" tIns="0" rIns="0" bIns="0" rtlCol="0" anchor="ctr"/>
          <a:lstStyle/>
          <a:p>
            <a:pPr indent="0" marL="0">
              <a:buNone/>
            </a:pPr>
            <a:r>
              <a:rPr lang="en-US" sz="1300" dirty="0">
                <a:solidFill>
                  <a:srgbClr val="FFFFFF"/>
                </a:solidFill>
                <a:latin typeface="Inter" pitchFamily="34" charset="0"/>
                <a:ea typeface="Inter" pitchFamily="34" charset="-122"/>
                <a:cs typeface="Inter" pitchFamily="34" charset="-120"/>
              </a:rPr>
              <a:t>Flow</a:t>
            </a:r>
            <a:endParaRPr lang="en-US" sz="1300" dirty="0"/>
          </a:p>
        </p:txBody>
      </p:sp>
      <p:sp>
        <p:nvSpPr>
          <p:cNvPr id="13" name="Text 11"/>
          <p:cNvSpPr txBox="1"/>
          <p:nvPr/>
        </p:nvSpPr>
        <p:spPr>
          <a:xfrm>
            <a:off x="640080" y="3776472"/>
            <a:ext cx="457200" cy="329184"/>
          </a:xfrm>
          <a:prstGeom prst="rect">
            <a:avLst/>
          </a:prstGeom>
          <a:noFill/>
          <a:ln/>
        </p:spPr>
        <p:txBody>
          <a:bodyPr wrap="square" lIns="0" tIns="0" rIns="0" bIns="0" rtlCol="0" anchor="ctr"/>
          <a:lstStyle/>
          <a:p>
            <a:pPr indent="0" marL="0">
              <a:buNone/>
            </a:pPr>
            <a:r>
              <a:rPr lang="en-US" sz="1300" b="1" dirty="0">
                <a:solidFill>
                  <a:srgbClr val="6F94DD"/>
                </a:solidFill>
                <a:latin typeface="Inter" pitchFamily="34" charset="0"/>
                <a:ea typeface="Inter" pitchFamily="34" charset="-122"/>
                <a:cs typeface="Inter" pitchFamily="34" charset="-120"/>
              </a:rPr>
              <a:t>13</a:t>
            </a:r>
            <a:endParaRPr lang="en-US" sz="1300" dirty="0"/>
          </a:p>
        </p:txBody>
      </p:sp>
      <p:sp>
        <p:nvSpPr>
          <p:cNvPr id="14" name="Text 12"/>
          <p:cNvSpPr txBox="1"/>
          <p:nvPr/>
        </p:nvSpPr>
        <p:spPr>
          <a:xfrm>
            <a:off x="1143000" y="3776472"/>
            <a:ext cx="3200400" cy="329184"/>
          </a:xfrm>
          <a:prstGeom prst="rect">
            <a:avLst/>
          </a:prstGeom>
          <a:noFill/>
          <a:ln/>
        </p:spPr>
        <p:txBody>
          <a:bodyPr wrap="square" lIns="0" tIns="0" rIns="0" bIns="0" rtlCol="0" anchor="ctr"/>
          <a:lstStyle/>
          <a:p>
            <a:pPr indent="0" marL="0">
              <a:buNone/>
            </a:pPr>
            <a:r>
              <a:rPr lang="en-US" sz="1300" dirty="0">
                <a:solidFill>
                  <a:srgbClr val="FFFFFF"/>
                </a:solidFill>
                <a:latin typeface="Inter" pitchFamily="34" charset="0"/>
                <a:ea typeface="Inter" pitchFamily="34" charset="-122"/>
                <a:cs typeface="Inter" pitchFamily="34" charset="-120"/>
              </a:rPr>
              <a:t>Segments</a:t>
            </a:r>
            <a:endParaRPr lang="en-US" sz="1300" dirty="0"/>
          </a:p>
        </p:txBody>
      </p:sp>
      <p:sp>
        <p:nvSpPr>
          <p:cNvPr id="15" name="Text 13"/>
          <p:cNvSpPr txBox="1"/>
          <p:nvPr/>
        </p:nvSpPr>
        <p:spPr>
          <a:xfrm>
            <a:off x="4572000" y="2240280"/>
            <a:ext cx="457200" cy="329184"/>
          </a:xfrm>
          <a:prstGeom prst="rect">
            <a:avLst/>
          </a:prstGeom>
          <a:noFill/>
          <a:ln/>
        </p:spPr>
        <p:txBody>
          <a:bodyPr wrap="square" lIns="0" tIns="0" rIns="0" bIns="0" rtlCol="0" anchor="ctr"/>
          <a:lstStyle/>
          <a:p>
            <a:pPr indent="0" marL="0">
              <a:buNone/>
            </a:pPr>
            <a:r>
              <a:rPr lang="en-US" sz="1300" b="1" dirty="0">
                <a:solidFill>
                  <a:srgbClr val="6F94DD"/>
                </a:solidFill>
                <a:latin typeface="Inter" pitchFamily="34" charset="0"/>
                <a:ea typeface="Inter" pitchFamily="34" charset="-122"/>
                <a:cs typeface="Inter" pitchFamily="34" charset="-120"/>
              </a:rPr>
              <a:t>14</a:t>
            </a:r>
            <a:endParaRPr lang="en-US" sz="1300" dirty="0"/>
          </a:p>
        </p:txBody>
      </p:sp>
      <p:sp>
        <p:nvSpPr>
          <p:cNvPr id="16" name="Text 14"/>
          <p:cNvSpPr txBox="1"/>
          <p:nvPr/>
        </p:nvSpPr>
        <p:spPr>
          <a:xfrm>
            <a:off x="5074920" y="2240280"/>
            <a:ext cx="3108960" cy="329184"/>
          </a:xfrm>
          <a:prstGeom prst="rect">
            <a:avLst/>
          </a:prstGeom>
          <a:noFill/>
          <a:ln/>
        </p:spPr>
        <p:txBody>
          <a:bodyPr wrap="square" lIns="0" tIns="0" rIns="0" bIns="0" rtlCol="0" anchor="ctr"/>
          <a:lstStyle/>
          <a:p>
            <a:pPr indent="0" marL="0">
              <a:buNone/>
            </a:pPr>
            <a:r>
              <a:rPr lang="en-US" sz="1300" dirty="0">
                <a:solidFill>
                  <a:srgbClr val="FFFFFF"/>
                </a:solidFill>
                <a:latin typeface="Inter" pitchFamily="34" charset="0"/>
                <a:ea typeface="Inter" pitchFamily="34" charset="-122"/>
                <a:cs typeface="Inter" pitchFamily="34" charset="-120"/>
              </a:rPr>
              <a:t>Why a blend</a:t>
            </a:r>
            <a:endParaRPr lang="en-US" sz="1300" dirty="0"/>
          </a:p>
        </p:txBody>
      </p:sp>
      <p:sp>
        <p:nvSpPr>
          <p:cNvPr id="17" name="Text 15"/>
          <p:cNvSpPr txBox="1"/>
          <p:nvPr/>
        </p:nvSpPr>
        <p:spPr>
          <a:xfrm>
            <a:off x="4572000" y="2624328"/>
            <a:ext cx="457200" cy="329184"/>
          </a:xfrm>
          <a:prstGeom prst="rect">
            <a:avLst/>
          </a:prstGeom>
          <a:noFill/>
          <a:ln/>
        </p:spPr>
        <p:txBody>
          <a:bodyPr wrap="square" lIns="0" tIns="0" rIns="0" bIns="0" rtlCol="0" anchor="ctr"/>
          <a:lstStyle/>
          <a:p>
            <a:pPr indent="0" marL="0">
              <a:buNone/>
            </a:pPr>
            <a:r>
              <a:rPr lang="en-US" sz="1300" b="1" dirty="0">
                <a:solidFill>
                  <a:srgbClr val="6F94DD"/>
                </a:solidFill>
                <a:latin typeface="Inter" pitchFamily="34" charset="0"/>
                <a:ea typeface="Inter" pitchFamily="34" charset="-122"/>
                <a:cs typeface="Inter" pitchFamily="34" charset="-120"/>
              </a:rPr>
              <a:t>15</a:t>
            </a:r>
            <a:endParaRPr lang="en-US" sz="1300" dirty="0"/>
          </a:p>
        </p:txBody>
      </p:sp>
      <p:sp>
        <p:nvSpPr>
          <p:cNvPr id="18" name="Text 16"/>
          <p:cNvSpPr txBox="1"/>
          <p:nvPr/>
        </p:nvSpPr>
        <p:spPr>
          <a:xfrm>
            <a:off x="5074920" y="2624328"/>
            <a:ext cx="3108960" cy="329184"/>
          </a:xfrm>
          <a:prstGeom prst="rect">
            <a:avLst/>
          </a:prstGeom>
          <a:noFill/>
          <a:ln/>
        </p:spPr>
        <p:txBody>
          <a:bodyPr wrap="square" lIns="0" tIns="0" rIns="0" bIns="0" rtlCol="0" anchor="ctr"/>
          <a:lstStyle/>
          <a:p>
            <a:pPr indent="0" marL="0">
              <a:buNone/>
            </a:pPr>
            <a:r>
              <a:rPr lang="en-US" sz="1300" dirty="0">
                <a:solidFill>
                  <a:srgbClr val="FFFFFF"/>
                </a:solidFill>
                <a:latin typeface="Inter" pitchFamily="34" charset="0"/>
                <a:ea typeface="Inter" pitchFamily="34" charset="-122"/>
                <a:cs typeface="Inter" pitchFamily="34" charset="-120"/>
              </a:rPr>
              <a:t>Issue tree</a:t>
            </a:r>
            <a:endParaRPr lang="en-US" sz="1300" dirty="0"/>
          </a:p>
        </p:txBody>
      </p:sp>
      <p:sp>
        <p:nvSpPr>
          <p:cNvPr id="19" name="Text 17"/>
          <p:cNvSpPr txBox="1"/>
          <p:nvPr/>
        </p:nvSpPr>
        <p:spPr>
          <a:xfrm>
            <a:off x="4572000" y="3008376"/>
            <a:ext cx="457200" cy="329184"/>
          </a:xfrm>
          <a:prstGeom prst="rect">
            <a:avLst/>
          </a:prstGeom>
          <a:noFill/>
          <a:ln/>
        </p:spPr>
        <p:txBody>
          <a:bodyPr wrap="square" lIns="0" tIns="0" rIns="0" bIns="0" rtlCol="0" anchor="ctr"/>
          <a:lstStyle/>
          <a:p>
            <a:pPr indent="0" marL="0">
              <a:buNone/>
            </a:pPr>
            <a:r>
              <a:rPr lang="en-US" sz="1300" b="1" dirty="0">
                <a:solidFill>
                  <a:srgbClr val="6F94DD"/>
                </a:solidFill>
                <a:latin typeface="Inter" pitchFamily="34" charset="0"/>
                <a:ea typeface="Inter" pitchFamily="34" charset="-122"/>
                <a:cs typeface="Inter" pitchFamily="34" charset="-120"/>
              </a:rPr>
              <a:t>16</a:t>
            </a:r>
            <a:endParaRPr lang="en-US" sz="1300" dirty="0"/>
          </a:p>
        </p:txBody>
      </p:sp>
      <p:sp>
        <p:nvSpPr>
          <p:cNvPr id="20" name="Text 18"/>
          <p:cNvSpPr txBox="1"/>
          <p:nvPr/>
        </p:nvSpPr>
        <p:spPr>
          <a:xfrm>
            <a:off x="5074920" y="3008376"/>
            <a:ext cx="3108960" cy="329184"/>
          </a:xfrm>
          <a:prstGeom prst="rect">
            <a:avLst/>
          </a:prstGeom>
          <a:noFill/>
          <a:ln/>
        </p:spPr>
        <p:txBody>
          <a:bodyPr wrap="square" lIns="0" tIns="0" rIns="0" bIns="0" rtlCol="0" anchor="ctr"/>
          <a:lstStyle/>
          <a:p>
            <a:pPr indent="0" marL="0">
              <a:buNone/>
            </a:pPr>
            <a:r>
              <a:rPr lang="en-US" sz="1300" dirty="0">
                <a:solidFill>
                  <a:srgbClr val="FFFFFF"/>
                </a:solidFill>
                <a:latin typeface="Inter" pitchFamily="34" charset="0"/>
                <a:ea typeface="Inter" pitchFamily="34" charset="-122"/>
                <a:cs typeface="Inter" pitchFamily="34" charset="-120"/>
              </a:rPr>
              <a:t>Seven moments of the journey</a:t>
            </a:r>
            <a:endParaRPr lang="en-US" sz="1300" dirty="0"/>
          </a:p>
        </p:txBody>
      </p:sp>
      <p:sp>
        <p:nvSpPr>
          <p:cNvPr id="21" name="Text 19"/>
          <p:cNvSpPr txBox="1"/>
          <p:nvPr/>
        </p:nvSpPr>
        <p:spPr>
          <a:xfrm>
            <a:off x="4572000" y="3392424"/>
            <a:ext cx="457200" cy="329184"/>
          </a:xfrm>
          <a:prstGeom prst="rect">
            <a:avLst/>
          </a:prstGeom>
          <a:noFill/>
          <a:ln/>
        </p:spPr>
        <p:txBody>
          <a:bodyPr wrap="square" lIns="0" tIns="0" rIns="0" bIns="0" rtlCol="0" anchor="ctr"/>
          <a:lstStyle/>
          <a:p>
            <a:pPr indent="0" marL="0">
              <a:buNone/>
            </a:pPr>
            <a:r>
              <a:rPr lang="en-US" sz="1300" b="1" dirty="0">
                <a:solidFill>
                  <a:srgbClr val="6F94DD"/>
                </a:solidFill>
                <a:latin typeface="Inter" pitchFamily="34" charset="0"/>
                <a:ea typeface="Inter" pitchFamily="34" charset="-122"/>
                <a:cs typeface="Inter" pitchFamily="34" charset="-120"/>
              </a:rPr>
              <a:t>17</a:t>
            </a:r>
            <a:endParaRPr lang="en-US" sz="1300" dirty="0"/>
          </a:p>
        </p:txBody>
      </p:sp>
      <p:sp>
        <p:nvSpPr>
          <p:cNvPr id="22" name="Text 20"/>
          <p:cNvSpPr txBox="1"/>
          <p:nvPr/>
        </p:nvSpPr>
        <p:spPr>
          <a:xfrm>
            <a:off x="5074920" y="3392424"/>
            <a:ext cx="3108960" cy="329184"/>
          </a:xfrm>
          <a:prstGeom prst="rect">
            <a:avLst/>
          </a:prstGeom>
          <a:noFill/>
          <a:ln/>
        </p:spPr>
        <p:txBody>
          <a:bodyPr wrap="square" lIns="0" tIns="0" rIns="0" bIns="0" rtlCol="0" anchor="ctr"/>
          <a:lstStyle/>
          <a:p>
            <a:pPr indent="0" marL="0">
              <a:buNone/>
            </a:pPr>
            <a:r>
              <a:rPr lang="en-US" sz="1300" dirty="0">
                <a:solidFill>
                  <a:srgbClr val="FFFFFF"/>
                </a:solidFill>
                <a:latin typeface="Inter" pitchFamily="34" charset="0"/>
                <a:ea typeface="Inter" pitchFamily="34" charset="-122"/>
                <a:cs typeface="Inter" pitchFamily="34" charset="-120"/>
              </a:rPr>
              <a:t>Every cart adder's path (flowchart)</a:t>
            </a:r>
            <a:endParaRPr lang="en-US" sz="1300" dirty="0"/>
          </a:p>
        </p:txBody>
      </p:sp>
      <p:sp>
        <p:nvSpPr>
          <p:cNvPr id="23" name="Text 21"/>
          <p:cNvSpPr txBox="1"/>
          <p:nvPr/>
        </p:nvSpPr>
        <p:spPr>
          <a:xfrm>
            <a:off x="4572000" y="3776472"/>
            <a:ext cx="457200" cy="329184"/>
          </a:xfrm>
          <a:prstGeom prst="rect">
            <a:avLst/>
          </a:prstGeom>
          <a:noFill/>
          <a:ln/>
        </p:spPr>
        <p:txBody>
          <a:bodyPr wrap="square" lIns="0" tIns="0" rIns="0" bIns="0" rtlCol="0" anchor="ctr"/>
          <a:lstStyle/>
          <a:p>
            <a:pPr indent="0" marL="0">
              <a:buNone/>
            </a:pPr>
            <a:r>
              <a:rPr lang="en-US" sz="1300" b="1" dirty="0">
                <a:solidFill>
                  <a:srgbClr val="6F94DD"/>
                </a:solidFill>
                <a:latin typeface="Inter" pitchFamily="34" charset="0"/>
                <a:ea typeface="Inter" pitchFamily="34" charset="-122"/>
                <a:cs typeface="Inter" pitchFamily="34" charset="-120"/>
              </a:rPr>
              <a:t>18</a:t>
            </a:r>
            <a:endParaRPr lang="en-US" sz="1300" dirty="0"/>
          </a:p>
        </p:txBody>
      </p:sp>
      <p:sp>
        <p:nvSpPr>
          <p:cNvPr id="24" name="Text 22"/>
          <p:cNvSpPr txBox="1"/>
          <p:nvPr/>
        </p:nvSpPr>
        <p:spPr>
          <a:xfrm>
            <a:off x="5074920" y="3776472"/>
            <a:ext cx="3108960" cy="329184"/>
          </a:xfrm>
          <a:prstGeom prst="rect">
            <a:avLst/>
          </a:prstGeom>
          <a:noFill/>
          <a:ln/>
        </p:spPr>
        <p:txBody>
          <a:bodyPr wrap="square" lIns="0" tIns="0" rIns="0" bIns="0" rtlCol="0" anchor="ctr"/>
          <a:lstStyle/>
          <a:p>
            <a:pPr indent="0" marL="0">
              <a:buNone/>
            </a:pPr>
            <a:r>
              <a:rPr lang="en-US" sz="1300" dirty="0">
                <a:solidFill>
                  <a:srgbClr val="FFFFFF"/>
                </a:solidFill>
                <a:latin typeface="Inter" pitchFamily="34" charset="0"/>
                <a:ea typeface="Inter" pitchFamily="34" charset="-122"/>
                <a:cs typeface="Inter" pitchFamily="34" charset="-120"/>
              </a:rPr>
              <a:t>Never Pay Twice engine</a:t>
            </a:r>
            <a:endParaRPr lang="en-US" sz="1300" dirty="0"/>
          </a:p>
        </p:txBody>
      </p:sp>
      <p:sp>
        <p:nvSpPr>
          <p:cNvPr id="25" name="Text 23"/>
          <p:cNvSpPr txBox="1"/>
          <p:nvPr/>
        </p:nvSpPr>
        <p:spPr>
          <a:xfrm>
            <a:off x="4572000" y="4160520"/>
            <a:ext cx="457200" cy="329184"/>
          </a:xfrm>
          <a:prstGeom prst="rect">
            <a:avLst/>
          </a:prstGeom>
          <a:noFill/>
          <a:ln/>
        </p:spPr>
        <p:txBody>
          <a:bodyPr wrap="square" lIns="0" tIns="0" rIns="0" bIns="0" rtlCol="0" anchor="ctr"/>
          <a:lstStyle/>
          <a:p>
            <a:pPr indent="0" marL="0">
              <a:buNone/>
            </a:pPr>
            <a:r>
              <a:rPr lang="en-US" sz="1300" b="1" dirty="0">
                <a:solidFill>
                  <a:srgbClr val="6F94DD"/>
                </a:solidFill>
                <a:latin typeface="Inter" pitchFamily="34" charset="0"/>
                <a:ea typeface="Inter" pitchFamily="34" charset="-122"/>
                <a:cs typeface="Inter" pitchFamily="34" charset="-120"/>
              </a:rPr>
              <a:t>19</a:t>
            </a:r>
            <a:endParaRPr lang="en-US" sz="1300" dirty="0"/>
          </a:p>
        </p:txBody>
      </p:sp>
      <p:sp>
        <p:nvSpPr>
          <p:cNvPr id="26" name="Text 24"/>
          <p:cNvSpPr txBox="1"/>
          <p:nvPr/>
        </p:nvSpPr>
        <p:spPr>
          <a:xfrm>
            <a:off x="5074920" y="4160520"/>
            <a:ext cx="3108960" cy="329184"/>
          </a:xfrm>
          <a:prstGeom prst="rect">
            <a:avLst/>
          </a:prstGeom>
          <a:noFill/>
          <a:ln/>
        </p:spPr>
        <p:txBody>
          <a:bodyPr wrap="square" lIns="0" tIns="0" rIns="0" bIns="0" rtlCol="0" anchor="ctr"/>
          <a:lstStyle/>
          <a:p>
            <a:pPr indent="0" marL="0">
              <a:buNone/>
            </a:pPr>
            <a:r>
              <a:rPr lang="en-US" sz="1300" dirty="0">
                <a:solidFill>
                  <a:srgbClr val="FFFFFF"/>
                </a:solidFill>
                <a:latin typeface="Inter" pitchFamily="34" charset="0"/>
                <a:ea typeface="Inter" pitchFamily="34" charset="-122"/>
                <a:cs typeface="Inter" pitchFamily="34" charset="-120"/>
              </a:rPr>
              <a:t>The weekly CJA loop</a:t>
            </a:r>
            <a:endParaRPr lang="en-US" sz="1300" dirty="0"/>
          </a:p>
        </p:txBody>
      </p:sp>
      <p:sp>
        <p:nvSpPr>
          <p:cNvPr id="27" name="Text 25"/>
          <p:cNvSpPr txBox="1"/>
          <p:nvPr/>
        </p:nvSpPr>
        <p:spPr>
          <a:xfrm>
            <a:off x="4572000" y="4544568"/>
            <a:ext cx="457200" cy="329184"/>
          </a:xfrm>
          <a:prstGeom prst="rect">
            <a:avLst/>
          </a:prstGeom>
          <a:noFill/>
          <a:ln/>
        </p:spPr>
        <p:txBody>
          <a:bodyPr wrap="square" lIns="0" tIns="0" rIns="0" bIns="0" rtlCol="0" anchor="ctr"/>
          <a:lstStyle/>
          <a:p>
            <a:pPr indent="0" marL="0">
              <a:buNone/>
            </a:pPr>
            <a:r>
              <a:rPr lang="en-US" sz="1300" b="1" dirty="0">
                <a:solidFill>
                  <a:srgbClr val="6F94DD"/>
                </a:solidFill>
                <a:latin typeface="Inter" pitchFamily="34" charset="0"/>
                <a:ea typeface="Inter" pitchFamily="34" charset="-122"/>
                <a:cs typeface="Inter" pitchFamily="34" charset="-120"/>
              </a:rPr>
              <a:t>20</a:t>
            </a:r>
            <a:endParaRPr lang="en-US" sz="1300" dirty="0"/>
          </a:p>
        </p:txBody>
      </p:sp>
      <p:sp>
        <p:nvSpPr>
          <p:cNvPr id="28" name="Text 26"/>
          <p:cNvSpPr txBox="1"/>
          <p:nvPr/>
        </p:nvSpPr>
        <p:spPr>
          <a:xfrm>
            <a:off x="5074920" y="4544568"/>
            <a:ext cx="3108960" cy="329184"/>
          </a:xfrm>
          <a:prstGeom prst="rect">
            <a:avLst/>
          </a:prstGeom>
          <a:noFill/>
          <a:ln/>
        </p:spPr>
        <p:txBody>
          <a:bodyPr wrap="square" lIns="0" tIns="0" rIns="0" bIns="0" rtlCol="0" anchor="ctr"/>
          <a:lstStyle/>
          <a:p>
            <a:pPr indent="0" marL="0">
              <a:buNone/>
            </a:pPr>
            <a:r>
              <a:rPr lang="en-US" sz="1300" dirty="0">
                <a:solidFill>
                  <a:srgbClr val="FFFFFF"/>
                </a:solidFill>
                <a:latin typeface="Inter" pitchFamily="34" charset="0"/>
                <a:ea typeface="Inter" pitchFamily="34" charset="-122"/>
                <a:cs typeface="Inter" pitchFamily="34" charset="-120"/>
              </a:rPr>
              <a:t>Fourteen programs, explained</a:t>
            </a:r>
            <a:endParaRPr lang="en-US" sz="1300" dirty="0"/>
          </a:p>
        </p:txBody>
      </p:sp>
      <p:sp>
        <p:nvSpPr>
          <p:cNvPr id="29" name="Text 27"/>
          <p:cNvSpPr txBox="1"/>
          <p:nvPr/>
        </p:nvSpPr>
        <p:spPr>
          <a:xfrm>
            <a:off x="8229600" y="2240280"/>
            <a:ext cx="457200" cy="329184"/>
          </a:xfrm>
          <a:prstGeom prst="rect">
            <a:avLst/>
          </a:prstGeom>
          <a:noFill/>
          <a:ln/>
        </p:spPr>
        <p:txBody>
          <a:bodyPr wrap="square" lIns="0" tIns="0" rIns="0" bIns="0" rtlCol="0" anchor="ctr"/>
          <a:lstStyle/>
          <a:p>
            <a:pPr indent="0" marL="0">
              <a:buNone/>
            </a:pPr>
            <a:r>
              <a:rPr lang="en-US" sz="1300" b="1" dirty="0">
                <a:solidFill>
                  <a:srgbClr val="6F94DD"/>
                </a:solidFill>
                <a:latin typeface="Inter" pitchFamily="34" charset="0"/>
                <a:ea typeface="Inter" pitchFamily="34" charset="-122"/>
                <a:cs typeface="Inter" pitchFamily="34" charset="-120"/>
              </a:rPr>
              <a:t>21</a:t>
            </a:r>
            <a:endParaRPr lang="en-US" sz="1300" dirty="0"/>
          </a:p>
        </p:txBody>
      </p:sp>
      <p:sp>
        <p:nvSpPr>
          <p:cNvPr id="30" name="Text 28"/>
          <p:cNvSpPr txBox="1"/>
          <p:nvPr/>
        </p:nvSpPr>
        <p:spPr>
          <a:xfrm>
            <a:off x="8732520" y="2240280"/>
            <a:ext cx="3108960" cy="329184"/>
          </a:xfrm>
          <a:prstGeom prst="rect">
            <a:avLst/>
          </a:prstGeom>
          <a:noFill/>
          <a:ln/>
        </p:spPr>
        <p:txBody>
          <a:bodyPr wrap="square" lIns="0" tIns="0" rIns="0" bIns="0" rtlCol="0" anchor="ctr"/>
          <a:lstStyle/>
          <a:p>
            <a:pPr indent="0" marL="0">
              <a:buNone/>
            </a:pPr>
            <a:r>
              <a:rPr lang="en-US" sz="1300" dirty="0">
                <a:solidFill>
                  <a:srgbClr val="FFFFFF"/>
                </a:solidFill>
                <a:latin typeface="Inter" pitchFamily="34" charset="0"/>
                <a:ea typeface="Inter" pitchFamily="34" charset="-122"/>
                <a:cs typeface="Inter" pitchFamily="34" charset="-120"/>
              </a:rPr>
              <a:t>How the $120M moves, line by line</a:t>
            </a:r>
            <a:endParaRPr lang="en-US" sz="1300" dirty="0"/>
          </a:p>
        </p:txBody>
      </p:sp>
      <p:sp>
        <p:nvSpPr>
          <p:cNvPr id="31" name="Text 29"/>
          <p:cNvSpPr txBox="1"/>
          <p:nvPr/>
        </p:nvSpPr>
        <p:spPr>
          <a:xfrm>
            <a:off x="8229600" y="2624328"/>
            <a:ext cx="457200" cy="329184"/>
          </a:xfrm>
          <a:prstGeom prst="rect">
            <a:avLst/>
          </a:prstGeom>
          <a:noFill/>
          <a:ln/>
        </p:spPr>
        <p:txBody>
          <a:bodyPr wrap="square" lIns="0" tIns="0" rIns="0" bIns="0" rtlCol="0" anchor="ctr"/>
          <a:lstStyle/>
          <a:p>
            <a:pPr indent="0" marL="0">
              <a:buNone/>
            </a:pPr>
            <a:r>
              <a:rPr lang="en-US" sz="1300" b="1" dirty="0">
                <a:solidFill>
                  <a:srgbClr val="6F94DD"/>
                </a:solidFill>
                <a:latin typeface="Inter" pitchFamily="34" charset="0"/>
                <a:ea typeface="Inter" pitchFamily="34" charset="-122"/>
                <a:cs typeface="Inter" pitchFamily="34" charset="-120"/>
              </a:rPr>
              <a:t>22</a:t>
            </a:r>
            <a:endParaRPr lang="en-US" sz="1300" dirty="0"/>
          </a:p>
        </p:txBody>
      </p:sp>
      <p:sp>
        <p:nvSpPr>
          <p:cNvPr id="32" name="Text 30"/>
          <p:cNvSpPr txBox="1"/>
          <p:nvPr/>
        </p:nvSpPr>
        <p:spPr>
          <a:xfrm>
            <a:off x="8732520" y="2624328"/>
            <a:ext cx="3108960" cy="329184"/>
          </a:xfrm>
          <a:prstGeom prst="rect">
            <a:avLst/>
          </a:prstGeom>
          <a:noFill/>
          <a:ln/>
        </p:spPr>
        <p:txBody>
          <a:bodyPr wrap="square" lIns="0" tIns="0" rIns="0" bIns="0" rtlCol="0" anchor="ctr"/>
          <a:lstStyle/>
          <a:p>
            <a:pPr indent="0" marL="0">
              <a:buNone/>
            </a:pPr>
            <a:r>
              <a:rPr lang="en-US" sz="1300" dirty="0">
                <a:solidFill>
                  <a:srgbClr val="FFFFFF"/>
                </a:solidFill>
                <a:latin typeface="Inter" pitchFamily="34" charset="0"/>
                <a:ea typeface="Inter" pitchFamily="34" charset="-122"/>
                <a:cs typeface="Inter" pitchFamily="34" charset="-120"/>
              </a:rPr>
              <a:t>What +6 points takes</a:t>
            </a:r>
            <a:endParaRPr lang="en-US" sz="1300" dirty="0"/>
          </a:p>
        </p:txBody>
      </p:sp>
      <p:sp>
        <p:nvSpPr>
          <p:cNvPr id="33" name="Text 31"/>
          <p:cNvSpPr txBox="1"/>
          <p:nvPr/>
        </p:nvSpPr>
        <p:spPr>
          <a:xfrm>
            <a:off x="8229600" y="3008376"/>
            <a:ext cx="457200" cy="329184"/>
          </a:xfrm>
          <a:prstGeom prst="rect">
            <a:avLst/>
          </a:prstGeom>
          <a:noFill/>
          <a:ln/>
        </p:spPr>
        <p:txBody>
          <a:bodyPr wrap="square" lIns="0" tIns="0" rIns="0" bIns="0" rtlCol="0" anchor="ctr"/>
          <a:lstStyle/>
          <a:p>
            <a:pPr indent="0" marL="0">
              <a:buNone/>
            </a:pPr>
            <a:r>
              <a:rPr lang="en-US" sz="1300" b="1" dirty="0">
                <a:solidFill>
                  <a:srgbClr val="6F94DD"/>
                </a:solidFill>
                <a:latin typeface="Inter" pitchFamily="34" charset="0"/>
                <a:ea typeface="Inter" pitchFamily="34" charset="-122"/>
                <a:cs typeface="Inter" pitchFamily="34" charset="-120"/>
              </a:rPr>
              <a:t>23</a:t>
            </a:r>
            <a:endParaRPr lang="en-US" sz="1300" dirty="0"/>
          </a:p>
        </p:txBody>
      </p:sp>
      <p:sp>
        <p:nvSpPr>
          <p:cNvPr id="34" name="Text 32"/>
          <p:cNvSpPr txBox="1"/>
          <p:nvPr/>
        </p:nvSpPr>
        <p:spPr>
          <a:xfrm>
            <a:off x="8732520" y="3008376"/>
            <a:ext cx="3108960" cy="329184"/>
          </a:xfrm>
          <a:prstGeom prst="rect">
            <a:avLst/>
          </a:prstGeom>
          <a:noFill/>
          <a:ln/>
        </p:spPr>
        <p:txBody>
          <a:bodyPr wrap="square" lIns="0" tIns="0" rIns="0" bIns="0" rtlCol="0" anchor="ctr"/>
          <a:lstStyle/>
          <a:p>
            <a:pPr indent="0" marL="0">
              <a:buNone/>
            </a:pPr>
            <a:r>
              <a:rPr lang="en-US" sz="1300" dirty="0">
                <a:solidFill>
                  <a:srgbClr val="FFFFFF"/>
                </a:solidFill>
                <a:latin typeface="Inter" pitchFamily="34" charset="0"/>
                <a:ea typeface="Inter" pitchFamily="34" charset="-122"/>
                <a:cs typeface="Inter" pitchFamily="34" charset="-120"/>
              </a:rPr>
              <a:t>Attribution IQ insight</a:t>
            </a:r>
            <a:endParaRPr lang="en-US" sz="1300" dirty="0"/>
          </a:p>
        </p:txBody>
      </p:sp>
      <p:sp>
        <p:nvSpPr>
          <p:cNvPr id="35" name="Text 33"/>
          <p:cNvSpPr txBox="1"/>
          <p:nvPr/>
        </p:nvSpPr>
        <p:spPr>
          <a:xfrm>
            <a:off x="8229600" y="3392424"/>
            <a:ext cx="457200" cy="329184"/>
          </a:xfrm>
          <a:prstGeom prst="rect">
            <a:avLst/>
          </a:prstGeom>
          <a:noFill/>
          <a:ln/>
        </p:spPr>
        <p:txBody>
          <a:bodyPr wrap="square" lIns="0" tIns="0" rIns="0" bIns="0" rtlCol="0" anchor="ctr"/>
          <a:lstStyle/>
          <a:p>
            <a:pPr indent="0" marL="0">
              <a:buNone/>
            </a:pPr>
            <a:r>
              <a:rPr lang="en-US" sz="1300" b="1" dirty="0">
                <a:solidFill>
                  <a:srgbClr val="6F94DD"/>
                </a:solidFill>
                <a:latin typeface="Inter" pitchFamily="34" charset="0"/>
                <a:ea typeface="Inter" pitchFamily="34" charset="-122"/>
                <a:cs typeface="Inter" pitchFamily="34" charset="-120"/>
              </a:rPr>
              <a:t>24</a:t>
            </a:r>
            <a:endParaRPr lang="en-US" sz="1300" dirty="0"/>
          </a:p>
        </p:txBody>
      </p:sp>
      <p:sp>
        <p:nvSpPr>
          <p:cNvPr id="36" name="Text 34"/>
          <p:cNvSpPr txBox="1"/>
          <p:nvPr/>
        </p:nvSpPr>
        <p:spPr>
          <a:xfrm>
            <a:off x="8732520" y="3392424"/>
            <a:ext cx="3108960" cy="329184"/>
          </a:xfrm>
          <a:prstGeom prst="rect">
            <a:avLst/>
          </a:prstGeom>
          <a:noFill/>
          <a:ln/>
        </p:spPr>
        <p:txBody>
          <a:bodyPr wrap="square" lIns="0" tIns="0" rIns="0" bIns="0" rtlCol="0" anchor="ctr"/>
          <a:lstStyle/>
          <a:p>
            <a:pPr indent="0" marL="0">
              <a:buNone/>
            </a:pPr>
            <a:r>
              <a:rPr lang="en-US" sz="1300" dirty="0">
                <a:solidFill>
                  <a:srgbClr val="FFFFFF"/>
                </a:solidFill>
                <a:latin typeface="Inter" pitchFamily="34" charset="0"/>
                <a:ea typeface="Inter" pitchFamily="34" charset="-122"/>
                <a:cs typeface="Inter" pitchFamily="34" charset="-120"/>
              </a:rPr>
              <a:t>Material Journeys build plan</a:t>
            </a:r>
            <a:endParaRPr lang="en-US" sz="1300" dirty="0"/>
          </a:p>
        </p:txBody>
      </p:sp>
      <p:sp>
        <p:nvSpPr>
          <p:cNvPr id="37" name="Text 35"/>
          <p:cNvSpPr txBox="1"/>
          <p:nvPr/>
        </p:nvSpPr>
        <p:spPr>
          <a:xfrm>
            <a:off x="8229600" y="3776472"/>
            <a:ext cx="457200" cy="329184"/>
          </a:xfrm>
          <a:prstGeom prst="rect">
            <a:avLst/>
          </a:prstGeom>
          <a:noFill/>
          <a:ln/>
        </p:spPr>
        <p:txBody>
          <a:bodyPr wrap="square" lIns="0" tIns="0" rIns="0" bIns="0" rtlCol="0" anchor="ctr"/>
          <a:lstStyle/>
          <a:p>
            <a:pPr indent="0" marL="0">
              <a:buNone/>
            </a:pPr>
            <a:r>
              <a:rPr lang="en-US" sz="1300" b="1" dirty="0">
                <a:solidFill>
                  <a:srgbClr val="6F94DD"/>
                </a:solidFill>
                <a:latin typeface="Inter" pitchFamily="34" charset="0"/>
                <a:ea typeface="Inter" pitchFamily="34" charset="-122"/>
                <a:cs typeface="Inter" pitchFamily="34" charset="-120"/>
              </a:rPr>
              <a:t>25</a:t>
            </a:r>
            <a:endParaRPr lang="en-US" sz="1300" dirty="0"/>
          </a:p>
        </p:txBody>
      </p:sp>
      <p:sp>
        <p:nvSpPr>
          <p:cNvPr id="38" name="Text 36"/>
          <p:cNvSpPr txBox="1"/>
          <p:nvPr/>
        </p:nvSpPr>
        <p:spPr>
          <a:xfrm>
            <a:off x="8732520" y="3776472"/>
            <a:ext cx="3108960" cy="329184"/>
          </a:xfrm>
          <a:prstGeom prst="rect">
            <a:avLst/>
          </a:prstGeom>
          <a:noFill/>
          <a:ln/>
        </p:spPr>
        <p:txBody>
          <a:bodyPr wrap="square" lIns="0" tIns="0" rIns="0" bIns="0" rtlCol="0" anchor="ctr"/>
          <a:lstStyle/>
          <a:p>
            <a:pPr indent="0" marL="0">
              <a:buNone/>
            </a:pPr>
            <a:r>
              <a:rPr lang="en-US" sz="1300" dirty="0">
                <a:solidFill>
                  <a:srgbClr val="FFFFFF"/>
                </a:solidFill>
                <a:latin typeface="Inter" pitchFamily="34" charset="0"/>
                <a:ea typeface="Inter" pitchFamily="34" charset="-122"/>
                <a:cs typeface="Inter" pitchFamily="34" charset="-120"/>
              </a:rPr>
              <a:t>Risks</a:t>
            </a:r>
            <a:endParaRPr lang="en-US" sz="1300" dirty="0"/>
          </a:p>
        </p:txBody>
      </p:sp>
      <p:sp>
        <p:nvSpPr>
          <p:cNvPr id="39" name="Text 37"/>
          <p:cNvSpPr txBox="1"/>
          <p:nvPr/>
        </p:nvSpPr>
        <p:spPr>
          <a:xfrm>
            <a:off x="8229600" y="4160520"/>
            <a:ext cx="457200" cy="329184"/>
          </a:xfrm>
          <a:prstGeom prst="rect">
            <a:avLst/>
          </a:prstGeom>
          <a:noFill/>
          <a:ln/>
        </p:spPr>
        <p:txBody>
          <a:bodyPr wrap="square" lIns="0" tIns="0" rIns="0" bIns="0" rtlCol="0" anchor="ctr"/>
          <a:lstStyle/>
          <a:p>
            <a:pPr indent="0" marL="0">
              <a:buNone/>
            </a:pPr>
            <a:r>
              <a:rPr lang="en-US" sz="1300" b="1" dirty="0">
                <a:solidFill>
                  <a:srgbClr val="6F94DD"/>
                </a:solidFill>
                <a:latin typeface="Inter" pitchFamily="34" charset="0"/>
                <a:ea typeface="Inter" pitchFamily="34" charset="-122"/>
                <a:cs typeface="Inter" pitchFamily="34" charset="-120"/>
              </a:rPr>
              <a:t>26</a:t>
            </a:r>
            <a:endParaRPr lang="en-US" sz="1300" dirty="0"/>
          </a:p>
        </p:txBody>
      </p:sp>
      <p:sp>
        <p:nvSpPr>
          <p:cNvPr id="40" name="Text 38"/>
          <p:cNvSpPr txBox="1"/>
          <p:nvPr/>
        </p:nvSpPr>
        <p:spPr>
          <a:xfrm>
            <a:off x="8732520" y="4160520"/>
            <a:ext cx="3108960" cy="329184"/>
          </a:xfrm>
          <a:prstGeom prst="rect">
            <a:avLst/>
          </a:prstGeom>
          <a:noFill/>
          <a:ln/>
        </p:spPr>
        <p:txBody>
          <a:bodyPr wrap="square" lIns="0" tIns="0" rIns="0" bIns="0" rtlCol="0" anchor="ctr"/>
          <a:lstStyle/>
          <a:p>
            <a:pPr indent="0" marL="0">
              <a:buNone/>
            </a:pPr>
            <a:r>
              <a:rPr lang="en-US" sz="1300" dirty="0">
                <a:solidFill>
                  <a:srgbClr val="FFFFFF"/>
                </a:solidFill>
                <a:latin typeface="Inter" pitchFamily="34" charset="0"/>
                <a:ea typeface="Inter" pitchFamily="34" charset="-122"/>
                <a:cs typeface="Inter" pitchFamily="34" charset="-120"/>
              </a:rPr>
              <a:t>Every number and its source</a:t>
            </a:r>
            <a:endParaRPr lang="en-US" sz="1300" dirty="0"/>
          </a:p>
        </p:txBody>
      </p:sp>
      <p:sp>
        <p:nvSpPr>
          <p:cNvPr id="41" name="Text 39"/>
          <p:cNvSpPr txBox="1"/>
          <p:nvPr/>
        </p:nvSpPr>
        <p:spPr>
          <a:xfrm>
            <a:off x="8229600" y="4544568"/>
            <a:ext cx="457200" cy="329184"/>
          </a:xfrm>
          <a:prstGeom prst="rect">
            <a:avLst/>
          </a:prstGeom>
          <a:noFill/>
          <a:ln/>
        </p:spPr>
        <p:txBody>
          <a:bodyPr wrap="square" lIns="0" tIns="0" rIns="0" bIns="0" rtlCol="0" anchor="ctr"/>
          <a:lstStyle/>
          <a:p>
            <a:pPr indent="0" marL="0">
              <a:buNone/>
            </a:pPr>
            <a:r>
              <a:rPr lang="en-US" sz="1300" b="1" dirty="0">
                <a:solidFill>
                  <a:srgbClr val="6F94DD"/>
                </a:solidFill>
                <a:latin typeface="Inter" pitchFamily="34" charset="0"/>
                <a:ea typeface="Inter" pitchFamily="34" charset="-122"/>
                <a:cs typeface="Inter" pitchFamily="34" charset="-120"/>
              </a:rPr>
              <a:t>27</a:t>
            </a:r>
            <a:endParaRPr lang="en-US" sz="1300" dirty="0"/>
          </a:p>
        </p:txBody>
      </p:sp>
      <p:sp>
        <p:nvSpPr>
          <p:cNvPr id="42" name="Text 40"/>
          <p:cNvSpPr txBox="1"/>
          <p:nvPr/>
        </p:nvSpPr>
        <p:spPr>
          <a:xfrm>
            <a:off x="8732520" y="4544568"/>
            <a:ext cx="3108960" cy="329184"/>
          </a:xfrm>
          <a:prstGeom prst="rect">
            <a:avLst/>
          </a:prstGeom>
          <a:noFill/>
          <a:ln/>
        </p:spPr>
        <p:txBody>
          <a:bodyPr wrap="square" lIns="0" tIns="0" rIns="0" bIns="0" rtlCol="0" anchor="ctr"/>
          <a:lstStyle/>
          <a:p>
            <a:pPr indent="0" marL="0">
              <a:buNone/>
            </a:pPr>
            <a:r>
              <a:rPr lang="en-US" sz="1300" dirty="0">
                <a:solidFill>
                  <a:srgbClr val="FFFFFF"/>
                </a:solidFill>
                <a:latin typeface="Inter" pitchFamily="34" charset="0"/>
                <a:ea typeface="Inter" pitchFamily="34" charset="-122"/>
                <a:cs typeface="Inter" pitchFamily="34" charset="-120"/>
              </a:rPr>
              <a:t>Sources</a:t>
            </a:r>
            <a:endParaRPr lang="en-US" sz="1300" dirty="0"/>
          </a:p>
        </p:txBody>
      </p:sp>
      <p:sp>
        <p:nvSpPr>
          <p:cNvPr id="43" name="Text 41"/>
          <p:cNvSpPr txBox="1"/>
          <p:nvPr/>
        </p:nvSpPr>
        <p:spPr>
          <a:xfrm>
            <a:off x="9966960" y="6464808"/>
            <a:ext cx="1719072" cy="256032"/>
          </a:xfrm>
          <a:prstGeom prst="rect">
            <a:avLst/>
          </a:prstGeom>
          <a:noFill/>
          <a:ln/>
        </p:spPr>
        <p:txBody>
          <a:bodyPr wrap="square" lIns="0" tIns="0" rIns="0" bIns="0" rtlCol="0" anchor="ctr"/>
          <a:lstStyle/>
          <a:p>
            <a:pPr algn="r" indent="0" marL="0">
              <a:buNone/>
            </a:pPr>
            <a:r>
              <a:rPr lang="en-US" sz="800" dirty="0">
                <a:solidFill>
                  <a:srgbClr val="AFC4EE"/>
                </a:solidFill>
                <a:latin typeface="Inter" pitchFamily="34" charset="0"/>
                <a:ea typeface="Inter" pitchFamily="34" charset="-122"/>
                <a:cs typeface="Inter" pitchFamily="34" charset="-120"/>
              </a:rPr>
              <a:t>Team G27  ·  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9326880" cy="841248"/>
          </a:xfrm>
          <a:prstGeom prst="rect">
            <a:avLst/>
          </a:prstGeom>
          <a:noFill/>
          <a:ln/>
        </p:spPr>
        <p:txBody>
          <a:bodyPr wrap="square" lIns="0" tIns="0" rIns="0" bIns="0" rtlCol="0" anchor="ctr"/>
          <a:lstStyle/>
          <a:p>
            <a:pPr indent="0" marL="0">
              <a:buNone/>
            </a:pPr>
            <a:r>
              <a:rPr lang="en-US" sz="2400" b="1" dirty="0">
                <a:solidFill>
                  <a:srgbClr val="0A1F44"/>
                </a:solidFill>
                <a:latin typeface="Inter" pitchFamily="34" charset="0"/>
                <a:ea typeface="Inter" pitchFamily="34" charset="-122"/>
                <a:cs typeface="Inter" pitchFamily="34" charset="-120"/>
              </a:rPr>
              <a:t>Fallout: 77% of cart adders never order</a:t>
            </a:r>
            <a:endParaRPr lang="en-US" sz="2400" dirty="0"/>
          </a:p>
        </p:txBody>
      </p:sp>
      <p:pic>
        <p:nvPicPr>
          <p:cNvPr id="3" name="Image 0" descr="/tmp/claude-0/-home-user-Quince/7efe80ae-a049-50c2-9886-98bf7ca3a04a/scratchpad/assets/quince.png">    </p:cNvPr>
          <p:cNvPicPr>
            <a:picLocks noChangeAspect="1"/>
          </p:cNvPicPr>
          <p:nvPr/>
        </p:nvPicPr>
        <p:blipFill>
          <a:blip r:embed="rId1"/>
          <a:stretch>
            <a:fillRect/>
          </a:stretch>
        </p:blipFill>
        <p:spPr>
          <a:xfrm>
            <a:off x="10236708" y="615544"/>
            <a:ext cx="777240" cy="231951"/>
          </a:xfrm>
          <a:prstGeom prst="rect">
            <a:avLst/>
          </a:prstGeom>
        </p:spPr>
      </p:pic>
      <p:sp>
        <p:nvSpPr>
          <p:cNvPr id="4" name="Shape 1"/>
          <p:cNvSpPr/>
          <p:nvPr/>
        </p:nvSpPr>
        <p:spPr>
          <a:xfrm>
            <a:off x="11155680" y="603504"/>
            <a:ext cx="530352" cy="256032"/>
          </a:xfrm>
          <a:prstGeom prst="roundRect">
            <a:avLst>
              <a:gd name="adj" fmla="val 50000"/>
            </a:avLst>
          </a:prstGeom>
          <a:solidFill>
            <a:srgbClr val="0A1F44"/>
          </a:solidFill>
          <a:ln w="6350">
            <a:solidFill>
              <a:srgbClr val="0A1F44"/>
            </a:solidFill>
            <a:prstDash val="solid"/>
          </a:ln>
        </p:spPr>
      </p:sp>
      <p:sp>
        <p:nvSpPr>
          <p:cNvPr id="5" name="Text 2"/>
          <p:cNvSpPr txBox="1"/>
          <p:nvPr/>
        </p:nvSpPr>
        <p:spPr>
          <a:xfrm>
            <a:off x="11155680" y="603504"/>
            <a:ext cx="530352"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Inter" pitchFamily="34" charset="0"/>
                <a:ea typeface="Inter" pitchFamily="34" charset="-122"/>
                <a:cs typeface="Inter" pitchFamily="34" charset="-120"/>
              </a:rPr>
              <a:t>G27</a:t>
            </a:r>
            <a:endParaRPr lang="en-US" sz="950" dirty="0"/>
          </a:p>
        </p:txBody>
      </p:sp>
      <p:sp>
        <p:nvSpPr>
          <p:cNvPr id="6" name="Shape 3"/>
          <p:cNvSpPr/>
          <p:nvPr/>
        </p:nvSpPr>
        <p:spPr>
          <a:xfrm>
            <a:off x="502920" y="6400800"/>
            <a:ext cx="11183112" cy="0"/>
          </a:xfrm>
          <a:prstGeom prst="line">
            <a:avLst/>
          </a:prstGeom>
          <a:noFill/>
          <a:ln w="9525">
            <a:solidFill>
              <a:srgbClr val="E2E8F0"/>
            </a:solidFill>
            <a:prstDash val="solid"/>
          </a:ln>
        </p:spPr>
      </p:sp>
      <p:sp>
        <p:nvSpPr>
          <p:cNvPr id="7" name="Text 4"/>
          <p:cNvSpPr txBox="1"/>
          <p:nvPr/>
        </p:nvSpPr>
        <p:spPr>
          <a:xfrm>
            <a:off x="502920" y="6464808"/>
            <a:ext cx="9418320" cy="256032"/>
          </a:xfrm>
          <a:prstGeom prst="rect">
            <a:avLst/>
          </a:prstGeom>
          <a:noFill/>
          <a:ln/>
        </p:spPr>
        <p:txBody>
          <a:bodyPr wrap="square" lIns="0" tIns="0" rIns="0" bIns="0" rtlCol="0" anchor="ctr"/>
          <a:lstStyle/>
          <a:p>
            <a:pPr indent="0" marL="0">
              <a:buNone/>
            </a:pPr>
            <a:r>
              <a:rPr lang="en-US" sz="800" dirty="0">
                <a:solidFill>
                  <a:srgbClr val="64748B"/>
                </a:solidFill>
                <a:latin typeface="Inter" pitchFamily="34" charset="0"/>
                <a:ea typeface="Inter" pitchFamily="34" charset="-122"/>
                <a:cs typeface="Inter" pitchFamily="34" charset="-120"/>
              </a:rPr>
              <a:t>Source: Adobe CJA, Fallout, Quince Case Data View, 1 Jan–30 Apr 2026, 60,000 people. 69% of product viewers never add to cart.</a:t>
            </a:r>
            <a:endParaRPr lang="en-US" sz="800" dirty="0"/>
          </a:p>
        </p:txBody>
      </p:sp>
      <p:sp>
        <p:nvSpPr>
          <p:cNvPr id="8" name="Text 5"/>
          <p:cNvSpPr txBox="1"/>
          <p:nvPr/>
        </p:nvSpPr>
        <p:spPr>
          <a:xfrm>
            <a:off x="9966960" y="6464808"/>
            <a:ext cx="1719072" cy="256032"/>
          </a:xfrm>
          <a:prstGeom prst="rect">
            <a:avLst/>
          </a:prstGeom>
          <a:noFill/>
          <a:ln/>
        </p:spPr>
        <p:txBody>
          <a:bodyPr wrap="square" lIns="0" tIns="0" rIns="0" bIns="0" rtlCol="0" anchor="ctr"/>
          <a:lstStyle/>
          <a:p>
            <a:pPr algn="r" indent="0" marL="0">
              <a:buNone/>
            </a:pPr>
            <a:r>
              <a:rPr lang="en-US" sz="800" dirty="0">
                <a:solidFill>
                  <a:srgbClr val="64748B"/>
                </a:solidFill>
                <a:latin typeface="Inter" pitchFamily="34" charset="0"/>
                <a:ea typeface="Inter" pitchFamily="34" charset="-122"/>
                <a:cs typeface="Inter" pitchFamily="34" charset="-120"/>
              </a:rPr>
              <a:t>Team G27  ·  9</a:t>
            </a:r>
            <a:endParaRPr lang="en-US" sz="800" dirty="0"/>
          </a:p>
        </p:txBody>
      </p:sp>
      <p:sp>
        <p:nvSpPr>
          <p:cNvPr id="9" name="Shape 6"/>
          <p:cNvSpPr/>
          <p:nvPr/>
        </p:nvSpPr>
        <p:spPr>
          <a:xfrm>
            <a:off x="2724150" y="1152144"/>
            <a:ext cx="6740652" cy="4325112"/>
          </a:xfrm>
          <a:prstGeom prst="rect">
            <a:avLst/>
          </a:prstGeom>
          <a:solidFill>
            <a:srgbClr val="E2E8F0"/>
          </a:solidFill>
          <a:ln w="6350">
            <a:solidFill>
              <a:srgbClr val="E2E8F0"/>
            </a:solidFill>
            <a:prstDash val="solid"/>
          </a:ln>
        </p:spPr>
      </p:sp>
      <p:pic>
        <p:nvPicPr>
          <p:cNvPr id="10" name="Image 1" descr="/tmp/claude-0/-home-user-Quince/7efe80ae-a049-50c2-9886-98bf7ca3a04a/scratchpad/assets/cja_fallout.png">    </p:cNvPr>
          <p:cNvPicPr>
            <a:picLocks noChangeAspect="1"/>
          </p:cNvPicPr>
          <p:nvPr/>
        </p:nvPicPr>
        <p:blipFill>
          <a:blip r:embed="rId2"/>
          <a:stretch>
            <a:fillRect/>
          </a:stretch>
        </p:blipFill>
        <p:spPr>
          <a:xfrm>
            <a:off x="2760726" y="1188720"/>
            <a:ext cx="6667500" cy="4251960"/>
          </a:xfrm>
          <a:prstGeom prst="rect">
            <a:avLst/>
          </a:prstGeom>
        </p:spPr>
      </p:pic>
      <p:sp>
        <p:nvSpPr>
          <p:cNvPr id="11" name="Shape 7"/>
          <p:cNvSpPr/>
          <p:nvPr/>
        </p:nvSpPr>
        <p:spPr>
          <a:xfrm>
            <a:off x="502920" y="5577840"/>
            <a:ext cx="11183112" cy="512064"/>
          </a:xfrm>
          <a:prstGeom prst="roundRect">
            <a:avLst>
              <a:gd name="adj" fmla="val 17857"/>
            </a:avLst>
          </a:prstGeom>
          <a:solidFill>
            <a:srgbClr val="EFF6FF"/>
          </a:solidFill>
          <a:ln w="6350">
            <a:solidFill>
              <a:srgbClr val="EFF6FF"/>
            </a:solidFill>
            <a:prstDash val="solid"/>
          </a:ln>
        </p:spPr>
      </p:sp>
      <p:sp>
        <p:nvSpPr>
          <p:cNvPr id="12" name="Shape 8"/>
          <p:cNvSpPr/>
          <p:nvPr/>
        </p:nvSpPr>
        <p:spPr>
          <a:xfrm>
            <a:off x="640080" y="5669280"/>
            <a:ext cx="329184" cy="329184"/>
          </a:xfrm>
          <a:prstGeom prst="ellipse">
            <a:avLst/>
          </a:prstGeom>
          <a:solidFill>
            <a:srgbClr val="1D4ED8"/>
          </a:solidFill>
          <a:ln w="6350">
            <a:solidFill>
              <a:srgbClr val="1D4ED8"/>
            </a:solidFill>
            <a:prstDash val="solid"/>
          </a:ln>
        </p:spPr>
      </p:sp>
      <p:pic>
        <p:nvPicPr>
          <p:cNvPr id="13" name="Image 2" descr="preencoded.png">    </p:cNvPr>
          <p:cNvPicPr>
            <a:picLocks noChangeAspect="1"/>
          </p:cNvPicPr>
          <p:nvPr/>
        </p:nvPicPr>
        <p:blipFill>
          <a:blip r:embed="rId3"/>
          <a:stretch>
            <a:fillRect/>
          </a:stretch>
        </p:blipFill>
        <p:spPr>
          <a:xfrm>
            <a:off x="712500" y="5741700"/>
            <a:ext cx="184343" cy="184343"/>
          </a:xfrm>
          <a:prstGeom prst="rect">
            <a:avLst/>
          </a:prstGeom>
        </p:spPr>
      </p:pic>
      <p:sp>
        <p:nvSpPr>
          <p:cNvPr id="14" name="Text 9"/>
          <p:cNvSpPr txBox="1"/>
          <p:nvPr/>
        </p:nvSpPr>
        <p:spPr>
          <a:xfrm>
            <a:off x="1097280" y="5577840"/>
            <a:ext cx="10424160" cy="512064"/>
          </a:xfrm>
          <a:prstGeom prst="rect">
            <a:avLst/>
          </a:prstGeom>
          <a:noFill/>
          <a:ln/>
        </p:spPr>
        <p:txBody>
          <a:bodyPr wrap="square" lIns="0" tIns="0" rIns="0" bIns="0" rtlCol="0" anchor="ctr"/>
          <a:lstStyle/>
          <a:p>
            <a:pPr indent="0" marL="0">
              <a:buNone/>
            </a:pPr>
            <a:r>
              <a:rPr lang="en-US" sz="1300" b="1" dirty="0">
                <a:solidFill>
                  <a:srgbClr val="0A1F44"/>
                </a:solidFill>
                <a:latin typeface="Inter" pitchFamily="34" charset="0"/>
                <a:ea typeface="Inter" pitchFamily="34" charset="-122"/>
                <a:cs typeface="Inter" pitchFamily="34" charset="-120"/>
              </a:rPr>
              <a:t>77% of cart adders never order, against a ~70% category benchmark (Exhibit C): the cart is where Quince underperforms, so every recovered cart is new money</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9326880" cy="841248"/>
          </a:xfrm>
          <a:prstGeom prst="rect">
            <a:avLst/>
          </a:prstGeom>
          <a:noFill/>
          <a:ln/>
        </p:spPr>
        <p:txBody>
          <a:bodyPr wrap="square" lIns="0" tIns="0" rIns="0" bIns="0" rtlCol="0" anchor="ctr"/>
          <a:lstStyle/>
          <a:p>
            <a:pPr indent="0" marL="0">
              <a:buNone/>
            </a:pPr>
            <a:r>
              <a:rPr lang="en-US" sz="2400" b="1" dirty="0">
                <a:solidFill>
                  <a:srgbClr val="0A1F44"/>
                </a:solidFill>
                <a:latin typeface="Inter" pitchFamily="34" charset="0"/>
                <a:ea typeface="Inter" pitchFamily="34" charset="-122"/>
                <a:cs typeface="Inter" pitchFamily="34" charset="-120"/>
              </a:rPr>
              <a:t>Attribution IQ: owned channels assist more than they close</a:t>
            </a:r>
            <a:endParaRPr lang="en-US" sz="2400" dirty="0"/>
          </a:p>
        </p:txBody>
      </p:sp>
      <p:pic>
        <p:nvPicPr>
          <p:cNvPr id="3" name="Image 0" descr="/tmp/claude-0/-home-user-Quince/7efe80ae-a049-50c2-9886-98bf7ca3a04a/scratchpad/assets/quince.png">    </p:cNvPr>
          <p:cNvPicPr>
            <a:picLocks noChangeAspect="1"/>
          </p:cNvPicPr>
          <p:nvPr/>
        </p:nvPicPr>
        <p:blipFill>
          <a:blip r:embed="rId1"/>
          <a:stretch>
            <a:fillRect/>
          </a:stretch>
        </p:blipFill>
        <p:spPr>
          <a:xfrm>
            <a:off x="10236708" y="615544"/>
            <a:ext cx="777240" cy="231951"/>
          </a:xfrm>
          <a:prstGeom prst="rect">
            <a:avLst/>
          </a:prstGeom>
        </p:spPr>
      </p:pic>
      <p:sp>
        <p:nvSpPr>
          <p:cNvPr id="4" name="Shape 1"/>
          <p:cNvSpPr/>
          <p:nvPr/>
        </p:nvSpPr>
        <p:spPr>
          <a:xfrm>
            <a:off x="11155680" y="603504"/>
            <a:ext cx="530352" cy="256032"/>
          </a:xfrm>
          <a:prstGeom prst="roundRect">
            <a:avLst>
              <a:gd name="adj" fmla="val 50000"/>
            </a:avLst>
          </a:prstGeom>
          <a:solidFill>
            <a:srgbClr val="0A1F44"/>
          </a:solidFill>
          <a:ln w="6350">
            <a:solidFill>
              <a:srgbClr val="0A1F44"/>
            </a:solidFill>
            <a:prstDash val="solid"/>
          </a:ln>
        </p:spPr>
      </p:sp>
      <p:sp>
        <p:nvSpPr>
          <p:cNvPr id="5" name="Text 2"/>
          <p:cNvSpPr txBox="1"/>
          <p:nvPr/>
        </p:nvSpPr>
        <p:spPr>
          <a:xfrm>
            <a:off x="11155680" y="603504"/>
            <a:ext cx="530352"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Inter" pitchFamily="34" charset="0"/>
                <a:ea typeface="Inter" pitchFamily="34" charset="-122"/>
                <a:cs typeface="Inter" pitchFamily="34" charset="-120"/>
              </a:rPr>
              <a:t>G27</a:t>
            </a:r>
            <a:endParaRPr lang="en-US" sz="950" dirty="0"/>
          </a:p>
        </p:txBody>
      </p:sp>
      <p:sp>
        <p:nvSpPr>
          <p:cNvPr id="6" name="Shape 3"/>
          <p:cNvSpPr/>
          <p:nvPr/>
        </p:nvSpPr>
        <p:spPr>
          <a:xfrm>
            <a:off x="502920" y="6400800"/>
            <a:ext cx="11183112" cy="0"/>
          </a:xfrm>
          <a:prstGeom prst="line">
            <a:avLst/>
          </a:prstGeom>
          <a:noFill/>
          <a:ln w="9525">
            <a:solidFill>
              <a:srgbClr val="E2E8F0"/>
            </a:solidFill>
            <a:prstDash val="solid"/>
          </a:ln>
        </p:spPr>
      </p:sp>
      <p:sp>
        <p:nvSpPr>
          <p:cNvPr id="7" name="Text 4"/>
          <p:cNvSpPr txBox="1"/>
          <p:nvPr/>
        </p:nvSpPr>
        <p:spPr>
          <a:xfrm>
            <a:off x="502920" y="6464808"/>
            <a:ext cx="9418320" cy="256032"/>
          </a:xfrm>
          <a:prstGeom prst="rect">
            <a:avLst/>
          </a:prstGeom>
          <a:noFill/>
          <a:ln/>
        </p:spPr>
        <p:txBody>
          <a:bodyPr wrap="square" lIns="0" tIns="0" rIns="0" bIns="0" rtlCol="0" anchor="ctr"/>
          <a:lstStyle/>
          <a:p>
            <a:pPr indent="0" marL="0">
              <a:buNone/>
            </a:pPr>
            <a:r>
              <a:rPr lang="en-US" sz="800" dirty="0">
                <a:solidFill>
                  <a:srgbClr val="64748B"/>
                </a:solidFill>
                <a:latin typeface="Inter" pitchFamily="34" charset="0"/>
                <a:ea typeface="Inter" pitchFamily="34" charset="-122"/>
                <a:cs typeface="Inter" pitchFamily="34" charset="-120"/>
              </a:rPr>
              <a:t>Source: Adobe CJA, Attribution IQ, Order Revenue ($337,044) by Marketing Channel; Last Touch, First Touch, Linear, Participation; 90-day lookback. Algorithmic model unavailable on this view.</a:t>
            </a:r>
            <a:endParaRPr lang="en-US" sz="800" dirty="0"/>
          </a:p>
        </p:txBody>
      </p:sp>
      <p:sp>
        <p:nvSpPr>
          <p:cNvPr id="8" name="Text 5"/>
          <p:cNvSpPr txBox="1"/>
          <p:nvPr/>
        </p:nvSpPr>
        <p:spPr>
          <a:xfrm>
            <a:off x="9966960" y="6464808"/>
            <a:ext cx="1719072" cy="256032"/>
          </a:xfrm>
          <a:prstGeom prst="rect">
            <a:avLst/>
          </a:prstGeom>
          <a:noFill/>
          <a:ln/>
        </p:spPr>
        <p:txBody>
          <a:bodyPr wrap="square" lIns="0" tIns="0" rIns="0" bIns="0" rtlCol="0" anchor="ctr"/>
          <a:lstStyle/>
          <a:p>
            <a:pPr algn="r" indent="0" marL="0">
              <a:buNone/>
            </a:pPr>
            <a:r>
              <a:rPr lang="en-US" sz="800" dirty="0">
                <a:solidFill>
                  <a:srgbClr val="64748B"/>
                </a:solidFill>
                <a:latin typeface="Inter" pitchFamily="34" charset="0"/>
                <a:ea typeface="Inter" pitchFamily="34" charset="-122"/>
                <a:cs typeface="Inter" pitchFamily="34" charset="-120"/>
              </a:rPr>
              <a:t>Team G27  ·  10</a:t>
            </a:r>
            <a:endParaRPr lang="en-US" sz="800" dirty="0"/>
          </a:p>
        </p:txBody>
      </p:sp>
      <p:sp>
        <p:nvSpPr>
          <p:cNvPr id="9" name="Shape 6"/>
          <p:cNvSpPr/>
          <p:nvPr/>
        </p:nvSpPr>
        <p:spPr>
          <a:xfrm>
            <a:off x="466344" y="1278612"/>
            <a:ext cx="11256264" cy="4072176"/>
          </a:xfrm>
          <a:prstGeom prst="rect">
            <a:avLst/>
          </a:prstGeom>
          <a:solidFill>
            <a:srgbClr val="E2E8F0"/>
          </a:solidFill>
          <a:ln w="6350">
            <a:solidFill>
              <a:srgbClr val="E2E8F0"/>
            </a:solidFill>
            <a:prstDash val="solid"/>
          </a:ln>
        </p:spPr>
      </p:sp>
      <p:pic>
        <p:nvPicPr>
          <p:cNvPr id="10" name="Image 1" descr="/tmp/claude-0/-home-user-Quince/7efe80ae-a049-50c2-9886-98bf7ca3a04a/scratchpad/assets/cja_attr_table.png">    </p:cNvPr>
          <p:cNvPicPr>
            <a:picLocks noChangeAspect="1"/>
          </p:cNvPicPr>
          <p:nvPr/>
        </p:nvPicPr>
        <p:blipFill>
          <a:blip r:embed="rId2"/>
          <a:stretch>
            <a:fillRect/>
          </a:stretch>
        </p:blipFill>
        <p:spPr>
          <a:xfrm>
            <a:off x="502920" y="1315188"/>
            <a:ext cx="11183112" cy="3999024"/>
          </a:xfrm>
          <a:prstGeom prst="rect">
            <a:avLst/>
          </a:prstGeom>
        </p:spPr>
      </p:pic>
      <p:sp>
        <p:nvSpPr>
          <p:cNvPr id="11" name="Shape 7"/>
          <p:cNvSpPr/>
          <p:nvPr/>
        </p:nvSpPr>
        <p:spPr>
          <a:xfrm>
            <a:off x="502920" y="5577840"/>
            <a:ext cx="11183112" cy="512064"/>
          </a:xfrm>
          <a:prstGeom prst="roundRect">
            <a:avLst>
              <a:gd name="adj" fmla="val 17857"/>
            </a:avLst>
          </a:prstGeom>
          <a:solidFill>
            <a:srgbClr val="EFF6FF"/>
          </a:solidFill>
          <a:ln w="6350">
            <a:solidFill>
              <a:srgbClr val="EFF6FF"/>
            </a:solidFill>
            <a:prstDash val="solid"/>
          </a:ln>
        </p:spPr>
      </p:sp>
      <p:sp>
        <p:nvSpPr>
          <p:cNvPr id="12" name="Shape 8"/>
          <p:cNvSpPr/>
          <p:nvPr/>
        </p:nvSpPr>
        <p:spPr>
          <a:xfrm>
            <a:off x="640080" y="5669280"/>
            <a:ext cx="329184" cy="329184"/>
          </a:xfrm>
          <a:prstGeom prst="ellipse">
            <a:avLst/>
          </a:prstGeom>
          <a:solidFill>
            <a:srgbClr val="1D4ED8"/>
          </a:solidFill>
          <a:ln w="6350">
            <a:solidFill>
              <a:srgbClr val="1D4ED8"/>
            </a:solidFill>
            <a:prstDash val="solid"/>
          </a:ln>
        </p:spPr>
      </p:sp>
      <p:pic>
        <p:nvPicPr>
          <p:cNvPr id="13" name="Image 2" descr="preencoded.png">    </p:cNvPr>
          <p:cNvPicPr>
            <a:picLocks noChangeAspect="1"/>
          </p:cNvPicPr>
          <p:nvPr/>
        </p:nvPicPr>
        <p:blipFill>
          <a:blip r:embed="rId3"/>
          <a:stretch>
            <a:fillRect/>
          </a:stretch>
        </p:blipFill>
        <p:spPr>
          <a:xfrm>
            <a:off x="712500" y="5741700"/>
            <a:ext cx="184343" cy="184343"/>
          </a:xfrm>
          <a:prstGeom prst="rect">
            <a:avLst/>
          </a:prstGeom>
        </p:spPr>
      </p:pic>
      <p:sp>
        <p:nvSpPr>
          <p:cNvPr id="14" name="Text 9"/>
          <p:cNvSpPr txBox="1"/>
          <p:nvPr/>
        </p:nvSpPr>
        <p:spPr>
          <a:xfrm>
            <a:off x="1097280" y="5577840"/>
            <a:ext cx="10424160" cy="512064"/>
          </a:xfrm>
          <a:prstGeom prst="rect">
            <a:avLst/>
          </a:prstGeom>
          <a:noFill/>
          <a:ln/>
        </p:spPr>
        <p:txBody>
          <a:bodyPr wrap="square" lIns="0" tIns="0" rIns="0" bIns="0" rtlCol="0" anchor="ctr"/>
          <a:lstStyle/>
          <a:p>
            <a:pPr indent="0" marL="0">
              <a:buNone/>
            </a:pPr>
            <a:r>
              <a:rPr lang="en-US" sz="1300" b="1" dirty="0">
                <a:solidFill>
                  <a:srgbClr val="0A1F44"/>
                </a:solidFill>
                <a:latin typeface="Inter" pitchFamily="34" charset="0"/>
                <a:ea typeface="Inter" pitchFamily="34" charset="-122"/>
                <a:cs typeface="Inter" pitchFamily="34" charset="-120"/>
              </a:rPr>
              <a:t>Owned channels appear in up to 15.0% of revenue (participation, not additive) but get 4.8% of last-touch credit; retargeting barely moves across models, so only a holdout can prove its value</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9326880" cy="841248"/>
          </a:xfrm>
          <a:prstGeom prst="rect">
            <a:avLst/>
          </a:prstGeom>
          <a:noFill/>
          <a:ln/>
        </p:spPr>
        <p:txBody>
          <a:bodyPr wrap="square" lIns="0" tIns="0" rIns="0" bIns="0" rtlCol="0" anchor="ctr"/>
          <a:lstStyle/>
          <a:p>
            <a:pPr indent="0" marL="0">
              <a:buNone/>
            </a:pPr>
            <a:r>
              <a:rPr lang="en-US" sz="2400" b="1" dirty="0">
                <a:solidFill>
                  <a:srgbClr val="0A1F44"/>
                </a:solidFill>
                <a:latin typeface="Inter" pitchFamily="34" charset="0"/>
                <a:ea typeface="Inter" pitchFamily="34" charset="-122"/>
                <a:cs typeface="Inter" pitchFamily="34" charset="-120"/>
              </a:rPr>
              <a:t>Cohort Table: engaged buyers' week-2 repeat is 2.7× higher</a:t>
            </a:r>
            <a:endParaRPr lang="en-US" sz="2400" dirty="0"/>
          </a:p>
        </p:txBody>
      </p:sp>
      <p:pic>
        <p:nvPicPr>
          <p:cNvPr id="3" name="Image 0" descr="/tmp/claude-0/-home-user-Quince/7efe80ae-a049-50c2-9886-98bf7ca3a04a/scratchpad/assets/quince.png">    </p:cNvPr>
          <p:cNvPicPr>
            <a:picLocks noChangeAspect="1"/>
          </p:cNvPicPr>
          <p:nvPr/>
        </p:nvPicPr>
        <p:blipFill>
          <a:blip r:embed="rId1"/>
          <a:stretch>
            <a:fillRect/>
          </a:stretch>
        </p:blipFill>
        <p:spPr>
          <a:xfrm>
            <a:off x="10236708" y="615544"/>
            <a:ext cx="777240" cy="231951"/>
          </a:xfrm>
          <a:prstGeom prst="rect">
            <a:avLst/>
          </a:prstGeom>
        </p:spPr>
      </p:pic>
      <p:sp>
        <p:nvSpPr>
          <p:cNvPr id="4" name="Shape 1"/>
          <p:cNvSpPr/>
          <p:nvPr/>
        </p:nvSpPr>
        <p:spPr>
          <a:xfrm>
            <a:off x="11155680" y="603504"/>
            <a:ext cx="530352" cy="256032"/>
          </a:xfrm>
          <a:prstGeom prst="roundRect">
            <a:avLst>
              <a:gd name="adj" fmla="val 50000"/>
            </a:avLst>
          </a:prstGeom>
          <a:solidFill>
            <a:srgbClr val="0A1F44"/>
          </a:solidFill>
          <a:ln w="6350">
            <a:solidFill>
              <a:srgbClr val="0A1F44"/>
            </a:solidFill>
            <a:prstDash val="solid"/>
          </a:ln>
        </p:spPr>
      </p:sp>
      <p:sp>
        <p:nvSpPr>
          <p:cNvPr id="5" name="Text 2"/>
          <p:cNvSpPr txBox="1"/>
          <p:nvPr/>
        </p:nvSpPr>
        <p:spPr>
          <a:xfrm>
            <a:off x="11155680" y="603504"/>
            <a:ext cx="530352"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Inter" pitchFamily="34" charset="0"/>
                <a:ea typeface="Inter" pitchFamily="34" charset="-122"/>
                <a:cs typeface="Inter" pitchFamily="34" charset="-120"/>
              </a:rPr>
              <a:t>G27</a:t>
            </a:r>
            <a:endParaRPr lang="en-US" sz="950" dirty="0"/>
          </a:p>
        </p:txBody>
      </p:sp>
      <p:sp>
        <p:nvSpPr>
          <p:cNvPr id="6" name="Shape 3"/>
          <p:cNvSpPr/>
          <p:nvPr/>
        </p:nvSpPr>
        <p:spPr>
          <a:xfrm>
            <a:off x="502920" y="6400800"/>
            <a:ext cx="11183112" cy="0"/>
          </a:xfrm>
          <a:prstGeom prst="line">
            <a:avLst/>
          </a:prstGeom>
          <a:noFill/>
          <a:ln w="9525">
            <a:solidFill>
              <a:srgbClr val="E2E8F0"/>
            </a:solidFill>
            <a:prstDash val="solid"/>
          </a:ln>
        </p:spPr>
      </p:sp>
      <p:sp>
        <p:nvSpPr>
          <p:cNvPr id="7" name="Text 4"/>
          <p:cNvSpPr txBox="1"/>
          <p:nvPr/>
        </p:nvSpPr>
        <p:spPr>
          <a:xfrm>
            <a:off x="502920" y="6464808"/>
            <a:ext cx="9418320" cy="256032"/>
          </a:xfrm>
          <a:prstGeom prst="rect">
            <a:avLst/>
          </a:prstGeom>
          <a:noFill/>
          <a:ln/>
        </p:spPr>
        <p:txBody>
          <a:bodyPr wrap="square" lIns="0" tIns="0" rIns="0" bIns="0" rtlCol="0" anchor="ctr"/>
          <a:lstStyle/>
          <a:p>
            <a:pPr indent="0" marL="0">
              <a:buNone/>
            </a:pPr>
            <a:r>
              <a:rPr lang="en-US" sz="800" dirty="0">
                <a:solidFill>
                  <a:srgbClr val="64748B"/>
                </a:solidFill>
                <a:latin typeface="Inter" pitchFamily="34" charset="0"/>
                <a:ea typeface="Inter" pitchFamily="34" charset="-122"/>
                <a:cs typeface="Inter" pitchFamily="34" charset="-120"/>
              </a:rPr>
              <a:t>Source: Adobe CJA, Cohort Table, inclusion and return Orders ≥ 1, weekly, 1 Jan–30 Apr 2026; right panel uses the Engaged inclusion segment.</a:t>
            </a:r>
            <a:endParaRPr lang="en-US" sz="800" dirty="0"/>
          </a:p>
        </p:txBody>
      </p:sp>
      <p:sp>
        <p:nvSpPr>
          <p:cNvPr id="8" name="Text 5"/>
          <p:cNvSpPr txBox="1"/>
          <p:nvPr/>
        </p:nvSpPr>
        <p:spPr>
          <a:xfrm>
            <a:off x="9966960" y="6464808"/>
            <a:ext cx="1719072" cy="256032"/>
          </a:xfrm>
          <a:prstGeom prst="rect">
            <a:avLst/>
          </a:prstGeom>
          <a:noFill/>
          <a:ln/>
        </p:spPr>
        <p:txBody>
          <a:bodyPr wrap="square" lIns="0" tIns="0" rIns="0" bIns="0" rtlCol="0" anchor="ctr"/>
          <a:lstStyle/>
          <a:p>
            <a:pPr algn="r" indent="0" marL="0">
              <a:buNone/>
            </a:pPr>
            <a:r>
              <a:rPr lang="en-US" sz="800" dirty="0">
                <a:solidFill>
                  <a:srgbClr val="64748B"/>
                </a:solidFill>
                <a:latin typeface="Inter" pitchFamily="34" charset="0"/>
                <a:ea typeface="Inter" pitchFamily="34" charset="-122"/>
                <a:cs typeface="Inter" pitchFamily="34" charset="-120"/>
              </a:rPr>
              <a:t>Team G27  ·  11</a:t>
            </a:r>
            <a:endParaRPr lang="en-US" sz="800" dirty="0"/>
          </a:p>
        </p:txBody>
      </p:sp>
      <p:sp>
        <p:nvSpPr>
          <p:cNvPr id="9" name="Shape 6"/>
          <p:cNvSpPr/>
          <p:nvPr/>
        </p:nvSpPr>
        <p:spPr>
          <a:xfrm>
            <a:off x="466344" y="1336062"/>
            <a:ext cx="5527548" cy="3682957"/>
          </a:xfrm>
          <a:prstGeom prst="rect">
            <a:avLst/>
          </a:prstGeom>
          <a:solidFill>
            <a:srgbClr val="E2E8F0"/>
          </a:solidFill>
          <a:ln w="6350">
            <a:solidFill>
              <a:srgbClr val="E2E8F0"/>
            </a:solidFill>
            <a:prstDash val="solid"/>
          </a:ln>
        </p:spPr>
      </p:sp>
      <p:pic>
        <p:nvPicPr>
          <p:cNvPr id="10" name="Image 1" descr="/tmp/claude-0/-home-user-Quince/7efe80ae-a049-50c2-9886-98bf7ca3a04a/scratchpad/assets/cja_cohort_all.png">    </p:cNvPr>
          <p:cNvPicPr>
            <a:picLocks noChangeAspect="1"/>
          </p:cNvPicPr>
          <p:nvPr/>
        </p:nvPicPr>
        <p:blipFill>
          <a:blip r:embed="rId2"/>
          <a:stretch>
            <a:fillRect/>
          </a:stretch>
        </p:blipFill>
        <p:spPr>
          <a:xfrm>
            <a:off x="502920" y="1372638"/>
            <a:ext cx="5454396" cy="3609805"/>
          </a:xfrm>
          <a:prstGeom prst="rect">
            <a:avLst/>
          </a:prstGeom>
        </p:spPr>
      </p:pic>
      <p:sp>
        <p:nvSpPr>
          <p:cNvPr id="11" name="Text 7"/>
          <p:cNvSpPr txBox="1"/>
          <p:nvPr/>
        </p:nvSpPr>
        <p:spPr>
          <a:xfrm>
            <a:off x="502920" y="5073882"/>
            <a:ext cx="5454396" cy="237744"/>
          </a:xfrm>
          <a:prstGeom prst="rect">
            <a:avLst/>
          </a:prstGeom>
          <a:noFill/>
          <a:ln/>
        </p:spPr>
        <p:txBody>
          <a:bodyPr wrap="square" lIns="0" tIns="0" rIns="0" bIns="0" rtlCol="0" anchor="t"/>
          <a:lstStyle/>
          <a:p>
            <a:pPr algn="ctr" indent="0" marL="0">
              <a:buNone/>
            </a:pPr>
            <a:r>
              <a:rPr lang="en-US" sz="1050" b="1" dirty="0">
                <a:solidFill>
                  <a:srgbClr val="0A1F44"/>
                </a:solidFill>
                <a:latin typeface="Inter" pitchFamily="34" charset="0"/>
                <a:ea typeface="Inter" pitchFamily="34" charset="-122"/>
                <a:cs typeface="Inter" pitchFamily="34" charset="-120"/>
              </a:rPr>
              <a:t>All buyers</a:t>
            </a:r>
            <a:endParaRPr lang="en-US" sz="1050" dirty="0"/>
          </a:p>
        </p:txBody>
      </p:sp>
      <p:sp>
        <p:nvSpPr>
          <p:cNvPr id="12" name="Shape 8"/>
          <p:cNvSpPr/>
          <p:nvPr/>
        </p:nvSpPr>
        <p:spPr>
          <a:xfrm>
            <a:off x="6195060" y="1336062"/>
            <a:ext cx="5527548" cy="3682957"/>
          </a:xfrm>
          <a:prstGeom prst="rect">
            <a:avLst/>
          </a:prstGeom>
          <a:solidFill>
            <a:srgbClr val="E2E8F0"/>
          </a:solidFill>
          <a:ln w="6350">
            <a:solidFill>
              <a:srgbClr val="E2E8F0"/>
            </a:solidFill>
            <a:prstDash val="solid"/>
          </a:ln>
        </p:spPr>
      </p:sp>
      <p:pic>
        <p:nvPicPr>
          <p:cNvPr id="13" name="Image 2" descr="/tmp/claude-0/-home-user-Quince/7efe80ae-a049-50c2-9886-98bf7ca3a04a/scratchpad/assets/cja_cohort_eng.png">    </p:cNvPr>
          <p:cNvPicPr>
            <a:picLocks noChangeAspect="1"/>
          </p:cNvPicPr>
          <p:nvPr/>
        </p:nvPicPr>
        <p:blipFill>
          <a:blip r:embed="rId3"/>
          <a:stretch>
            <a:fillRect/>
          </a:stretch>
        </p:blipFill>
        <p:spPr>
          <a:xfrm>
            <a:off x="6231636" y="1372638"/>
            <a:ext cx="5454396" cy="3609805"/>
          </a:xfrm>
          <a:prstGeom prst="rect">
            <a:avLst/>
          </a:prstGeom>
        </p:spPr>
      </p:pic>
      <p:sp>
        <p:nvSpPr>
          <p:cNvPr id="14" name="Text 9"/>
          <p:cNvSpPr txBox="1"/>
          <p:nvPr/>
        </p:nvSpPr>
        <p:spPr>
          <a:xfrm>
            <a:off x="6231636" y="5073882"/>
            <a:ext cx="5454396" cy="237744"/>
          </a:xfrm>
          <a:prstGeom prst="rect">
            <a:avLst/>
          </a:prstGeom>
          <a:noFill/>
          <a:ln/>
        </p:spPr>
        <p:txBody>
          <a:bodyPr wrap="square" lIns="0" tIns="0" rIns="0" bIns="0" rtlCol="0" anchor="t"/>
          <a:lstStyle/>
          <a:p>
            <a:pPr algn="ctr" indent="0" marL="0">
              <a:buNone/>
            </a:pPr>
            <a:r>
              <a:rPr lang="en-US" sz="1050" b="1" dirty="0">
                <a:solidFill>
                  <a:srgbClr val="0A1F44"/>
                </a:solidFill>
                <a:latin typeface="Inter" pitchFamily="34" charset="0"/>
                <a:ea typeface="Inter" pitchFamily="34" charset="-122"/>
                <a:cs typeface="Inter" pitchFamily="34" charset="-120"/>
              </a:rPr>
              <a:t>Engaged buyers (inclusion segment)</a:t>
            </a:r>
            <a:endParaRPr lang="en-US" sz="1050" dirty="0"/>
          </a:p>
        </p:txBody>
      </p:sp>
      <p:sp>
        <p:nvSpPr>
          <p:cNvPr id="15" name="Shape 10"/>
          <p:cNvSpPr/>
          <p:nvPr/>
        </p:nvSpPr>
        <p:spPr>
          <a:xfrm>
            <a:off x="502920" y="5577840"/>
            <a:ext cx="11183112" cy="512064"/>
          </a:xfrm>
          <a:prstGeom prst="roundRect">
            <a:avLst>
              <a:gd name="adj" fmla="val 17857"/>
            </a:avLst>
          </a:prstGeom>
          <a:solidFill>
            <a:srgbClr val="EFF6FF"/>
          </a:solidFill>
          <a:ln w="6350">
            <a:solidFill>
              <a:srgbClr val="EFF6FF"/>
            </a:solidFill>
            <a:prstDash val="solid"/>
          </a:ln>
        </p:spPr>
      </p:sp>
      <p:sp>
        <p:nvSpPr>
          <p:cNvPr id="16" name="Shape 11"/>
          <p:cNvSpPr/>
          <p:nvPr/>
        </p:nvSpPr>
        <p:spPr>
          <a:xfrm>
            <a:off x="640080" y="5669280"/>
            <a:ext cx="329184" cy="329184"/>
          </a:xfrm>
          <a:prstGeom prst="ellipse">
            <a:avLst/>
          </a:prstGeom>
          <a:solidFill>
            <a:srgbClr val="1D4ED8"/>
          </a:solidFill>
          <a:ln w="6350">
            <a:solidFill>
              <a:srgbClr val="1D4ED8"/>
            </a:solidFill>
            <a:prstDash val="solid"/>
          </a:ln>
        </p:spPr>
      </p:sp>
      <p:pic>
        <p:nvPicPr>
          <p:cNvPr id="17" name="Image 3" descr="preencoded.png">    </p:cNvPr>
          <p:cNvPicPr>
            <a:picLocks noChangeAspect="1"/>
          </p:cNvPicPr>
          <p:nvPr/>
        </p:nvPicPr>
        <p:blipFill>
          <a:blip r:embed="rId4"/>
          <a:stretch>
            <a:fillRect/>
          </a:stretch>
        </p:blipFill>
        <p:spPr>
          <a:xfrm>
            <a:off x="712500" y="5741700"/>
            <a:ext cx="184343" cy="184343"/>
          </a:xfrm>
          <a:prstGeom prst="rect">
            <a:avLst/>
          </a:prstGeom>
        </p:spPr>
      </p:pic>
      <p:sp>
        <p:nvSpPr>
          <p:cNvPr id="18" name="Text 12"/>
          <p:cNvSpPr txBox="1"/>
          <p:nvPr/>
        </p:nvSpPr>
        <p:spPr>
          <a:xfrm>
            <a:off x="1097280" y="5577840"/>
            <a:ext cx="10424160" cy="512064"/>
          </a:xfrm>
          <a:prstGeom prst="rect">
            <a:avLst/>
          </a:prstGeom>
          <a:noFill/>
          <a:ln/>
        </p:spPr>
        <p:txBody>
          <a:bodyPr wrap="square" lIns="0" tIns="0" rIns="0" bIns="0" rtlCol="0" anchor="ctr"/>
          <a:lstStyle/>
          <a:p>
            <a:pPr indent="0" marL="0">
              <a:buNone/>
            </a:pPr>
            <a:r>
              <a:rPr lang="en-US" sz="1300" b="1" dirty="0">
                <a:solidFill>
                  <a:srgbClr val="0A1F44"/>
                </a:solidFill>
                <a:latin typeface="Inter" pitchFamily="34" charset="0"/>
                <a:ea typeface="Inter" pitchFamily="34" charset="-122"/>
                <a:cs typeface="Inter" pitchFamily="34" charset="-120"/>
              </a:rPr>
              <a:t>Engaged buyers repeat 2.7× more in week 2 than all buyers (5.6% vs 2.1%), and half their repeats land in weeks 1–4; cohorts are small (~48 engaged buyers a week), so read as directional</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9326880" cy="841248"/>
          </a:xfrm>
          <a:prstGeom prst="rect">
            <a:avLst/>
          </a:prstGeom>
          <a:noFill/>
          <a:ln/>
        </p:spPr>
        <p:txBody>
          <a:bodyPr wrap="square" lIns="0" tIns="0" rIns="0" bIns="0" rtlCol="0" anchor="ctr"/>
          <a:lstStyle/>
          <a:p>
            <a:pPr indent="0" marL="0">
              <a:buNone/>
            </a:pPr>
            <a:r>
              <a:rPr lang="en-US" sz="2400" b="1" dirty="0">
                <a:solidFill>
                  <a:srgbClr val="0A1F44"/>
                </a:solidFill>
                <a:latin typeface="Inter" pitchFamily="34" charset="0"/>
                <a:ea typeface="Inter" pitchFamily="34" charset="-122"/>
                <a:cs typeface="Inter" pitchFamily="34" charset="-120"/>
              </a:rPr>
              <a:t>Flow: almost no message follows an abandoned cart</a:t>
            </a:r>
            <a:endParaRPr lang="en-US" sz="2400" dirty="0"/>
          </a:p>
        </p:txBody>
      </p:sp>
      <p:pic>
        <p:nvPicPr>
          <p:cNvPr id="3" name="Image 0" descr="/tmp/claude-0/-home-user-Quince/7efe80ae-a049-50c2-9886-98bf7ca3a04a/scratchpad/assets/quince.png">    </p:cNvPr>
          <p:cNvPicPr>
            <a:picLocks noChangeAspect="1"/>
          </p:cNvPicPr>
          <p:nvPr/>
        </p:nvPicPr>
        <p:blipFill>
          <a:blip r:embed="rId1"/>
          <a:stretch>
            <a:fillRect/>
          </a:stretch>
        </p:blipFill>
        <p:spPr>
          <a:xfrm>
            <a:off x="10236708" y="615544"/>
            <a:ext cx="777240" cy="231951"/>
          </a:xfrm>
          <a:prstGeom prst="rect">
            <a:avLst/>
          </a:prstGeom>
        </p:spPr>
      </p:pic>
      <p:sp>
        <p:nvSpPr>
          <p:cNvPr id="4" name="Shape 1"/>
          <p:cNvSpPr/>
          <p:nvPr/>
        </p:nvSpPr>
        <p:spPr>
          <a:xfrm>
            <a:off x="11155680" y="603504"/>
            <a:ext cx="530352" cy="256032"/>
          </a:xfrm>
          <a:prstGeom prst="roundRect">
            <a:avLst>
              <a:gd name="adj" fmla="val 50000"/>
            </a:avLst>
          </a:prstGeom>
          <a:solidFill>
            <a:srgbClr val="0A1F44"/>
          </a:solidFill>
          <a:ln w="6350">
            <a:solidFill>
              <a:srgbClr val="0A1F44"/>
            </a:solidFill>
            <a:prstDash val="solid"/>
          </a:ln>
        </p:spPr>
      </p:sp>
      <p:sp>
        <p:nvSpPr>
          <p:cNvPr id="5" name="Text 2"/>
          <p:cNvSpPr txBox="1"/>
          <p:nvPr/>
        </p:nvSpPr>
        <p:spPr>
          <a:xfrm>
            <a:off x="11155680" y="603504"/>
            <a:ext cx="530352"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Inter" pitchFamily="34" charset="0"/>
                <a:ea typeface="Inter" pitchFamily="34" charset="-122"/>
                <a:cs typeface="Inter" pitchFamily="34" charset="-120"/>
              </a:rPr>
              <a:t>G27</a:t>
            </a:r>
            <a:endParaRPr lang="en-US" sz="950" dirty="0"/>
          </a:p>
        </p:txBody>
      </p:sp>
      <p:sp>
        <p:nvSpPr>
          <p:cNvPr id="6" name="Shape 3"/>
          <p:cNvSpPr/>
          <p:nvPr/>
        </p:nvSpPr>
        <p:spPr>
          <a:xfrm>
            <a:off x="502920" y="6400800"/>
            <a:ext cx="11183112" cy="0"/>
          </a:xfrm>
          <a:prstGeom prst="line">
            <a:avLst/>
          </a:prstGeom>
          <a:noFill/>
          <a:ln w="9525">
            <a:solidFill>
              <a:srgbClr val="E2E8F0"/>
            </a:solidFill>
            <a:prstDash val="solid"/>
          </a:ln>
        </p:spPr>
      </p:sp>
      <p:sp>
        <p:nvSpPr>
          <p:cNvPr id="7" name="Text 4"/>
          <p:cNvSpPr txBox="1"/>
          <p:nvPr/>
        </p:nvSpPr>
        <p:spPr>
          <a:xfrm>
            <a:off x="502920" y="6464808"/>
            <a:ext cx="9418320" cy="256032"/>
          </a:xfrm>
          <a:prstGeom prst="rect">
            <a:avLst/>
          </a:prstGeom>
          <a:noFill/>
          <a:ln/>
        </p:spPr>
        <p:txBody>
          <a:bodyPr wrap="square" lIns="0" tIns="0" rIns="0" bIns="0" rtlCol="0" anchor="ctr"/>
          <a:lstStyle/>
          <a:p>
            <a:pPr indent="0" marL="0">
              <a:buNone/>
            </a:pPr>
            <a:r>
              <a:rPr lang="en-US" sz="800" dirty="0">
                <a:solidFill>
                  <a:srgbClr val="64748B"/>
                </a:solidFill>
                <a:latin typeface="Inter" pitchFamily="34" charset="0"/>
                <a:ea typeface="Inter" pitchFamily="34" charset="-122"/>
                <a:cs typeface="Inter" pitchFamily="34" charset="-120"/>
              </a:rPr>
              <a:t>Source: Adobe CJA, Flow from add_to_cart (next step), Person container, 1 Jan–30 Apr 2026. 11,610 = path views; 11,339 = people (Fallout).</a:t>
            </a:r>
            <a:endParaRPr lang="en-US" sz="800" dirty="0"/>
          </a:p>
        </p:txBody>
      </p:sp>
      <p:sp>
        <p:nvSpPr>
          <p:cNvPr id="8" name="Text 5"/>
          <p:cNvSpPr txBox="1"/>
          <p:nvPr/>
        </p:nvSpPr>
        <p:spPr>
          <a:xfrm>
            <a:off x="9966960" y="6464808"/>
            <a:ext cx="1719072" cy="256032"/>
          </a:xfrm>
          <a:prstGeom prst="rect">
            <a:avLst/>
          </a:prstGeom>
          <a:noFill/>
          <a:ln/>
        </p:spPr>
        <p:txBody>
          <a:bodyPr wrap="square" lIns="0" tIns="0" rIns="0" bIns="0" rtlCol="0" anchor="ctr"/>
          <a:lstStyle/>
          <a:p>
            <a:pPr algn="r" indent="0" marL="0">
              <a:buNone/>
            </a:pPr>
            <a:r>
              <a:rPr lang="en-US" sz="800" dirty="0">
                <a:solidFill>
                  <a:srgbClr val="64748B"/>
                </a:solidFill>
                <a:latin typeface="Inter" pitchFamily="34" charset="0"/>
                <a:ea typeface="Inter" pitchFamily="34" charset="-122"/>
                <a:cs typeface="Inter" pitchFamily="34" charset="-120"/>
              </a:rPr>
              <a:t>Team G27  ·  12</a:t>
            </a:r>
            <a:endParaRPr lang="en-US" sz="800" dirty="0"/>
          </a:p>
        </p:txBody>
      </p:sp>
      <p:sp>
        <p:nvSpPr>
          <p:cNvPr id="9" name="Shape 6"/>
          <p:cNvSpPr/>
          <p:nvPr/>
        </p:nvSpPr>
        <p:spPr>
          <a:xfrm>
            <a:off x="601675" y="1152144"/>
            <a:ext cx="10985602" cy="4325112"/>
          </a:xfrm>
          <a:prstGeom prst="rect">
            <a:avLst/>
          </a:prstGeom>
          <a:solidFill>
            <a:srgbClr val="E2E8F0"/>
          </a:solidFill>
          <a:ln w="6350">
            <a:solidFill>
              <a:srgbClr val="E2E8F0"/>
            </a:solidFill>
            <a:prstDash val="solid"/>
          </a:ln>
        </p:spPr>
      </p:sp>
      <p:pic>
        <p:nvPicPr>
          <p:cNvPr id="10" name="Image 1" descr="/tmp/claude-0/-home-user-Quince/7efe80ae-a049-50c2-9886-98bf7ca3a04a/scratchpad/assets/cja_flow.png">    </p:cNvPr>
          <p:cNvPicPr>
            <a:picLocks noChangeAspect="1"/>
          </p:cNvPicPr>
          <p:nvPr/>
        </p:nvPicPr>
        <p:blipFill>
          <a:blip r:embed="rId2"/>
          <a:stretch>
            <a:fillRect/>
          </a:stretch>
        </p:blipFill>
        <p:spPr>
          <a:xfrm>
            <a:off x="638251" y="1188720"/>
            <a:ext cx="10912450" cy="4251960"/>
          </a:xfrm>
          <a:prstGeom prst="rect">
            <a:avLst/>
          </a:prstGeom>
        </p:spPr>
      </p:pic>
      <p:sp>
        <p:nvSpPr>
          <p:cNvPr id="11" name="Shape 7"/>
          <p:cNvSpPr/>
          <p:nvPr/>
        </p:nvSpPr>
        <p:spPr>
          <a:xfrm>
            <a:off x="502920" y="5577840"/>
            <a:ext cx="11183112" cy="512064"/>
          </a:xfrm>
          <a:prstGeom prst="roundRect">
            <a:avLst>
              <a:gd name="adj" fmla="val 17857"/>
            </a:avLst>
          </a:prstGeom>
          <a:solidFill>
            <a:srgbClr val="EFF6FF"/>
          </a:solidFill>
          <a:ln w="6350">
            <a:solidFill>
              <a:srgbClr val="EFF6FF"/>
            </a:solidFill>
            <a:prstDash val="solid"/>
          </a:ln>
        </p:spPr>
      </p:sp>
      <p:sp>
        <p:nvSpPr>
          <p:cNvPr id="12" name="Shape 8"/>
          <p:cNvSpPr/>
          <p:nvPr/>
        </p:nvSpPr>
        <p:spPr>
          <a:xfrm>
            <a:off x="640080" y="5669280"/>
            <a:ext cx="329184" cy="329184"/>
          </a:xfrm>
          <a:prstGeom prst="ellipse">
            <a:avLst/>
          </a:prstGeom>
          <a:solidFill>
            <a:srgbClr val="1D4ED8"/>
          </a:solidFill>
          <a:ln w="6350">
            <a:solidFill>
              <a:srgbClr val="1D4ED8"/>
            </a:solidFill>
            <a:prstDash val="solid"/>
          </a:ln>
        </p:spPr>
      </p:sp>
      <p:pic>
        <p:nvPicPr>
          <p:cNvPr id="13" name="Image 2" descr="preencoded.png">    </p:cNvPr>
          <p:cNvPicPr>
            <a:picLocks noChangeAspect="1"/>
          </p:cNvPicPr>
          <p:nvPr/>
        </p:nvPicPr>
        <p:blipFill>
          <a:blip r:embed="rId3"/>
          <a:stretch>
            <a:fillRect/>
          </a:stretch>
        </p:blipFill>
        <p:spPr>
          <a:xfrm>
            <a:off x="712500" y="5741700"/>
            <a:ext cx="184343" cy="184343"/>
          </a:xfrm>
          <a:prstGeom prst="rect">
            <a:avLst/>
          </a:prstGeom>
        </p:spPr>
      </p:pic>
      <p:sp>
        <p:nvSpPr>
          <p:cNvPr id="14" name="Text 9"/>
          <p:cNvSpPr txBox="1"/>
          <p:nvPr/>
        </p:nvSpPr>
        <p:spPr>
          <a:xfrm>
            <a:off x="1097280" y="5577840"/>
            <a:ext cx="10424160" cy="512064"/>
          </a:xfrm>
          <a:prstGeom prst="rect">
            <a:avLst/>
          </a:prstGeom>
          <a:noFill/>
          <a:ln/>
        </p:spPr>
        <p:txBody>
          <a:bodyPr wrap="square" lIns="0" tIns="0" rIns="0" bIns="0" rtlCol="0" anchor="ctr"/>
          <a:lstStyle/>
          <a:p>
            <a:pPr indent="0" marL="0">
              <a:buNone/>
            </a:pPr>
            <a:r>
              <a:rPr lang="en-US" sz="1300" b="1" dirty="0">
                <a:solidFill>
                  <a:srgbClr val="0A1F44"/>
                </a:solidFill>
                <a:latin typeface="Inter" pitchFamily="34" charset="0"/>
                <a:ea typeface="Inter" pitchFamily="34" charset="-122"/>
                <a:cs typeface="Inter" pitchFamily="34" charset="-120"/>
              </a:rPr>
              <a:t>Of 11,610 cart paths, 6,088 continue to checkout and only 1 is followed next by an email: a basic cart-recovery journey is the fastest win</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9326880" cy="841248"/>
          </a:xfrm>
          <a:prstGeom prst="rect">
            <a:avLst/>
          </a:prstGeom>
          <a:noFill/>
          <a:ln/>
        </p:spPr>
        <p:txBody>
          <a:bodyPr wrap="square" lIns="0" tIns="0" rIns="0" bIns="0" rtlCol="0" anchor="ctr"/>
          <a:lstStyle/>
          <a:p>
            <a:pPr indent="0" marL="0">
              <a:buNone/>
            </a:pPr>
            <a:r>
              <a:rPr lang="en-US" sz="2400" b="1" dirty="0">
                <a:solidFill>
                  <a:srgbClr val="0A1F44"/>
                </a:solidFill>
                <a:latin typeface="Inter" pitchFamily="34" charset="0"/>
                <a:ea typeface="Inter" pitchFamily="34" charset="-122"/>
                <a:cs typeface="Inter" pitchFamily="34" charset="-120"/>
              </a:rPr>
              <a:t>Segments: engagement after order one is linked to repeat</a:t>
            </a:r>
            <a:endParaRPr lang="en-US" sz="2400" dirty="0"/>
          </a:p>
        </p:txBody>
      </p:sp>
      <p:pic>
        <p:nvPicPr>
          <p:cNvPr id="3" name="Image 0" descr="/tmp/claude-0/-home-user-Quince/7efe80ae-a049-50c2-9886-98bf7ca3a04a/scratchpad/assets/quince.png">    </p:cNvPr>
          <p:cNvPicPr>
            <a:picLocks noChangeAspect="1"/>
          </p:cNvPicPr>
          <p:nvPr/>
        </p:nvPicPr>
        <p:blipFill>
          <a:blip r:embed="rId1"/>
          <a:stretch>
            <a:fillRect/>
          </a:stretch>
        </p:blipFill>
        <p:spPr>
          <a:xfrm>
            <a:off x="10236708" y="615544"/>
            <a:ext cx="777240" cy="231951"/>
          </a:xfrm>
          <a:prstGeom prst="rect">
            <a:avLst/>
          </a:prstGeom>
        </p:spPr>
      </p:pic>
      <p:sp>
        <p:nvSpPr>
          <p:cNvPr id="4" name="Shape 1"/>
          <p:cNvSpPr/>
          <p:nvPr/>
        </p:nvSpPr>
        <p:spPr>
          <a:xfrm>
            <a:off x="11155680" y="603504"/>
            <a:ext cx="530352" cy="256032"/>
          </a:xfrm>
          <a:prstGeom prst="roundRect">
            <a:avLst>
              <a:gd name="adj" fmla="val 50000"/>
            </a:avLst>
          </a:prstGeom>
          <a:solidFill>
            <a:srgbClr val="0A1F44"/>
          </a:solidFill>
          <a:ln w="6350">
            <a:solidFill>
              <a:srgbClr val="0A1F44"/>
            </a:solidFill>
            <a:prstDash val="solid"/>
          </a:ln>
        </p:spPr>
      </p:sp>
      <p:sp>
        <p:nvSpPr>
          <p:cNvPr id="5" name="Text 2"/>
          <p:cNvSpPr txBox="1"/>
          <p:nvPr/>
        </p:nvSpPr>
        <p:spPr>
          <a:xfrm>
            <a:off x="11155680" y="603504"/>
            <a:ext cx="530352"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Inter" pitchFamily="34" charset="0"/>
                <a:ea typeface="Inter" pitchFamily="34" charset="-122"/>
                <a:cs typeface="Inter" pitchFamily="34" charset="-120"/>
              </a:rPr>
              <a:t>G27</a:t>
            </a:r>
            <a:endParaRPr lang="en-US" sz="950" dirty="0"/>
          </a:p>
        </p:txBody>
      </p:sp>
      <p:sp>
        <p:nvSpPr>
          <p:cNvPr id="6" name="Shape 3"/>
          <p:cNvSpPr/>
          <p:nvPr/>
        </p:nvSpPr>
        <p:spPr>
          <a:xfrm>
            <a:off x="502920" y="6400800"/>
            <a:ext cx="11183112" cy="0"/>
          </a:xfrm>
          <a:prstGeom prst="line">
            <a:avLst/>
          </a:prstGeom>
          <a:noFill/>
          <a:ln w="9525">
            <a:solidFill>
              <a:srgbClr val="E2E8F0"/>
            </a:solidFill>
            <a:prstDash val="solid"/>
          </a:ln>
        </p:spPr>
      </p:sp>
      <p:sp>
        <p:nvSpPr>
          <p:cNvPr id="7" name="Text 4"/>
          <p:cNvSpPr txBox="1"/>
          <p:nvPr/>
        </p:nvSpPr>
        <p:spPr>
          <a:xfrm>
            <a:off x="502920" y="6464808"/>
            <a:ext cx="9418320" cy="256032"/>
          </a:xfrm>
          <a:prstGeom prst="rect">
            <a:avLst/>
          </a:prstGeom>
          <a:noFill/>
          <a:ln/>
        </p:spPr>
        <p:txBody>
          <a:bodyPr wrap="square" lIns="0" tIns="0" rIns="0" bIns="0" rtlCol="0" anchor="ctr"/>
          <a:lstStyle/>
          <a:p>
            <a:pPr indent="0" marL="0">
              <a:buNone/>
            </a:pPr>
            <a:r>
              <a:rPr lang="en-US" sz="800" dirty="0">
                <a:solidFill>
                  <a:srgbClr val="64748B"/>
                </a:solidFill>
                <a:latin typeface="Inter" pitchFamily="34" charset="0"/>
                <a:ea typeface="Inter" pitchFamily="34" charset="-122"/>
                <a:cs typeface="Inter" pitchFamily="34" charset="-120"/>
              </a:rPr>
              <a:t>Source: Adobe CJA, freeform tables with engagement segments (A2) and sequential segments after order one (A5, n = 265 app, 315 SMS), 1 Jan–30 Apr 2026.</a:t>
            </a:r>
            <a:endParaRPr lang="en-US" sz="800" dirty="0"/>
          </a:p>
        </p:txBody>
      </p:sp>
      <p:sp>
        <p:nvSpPr>
          <p:cNvPr id="8" name="Text 5"/>
          <p:cNvSpPr txBox="1"/>
          <p:nvPr/>
        </p:nvSpPr>
        <p:spPr>
          <a:xfrm>
            <a:off x="9966960" y="6464808"/>
            <a:ext cx="1719072" cy="256032"/>
          </a:xfrm>
          <a:prstGeom prst="rect">
            <a:avLst/>
          </a:prstGeom>
          <a:noFill/>
          <a:ln/>
        </p:spPr>
        <p:txBody>
          <a:bodyPr wrap="square" lIns="0" tIns="0" rIns="0" bIns="0" rtlCol="0" anchor="ctr"/>
          <a:lstStyle/>
          <a:p>
            <a:pPr algn="r" indent="0" marL="0">
              <a:buNone/>
            </a:pPr>
            <a:r>
              <a:rPr lang="en-US" sz="800" dirty="0">
                <a:solidFill>
                  <a:srgbClr val="64748B"/>
                </a:solidFill>
                <a:latin typeface="Inter" pitchFamily="34" charset="0"/>
                <a:ea typeface="Inter" pitchFamily="34" charset="-122"/>
                <a:cs typeface="Inter" pitchFamily="34" charset="-120"/>
              </a:rPr>
              <a:t>Team G27  ·  13</a:t>
            </a:r>
            <a:endParaRPr lang="en-US" sz="800" dirty="0"/>
          </a:p>
        </p:txBody>
      </p:sp>
      <p:sp>
        <p:nvSpPr>
          <p:cNvPr id="9" name="Text 6"/>
          <p:cNvSpPr txBox="1"/>
          <p:nvPr/>
        </p:nvSpPr>
        <p:spPr>
          <a:xfrm>
            <a:off x="502920" y="1948536"/>
            <a:ext cx="2240280" cy="548640"/>
          </a:xfrm>
          <a:prstGeom prst="rect">
            <a:avLst/>
          </a:prstGeom>
          <a:noFill/>
          <a:ln/>
        </p:spPr>
        <p:txBody>
          <a:bodyPr wrap="square" lIns="0" tIns="0" rIns="0" bIns="0" rtlCol="0" anchor="ctr"/>
          <a:lstStyle/>
          <a:p>
            <a:pPr indent="0" marL="0">
              <a:buNone/>
            </a:pPr>
            <a:r>
              <a:rPr lang="en-US" sz="1150" b="1" dirty="0">
                <a:solidFill>
                  <a:srgbClr val="0A1F44"/>
                </a:solidFill>
                <a:latin typeface="Inter" pitchFamily="34" charset="0"/>
                <a:ea typeface="Inter" pitchFamily="34" charset="-122"/>
                <a:cs typeface="Inter" pitchFamily="34" charset="-120"/>
              </a:rPr>
              <a:t>A2 · Repeat by engagement (any time)</a:t>
            </a:r>
            <a:endParaRPr lang="en-US" sz="1150" dirty="0"/>
          </a:p>
        </p:txBody>
      </p:sp>
      <p:sp>
        <p:nvSpPr>
          <p:cNvPr id="10" name="Shape 7"/>
          <p:cNvSpPr/>
          <p:nvPr/>
        </p:nvSpPr>
        <p:spPr>
          <a:xfrm>
            <a:off x="3785616" y="1197864"/>
            <a:ext cx="7936992" cy="2049985"/>
          </a:xfrm>
          <a:prstGeom prst="rect">
            <a:avLst/>
          </a:prstGeom>
          <a:solidFill>
            <a:srgbClr val="E2E8F0"/>
          </a:solidFill>
          <a:ln w="6350">
            <a:solidFill>
              <a:srgbClr val="E2E8F0"/>
            </a:solidFill>
            <a:prstDash val="solid"/>
          </a:ln>
        </p:spPr>
      </p:sp>
      <p:pic>
        <p:nvPicPr>
          <p:cNvPr id="11" name="Image 1" descr="/tmp/claude-0/-home-user-Quince/7efe80ae-a049-50c2-9886-98bf7ca3a04a/scratchpad/assets/cja_a2c.png">    </p:cNvPr>
          <p:cNvPicPr>
            <a:picLocks noChangeAspect="1"/>
          </p:cNvPicPr>
          <p:nvPr/>
        </p:nvPicPr>
        <p:blipFill>
          <a:blip r:embed="rId2"/>
          <a:stretch>
            <a:fillRect/>
          </a:stretch>
        </p:blipFill>
        <p:spPr>
          <a:xfrm>
            <a:off x="3822192" y="1234440"/>
            <a:ext cx="7863840" cy="1976833"/>
          </a:xfrm>
          <a:prstGeom prst="rect">
            <a:avLst/>
          </a:prstGeom>
        </p:spPr>
      </p:pic>
      <p:sp>
        <p:nvSpPr>
          <p:cNvPr id="12" name="Text 8"/>
          <p:cNvSpPr txBox="1"/>
          <p:nvPr/>
        </p:nvSpPr>
        <p:spPr>
          <a:xfrm>
            <a:off x="502920" y="4060322"/>
            <a:ext cx="2240280" cy="548640"/>
          </a:xfrm>
          <a:prstGeom prst="rect">
            <a:avLst/>
          </a:prstGeom>
          <a:noFill/>
          <a:ln/>
        </p:spPr>
        <p:txBody>
          <a:bodyPr wrap="square" lIns="0" tIns="0" rIns="0" bIns="0" rtlCol="0" anchor="ctr"/>
          <a:lstStyle/>
          <a:p>
            <a:pPr indent="0" marL="0">
              <a:buNone/>
            </a:pPr>
            <a:r>
              <a:rPr lang="en-US" sz="1150" b="1" dirty="0">
                <a:solidFill>
                  <a:srgbClr val="0A1F44"/>
                </a:solidFill>
                <a:latin typeface="Inter" pitchFamily="34" charset="0"/>
                <a:ea typeface="Inter" pitchFamily="34" charset="-122"/>
                <a:cs typeface="Inter" pitchFamily="34" charset="-120"/>
              </a:rPr>
              <a:t>A5 · Engaged after order one</a:t>
            </a:r>
            <a:endParaRPr lang="en-US" sz="1150" dirty="0"/>
          </a:p>
        </p:txBody>
      </p:sp>
      <p:sp>
        <p:nvSpPr>
          <p:cNvPr id="13" name="Shape 9"/>
          <p:cNvSpPr/>
          <p:nvPr/>
        </p:nvSpPr>
        <p:spPr>
          <a:xfrm>
            <a:off x="3785616" y="3438144"/>
            <a:ext cx="7936992" cy="1792996"/>
          </a:xfrm>
          <a:prstGeom prst="rect">
            <a:avLst/>
          </a:prstGeom>
          <a:solidFill>
            <a:srgbClr val="E2E8F0"/>
          </a:solidFill>
          <a:ln w="6350">
            <a:solidFill>
              <a:srgbClr val="E2E8F0"/>
            </a:solidFill>
            <a:prstDash val="solid"/>
          </a:ln>
        </p:spPr>
      </p:sp>
      <p:pic>
        <p:nvPicPr>
          <p:cNvPr id="14" name="Image 2" descr="/tmp/claude-0/-home-user-Quince/7efe80ae-a049-50c2-9886-98bf7ca3a04a/scratchpad/assets/cja_a5c.png">    </p:cNvPr>
          <p:cNvPicPr>
            <a:picLocks noChangeAspect="1"/>
          </p:cNvPicPr>
          <p:nvPr/>
        </p:nvPicPr>
        <p:blipFill>
          <a:blip r:embed="rId3"/>
          <a:stretch>
            <a:fillRect/>
          </a:stretch>
        </p:blipFill>
        <p:spPr>
          <a:xfrm>
            <a:off x="3822192" y="3474720"/>
            <a:ext cx="7863840" cy="1719844"/>
          </a:xfrm>
          <a:prstGeom prst="rect">
            <a:avLst/>
          </a:prstGeom>
        </p:spPr>
      </p:pic>
      <p:sp>
        <p:nvSpPr>
          <p:cNvPr id="15" name="Shape 10"/>
          <p:cNvSpPr/>
          <p:nvPr/>
        </p:nvSpPr>
        <p:spPr>
          <a:xfrm>
            <a:off x="502920" y="5577840"/>
            <a:ext cx="11183112" cy="512064"/>
          </a:xfrm>
          <a:prstGeom prst="roundRect">
            <a:avLst>
              <a:gd name="adj" fmla="val 17857"/>
            </a:avLst>
          </a:prstGeom>
          <a:solidFill>
            <a:srgbClr val="EFF6FF"/>
          </a:solidFill>
          <a:ln w="6350">
            <a:solidFill>
              <a:srgbClr val="EFF6FF"/>
            </a:solidFill>
            <a:prstDash val="solid"/>
          </a:ln>
        </p:spPr>
      </p:sp>
      <p:sp>
        <p:nvSpPr>
          <p:cNvPr id="16" name="Shape 11"/>
          <p:cNvSpPr/>
          <p:nvPr/>
        </p:nvSpPr>
        <p:spPr>
          <a:xfrm>
            <a:off x="640080" y="5669280"/>
            <a:ext cx="329184" cy="329184"/>
          </a:xfrm>
          <a:prstGeom prst="ellipse">
            <a:avLst/>
          </a:prstGeom>
          <a:solidFill>
            <a:srgbClr val="1D4ED8"/>
          </a:solidFill>
          <a:ln w="6350">
            <a:solidFill>
              <a:srgbClr val="1D4ED8"/>
            </a:solidFill>
            <a:prstDash val="solid"/>
          </a:ln>
        </p:spPr>
      </p:sp>
      <p:pic>
        <p:nvPicPr>
          <p:cNvPr id="17" name="Image 3" descr="preencoded.png">    </p:cNvPr>
          <p:cNvPicPr>
            <a:picLocks noChangeAspect="1"/>
          </p:cNvPicPr>
          <p:nvPr/>
        </p:nvPicPr>
        <p:blipFill>
          <a:blip r:embed="rId4"/>
          <a:stretch>
            <a:fillRect/>
          </a:stretch>
        </p:blipFill>
        <p:spPr>
          <a:xfrm>
            <a:off x="712500" y="5741700"/>
            <a:ext cx="184343" cy="184343"/>
          </a:xfrm>
          <a:prstGeom prst="rect">
            <a:avLst/>
          </a:prstGeom>
        </p:spPr>
      </p:pic>
      <p:sp>
        <p:nvSpPr>
          <p:cNvPr id="18" name="Text 12"/>
          <p:cNvSpPr txBox="1"/>
          <p:nvPr/>
        </p:nvSpPr>
        <p:spPr>
          <a:xfrm>
            <a:off x="1097280" y="5577840"/>
            <a:ext cx="10424160" cy="512064"/>
          </a:xfrm>
          <a:prstGeom prst="rect">
            <a:avLst/>
          </a:prstGeom>
          <a:noFill/>
          <a:ln/>
        </p:spPr>
        <p:txBody>
          <a:bodyPr wrap="square" lIns="0" tIns="0" rIns="0" bIns="0" rtlCol="0" anchor="ctr"/>
          <a:lstStyle/>
          <a:p>
            <a:pPr indent="0" marL="0">
              <a:buNone/>
            </a:pPr>
            <a:r>
              <a:rPr lang="en-US" sz="1300" b="1" dirty="0">
                <a:solidFill>
                  <a:srgbClr val="0A1F44"/>
                </a:solidFill>
                <a:latin typeface="Inter" pitchFamily="34" charset="0"/>
                <a:ea typeface="Inter" pitchFamily="34" charset="-122"/>
                <a:cs typeface="Inter" pitchFamily="34" charset="-120"/>
              </a:rPr>
              <a:t>Engaged buyers are 24.5% of buyers but 66% of repeaters (A2 overstates: owned visits log only at purchase); after order one, app users still repeat 21.5% vs 11.7% for SMS (A5, the cleaner test)</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9326880" cy="841248"/>
          </a:xfrm>
          <a:prstGeom prst="rect">
            <a:avLst/>
          </a:prstGeom>
          <a:noFill/>
          <a:ln/>
        </p:spPr>
        <p:txBody>
          <a:bodyPr wrap="square" lIns="0" tIns="0" rIns="0" bIns="0" rtlCol="0" anchor="ctr"/>
          <a:lstStyle/>
          <a:p>
            <a:pPr indent="0" marL="0">
              <a:buNone/>
            </a:pPr>
            <a:r>
              <a:rPr lang="en-US" sz="2400" b="1" dirty="0">
                <a:solidFill>
                  <a:srgbClr val="0A1F44"/>
                </a:solidFill>
                <a:latin typeface="Inter" pitchFamily="34" charset="0"/>
                <a:ea typeface="Inter" pitchFamily="34" charset="-122"/>
                <a:cs typeface="Inter" pitchFamily="34" charset="-120"/>
              </a:rPr>
              <a:t>Each option covers another's weakness, so we blend all three</a:t>
            </a:r>
            <a:endParaRPr lang="en-US" sz="2400" dirty="0"/>
          </a:p>
        </p:txBody>
      </p:sp>
      <p:pic>
        <p:nvPicPr>
          <p:cNvPr id="3" name="Image 0" descr="/tmp/claude-0/-home-user-Quince/7efe80ae-a049-50c2-9886-98bf7ca3a04a/scratchpad/assets/quince.png">    </p:cNvPr>
          <p:cNvPicPr>
            <a:picLocks noChangeAspect="1"/>
          </p:cNvPicPr>
          <p:nvPr/>
        </p:nvPicPr>
        <p:blipFill>
          <a:blip r:embed="rId1"/>
          <a:stretch>
            <a:fillRect/>
          </a:stretch>
        </p:blipFill>
        <p:spPr>
          <a:xfrm>
            <a:off x="10236708" y="615544"/>
            <a:ext cx="777240" cy="231951"/>
          </a:xfrm>
          <a:prstGeom prst="rect">
            <a:avLst/>
          </a:prstGeom>
        </p:spPr>
      </p:pic>
      <p:sp>
        <p:nvSpPr>
          <p:cNvPr id="4" name="Shape 1"/>
          <p:cNvSpPr/>
          <p:nvPr/>
        </p:nvSpPr>
        <p:spPr>
          <a:xfrm>
            <a:off x="11155680" y="603504"/>
            <a:ext cx="530352" cy="256032"/>
          </a:xfrm>
          <a:prstGeom prst="roundRect">
            <a:avLst>
              <a:gd name="adj" fmla="val 50000"/>
            </a:avLst>
          </a:prstGeom>
          <a:solidFill>
            <a:srgbClr val="0A1F44"/>
          </a:solidFill>
          <a:ln w="6350">
            <a:solidFill>
              <a:srgbClr val="0A1F44"/>
            </a:solidFill>
            <a:prstDash val="solid"/>
          </a:ln>
        </p:spPr>
      </p:sp>
      <p:sp>
        <p:nvSpPr>
          <p:cNvPr id="5" name="Text 2"/>
          <p:cNvSpPr txBox="1"/>
          <p:nvPr/>
        </p:nvSpPr>
        <p:spPr>
          <a:xfrm>
            <a:off x="11155680" y="603504"/>
            <a:ext cx="530352"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Inter" pitchFamily="34" charset="0"/>
                <a:ea typeface="Inter" pitchFamily="34" charset="-122"/>
                <a:cs typeface="Inter" pitchFamily="34" charset="-120"/>
              </a:rPr>
              <a:t>G27</a:t>
            </a:r>
            <a:endParaRPr lang="en-US" sz="950" dirty="0"/>
          </a:p>
        </p:txBody>
      </p:sp>
      <p:sp>
        <p:nvSpPr>
          <p:cNvPr id="6" name="Shape 3"/>
          <p:cNvSpPr/>
          <p:nvPr/>
        </p:nvSpPr>
        <p:spPr>
          <a:xfrm>
            <a:off x="502920" y="6400800"/>
            <a:ext cx="11183112" cy="0"/>
          </a:xfrm>
          <a:prstGeom prst="line">
            <a:avLst/>
          </a:prstGeom>
          <a:noFill/>
          <a:ln w="9525">
            <a:solidFill>
              <a:srgbClr val="E2E8F0"/>
            </a:solidFill>
            <a:prstDash val="solid"/>
          </a:ln>
        </p:spPr>
      </p:sp>
      <p:sp>
        <p:nvSpPr>
          <p:cNvPr id="7" name="Text 4"/>
          <p:cNvSpPr txBox="1"/>
          <p:nvPr/>
        </p:nvSpPr>
        <p:spPr>
          <a:xfrm>
            <a:off x="502920" y="6464808"/>
            <a:ext cx="9418320" cy="256032"/>
          </a:xfrm>
          <a:prstGeom prst="rect">
            <a:avLst/>
          </a:prstGeom>
          <a:noFill/>
          <a:ln/>
        </p:spPr>
        <p:txBody>
          <a:bodyPr wrap="square" lIns="0" tIns="0" rIns="0" bIns="0" rtlCol="0" anchor="ctr"/>
          <a:lstStyle/>
          <a:p>
            <a:pPr indent="0" marL="0">
              <a:buNone/>
            </a:pPr>
            <a:r>
              <a:rPr lang="en-US" sz="800" dirty="0">
                <a:solidFill>
                  <a:srgbClr val="64748B"/>
                </a:solidFill>
                <a:latin typeface="Inter" pitchFamily="34" charset="0"/>
                <a:ea typeface="Inter" pitchFamily="34" charset="-122"/>
                <a:cs typeface="Inter" pitchFamily="34" charset="-120"/>
              </a:rPr>
              <a:t>Source: case section 4 (Options A, B, C), Exhibit I (cost and timing) and Exhibit K (risk matrix); team analysis.</a:t>
            </a:r>
            <a:endParaRPr lang="en-US" sz="800" dirty="0"/>
          </a:p>
        </p:txBody>
      </p:sp>
      <p:sp>
        <p:nvSpPr>
          <p:cNvPr id="8" name="Text 5"/>
          <p:cNvSpPr txBox="1"/>
          <p:nvPr/>
        </p:nvSpPr>
        <p:spPr>
          <a:xfrm>
            <a:off x="9966960" y="6464808"/>
            <a:ext cx="1719072" cy="256032"/>
          </a:xfrm>
          <a:prstGeom prst="rect">
            <a:avLst/>
          </a:prstGeom>
          <a:noFill/>
          <a:ln/>
        </p:spPr>
        <p:txBody>
          <a:bodyPr wrap="square" lIns="0" tIns="0" rIns="0" bIns="0" rtlCol="0" anchor="ctr"/>
          <a:lstStyle/>
          <a:p>
            <a:pPr algn="r" indent="0" marL="0">
              <a:buNone/>
            </a:pPr>
            <a:r>
              <a:rPr lang="en-US" sz="800" dirty="0">
                <a:solidFill>
                  <a:srgbClr val="64748B"/>
                </a:solidFill>
                <a:latin typeface="Inter" pitchFamily="34" charset="0"/>
                <a:ea typeface="Inter" pitchFamily="34" charset="-122"/>
                <a:cs typeface="Inter" pitchFamily="34" charset="-120"/>
              </a:rPr>
              <a:t>Team G27  ·  14</a:t>
            </a:r>
            <a:endParaRPr lang="en-US" sz="800" dirty="0"/>
          </a:p>
        </p:txBody>
      </p:sp>
      <p:sp>
        <p:nvSpPr>
          <p:cNvPr id="9" name="Shape 6"/>
          <p:cNvSpPr/>
          <p:nvPr/>
        </p:nvSpPr>
        <p:spPr>
          <a:xfrm>
            <a:off x="502920" y="1325880"/>
            <a:ext cx="3648456" cy="2514600"/>
          </a:xfrm>
          <a:prstGeom prst="roundRect">
            <a:avLst>
              <a:gd name="adj" fmla="val 2182"/>
            </a:avLst>
          </a:prstGeom>
          <a:solidFill>
            <a:srgbClr val="F8FAFC"/>
          </a:solidFill>
          <a:ln w="9525">
            <a:solidFill>
              <a:srgbClr val="E2E8F0"/>
            </a:solidFill>
            <a:prstDash val="solid"/>
          </a:ln>
        </p:spPr>
      </p:sp>
      <p:sp>
        <p:nvSpPr>
          <p:cNvPr id="10" name="Shape 7"/>
          <p:cNvSpPr/>
          <p:nvPr/>
        </p:nvSpPr>
        <p:spPr>
          <a:xfrm>
            <a:off x="667512" y="1463040"/>
            <a:ext cx="548640" cy="548640"/>
          </a:xfrm>
          <a:prstGeom prst="ellipse">
            <a:avLst/>
          </a:prstGeom>
          <a:solidFill>
            <a:srgbClr val="0A1F44"/>
          </a:solidFill>
          <a:ln w="6350">
            <a:solidFill>
              <a:srgbClr val="0A1F44"/>
            </a:solidFill>
            <a:prstDash val="solid"/>
          </a:ln>
        </p:spPr>
      </p:sp>
      <p:sp>
        <p:nvSpPr>
          <p:cNvPr id="11" name="Text 8"/>
          <p:cNvSpPr txBox="1"/>
          <p:nvPr/>
        </p:nvSpPr>
        <p:spPr>
          <a:xfrm>
            <a:off x="667512" y="146304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B</a:t>
            </a:r>
            <a:endParaRPr lang="en-US" sz="2000" dirty="0"/>
          </a:p>
        </p:txBody>
      </p:sp>
      <p:sp>
        <p:nvSpPr>
          <p:cNvPr id="12" name="Text 9"/>
          <p:cNvSpPr txBox="1"/>
          <p:nvPr/>
        </p:nvSpPr>
        <p:spPr>
          <a:xfrm>
            <a:off x="1344168" y="1463040"/>
            <a:ext cx="2651760" cy="237744"/>
          </a:xfrm>
          <a:prstGeom prst="rect">
            <a:avLst/>
          </a:prstGeom>
          <a:noFill/>
          <a:ln/>
        </p:spPr>
        <p:txBody>
          <a:bodyPr wrap="square" lIns="0" tIns="0" rIns="0" bIns="0" rtlCol="0" anchor="t"/>
          <a:lstStyle/>
          <a:p>
            <a:pPr indent="0" marL="0">
              <a:buNone/>
            </a:pPr>
            <a:r>
              <a:rPr lang="en-US" sz="950" dirty="0">
                <a:solidFill>
                  <a:srgbClr val="64748B"/>
                </a:solidFill>
                <a:latin typeface="Inter" pitchFamily="34" charset="0"/>
                <a:ea typeface="Inter" pitchFamily="34" charset="-122"/>
                <a:cs typeface="Inter" pitchFamily="34" charset="-120"/>
              </a:rPr>
              <a:t>Option B</a:t>
            </a:r>
            <a:endParaRPr lang="en-US" sz="950" dirty="0"/>
          </a:p>
        </p:txBody>
      </p:sp>
      <p:sp>
        <p:nvSpPr>
          <p:cNvPr id="13" name="Text 10"/>
          <p:cNvSpPr txBox="1"/>
          <p:nvPr/>
        </p:nvSpPr>
        <p:spPr>
          <a:xfrm>
            <a:off x="1344168" y="1682496"/>
            <a:ext cx="2697480" cy="365760"/>
          </a:xfrm>
          <a:prstGeom prst="rect">
            <a:avLst/>
          </a:prstGeom>
          <a:noFill/>
          <a:ln/>
        </p:spPr>
        <p:txBody>
          <a:bodyPr wrap="square" lIns="0" tIns="0" rIns="0" bIns="0" rtlCol="0" anchor="t"/>
          <a:lstStyle/>
          <a:p>
            <a:pPr indent="0" marL="0">
              <a:buNone/>
            </a:pPr>
            <a:r>
              <a:rPr lang="en-US" sz="1200" b="1" dirty="0">
                <a:solidFill>
                  <a:srgbClr val="0F172A"/>
                </a:solidFill>
                <a:latin typeface="Inter" pitchFamily="34" charset="0"/>
                <a:ea typeface="Inter" pitchFamily="34" charset="-122"/>
                <a:cs typeface="Inter" pitchFamily="34" charset="-120"/>
              </a:rPr>
              <a:t>Paid precision and suppression</a:t>
            </a:r>
            <a:endParaRPr lang="en-US" sz="1200" dirty="0"/>
          </a:p>
        </p:txBody>
      </p:sp>
      <p:pic>
        <p:nvPicPr>
          <p:cNvPr id="14" name="Image 1" descr="preencoded.png">    </p:cNvPr>
          <p:cNvPicPr>
            <a:picLocks noChangeAspect="1"/>
          </p:cNvPicPr>
          <p:nvPr/>
        </p:nvPicPr>
        <p:blipFill>
          <a:blip r:embed="rId2"/>
          <a:stretch>
            <a:fillRect/>
          </a:stretch>
        </p:blipFill>
        <p:spPr>
          <a:xfrm>
            <a:off x="685800" y="2267712"/>
            <a:ext cx="237744" cy="237744"/>
          </a:xfrm>
          <a:prstGeom prst="rect">
            <a:avLst/>
          </a:prstGeom>
        </p:spPr>
      </p:pic>
      <p:sp>
        <p:nvSpPr>
          <p:cNvPr id="15" name="Text 11"/>
          <p:cNvSpPr txBox="1"/>
          <p:nvPr/>
        </p:nvSpPr>
        <p:spPr>
          <a:xfrm>
            <a:off x="1005840" y="2212848"/>
            <a:ext cx="3017520" cy="457200"/>
          </a:xfrm>
          <a:prstGeom prst="rect">
            <a:avLst/>
          </a:prstGeom>
          <a:noFill/>
          <a:ln/>
        </p:spPr>
        <p:txBody>
          <a:bodyPr wrap="square" lIns="0" tIns="0" rIns="0" bIns="0" rtlCol="0" anchor="t"/>
          <a:lstStyle/>
          <a:p>
            <a:pPr indent="0" marL="0">
              <a:buNone/>
            </a:pPr>
            <a:r>
              <a:rPr lang="en-US" sz="1050" dirty="0">
                <a:solidFill>
                  <a:srgbClr val="334155"/>
                </a:solidFill>
                <a:latin typeface="Inter" pitchFamily="34" charset="0"/>
                <a:ea typeface="Inter" pitchFamily="34" charset="-122"/>
                <a:cs typeface="Inter" pitchFamily="34" charset="-120"/>
              </a:rPr>
              <a:t>Results in weeks, $0 incremental</a:t>
            </a:r>
            <a:endParaRPr lang="en-US" sz="1050" dirty="0"/>
          </a:p>
        </p:txBody>
      </p:sp>
      <p:pic>
        <p:nvPicPr>
          <p:cNvPr id="16" name="Image 2" descr="preencoded.png">    </p:cNvPr>
          <p:cNvPicPr>
            <a:picLocks noChangeAspect="1"/>
          </p:cNvPicPr>
          <p:nvPr/>
        </p:nvPicPr>
        <p:blipFill>
          <a:blip r:embed="rId3"/>
          <a:stretch>
            <a:fillRect/>
          </a:stretch>
        </p:blipFill>
        <p:spPr>
          <a:xfrm>
            <a:off x="685800" y="2852928"/>
            <a:ext cx="237744" cy="237744"/>
          </a:xfrm>
          <a:prstGeom prst="rect">
            <a:avLst/>
          </a:prstGeom>
        </p:spPr>
      </p:pic>
      <p:sp>
        <p:nvSpPr>
          <p:cNvPr id="17" name="Text 12"/>
          <p:cNvSpPr txBox="1"/>
          <p:nvPr/>
        </p:nvSpPr>
        <p:spPr>
          <a:xfrm>
            <a:off x="1005840" y="2798064"/>
            <a:ext cx="3017520" cy="822960"/>
          </a:xfrm>
          <a:prstGeom prst="rect">
            <a:avLst/>
          </a:prstGeom>
          <a:noFill/>
          <a:ln/>
        </p:spPr>
        <p:txBody>
          <a:bodyPr wrap="square" lIns="0" tIns="0" rIns="0" bIns="0" rtlCol="0" anchor="t"/>
          <a:lstStyle/>
          <a:p>
            <a:pPr indent="0" marL="0">
              <a:buNone/>
            </a:pPr>
            <a:r>
              <a:rPr lang="en-US" sz="1050" dirty="0">
                <a:solidFill>
                  <a:srgbClr val="334155"/>
                </a:solidFill>
                <a:latin typeface="Inter" pitchFamily="34" charset="0"/>
                <a:ea typeface="Inter" pitchFamily="34" charset="-122"/>
                <a:cs typeface="Inter" pitchFamily="34" charset="-120"/>
              </a:rPr>
              <a:t>Alone: High signal-loss exposure; builds no lasting relationship</a:t>
            </a:r>
            <a:endParaRPr lang="en-US" sz="1050" dirty="0"/>
          </a:p>
        </p:txBody>
      </p:sp>
      <p:sp>
        <p:nvSpPr>
          <p:cNvPr id="18" name="Shape 13"/>
          <p:cNvSpPr/>
          <p:nvPr/>
        </p:nvSpPr>
        <p:spPr>
          <a:xfrm>
            <a:off x="2162556" y="3913632"/>
            <a:ext cx="329184" cy="329184"/>
          </a:xfrm>
          <a:prstGeom prst="downArrow">
            <a:avLst/>
          </a:prstGeom>
          <a:solidFill>
            <a:srgbClr val="BFDBFE"/>
          </a:solidFill>
          <a:ln w="6350">
            <a:solidFill>
              <a:srgbClr val="BFDBFE"/>
            </a:solidFill>
            <a:prstDash val="solid"/>
          </a:ln>
        </p:spPr>
      </p:sp>
      <p:sp>
        <p:nvSpPr>
          <p:cNvPr id="19" name="Shape 14"/>
          <p:cNvSpPr/>
          <p:nvPr/>
        </p:nvSpPr>
        <p:spPr>
          <a:xfrm>
            <a:off x="502920" y="4315968"/>
            <a:ext cx="3648456" cy="868680"/>
          </a:xfrm>
          <a:prstGeom prst="roundRect">
            <a:avLst>
              <a:gd name="adj" fmla="val 6316"/>
            </a:avLst>
          </a:prstGeom>
          <a:solidFill>
            <a:srgbClr val="0A1F44"/>
          </a:solidFill>
          <a:ln w="6350">
            <a:solidFill>
              <a:srgbClr val="0A1F44"/>
            </a:solidFill>
            <a:prstDash val="solid"/>
          </a:ln>
        </p:spPr>
      </p:sp>
      <p:sp>
        <p:nvSpPr>
          <p:cNvPr id="20" name="Text 15"/>
          <p:cNvSpPr txBox="1"/>
          <p:nvPr/>
        </p:nvSpPr>
        <p:spPr>
          <a:xfrm>
            <a:off x="685800" y="4315968"/>
            <a:ext cx="3282696" cy="868680"/>
          </a:xfrm>
          <a:prstGeom prst="rect">
            <a:avLst/>
          </a:prstGeom>
          <a:noFill/>
          <a:ln/>
        </p:spPr>
        <p:txBody>
          <a:bodyPr wrap="square" lIns="0" tIns="0" rIns="0" bIns="0" rtlCol="0" anchor="ctr"/>
          <a:lstStyle/>
          <a:p>
            <a:pPr indent="0" marL="0">
              <a:buNone/>
            </a:pPr>
            <a:r>
              <a:rPr lang="en-US" sz="1500" b="1" dirty="0">
                <a:solidFill>
                  <a:srgbClr val="FFFFFF"/>
                </a:solidFill>
                <a:latin typeface="Inter" pitchFamily="34" charset="0"/>
                <a:ea typeface="Inter" pitchFamily="34" charset="-122"/>
                <a:cs typeface="Inter" pitchFamily="34" charset="-120"/>
              </a:rPr>
              <a:t>Proves fast</a:t>
            </a:r>
            <a:endParaRPr lang="en-US" sz="1200" dirty="0"/>
          </a:p>
          <a:p>
            <a:pPr indent="0" marL="0">
              <a:buNone/>
            </a:pPr>
            <a:r>
              <a:rPr lang="en-US" sz="1000" dirty="0">
                <a:solidFill>
                  <a:srgbClr val="DCE7FB"/>
                </a:solidFill>
                <a:latin typeface="Inter" pitchFamily="34" charset="0"/>
                <a:ea typeface="Inter" pitchFamily="34" charset="-122"/>
                <a:cs typeface="Inter" pitchFamily="34" charset="-120"/>
              </a:rPr>
              <a:t>Savings held in the $14M line until a holdout proves them</a:t>
            </a:r>
            <a:endParaRPr lang="en-US" sz="1200" dirty="0"/>
          </a:p>
        </p:txBody>
      </p:sp>
      <p:sp>
        <p:nvSpPr>
          <p:cNvPr id="21" name="Shape 16"/>
          <p:cNvSpPr/>
          <p:nvPr/>
        </p:nvSpPr>
        <p:spPr>
          <a:xfrm>
            <a:off x="4270248" y="1325880"/>
            <a:ext cx="3648456" cy="2514600"/>
          </a:xfrm>
          <a:prstGeom prst="roundRect">
            <a:avLst>
              <a:gd name="adj" fmla="val 2182"/>
            </a:avLst>
          </a:prstGeom>
          <a:solidFill>
            <a:srgbClr val="F8FAFC"/>
          </a:solidFill>
          <a:ln w="9525">
            <a:solidFill>
              <a:srgbClr val="E2E8F0"/>
            </a:solidFill>
            <a:prstDash val="solid"/>
          </a:ln>
        </p:spPr>
      </p:sp>
      <p:sp>
        <p:nvSpPr>
          <p:cNvPr id="22" name="Shape 17"/>
          <p:cNvSpPr/>
          <p:nvPr/>
        </p:nvSpPr>
        <p:spPr>
          <a:xfrm>
            <a:off x="4434840" y="1463040"/>
            <a:ext cx="548640" cy="548640"/>
          </a:xfrm>
          <a:prstGeom prst="ellipse">
            <a:avLst/>
          </a:prstGeom>
          <a:solidFill>
            <a:srgbClr val="0A1F44"/>
          </a:solidFill>
          <a:ln w="6350">
            <a:solidFill>
              <a:srgbClr val="0A1F44"/>
            </a:solidFill>
            <a:prstDash val="solid"/>
          </a:ln>
        </p:spPr>
      </p:sp>
      <p:sp>
        <p:nvSpPr>
          <p:cNvPr id="23" name="Text 18"/>
          <p:cNvSpPr txBox="1"/>
          <p:nvPr/>
        </p:nvSpPr>
        <p:spPr>
          <a:xfrm>
            <a:off x="4434840" y="146304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A</a:t>
            </a:r>
            <a:endParaRPr lang="en-US" sz="2000" dirty="0"/>
          </a:p>
        </p:txBody>
      </p:sp>
      <p:sp>
        <p:nvSpPr>
          <p:cNvPr id="24" name="Text 19"/>
          <p:cNvSpPr txBox="1"/>
          <p:nvPr/>
        </p:nvSpPr>
        <p:spPr>
          <a:xfrm>
            <a:off x="5111496" y="1463040"/>
            <a:ext cx="2651760" cy="237744"/>
          </a:xfrm>
          <a:prstGeom prst="rect">
            <a:avLst/>
          </a:prstGeom>
          <a:noFill/>
          <a:ln/>
        </p:spPr>
        <p:txBody>
          <a:bodyPr wrap="square" lIns="0" tIns="0" rIns="0" bIns="0" rtlCol="0" anchor="t"/>
          <a:lstStyle/>
          <a:p>
            <a:pPr indent="0" marL="0">
              <a:buNone/>
            </a:pPr>
            <a:r>
              <a:rPr lang="en-US" sz="950" dirty="0">
                <a:solidFill>
                  <a:srgbClr val="64748B"/>
                </a:solidFill>
                <a:latin typeface="Inter" pitchFamily="34" charset="0"/>
                <a:ea typeface="Inter" pitchFamily="34" charset="-122"/>
                <a:cs typeface="Inter" pitchFamily="34" charset="-120"/>
              </a:rPr>
              <a:t>Option A</a:t>
            </a:r>
            <a:endParaRPr lang="en-US" sz="950" dirty="0"/>
          </a:p>
        </p:txBody>
      </p:sp>
      <p:sp>
        <p:nvSpPr>
          <p:cNvPr id="25" name="Text 20"/>
          <p:cNvSpPr txBox="1"/>
          <p:nvPr/>
        </p:nvSpPr>
        <p:spPr>
          <a:xfrm>
            <a:off x="5111496" y="1682496"/>
            <a:ext cx="2697480" cy="365760"/>
          </a:xfrm>
          <a:prstGeom prst="rect">
            <a:avLst/>
          </a:prstGeom>
          <a:noFill/>
          <a:ln/>
        </p:spPr>
        <p:txBody>
          <a:bodyPr wrap="square" lIns="0" tIns="0" rIns="0" bIns="0" rtlCol="0" anchor="t"/>
          <a:lstStyle/>
          <a:p>
            <a:pPr indent="0" marL="0">
              <a:buNone/>
            </a:pPr>
            <a:r>
              <a:rPr lang="en-US" sz="1200" b="1" dirty="0">
                <a:solidFill>
                  <a:srgbClr val="0F172A"/>
                </a:solidFill>
                <a:latin typeface="Inter" pitchFamily="34" charset="0"/>
                <a:ea typeface="Inter" pitchFamily="34" charset="-122"/>
                <a:cs typeface="Inter" pitchFamily="34" charset="-120"/>
              </a:rPr>
              <a:t>Owned lifecycle precision</a:t>
            </a:r>
            <a:endParaRPr lang="en-US" sz="1200" dirty="0"/>
          </a:p>
        </p:txBody>
      </p:sp>
      <p:pic>
        <p:nvPicPr>
          <p:cNvPr id="26" name="Image 3" descr="preencoded.png">    </p:cNvPr>
          <p:cNvPicPr>
            <a:picLocks noChangeAspect="1"/>
          </p:cNvPicPr>
          <p:nvPr/>
        </p:nvPicPr>
        <p:blipFill>
          <a:blip r:embed="rId4"/>
          <a:stretch>
            <a:fillRect/>
          </a:stretch>
        </p:blipFill>
        <p:spPr>
          <a:xfrm>
            <a:off x="4453128" y="2267712"/>
            <a:ext cx="237744" cy="237744"/>
          </a:xfrm>
          <a:prstGeom prst="rect">
            <a:avLst/>
          </a:prstGeom>
        </p:spPr>
      </p:pic>
      <p:sp>
        <p:nvSpPr>
          <p:cNvPr id="27" name="Text 21"/>
          <p:cNvSpPr txBox="1"/>
          <p:nvPr/>
        </p:nvSpPr>
        <p:spPr>
          <a:xfrm>
            <a:off x="4773168" y="2212848"/>
            <a:ext cx="3017520" cy="457200"/>
          </a:xfrm>
          <a:prstGeom prst="rect">
            <a:avLst/>
          </a:prstGeom>
          <a:noFill/>
          <a:ln/>
        </p:spPr>
        <p:txBody>
          <a:bodyPr wrap="square" lIns="0" tIns="0" rIns="0" bIns="0" rtlCol="0" anchor="t"/>
          <a:lstStyle/>
          <a:p>
            <a:pPr indent="0" marL="0">
              <a:buNone/>
            </a:pPr>
            <a:r>
              <a:rPr lang="en-US" sz="1050" dirty="0">
                <a:solidFill>
                  <a:srgbClr val="334155"/>
                </a:solidFill>
                <a:latin typeface="Inter" pitchFamily="34" charset="0"/>
                <a:ea typeface="Inter" pitchFamily="34" charset="-122"/>
                <a:cs typeface="Inter" pitchFamily="34" charset="-120"/>
              </a:rPr>
              <a:t>Lowest cost per touch; insulated from ATT</a:t>
            </a:r>
            <a:endParaRPr lang="en-US" sz="1050" dirty="0"/>
          </a:p>
        </p:txBody>
      </p:sp>
      <p:pic>
        <p:nvPicPr>
          <p:cNvPr id="28" name="Image 4" descr="preencoded.png">    </p:cNvPr>
          <p:cNvPicPr>
            <a:picLocks noChangeAspect="1"/>
          </p:cNvPicPr>
          <p:nvPr/>
        </p:nvPicPr>
        <p:blipFill>
          <a:blip r:embed="rId5"/>
          <a:stretch>
            <a:fillRect/>
          </a:stretch>
        </p:blipFill>
        <p:spPr>
          <a:xfrm>
            <a:off x="4453128" y="2852928"/>
            <a:ext cx="237744" cy="237744"/>
          </a:xfrm>
          <a:prstGeom prst="rect">
            <a:avLst/>
          </a:prstGeom>
        </p:spPr>
      </p:pic>
      <p:sp>
        <p:nvSpPr>
          <p:cNvPr id="29" name="Text 22"/>
          <p:cNvSpPr txBox="1"/>
          <p:nvPr/>
        </p:nvSpPr>
        <p:spPr>
          <a:xfrm>
            <a:off x="4773168" y="2798064"/>
            <a:ext cx="3017520" cy="822960"/>
          </a:xfrm>
          <a:prstGeom prst="rect">
            <a:avLst/>
          </a:prstGeom>
          <a:noFill/>
          <a:ln/>
        </p:spPr>
        <p:txBody>
          <a:bodyPr wrap="square" lIns="0" tIns="0" rIns="0" bIns="0" rtlCol="0" anchor="t"/>
          <a:lstStyle/>
          <a:p>
            <a:pPr indent="0" marL="0">
              <a:buNone/>
            </a:pPr>
            <a:r>
              <a:rPr lang="en-US" sz="1050" dirty="0">
                <a:solidFill>
                  <a:srgbClr val="334155"/>
                </a:solidFill>
                <a:latin typeface="Inter" pitchFamily="34" charset="0"/>
                <a:ea typeface="Inter" pitchFamily="34" charset="-122"/>
                <a:cs typeface="Inter" pitchFamily="34" charset="-120"/>
              </a:rPr>
              <a:t>Alone: Reach capped by today's list: 1 in 4 buyers engaged</a:t>
            </a:r>
            <a:endParaRPr lang="en-US" sz="1050" dirty="0"/>
          </a:p>
        </p:txBody>
      </p:sp>
      <p:sp>
        <p:nvSpPr>
          <p:cNvPr id="30" name="Shape 23"/>
          <p:cNvSpPr/>
          <p:nvPr/>
        </p:nvSpPr>
        <p:spPr>
          <a:xfrm>
            <a:off x="5929884" y="3913632"/>
            <a:ext cx="329184" cy="329184"/>
          </a:xfrm>
          <a:prstGeom prst="downArrow">
            <a:avLst/>
          </a:prstGeom>
          <a:solidFill>
            <a:srgbClr val="BFDBFE"/>
          </a:solidFill>
          <a:ln w="6350">
            <a:solidFill>
              <a:srgbClr val="BFDBFE"/>
            </a:solidFill>
            <a:prstDash val="solid"/>
          </a:ln>
        </p:spPr>
      </p:sp>
      <p:sp>
        <p:nvSpPr>
          <p:cNvPr id="31" name="Shape 24"/>
          <p:cNvSpPr/>
          <p:nvPr/>
        </p:nvSpPr>
        <p:spPr>
          <a:xfrm>
            <a:off x="4270248" y="4315968"/>
            <a:ext cx="3648456" cy="868680"/>
          </a:xfrm>
          <a:prstGeom prst="roundRect">
            <a:avLst>
              <a:gd name="adj" fmla="val 6316"/>
            </a:avLst>
          </a:prstGeom>
          <a:solidFill>
            <a:srgbClr val="1D4ED8"/>
          </a:solidFill>
          <a:ln w="6350">
            <a:solidFill>
              <a:srgbClr val="1D4ED8"/>
            </a:solidFill>
            <a:prstDash val="solid"/>
          </a:ln>
        </p:spPr>
      </p:sp>
      <p:sp>
        <p:nvSpPr>
          <p:cNvPr id="32" name="Text 25"/>
          <p:cNvSpPr txBox="1"/>
          <p:nvPr/>
        </p:nvSpPr>
        <p:spPr>
          <a:xfrm>
            <a:off x="4453128" y="4315968"/>
            <a:ext cx="3282696" cy="868680"/>
          </a:xfrm>
          <a:prstGeom prst="rect">
            <a:avLst/>
          </a:prstGeom>
          <a:noFill/>
          <a:ln/>
        </p:spPr>
        <p:txBody>
          <a:bodyPr wrap="square" lIns="0" tIns="0" rIns="0" bIns="0" rtlCol="0" anchor="ctr"/>
          <a:lstStyle/>
          <a:p>
            <a:pPr indent="0" marL="0">
              <a:buNone/>
            </a:pPr>
            <a:r>
              <a:rPr lang="en-US" sz="1500" b="1" dirty="0">
                <a:solidFill>
                  <a:srgbClr val="FFFFFF"/>
                </a:solidFill>
                <a:latin typeface="Inter" pitchFamily="34" charset="0"/>
                <a:ea typeface="Inter" pitchFamily="34" charset="-122"/>
                <a:cs typeface="Inter" pitchFamily="34" charset="-120"/>
              </a:rPr>
              <a:t>Builds it</a:t>
            </a:r>
            <a:endParaRPr lang="en-US" sz="1200" dirty="0"/>
          </a:p>
          <a:p>
            <a:pPr indent="0" marL="0">
              <a:buNone/>
            </a:pPr>
            <a:r>
              <a:rPr lang="en-US" sz="1000" dirty="0">
                <a:solidFill>
                  <a:srgbClr val="DCE7FB"/>
                </a:solidFill>
                <a:latin typeface="Inter" pitchFamily="34" charset="0"/>
                <a:ea typeface="Inter" pitchFamily="34" charset="-122"/>
                <a:cs typeface="Inter" pitchFamily="34" charset="-120"/>
              </a:rPr>
              <a:t>Capture grows the list; journeys earn order two</a:t>
            </a:r>
            <a:endParaRPr lang="en-US" sz="1200" dirty="0"/>
          </a:p>
        </p:txBody>
      </p:sp>
      <p:sp>
        <p:nvSpPr>
          <p:cNvPr id="33" name="Shape 26"/>
          <p:cNvSpPr/>
          <p:nvPr/>
        </p:nvSpPr>
        <p:spPr>
          <a:xfrm>
            <a:off x="8037576" y="1325880"/>
            <a:ext cx="3648456" cy="2514600"/>
          </a:xfrm>
          <a:prstGeom prst="roundRect">
            <a:avLst>
              <a:gd name="adj" fmla="val 2182"/>
            </a:avLst>
          </a:prstGeom>
          <a:solidFill>
            <a:srgbClr val="F8FAFC"/>
          </a:solidFill>
          <a:ln w="9525">
            <a:solidFill>
              <a:srgbClr val="E2E8F0"/>
            </a:solidFill>
            <a:prstDash val="solid"/>
          </a:ln>
        </p:spPr>
      </p:sp>
      <p:sp>
        <p:nvSpPr>
          <p:cNvPr id="34" name="Shape 27"/>
          <p:cNvSpPr/>
          <p:nvPr/>
        </p:nvSpPr>
        <p:spPr>
          <a:xfrm>
            <a:off x="8202168" y="1463040"/>
            <a:ext cx="548640" cy="548640"/>
          </a:xfrm>
          <a:prstGeom prst="ellipse">
            <a:avLst/>
          </a:prstGeom>
          <a:solidFill>
            <a:srgbClr val="0A1F44"/>
          </a:solidFill>
          <a:ln w="6350">
            <a:solidFill>
              <a:srgbClr val="0A1F44"/>
            </a:solidFill>
            <a:prstDash val="solid"/>
          </a:ln>
        </p:spPr>
      </p:sp>
      <p:sp>
        <p:nvSpPr>
          <p:cNvPr id="35" name="Text 28"/>
          <p:cNvSpPr txBox="1"/>
          <p:nvPr/>
        </p:nvSpPr>
        <p:spPr>
          <a:xfrm>
            <a:off x="8202168" y="146304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C</a:t>
            </a:r>
            <a:endParaRPr lang="en-US" sz="2000" dirty="0"/>
          </a:p>
        </p:txBody>
      </p:sp>
      <p:sp>
        <p:nvSpPr>
          <p:cNvPr id="36" name="Text 29"/>
          <p:cNvSpPr txBox="1"/>
          <p:nvPr/>
        </p:nvSpPr>
        <p:spPr>
          <a:xfrm>
            <a:off x="8878824" y="1463040"/>
            <a:ext cx="2651760" cy="237744"/>
          </a:xfrm>
          <a:prstGeom prst="rect">
            <a:avLst/>
          </a:prstGeom>
          <a:noFill/>
          <a:ln/>
        </p:spPr>
        <p:txBody>
          <a:bodyPr wrap="square" lIns="0" tIns="0" rIns="0" bIns="0" rtlCol="0" anchor="t"/>
          <a:lstStyle/>
          <a:p>
            <a:pPr indent="0" marL="0">
              <a:buNone/>
            </a:pPr>
            <a:r>
              <a:rPr lang="en-US" sz="950" dirty="0">
                <a:solidFill>
                  <a:srgbClr val="64748B"/>
                </a:solidFill>
                <a:latin typeface="Inter" pitchFamily="34" charset="0"/>
                <a:ea typeface="Inter" pitchFamily="34" charset="-122"/>
                <a:cs typeface="Inter" pitchFamily="34" charset="-120"/>
              </a:rPr>
              <a:t>Option C</a:t>
            </a:r>
            <a:endParaRPr lang="en-US" sz="950" dirty="0"/>
          </a:p>
        </p:txBody>
      </p:sp>
      <p:sp>
        <p:nvSpPr>
          <p:cNvPr id="37" name="Text 30"/>
          <p:cNvSpPr txBox="1"/>
          <p:nvPr/>
        </p:nvSpPr>
        <p:spPr>
          <a:xfrm>
            <a:off x="8878824" y="1682496"/>
            <a:ext cx="2697480" cy="365760"/>
          </a:xfrm>
          <a:prstGeom prst="rect">
            <a:avLst/>
          </a:prstGeom>
          <a:noFill/>
          <a:ln/>
        </p:spPr>
        <p:txBody>
          <a:bodyPr wrap="square" lIns="0" tIns="0" rIns="0" bIns="0" rtlCol="0" anchor="t"/>
          <a:lstStyle/>
          <a:p>
            <a:pPr indent="0" marL="0">
              <a:buNone/>
            </a:pPr>
            <a:r>
              <a:rPr lang="en-US" sz="1200" b="1" dirty="0">
                <a:solidFill>
                  <a:srgbClr val="0F172A"/>
                </a:solidFill>
                <a:latin typeface="Inter" pitchFamily="34" charset="0"/>
                <a:ea typeface="Inter" pitchFamily="34" charset="-122"/>
                <a:cs typeface="Inter" pitchFamily="34" charset="-120"/>
              </a:rPr>
              <a:t>Attribution-based reallocation</a:t>
            </a:r>
            <a:endParaRPr lang="en-US" sz="1200" dirty="0"/>
          </a:p>
        </p:txBody>
      </p:sp>
      <p:pic>
        <p:nvPicPr>
          <p:cNvPr id="38" name="Image 5" descr="preencoded.png">    </p:cNvPr>
          <p:cNvPicPr>
            <a:picLocks noChangeAspect="1"/>
          </p:cNvPicPr>
          <p:nvPr/>
        </p:nvPicPr>
        <p:blipFill>
          <a:blip r:embed="rId6"/>
          <a:stretch>
            <a:fillRect/>
          </a:stretch>
        </p:blipFill>
        <p:spPr>
          <a:xfrm>
            <a:off x="8220456" y="2267712"/>
            <a:ext cx="237744" cy="237744"/>
          </a:xfrm>
          <a:prstGeom prst="rect">
            <a:avLst/>
          </a:prstGeom>
        </p:spPr>
      </p:pic>
      <p:sp>
        <p:nvSpPr>
          <p:cNvPr id="39" name="Text 31"/>
          <p:cNvSpPr txBox="1"/>
          <p:nvPr/>
        </p:nvSpPr>
        <p:spPr>
          <a:xfrm>
            <a:off x="8540496" y="2212848"/>
            <a:ext cx="3017520" cy="457200"/>
          </a:xfrm>
          <a:prstGeom prst="rect">
            <a:avLst/>
          </a:prstGeom>
          <a:noFill/>
          <a:ln/>
        </p:spPr>
        <p:txBody>
          <a:bodyPr wrap="square" lIns="0" tIns="0" rIns="0" bIns="0" rtlCol="0" anchor="t"/>
          <a:lstStyle/>
          <a:p>
            <a:pPr indent="0" marL="0">
              <a:buNone/>
            </a:pPr>
            <a:r>
              <a:rPr lang="en-US" sz="1050" dirty="0">
                <a:solidFill>
                  <a:srgbClr val="334155"/>
                </a:solidFill>
                <a:latin typeface="Inter" pitchFamily="34" charset="0"/>
                <a:ea typeface="Inter" pitchFamily="34" charset="-122"/>
                <a:cs typeface="Inter" pitchFamily="34" charset="-120"/>
              </a:rPr>
              <a:t>The lasting decision framework</a:t>
            </a:r>
            <a:endParaRPr lang="en-US" sz="1050" dirty="0"/>
          </a:p>
        </p:txBody>
      </p:sp>
      <p:pic>
        <p:nvPicPr>
          <p:cNvPr id="40" name="Image 6" descr="preencoded.png">    </p:cNvPr>
          <p:cNvPicPr>
            <a:picLocks noChangeAspect="1"/>
          </p:cNvPicPr>
          <p:nvPr/>
        </p:nvPicPr>
        <p:blipFill>
          <a:blip r:embed="rId7"/>
          <a:stretch>
            <a:fillRect/>
          </a:stretch>
        </p:blipFill>
        <p:spPr>
          <a:xfrm>
            <a:off x="8220456" y="2852928"/>
            <a:ext cx="237744" cy="237744"/>
          </a:xfrm>
          <a:prstGeom prst="rect">
            <a:avLst/>
          </a:prstGeom>
        </p:spPr>
      </p:pic>
      <p:sp>
        <p:nvSpPr>
          <p:cNvPr id="41" name="Text 32"/>
          <p:cNvSpPr txBox="1"/>
          <p:nvPr/>
        </p:nvSpPr>
        <p:spPr>
          <a:xfrm>
            <a:off x="8540496" y="2798064"/>
            <a:ext cx="3017520" cy="822960"/>
          </a:xfrm>
          <a:prstGeom prst="rect">
            <a:avLst/>
          </a:prstGeom>
          <a:noFill/>
          <a:ln/>
        </p:spPr>
        <p:txBody>
          <a:bodyPr wrap="square" lIns="0" tIns="0" rIns="0" bIns="0" rtlCol="0" anchor="t"/>
          <a:lstStyle/>
          <a:p>
            <a:pPr indent="0" marL="0">
              <a:buNone/>
            </a:pPr>
            <a:r>
              <a:rPr lang="en-US" sz="1050" dirty="0">
                <a:solidFill>
                  <a:srgbClr val="334155"/>
                </a:solidFill>
                <a:latin typeface="Inter" pitchFamily="34" charset="0"/>
                <a:ea typeface="Inter" pitchFamily="34" charset="-122"/>
                <a:cs typeface="Inter" pitchFamily="34" charset="-120"/>
              </a:rPr>
              <a:t>Alone: 6–12 months to trust; high change risk</a:t>
            </a:r>
            <a:endParaRPr lang="en-US" sz="1050" dirty="0"/>
          </a:p>
        </p:txBody>
      </p:sp>
      <p:sp>
        <p:nvSpPr>
          <p:cNvPr id="42" name="Shape 33"/>
          <p:cNvSpPr/>
          <p:nvPr/>
        </p:nvSpPr>
        <p:spPr>
          <a:xfrm>
            <a:off x="9697212" y="3913632"/>
            <a:ext cx="329184" cy="329184"/>
          </a:xfrm>
          <a:prstGeom prst="downArrow">
            <a:avLst/>
          </a:prstGeom>
          <a:solidFill>
            <a:srgbClr val="BFDBFE"/>
          </a:solidFill>
          <a:ln w="6350">
            <a:solidFill>
              <a:srgbClr val="BFDBFE"/>
            </a:solidFill>
            <a:prstDash val="solid"/>
          </a:ln>
        </p:spPr>
      </p:sp>
      <p:sp>
        <p:nvSpPr>
          <p:cNvPr id="43" name="Shape 34"/>
          <p:cNvSpPr/>
          <p:nvPr/>
        </p:nvSpPr>
        <p:spPr>
          <a:xfrm>
            <a:off x="8037576" y="4315968"/>
            <a:ext cx="3648456" cy="868680"/>
          </a:xfrm>
          <a:prstGeom prst="roundRect">
            <a:avLst>
              <a:gd name="adj" fmla="val 6316"/>
            </a:avLst>
          </a:prstGeom>
          <a:solidFill>
            <a:srgbClr val="0A1F44"/>
          </a:solidFill>
          <a:ln w="6350">
            <a:solidFill>
              <a:srgbClr val="0A1F44"/>
            </a:solidFill>
            <a:prstDash val="solid"/>
          </a:ln>
        </p:spPr>
      </p:sp>
      <p:sp>
        <p:nvSpPr>
          <p:cNvPr id="44" name="Text 35"/>
          <p:cNvSpPr txBox="1"/>
          <p:nvPr/>
        </p:nvSpPr>
        <p:spPr>
          <a:xfrm>
            <a:off x="8220456" y="4315968"/>
            <a:ext cx="3282696" cy="868680"/>
          </a:xfrm>
          <a:prstGeom prst="rect">
            <a:avLst/>
          </a:prstGeom>
          <a:noFill/>
          <a:ln/>
        </p:spPr>
        <p:txBody>
          <a:bodyPr wrap="square" lIns="0" tIns="0" rIns="0" bIns="0" rtlCol="0" anchor="ctr"/>
          <a:lstStyle/>
          <a:p>
            <a:pPr indent="0" marL="0">
              <a:buNone/>
            </a:pPr>
            <a:r>
              <a:rPr lang="en-US" sz="1500" b="1" dirty="0">
                <a:solidFill>
                  <a:srgbClr val="FFFFFF"/>
                </a:solidFill>
                <a:latin typeface="Inter" pitchFamily="34" charset="0"/>
                <a:ea typeface="Inter" pitchFamily="34" charset="-122"/>
                <a:cs typeface="Inter" pitchFamily="34" charset="-120"/>
              </a:rPr>
              <a:t>Proves it</a:t>
            </a:r>
            <a:endParaRPr lang="en-US" sz="1200" dirty="0"/>
          </a:p>
          <a:p>
            <a:pPr indent="0" marL="0">
              <a:buNone/>
            </a:pPr>
            <a:r>
              <a:rPr lang="en-US" sz="1000" dirty="0">
                <a:solidFill>
                  <a:srgbClr val="DCE7FB"/>
                </a:solidFill>
                <a:latin typeface="Inter" pitchFamily="34" charset="0"/>
                <a:ea typeface="Inter" pitchFamily="34" charset="-122"/>
                <a:cs typeface="Inter" pitchFamily="34" charset="-120"/>
              </a:rPr>
              <a:t>Runs from day 1 and decides every tranche</a:t>
            </a:r>
            <a:endParaRPr lang="en-US" sz="1200" dirty="0"/>
          </a:p>
        </p:txBody>
      </p:sp>
      <p:sp>
        <p:nvSpPr>
          <p:cNvPr id="45" name="Text 36"/>
          <p:cNvSpPr txBox="1"/>
          <p:nvPr/>
        </p:nvSpPr>
        <p:spPr>
          <a:xfrm>
            <a:off x="502920" y="5285232"/>
            <a:ext cx="11183112" cy="329184"/>
          </a:xfrm>
          <a:prstGeom prst="rect">
            <a:avLst/>
          </a:prstGeom>
          <a:noFill/>
          <a:ln/>
        </p:spPr>
        <p:txBody>
          <a:bodyPr wrap="square" lIns="0" tIns="0" rIns="0" bIns="0" rtlCol="0" anchor="t"/>
          <a:lstStyle/>
          <a:p>
            <a:pPr algn="ctr" indent="0" marL="0">
              <a:buNone/>
            </a:pPr>
            <a:r>
              <a:rPr lang="en-US" sz="1100" dirty="0">
                <a:solidFill>
                  <a:srgbClr val="64748B"/>
                </a:solidFill>
                <a:latin typeface="Inter" pitchFamily="34" charset="0"/>
                <a:ea typeface="Inter" pitchFamily="34" charset="-122"/>
                <a:cs typeface="Inter" pitchFamily="34" charset="-120"/>
              </a:rPr>
              <a:t>B gives fast proof, A's owned reach cuts B's signal-loss exposure, and C's holdouts remove the measurement risk of both</a:t>
            </a:r>
            <a:endParaRPr lang="en-US" sz="1100" dirty="0"/>
          </a:p>
        </p:txBody>
      </p:sp>
      <p:sp>
        <p:nvSpPr>
          <p:cNvPr id="46" name="Shape 37"/>
          <p:cNvSpPr/>
          <p:nvPr/>
        </p:nvSpPr>
        <p:spPr>
          <a:xfrm>
            <a:off x="502920" y="5715000"/>
            <a:ext cx="11183112" cy="512064"/>
          </a:xfrm>
          <a:prstGeom prst="roundRect">
            <a:avLst>
              <a:gd name="adj" fmla="val 17857"/>
            </a:avLst>
          </a:prstGeom>
          <a:solidFill>
            <a:srgbClr val="EFF6FF"/>
          </a:solidFill>
          <a:ln w="6350">
            <a:solidFill>
              <a:srgbClr val="EFF6FF"/>
            </a:solidFill>
            <a:prstDash val="solid"/>
          </a:ln>
        </p:spPr>
      </p:sp>
      <p:sp>
        <p:nvSpPr>
          <p:cNvPr id="47" name="Shape 38"/>
          <p:cNvSpPr/>
          <p:nvPr/>
        </p:nvSpPr>
        <p:spPr>
          <a:xfrm>
            <a:off x="640080" y="5806440"/>
            <a:ext cx="329184" cy="329184"/>
          </a:xfrm>
          <a:prstGeom prst="ellipse">
            <a:avLst/>
          </a:prstGeom>
          <a:solidFill>
            <a:srgbClr val="1D4ED8"/>
          </a:solidFill>
          <a:ln w="6350">
            <a:solidFill>
              <a:srgbClr val="1D4ED8"/>
            </a:solidFill>
            <a:prstDash val="solid"/>
          </a:ln>
        </p:spPr>
      </p:sp>
      <p:pic>
        <p:nvPicPr>
          <p:cNvPr id="48" name="Image 7" descr="preencoded.png">    </p:cNvPr>
          <p:cNvPicPr>
            <a:picLocks noChangeAspect="1"/>
          </p:cNvPicPr>
          <p:nvPr/>
        </p:nvPicPr>
        <p:blipFill>
          <a:blip r:embed="rId8"/>
          <a:stretch>
            <a:fillRect/>
          </a:stretch>
        </p:blipFill>
        <p:spPr>
          <a:xfrm>
            <a:off x="712500" y="5878860"/>
            <a:ext cx="184343" cy="184343"/>
          </a:xfrm>
          <a:prstGeom prst="rect">
            <a:avLst/>
          </a:prstGeom>
        </p:spPr>
      </p:pic>
      <p:sp>
        <p:nvSpPr>
          <p:cNvPr id="49" name="Text 39"/>
          <p:cNvSpPr txBox="1"/>
          <p:nvPr/>
        </p:nvSpPr>
        <p:spPr>
          <a:xfrm>
            <a:off x="1097280" y="5715000"/>
            <a:ext cx="10424160" cy="512064"/>
          </a:xfrm>
          <a:prstGeom prst="rect">
            <a:avLst/>
          </a:prstGeom>
          <a:noFill/>
          <a:ln/>
        </p:spPr>
        <p:txBody>
          <a:bodyPr wrap="square" lIns="0" tIns="0" rIns="0" bIns="0" rtlCol="0" anchor="ctr"/>
          <a:lstStyle/>
          <a:p>
            <a:pPr indent="0" marL="0">
              <a:buNone/>
            </a:pPr>
            <a:r>
              <a:rPr lang="en-US" sz="1300" b="1" dirty="0">
                <a:solidFill>
                  <a:srgbClr val="0A1F44"/>
                </a:solidFill>
                <a:latin typeface="Inter" pitchFamily="34" charset="0"/>
                <a:ea typeface="Inter" pitchFamily="34" charset="-122"/>
                <a:cs typeface="Inter" pitchFamily="34" charset="-120"/>
              </a:rPr>
              <a:t>Scale only what beats the CJA holdout; stop anything that doesn't and return to plan</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9326880" cy="841248"/>
          </a:xfrm>
          <a:prstGeom prst="rect">
            <a:avLst/>
          </a:prstGeom>
          <a:noFill/>
          <a:ln/>
        </p:spPr>
        <p:txBody>
          <a:bodyPr wrap="square" lIns="0" tIns="0" rIns="0" bIns="0" rtlCol="0" anchor="ctr"/>
          <a:lstStyle/>
          <a:p>
            <a:pPr indent="0" marL="0">
              <a:buNone/>
            </a:pPr>
            <a:r>
              <a:rPr lang="en-US" sz="2400" b="1" dirty="0">
                <a:solidFill>
                  <a:srgbClr val="0A1F44"/>
                </a:solidFill>
                <a:latin typeface="Inter" pitchFamily="34" charset="0"/>
                <a:ea typeface="Inter" pitchFamily="34" charset="-122"/>
                <a:cs typeface="Inter" pitchFamily="34" charset="-120"/>
              </a:rPr>
              <a:t>Four branches, three levers, one thread</a:t>
            </a:r>
            <a:endParaRPr lang="en-US" sz="2400" dirty="0"/>
          </a:p>
        </p:txBody>
      </p:sp>
      <p:pic>
        <p:nvPicPr>
          <p:cNvPr id="3" name="Image 0" descr="/tmp/claude-0/-home-user-Quince/7efe80ae-a049-50c2-9886-98bf7ca3a04a/scratchpad/assets/quince.png">    </p:cNvPr>
          <p:cNvPicPr>
            <a:picLocks noChangeAspect="1"/>
          </p:cNvPicPr>
          <p:nvPr/>
        </p:nvPicPr>
        <p:blipFill>
          <a:blip r:embed="rId1"/>
          <a:stretch>
            <a:fillRect/>
          </a:stretch>
        </p:blipFill>
        <p:spPr>
          <a:xfrm>
            <a:off x="10236708" y="615544"/>
            <a:ext cx="777240" cy="231951"/>
          </a:xfrm>
          <a:prstGeom prst="rect">
            <a:avLst/>
          </a:prstGeom>
        </p:spPr>
      </p:pic>
      <p:sp>
        <p:nvSpPr>
          <p:cNvPr id="4" name="Shape 1"/>
          <p:cNvSpPr/>
          <p:nvPr/>
        </p:nvSpPr>
        <p:spPr>
          <a:xfrm>
            <a:off x="11155680" y="603504"/>
            <a:ext cx="530352" cy="256032"/>
          </a:xfrm>
          <a:prstGeom prst="roundRect">
            <a:avLst>
              <a:gd name="adj" fmla="val 50000"/>
            </a:avLst>
          </a:prstGeom>
          <a:solidFill>
            <a:srgbClr val="0A1F44"/>
          </a:solidFill>
          <a:ln w="6350">
            <a:solidFill>
              <a:srgbClr val="0A1F44"/>
            </a:solidFill>
            <a:prstDash val="solid"/>
          </a:ln>
        </p:spPr>
      </p:sp>
      <p:sp>
        <p:nvSpPr>
          <p:cNvPr id="5" name="Text 2"/>
          <p:cNvSpPr txBox="1"/>
          <p:nvPr/>
        </p:nvSpPr>
        <p:spPr>
          <a:xfrm>
            <a:off x="11155680" y="603504"/>
            <a:ext cx="530352"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Inter" pitchFamily="34" charset="0"/>
                <a:ea typeface="Inter" pitchFamily="34" charset="-122"/>
                <a:cs typeface="Inter" pitchFamily="34" charset="-120"/>
              </a:rPr>
              <a:t>G27</a:t>
            </a:r>
            <a:endParaRPr lang="en-US" sz="950" dirty="0"/>
          </a:p>
        </p:txBody>
      </p:sp>
      <p:sp>
        <p:nvSpPr>
          <p:cNvPr id="6" name="Shape 3"/>
          <p:cNvSpPr/>
          <p:nvPr/>
        </p:nvSpPr>
        <p:spPr>
          <a:xfrm>
            <a:off x="502920" y="6400800"/>
            <a:ext cx="11183112" cy="0"/>
          </a:xfrm>
          <a:prstGeom prst="line">
            <a:avLst/>
          </a:prstGeom>
          <a:noFill/>
          <a:ln w="9525">
            <a:solidFill>
              <a:srgbClr val="E2E8F0"/>
            </a:solidFill>
            <a:prstDash val="solid"/>
          </a:ln>
        </p:spPr>
      </p:sp>
      <p:sp>
        <p:nvSpPr>
          <p:cNvPr id="7" name="Text 4"/>
          <p:cNvSpPr txBox="1"/>
          <p:nvPr/>
        </p:nvSpPr>
        <p:spPr>
          <a:xfrm>
            <a:off x="502920" y="6464808"/>
            <a:ext cx="9418320" cy="256032"/>
          </a:xfrm>
          <a:prstGeom prst="rect">
            <a:avLst/>
          </a:prstGeom>
          <a:noFill/>
          <a:ln/>
        </p:spPr>
        <p:txBody>
          <a:bodyPr wrap="square" lIns="0" tIns="0" rIns="0" bIns="0" rtlCol="0" anchor="ctr"/>
          <a:lstStyle/>
          <a:p>
            <a:pPr indent="0" marL="0">
              <a:buNone/>
            </a:pPr>
            <a:r>
              <a:rPr lang="en-US" sz="800" dirty="0">
                <a:solidFill>
                  <a:srgbClr val="64748B"/>
                </a:solidFill>
                <a:latin typeface="Inter" pitchFamily="34" charset="0"/>
                <a:ea typeface="Inter" pitchFamily="34" charset="-122"/>
                <a:cs typeface="Inter" pitchFamily="34" charset="-120"/>
              </a:rPr>
              <a:t>Source: team analysis; Adobe CJA panels A1–A6 and A3b; case Exhibits D and G.</a:t>
            </a:r>
            <a:endParaRPr lang="en-US" sz="800" dirty="0"/>
          </a:p>
        </p:txBody>
      </p:sp>
      <p:sp>
        <p:nvSpPr>
          <p:cNvPr id="8" name="Text 5"/>
          <p:cNvSpPr txBox="1"/>
          <p:nvPr/>
        </p:nvSpPr>
        <p:spPr>
          <a:xfrm>
            <a:off x="9966960" y="6464808"/>
            <a:ext cx="1719072" cy="256032"/>
          </a:xfrm>
          <a:prstGeom prst="rect">
            <a:avLst/>
          </a:prstGeom>
          <a:noFill/>
          <a:ln/>
        </p:spPr>
        <p:txBody>
          <a:bodyPr wrap="square" lIns="0" tIns="0" rIns="0" bIns="0" rtlCol="0" anchor="ctr"/>
          <a:lstStyle/>
          <a:p>
            <a:pPr algn="r" indent="0" marL="0">
              <a:buNone/>
            </a:pPr>
            <a:r>
              <a:rPr lang="en-US" sz="800" dirty="0">
                <a:solidFill>
                  <a:srgbClr val="64748B"/>
                </a:solidFill>
                <a:latin typeface="Inter" pitchFamily="34" charset="0"/>
                <a:ea typeface="Inter" pitchFamily="34" charset="-122"/>
                <a:cs typeface="Inter" pitchFamily="34" charset="-120"/>
              </a:rPr>
              <a:t>Team G27  ·  15</a:t>
            </a:r>
            <a:endParaRPr lang="en-US" sz="800" dirty="0"/>
          </a:p>
        </p:txBody>
      </p:sp>
      <p:sp>
        <p:nvSpPr>
          <p:cNvPr id="9" name="Shape 6"/>
          <p:cNvSpPr/>
          <p:nvPr/>
        </p:nvSpPr>
        <p:spPr>
          <a:xfrm>
            <a:off x="502920" y="2606040"/>
            <a:ext cx="2103120" cy="1463040"/>
          </a:xfrm>
          <a:prstGeom prst="roundRect">
            <a:avLst>
              <a:gd name="adj" fmla="val 6250"/>
            </a:avLst>
          </a:prstGeom>
          <a:solidFill>
            <a:srgbClr val="0A1F44"/>
          </a:solidFill>
          <a:ln w="6350">
            <a:solidFill>
              <a:srgbClr val="0A1F44"/>
            </a:solidFill>
            <a:prstDash val="solid"/>
          </a:ln>
        </p:spPr>
      </p:sp>
      <p:sp>
        <p:nvSpPr>
          <p:cNvPr id="10" name="Text 7"/>
          <p:cNvSpPr txBox="1"/>
          <p:nvPr/>
        </p:nvSpPr>
        <p:spPr>
          <a:xfrm>
            <a:off x="640080" y="2651760"/>
            <a:ext cx="1828800" cy="1371600"/>
          </a:xfrm>
          <a:prstGeom prst="rect">
            <a:avLst/>
          </a:prstGeom>
          <a:noFill/>
          <a:ln/>
        </p:spPr>
        <p:txBody>
          <a:bodyPr wrap="square" lIns="0" tIns="0" rIns="0" bIns="0" rtlCol="0" anchor="ctr"/>
          <a:lstStyle/>
          <a:p>
            <a:pPr indent="0" marL="0">
              <a:buNone/>
            </a:pPr>
            <a:r>
              <a:rPr lang="en-US" sz="1200" b="1" dirty="0">
                <a:solidFill>
                  <a:srgbClr val="FFFFFF"/>
                </a:solidFill>
                <a:latin typeface="Inter" pitchFamily="34" charset="0"/>
                <a:ea typeface="Inter" pitchFamily="34" charset="-122"/>
                <a:cs typeface="Inter" pitchFamily="34" charset="-120"/>
              </a:rPr>
              <a:t>Why is 90-day repeat 24% and blended CAC $62 on a fixed $120M?</a:t>
            </a:r>
            <a:endParaRPr lang="en-US" sz="1200" dirty="0"/>
          </a:p>
        </p:txBody>
      </p:sp>
      <p:sp>
        <p:nvSpPr>
          <p:cNvPr id="11" name="Shape 8"/>
          <p:cNvSpPr/>
          <p:nvPr/>
        </p:nvSpPr>
        <p:spPr>
          <a:xfrm>
            <a:off x="2606040" y="3337560"/>
            <a:ext cx="182880" cy="0"/>
          </a:xfrm>
          <a:prstGeom prst="line">
            <a:avLst/>
          </a:prstGeom>
          <a:noFill/>
          <a:ln w="15875">
            <a:solidFill>
              <a:srgbClr val="94A3B8"/>
            </a:solidFill>
            <a:prstDash val="solid"/>
          </a:ln>
        </p:spPr>
      </p:sp>
      <p:sp>
        <p:nvSpPr>
          <p:cNvPr id="12" name="Shape 9"/>
          <p:cNvSpPr/>
          <p:nvPr/>
        </p:nvSpPr>
        <p:spPr>
          <a:xfrm>
            <a:off x="2788920" y="1810512"/>
            <a:ext cx="0" cy="3346704"/>
          </a:xfrm>
          <a:prstGeom prst="line">
            <a:avLst/>
          </a:prstGeom>
          <a:noFill/>
          <a:ln w="15875">
            <a:solidFill>
              <a:srgbClr val="94A3B8"/>
            </a:solidFill>
            <a:prstDash val="solid"/>
          </a:ln>
        </p:spPr>
      </p:sp>
      <p:sp>
        <p:nvSpPr>
          <p:cNvPr id="13" name="Shape 10"/>
          <p:cNvSpPr/>
          <p:nvPr/>
        </p:nvSpPr>
        <p:spPr>
          <a:xfrm>
            <a:off x="2788920" y="1810512"/>
            <a:ext cx="228600" cy="0"/>
          </a:xfrm>
          <a:prstGeom prst="line">
            <a:avLst/>
          </a:prstGeom>
          <a:noFill/>
          <a:ln w="15875">
            <a:solidFill>
              <a:srgbClr val="94A3B8"/>
            </a:solidFill>
            <a:prstDash val="solid"/>
            <a:tailEnd type="triangle"/>
          </a:ln>
        </p:spPr>
      </p:sp>
      <p:sp>
        <p:nvSpPr>
          <p:cNvPr id="14" name="Shape 11"/>
          <p:cNvSpPr/>
          <p:nvPr/>
        </p:nvSpPr>
        <p:spPr>
          <a:xfrm>
            <a:off x="3017520" y="1371600"/>
            <a:ext cx="1828800" cy="877824"/>
          </a:xfrm>
          <a:prstGeom prst="roundRect">
            <a:avLst>
              <a:gd name="adj" fmla="val 8333"/>
            </a:avLst>
          </a:prstGeom>
          <a:solidFill>
            <a:srgbClr val="1D4ED8"/>
          </a:solidFill>
          <a:ln/>
        </p:spPr>
      </p:sp>
      <p:sp>
        <p:nvSpPr>
          <p:cNvPr id="15" name="Text 12"/>
          <p:cNvSpPr txBox="1"/>
          <p:nvPr/>
        </p:nvSpPr>
        <p:spPr>
          <a:xfrm>
            <a:off x="3127248" y="1371600"/>
            <a:ext cx="1645920" cy="877824"/>
          </a:xfrm>
          <a:prstGeom prst="rect">
            <a:avLst/>
          </a:prstGeom>
          <a:noFill/>
          <a:ln/>
        </p:spPr>
        <p:txBody>
          <a:bodyPr wrap="square" lIns="0" tIns="0" rIns="0" bIns="0" rtlCol="0" anchor="ctr"/>
          <a:lstStyle/>
          <a:p>
            <a:pPr indent="0" marL="0">
              <a:buNone/>
            </a:pPr>
            <a:r>
              <a:rPr lang="en-US" sz="1300" b="1" dirty="0">
                <a:solidFill>
                  <a:srgbClr val="FFFFFF"/>
                </a:solidFill>
                <a:latin typeface="Inter" pitchFamily="34" charset="0"/>
                <a:ea typeface="Inter" pitchFamily="34" charset="-122"/>
                <a:cs typeface="Inter" pitchFamily="34" charset="-120"/>
              </a:rPr>
              <a:t>Money</a:t>
            </a:r>
            <a:endParaRPr lang="en-US" sz="1300" dirty="0"/>
          </a:p>
        </p:txBody>
      </p:sp>
      <p:sp>
        <p:nvSpPr>
          <p:cNvPr id="16" name="Shape 13"/>
          <p:cNvSpPr/>
          <p:nvPr/>
        </p:nvSpPr>
        <p:spPr>
          <a:xfrm>
            <a:off x="4846320" y="1810512"/>
            <a:ext cx="320040" cy="0"/>
          </a:xfrm>
          <a:prstGeom prst="line">
            <a:avLst/>
          </a:prstGeom>
          <a:noFill/>
          <a:ln w="15875">
            <a:solidFill>
              <a:srgbClr val="94A3B8"/>
            </a:solidFill>
            <a:prstDash val="solid"/>
            <a:tailEnd type="triangle"/>
          </a:ln>
        </p:spPr>
      </p:sp>
      <p:sp>
        <p:nvSpPr>
          <p:cNvPr id="17" name="Shape 14"/>
          <p:cNvSpPr/>
          <p:nvPr/>
        </p:nvSpPr>
        <p:spPr>
          <a:xfrm>
            <a:off x="5166360" y="1371600"/>
            <a:ext cx="3886200" cy="877824"/>
          </a:xfrm>
          <a:prstGeom prst="roundRect">
            <a:avLst>
              <a:gd name="adj" fmla="val 8333"/>
            </a:avLst>
          </a:prstGeom>
          <a:solidFill>
            <a:srgbClr val="F8FAFC"/>
          </a:solidFill>
          <a:ln w="9525">
            <a:solidFill>
              <a:srgbClr val="E2E8F0"/>
            </a:solidFill>
            <a:prstDash val="solid"/>
          </a:ln>
        </p:spPr>
      </p:sp>
      <p:sp>
        <p:nvSpPr>
          <p:cNvPr id="18" name="Text 15"/>
          <p:cNvSpPr txBox="1"/>
          <p:nvPr/>
        </p:nvSpPr>
        <p:spPr>
          <a:xfrm>
            <a:off x="5303520" y="1463040"/>
            <a:ext cx="3657600" cy="292608"/>
          </a:xfrm>
          <a:prstGeom prst="rect">
            <a:avLst/>
          </a:prstGeom>
          <a:noFill/>
          <a:ln/>
        </p:spPr>
        <p:txBody>
          <a:bodyPr wrap="square" lIns="0" tIns="0" rIns="0" bIns="0" rtlCol="0" anchor="t"/>
          <a:lstStyle/>
          <a:p>
            <a:pPr indent="0" marL="0">
              <a:buNone/>
            </a:pPr>
            <a:r>
              <a:rPr lang="en-US" sz="1200" b="1" dirty="0">
                <a:solidFill>
                  <a:srgbClr val="0F172A"/>
                </a:solidFill>
                <a:latin typeface="Inter" pitchFamily="34" charset="0"/>
                <a:ea typeface="Inter" pitchFamily="34" charset="-122"/>
                <a:cs typeface="Inter" pitchFamily="34" charset="-120"/>
              </a:rPr>
              <a:t>Spend may pay for demand that comes anyway</a:t>
            </a:r>
            <a:endParaRPr lang="en-US" sz="1200" dirty="0"/>
          </a:p>
        </p:txBody>
      </p:sp>
      <p:sp>
        <p:nvSpPr>
          <p:cNvPr id="19" name="Text 16"/>
          <p:cNvSpPr txBox="1"/>
          <p:nvPr/>
        </p:nvSpPr>
        <p:spPr>
          <a:xfrm>
            <a:off x="5303520" y="1773936"/>
            <a:ext cx="3657600" cy="384048"/>
          </a:xfrm>
          <a:prstGeom prst="rect">
            <a:avLst/>
          </a:prstGeom>
          <a:noFill/>
          <a:ln/>
        </p:spPr>
        <p:txBody>
          <a:bodyPr wrap="square" lIns="0" tIns="0" rIns="0" bIns="0" rtlCol="0" anchor="t"/>
          <a:lstStyle/>
          <a:p>
            <a:pPr indent="0" marL="0">
              <a:buNone/>
            </a:pPr>
            <a:r>
              <a:rPr lang="en-US" sz="1000" dirty="0">
                <a:solidFill>
                  <a:srgbClr val="334155"/>
                </a:solidFill>
                <a:latin typeface="Inter" pitchFamily="34" charset="0"/>
                <a:ea typeface="Inter" pitchFamily="34" charset="-122"/>
                <a:cs typeface="Inter" pitchFamily="34" charset="-120"/>
              </a:rPr>
              <a:t>Retargeted buyers repeat no better than organic: 23.0% vs 23.4% (A3b); a holdout will tell</a:t>
            </a:r>
            <a:endParaRPr lang="en-US" sz="1000" dirty="0"/>
          </a:p>
        </p:txBody>
      </p:sp>
      <p:sp>
        <p:nvSpPr>
          <p:cNvPr id="20" name="Shape 17"/>
          <p:cNvSpPr/>
          <p:nvPr/>
        </p:nvSpPr>
        <p:spPr>
          <a:xfrm>
            <a:off x="9144000" y="1673352"/>
            <a:ext cx="365760" cy="274320"/>
          </a:xfrm>
          <a:prstGeom prst="rightArrow">
            <a:avLst/>
          </a:prstGeom>
          <a:solidFill>
            <a:srgbClr val="BFDBFE"/>
          </a:solidFill>
          <a:ln w="6350">
            <a:solidFill>
              <a:srgbClr val="BFDBFE"/>
            </a:solidFill>
            <a:prstDash val="solid"/>
          </a:ln>
        </p:spPr>
      </p:sp>
      <p:sp>
        <p:nvSpPr>
          <p:cNvPr id="21" name="Shape 18"/>
          <p:cNvSpPr/>
          <p:nvPr/>
        </p:nvSpPr>
        <p:spPr>
          <a:xfrm>
            <a:off x="9601200" y="1517904"/>
            <a:ext cx="2084832" cy="585216"/>
          </a:xfrm>
          <a:prstGeom prst="roundRect">
            <a:avLst>
              <a:gd name="adj" fmla="val 50000"/>
            </a:avLst>
          </a:prstGeom>
          <a:solidFill>
            <a:srgbClr val="FFFFFF"/>
          </a:solidFill>
          <a:ln w="15875">
            <a:solidFill>
              <a:srgbClr val="1D4ED8"/>
            </a:solidFill>
            <a:prstDash val="solid"/>
          </a:ln>
        </p:spPr>
      </p:sp>
      <p:sp>
        <p:nvSpPr>
          <p:cNvPr id="22" name="Text 19"/>
          <p:cNvSpPr txBox="1"/>
          <p:nvPr/>
        </p:nvSpPr>
        <p:spPr>
          <a:xfrm>
            <a:off x="9601200" y="1517904"/>
            <a:ext cx="2084832" cy="585216"/>
          </a:xfrm>
          <a:prstGeom prst="rect">
            <a:avLst/>
          </a:prstGeom>
          <a:noFill/>
          <a:ln/>
        </p:spPr>
        <p:txBody>
          <a:bodyPr wrap="square" lIns="0" tIns="0" rIns="0" bIns="0" rtlCol="0" anchor="ctr"/>
          <a:lstStyle/>
          <a:p>
            <a:pPr algn="ctr" indent="0" marL="0">
              <a:buNone/>
            </a:pPr>
            <a:r>
              <a:rPr lang="en-US" sz="1100" b="1" dirty="0">
                <a:solidFill>
                  <a:srgbClr val="1D4ED8"/>
                </a:solidFill>
                <a:latin typeface="Inter" pitchFamily="34" charset="0"/>
                <a:ea typeface="Inter" pitchFamily="34" charset="-122"/>
                <a:cs typeface="Inter" pitchFamily="34" charset="-120"/>
              </a:rPr>
              <a:t>Never pay twice</a:t>
            </a:r>
            <a:endParaRPr lang="en-US" sz="1100" dirty="0"/>
          </a:p>
        </p:txBody>
      </p:sp>
      <p:sp>
        <p:nvSpPr>
          <p:cNvPr id="23" name="Shape 20"/>
          <p:cNvSpPr/>
          <p:nvPr/>
        </p:nvSpPr>
        <p:spPr>
          <a:xfrm>
            <a:off x="2788920" y="2926080"/>
            <a:ext cx="228600" cy="0"/>
          </a:xfrm>
          <a:prstGeom prst="line">
            <a:avLst/>
          </a:prstGeom>
          <a:noFill/>
          <a:ln w="15875">
            <a:solidFill>
              <a:srgbClr val="94A3B8"/>
            </a:solidFill>
            <a:prstDash val="solid"/>
            <a:tailEnd type="triangle"/>
          </a:ln>
        </p:spPr>
      </p:sp>
      <p:sp>
        <p:nvSpPr>
          <p:cNvPr id="24" name="Shape 21"/>
          <p:cNvSpPr/>
          <p:nvPr/>
        </p:nvSpPr>
        <p:spPr>
          <a:xfrm>
            <a:off x="3017520" y="2487168"/>
            <a:ext cx="1828800" cy="877824"/>
          </a:xfrm>
          <a:prstGeom prst="roundRect">
            <a:avLst>
              <a:gd name="adj" fmla="val 8333"/>
            </a:avLst>
          </a:prstGeom>
          <a:solidFill>
            <a:srgbClr val="1D4ED8"/>
          </a:solidFill>
          <a:ln/>
        </p:spPr>
      </p:sp>
      <p:sp>
        <p:nvSpPr>
          <p:cNvPr id="25" name="Text 22"/>
          <p:cNvSpPr txBox="1"/>
          <p:nvPr/>
        </p:nvSpPr>
        <p:spPr>
          <a:xfrm>
            <a:off x="3127248" y="2487168"/>
            <a:ext cx="1645920" cy="877824"/>
          </a:xfrm>
          <a:prstGeom prst="rect">
            <a:avLst/>
          </a:prstGeom>
          <a:noFill/>
          <a:ln/>
        </p:spPr>
        <p:txBody>
          <a:bodyPr wrap="square" lIns="0" tIns="0" rIns="0" bIns="0" rtlCol="0" anchor="ctr"/>
          <a:lstStyle/>
          <a:p>
            <a:pPr indent="0" marL="0">
              <a:buNone/>
            </a:pPr>
            <a:r>
              <a:rPr lang="en-US" sz="1300" b="1" dirty="0">
                <a:solidFill>
                  <a:srgbClr val="FFFFFF"/>
                </a:solidFill>
                <a:latin typeface="Inter" pitchFamily="34" charset="0"/>
                <a:ea typeface="Inter" pitchFamily="34" charset="-122"/>
                <a:cs typeface="Inter" pitchFamily="34" charset="-120"/>
              </a:rPr>
              <a:t>Customer mind</a:t>
            </a:r>
            <a:endParaRPr lang="en-US" sz="1300" dirty="0"/>
          </a:p>
        </p:txBody>
      </p:sp>
      <p:sp>
        <p:nvSpPr>
          <p:cNvPr id="26" name="Shape 23"/>
          <p:cNvSpPr/>
          <p:nvPr/>
        </p:nvSpPr>
        <p:spPr>
          <a:xfrm>
            <a:off x="4846320" y="2926080"/>
            <a:ext cx="320040" cy="0"/>
          </a:xfrm>
          <a:prstGeom prst="line">
            <a:avLst/>
          </a:prstGeom>
          <a:noFill/>
          <a:ln w="15875">
            <a:solidFill>
              <a:srgbClr val="94A3B8"/>
            </a:solidFill>
            <a:prstDash val="solid"/>
            <a:tailEnd type="triangle"/>
          </a:ln>
        </p:spPr>
      </p:sp>
      <p:sp>
        <p:nvSpPr>
          <p:cNvPr id="27" name="Shape 24"/>
          <p:cNvSpPr/>
          <p:nvPr/>
        </p:nvSpPr>
        <p:spPr>
          <a:xfrm>
            <a:off x="5166360" y="2487168"/>
            <a:ext cx="3886200" cy="877824"/>
          </a:xfrm>
          <a:prstGeom prst="roundRect">
            <a:avLst>
              <a:gd name="adj" fmla="val 8333"/>
            </a:avLst>
          </a:prstGeom>
          <a:solidFill>
            <a:srgbClr val="F8FAFC"/>
          </a:solidFill>
          <a:ln w="9525">
            <a:solidFill>
              <a:srgbClr val="E2E8F0"/>
            </a:solidFill>
            <a:prstDash val="solid"/>
          </a:ln>
        </p:spPr>
      </p:sp>
      <p:sp>
        <p:nvSpPr>
          <p:cNvPr id="28" name="Text 25"/>
          <p:cNvSpPr txBox="1"/>
          <p:nvPr/>
        </p:nvSpPr>
        <p:spPr>
          <a:xfrm>
            <a:off x="5303520" y="2578608"/>
            <a:ext cx="3657600" cy="292608"/>
          </a:xfrm>
          <a:prstGeom prst="rect">
            <a:avLst/>
          </a:prstGeom>
          <a:noFill/>
          <a:ln/>
        </p:spPr>
        <p:txBody>
          <a:bodyPr wrap="square" lIns="0" tIns="0" rIns="0" bIns="0" rtlCol="0" anchor="t"/>
          <a:lstStyle/>
          <a:p>
            <a:pPr indent="0" marL="0">
              <a:buNone/>
            </a:pPr>
            <a:r>
              <a:rPr lang="en-US" sz="1200" b="1" dirty="0">
                <a:solidFill>
                  <a:srgbClr val="0F172A"/>
                </a:solidFill>
                <a:latin typeface="Inter" pitchFamily="34" charset="0"/>
                <a:ea typeface="Inter" pitchFamily="34" charset="-122"/>
                <a:cs typeface="Inter" pitchFamily="34" charset="-120"/>
              </a:rPr>
              <a:t>One-product buyers</a:t>
            </a:r>
            <a:endParaRPr lang="en-US" sz="1200" dirty="0"/>
          </a:p>
        </p:txBody>
      </p:sp>
      <p:sp>
        <p:nvSpPr>
          <p:cNvPr id="29" name="Text 26"/>
          <p:cNvSpPr txBox="1"/>
          <p:nvPr/>
        </p:nvSpPr>
        <p:spPr>
          <a:xfrm>
            <a:off x="5303520" y="2889504"/>
            <a:ext cx="3657600" cy="384048"/>
          </a:xfrm>
          <a:prstGeom prst="rect">
            <a:avLst/>
          </a:prstGeom>
          <a:noFill/>
          <a:ln/>
        </p:spPr>
        <p:txBody>
          <a:bodyPr wrap="square" lIns="0" tIns="0" rIns="0" bIns="0" rtlCol="0" anchor="t"/>
          <a:lstStyle/>
          <a:p>
            <a:pPr indent="0" marL="0">
              <a:buNone/>
            </a:pPr>
            <a:r>
              <a:rPr lang="en-US" sz="1000" dirty="0">
                <a:solidFill>
                  <a:srgbClr val="334155"/>
                </a:solidFill>
                <a:latin typeface="Inter" pitchFamily="34" charset="0"/>
                <a:ea typeface="Inter" pitchFamily="34" charset="-122"/>
                <a:cs typeface="Inter" pitchFamily="34" charset="-120"/>
              </a:rPr>
              <a:t>Cashmere is touched by 40.7% of buyers but repeats 13.7% (A6)</a:t>
            </a:r>
            <a:endParaRPr lang="en-US" sz="1000" dirty="0"/>
          </a:p>
        </p:txBody>
      </p:sp>
      <p:sp>
        <p:nvSpPr>
          <p:cNvPr id="30" name="Shape 27"/>
          <p:cNvSpPr/>
          <p:nvPr/>
        </p:nvSpPr>
        <p:spPr>
          <a:xfrm>
            <a:off x="9144000" y="2788920"/>
            <a:ext cx="365760" cy="274320"/>
          </a:xfrm>
          <a:prstGeom prst="rightArrow">
            <a:avLst/>
          </a:prstGeom>
          <a:solidFill>
            <a:srgbClr val="BFDBFE"/>
          </a:solidFill>
          <a:ln w="6350">
            <a:solidFill>
              <a:srgbClr val="BFDBFE"/>
            </a:solidFill>
            <a:prstDash val="solid"/>
          </a:ln>
        </p:spPr>
      </p:sp>
      <p:sp>
        <p:nvSpPr>
          <p:cNvPr id="31" name="Shape 28"/>
          <p:cNvSpPr/>
          <p:nvPr/>
        </p:nvSpPr>
        <p:spPr>
          <a:xfrm>
            <a:off x="9601200" y="2633472"/>
            <a:ext cx="2084832" cy="585216"/>
          </a:xfrm>
          <a:prstGeom prst="roundRect">
            <a:avLst>
              <a:gd name="adj" fmla="val 50000"/>
            </a:avLst>
          </a:prstGeom>
          <a:solidFill>
            <a:srgbClr val="FFFFFF"/>
          </a:solidFill>
          <a:ln w="15875">
            <a:solidFill>
              <a:srgbClr val="1D4ED8"/>
            </a:solidFill>
            <a:prstDash val="solid"/>
          </a:ln>
        </p:spPr>
      </p:sp>
      <p:sp>
        <p:nvSpPr>
          <p:cNvPr id="32" name="Text 29"/>
          <p:cNvSpPr txBox="1"/>
          <p:nvPr/>
        </p:nvSpPr>
        <p:spPr>
          <a:xfrm>
            <a:off x="9601200" y="2633472"/>
            <a:ext cx="2084832" cy="585216"/>
          </a:xfrm>
          <a:prstGeom prst="rect">
            <a:avLst/>
          </a:prstGeom>
          <a:noFill/>
          <a:ln/>
        </p:spPr>
        <p:txBody>
          <a:bodyPr wrap="square" lIns="0" tIns="0" rIns="0" bIns="0" rtlCol="0" anchor="ctr"/>
          <a:lstStyle/>
          <a:p>
            <a:pPr algn="ctr" indent="0" marL="0">
              <a:buNone/>
            </a:pPr>
            <a:r>
              <a:rPr lang="en-US" sz="1100" b="1" dirty="0">
                <a:solidFill>
                  <a:srgbClr val="1D4ED8"/>
                </a:solidFill>
                <a:latin typeface="Inter" pitchFamily="34" charset="0"/>
                <a:ea typeface="Inter" pitchFamily="34" charset="-122"/>
                <a:cs typeface="Inter" pitchFamily="34" charset="-120"/>
              </a:rPr>
              <a:t>Win the Golden Month</a:t>
            </a:r>
            <a:endParaRPr lang="en-US" sz="1100" dirty="0"/>
          </a:p>
        </p:txBody>
      </p:sp>
      <p:sp>
        <p:nvSpPr>
          <p:cNvPr id="33" name="Shape 30"/>
          <p:cNvSpPr/>
          <p:nvPr/>
        </p:nvSpPr>
        <p:spPr>
          <a:xfrm>
            <a:off x="2788920" y="4041648"/>
            <a:ext cx="228600" cy="0"/>
          </a:xfrm>
          <a:prstGeom prst="line">
            <a:avLst/>
          </a:prstGeom>
          <a:noFill/>
          <a:ln w="15875">
            <a:solidFill>
              <a:srgbClr val="94A3B8"/>
            </a:solidFill>
            <a:prstDash val="solid"/>
            <a:tailEnd type="triangle"/>
          </a:ln>
        </p:spPr>
      </p:sp>
      <p:sp>
        <p:nvSpPr>
          <p:cNvPr id="34" name="Shape 31"/>
          <p:cNvSpPr/>
          <p:nvPr/>
        </p:nvSpPr>
        <p:spPr>
          <a:xfrm>
            <a:off x="3017520" y="3602736"/>
            <a:ext cx="1828800" cy="877824"/>
          </a:xfrm>
          <a:prstGeom prst="roundRect">
            <a:avLst>
              <a:gd name="adj" fmla="val 8333"/>
            </a:avLst>
          </a:prstGeom>
          <a:solidFill>
            <a:srgbClr val="1D4ED8"/>
          </a:solidFill>
          <a:ln/>
        </p:spPr>
      </p:sp>
      <p:sp>
        <p:nvSpPr>
          <p:cNvPr id="35" name="Text 32"/>
          <p:cNvSpPr txBox="1"/>
          <p:nvPr/>
        </p:nvSpPr>
        <p:spPr>
          <a:xfrm>
            <a:off x="3127248" y="3602736"/>
            <a:ext cx="1645920" cy="877824"/>
          </a:xfrm>
          <a:prstGeom prst="rect">
            <a:avLst/>
          </a:prstGeom>
          <a:noFill/>
          <a:ln/>
        </p:spPr>
        <p:txBody>
          <a:bodyPr wrap="square" lIns="0" tIns="0" rIns="0" bIns="0" rtlCol="0" anchor="ctr"/>
          <a:lstStyle/>
          <a:p>
            <a:pPr indent="0" marL="0">
              <a:buNone/>
            </a:pPr>
            <a:r>
              <a:rPr lang="en-US" sz="1300" b="1" dirty="0">
                <a:solidFill>
                  <a:srgbClr val="FFFFFF"/>
                </a:solidFill>
                <a:latin typeface="Inter" pitchFamily="34" charset="0"/>
                <a:ea typeface="Inter" pitchFamily="34" charset="-122"/>
                <a:cs typeface="Inter" pitchFamily="34" charset="-120"/>
              </a:rPr>
              <a:t>Customer journey</a:t>
            </a:r>
            <a:endParaRPr lang="en-US" sz="1300" dirty="0"/>
          </a:p>
        </p:txBody>
      </p:sp>
      <p:sp>
        <p:nvSpPr>
          <p:cNvPr id="36" name="Shape 33"/>
          <p:cNvSpPr/>
          <p:nvPr/>
        </p:nvSpPr>
        <p:spPr>
          <a:xfrm>
            <a:off x="4846320" y="4041648"/>
            <a:ext cx="320040" cy="0"/>
          </a:xfrm>
          <a:prstGeom prst="line">
            <a:avLst/>
          </a:prstGeom>
          <a:noFill/>
          <a:ln w="15875">
            <a:solidFill>
              <a:srgbClr val="94A3B8"/>
            </a:solidFill>
            <a:prstDash val="solid"/>
            <a:tailEnd type="triangle"/>
          </a:ln>
        </p:spPr>
      </p:sp>
      <p:sp>
        <p:nvSpPr>
          <p:cNvPr id="37" name="Shape 34"/>
          <p:cNvSpPr/>
          <p:nvPr/>
        </p:nvSpPr>
        <p:spPr>
          <a:xfrm>
            <a:off x="5166360" y="3602736"/>
            <a:ext cx="3886200" cy="877824"/>
          </a:xfrm>
          <a:prstGeom prst="roundRect">
            <a:avLst>
              <a:gd name="adj" fmla="val 8333"/>
            </a:avLst>
          </a:prstGeom>
          <a:solidFill>
            <a:srgbClr val="F8FAFC"/>
          </a:solidFill>
          <a:ln w="9525">
            <a:solidFill>
              <a:srgbClr val="E2E8F0"/>
            </a:solidFill>
            <a:prstDash val="solid"/>
          </a:ln>
        </p:spPr>
      </p:sp>
      <p:sp>
        <p:nvSpPr>
          <p:cNvPr id="38" name="Text 35"/>
          <p:cNvSpPr txBox="1"/>
          <p:nvPr/>
        </p:nvSpPr>
        <p:spPr>
          <a:xfrm>
            <a:off x="5303520" y="3694176"/>
            <a:ext cx="3657600" cy="292608"/>
          </a:xfrm>
          <a:prstGeom prst="rect">
            <a:avLst/>
          </a:prstGeom>
          <a:noFill/>
          <a:ln/>
        </p:spPr>
        <p:txBody>
          <a:bodyPr wrap="square" lIns="0" tIns="0" rIns="0" bIns="0" rtlCol="0" anchor="t"/>
          <a:lstStyle/>
          <a:p>
            <a:pPr indent="0" marL="0">
              <a:buNone/>
            </a:pPr>
            <a:r>
              <a:rPr lang="en-US" sz="1200" b="1" dirty="0">
                <a:solidFill>
                  <a:srgbClr val="0F172A"/>
                </a:solidFill>
                <a:latin typeface="Inter" pitchFamily="34" charset="0"/>
                <a:ea typeface="Inter" pitchFamily="34" charset="-122"/>
                <a:cs typeface="Inter" pitchFamily="34" charset="-120"/>
              </a:rPr>
              <a:t>The purchase leaks</a:t>
            </a:r>
            <a:endParaRPr lang="en-US" sz="1200" dirty="0"/>
          </a:p>
        </p:txBody>
      </p:sp>
      <p:sp>
        <p:nvSpPr>
          <p:cNvPr id="39" name="Text 36"/>
          <p:cNvSpPr txBox="1"/>
          <p:nvPr/>
        </p:nvSpPr>
        <p:spPr>
          <a:xfrm>
            <a:off x="5303520" y="4005072"/>
            <a:ext cx="3657600" cy="384048"/>
          </a:xfrm>
          <a:prstGeom prst="rect">
            <a:avLst/>
          </a:prstGeom>
          <a:noFill/>
          <a:ln/>
        </p:spPr>
        <p:txBody>
          <a:bodyPr wrap="square" lIns="0" tIns="0" rIns="0" bIns="0" rtlCol="0" anchor="t"/>
          <a:lstStyle/>
          <a:p>
            <a:pPr indent="0" marL="0">
              <a:buNone/>
            </a:pPr>
            <a:r>
              <a:rPr lang="en-US" sz="1000" dirty="0">
                <a:solidFill>
                  <a:srgbClr val="334155"/>
                </a:solidFill>
                <a:latin typeface="Inter" pitchFamily="34" charset="0"/>
                <a:ea typeface="Inter" pitchFamily="34" charset="-122"/>
                <a:cs typeface="Inter" pitchFamily="34" charset="-120"/>
              </a:rPr>
              <a:t>77% of cart adders never order; 1 of ~5,500 cart paths stopping before checkout gets an email (A1, A4)</a:t>
            </a:r>
            <a:endParaRPr lang="en-US" sz="1000" dirty="0"/>
          </a:p>
        </p:txBody>
      </p:sp>
      <p:sp>
        <p:nvSpPr>
          <p:cNvPr id="40" name="Shape 37"/>
          <p:cNvSpPr/>
          <p:nvPr/>
        </p:nvSpPr>
        <p:spPr>
          <a:xfrm>
            <a:off x="9144000" y="3904488"/>
            <a:ext cx="365760" cy="274320"/>
          </a:xfrm>
          <a:prstGeom prst="rightArrow">
            <a:avLst/>
          </a:prstGeom>
          <a:solidFill>
            <a:srgbClr val="BFDBFE"/>
          </a:solidFill>
          <a:ln w="6350">
            <a:solidFill>
              <a:srgbClr val="BFDBFE"/>
            </a:solidFill>
            <a:prstDash val="solid"/>
          </a:ln>
        </p:spPr>
      </p:sp>
      <p:sp>
        <p:nvSpPr>
          <p:cNvPr id="41" name="Shape 38"/>
          <p:cNvSpPr/>
          <p:nvPr/>
        </p:nvSpPr>
        <p:spPr>
          <a:xfrm>
            <a:off x="9601200" y="3749040"/>
            <a:ext cx="2084832" cy="585216"/>
          </a:xfrm>
          <a:prstGeom prst="roundRect">
            <a:avLst>
              <a:gd name="adj" fmla="val 50000"/>
            </a:avLst>
          </a:prstGeom>
          <a:solidFill>
            <a:srgbClr val="FFFFFF"/>
          </a:solidFill>
          <a:ln w="15875">
            <a:solidFill>
              <a:srgbClr val="1D4ED8"/>
            </a:solidFill>
            <a:prstDash val="solid"/>
          </a:ln>
        </p:spPr>
      </p:sp>
      <p:sp>
        <p:nvSpPr>
          <p:cNvPr id="42" name="Text 39"/>
          <p:cNvSpPr txBox="1"/>
          <p:nvPr/>
        </p:nvSpPr>
        <p:spPr>
          <a:xfrm>
            <a:off x="9601200" y="3749040"/>
            <a:ext cx="2084832" cy="585216"/>
          </a:xfrm>
          <a:prstGeom prst="rect">
            <a:avLst/>
          </a:prstGeom>
          <a:noFill/>
          <a:ln/>
        </p:spPr>
        <p:txBody>
          <a:bodyPr wrap="square" lIns="0" tIns="0" rIns="0" bIns="0" rtlCol="0" anchor="ctr"/>
          <a:lstStyle/>
          <a:p>
            <a:pPr algn="ctr" indent="0" marL="0">
              <a:buNone/>
            </a:pPr>
            <a:r>
              <a:rPr lang="en-US" sz="1100" b="1" dirty="0">
                <a:solidFill>
                  <a:srgbClr val="1D4ED8"/>
                </a:solidFill>
                <a:latin typeface="Inter" pitchFamily="34" charset="0"/>
                <a:ea typeface="Inter" pitchFamily="34" charset="-122"/>
                <a:cs typeface="Inter" pitchFamily="34" charset="-120"/>
              </a:rPr>
              <a:t>Capture every buyer</a:t>
            </a:r>
            <a:endParaRPr lang="en-US" sz="1100" dirty="0"/>
          </a:p>
        </p:txBody>
      </p:sp>
      <p:sp>
        <p:nvSpPr>
          <p:cNvPr id="43" name="Shape 40"/>
          <p:cNvSpPr/>
          <p:nvPr/>
        </p:nvSpPr>
        <p:spPr>
          <a:xfrm>
            <a:off x="2788920" y="5157216"/>
            <a:ext cx="228600" cy="0"/>
          </a:xfrm>
          <a:prstGeom prst="line">
            <a:avLst/>
          </a:prstGeom>
          <a:noFill/>
          <a:ln w="15875">
            <a:solidFill>
              <a:srgbClr val="94A3B8"/>
            </a:solidFill>
            <a:prstDash val="solid"/>
            <a:tailEnd type="triangle"/>
          </a:ln>
        </p:spPr>
      </p:sp>
      <p:sp>
        <p:nvSpPr>
          <p:cNvPr id="44" name="Shape 41"/>
          <p:cNvSpPr/>
          <p:nvPr/>
        </p:nvSpPr>
        <p:spPr>
          <a:xfrm>
            <a:off x="3017520" y="4718304"/>
            <a:ext cx="1828800" cy="877824"/>
          </a:xfrm>
          <a:prstGeom prst="roundRect">
            <a:avLst>
              <a:gd name="adj" fmla="val 8333"/>
            </a:avLst>
          </a:prstGeom>
          <a:solidFill>
            <a:srgbClr val="EFF6FF"/>
          </a:solidFill>
          <a:ln w="12700">
            <a:solidFill>
              <a:srgbClr val="1D4ED8"/>
            </a:solidFill>
            <a:prstDash val="dash"/>
          </a:ln>
        </p:spPr>
      </p:sp>
      <p:sp>
        <p:nvSpPr>
          <p:cNvPr id="45" name="Text 42"/>
          <p:cNvSpPr txBox="1"/>
          <p:nvPr/>
        </p:nvSpPr>
        <p:spPr>
          <a:xfrm>
            <a:off x="3127248" y="4718304"/>
            <a:ext cx="1645920" cy="877824"/>
          </a:xfrm>
          <a:prstGeom prst="rect">
            <a:avLst/>
          </a:prstGeom>
          <a:noFill/>
          <a:ln/>
        </p:spPr>
        <p:txBody>
          <a:bodyPr wrap="square" lIns="0" tIns="0" rIns="0" bIns="0" rtlCol="0" anchor="ctr"/>
          <a:lstStyle/>
          <a:p>
            <a:pPr indent="0" marL="0">
              <a:buNone/>
            </a:pPr>
            <a:r>
              <a:rPr lang="en-US" sz="1300" b="1" dirty="0">
                <a:solidFill>
                  <a:srgbClr val="1D4ED8"/>
                </a:solidFill>
                <a:latin typeface="Inter" pitchFamily="34" charset="0"/>
                <a:ea typeface="Inter" pitchFamily="34" charset="-122"/>
                <a:cs typeface="Inter" pitchFamily="34" charset="-120"/>
              </a:rPr>
              <a:t>Brand trust</a:t>
            </a:r>
            <a:endParaRPr lang="en-US" sz="1300" dirty="0"/>
          </a:p>
        </p:txBody>
      </p:sp>
      <p:sp>
        <p:nvSpPr>
          <p:cNvPr id="46" name="Shape 43"/>
          <p:cNvSpPr/>
          <p:nvPr/>
        </p:nvSpPr>
        <p:spPr>
          <a:xfrm>
            <a:off x="4846320" y="5157216"/>
            <a:ext cx="320040" cy="0"/>
          </a:xfrm>
          <a:prstGeom prst="line">
            <a:avLst/>
          </a:prstGeom>
          <a:noFill/>
          <a:ln w="15875">
            <a:solidFill>
              <a:srgbClr val="94A3B8"/>
            </a:solidFill>
            <a:prstDash val="solid"/>
            <a:tailEnd type="triangle"/>
          </a:ln>
        </p:spPr>
      </p:sp>
      <p:sp>
        <p:nvSpPr>
          <p:cNvPr id="47" name="Shape 44"/>
          <p:cNvSpPr/>
          <p:nvPr/>
        </p:nvSpPr>
        <p:spPr>
          <a:xfrm>
            <a:off x="5166360" y="4718304"/>
            <a:ext cx="3886200" cy="877824"/>
          </a:xfrm>
          <a:prstGeom prst="roundRect">
            <a:avLst>
              <a:gd name="adj" fmla="val 8333"/>
            </a:avLst>
          </a:prstGeom>
          <a:solidFill>
            <a:srgbClr val="F8FAFC"/>
          </a:solidFill>
          <a:ln w="9525">
            <a:solidFill>
              <a:srgbClr val="E2E8F0"/>
            </a:solidFill>
            <a:prstDash val="solid"/>
          </a:ln>
        </p:spPr>
      </p:sp>
      <p:sp>
        <p:nvSpPr>
          <p:cNvPr id="48" name="Text 45"/>
          <p:cNvSpPr txBox="1"/>
          <p:nvPr/>
        </p:nvSpPr>
        <p:spPr>
          <a:xfrm>
            <a:off x="5303520" y="4809744"/>
            <a:ext cx="3657600" cy="292608"/>
          </a:xfrm>
          <a:prstGeom prst="rect">
            <a:avLst/>
          </a:prstGeom>
          <a:noFill/>
          <a:ln/>
        </p:spPr>
        <p:txBody>
          <a:bodyPr wrap="square" lIns="0" tIns="0" rIns="0" bIns="0" rtlCol="0" anchor="t"/>
          <a:lstStyle/>
          <a:p>
            <a:pPr indent="0" marL="0">
              <a:buNone/>
            </a:pPr>
            <a:r>
              <a:rPr lang="en-US" sz="1200" b="1" dirty="0">
                <a:solidFill>
                  <a:srgbClr val="0F172A"/>
                </a:solidFill>
                <a:latin typeface="Inter" pitchFamily="34" charset="0"/>
                <a:ea typeface="Inter" pitchFamily="34" charset="-122"/>
                <a:cs typeface="Inter" pitchFamily="34" charset="-120"/>
              </a:rPr>
              <a:t>Found, not yet trusted</a:t>
            </a:r>
            <a:endParaRPr lang="en-US" sz="1200" dirty="0"/>
          </a:p>
        </p:txBody>
      </p:sp>
      <p:sp>
        <p:nvSpPr>
          <p:cNvPr id="49" name="Text 46"/>
          <p:cNvSpPr txBox="1"/>
          <p:nvPr/>
        </p:nvSpPr>
        <p:spPr>
          <a:xfrm>
            <a:off x="5303520" y="5120640"/>
            <a:ext cx="3657600" cy="384048"/>
          </a:xfrm>
          <a:prstGeom prst="rect">
            <a:avLst/>
          </a:prstGeom>
          <a:noFill/>
          <a:ln/>
        </p:spPr>
        <p:txBody>
          <a:bodyPr wrap="square" lIns="0" tIns="0" rIns="0" bIns="0" rtlCol="0" anchor="t"/>
          <a:lstStyle/>
          <a:p>
            <a:pPr indent="0" marL="0">
              <a:buNone/>
            </a:pPr>
            <a:r>
              <a:rPr lang="en-US" sz="1000" dirty="0">
                <a:solidFill>
                  <a:srgbClr val="334155"/>
                </a:solidFill>
                <a:latin typeface="Inter" pitchFamily="34" charset="0"/>
                <a:ea typeface="Inter" pitchFamily="34" charset="-122"/>
                <a:cs typeface="Inter" pitchFamily="34" charset="-120"/>
              </a:rPr>
              <a:t>25,227 people leave after a product view (A1)</a:t>
            </a:r>
            <a:endParaRPr lang="en-US" sz="1000" dirty="0"/>
          </a:p>
        </p:txBody>
      </p:sp>
      <p:sp>
        <p:nvSpPr>
          <p:cNvPr id="50" name="Shape 47"/>
          <p:cNvSpPr/>
          <p:nvPr/>
        </p:nvSpPr>
        <p:spPr>
          <a:xfrm>
            <a:off x="9144000" y="5020056"/>
            <a:ext cx="365760" cy="274320"/>
          </a:xfrm>
          <a:prstGeom prst="rightArrow">
            <a:avLst/>
          </a:prstGeom>
          <a:solidFill>
            <a:srgbClr val="BFDBFE"/>
          </a:solidFill>
          <a:ln w="6350">
            <a:solidFill>
              <a:srgbClr val="BFDBFE"/>
            </a:solidFill>
            <a:prstDash val="solid"/>
          </a:ln>
        </p:spPr>
      </p:sp>
      <p:sp>
        <p:nvSpPr>
          <p:cNvPr id="51" name="Shape 48"/>
          <p:cNvSpPr/>
          <p:nvPr/>
        </p:nvSpPr>
        <p:spPr>
          <a:xfrm>
            <a:off x="9601200" y="4864608"/>
            <a:ext cx="2084832" cy="585216"/>
          </a:xfrm>
          <a:prstGeom prst="roundRect">
            <a:avLst>
              <a:gd name="adj" fmla="val 50000"/>
            </a:avLst>
          </a:prstGeom>
          <a:solidFill>
            <a:srgbClr val="FFFFFF"/>
          </a:solidFill>
          <a:ln w="15875">
            <a:solidFill>
              <a:srgbClr val="1D4ED8"/>
            </a:solidFill>
            <a:prstDash val="solid"/>
          </a:ln>
        </p:spPr>
      </p:sp>
      <p:sp>
        <p:nvSpPr>
          <p:cNvPr id="52" name="Text 49"/>
          <p:cNvSpPr txBox="1"/>
          <p:nvPr/>
        </p:nvSpPr>
        <p:spPr>
          <a:xfrm>
            <a:off x="9601200" y="4864608"/>
            <a:ext cx="2084832" cy="585216"/>
          </a:xfrm>
          <a:prstGeom prst="rect">
            <a:avLst/>
          </a:prstGeom>
          <a:noFill/>
          <a:ln/>
        </p:spPr>
        <p:txBody>
          <a:bodyPr wrap="square" lIns="0" tIns="0" rIns="0" bIns="0" rtlCol="0" anchor="ctr"/>
          <a:lstStyle/>
          <a:p>
            <a:pPr algn="ctr" indent="0" marL="0">
              <a:buNone/>
            </a:pPr>
            <a:r>
              <a:rPr lang="en-US" sz="1100" b="1" dirty="0">
                <a:solidFill>
                  <a:srgbClr val="1D4ED8"/>
                </a:solidFill>
                <a:latin typeface="Inter" pitchFamily="34" charset="0"/>
                <a:ea typeface="Inter" pitchFamily="34" charset="-122"/>
                <a:cs typeface="Inter" pitchFamily="34" charset="-120"/>
              </a:rPr>
              <a:t>Trust thread, all levers</a:t>
            </a:r>
            <a:endParaRPr lang="en-US" sz="1100" dirty="0"/>
          </a:p>
        </p:txBody>
      </p:sp>
      <p:sp>
        <p:nvSpPr>
          <p:cNvPr id="53" name="Shape 50"/>
          <p:cNvSpPr/>
          <p:nvPr/>
        </p:nvSpPr>
        <p:spPr>
          <a:xfrm>
            <a:off x="502920" y="5715000"/>
            <a:ext cx="11183112" cy="512064"/>
          </a:xfrm>
          <a:prstGeom prst="roundRect">
            <a:avLst>
              <a:gd name="adj" fmla="val 17857"/>
            </a:avLst>
          </a:prstGeom>
          <a:solidFill>
            <a:srgbClr val="EFF6FF"/>
          </a:solidFill>
          <a:ln w="6350">
            <a:solidFill>
              <a:srgbClr val="EFF6FF"/>
            </a:solidFill>
            <a:prstDash val="solid"/>
          </a:ln>
        </p:spPr>
      </p:sp>
      <p:sp>
        <p:nvSpPr>
          <p:cNvPr id="54" name="Shape 51"/>
          <p:cNvSpPr/>
          <p:nvPr/>
        </p:nvSpPr>
        <p:spPr>
          <a:xfrm>
            <a:off x="640080" y="5806440"/>
            <a:ext cx="329184" cy="329184"/>
          </a:xfrm>
          <a:prstGeom prst="ellipse">
            <a:avLst/>
          </a:prstGeom>
          <a:solidFill>
            <a:srgbClr val="1D4ED8"/>
          </a:solidFill>
          <a:ln w="6350">
            <a:solidFill>
              <a:srgbClr val="1D4ED8"/>
            </a:solidFill>
            <a:prstDash val="solid"/>
          </a:ln>
        </p:spPr>
      </p:sp>
      <p:pic>
        <p:nvPicPr>
          <p:cNvPr id="55" name="Image 1" descr="preencoded.png">    </p:cNvPr>
          <p:cNvPicPr>
            <a:picLocks noChangeAspect="1"/>
          </p:cNvPicPr>
          <p:nvPr/>
        </p:nvPicPr>
        <p:blipFill>
          <a:blip r:embed="rId2"/>
          <a:stretch>
            <a:fillRect/>
          </a:stretch>
        </p:blipFill>
        <p:spPr>
          <a:xfrm>
            <a:off x="712500" y="5878860"/>
            <a:ext cx="184343" cy="184343"/>
          </a:xfrm>
          <a:prstGeom prst="rect">
            <a:avLst/>
          </a:prstGeom>
        </p:spPr>
      </p:pic>
      <p:sp>
        <p:nvSpPr>
          <p:cNvPr id="56" name="Text 52"/>
          <p:cNvSpPr txBox="1"/>
          <p:nvPr/>
        </p:nvSpPr>
        <p:spPr>
          <a:xfrm>
            <a:off x="1097280" y="5715000"/>
            <a:ext cx="10424160" cy="512064"/>
          </a:xfrm>
          <a:prstGeom prst="rect">
            <a:avLst/>
          </a:prstGeom>
          <a:noFill/>
          <a:ln/>
        </p:spPr>
        <p:txBody>
          <a:bodyPr wrap="square" lIns="0" tIns="0" rIns="0" bIns="0" rtlCol="0" anchor="ctr"/>
          <a:lstStyle/>
          <a:p>
            <a:pPr indent="0" marL="0">
              <a:buNone/>
            </a:pPr>
            <a:r>
              <a:rPr lang="en-US" sz="1300" b="1" dirty="0">
                <a:solidFill>
                  <a:srgbClr val="0A1F44"/>
                </a:solidFill>
                <a:latin typeface="Inter" pitchFamily="34" charset="0"/>
                <a:ea typeface="Inter" pitchFamily="34" charset="-122"/>
                <a:cs typeface="Inter" pitchFamily="34" charset="-120"/>
              </a:rPr>
              <a:t>Repeat = engaged share × engaged repeat + non-engaged share × non-engaged repeat; CAC = $120M ÷ new customers</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9326880" cy="841248"/>
          </a:xfrm>
          <a:prstGeom prst="rect">
            <a:avLst/>
          </a:prstGeom>
          <a:noFill/>
          <a:ln/>
        </p:spPr>
        <p:txBody>
          <a:bodyPr wrap="square" lIns="0" tIns="0" rIns="0" bIns="0" rtlCol="0" anchor="ctr"/>
          <a:lstStyle/>
          <a:p>
            <a:pPr indent="0" marL="0">
              <a:buNone/>
            </a:pPr>
            <a:r>
              <a:rPr lang="en-US" sz="2400" b="1" dirty="0">
                <a:solidFill>
                  <a:srgbClr val="0A1F44"/>
                </a:solidFill>
                <a:latin typeface="Inter" pitchFamily="34" charset="0"/>
                <a:ea typeface="Inter" pitchFamily="34" charset="-122"/>
                <a:cs typeface="Inter" pitchFamily="34" charset="-120"/>
              </a:rPr>
              <a:t>Seven moments decide whether a first buyer returns</a:t>
            </a:r>
            <a:endParaRPr lang="en-US" sz="2400" dirty="0"/>
          </a:p>
        </p:txBody>
      </p:sp>
      <p:pic>
        <p:nvPicPr>
          <p:cNvPr id="3" name="Image 0" descr="/tmp/claude-0/-home-user-Quince/7efe80ae-a049-50c2-9886-98bf7ca3a04a/scratchpad/assets/quince.png">    </p:cNvPr>
          <p:cNvPicPr>
            <a:picLocks noChangeAspect="1"/>
          </p:cNvPicPr>
          <p:nvPr/>
        </p:nvPicPr>
        <p:blipFill>
          <a:blip r:embed="rId1"/>
          <a:stretch>
            <a:fillRect/>
          </a:stretch>
        </p:blipFill>
        <p:spPr>
          <a:xfrm>
            <a:off x="10236708" y="615544"/>
            <a:ext cx="777240" cy="231951"/>
          </a:xfrm>
          <a:prstGeom prst="rect">
            <a:avLst/>
          </a:prstGeom>
        </p:spPr>
      </p:pic>
      <p:sp>
        <p:nvSpPr>
          <p:cNvPr id="4" name="Shape 1"/>
          <p:cNvSpPr/>
          <p:nvPr/>
        </p:nvSpPr>
        <p:spPr>
          <a:xfrm>
            <a:off x="11155680" y="603504"/>
            <a:ext cx="530352" cy="256032"/>
          </a:xfrm>
          <a:prstGeom prst="roundRect">
            <a:avLst>
              <a:gd name="adj" fmla="val 50000"/>
            </a:avLst>
          </a:prstGeom>
          <a:solidFill>
            <a:srgbClr val="0A1F44"/>
          </a:solidFill>
          <a:ln w="6350">
            <a:solidFill>
              <a:srgbClr val="0A1F44"/>
            </a:solidFill>
            <a:prstDash val="solid"/>
          </a:ln>
        </p:spPr>
      </p:sp>
      <p:sp>
        <p:nvSpPr>
          <p:cNvPr id="5" name="Text 2"/>
          <p:cNvSpPr txBox="1"/>
          <p:nvPr/>
        </p:nvSpPr>
        <p:spPr>
          <a:xfrm>
            <a:off x="11155680" y="603504"/>
            <a:ext cx="530352"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Inter" pitchFamily="34" charset="0"/>
                <a:ea typeface="Inter" pitchFamily="34" charset="-122"/>
                <a:cs typeface="Inter" pitchFamily="34" charset="-120"/>
              </a:rPr>
              <a:t>G27</a:t>
            </a:r>
            <a:endParaRPr lang="en-US" sz="950" dirty="0"/>
          </a:p>
        </p:txBody>
      </p:sp>
      <p:sp>
        <p:nvSpPr>
          <p:cNvPr id="6" name="Shape 3"/>
          <p:cNvSpPr/>
          <p:nvPr/>
        </p:nvSpPr>
        <p:spPr>
          <a:xfrm>
            <a:off x="502920" y="6400800"/>
            <a:ext cx="11183112" cy="0"/>
          </a:xfrm>
          <a:prstGeom prst="line">
            <a:avLst/>
          </a:prstGeom>
          <a:noFill/>
          <a:ln w="9525">
            <a:solidFill>
              <a:srgbClr val="E2E8F0"/>
            </a:solidFill>
            <a:prstDash val="solid"/>
          </a:ln>
        </p:spPr>
      </p:sp>
      <p:sp>
        <p:nvSpPr>
          <p:cNvPr id="7" name="Text 4"/>
          <p:cNvSpPr txBox="1"/>
          <p:nvPr/>
        </p:nvSpPr>
        <p:spPr>
          <a:xfrm>
            <a:off x="502920" y="6464808"/>
            <a:ext cx="9418320" cy="256032"/>
          </a:xfrm>
          <a:prstGeom prst="rect">
            <a:avLst/>
          </a:prstGeom>
          <a:noFill/>
          <a:ln/>
        </p:spPr>
        <p:txBody>
          <a:bodyPr wrap="square" lIns="0" tIns="0" rIns="0" bIns="0" rtlCol="0" anchor="ctr"/>
          <a:lstStyle/>
          <a:p>
            <a:pPr indent="0" marL="0">
              <a:buNone/>
            </a:pPr>
            <a:r>
              <a:rPr lang="en-US" sz="800" dirty="0">
                <a:solidFill>
                  <a:srgbClr val="64748B"/>
                </a:solidFill>
                <a:latin typeface="Inter" pitchFamily="34" charset="0"/>
                <a:ea typeface="Inter" pitchFamily="34" charset="-122"/>
                <a:cs typeface="Inter" pitchFamily="34" charset="-120"/>
              </a:rPr>
              <a:t>Source: Adobe CJA panels A1, A2, A4, A5, A6 and Cohort Table; mechanisms are hypotheses the pilot tests.</a:t>
            </a:r>
            <a:endParaRPr lang="en-US" sz="800" dirty="0"/>
          </a:p>
        </p:txBody>
      </p:sp>
      <p:sp>
        <p:nvSpPr>
          <p:cNvPr id="8" name="Text 5"/>
          <p:cNvSpPr txBox="1"/>
          <p:nvPr/>
        </p:nvSpPr>
        <p:spPr>
          <a:xfrm>
            <a:off x="9966960" y="6464808"/>
            <a:ext cx="1719072" cy="256032"/>
          </a:xfrm>
          <a:prstGeom prst="rect">
            <a:avLst/>
          </a:prstGeom>
          <a:noFill/>
          <a:ln/>
        </p:spPr>
        <p:txBody>
          <a:bodyPr wrap="square" lIns="0" tIns="0" rIns="0" bIns="0" rtlCol="0" anchor="ctr"/>
          <a:lstStyle/>
          <a:p>
            <a:pPr algn="r" indent="0" marL="0">
              <a:buNone/>
            </a:pPr>
            <a:r>
              <a:rPr lang="en-US" sz="800" dirty="0">
                <a:solidFill>
                  <a:srgbClr val="64748B"/>
                </a:solidFill>
                <a:latin typeface="Inter" pitchFamily="34" charset="0"/>
                <a:ea typeface="Inter" pitchFamily="34" charset="-122"/>
                <a:cs typeface="Inter" pitchFamily="34" charset="-120"/>
              </a:rPr>
              <a:t>Team G27  ·  16</a:t>
            </a:r>
            <a:endParaRPr lang="en-US" sz="800" dirty="0"/>
          </a:p>
        </p:txBody>
      </p:sp>
      <p:sp>
        <p:nvSpPr>
          <p:cNvPr id="9" name="Shape 6"/>
          <p:cNvSpPr/>
          <p:nvPr/>
        </p:nvSpPr>
        <p:spPr>
          <a:xfrm>
            <a:off x="1301714" y="1874520"/>
            <a:ext cx="9585525" cy="0"/>
          </a:xfrm>
          <a:prstGeom prst="line">
            <a:avLst/>
          </a:prstGeom>
          <a:noFill/>
          <a:ln w="38100">
            <a:solidFill>
              <a:srgbClr val="BFDBFE"/>
            </a:solidFill>
            <a:prstDash val="solid"/>
          </a:ln>
        </p:spPr>
      </p:sp>
      <p:sp>
        <p:nvSpPr>
          <p:cNvPr id="10" name="Shape 7"/>
          <p:cNvSpPr/>
          <p:nvPr/>
        </p:nvSpPr>
        <p:spPr>
          <a:xfrm>
            <a:off x="999962" y="1572768"/>
            <a:ext cx="603504" cy="603504"/>
          </a:xfrm>
          <a:prstGeom prst="ellipse">
            <a:avLst/>
          </a:prstGeom>
          <a:solidFill>
            <a:srgbClr val="0A1F44"/>
          </a:solidFill>
          <a:ln w="6350">
            <a:solidFill>
              <a:srgbClr val="0A1F44"/>
            </a:solidFill>
            <a:prstDash val="solid"/>
          </a:ln>
        </p:spPr>
      </p:sp>
      <p:pic>
        <p:nvPicPr>
          <p:cNvPr id="11" name="Image 1" descr="preencoded.png">    </p:cNvPr>
          <p:cNvPicPr>
            <a:picLocks noChangeAspect="1"/>
          </p:cNvPicPr>
          <p:nvPr/>
        </p:nvPicPr>
        <p:blipFill>
          <a:blip r:embed="rId2"/>
          <a:stretch>
            <a:fillRect/>
          </a:stretch>
        </p:blipFill>
        <p:spPr>
          <a:xfrm>
            <a:off x="1132733" y="1705539"/>
            <a:ext cx="337962" cy="337962"/>
          </a:xfrm>
          <a:prstGeom prst="rect">
            <a:avLst/>
          </a:prstGeom>
        </p:spPr>
      </p:pic>
      <p:sp>
        <p:nvSpPr>
          <p:cNvPr id="12" name="Text 8"/>
          <p:cNvSpPr txBox="1"/>
          <p:nvPr/>
        </p:nvSpPr>
        <p:spPr>
          <a:xfrm>
            <a:off x="548640" y="2286000"/>
            <a:ext cx="1506147" cy="274320"/>
          </a:xfrm>
          <a:prstGeom prst="rect">
            <a:avLst/>
          </a:prstGeom>
          <a:noFill/>
          <a:ln/>
        </p:spPr>
        <p:txBody>
          <a:bodyPr wrap="square" lIns="0" tIns="0" rIns="0" bIns="0" rtlCol="0" anchor="t"/>
          <a:lstStyle/>
          <a:p>
            <a:pPr algn="ctr" indent="0" marL="0">
              <a:buNone/>
            </a:pPr>
            <a:r>
              <a:rPr lang="en-US" sz="1200" b="1" dirty="0">
                <a:solidFill>
                  <a:srgbClr val="0F172A"/>
                </a:solidFill>
                <a:latin typeface="Inter" pitchFamily="34" charset="0"/>
                <a:ea typeface="Inter" pitchFamily="34" charset="-122"/>
                <a:cs typeface="Inter" pitchFamily="34" charset="-120"/>
              </a:rPr>
              <a:t>Discovery</a:t>
            </a:r>
            <a:endParaRPr lang="en-US" sz="1200" dirty="0"/>
          </a:p>
        </p:txBody>
      </p:sp>
      <p:sp>
        <p:nvSpPr>
          <p:cNvPr id="13" name="Shape 9"/>
          <p:cNvSpPr/>
          <p:nvPr/>
        </p:nvSpPr>
        <p:spPr>
          <a:xfrm>
            <a:off x="576072" y="2697480"/>
            <a:ext cx="1451283" cy="685800"/>
          </a:xfrm>
          <a:prstGeom prst="roundRect">
            <a:avLst>
              <a:gd name="adj" fmla="val 10667"/>
            </a:avLst>
          </a:prstGeom>
          <a:solidFill>
            <a:srgbClr val="EFF6FF"/>
          </a:solidFill>
          <a:ln w="6350">
            <a:solidFill>
              <a:srgbClr val="EFF6FF"/>
            </a:solidFill>
            <a:prstDash val="solid"/>
          </a:ln>
        </p:spPr>
      </p:sp>
      <p:sp>
        <p:nvSpPr>
          <p:cNvPr id="14" name="Text 10"/>
          <p:cNvSpPr txBox="1"/>
          <p:nvPr/>
        </p:nvSpPr>
        <p:spPr>
          <a:xfrm>
            <a:off x="612648" y="2697480"/>
            <a:ext cx="1378131" cy="685800"/>
          </a:xfrm>
          <a:prstGeom prst="rect">
            <a:avLst/>
          </a:prstGeom>
          <a:noFill/>
          <a:ln/>
        </p:spPr>
        <p:txBody>
          <a:bodyPr wrap="square" lIns="0" tIns="0" rIns="0" bIns="0" rtlCol="0" anchor="ctr"/>
          <a:lstStyle/>
          <a:p>
            <a:pPr algn="ctr" indent="0" marL="0">
              <a:buNone/>
            </a:pPr>
            <a:r>
              <a:rPr lang="en-US" sz="1050" b="1" dirty="0">
                <a:solidFill>
                  <a:srgbClr val="1D4ED8"/>
                </a:solidFill>
                <a:latin typeface="Inter" pitchFamily="34" charset="0"/>
                <a:ea typeface="Inter" pitchFamily="34" charset="-122"/>
                <a:cs typeface="Inter" pitchFamily="34" charset="-120"/>
              </a:rPr>
              <a:t>45.5% via prospecting</a:t>
            </a:r>
            <a:endParaRPr lang="en-US" sz="1050" dirty="0"/>
          </a:p>
        </p:txBody>
      </p:sp>
      <p:sp>
        <p:nvSpPr>
          <p:cNvPr id="15" name="Text 11"/>
          <p:cNvSpPr txBox="1"/>
          <p:nvPr/>
        </p:nvSpPr>
        <p:spPr>
          <a:xfrm>
            <a:off x="548640" y="3566160"/>
            <a:ext cx="1506147" cy="201168"/>
          </a:xfrm>
          <a:prstGeom prst="rect">
            <a:avLst/>
          </a:prstGeom>
          <a:noFill/>
          <a:ln/>
        </p:spPr>
        <p:txBody>
          <a:bodyPr wrap="square" lIns="0" tIns="0" rIns="0" bIns="0" rtlCol="0" anchor="t"/>
          <a:lstStyle/>
          <a:p>
            <a:pPr algn="ctr" indent="0" marL="0">
              <a:buNone/>
            </a:pPr>
            <a:r>
              <a:rPr lang="en-US" sz="850" dirty="0">
                <a:solidFill>
                  <a:srgbClr val="64748B"/>
                </a:solidFill>
                <a:latin typeface="Inter" pitchFamily="34" charset="0"/>
                <a:ea typeface="Inter" pitchFamily="34" charset="-122"/>
                <a:cs typeface="Inter" pitchFamily="34" charset="-120"/>
              </a:rPr>
              <a:t>Mechanism</a:t>
            </a:r>
            <a:endParaRPr lang="en-US" sz="850" dirty="0"/>
          </a:p>
        </p:txBody>
      </p:sp>
      <p:sp>
        <p:nvSpPr>
          <p:cNvPr id="16" name="Text 12"/>
          <p:cNvSpPr txBox="1"/>
          <p:nvPr/>
        </p:nvSpPr>
        <p:spPr>
          <a:xfrm>
            <a:off x="548640" y="3767328"/>
            <a:ext cx="1506147" cy="457200"/>
          </a:xfrm>
          <a:prstGeom prst="rect">
            <a:avLst/>
          </a:prstGeom>
          <a:noFill/>
          <a:ln/>
        </p:spPr>
        <p:txBody>
          <a:bodyPr wrap="square" lIns="0" tIns="0" rIns="0" bIns="0" rtlCol="0" anchor="t"/>
          <a:lstStyle/>
          <a:p>
            <a:pPr algn="ctr" indent="0" marL="0">
              <a:buNone/>
            </a:pPr>
            <a:r>
              <a:rPr lang="en-US" sz="1050" dirty="0">
                <a:solidFill>
                  <a:srgbClr val="334155"/>
                </a:solidFill>
                <a:latin typeface="Inter" pitchFamily="34" charset="0"/>
                <a:ea typeface="Inter" pitchFamily="34" charset="-122"/>
                <a:cs typeface="Inter" pitchFamily="34" charset="-120"/>
              </a:rPr>
              <a:t>Social proof</a:t>
            </a:r>
            <a:endParaRPr lang="en-US" sz="1050" dirty="0"/>
          </a:p>
        </p:txBody>
      </p:sp>
      <p:sp>
        <p:nvSpPr>
          <p:cNvPr id="17" name="Shape 13"/>
          <p:cNvSpPr/>
          <p:nvPr/>
        </p:nvSpPr>
        <p:spPr>
          <a:xfrm>
            <a:off x="1191986" y="4297680"/>
            <a:ext cx="219456" cy="274320"/>
          </a:xfrm>
          <a:prstGeom prst="downArrow">
            <a:avLst/>
          </a:prstGeom>
          <a:solidFill>
            <a:srgbClr val="BFDBFE"/>
          </a:solidFill>
          <a:ln w="6350">
            <a:solidFill>
              <a:srgbClr val="BFDBFE"/>
            </a:solidFill>
            <a:prstDash val="solid"/>
          </a:ln>
        </p:spPr>
      </p:sp>
      <p:sp>
        <p:nvSpPr>
          <p:cNvPr id="18" name="Shape 14"/>
          <p:cNvSpPr/>
          <p:nvPr/>
        </p:nvSpPr>
        <p:spPr>
          <a:xfrm>
            <a:off x="576072" y="4663440"/>
            <a:ext cx="1451283" cy="566928"/>
          </a:xfrm>
          <a:prstGeom prst="roundRect">
            <a:avLst>
              <a:gd name="adj" fmla="val 12903"/>
            </a:avLst>
          </a:prstGeom>
          <a:solidFill>
            <a:srgbClr val="0A1F44"/>
          </a:solidFill>
          <a:ln w="6350">
            <a:solidFill>
              <a:srgbClr val="0A1F44"/>
            </a:solidFill>
            <a:prstDash val="solid"/>
          </a:ln>
        </p:spPr>
      </p:sp>
      <p:sp>
        <p:nvSpPr>
          <p:cNvPr id="19" name="Text 15"/>
          <p:cNvSpPr txBox="1"/>
          <p:nvPr/>
        </p:nvSpPr>
        <p:spPr>
          <a:xfrm>
            <a:off x="594360" y="4663440"/>
            <a:ext cx="1414707" cy="566928"/>
          </a:xfrm>
          <a:prstGeom prst="rect">
            <a:avLst/>
          </a:prstGeom>
          <a:noFill/>
          <a:ln/>
        </p:spPr>
        <p:txBody>
          <a:bodyPr wrap="square" lIns="0" tIns="0" rIns="0" bIns="0" rtlCol="0" anchor="ctr"/>
          <a:lstStyle/>
          <a:p>
            <a:pPr algn="ctr" indent="0" marL="0">
              <a:buNone/>
            </a:pPr>
            <a:r>
              <a:rPr lang="en-US" sz="1050" b="1" dirty="0">
                <a:solidFill>
                  <a:srgbClr val="FFFFFF"/>
                </a:solidFill>
                <a:latin typeface="Inter" pitchFamily="34" charset="0"/>
                <a:ea typeface="Inter" pitchFamily="34" charset="-122"/>
                <a:cs typeface="Inter" pitchFamily="34" charset="-120"/>
              </a:rPr>
              <a:t>Loyalist Lookalikes</a:t>
            </a:r>
            <a:endParaRPr lang="en-US" sz="1050" dirty="0"/>
          </a:p>
        </p:txBody>
      </p:sp>
      <p:sp>
        <p:nvSpPr>
          <p:cNvPr id="20" name="Shape 16"/>
          <p:cNvSpPr/>
          <p:nvPr/>
        </p:nvSpPr>
        <p:spPr>
          <a:xfrm>
            <a:off x="2597549" y="1572768"/>
            <a:ext cx="603504" cy="603504"/>
          </a:xfrm>
          <a:prstGeom prst="ellipse">
            <a:avLst/>
          </a:prstGeom>
          <a:solidFill>
            <a:srgbClr val="0A1F44"/>
          </a:solidFill>
          <a:ln w="6350">
            <a:solidFill>
              <a:srgbClr val="0A1F44"/>
            </a:solidFill>
            <a:prstDash val="solid"/>
          </a:ln>
        </p:spPr>
      </p:sp>
      <p:pic>
        <p:nvPicPr>
          <p:cNvPr id="21" name="Image 2" descr="preencoded.png">    </p:cNvPr>
          <p:cNvPicPr>
            <a:picLocks noChangeAspect="1"/>
          </p:cNvPicPr>
          <p:nvPr/>
        </p:nvPicPr>
        <p:blipFill>
          <a:blip r:embed="rId3"/>
          <a:stretch>
            <a:fillRect/>
          </a:stretch>
        </p:blipFill>
        <p:spPr>
          <a:xfrm>
            <a:off x="2730320" y="1705539"/>
            <a:ext cx="337962" cy="337962"/>
          </a:xfrm>
          <a:prstGeom prst="rect">
            <a:avLst/>
          </a:prstGeom>
        </p:spPr>
      </p:pic>
      <p:sp>
        <p:nvSpPr>
          <p:cNvPr id="22" name="Text 17"/>
          <p:cNvSpPr txBox="1"/>
          <p:nvPr/>
        </p:nvSpPr>
        <p:spPr>
          <a:xfrm>
            <a:off x="2146227" y="2286000"/>
            <a:ext cx="1506147" cy="274320"/>
          </a:xfrm>
          <a:prstGeom prst="rect">
            <a:avLst/>
          </a:prstGeom>
          <a:noFill/>
          <a:ln/>
        </p:spPr>
        <p:txBody>
          <a:bodyPr wrap="square" lIns="0" tIns="0" rIns="0" bIns="0" rtlCol="0" anchor="t"/>
          <a:lstStyle/>
          <a:p>
            <a:pPr algn="ctr" indent="0" marL="0">
              <a:buNone/>
            </a:pPr>
            <a:r>
              <a:rPr lang="en-US" sz="1200" b="1" dirty="0">
                <a:solidFill>
                  <a:srgbClr val="0F172A"/>
                </a:solidFill>
                <a:latin typeface="Inter" pitchFamily="34" charset="0"/>
                <a:ea typeface="Inter" pitchFamily="34" charset="-122"/>
                <a:cs typeface="Inter" pitchFamily="34" charset="-120"/>
              </a:rPr>
              <a:t>Product page</a:t>
            </a:r>
            <a:endParaRPr lang="en-US" sz="1200" dirty="0"/>
          </a:p>
        </p:txBody>
      </p:sp>
      <p:sp>
        <p:nvSpPr>
          <p:cNvPr id="23" name="Shape 18"/>
          <p:cNvSpPr/>
          <p:nvPr/>
        </p:nvSpPr>
        <p:spPr>
          <a:xfrm>
            <a:off x="2173659" y="2697480"/>
            <a:ext cx="1451283" cy="685800"/>
          </a:xfrm>
          <a:prstGeom prst="roundRect">
            <a:avLst>
              <a:gd name="adj" fmla="val 10667"/>
            </a:avLst>
          </a:prstGeom>
          <a:solidFill>
            <a:srgbClr val="EFF6FF"/>
          </a:solidFill>
          <a:ln w="6350">
            <a:solidFill>
              <a:srgbClr val="EFF6FF"/>
            </a:solidFill>
            <a:prstDash val="solid"/>
          </a:ln>
        </p:spPr>
      </p:sp>
      <p:sp>
        <p:nvSpPr>
          <p:cNvPr id="24" name="Text 19"/>
          <p:cNvSpPr txBox="1"/>
          <p:nvPr/>
        </p:nvSpPr>
        <p:spPr>
          <a:xfrm>
            <a:off x="2210235" y="2697480"/>
            <a:ext cx="1378131" cy="685800"/>
          </a:xfrm>
          <a:prstGeom prst="rect">
            <a:avLst/>
          </a:prstGeom>
          <a:noFill/>
          <a:ln/>
        </p:spPr>
        <p:txBody>
          <a:bodyPr wrap="square" lIns="0" tIns="0" rIns="0" bIns="0" rtlCol="0" anchor="ctr"/>
          <a:lstStyle/>
          <a:p>
            <a:pPr algn="ctr" indent="0" marL="0">
              <a:buNone/>
            </a:pPr>
            <a:r>
              <a:rPr lang="en-US" sz="1050" b="1" dirty="0">
                <a:solidFill>
                  <a:srgbClr val="1D4ED8"/>
                </a:solidFill>
                <a:latin typeface="Inter" pitchFamily="34" charset="0"/>
                <a:ea typeface="Inter" pitchFamily="34" charset="-122"/>
                <a:cs typeface="Inter" pitchFamily="34" charset="-120"/>
              </a:rPr>
              <a:t>25,227 leave here</a:t>
            </a:r>
            <a:endParaRPr lang="en-US" sz="1050" dirty="0"/>
          </a:p>
        </p:txBody>
      </p:sp>
      <p:sp>
        <p:nvSpPr>
          <p:cNvPr id="25" name="Text 20"/>
          <p:cNvSpPr txBox="1"/>
          <p:nvPr/>
        </p:nvSpPr>
        <p:spPr>
          <a:xfrm>
            <a:off x="2146227" y="3566160"/>
            <a:ext cx="1506147" cy="201168"/>
          </a:xfrm>
          <a:prstGeom prst="rect">
            <a:avLst/>
          </a:prstGeom>
          <a:noFill/>
          <a:ln/>
        </p:spPr>
        <p:txBody>
          <a:bodyPr wrap="square" lIns="0" tIns="0" rIns="0" bIns="0" rtlCol="0" anchor="t"/>
          <a:lstStyle/>
          <a:p>
            <a:pPr algn="ctr" indent="0" marL="0">
              <a:buNone/>
            </a:pPr>
            <a:r>
              <a:rPr lang="en-US" sz="850" dirty="0">
                <a:solidFill>
                  <a:srgbClr val="64748B"/>
                </a:solidFill>
                <a:latin typeface="Inter" pitchFamily="34" charset="0"/>
                <a:ea typeface="Inter" pitchFamily="34" charset="-122"/>
                <a:cs typeface="Inter" pitchFamily="34" charset="-120"/>
              </a:rPr>
              <a:t>Mechanism</a:t>
            </a:r>
            <a:endParaRPr lang="en-US" sz="850" dirty="0"/>
          </a:p>
        </p:txBody>
      </p:sp>
      <p:sp>
        <p:nvSpPr>
          <p:cNvPr id="26" name="Text 21"/>
          <p:cNvSpPr txBox="1"/>
          <p:nvPr/>
        </p:nvSpPr>
        <p:spPr>
          <a:xfrm>
            <a:off x="2146227" y="3767328"/>
            <a:ext cx="1506147" cy="457200"/>
          </a:xfrm>
          <a:prstGeom prst="rect">
            <a:avLst/>
          </a:prstGeom>
          <a:noFill/>
          <a:ln/>
        </p:spPr>
        <p:txBody>
          <a:bodyPr wrap="square" lIns="0" tIns="0" rIns="0" bIns="0" rtlCol="0" anchor="t"/>
          <a:lstStyle/>
          <a:p>
            <a:pPr algn="ctr" indent="0" marL="0">
              <a:buNone/>
            </a:pPr>
            <a:r>
              <a:rPr lang="en-US" sz="1050" dirty="0">
                <a:solidFill>
                  <a:srgbClr val="334155"/>
                </a:solidFill>
                <a:latin typeface="Inter" pitchFamily="34" charset="0"/>
                <a:ea typeface="Inter" pitchFamily="34" charset="-122"/>
                <a:cs typeface="Inter" pitchFamily="34" charset="-120"/>
              </a:rPr>
              <a:t>Price signals quality</a:t>
            </a:r>
            <a:endParaRPr lang="en-US" sz="1050" dirty="0"/>
          </a:p>
        </p:txBody>
      </p:sp>
      <p:sp>
        <p:nvSpPr>
          <p:cNvPr id="27" name="Shape 22"/>
          <p:cNvSpPr/>
          <p:nvPr/>
        </p:nvSpPr>
        <p:spPr>
          <a:xfrm>
            <a:off x="2789573" y="4297680"/>
            <a:ext cx="219456" cy="274320"/>
          </a:xfrm>
          <a:prstGeom prst="downArrow">
            <a:avLst/>
          </a:prstGeom>
          <a:solidFill>
            <a:srgbClr val="BFDBFE"/>
          </a:solidFill>
          <a:ln w="6350">
            <a:solidFill>
              <a:srgbClr val="BFDBFE"/>
            </a:solidFill>
            <a:prstDash val="solid"/>
          </a:ln>
        </p:spPr>
      </p:sp>
      <p:sp>
        <p:nvSpPr>
          <p:cNvPr id="28" name="Shape 23"/>
          <p:cNvSpPr/>
          <p:nvPr/>
        </p:nvSpPr>
        <p:spPr>
          <a:xfrm>
            <a:off x="2173659" y="4663440"/>
            <a:ext cx="1451283" cy="566928"/>
          </a:xfrm>
          <a:prstGeom prst="roundRect">
            <a:avLst>
              <a:gd name="adj" fmla="val 12903"/>
            </a:avLst>
          </a:prstGeom>
          <a:solidFill>
            <a:srgbClr val="0A1F44"/>
          </a:solidFill>
          <a:ln w="6350">
            <a:solidFill>
              <a:srgbClr val="0A1F44"/>
            </a:solidFill>
            <a:prstDash val="solid"/>
          </a:ln>
        </p:spPr>
      </p:sp>
      <p:sp>
        <p:nvSpPr>
          <p:cNvPr id="29" name="Text 24"/>
          <p:cNvSpPr txBox="1"/>
          <p:nvPr/>
        </p:nvSpPr>
        <p:spPr>
          <a:xfrm>
            <a:off x="2191947" y="4663440"/>
            <a:ext cx="1414707" cy="566928"/>
          </a:xfrm>
          <a:prstGeom prst="rect">
            <a:avLst/>
          </a:prstGeom>
          <a:noFill/>
          <a:ln/>
        </p:spPr>
        <p:txBody>
          <a:bodyPr wrap="square" lIns="0" tIns="0" rIns="0" bIns="0" rtlCol="0" anchor="ctr"/>
          <a:lstStyle/>
          <a:p>
            <a:pPr algn="ctr" indent="0" marL="0">
              <a:buNone/>
            </a:pPr>
            <a:r>
              <a:rPr lang="en-US" sz="1050" b="1" dirty="0">
                <a:solidFill>
                  <a:srgbClr val="FFFFFF"/>
                </a:solidFill>
                <a:latin typeface="Inter" pitchFamily="34" charset="0"/>
                <a:ea typeface="Inter" pitchFamily="34" charset="-122"/>
                <a:cs typeface="Inter" pitchFamily="34" charset="-120"/>
              </a:rPr>
              <a:t>Proof Creators</a:t>
            </a:r>
            <a:endParaRPr lang="en-US" sz="1050" dirty="0"/>
          </a:p>
        </p:txBody>
      </p:sp>
      <p:sp>
        <p:nvSpPr>
          <p:cNvPr id="30" name="Shape 25"/>
          <p:cNvSpPr/>
          <p:nvPr/>
        </p:nvSpPr>
        <p:spPr>
          <a:xfrm>
            <a:off x="4195137" y="1572768"/>
            <a:ext cx="603504" cy="603504"/>
          </a:xfrm>
          <a:prstGeom prst="ellipse">
            <a:avLst/>
          </a:prstGeom>
          <a:solidFill>
            <a:srgbClr val="0A1F44"/>
          </a:solidFill>
          <a:ln w="6350">
            <a:solidFill>
              <a:srgbClr val="0A1F44"/>
            </a:solidFill>
            <a:prstDash val="solid"/>
          </a:ln>
        </p:spPr>
      </p:sp>
      <p:pic>
        <p:nvPicPr>
          <p:cNvPr id="31" name="Image 3" descr="preencoded.png">    </p:cNvPr>
          <p:cNvPicPr>
            <a:picLocks noChangeAspect="1"/>
          </p:cNvPicPr>
          <p:nvPr/>
        </p:nvPicPr>
        <p:blipFill>
          <a:blip r:embed="rId4"/>
          <a:stretch>
            <a:fillRect/>
          </a:stretch>
        </p:blipFill>
        <p:spPr>
          <a:xfrm>
            <a:off x="4327907" y="1705539"/>
            <a:ext cx="337962" cy="337962"/>
          </a:xfrm>
          <a:prstGeom prst="rect">
            <a:avLst/>
          </a:prstGeom>
        </p:spPr>
      </p:pic>
      <p:sp>
        <p:nvSpPr>
          <p:cNvPr id="32" name="Text 26"/>
          <p:cNvSpPr txBox="1"/>
          <p:nvPr/>
        </p:nvSpPr>
        <p:spPr>
          <a:xfrm>
            <a:off x="3743815" y="2286000"/>
            <a:ext cx="1506147" cy="274320"/>
          </a:xfrm>
          <a:prstGeom prst="rect">
            <a:avLst/>
          </a:prstGeom>
          <a:noFill/>
          <a:ln/>
        </p:spPr>
        <p:txBody>
          <a:bodyPr wrap="square" lIns="0" tIns="0" rIns="0" bIns="0" rtlCol="0" anchor="t"/>
          <a:lstStyle/>
          <a:p>
            <a:pPr algn="ctr" indent="0" marL="0">
              <a:buNone/>
            </a:pPr>
            <a:r>
              <a:rPr lang="en-US" sz="1200" b="1" dirty="0">
                <a:solidFill>
                  <a:srgbClr val="0F172A"/>
                </a:solidFill>
                <a:latin typeface="Inter" pitchFamily="34" charset="0"/>
                <a:ea typeface="Inter" pitchFamily="34" charset="-122"/>
                <a:cs typeface="Inter" pitchFamily="34" charset="-120"/>
              </a:rPr>
              <a:t>Cart</a:t>
            </a:r>
            <a:endParaRPr lang="en-US" sz="1200" dirty="0"/>
          </a:p>
        </p:txBody>
      </p:sp>
      <p:sp>
        <p:nvSpPr>
          <p:cNvPr id="33" name="Shape 27"/>
          <p:cNvSpPr/>
          <p:nvPr/>
        </p:nvSpPr>
        <p:spPr>
          <a:xfrm>
            <a:off x="3771247" y="2697480"/>
            <a:ext cx="1451283" cy="685800"/>
          </a:xfrm>
          <a:prstGeom prst="roundRect">
            <a:avLst>
              <a:gd name="adj" fmla="val 10667"/>
            </a:avLst>
          </a:prstGeom>
          <a:solidFill>
            <a:srgbClr val="EFF6FF"/>
          </a:solidFill>
          <a:ln w="6350">
            <a:solidFill>
              <a:srgbClr val="EFF6FF"/>
            </a:solidFill>
            <a:prstDash val="solid"/>
          </a:ln>
        </p:spPr>
      </p:sp>
      <p:sp>
        <p:nvSpPr>
          <p:cNvPr id="34" name="Text 28"/>
          <p:cNvSpPr txBox="1"/>
          <p:nvPr/>
        </p:nvSpPr>
        <p:spPr>
          <a:xfrm>
            <a:off x="3807823" y="2697480"/>
            <a:ext cx="1378131" cy="685800"/>
          </a:xfrm>
          <a:prstGeom prst="rect">
            <a:avLst/>
          </a:prstGeom>
          <a:noFill/>
          <a:ln/>
        </p:spPr>
        <p:txBody>
          <a:bodyPr wrap="square" lIns="0" tIns="0" rIns="0" bIns="0" rtlCol="0" anchor="ctr"/>
          <a:lstStyle/>
          <a:p>
            <a:pPr algn="ctr" indent="0" marL="0">
              <a:buNone/>
            </a:pPr>
            <a:r>
              <a:rPr lang="en-US" sz="1050" b="1" dirty="0">
                <a:solidFill>
                  <a:srgbClr val="1D4ED8"/>
                </a:solidFill>
                <a:latin typeface="Inter" pitchFamily="34" charset="0"/>
                <a:ea typeface="Inter" pitchFamily="34" charset="-122"/>
                <a:cs typeface="Inter" pitchFamily="34" charset="-120"/>
              </a:rPr>
              <a:t>77% never order</a:t>
            </a:r>
            <a:endParaRPr lang="en-US" sz="1050" dirty="0"/>
          </a:p>
        </p:txBody>
      </p:sp>
      <p:sp>
        <p:nvSpPr>
          <p:cNvPr id="35" name="Text 29"/>
          <p:cNvSpPr txBox="1"/>
          <p:nvPr/>
        </p:nvSpPr>
        <p:spPr>
          <a:xfrm>
            <a:off x="3743815" y="3566160"/>
            <a:ext cx="1506147" cy="201168"/>
          </a:xfrm>
          <a:prstGeom prst="rect">
            <a:avLst/>
          </a:prstGeom>
          <a:noFill/>
          <a:ln/>
        </p:spPr>
        <p:txBody>
          <a:bodyPr wrap="square" lIns="0" tIns="0" rIns="0" bIns="0" rtlCol="0" anchor="t"/>
          <a:lstStyle/>
          <a:p>
            <a:pPr algn="ctr" indent="0" marL="0">
              <a:buNone/>
            </a:pPr>
            <a:r>
              <a:rPr lang="en-US" sz="850" dirty="0">
                <a:solidFill>
                  <a:srgbClr val="64748B"/>
                </a:solidFill>
                <a:latin typeface="Inter" pitchFamily="34" charset="0"/>
                <a:ea typeface="Inter" pitchFamily="34" charset="-122"/>
                <a:cs typeface="Inter" pitchFamily="34" charset="-120"/>
              </a:rPr>
              <a:t>Mechanism</a:t>
            </a:r>
            <a:endParaRPr lang="en-US" sz="850" dirty="0"/>
          </a:p>
        </p:txBody>
      </p:sp>
      <p:sp>
        <p:nvSpPr>
          <p:cNvPr id="36" name="Text 30"/>
          <p:cNvSpPr txBox="1"/>
          <p:nvPr/>
        </p:nvSpPr>
        <p:spPr>
          <a:xfrm>
            <a:off x="3743815" y="3767328"/>
            <a:ext cx="1506147" cy="457200"/>
          </a:xfrm>
          <a:prstGeom prst="rect">
            <a:avLst/>
          </a:prstGeom>
          <a:noFill/>
          <a:ln/>
        </p:spPr>
        <p:txBody>
          <a:bodyPr wrap="square" lIns="0" tIns="0" rIns="0" bIns="0" rtlCol="0" anchor="t"/>
          <a:lstStyle/>
          <a:p>
            <a:pPr algn="ctr" indent="0" marL="0">
              <a:buNone/>
            </a:pPr>
            <a:r>
              <a:rPr lang="en-US" sz="1050" dirty="0">
                <a:solidFill>
                  <a:srgbClr val="334155"/>
                </a:solidFill>
                <a:latin typeface="Inter" pitchFamily="34" charset="0"/>
                <a:ea typeface="Inter" pitchFamily="34" charset="-122"/>
                <a:cs typeface="Inter" pitchFamily="34" charset="-120"/>
              </a:rPr>
              <a:t>Unfinished task fades</a:t>
            </a:r>
            <a:endParaRPr lang="en-US" sz="1050" dirty="0"/>
          </a:p>
        </p:txBody>
      </p:sp>
      <p:sp>
        <p:nvSpPr>
          <p:cNvPr id="37" name="Shape 31"/>
          <p:cNvSpPr/>
          <p:nvPr/>
        </p:nvSpPr>
        <p:spPr>
          <a:xfrm>
            <a:off x="4387161" y="4297680"/>
            <a:ext cx="219456" cy="274320"/>
          </a:xfrm>
          <a:prstGeom prst="downArrow">
            <a:avLst/>
          </a:prstGeom>
          <a:solidFill>
            <a:srgbClr val="BFDBFE"/>
          </a:solidFill>
          <a:ln w="6350">
            <a:solidFill>
              <a:srgbClr val="BFDBFE"/>
            </a:solidFill>
            <a:prstDash val="solid"/>
          </a:ln>
        </p:spPr>
      </p:sp>
      <p:sp>
        <p:nvSpPr>
          <p:cNvPr id="38" name="Shape 32"/>
          <p:cNvSpPr/>
          <p:nvPr/>
        </p:nvSpPr>
        <p:spPr>
          <a:xfrm>
            <a:off x="3771247" y="4663440"/>
            <a:ext cx="1451283" cy="566928"/>
          </a:xfrm>
          <a:prstGeom prst="roundRect">
            <a:avLst>
              <a:gd name="adj" fmla="val 12903"/>
            </a:avLst>
          </a:prstGeom>
          <a:solidFill>
            <a:srgbClr val="0A1F44"/>
          </a:solidFill>
          <a:ln w="6350">
            <a:solidFill>
              <a:srgbClr val="0A1F44"/>
            </a:solidFill>
            <a:prstDash val="solid"/>
          </a:ln>
        </p:spPr>
      </p:sp>
      <p:sp>
        <p:nvSpPr>
          <p:cNvPr id="39" name="Text 33"/>
          <p:cNvSpPr txBox="1"/>
          <p:nvPr/>
        </p:nvSpPr>
        <p:spPr>
          <a:xfrm>
            <a:off x="3789535" y="4663440"/>
            <a:ext cx="1414707" cy="566928"/>
          </a:xfrm>
          <a:prstGeom prst="rect">
            <a:avLst/>
          </a:prstGeom>
          <a:noFill/>
          <a:ln/>
        </p:spPr>
        <p:txBody>
          <a:bodyPr wrap="square" lIns="0" tIns="0" rIns="0" bIns="0" rtlCol="0" anchor="ctr"/>
          <a:lstStyle/>
          <a:p>
            <a:pPr algn="ctr" indent="0" marL="0">
              <a:buNone/>
            </a:pPr>
            <a:r>
              <a:rPr lang="en-US" sz="1050" b="1" dirty="0">
                <a:solidFill>
                  <a:srgbClr val="FFFFFF"/>
                </a:solidFill>
                <a:latin typeface="Inter" pitchFamily="34" charset="0"/>
                <a:ea typeface="Inter" pitchFamily="34" charset="-122"/>
                <a:cs typeface="Inter" pitchFamily="34" charset="-120"/>
              </a:rPr>
              <a:t>Saved Cart</a:t>
            </a:r>
            <a:endParaRPr lang="en-US" sz="1050" dirty="0"/>
          </a:p>
        </p:txBody>
      </p:sp>
      <p:sp>
        <p:nvSpPr>
          <p:cNvPr id="40" name="Shape 34"/>
          <p:cNvSpPr/>
          <p:nvPr/>
        </p:nvSpPr>
        <p:spPr>
          <a:xfrm>
            <a:off x="5792724" y="1572768"/>
            <a:ext cx="603504" cy="603504"/>
          </a:xfrm>
          <a:prstGeom prst="ellipse">
            <a:avLst/>
          </a:prstGeom>
          <a:solidFill>
            <a:srgbClr val="0A1F44"/>
          </a:solidFill>
          <a:ln w="6350">
            <a:solidFill>
              <a:srgbClr val="0A1F44"/>
            </a:solidFill>
            <a:prstDash val="solid"/>
          </a:ln>
        </p:spPr>
      </p:sp>
      <p:pic>
        <p:nvPicPr>
          <p:cNvPr id="41" name="Image 4" descr="preencoded.png">    </p:cNvPr>
          <p:cNvPicPr>
            <a:picLocks noChangeAspect="1"/>
          </p:cNvPicPr>
          <p:nvPr/>
        </p:nvPicPr>
        <p:blipFill>
          <a:blip r:embed="rId5"/>
          <a:stretch>
            <a:fillRect/>
          </a:stretch>
        </p:blipFill>
        <p:spPr>
          <a:xfrm>
            <a:off x="5925495" y="1705539"/>
            <a:ext cx="337962" cy="337962"/>
          </a:xfrm>
          <a:prstGeom prst="rect">
            <a:avLst/>
          </a:prstGeom>
        </p:spPr>
      </p:pic>
      <p:sp>
        <p:nvSpPr>
          <p:cNvPr id="42" name="Text 35"/>
          <p:cNvSpPr txBox="1"/>
          <p:nvPr/>
        </p:nvSpPr>
        <p:spPr>
          <a:xfrm>
            <a:off x="5341402" y="2286000"/>
            <a:ext cx="1506147" cy="274320"/>
          </a:xfrm>
          <a:prstGeom prst="rect">
            <a:avLst/>
          </a:prstGeom>
          <a:noFill/>
          <a:ln/>
        </p:spPr>
        <p:txBody>
          <a:bodyPr wrap="square" lIns="0" tIns="0" rIns="0" bIns="0" rtlCol="0" anchor="t"/>
          <a:lstStyle/>
          <a:p>
            <a:pPr algn="ctr" indent="0" marL="0">
              <a:buNone/>
            </a:pPr>
            <a:r>
              <a:rPr lang="en-US" sz="1200" b="1" dirty="0">
                <a:solidFill>
                  <a:srgbClr val="0F172A"/>
                </a:solidFill>
                <a:latin typeface="Inter" pitchFamily="34" charset="0"/>
                <a:ea typeface="Inter" pitchFamily="34" charset="-122"/>
                <a:cs typeface="Inter" pitchFamily="34" charset="-120"/>
              </a:rPr>
              <a:t>Checkout</a:t>
            </a:r>
            <a:endParaRPr lang="en-US" sz="1200" dirty="0"/>
          </a:p>
        </p:txBody>
      </p:sp>
      <p:sp>
        <p:nvSpPr>
          <p:cNvPr id="43" name="Shape 36"/>
          <p:cNvSpPr/>
          <p:nvPr/>
        </p:nvSpPr>
        <p:spPr>
          <a:xfrm>
            <a:off x="5368834" y="2697480"/>
            <a:ext cx="1451283" cy="685800"/>
          </a:xfrm>
          <a:prstGeom prst="roundRect">
            <a:avLst>
              <a:gd name="adj" fmla="val 10667"/>
            </a:avLst>
          </a:prstGeom>
          <a:solidFill>
            <a:srgbClr val="EFF6FF"/>
          </a:solidFill>
          <a:ln w="6350">
            <a:solidFill>
              <a:srgbClr val="EFF6FF"/>
            </a:solidFill>
            <a:prstDash val="solid"/>
          </a:ln>
        </p:spPr>
      </p:sp>
      <p:sp>
        <p:nvSpPr>
          <p:cNvPr id="44" name="Text 37"/>
          <p:cNvSpPr txBox="1"/>
          <p:nvPr/>
        </p:nvSpPr>
        <p:spPr>
          <a:xfrm>
            <a:off x="5405410" y="2697480"/>
            <a:ext cx="1378131" cy="685800"/>
          </a:xfrm>
          <a:prstGeom prst="rect">
            <a:avLst/>
          </a:prstGeom>
          <a:noFill/>
          <a:ln/>
        </p:spPr>
        <p:txBody>
          <a:bodyPr wrap="square" lIns="0" tIns="0" rIns="0" bIns="0" rtlCol="0" anchor="ctr"/>
          <a:lstStyle/>
          <a:p>
            <a:pPr algn="ctr" indent="0" marL="0">
              <a:buNone/>
            </a:pPr>
            <a:r>
              <a:rPr lang="en-US" sz="1050" b="1" dirty="0">
                <a:solidFill>
                  <a:srgbClr val="1D4ED8"/>
                </a:solidFill>
                <a:latin typeface="Inter" pitchFamily="34" charset="0"/>
                <a:ea typeface="Inter" pitchFamily="34" charset="-122"/>
                <a:cs typeface="Inter" pitchFamily="34" charset="-120"/>
              </a:rPr>
              <a:t>App 27.1% vs web 22.7%</a:t>
            </a:r>
            <a:endParaRPr lang="en-US" sz="1050" dirty="0"/>
          </a:p>
        </p:txBody>
      </p:sp>
      <p:sp>
        <p:nvSpPr>
          <p:cNvPr id="45" name="Text 38"/>
          <p:cNvSpPr txBox="1"/>
          <p:nvPr/>
        </p:nvSpPr>
        <p:spPr>
          <a:xfrm>
            <a:off x="5341402" y="3566160"/>
            <a:ext cx="1506147" cy="201168"/>
          </a:xfrm>
          <a:prstGeom prst="rect">
            <a:avLst/>
          </a:prstGeom>
          <a:noFill/>
          <a:ln/>
        </p:spPr>
        <p:txBody>
          <a:bodyPr wrap="square" lIns="0" tIns="0" rIns="0" bIns="0" rtlCol="0" anchor="t"/>
          <a:lstStyle/>
          <a:p>
            <a:pPr algn="ctr" indent="0" marL="0">
              <a:buNone/>
            </a:pPr>
            <a:r>
              <a:rPr lang="en-US" sz="850" dirty="0">
                <a:solidFill>
                  <a:srgbClr val="64748B"/>
                </a:solidFill>
                <a:latin typeface="Inter" pitchFamily="34" charset="0"/>
                <a:ea typeface="Inter" pitchFamily="34" charset="-122"/>
                <a:cs typeface="Inter" pitchFamily="34" charset="-120"/>
              </a:rPr>
              <a:t>Mechanism</a:t>
            </a:r>
            <a:endParaRPr lang="en-US" sz="850" dirty="0"/>
          </a:p>
        </p:txBody>
      </p:sp>
      <p:sp>
        <p:nvSpPr>
          <p:cNvPr id="46" name="Text 39"/>
          <p:cNvSpPr txBox="1"/>
          <p:nvPr/>
        </p:nvSpPr>
        <p:spPr>
          <a:xfrm>
            <a:off x="5341402" y="3767328"/>
            <a:ext cx="1506147" cy="457200"/>
          </a:xfrm>
          <a:prstGeom prst="rect">
            <a:avLst/>
          </a:prstGeom>
          <a:noFill/>
          <a:ln/>
        </p:spPr>
        <p:txBody>
          <a:bodyPr wrap="square" lIns="0" tIns="0" rIns="0" bIns="0" rtlCol="0" anchor="t"/>
          <a:lstStyle/>
          <a:p>
            <a:pPr algn="ctr" indent="0" marL="0">
              <a:buNone/>
            </a:pPr>
            <a:r>
              <a:rPr lang="en-US" sz="1050" dirty="0">
                <a:solidFill>
                  <a:srgbClr val="334155"/>
                </a:solidFill>
                <a:latin typeface="Inter" pitchFamily="34" charset="0"/>
                <a:ea typeface="Inter" pitchFamily="34" charset="-122"/>
                <a:cs typeface="Inter" pitchFamily="34" charset="-120"/>
              </a:rPr>
              <a:t>Default effect</a:t>
            </a:r>
            <a:endParaRPr lang="en-US" sz="1050" dirty="0"/>
          </a:p>
        </p:txBody>
      </p:sp>
      <p:sp>
        <p:nvSpPr>
          <p:cNvPr id="47" name="Shape 40"/>
          <p:cNvSpPr/>
          <p:nvPr/>
        </p:nvSpPr>
        <p:spPr>
          <a:xfrm>
            <a:off x="5984748" y="4297680"/>
            <a:ext cx="219456" cy="274320"/>
          </a:xfrm>
          <a:prstGeom prst="downArrow">
            <a:avLst/>
          </a:prstGeom>
          <a:solidFill>
            <a:srgbClr val="BFDBFE"/>
          </a:solidFill>
          <a:ln w="6350">
            <a:solidFill>
              <a:srgbClr val="BFDBFE"/>
            </a:solidFill>
            <a:prstDash val="solid"/>
          </a:ln>
        </p:spPr>
      </p:sp>
      <p:sp>
        <p:nvSpPr>
          <p:cNvPr id="48" name="Shape 41"/>
          <p:cNvSpPr/>
          <p:nvPr/>
        </p:nvSpPr>
        <p:spPr>
          <a:xfrm>
            <a:off x="5368834" y="4663440"/>
            <a:ext cx="1451283" cy="566928"/>
          </a:xfrm>
          <a:prstGeom prst="roundRect">
            <a:avLst>
              <a:gd name="adj" fmla="val 12903"/>
            </a:avLst>
          </a:prstGeom>
          <a:solidFill>
            <a:srgbClr val="0A1F44"/>
          </a:solidFill>
          <a:ln w="6350">
            <a:solidFill>
              <a:srgbClr val="0A1F44"/>
            </a:solidFill>
            <a:prstDash val="solid"/>
          </a:ln>
        </p:spPr>
      </p:sp>
      <p:sp>
        <p:nvSpPr>
          <p:cNvPr id="49" name="Text 42"/>
          <p:cNvSpPr txBox="1"/>
          <p:nvPr/>
        </p:nvSpPr>
        <p:spPr>
          <a:xfrm>
            <a:off x="5387122" y="4663440"/>
            <a:ext cx="1414707" cy="566928"/>
          </a:xfrm>
          <a:prstGeom prst="rect">
            <a:avLst/>
          </a:prstGeom>
          <a:noFill/>
          <a:ln/>
        </p:spPr>
        <p:txBody>
          <a:bodyPr wrap="square" lIns="0" tIns="0" rIns="0" bIns="0" rtlCol="0" anchor="ctr"/>
          <a:lstStyle/>
          <a:p>
            <a:pPr algn="ctr" indent="0" marL="0">
              <a:buNone/>
            </a:pPr>
            <a:r>
              <a:rPr lang="en-US" sz="1050" b="1" dirty="0">
                <a:solidFill>
                  <a:srgbClr val="FFFFFF"/>
                </a:solidFill>
                <a:latin typeface="Inter" pitchFamily="34" charset="0"/>
                <a:ea typeface="Inter" pitchFamily="34" charset="-122"/>
                <a:cs typeface="Inter" pitchFamily="34" charset="-120"/>
              </a:rPr>
              <a:t>Track It in the App</a:t>
            </a:r>
            <a:endParaRPr lang="en-US" sz="1050" dirty="0"/>
          </a:p>
        </p:txBody>
      </p:sp>
      <p:sp>
        <p:nvSpPr>
          <p:cNvPr id="50" name="Shape 43"/>
          <p:cNvSpPr/>
          <p:nvPr/>
        </p:nvSpPr>
        <p:spPr>
          <a:xfrm>
            <a:off x="7390311" y="1572768"/>
            <a:ext cx="603504" cy="603504"/>
          </a:xfrm>
          <a:prstGeom prst="ellipse">
            <a:avLst/>
          </a:prstGeom>
          <a:solidFill>
            <a:srgbClr val="1D4ED8"/>
          </a:solidFill>
          <a:ln w="6350">
            <a:solidFill>
              <a:srgbClr val="1D4ED8"/>
            </a:solidFill>
            <a:prstDash val="solid"/>
          </a:ln>
        </p:spPr>
      </p:sp>
      <p:pic>
        <p:nvPicPr>
          <p:cNvPr id="51" name="Image 5" descr="preencoded.png">    </p:cNvPr>
          <p:cNvPicPr>
            <a:picLocks noChangeAspect="1"/>
          </p:cNvPicPr>
          <p:nvPr/>
        </p:nvPicPr>
        <p:blipFill>
          <a:blip r:embed="rId6"/>
          <a:stretch>
            <a:fillRect/>
          </a:stretch>
        </p:blipFill>
        <p:spPr>
          <a:xfrm>
            <a:off x="7523082" y="1705539"/>
            <a:ext cx="337962" cy="337962"/>
          </a:xfrm>
          <a:prstGeom prst="rect">
            <a:avLst/>
          </a:prstGeom>
        </p:spPr>
      </p:pic>
      <p:sp>
        <p:nvSpPr>
          <p:cNvPr id="52" name="Text 44"/>
          <p:cNvSpPr txBox="1"/>
          <p:nvPr/>
        </p:nvSpPr>
        <p:spPr>
          <a:xfrm>
            <a:off x="6938990" y="2286000"/>
            <a:ext cx="1506147" cy="274320"/>
          </a:xfrm>
          <a:prstGeom prst="rect">
            <a:avLst/>
          </a:prstGeom>
          <a:noFill/>
          <a:ln/>
        </p:spPr>
        <p:txBody>
          <a:bodyPr wrap="square" lIns="0" tIns="0" rIns="0" bIns="0" rtlCol="0" anchor="t"/>
          <a:lstStyle/>
          <a:p>
            <a:pPr algn="ctr" indent="0" marL="0">
              <a:buNone/>
            </a:pPr>
            <a:r>
              <a:rPr lang="en-US" sz="1200" b="1" dirty="0">
                <a:solidFill>
                  <a:srgbClr val="0F172A"/>
                </a:solidFill>
                <a:latin typeface="Inter" pitchFamily="34" charset="0"/>
                <a:ea typeface="Inter" pitchFamily="34" charset="-122"/>
                <a:cs typeface="Inter" pitchFamily="34" charset="-120"/>
              </a:rPr>
              <a:t>Delivery</a:t>
            </a:r>
            <a:endParaRPr lang="en-US" sz="1200" dirty="0"/>
          </a:p>
        </p:txBody>
      </p:sp>
      <p:sp>
        <p:nvSpPr>
          <p:cNvPr id="53" name="Shape 45"/>
          <p:cNvSpPr/>
          <p:nvPr/>
        </p:nvSpPr>
        <p:spPr>
          <a:xfrm>
            <a:off x="6966422" y="2697480"/>
            <a:ext cx="1451283" cy="685800"/>
          </a:xfrm>
          <a:prstGeom prst="roundRect">
            <a:avLst>
              <a:gd name="adj" fmla="val 10667"/>
            </a:avLst>
          </a:prstGeom>
          <a:solidFill>
            <a:srgbClr val="EFF6FF"/>
          </a:solidFill>
          <a:ln w="6350">
            <a:solidFill>
              <a:srgbClr val="EFF6FF"/>
            </a:solidFill>
            <a:prstDash val="solid"/>
          </a:ln>
        </p:spPr>
      </p:sp>
      <p:sp>
        <p:nvSpPr>
          <p:cNvPr id="54" name="Text 46"/>
          <p:cNvSpPr txBox="1"/>
          <p:nvPr/>
        </p:nvSpPr>
        <p:spPr>
          <a:xfrm>
            <a:off x="7002998" y="2697480"/>
            <a:ext cx="1378131" cy="685800"/>
          </a:xfrm>
          <a:prstGeom prst="rect">
            <a:avLst/>
          </a:prstGeom>
          <a:noFill/>
          <a:ln/>
        </p:spPr>
        <p:txBody>
          <a:bodyPr wrap="square" lIns="0" tIns="0" rIns="0" bIns="0" rtlCol="0" anchor="ctr"/>
          <a:lstStyle/>
          <a:p>
            <a:pPr algn="ctr" indent="0" marL="0">
              <a:buNone/>
            </a:pPr>
            <a:r>
              <a:rPr lang="en-US" sz="1050" b="1" dirty="0">
                <a:solidFill>
                  <a:srgbClr val="1D4ED8"/>
                </a:solidFill>
                <a:latin typeface="Inter" pitchFamily="34" charset="0"/>
                <a:ea typeface="Inter" pitchFamily="34" charset="-122"/>
                <a:cs typeface="Inter" pitchFamily="34" charset="-120"/>
              </a:rPr>
              <a:t>24.5% engage (A2)</a:t>
            </a:r>
            <a:endParaRPr lang="en-US" sz="1050" dirty="0"/>
          </a:p>
        </p:txBody>
      </p:sp>
      <p:sp>
        <p:nvSpPr>
          <p:cNvPr id="55" name="Text 47"/>
          <p:cNvSpPr txBox="1"/>
          <p:nvPr/>
        </p:nvSpPr>
        <p:spPr>
          <a:xfrm>
            <a:off x="6938990" y="3566160"/>
            <a:ext cx="1506147" cy="201168"/>
          </a:xfrm>
          <a:prstGeom prst="rect">
            <a:avLst/>
          </a:prstGeom>
          <a:noFill/>
          <a:ln/>
        </p:spPr>
        <p:txBody>
          <a:bodyPr wrap="square" lIns="0" tIns="0" rIns="0" bIns="0" rtlCol="0" anchor="t"/>
          <a:lstStyle/>
          <a:p>
            <a:pPr algn="ctr" indent="0" marL="0">
              <a:buNone/>
            </a:pPr>
            <a:r>
              <a:rPr lang="en-US" sz="850" dirty="0">
                <a:solidFill>
                  <a:srgbClr val="64748B"/>
                </a:solidFill>
                <a:latin typeface="Inter" pitchFamily="34" charset="0"/>
                <a:ea typeface="Inter" pitchFamily="34" charset="-122"/>
                <a:cs typeface="Inter" pitchFamily="34" charset="-120"/>
              </a:rPr>
              <a:t>Mechanism</a:t>
            </a:r>
            <a:endParaRPr lang="en-US" sz="850" dirty="0"/>
          </a:p>
        </p:txBody>
      </p:sp>
      <p:sp>
        <p:nvSpPr>
          <p:cNvPr id="56" name="Text 48"/>
          <p:cNvSpPr txBox="1"/>
          <p:nvPr/>
        </p:nvSpPr>
        <p:spPr>
          <a:xfrm>
            <a:off x="6938990" y="3767328"/>
            <a:ext cx="1506147" cy="457200"/>
          </a:xfrm>
          <a:prstGeom prst="rect">
            <a:avLst/>
          </a:prstGeom>
          <a:noFill/>
          <a:ln/>
        </p:spPr>
        <p:txBody>
          <a:bodyPr wrap="square" lIns="0" tIns="0" rIns="0" bIns="0" rtlCol="0" anchor="t"/>
          <a:lstStyle/>
          <a:p>
            <a:pPr algn="ctr" indent="0" marL="0">
              <a:buNone/>
            </a:pPr>
            <a:r>
              <a:rPr lang="en-US" sz="1050" dirty="0">
                <a:solidFill>
                  <a:srgbClr val="334155"/>
                </a:solidFill>
                <a:latin typeface="Inter" pitchFamily="34" charset="0"/>
                <a:ea typeface="Inter" pitchFamily="34" charset="-122"/>
                <a:cs typeface="Inter" pitchFamily="34" charset="-120"/>
              </a:rPr>
              <a:t>Peak-end, endowment</a:t>
            </a:r>
            <a:endParaRPr lang="en-US" sz="1050" dirty="0"/>
          </a:p>
        </p:txBody>
      </p:sp>
      <p:sp>
        <p:nvSpPr>
          <p:cNvPr id="57" name="Shape 49"/>
          <p:cNvSpPr/>
          <p:nvPr/>
        </p:nvSpPr>
        <p:spPr>
          <a:xfrm>
            <a:off x="7582335" y="4297680"/>
            <a:ext cx="219456" cy="274320"/>
          </a:xfrm>
          <a:prstGeom prst="downArrow">
            <a:avLst/>
          </a:prstGeom>
          <a:solidFill>
            <a:srgbClr val="BFDBFE"/>
          </a:solidFill>
          <a:ln w="6350">
            <a:solidFill>
              <a:srgbClr val="BFDBFE"/>
            </a:solidFill>
            <a:prstDash val="solid"/>
          </a:ln>
        </p:spPr>
      </p:sp>
      <p:sp>
        <p:nvSpPr>
          <p:cNvPr id="58" name="Shape 50"/>
          <p:cNvSpPr/>
          <p:nvPr/>
        </p:nvSpPr>
        <p:spPr>
          <a:xfrm>
            <a:off x="6966422" y="4663440"/>
            <a:ext cx="1451283" cy="566928"/>
          </a:xfrm>
          <a:prstGeom prst="roundRect">
            <a:avLst>
              <a:gd name="adj" fmla="val 12903"/>
            </a:avLst>
          </a:prstGeom>
          <a:solidFill>
            <a:srgbClr val="0A1F44"/>
          </a:solidFill>
          <a:ln w="6350">
            <a:solidFill>
              <a:srgbClr val="0A1F44"/>
            </a:solidFill>
            <a:prstDash val="solid"/>
          </a:ln>
        </p:spPr>
      </p:sp>
      <p:sp>
        <p:nvSpPr>
          <p:cNvPr id="59" name="Text 51"/>
          <p:cNvSpPr txBox="1"/>
          <p:nvPr/>
        </p:nvSpPr>
        <p:spPr>
          <a:xfrm>
            <a:off x="6984710" y="4663440"/>
            <a:ext cx="1414707" cy="566928"/>
          </a:xfrm>
          <a:prstGeom prst="rect">
            <a:avLst/>
          </a:prstGeom>
          <a:noFill/>
          <a:ln/>
        </p:spPr>
        <p:txBody>
          <a:bodyPr wrap="square" lIns="0" tIns="0" rIns="0" bIns="0" rtlCol="0" anchor="ctr"/>
          <a:lstStyle/>
          <a:p>
            <a:pPr algn="ctr" indent="0" marL="0">
              <a:buNone/>
            </a:pPr>
            <a:r>
              <a:rPr lang="en-US" sz="1050" b="1" dirty="0">
                <a:solidFill>
                  <a:srgbClr val="FFFFFF"/>
                </a:solidFill>
                <a:latin typeface="Inter" pitchFamily="34" charset="0"/>
                <a:ea typeface="Inter" pitchFamily="34" charset="-122"/>
                <a:cs typeface="Inter" pitchFamily="34" charset="-120"/>
              </a:rPr>
              <a:t>Quince Passport</a:t>
            </a:r>
            <a:endParaRPr lang="en-US" sz="1050" dirty="0"/>
          </a:p>
        </p:txBody>
      </p:sp>
      <p:sp>
        <p:nvSpPr>
          <p:cNvPr id="60" name="Shape 52"/>
          <p:cNvSpPr/>
          <p:nvPr/>
        </p:nvSpPr>
        <p:spPr>
          <a:xfrm>
            <a:off x="8987899" y="1572768"/>
            <a:ext cx="603504" cy="603504"/>
          </a:xfrm>
          <a:prstGeom prst="ellipse">
            <a:avLst/>
          </a:prstGeom>
          <a:solidFill>
            <a:srgbClr val="1D4ED8"/>
          </a:solidFill>
          <a:ln w="6350">
            <a:solidFill>
              <a:srgbClr val="1D4ED8"/>
            </a:solidFill>
            <a:prstDash val="solid"/>
          </a:ln>
        </p:spPr>
      </p:sp>
      <p:pic>
        <p:nvPicPr>
          <p:cNvPr id="61" name="Image 6" descr="preencoded.png">    </p:cNvPr>
          <p:cNvPicPr>
            <a:picLocks noChangeAspect="1"/>
          </p:cNvPicPr>
          <p:nvPr/>
        </p:nvPicPr>
        <p:blipFill>
          <a:blip r:embed="rId7"/>
          <a:stretch>
            <a:fillRect/>
          </a:stretch>
        </p:blipFill>
        <p:spPr>
          <a:xfrm>
            <a:off x="9120670" y="1705539"/>
            <a:ext cx="337962" cy="337962"/>
          </a:xfrm>
          <a:prstGeom prst="rect">
            <a:avLst/>
          </a:prstGeom>
        </p:spPr>
      </p:pic>
      <p:sp>
        <p:nvSpPr>
          <p:cNvPr id="62" name="Text 53"/>
          <p:cNvSpPr txBox="1"/>
          <p:nvPr/>
        </p:nvSpPr>
        <p:spPr>
          <a:xfrm>
            <a:off x="8536577" y="2286000"/>
            <a:ext cx="1506147" cy="274320"/>
          </a:xfrm>
          <a:prstGeom prst="rect">
            <a:avLst/>
          </a:prstGeom>
          <a:noFill/>
          <a:ln/>
        </p:spPr>
        <p:txBody>
          <a:bodyPr wrap="square" lIns="0" tIns="0" rIns="0" bIns="0" rtlCol="0" anchor="t"/>
          <a:lstStyle/>
          <a:p>
            <a:pPr algn="ctr" indent="0" marL="0">
              <a:buNone/>
            </a:pPr>
            <a:r>
              <a:rPr lang="en-US" sz="1200" b="1" dirty="0">
                <a:solidFill>
                  <a:srgbClr val="0F172A"/>
                </a:solidFill>
                <a:latin typeface="Inter" pitchFamily="34" charset="0"/>
                <a:ea typeface="Inter" pitchFamily="34" charset="-122"/>
                <a:cs typeface="Inter" pitchFamily="34" charset="-120"/>
              </a:rPr>
              <a:t>Days 0–30</a:t>
            </a:r>
            <a:endParaRPr lang="en-US" sz="1200" dirty="0"/>
          </a:p>
        </p:txBody>
      </p:sp>
      <p:sp>
        <p:nvSpPr>
          <p:cNvPr id="63" name="Shape 54"/>
          <p:cNvSpPr/>
          <p:nvPr/>
        </p:nvSpPr>
        <p:spPr>
          <a:xfrm>
            <a:off x="8564009" y="2697480"/>
            <a:ext cx="1451283" cy="685800"/>
          </a:xfrm>
          <a:prstGeom prst="roundRect">
            <a:avLst>
              <a:gd name="adj" fmla="val 10667"/>
            </a:avLst>
          </a:prstGeom>
          <a:solidFill>
            <a:srgbClr val="EFF6FF"/>
          </a:solidFill>
          <a:ln w="6350">
            <a:solidFill>
              <a:srgbClr val="EFF6FF"/>
            </a:solidFill>
            <a:prstDash val="solid"/>
          </a:ln>
        </p:spPr>
      </p:sp>
      <p:sp>
        <p:nvSpPr>
          <p:cNvPr id="64" name="Text 55"/>
          <p:cNvSpPr txBox="1"/>
          <p:nvPr/>
        </p:nvSpPr>
        <p:spPr>
          <a:xfrm>
            <a:off x="8600585" y="2697480"/>
            <a:ext cx="1378131" cy="685800"/>
          </a:xfrm>
          <a:prstGeom prst="rect">
            <a:avLst/>
          </a:prstGeom>
          <a:noFill/>
          <a:ln/>
        </p:spPr>
        <p:txBody>
          <a:bodyPr wrap="square" lIns="0" tIns="0" rIns="0" bIns="0" rtlCol="0" anchor="ctr"/>
          <a:lstStyle/>
          <a:p>
            <a:pPr algn="ctr" indent="0" marL="0">
              <a:buNone/>
            </a:pPr>
            <a:r>
              <a:rPr lang="en-US" sz="1050" b="1" dirty="0">
                <a:solidFill>
                  <a:srgbClr val="1D4ED8"/>
                </a:solidFill>
                <a:latin typeface="Inter" pitchFamily="34" charset="0"/>
                <a:ea typeface="Inter" pitchFamily="34" charset="-122"/>
                <a:cs typeface="Inter" pitchFamily="34" charset="-120"/>
              </a:rPr>
              <a:t>Week-2 peak 5.6%</a:t>
            </a:r>
            <a:endParaRPr lang="en-US" sz="1050" dirty="0"/>
          </a:p>
        </p:txBody>
      </p:sp>
      <p:sp>
        <p:nvSpPr>
          <p:cNvPr id="65" name="Text 56"/>
          <p:cNvSpPr txBox="1"/>
          <p:nvPr/>
        </p:nvSpPr>
        <p:spPr>
          <a:xfrm>
            <a:off x="8536577" y="3566160"/>
            <a:ext cx="1506147" cy="201168"/>
          </a:xfrm>
          <a:prstGeom prst="rect">
            <a:avLst/>
          </a:prstGeom>
          <a:noFill/>
          <a:ln/>
        </p:spPr>
        <p:txBody>
          <a:bodyPr wrap="square" lIns="0" tIns="0" rIns="0" bIns="0" rtlCol="0" anchor="t"/>
          <a:lstStyle/>
          <a:p>
            <a:pPr algn="ctr" indent="0" marL="0">
              <a:buNone/>
            </a:pPr>
            <a:r>
              <a:rPr lang="en-US" sz="850" dirty="0">
                <a:solidFill>
                  <a:srgbClr val="64748B"/>
                </a:solidFill>
                <a:latin typeface="Inter" pitchFamily="34" charset="0"/>
                <a:ea typeface="Inter" pitchFamily="34" charset="-122"/>
                <a:cs typeface="Inter" pitchFamily="34" charset="-120"/>
              </a:rPr>
              <a:t>Mechanism</a:t>
            </a:r>
            <a:endParaRPr lang="en-US" sz="850" dirty="0"/>
          </a:p>
        </p:txBody>
      </p:sp>
      <p:sp>
        <p:nvSpPr>
          <p:cNvPr id="66" name="Text 57"/>
          <p:cNvSpPr txBox="1"/>
          <p:nvPr/>
        </p:nvSpPr>
        <p:spPr>
          <a:xfrm>
            <a:off x="8536577" y="3767328"/>
            <a:ext cx="1506147" cy="457200"/>
          </a:xfrm>
          <a:prstGeom prst="rect">
            <a:avLst/>
          </a:prstGeom>
          <a:noFill/>
          <a:ln/>
        </p:spPr>
        <p:txBody>
          <a:bodyPr wrap="square" lIns="0" tIns="0" rIns="0" bIns="0" rtlCol="0" anchor="t"/>
          <a:lstStyle/>
          <a:p>
            <a:pPr algn="ctr" indent="0" marL="0">
              <a:buNone/>
            </a:pPr>
            <a:r>
              <a:rPr lang="en-US" sz="1050" dirty="0">
                <a:solidFill>
                  <a:srgbClr val="334155"/>
                </a:solidFill>
                <a:latin typeface="Inter" pitchFamily="34" charset="0"/>
                <a:ea typeface="Inter" pitchFamily="34" charset="-122"/>
                <a:cs typeface="Inter" pitchFamily="34" charset="-120"/>
              </a:rPr>
              <a:t>Habit formation</a:t>
            </a:r>
            <a:endParaRPr lang="en-US" sz="1050" dirty="0"/>
          </a:p>
        </p:txBody>
      </p:sp>
      <p:sp>
        <p:nvSpPr>
          <p:cNvPr id="67" name="Shape 58"/>
          <p:cNvSpPr/>
          <p:nvPr/>
        </p:nvSpPr>
        <p:spPr>
          <a:xfrm>
            <a:off x="9179923" y="4297680"/>
            <a:ext cx="219456" cy="274320"/>
          </a:xfrm>
          <a:prstGeom prst="downArrow">
            <a:avLst/>
          </a:prstGeom>
          <a:solidFill>
            <a:srgbClr val="BFDBFE"/>
          </a:solidFill>
          <a:ln w="6350">
            <a:solidFill>
              <a:srgbClr val="BFDBFE"/>
            </a:solidFill>
            <a:prstDash val="solid"/>
          </a:ln>
        </p:spPr>
      </p:sp>
      <p:sp>
        <p:nvSpPr>
          <p:cNvPr id="68" name="Shape 59"/>
          <p:cNvSpPr/>
          <p:nvPr/>
        </p:nvSpPr>
        <p:spPr>
          <a:xfrm>
            <a:off x="8564009" y="4663440"/>
            <a:ext cx="1451283" cy="566928"/>
          </a:xfrm>
          <a:prstGeom prst="roundRect">
            <a:avLst>
              <a:gd name="adj" fmla="val 12903"/>
            </a:avLst>
          </a:prstGeom>
          <a:solidFill>
            <a:srgbClr val="0A1F44"/>
          </a:solidFill>
          <a:ln w="6350">
            <a:solidFill>
              <a:srgbClr val="0A1F44"/>
            </a:solidFill>
            <a:prstDash val="solid"/>
          </a:ln>
        </p:spPr>
      </p:sp>
      <p:sp>
        <p:nvSpPr>
          <p:cNvPr id="69" name="Text 60"/>
          <p:cNvSpPr txBox="1"/>
          <p:nvPr/>
        </p:nvSpPr>
        <p:spPr>
          <a:xfrm>
            <a:off x="8582297" y="4663440"/>
            <a:ext cx="1414707" cy="566928"/>
          </a:xfrm>
          <a:prstGeom prst="rect">
            <a:avLst/>
          </a:prstGeom>
          <a:noFill/>
          <a:ln/>
        </p:spPr>
        <p:txBody>
          <a:bodyPr wrap="square" lIns="0" tIns="0" rIns="0" bIns="0" rtlCol="0" anchor="ctr"/>
          <a:lstStyle/>
          <a:p>
            <a:pPr algn="ctr" indent="0" marL="0">
              <a:buNone/>
            </a:pPr>
            <a:r>
              <a:rPr lang="en-US" sz="1050" b="1" dirty="0">
                <a:solidFill>
                  <a:srgbClr val="FFFFFF"/>
                </a:solidFill>
                <a:latin typeface="Inter" pitchFamily="34" charset="0"/>
                <a:ea typeface="Inter" pitchFamily="34" charset="-122"/>
                <a:cs typeface="Inter" pitchFamily="34" charset="-120"/>
              </a:rPr>
              <a:t>Care Calendar</a:t>
            </a:r>
            <a:endParaRPr lang="en-US" sz="1050" dirty="0"/>
          </a:p>
        </p:txBody>
      </p:sp>
      <p:sp>
        <p:nvSpPr>
          <p:cNvPr id="70" name="Shape 61"/>
          <p:cNvSpPr/>
          <p:nvPr/>
        </p:nvSpPr>
        <p:spPr>
          <a:xfrm>
            <a:off x="10585486" y="1572768"/>
            <a:ext cx="603504" cy="603504"/>
          </a:xfrm>
          <a:prstGeom prst="ellipse">
            <a:avLst/>
          </a:prstGeom>
          <a:solidFill>
            <a:srgbClr val="1D4ED8"/>
          </a:solidFill>
          <a:ln w="6350">
            <a:solidFill>
              <a:srgbClr val="1D4ED8"/>
            </a:solidFill>
            <a:prstDash val="solid"/>
          </a:ln>
        </p:spPr>
      </p:sp>
      <p:pic>
        <p:nvPicPr>
          <p:cNvPr id="71" name="Image 7" descr="preencoded.png">    </p:cNvPr>
          <p:cNvPicPr>
            <a:picLocks noChangeAspect="1"/>
          </p:cNvPicPr>
          <p:nvPr/>
        </p:nvPicPr>
        <p:blipFill>
          <a:blip r:embed="rId8"/>
          <a:stretch>
            <a:fillRect/>
          </a:stretch>
        </p:blipFill>
        <p:spPr>
          <a:xfrm>
            <a:off x="10718257" y="1705539"/>
            <a:ext cx="337962" cy="337962"/>
          </a:xfrm>
          <a:prstGeom prst="rect">
            <a:avLst/>
          </a:prstGeom>
        </p:spPr>
      </p:pic>
      <p:sp>
        <p:nvSpPr>
          <p:cNvPr id="72" name="Text 62"/>
          <p:cNvSpPr txBox="1"/>
          <p:nvPr/>
        </p:nvSpPr>
        <p:spPr>
          <a:xfrm>
            <a:off x="10134165" y="2286000"/>
            <a:ext cx="1506147" cy="274320"/>
          </a:xfrm>
          <a:prstGeom prst="rect">
            <a:avLst/>
          </a:prstGeom>
          <a:noFill/>
          <a:ln/>
        </p:spPr>
        <p:txBody>
          <a:bodyPr wrap="square" lIns="0" tIns="0" rIns="0" bIns="0" rtlCol="0" anchor="t"/>
          <a:lstStyle/>
          <a:p>
            <a:pPr algn="ctr" indent="0" marL="0">
              <a:buNone/>
            </a:pPr>
            <a:r>
              <a:rPr lang="en-US" sz="1200" b="1" dirty="0">
                <a:solidFill>
                  <a:srgbClr val="0F172A"/>
                </a:solidFill>
                <a:latin typeface="Inter" pitchFamily="34" charset="0"/>
                <a:ea typeface="Inter" pitchFamily="34" charset="-122"/>
                <a:cs typeface="Inter" pitchFamily="34" charset="-120"/>
              </a:rPr>
              <a:t>Days 30–90</a:t>
            </a:r>
            <a:endParaRPr lang="en-US" sz="1200" dirty="0"/>
          </a:p>
        </p:txBody>
      </p:sp>
      <p:sp>
        <p:nvSpPr>
          <p:cNvPr id="73" name="Shape 63"/>
          <p:cNvSpPr/>
          <p:nvPr/>
        </p:nvSpPr>
        <p:spPr>
          <a:xfrm>
            <a:off x="10161597" y="2697480"/>
            <a:ext cx="1451283" cy="685800"/>
          </a:xfrm>
          <a:prstGeom prst="roundRect">
            <a:avLst>
              <a:gd name="adj" fmla="val 10667"/>
            </a:avLst>
          </a:prstGeom>
          <a:solidFill>
            <a:srgbClr val="EFF6FF"/>
          </a:solidFill>
          <a:ln w="6350">
            <a:solidFill>
              <a:srgbClr val="EFF6FF"/>
            </a:solidFill>
            <a:prstDash val="solid"/>
          </a:ln>
        </p:spPr>
      </p:sp>
      <p:sp>
        <p:nvSpPr>
          <p:cNvPr id="74" name="Text 64"/>
          <p:cNvSpPr txBox="1"/>
          <p:nvPr/>
        </p:nvSpPr>
        <p:spPr>
          <a:xfrm>
            <a:off x="10198173" y="2697480"/>
            <a:ext cx="1378131" cy="685800"/>
          </a:xfrm>
          <a:prstGeom prst="rect">
            <a:avLst/>
          </a:prstGeom>
          <a:noFill/>
          <a:ln/>
        </p:spPr>
        <p:txBody>
          <a:bodyPr wrap="square" lIns="0" tIns="0" rIns="0" bIns="0" rtlCol="0" anchor="ctr"/>
          <a:lstStyle/>
          <a:p>
            <a:pPr algn="ctr" indent="0" marL="0">
              <a:buNone/>
            </a:pPr>
            <a:r>
              <a:rPr lang="en-US" sz="1050" b="1" dirty="0">
                <a:solidFill>
                  <a:srgbClr val="1D4ED8"/>
                </a:solidFill>
                <a:latin typeface="Inter" pitchFamily="34" charset="0"/>
                <a:ea typeface="Inter" pitchFamily="34" charset="-122"/>
                <a:cs typeface="Inter" pitchFamily="34" charset="-120"/>
              </a:rPr>
              <a:t>Cashmere 13.7%</a:t>
            </a:r>
            <a:endParaRPr lang="en-US" sz="1050" dirty="0"/>
          </a:p>
        </p:txBody>
      </p:sp>
      <p:sp>
        <p:nvSpPr>
          <p:cNvPr id="75" name="Text 65"/>
          <p:cNvSpPr txBox="1"/>
          <p:nvPr/>
        </p:nvSpPr>
        <p:spPr>
          <a:xfrm>
            <a:off x="10134165" y="3566160"/>
            <a:ext cx="1506147" cy="201168"/>
          </a:xfrm>
          <a:prstGeom prst="rect">
            <a:avLst/>
          </a:prstGeom>
          <a:noFill/>
          <a:ln/>
        </p:spPr>
        <p:txBody>
          <a:bodyPr wrap="square" lIns="0" tIns="0" rIns="0" bIns="0" rtlCol="0" anchor="t"/>
          <a:lstStyle/>
          <a:p>
            <a:pPr algn="ctr" indent="0" marL="0">
              <a:buNone/>
            </a:pPr>
            <a:r>
              <a:rPr lang="en-US" sz="850" dirty="0">
                <a:solidFill>
                  <a:srgbClr val="64748B"/>
                </a:solidFill>
                <a:latin typeface="Inter" pitchFamily="34" charset="0"/>
                <a:ea typeface="Inter" pitchFamily="34" charset="-122"/>
                <a:cs typeface="Inter" pitchFamily="34" charset="-120"/>
              </a:rPr>
              <a:t>Mechanism</a:t>
            </a:r>
            <a:endParaRPr lang="en-US" sz="850" dirty="0"/>
          </a:p>
        </p:txBody>
      </p:sp>
      <p:sp>
        <p:nvSpPr>
          <p:cNvPr id="76" name="Text 66"/>
          <p:cNvSpPr txBox="1"/>
          <p:nvPr/>
        </p:nvSpPr>
        <p:spPr>
          <a:xfrm>
            <a:off x="10134165" y="3767328"/>
            <a:ext cx="1506147" cy="457200"/>
          </a:xfrm>
          <a:prstGeom prst="rect">
            <a:avLst/>
          </a:prstGeom>
          <a:noFill/>
          <a:ln/>
        </p:spPr>
        <p:txBody>
          <a:bodyPr wrap="square" lIns="0" tIns="0" rIns="0" bIns="0" rtlCol="0" anchor="t"/>
          <a:lstStyle/>
          <a:p>
            <a:pPr algn="ctr" indent="0" marL="0">
              <a:buNone/>
            </a:pPr>
            <a:r>
              <a:rPr lang="en-US" sz="1050" dirty="0">
                <a:solidFill>
                  <a:srgbClr val="334155"/>
                </a:solidFill>
                <a:latin typeface="Inter" pitchFamily="34" charset="0"/>
                <a:ea typeface="Inter" pitchFamily="34" charset="-122"/>
                <a:cs typeface="Inter" pitchFamily="34" charset="-120"/>
              </a:rPr>
              <a:t>Mental accounting</a:t>
            </a:r>
            <a:endParaRPr lang="en-US" sz="1050" dirty="0"/>
          </a:p>
        </p:txBody>
      </p:sp>
      <p:sp>
        <p:nvSpPr>
          <p:cNvPr id="77" name="Shape 67"/>
          <p:cNvSpPr/>
          <p:nvPr/>
        </p:nvSpPr>
        <p:spPr>
          <a:xfrm>
            <a:off x="10777510" y="4297680"/>
            <a:ext cx="219456" cy="274320"/>
          </a:xfrm>
          <a:prstGeom prst="downArrow">
            <a:avLst/>
          </a:prstGeom>
          <a:solidFill>
            <a:srgbClr val="BFDBFE"/>
          </a:solidFill>
          <a:ln w="6350">
            <a:solidFill>
              <a:srgbClr val="BFDBFE"/>
            </a:solidFill>
            <a:prstDash val="solid"/>
          </a:ln>
        </p:spPr>
      </p:sp>
      <p:sp>
        <p:nvSpPr>
          <p:cNvPr id="78" name="Shape 68"/>
          <p:cNvSpPr/>
          <p:nvPr/>
        </p:nvSpPr>
        <p:spPr>
          <a:xfrm>
            <a:off x="10161597" y="4663440"/>
            <a:ext cx="1451283" cy="566928"/>
          </a:xfrm>
          <a:prstGeom prst="roundRect">
            <a:avLst>
              <a:gd name="adj" fmla="val 12903"/>
            </a:avLst>
          </a:prstGeom>
          <a:solidFill>
            <a:srgbClr val="0A1F44"/>
          </a:solidFill>
          <a:ln w="6350">
            <a:solidFill>
              <a:srgbClr val="0A1F44"/>
            </a:solidFill>
            <a:prstDash val="solid"/>
          </a:ln>
        </p:spPr>
      </p:sp>
      <p:sp>
        <p:nvSpPr>
          <p:cNvPr id="79" name="Text 69"/>
          <p:cNvSpPr txBox="1"/>
          <p:nvPr/>
        </p:nvSpPr>
        <p:spPr>
          <a:xfrm>
            <a:off x="10179885" y="4663440"/>
            <a:ext cx="1414707" cy="566928"/>
          </a:xfrm>
          <a:prstGeom prst="rect">
            <a:avLst/>
          </a:prstGeom>
          <a:noFill/>
          <a:ln/>
        </p:spPr>
        <p:txBody>
          <a:bodyPr wrap="square" lIns="0" tIns="0" rIns="0" bIns="0" rtlCol="0" anchor="ctr"/>
          <a:lstStyle/>
          <a:p>
            <a:pPr algn="ctr" indent="0" marL="0">
              <a:buNone/>
            </a:pPr>
            <a:r>
              <a:rPr lang="en-US" sz="1050" b="1" dirty="0">
                <a:solidFill>
                  <a:srgbClr val="FFFFFF"/>
                </a:solidFill>
                <a:latin typeface="Inter" pitchFamily="34" charset="0"/>
                <a:ea typeface="Inter" pitchFamily="34" charset="-122"/>
                <a:cs typeface="Inter" pitchFamily="34" charset="-120"/>
              </a:rPr>
              <a:t>Material Journeys</a:t>
            </a:r>
            <a:endParaRPr lang="en-US" sz="1050" dirty="0"/>
          </a:p>
        </p:txBody>
      </p:sp>
      <p:sp>
        <p:nvSpPr>
          <p:cNvPr id="80" name="Shape 70"/>
          <p:cNvSpPr/>
          <p:nvPr/>
        </p:nvSpPr>
        <p:spPr>
          <a:xfrm>
            <a:off x="502920" y="5742432"/>
            <a:ext cx="11183112" cy="512064"/>
          </a:xfrm>
          <a:prstGeom prst="roundRect">
            <a:avLst>
              <a:gd name="adj" fmla="val 17857"/>
            </a:avLst>
          </a:prstGeom>
          <a:solidFill>
            <a:srgbClr val="EFF6FF"/>
          </a:solidFill>
          <a:ln w="6350">
            <a:solidFill>
              <a:srgbClr val="EFF6FF"/>
            </a:solidFill>
            <a:prstDash val="solid"/>
          </a:ln>
        </p:spPr>
      </p:sp>
      <p:sp>
        <p:nvSpPr>
          <p:cNvPr id="81" name="Shape 71"/>
          <p:cNvSpPr/>
          <p:nvPr/>
        </p:nvSpPr>
        <p:spPr>
          <a:xfrm>
            <a:off x="640080" y="5833872"/>
            <a:ext cx="329184" cy="329184"/>
          </a:xfrm>
          <a:prstGeom prst="ellipse">
            <a:avLst/>
          </a:prstGeom>
          <a:solidFill>
            <a:srgbClr val="1D4ED8"/>
          </a:solidFill>
          <a:ln w="6350">
            <a:solidFill>
              <a:srgbClr val="1D4ED8"/>
            </a:solidFill>
            <a:prstDash val="solid"/>
          </a:ln>
        </p:spPr>
      </p:sp>
      <p:pic>
        <p:nvPicPr>
          <p:cNvPr id="82" name="Image 8" descr="preencoded.png">    </p:cNvPr>
          <p:cNvPicPr>
            <a:picLocks noChangeAspect="1"/>
          </p:cNvPicPr>
          <p:nvPr/>
        </p:nvPicPr>
        <p:blipFill>
          <a:blip r:embed="rId9"/>
          <a:stretch>
            <a:fillRect/>
          </a:stretch>
        </p:blipFill>
        <p:spPr>
          <a:xfrm>
            <a:off x="712500" y="5906292"/>
            <a:ext cx="184343" cy="184343"/>
          </a:xfrm>
          <a:prstGeom prst="rect">
            <a:avLst/>
          </a:prstGeom>
        </p:spPr>
      </p:pic>
      <p:sp>
        <p:nvSpPr>
          <p:cNvPr id="83" name="Text 72"/>
          <p:cNvSpPr txBox="1"/>
          <p:nvPr/>
        </p:nvSpPr>
        <p:spPr>
          <a:xfrm>
            <a:off x="1097280" y="5742432"/>
            <a:ext cx="10424160" cy="512064"/>
          </a:xfrm>
          <a:prstGeom prst="rect">
            <a:avLst/>
          </a:prstGeom>
          <a:noFill/>
          <a:ln/>
        </p:spPr>
        <p:txBody>
          <a:bodyPr wrap="square" lIns="0" tIns="0" rIns="0" bIns="0" rtlCol="0" anchor="ctr"/>
          <a:lstStyle/>
          <a:p>
            <a:pPr indent="0" marL="0">
              <a:buNone/>
            </a:pPr>
            <a:r>
              <a:rPr lang="en-US" sz="1300" b="1" dirty="0">
                <a:solidFill>
                  <a:srgbClr val="0A1F44"/>
                </a:solidFill>
                <a:latin typeface="Inter" pitchFamily="34" charset="0"/>
                <a:ea typeface="Inter" pitchFamily="34" charset="-122"/>
                <a:cs typeface="Inter" pitchFamily="34" charset="-120"/>
              </a:rPr>
              <a:t>Trust peaks when the parcel opens: Quince asks for the relationship then, and never with a discount</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9326880" cy="841248"/>
          </a:xfrm>
          <a:prstGeom prst="rect">
            <a:avLst/>
          </a:prstGeom>
          <a:noFill/>
          <a:ln/>
        </p:spPr>
        <p:txBody>
          <a:bodyPr wrap="square" lIns="0" tIns="0" rIns="0" bIns="0" rtlCol="0" anchor="ctr"/>
          <a:lstStyle/>
          <a:p>
            <a:pPr indent="0" marL="0">
              <a:buNone/>
            </a:pPr>
            <a:r>
              <a:rPr lang="en-US" sz="2400" b="1" dirty="0">
                <a:solidFill>
                  <a:srgbClr val="0A1F44"/>
                </a:solidFill>
                <a:latin typeface="Inter" pitchFamily="34" charset="0"/>
                <a:ea typeface="Inter" pitchFamily="34" charset="-122"/>
                <a:cs typeface="Inter" pitchFamily="34" charset="-120"/>
              </a:rPr>
              <a:t>Every cart adder follows exactly one path, owned first</a:t>
            </a:r>
            <a:endParaRPr lang="en-US" sz="2400" dirty="0"/>
          </a:p>
        </p:txBody>
      </p:sp>
      <p:pic>
        <p:nvPicPr>
          <p:cNvPr id="3" name="Image 0" descr="/tmp/claude-0/-home-user-Quince/7efe80ae-a049-50c2-9886-98bf7ca3a04a/scratchpad/assets/quince.png">    </p:cNvPr>
          <p:cNvPicPr>
            <a:picLocks noChangeAspect="1"/>
          </p:cNvPicPr>
          <p:nvPr/>
        </p:nvPicPr>
        <p:blipFill>
          <a:blip r:embed="rId1"/>
          <a:stretch>
            <a:fillRect/>
          </a:stretch>
        </p:blipFill>
        <p:spPr>
          <a:xfrm>
            <a:off x="10236708" y="615544"/>
            <a:ext cx="777240" cy="231951"/>
          </a:xfrm>
          <a:prstGeom prst="rect">
            <a:avLst/>
          </a:prstGeom>
        </p:spPr>
      </p:pic>
      <p:sp>
        <p:nvSpPr>
          <p:cNvPr id="4" name="Shape 1"/>
          <p:cNvSpPr/>
          <p:nvPr/>
        </p:nvSpPr>
        <p:spPr>
          <a:xfrm>
            <a:off x="11155680" y="603504"/>
            <a:ext cx="530352" cy="256032"/>
          </a:xfrm>
          <a:prstGeom prst="roundRect">
            <a:avLst>
              <a:gd name="adj" fmla="val 50000"/>
            </a:avLst>
          </a:prstGeom>
          <a:solidFill>
            <a:srgbClr val="0A1F44"/>
          </a:solidFill>
          <a:ln w="6350">
            <a:solidFill>
              <a:srgbClr val="0A1F44"/>
            </a:solidFill>
            <a:prstDash val="solid"/>
          </a:ln>
        </p:spPr>
      </p:sp>
      <p:sp>
        <p:nvSpPr>
          <p:cNvPr id="5" name="Text 2"/>
          <p:cNvSpPr txBox="1"/>
          <p:nvPr/>
        </p:nvSpPr>
        <p:spPr>
          <a:xfrm>
            <a:off x="11155680" y="603504"/>
            <a:ext cx="530352"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Inter" pitchFamily="34" charset="0"/>
                <a:ea typeface="Inter" pitchFamily="34" charset="-122"/>
                <a:cs typeface="Inter" pitchFamily="34" charset="-120"/>
              </a:rPr>
              <a:t>G27</a:t>
            </a:r>
            <a:endParaRPr lang="en-US" sz="950" dirty="0"/>
          </a:p>
        </p:txBody>
      </p:sp>
      <p:sp>
        <p:nvSpPr>
          <p:cNvPr id="6" name="Shape 3"/>
          <p:cNvSpPr/>
          <p:nvPr/>
        </p:nvSpPr>
        <p:spPr>
          <a:xfrm>
            <a:off x="502920" y="6400800"/>
            <a:ext cx="11183112" cy="0"/>
          </a:xfrm>
          <a:prstGeom prst="line">
            <a:avLst/>
          </a:prstGeom>
          <a:noFill/>
          <a:ln w="9525">
            <a:solidFill>
              <a:srgbClr val="E2E8F0"/>
            </a:solidFill>
            <a:prstDash val="solid"/>
          </a:ln>
        </p:spPr>
      </p:sp>
      <p:sp>
        <p:nvSpPr>
          <p:cNvPr id="7" name="Text 4"/>
          <p:cNvSpPr txBox="1"/>
          <p:nvPr/>
        </p:nvSpPr>
        <p:spPr>
          <a:xfrm>
            <a:off x="502920" y="6464808"/>
            <a:ext cx="9418320" cy="256032"/>
          </a:xfrm>
          <a:prstGeom prst="rect">
            <a:avLst/>
          </a:prstGeom>
          <a:noFill/>
          <a:ln/>
        </p:spPr>
        <p:txBody>
          <a:bodyPr wrap="square" lIns="0" tIns="0" rIns="0" bIns="0" rtlCol="0" anchor="ctr"/>
          <a:lstStyle/>
          <a:p>
            <a:pPr indent="0" marL="0">
              <a:buNone/>
            </a:pPr>
            <a:r>
              <a:rPr lang="en-US" sz="800" dirty="0">
                <a:solidFill>
                  <a:srgbClr val="64748B"/>
                </a:solidFill>
                <a:latin typeface="Inter" pitchFamily="34" charset="0"/>
                <a:ea typeface="Inter" pitchFamily="34" charset="-122"/>
                <a:cs typeface="Inter" pitchFamily="34" charset="-120"/>
              </a:rPr>
              <a:t>Source: Adobe CJA segments (A1, A2, A4, A6, Cohort Table); team targeting design. Message timings are pilot design choices, tested against the holdout.</a:t>
            </a:r>
            <a:endParaRPr lang="en-US" sz="800" dirty="0"/>
          </a:p>
        </p:txBody>
      </p:sp>
      <p:sp>
        <p:nvSpPr>
          <p:cNvPr id="8" name="Text 5"/>
          <p:cNvSpPr txBox="1"/>
          <p:nvPr/>
        </p:nvSpPr>
        <p:spPr>
          <a:xfrm>
            <a:off x="9966960" y="6464808"/>
            <a:ext cx="1719072" cy="256032"/>
          </a:xfrm>
          <a:prstGeom prst="rect">
            <a:avLst/>
          </a:prstGeom>
          <a:noFill/>
          <a:ln/>
        </p:spPr>
        <p:txBody>
          <a:bodyPr wrap="square" lIns="0" tIns="0" rIns="0" bIns="0" rtlCol="0" anchor="ctr"/>
          <a:lstStyle/>
          <a:p>
            <a:pPr algn="r" indent="0" marL="0">
              <a:buNone/>
            </a:pPr>
            <a:r>
              <a:rPr lang="en-US" sz="800" dirty="0">
                <a:solidFill>
                  <a:srgbClr val="64748B"/>
                </a:solidFill>
                <a:latin typeface="Inter" pitchFamily="34" charset="0"/>
                <a:ea typeface="Inter" pitchFamily="34" charset="-122"/>
                <a:cs typeface="Inter" pitchFamily="34" charset="-120"/>
              </a:rPr>
              <a:t>Team G27  ·  17</a:t>
            </a:r>
            <a:endParaRPr lang="en-US" sz="800" dirty="0"/>
          </a:p>
        </p:txBody>
      </p:sp>
      <p:sp>
        <p:nvSpPr>
          <p:cNvPr id="9" name="Shape 6"/>
          <p:cNvSpPr/>
          <p:nvPr/>
        </p:nvSpPr>
        <p:spPr>
          <a:xfrm>
            <a:off x="502920" y="2816352"/>
            <a:ext cx="1280160" cy="594360"/>
          </a:xfrm>
          <a:prstGeom prst="roundRect">
            <a:avLst>
              <a:gd name="adj" fmla="val 12308"/>
            </a:avLst>
          </a:prstGeom>
          <a:solidFill>
            <a:srgbClr val="0A1F44"/>
          </a:solidFill>
          <a:ln w="15875">
            <a:solidFill>
              <a:srgbClr val="0A1F44"/>
            </a:solidFill>
            <a:prstDash val="solid"/>
          </a:ln>
        </p:spPr>
      </p:sp>
      <p:pic>
        <p:nvPicPr>
          <p:cNvPr id="10" name="Image 1" descr="preencoded.png">    </p:cNvPr>
          <p:cNvPicPr>
            <a:picLocks noChangeAspect="1"/>
          </p:cNvPicPr>
          <p:nvPr/>
        </p:nvPicPr>
        <p:blipFill>
          <a:blip r:embed="rId2"/>
          <a:stretch>
            <a:fillRect/>
          </a:stretch>
        </p:blipFill>
        <p:spPr>
          <a:xfrm>
            <a:off x="612648" y="2985516"/>
            <a:ext cx="256032" cy="256032"/>
          </a:xfrm>
          <a:prstGeom prst="rect">
            <a:avLst/>
          </a:prstGeom>
        </p:spPr>
      </p:pic>
      <p:sp>
        <p:nvSpPr>
          <p:cNvPr id="11" name="Text 7"/>
          <p:cNvSpPr txBox="1"/>
          <p:nvPr/>
        </p:nvSpPr>
        <p:spPr>
          <a:xfrm>
            <a:off x="960120" y="2816352"/>
            <a:ext cx="749808" cy="594360"/>
          </a:xfrm>
          <a:prstGeom prst="rect">
            <a:avLst/>
          </a:prstGeom>
          <a:noFill/>
          <a:ln/>
        </p:spPr>
        <p:txBody>
          <a:bodyPr wrap="square" lIns="0" tIns="0" rIns="0" bIns="0" rtlCol="0" anchor="ctr"/>
          <a:lstStyle/>
          <a:p>
            <a:pPr indent="0" marL="0">
              <a:buNone/>
            </a:pPr>
            <a:r>
              <a:rPr lang="en-US" sz="1050" b="1" dirty="0">
                <a:solidFill>
                  <a:srgbClr val="FFFFFF"/>
                </a:solidFill>
                <a:latin typeface="Inter" pitchFamily="34" charset="0"/>
                <a:ea typeface="Inter" pitchFamily="34" charset="-122"/>
                <a:cs typeface="Inter" pitchFamily="34" charset="-120"/>
              </a:rPr>
              <a:t>Shopper adds to cart</a:t>
            </a:r>
            <a:endParaRPr lang="en-US" sz="1050" dirty="0"/>
          </a:p>
        </p:txBody>
      </p:sp>
      <p:sp>
        <p:nvSpPr>
          <p:cNvPr id="12" name="Shape 8"/>
          <p:cNvSpPr/>
          <p:nvPr/>
        </p:nvSpPr>
        <p:spPr>
          <a:xfrm>
            <a:off x="1874520" y="2743200"/>
            <a:ext cx="1005840" cy="731520"/>
          </a:xfrm>
          <a:prstGeom prst="diamond">
            <a:avLst/>
          </a:prstGeom>
          <a:solidFill>
            <a:srgbClr val="FFFFFF"/>
          </a:solidFill>
          <a:ln w="15875">
            <a:solidFill>
              <a:srgbClr val="0A1F44"/>
            </a:solidFill>
            <a:prstDash val="solid"/>
          </a:ln>
        </p:spPr>
      </p:sp>
      <p:sp>
        <p:nvSpPr>
          <p:cNvPr id="13" name="Text 9"/>
          <p:cNvSpPr txBox="1"/>
          <p:nvPr/>
        </p:nvSpPr>
        <p:spPr>
          <a:xfrm>
            <a:off x="1984248" y="2743200"/>
            <a:ext cx="786384" cy="731520"/>
          </a:xfrm>
          <a:prstGeom prst="rect">
            <a:avLst/>
          </a:prstGeom>
          <a:noFill/>
          <a:ln/>
        </p:spPr>
        <p:txBody>
          <a:bodyPr wrap="square" lIns="0" tIns="0" rIns="0" bIns="0" rtlCol="0" anchor="ctr"/>
          <a:lstStyle/>
          <a:p>
            <a:pPr algn="ctr" indent="0" marL="0">
              <a:buNone/>
            </a:pPr>
            <a:r>
              <a:rPr lang="en-US" sz="900" b="1" dirty="0">
                <a:solidFill>
                  <a:srgbClr val="0A1F44"/>
                </a:solidFill>
                <a:latin typeface="Inter" pitchFamily="34" charset="0"/>
                <a:ea typeface="Inter" pitchFamily="34" charset="-122"/>
                <a:cs typeface="Inter" pitchFamily="34" charset="-120"/>
              </a:rPr>
              <a:t>Orders?</a:t>
            </a:r>
            <a:endParaRPr lang="en-US" sz="900" dirty="0"/>
          </a:p>
        </p:txBody>
      </p:sp>
      <p:sp>
        <p:nvSpPr>
          <p:cNvPr id="14" name="Shape 10"/>
          <p:cNvSpPr/>
          <p:nvPr/>
        </p:nvSpPr>
        <p:spPr>
          <a:xfrm>
            <a:off x="1783080" y="3108960"/>
            <a:ext cx="91440" cy="0"/>
          </a:xfrm>
          <a:prstGeom prst="line">
            <a:avLst/>
          </a:prstGeom>
          <a:noFill/>
          <a:ln w="15875">
            <a:solidFill>
              <a:srgbClr val="0A1F44"/>
            </a:solidFill>
            <a:prstDash val="solid"/>
            <a:tailEnd type="triangle"/>
          </a:ln>
        </p:spPr>
      </p:sp>
      <p:sp>
        <p:nvSpPr>
          <p:cNvPr id="15" name="Shape 11"/>
          <p:cNvSpPr/>
          <p:nvPr/>
        </p:nvSpPr>
        <p:spPr>
          <a:xfrm>
            <a:off x="2377440" y="1901952"/>
            <a:ext cx="0" cy="841248"/>
          </a:xfrm>
          <a:prstGeom prst="line">
            <a:avLst/>
          </a:prstGeom>
          <a:noFill/>
          <a:ln w="15875">
            <a:solidFill>
              <a:srgbClr val="0A1F44"/>
            </a:solidFill>
            <a:prstDash val="solid"/>
          </a:ln>
        </p:spPr>
      </p:sp>
      <p:sp>
        <p:nvSpPr>
          <p:cNvPr id="16" name="Shape 12"/>
          <p:cNvSpPr/>
          <p:nvPr/>
        </p:nvSpPr>
        <p:spPr>
          <a:xfrm>
            <a:off x="2377440" y="1901952"/>
            <a:ext cx="667512" cy="0"/>
          </a:xfrm>
          <a:prstGeom prst="line">
            <a:avLst/>
          </a:prstGeom>
          <a:noFill/>
          <a:ln w="15875">
            <a:solidFill>
              <a:srgbClr val="0A1F44"/>
            </a:solidFill>
            <a:prstDash val="solid"/>
            <a:tailEnd type="triangle"/>
          </a:ln>
        </p:spPr>
      </p:sp>
      <p:sp>
        <p:nvSpPr>
          <p:cNvPr id="17" name="Text 13"/>
          <p:cNvSpPr txBox="1"/>
          <p:nvPr/>
        </p:nvSpPr>
        <p:spPr>
          <a:xfrm>
            <a:off x="2450592" y="2240280"/>
            <a:ext cx="365760" cy="182880"/>
          </a:xfrm>
          <a:prstGeom prst="rect">
            <a:avLst/>
          </a:prstGeom>
          <a:noFill/>
          <a:ln/>
        </p:spPr>
        <p:txBody>
          <a:bodyPr wrap="square" lIns="0" tIns="0" rIns="0" bIns="0" rtlCol="0" anchor="t"/>
          <a:lstStyle/>
          <a:p>
            <a:pPr indent="0" marL="0">
              <a:buNone/>
            </a:pPr>
            <a:r>
              <a:rPr lang="en-US" sz="900" b="1" dirty="0">
                <a:solidFill>
                  <a:srgbClr val="16A34A"/>
                </a:solidFill>
                <a:latin typeface="Inter" pitchFamily="34" charset="0"/>
                <a:ea typeface="Inter" pitchFamily="34" charset="-122"/>
                <a:cs typeface="Inter" pitchFamily="34" charset="-120"/>
              </a:rPr>
              <a:t>Yes</a:t>
            </a:r>
            <a:endParaRPr lang="en-US" sz="900" dirty="0"/>
          </a:p>
        </p:txBody>
      </p:sp>
      <p:sp>
        <p:nvSpPr>
          <p:cNvPr id="18" name="Shape 14"/>
          <p:cNvSpPr/>
          <p:nvPr/>
        </p:nvSpPr>
        <p:spPr>
          <a:xfrm>
            <a:off x="3044952" y="1517904"/>
            <a:ext cx="2167128" cy="768096"/>
          </a:xfrm>
          <a:prstGeom prst="roundRect">
            <a:avLst>
              <a:gd name="adj" fmla="val 9524"/>
            </a:avLst>
          </a:prstGeom>
          <a:solidFill>
            <a:srgbClr val="EFF6FF"/>
          </a:solidFill>
          <a:ln w="15875">
            <a:solidFill>
              <a:srgbClr val="1D4ED8"/>
            </a:solidFill>
            <a:prstDash val="solid"/>
          </a:ln>
        </p:spPr>
      </p:sp>
      <p:pic>
        <p:nvPicPr>
          <p:cNvPr id="19" name="Image 2" descr="preencoded.png">    </p:cNvPr>
          <p:cNvPicPr>
            <a:picLocks noChangeAspect="1"/>
          </p:cNvPicPr>
          <p:nvPr/>
        </p:nvPicPr>
        <p:blipFill>
          <a:blip r:embed="rId3"/>
          <a:stretch>
            <a:fillRect/>
          </a:stretch>
        </p:blipFill>
        <p:spPr>
          <a:xfrm>
            <a:off x="3154680" y="1773936"/>
            <a:ext cx="256032" cy="256032"/>
          </a:xfrm>
          <a:prstGeom prst="rect">
            <a:avLst/>
          </a:prstGeom>
        </p:spPr>
      </p:pic>
      <p:sp>
        <p:nvSpPr>
          <p:cNvPr id="20" name="Text 15"/>
          <p:cNvSpPr txBox="1"/>
          <p:nvPr/>
        </p:nvSpPr>
        <p:spPr>
          <a:xfrm>
            <a:off x="3502152" y="1517904"/>
            <a:ext cx="1636776" cy="768096"/>
          </a:xfrm>
          <a:prstGeom prst="rect">
            <a:avLst/>
          </a:prstGeom>
          <a:noFill/>
          <a:ln/>
        </p:spPr>
        <p:txBody>
          <a:bodyPr wrap="square" lIns="0" tIns="0" rIns="0" bIns="0" rtlCol="0" anchor="ctr"/>
          <a:lstStyle/>
          <a:p>
            <a:pPr indent="0" marL="0">
              <a:buNone/>
            </a:pPr>
            <a:r>
              <a:rPr lang="en-US" sz="1050" b="1" dirty="0">
                <a:solidFill>
                  <a:srgbClr val="0A1F44"/>
                </a:solidFill>
                <a:latin typeface="Inter" pitchFamily="34" charset="0"/>
                <a:ea typeface="Inter" pitchFamily="34" charset="-122"/>
                <a:cs typeface="Inter" pitchFamily="34" charset="-120"/>
              </a:rPr>
              <a:t>Order ships</a:t>
            </a:r>
            <a:endParaRPr lang="en-US" sz="1050" dirty="0"/>
          </a:p>
          <a:p>
            <a:pPr indent="0" marL="0">
              <a:buNone/>
            </a:pPr>
            <a:r>
              <a:rPr lang="en-US" sz="850" dirty="0">
                <a:solidFill>
                  <a:srgbClr val="334155"/>
                </a:solidFill>
                <a:latin typeface="Inter" pitchFamily="34" charset="0"/>
                <a:ea typeface="Inter" pitchFamily="34" charset="-122"/>
                <a:cs typeface="Inter" pitchFamily="34" charset="-120"/>
              </a:rPr>
              <a:t>Passport card in the box; tracking opens in the app</a:t>
            </a:r>
            <a:endParaRPr lang="en-US" sz="1050" dirty="0"/>
          </a:p>
        </p:txBody>
      </p:sp>
      <p:sp>
        <p:nvSpPr>
          <p:cNvPr id="21" name="Shape 16"/>
          <p:cNvSpPr/>
          <p:nvPr/>
        </p:nvSpPr>
        <p:spPr>
          <a:xfrm>
            <a:off x="4114800" y="2286000"/>
            <a:ext cx="0" cy="118872"/>
          </a:xfrm>
          <a:prstGeom prst="line">
            <a:avLst/>
          </a:prstGeom>
          <a:noFill/>
          <a:ln w="15875">
            <a:solidFill>
              <a:srgbClr val="DC2626"/>
            </a:solidFill>
            <a:prstDash val="solid"/>
            <a:tailEnd type="triangle"/>
          </a:ln>
        </p:spPr>
      </p:sp>
      <p:sp>
        <p:nvSpPr>
          <p:cNvPr id="22" name="Shape 17"/>
          <p:cNvSpPr/>
          <p:nvPr/>
        </p:nvSpPr>
        <p:spPr>
          <a:xfrm>
            <a:off x="3044952" y="2395728"/>
            <a:ext cx="2167128" cy="457200"/>
          </a:xfrm>
          <a:prstGeom prst="roundRect">
            <a:avLst>
              <a:gd name="adj" fmla="val 16000"/>
            </a:avLst>
          </a:prstGeom>
          <a:solidFill>
            <a:srgbClr val="FEF2F2"/>
          </a:solidFill>
          <a:ln w="15875">
            <a:solidFill>
              <a:srgbClr val="DC2626"/>
            </a:solidFill>
            <a:prstDash val="solid"/>
          </a:ln>
        </p:spPr>
      </p:sp>
      <p:pic>
        <p:nvPicPr>
          <p:cNvPr id="23" name="Image 3" descr="preencoded.png">    </p:cNvPr>
          <p:cNvPicPr>
            <a:picLocks noChangeAspect="1"/>
          </p:cNvPicPr>
          <p:nvPr/>
        </p:nvPicPr>
        <p:blipFill>
          <a:blip r:embed="rId4"/>
          <a:stretch>
            <a:fillRect/>
          </a:stretch>
        </p:blipFill>
        <p:spPr>
          <a:xfrm>
            <a:off x="3154680" y="2496312"/>
            <a:ext cx="256032" cy="256032"/>
          </a:xfrm>
          <a:prstGeom prst="rect">
            <a:avLst/>
          </a:prstGeom>
        </p:spPr>
      </p:pic>
      <p:sp>
        <p:nvSpPr>
          <p:cNvPr id="24" name="Text 18"/>
          <p:cNvSpPr txBox="1"/>
          <p:nvPr/>
        </p:nvSpPr>
        <p:spPr>
          <a:xfrm>
            <a:off x="3502152" y="2395728"/>
            <a:ext cx="1636776" cy="457200"/>
          </a:xfrm>
          <a:prstGeom prst="rect">
            <a:avLst/>
          </a:prstGeom>
          <a:noFill/>
          <a:ln/>
        </p:spPr>
        <p:txBody>
          <a:bodyPr wrap="square" lIns="0" tIns="0" rIns="0" bIns="0" rtlCol="0" anchor="ctr"/>
          <a:lstStyle/>
          <a:p>
            <a:pPr indent="0" marL="0">
              <a:buNone/>
            </a:pPr>
            <a:r>
              <a:rPr lang="en-US" sz="1050" b="1" dirty="0">
                <a:solidFill>
                  <a:srgbClr val="DC2626"/>
                </a:solidFill>
                <a:latin typeface="Inter" pitchFamily="34" charset="0"/>
                <a:ea typeface="Inter" pitchFamily="34" charset="-122"/>
                <a:cs typeface="Inter" pitchFamily="34" charset="-120"/>
              </a:rPr>
              <a:t>Off retargeting; max one reminder</a:t>
            </a:r>
            <a:endParaRPr lang="en-US" sz="1050" dirty="0"/>
          </a:p>
        </p:txBody>
      </p:sp>
      <p:sp>
        <p:nvSpPr>
          <p:cNvPr id="25" name="Shape 19"/>
          <p:cNvSpPr/>
          <p:nvPr/>
        </p:nvSpPr>
        <p:spPr>
          <a:xfrm>
            <a:off x="5445252" y="1490472"/>
            <a:ext cx="1325880" cy="822960"/>
          </a:xfrm>
          <a:prstGeom prst="diamond">
            <a:avLst/>
          </a:prstGeom>
          <a:solidFill>
            <a:srgbClr val="FFFFFF"/>
          </a:solidFill>
          <a:ln w="15875">
            <a:solidFill>
              <a:srgbClr val="0A1F44"/>
            </a:solidFill>
            <a:prstDash val="solid"/>
          </a:ln>
        </p:spPr>
      </p:sp>
      <p:sp>
        <p:nvSpPr>
          <p:cNvPr id="26" name="Text 20"/>
          <p:cNvSpPr txBox="1"/>
          <p:nvPr/>
        </p:nvSpPr>
        <p:spPr>
          <a:xfrm>
            <a:off x="5554980" y="1490472"/>
            <a:ext cx="1106424" cy="822960"/>
          </a:xfrm>
          <a:prstGeom prst="rect">
            <a:avLst/>
          </a:prstGeom>
          <a:noFill/>
          <a:ln/>
        </p:spPr>
        <p:txBody>
          <a:bodyPr wrap="square" lIns="0" tIns="0" rIns="0" bIns="0" rtlCol="0" anchor="ctr"/>
          <a:lstStyle/>
          <a:p>
            <a:pPr algn="ctr" indent="0" marL="0">
              <a:buNone/>
            </a:pPr>
            <a:r>
              <a:rPr lang="en-US" sz="900" b="1" dirty="0">
                <a:solidFill>
                  <a:srgbClr val="0A1F44"/>
                </a:solidFill>
                <a:latin typeface="Inter" pitchFamily="34" charset="0"/>
                <a:ea typeface="Inter" pitchFamily="34" charset="-122"/>
                <a:cs typeface="Inter" pitchFamily="34" charset="-120"/>
              </a:rPr>
              <a:t>Engaged after order one?</a:t>
            </a:r>
            <a:endParaRPr lang="en-US" sz="900" dirty="0"/>
          </a:p>
        </p:txBody>
      </p:sp>
      <p:sp>
        <p:nvSpPr>
          <p:cNvPr id="27" name="Shape 21"/>
          <p:cNvSpPr/>
          <p:nvPr/>
        </p:nvSpPr>
        <p:spPr>
          <a:xfrm>
            <a:off x="5212080" y="1901952"/>
            <a:ext cx="228600" cy="0"/>
          </a:xfrm>
          <a:prstGeom prst="line">
            <a:avLst/>
          </a:prstGeom>
          <a:noFill/>
          <a:ln w="15875">
            <a:solidFill>
              <a:srgbClr val="0A1F44"/>
            </a:solidFill>
            <a:prstDash val="solid"/>
            <a:tailEnd type="triangle"/>
          </a:ln>
        </p:spPr>
      </p:sp>
      <p:sp>
        <p:nvSpPr>
          <p:cNvPr id="28" name="Shape 22"/>
          <p:cNvSpPr/>
          <p:nvPr/>
        </p:nvSpPr>
        <p:spPr>
          <a:xfrm>
            <a:off x="6775704" y="1901952"/>
            <a:ext cx="283464" cy="0"/>
          </a:xfrm>
          <a:prstGeom prst="line">
            <a:avLst/>
          </a:prstGeom>
          <a:noFill/>
          <a:ln w="15875">
            <a:solidFill>
              <a:srgbClr val="0A1F44"/>
            </a:solidFill>
            <a:prstDash val="solid"/>
            <a:tailEnd type="triangle"/>
          </a:ln>
        </p:spPr>
      </p:sp>
      <p:sp>
        <p:nvSpPr>
          <p:cNvPr id="29" name="Text 23"/>
          <p:cNvSpPr txBox="1"/>
          <p:nvPr/>
        </p:nvSpPr>
        <p:spPr>
          <a:xfrm>
            <a:off x="6784848" y="1664208"/>
            <a:ext cx="365760" cy="182880"/>
          </a:xfrm>
          <a:prstGeom prst="rect">
            <a:avLst/>
          </a:prstGeom>
          <a:noFill/>
          <a:ln/>
        </p:spPr>
        <p:txBody>
          <a:bodyPr wrap="square" lIns="0" tIns="0" rIns="0" bIns="0" rtlCol="0" anchor="t"/>
          <a:lstStyle/>
          <a:p>
            <a:pPr indent="0" marL="0">
              <a:buNone/>
            </a:pPr>
            <a:r>
              <a:rPr lang="en-US" sz="900" b="1" dirty="0">
                <a:solidFill>
                  <a:srgbClr val="16A34A"/>
                </a:solidFill>
                <a:latin typeface="Inter" pitchFamily="34" charset="0"/>
                <a:ea typeface="Inter" pitchFamily="34" charset="-122"/>
                <a:cs typeface="Inter" pitchFamily="34" charset="-120"/>
              </a:rPr>
              <a:t>Yes</a:t>
            </a:r>
            <a:endParaRPr lang="en-US" sz="900" dirty="0"/>
          </a:p>
        </p:txBody>
      </p:sp>
      <p:sp>
        <p:nvSpPr>
          <p:cNvPr id="30" name="Shape 24"/>
          <p:cNvSpPr/>
          <p:nvPr/>
        </p:nvSpPr>
        <p:spPr>
          <a:xfrm>
            <a:off x="7059168" y="1517904"/>
            <a:ext cx="2377440" cy="768096"/>
          </a:xfrm>
          <a:prstGeom prst="roundRect">
            <a:avLst>
              <a:gd name="adj" fmla="val 9524"/>
            </a:avLst>
          </a:prstGeom>
          <a:solidFill>
            <a:srgbClr val="EFF6FF"/>
          </a:solidFill>
          <a:ln w="15875">
            <a:solidFill>
              <a:srgbClr val="1D4ED8"/>
            </a:solidFill>
            <a:prstDash val="solid"/>
          </a:ln>
        </p:spPr>
      </p:sp>
      <p:pic>
        <p:nvPicPr>
          <p:cNvPr id="31" name="Image 4" descr="preencoded.png">    </p:cNvPr>
          <p:cNvPicPr>
            <a:picLocks noChangeAspect="1"/>
          </p:cNvPicPr>
          <p:nvPr/>
        </p:nvPicPr>
        <p:blipFill>
          <a:blip r:embed="rId5"/>
          <a:stretch>
            <a:fillRect/>
          </a:stretch>
        </p:blipFill>
        <p:spPr>
          <a:xfrm>
            <a:off x="7168896" y="1773936"/>
            <a:ext cx="256032" cy="256032"/>
          </a:xfrm>
          <a:prstGeom prst="rect">
            <a:avLst/>
          </a:prstGeom>
        </p:spPr>
      </p:pic>
      <p:sp>
        <p:nvSpPr>
          <p:cNvPr id="32" name="Text 25"/>
          <p:cNvSpPr txBox="1"/>
          <p:nvPr/>
        </p:nvSpPr>
        <p:spPr>
          <a:xfrm>
            <a:off x="7516368" y="1517904"/>
            <a:ext cx="1847088" cy="768096"/>
          </a:xfrm>
          <a:prstGeom prst="rect">
            <a:avLst/>
          </a:prstGeom>
          <a:noFill/>
          <a:ln/>
        </p:spPr>
        <p:txBody>
          <a:bodyPr wrap="square" lIns="0" tIns="0" rIns="0" bIns="0" rtlCol="0" anchor="ctr"/>
          <a:lstStyle/>
          <a:p>
            <a:pPr indent="0" marL="0">
              <a:buNone/>
            </a:pPr>
            <a:r>
              <a:rPr lang="en-US" sz="1050" b="1" dirty="0">
                <a:solidFill>
                  <a:srgbClr val="0A1F44"/>
                </a:solidFill>
                <a:latin typeface="Inter" pitchFamily="34" charset="0"/>
                <a:ea typeface="Inter" pitchFamily="34" charset="-122"/>
                <a:cs typeface="Inter" pitchFamily="34" charset="-120"/>
              </a:rPr>
              <a:t>Golden Month, weeks 1–4</a:t>
            </a:r>
            <a:endParaRPr lang="en-US" sz="1050" dirty="0"/>
          </a:p>
          <a:p>
            <a:pPr indent="0" marL="0">
              <a:buNone/>
            </a:pPr>
            <a:r>
              <a:rPr lang="en-US" sz="850" dirty="0">
                <a:solidFill>
                  <a:srgbClr val="334155"/>
                </a:solidFill>
                <a:latin typeface="Inter" pitchFamily="34" charset="0"/>
                <a:ea typeface="Inter" pitchFamily="34" charset="-122"/>
                <a:cs typeface="Inter" pitchFamily="34" charset="-120"/>
              </a:rPr>
              <a:t>Care and fit, then a second category; cashmere → Material Journeys by day 21</a:t>
            </a:r>
            <a:endParaRPr lang="en-US" sz="1050" dirty="0"/>
          </a:p>
        </p:txBody>
      </p:sp>
      <p:sp>
        <p:nvSpPr>
          <p:cNvPr id="33" name="Shape 26"/>
          <p:cNvSpPr/>
          <p:nvPr/>
        </p:nvSpPr>
        <p:spPr>
          <a:xfrm>
            <a:off x="6108192" y="2313432"/>
            <a:ext cx="0" cy="402336"/>
          </a:xfrm>
          <a:prstGeom prst="line">
            <a:avLst/>
          </a:prstGeom>
          <a:noFill/>
          <a:ln w="15875">
            <a:solidFill>
              <a:srgbClr val="0A1F44"/>
            </a:solidFill>
            <a:prstDash val="solid"/>
            <a:tailEnd type="triangle"/>
          </a:ln>
        </p:spPr>
      </p:sp>
      <p:sp>
        <p:nvSpPr>
          <p:cNvPr id="34" name="Text 27"/>
          <p:cNvSpPr txBox="1"/>
          <p:nvPr/>
        </p:nvSpPr>
        <p:spPr>
          <a:xfrm>
            <a:off x="6172200" y="2377440"/>
            <a:ext cx="365760" cy="182880"/>
          </a:xfrm>
          <a:prstGeom prst="rect">
            <a:avLst/>
          </a:prstGeom>
          <a:noFill/>
          <a:ln/>
        </p:spPr>
        <p:txBody>
          <a:bodyPr wrap="square" lIns="0" tIns="0" rIns="0" bIns="0" rtlCol="0" anchor="t"/>
          <a:lstStyle/>
          <a:p>
            <a:pPr indent="0" marL="0">
              <a:buNone/>
            </a:pPr>
            <a:r>
              <a:rPr lang="en-US" sz="900" b="1" dirty="0">
                <a:solidFill>
                  <a:srgbClr val="DC2626"/>
                </a:solidFill>
                <a:latin typeface="Inter" pitchFamily="34" charset="0"/>
                <a:ea typeface="Inter" pitchFamily="34" charset="-122"/>
                <a:cs typeface="Inter" pitchFamily="34" charset="-120"/>
              </a:rPr>
              <a:t>No</a:t>
            </a:r>
            <a:endParaRPr lang="en-US" sz="900" dirty="0"/>
          </a:p>
        </p:txBody>
      </p:sp>
      <p:sp>
        <p:nvSpPr>
          <p:cNvPr id="35" name="Shape 28"/>
          <p:cNvSpPr/>
          <p:nvPr/>
        </p:nvSpPr>
        <p:spPr>
          <a:xfrm>
            <a:off x="5394960" y="2715768"/>
            <a:ext cx="2286000" cy="768096"/>
          </a:xfrm>
          <a:prstGeom prst="roundRect">
            <a:avLst>
              <a:gd name="adj" fmla="val 9524"/>
            </a:avLst>
          </a:prstGeom>
          <a:solidFill>
            <a:srgbClr val="EFF6FF"/>
          </a:solidFill>
          <a:ln w="15875">
            <a:solidFill>
              <a:srgbClr val="1D4ED8"/>
            </a:solidFill>
            <a:prstDash val="solid"/>
          </a:ln>
        </p:spPr>
      </p:sp>
      <p:pic>
        <p:nvPicPr>
          <p:cNvPr id="36" name="Image 5" descr="preencoded.png">    </p:cNvPr>
          <p:cNvPicPr>
            <a:picLocks noChangeAspect="1"/>
          </p:cNvPicPr>
          <p:nvPr/>
        </p:nvPicPr>
        <p:blipFill>
          <a:blip r:embed="rId6"/>
          <a:stretch>
            <a:fillRect/>
          </a:stretch>
        </p:blipFill>
        <p:spPr>
          <a:xfrm>
            <a:off x="5504688" y="2971800"/>
            <a:ext cx="256032" cy="256032"/>
          </a:xfrm>
          <a:prstGeom prst="rect">
            <a:avLst/>
          </a:prstGeom>
        </p:spPr>
      </p:pic>
      <p:sp>
        <p:nvSpPr>
          <p:cNvPr id="37" name="Text 29"/>
          <p:cNvSpPr txBox="1"/>
          <p:nvPr/>
        </p:nvSpPr>
        <p:spPr>
          <a:xfrm>
            <a:off x="5852160" y="2715768"/>
            <a:ext cx="1755648" cy="768096"/>
          </a:xfrm>
          <a:prstGeom prst="rect">
            <a:avLst/>
          </a:prstGeom>
          <a:noFill/>
          <a:ln/>
        </p:spPr>
        <p:txBody>
          <a:bodyPr wrap="square" lIns="0" tIns="0" rIns="0" bIns="0" rtlCol="0" anchor="ctr"/>
          <a:lstStyle/>
          <a:p>
            <a:pPr indent="0" marL="0">
              <a:buNone/>
            </a:pPr>
            <a:r>
              <a:rPr lang="en-US" sz="1050" b="1" dirty="0">
                <a:solidFill>
                  <a:srgbClr val="0A1F44"/>
                </a:solidFill>
                <a:latin typeface="Inter" pitchFamily="34" charset="0"/>
                <a:ea typeface="Inter" pitchFamily="34" charset="-122"/>
                <a:cs typeface="Inter" pitchFamily="34" charset="-120"/>
              </a:rPr>
              <a:t>Not engaged yet</a:t>
            </a:r>
            <a:endParaRPr lang="en-US" sz="1050" dirty="0"/>
          </a:p>
          <a:p>
            <a:pPr indent="0" marL="0">
              <a:buNone/>
            </a:pPr>
            <a:r>
              <a:rPr lang="en-US" sz="850" dirty="0">
                <a:solidFill>
                  <a:srgbClr val="334155"/>
                </a:solidFill>
                <a:latin typeface="Inter" pitchFamily="34" charset="0"/>
                <a:ea typeface="Inter" pitchFamily="34" charset="-122"/>
                <a:cs typeface="Inter" pitchFamily="34" charset="-120"/>
              </a:rPr>
              <a:t>One ask at delivery, day 7, day 21; without marketing consent, one capped paid reminder</a:t>
            </a:r>
            <a:endParaRPr lang="en-US" sz="1050" dirty="0"/>
          </a:p>
        </p:txBody>
      </p:sp>
      <p:sp>
        <p:nvSpPr>
          <p:cNvPr id="38" name="Shape 30"/>
          <p:cNvSpPr/>
          <p:nvPr/>
        </p:nvSpPr>
        <p:spPr>
          <a:xfrm>
            <a:off x="9436608" y="1901952"/>
            <a:ext cx="256032" cy="0"/>
          </a:xfrm>
          <a:prstGeom prst="line">
            <a:avLst/>
          </a:prstGeom>
          <a:noFill/>
          <a:ln w="15875">
            <a:solidFill>
              <a:srgbClr val="0A1F44"/>
            </a:solidFill>
            <a:prstDash val="solid"/>
          </a:ln>
        </p:spPr>
      </p:sp>
      <p:sp>
        <p:nvSpPr>
          <p:cNvPr id="39" name="Shape 31"/>
          <p:cNvSpPr/>
          <p:nvPr/>
        </p:nvSpPr>
        <p:spPr>
          <a:xfrm>
            <a:off x="9692640" y="1901952"/>
            <a:ext cx="0" cy="1197864"/>
          </a:xfrm>
          <a:prstGeom prst="line">
            <a:avLst/>
          </a:prstGeom>
          <a:noFill/>
          <a:ln w="15875">
            <a:solidFill>
              <a:srgbClr val="0A1F44"/>
            </a:solidFill>
            <a:prstDash val="solid"/>
          </a:ln>
        </p:spPr>
      </p:sp>
      <p:sp>
        <p:nvSpPr>
          <p:cNvPr id="40" name="Shape 32"/>
          <p:cNvSpPr/>
          <p:nvPr/>
        </p:nvSpPr>
        <p:spPr>
          <a:xfrm>
            <a:off x="7680960" y="3099816"/>
            <a:ext cx="2011680" cy="0"/>
          </a:xfrm>
          <a:prstGeom prst="line">
            <a:avLst/>
          </a:prstGeom>
          <a:noFill/>
          <a:ln w="15875">
            <a:solidFill>
              <a:srgbClr val="0A1F44"/>
            </a:solidFill>
            <a:prstDash val="solid"/>
          </a:ln>
        </p:spPr>
      </p:sp>
      <p:sp>
        <p:nvSpPr>
          <p:cNvPr id="41" name="Shape 33"/>
          <p:cNvSpPr/>
          <p:nvPr/>
        </p:nvSpPr>
        <p:spPr>
          <a:xfrm>
            <a:off x="9692640" y="2487168"/>
            <a:ext cx="201168" cy="0"/>
          </a:xfrm>
          <a:prstGeom prst="line">
            <a:avLst/>
          </a:prstGeom>
          <a:noFill/>
          <a:ln w="15875">
            <a:solidFill>
              <a:srgbClr val="0A1F44"/>
            </a:solidFill>
            <a:prstDash val="solid"/>
            <a:tailEnd type="triangle"/>
          </a:ln>
        </p:spPr>
      </p:sp>
      <p:sp>
        <p:nvSpPr>
          <p:cNvPr id="42" name="Shape 34"/>
          <p:cNvSpPr/>
          <p:nvPr/>
        </p:nvSpPr>
        <p:spPr>
          <a:xfrm>
            <a:off x="9898380" y="2084832"/>
            <a:ext cx="1325880" cy="804672"/>
          </a:xfrm>
          <a:prstGeom prst="diamond">
            <a:avLst/>
          </a:prstGeom>
          <a:solidFill>
            <a:srgbClr val="FFFFFF"/>
          </a:solidFill>
          <a:ln w="15875">
            <a:solidFill>
              <a:srgbClr val="0A1F44"/>
            </a:solidFill>
            <a:prstDash val="solid"/>
          </a:ln>
        </p:spPr>
      </p:sp>
      <p:sp>
        <p:nvSpPr>
          <p:cNvPr id="43" name="Text 35"/>
          <p:cNvSpPr txBox="1"/>
          <p:nvPr/>
        </p:nvSpPr>
        <p:spPr>
          <a:xfrm>
            <a:off x="10008108" y="2084832"/>
            <a:ext cx="1106424" cy="804672"/>
          </a:xfrm>
          <a:prstGeom prst="rect">
            <a:avLst/>
          </a:prstGeom>
          <a:noFill/>
          <a:ln/>
        </p:spPr>
        <p:txBody>
          <a:bodyPr wrap="square" lIns="0" tIns="0" rIns="0" bIns="0" rtlCol="0" anchor="ctr"/>
          <a:lstStyle/>
          <a:p>
            <a:pPr algn="ctr" indent="0" marL="0">
              <a:buNone/>
            </a:pPr>
            <a:r>
              <a:rPr lang="en-US" sz="900" b="1" dirty="0">
                <a:solidFill>
                  <a:srgbClr val="0A1F44"/>
                </a:solidFill>
                <a:latin typeface="Inter" pitchFamily="34" charset="0"/>
                <a:ea typeface="Inter" pitchFamily="34" charset="-122"/>
                <a:cs typeface="Inter" pitchFamily="34" charset="-120"/>
              </a:rPr>
              <a:t>Second order by day 60?</a:t>
            </a:r>
            <a:endParaRPr lang="en-US" sz="900" dirty="0"/>
          </a:p>
        </p:txBody>
      </p:sp>
      <p:sp>
        <p:nvSpPr>
          <p:cNvPr id="44" name="Shape 36"/>
          <p:cNvSpPr/>
          <p:nvPr/>
        </p:nvSpPr>
        <p:spPr>
          <a:xfrm>
            <a:off x="10561320" y="1828800"/>
            <a:ext cx="0" cy="256032"/>
          </a:xfrm>
          <a:prstGeom prst="line">
            <a:avLst/>
          </a:prstGeom>
          <a:noFill/>
          <a:ln w="15875">
            <a:solidFill>
              <a:srgbClr val="0A1F44"/>
            </a:solidFill>
            <a:prstDash val="solid"/>
            <a:headEnd type="triangle"/>
          </a:ln>
        </p:spPr>
      </p:sp>
      <p:sp>
        <p:nvSpPr>
          <p:cNvPr id="45" name="Text 37"/>
          <p:cNvSpPr txBox="1"/>
          <p:nvPr/>
        </p:nvSpPr>
        <p:spPr>
          <a:xfrm>
            <a:off x="10625328" y="1856232"/>
            <a:ext cx="365760" cy="182880"/>
          </a:xfrm>
          <a:prstGeom prst="rect">
            <a:avLst/>
          </a:prstGeom>
          <a:noFill/>
          <a:ln/>
        </p:spPr>
        <p:txBody>
          <a:bodyPr wrap="square" lIns="0" tIns="0" rIns="0" bIns="0" rtlCol="0" anchor="t"/>
          <a:lstStyle/>
          <a:p>
            <a:pPr indent="0" marL="0">
              <a:buNone/>
            </a:pPr>
            <a:r>
              <a:rPr lang="en-US" sz="900" b="1" dirty="0">
                <a:solidFill>
                  <a:srgbClr val="16A34A"/>
                </a:solidFill>
                <a:latin typeface="Inter" pitchFamily="34" charset="0"/>
                <a:ea typeface="Inter" pitchFamily="34" charset="-122"/>
                <a:cs typeface="Inter" pitchFamily="34" charset="-120"/>
              </a:rPr>
              <a:t>Yes</a:t>
            </a:r>
            <a:endParaRPr lang="en-US" sz="900" dirty="0"/>
          </a:p>
        </p:txBody>
      </p:sp>
      <p:sp>
        <p:nvSpPr>
          <p:cNvPr id="46" name="Shape 38"/>
          <p:cNvSpPr/>
          <p:nvPr/>
        </p:nvSpPr>
        <p:spPr>
          <a:xfrm>
            <a:off x="9930384" y="1261872"/>
            <a:ext cx="1755648" cy="566928"/>
          </a:xfrm>
          <a:prstGeom prst="roundRect">
            <a:avLst>
              <a:gd name="adj" fmla="val 12903"/>
            </a:avLst>
          </a:prstGeom>
          <a:solidFill>
            <a:srgbClr val="1D4ED8"/>
          </a:solidFill>
          <a:ln w="15875">
            <a:solidFill>
              <a:srgbClr val="1D4ED8"/>
            </a:solidFill>
            <a:prstDash val="solid"/>
          </a:ln>
        </p:spPr>
      </p:sp>
      <p:pic>
        <p:nvPicPr>
          <p:cNvPr id="47" name="Image 6" descr="preencoded.png">    </p:cNvPr>
          <p:cNvPicPr>
            <a:picLocks noChangeAspect="1"/>
          </p:cNvPicPr>
          <p:nvPr/>
        </p:nvPicPr>
        <p:blipFill>
          <a:blip r:embed="rId7"/>
          <a:stretch>
            <a:fillRect/>
          </a:stretch>
        </p:blipFill>
        <p:spPr>
          <a:xfrm>
            <a:off x="10040112" y="1417320"/>
            <a:ext cx="256032" cy="256032"/>
          </a:xfrm>
          <a:prstGeom prst="rect">
            <a:avLst/>
          </a:prstGeom>
        </p:spPr>
      </p:pic>
      <p:sp>
        <p:nvSpPr>
          <p:cNvPr id="48" name="Text 39"/>
          <p:cNvSpPr txBox="1"/>
          <p:nvPr/>
        </p:nvSpPr>
        <p:spPr>
          <a:xfrm>
            <a:off x="10387584" y="1261872"/>
            <a:ext cx="1225296" cy="566928"/>
          </a:xfrm>
          <a:prstGeom prst="rect">
            <a:avLst/>
          </a:prstGeom>
          <a:noFill/>
          <a:ln/>
        </p:spPr>
        <p:txBody>
          <a:bodyPr wrap="square" lIns="0" tIns="0" rIns="0" bIns="0" rtlCol="0" anchor="ctr"/>
          <a:lstStyle/>
          <a:p>
            <a:pPr indent="0" marL="0">
              <a:buNone/>
            </a:pPr>
            <a:r>
              <a:rPr lang="en-US" sz="1050" b="1" dirty="0">
                <a:solidFill>
                  <a:srgbClr val="FFFFFF"/>
                </a:solidFill>
                <a:latin typeface="Inter" pitchFamily="34" charset="0"/>
                <a:ea typeface="Inter" pitchFamily="34" charset="-122"/>
                <a:cs typeface="Inter" pitchFamily="34" charset="-120"/>
              </a:rPr>
              <a:t>Repeat buyer</a:t>
            </a:r>
            <a:endParaRPr lang="en-US" sz="1050" dirty="0"/>
          </a:p>
          <a:p>
            <a:pPr indent="0" marL="0">
              <a:buNone/>
            </a:pPr>
            <a:r>
              <a:rPr lang="en-US" sz="850" dirty="0">
                <a:solidFill>
                  <a:srgbClr val="DCE7FB"/>
                </a:solidFill>
                <a:latin typeface="Inter" pitchFamily="34" charset="0"/>
                <a:ea typeface="Inter" pitchFamily="34" charset="-122"/>
                <a:cs typeface="Inter" pitchFamily="34" charset="-120"/>
              </a:rPr>
              <a:t>Quince Insider early access</a:t>
            </a:r>
            <a:endParaRPr lang="en-US" sz="1050" dirty="0"/>
          </a:p>
        </p:txBody>
      </p:sp>
      <p:sp>
        <p:nvSpPr>
          <p:cNvPr id="49" name="Shape 40"/>
          <p:cNvSpPr/>
          <p:nvPr/>
        </p:nvSpPr>
        <p:spPr>
          <a:xfrm>
            <a:off x="10561320" y="2889504"/>
            <a:ext cx="0" cy="256032"/>
          </a:xfrm>
          <a:prstGeom prst="line">
            <a:avLst/>
          </a:prstGeom>
          <a:noFill/>
          <a:ln w="15875">
            <a:solidFill>
              <a:srgbClr val="0A1F44"/>
            </a:solidFill>
            <a:prstDash val="solid"/>
            <a:tailEnd type="triangle"/>
          </a:ln>
        </p:spPr>
      </p:sp>
      <p:sp>
        <p:nvSpPr>
          <p:cNvPr id="50" name="Text 41"/>
          <p:cNvSpPr txBox="1"/>
          <p:nvPr/>
        </p:nvSpPr>
        <p:spPr>
          <a:xfrm>
            <a:off x="10625328" y="2898648"/>
            <a:ext cx="365760" cy="182880"/>
          </a:xfrm>
          <a:prstGeom prst="rect">
            <a:avLst/>
          </a:prstGeom>
          <a:noFill/>
          <a:ln/>
        </p:spPr>
        <p:txBody>
          <a:bodyPr wrap="square" lIns="0" tIns="0" rIns="0" bIns="0" rtlCol="0" anchor="t"/>
          <a:lstStyle/>
          <a:p>
            <a:pPr indent="0" marL="0">
              <a:buNone/>
            </a:pPr>
            <a:r>
              <a:rPr lang="en-US" sz="900" b="1" dirty="0">
                <a:solidFill>
                  <a:srgbClr val="DC2626"/>
                </a:solidFill>
                <a:latin typeface="Inter" pitchFamily="34" charset="0"/>
                <a:ea typeface="Inter" pitchFamily="34" charset="-122"/>
                <a:cs typeface="Inter" pitchFamily="34" charset="-120"/>
              </a:rPr>
              <a:t>No</a:t>
            </a:r>
            <a:endParaRPr lang="en-US" sz="900" dirty="0"/>
          </a:p>
        </p:txBody>
      </p:sp>
      <p:sp>
        <p:nvSpPr>
          <p:cNvPr id="51" name="Shape 42"/>
          <p:cNvSpPr/>
          <p:nvPr/>
        </p:nvSpPr>
        <p:spPr>
          <a:xfrm>
            <a:off x="9930384" y="3145536"/>
            <a:ext cx="1755648" cy="566928"/>
          </a:xfrm>
          <a:prstGeom prst="roundRect">
            <a:avLst>
              <a:gd name="adj" fmla="val 12903"/>
            </a:avLst>
          </a:prstGeom>
          <a:solidFill>
            <a:srgbClr val="EFF6FF"/>
          </a:solidFill>
          <a:ln w="15875">
            <a:solidFill>
              <a:srgbClr val="1D4ED8"/>
            </a:solidFill>
            <a:prstDash val="solid"/>
          </a:ln>
        </p:spPr>
      </p:sp>
      <p:pic>
        <p:nvPicPr>
          <p:cNvPr id="52" name="Image 7" descr="preencoded.png">    </p:cNvPr>
          <p:cNvPicPr>
            <a:picLocks noChangeAspect="1"/>
          </p:cNvPicPr>
          <p:nvPr/>
        </p:nvPicPr>
        <p:blipFill>
          <a:blip r:embed="rId8"/>
          <a:stretch>
            <a:fillRect/>
          </a:stretch>
        </p:blipFill>
        <p:spPr>
          <a:xfrm>
            <a:off x="10040112" y="3300984"/>
            <a:ext cx="256032" cy="256032"/>
          </a:xfrm>
          <a:prstGeom prst="rect">
            <a:avLst/>
          </a:prstGeom>
        </p:spPr>
      </p:pic>
      <p:sp>
        <p:nvSpPr>
          <p:cNvPr id="53" name="Text 43"/>
          <p:cNvSpPr txBox="1"/>
          <p:nvPr/>
        </p:nvSpPr>
        <p:spPr>
          <a:xfrm>
            <a:off x="10387584" y="3145536"/>
            <a:ext cx="1225296" cy="566928"/>
          </a:xfrm>
          <a:prstGeom prst="rect">
            <a:avLst/>
          </a:prstGeom>
          <a:noFill/>
          <a:ln/>
        </p:spPr>
        <p:txBody>
          <a:bodyPr wrap="square" lIns="0" tIns="0" rIns="0" bIns="0" rtlCol="0" anchor="ctr"/>
          <a:lstStyle/>
          <a:p>
            <a:pPr indent="0" marL="0">
              <a:buNone/>
            </a:pPr>
            <a:r>
              <a:rPr lang="en-US" sz="1050" b="1" dirty="0">
                <a:solidFill>
                  <a:srgbClr val="0A1F44"/>
                </a:solidFill>
                <a:latin typeface="Inter" pitchFamily="34" charset="0"/>
                <a:ea typeface="Inter" pitchFamily="34" charset="-122"/>
                <a:cs typeface="Inter" pitchFamily="34" charset="-120"/>
              </a:rPr>
              <a:t>Day 60</a:t>
            </a:r>
            <a:endParaRPr lang="en-US" sz="1050" dirty="0"/>
          </a:p>
          <a:p>
            <a:pPr indent="0" marL="0">
              <a:buNone/>
            </a:pPr>
            <a:r>
              <a:rPr lang="en-US" sz="850" dirty="0">
                <a:solidFill>
                  <a:srgbClr val="334155"/>
                </a:solidFill>
                <a:latin typeface="Inter" pitchFamily="34" charset="0"/>
                <a:ea typeface="Inter" pitchFamily="34" charset="-122"/>
                <a:cs typeface="Inter" pitchFamily="34" charset="-120"/>
              </a:rPr>
              <a:t>Restock-first access</a:t>
            </a:r>
            <a:endParaRPr lang="en-US" sz="1050" dirty="0"/>
          </a:p>
        </p:txBody>
      </p:sp>
      <p:sp>
        <p:nvSpPr>
          <p:cNvPr id="54" name="Shape 44"/>
          <p:cNvSpPr/>
          <p:nvPr/>
        </p:nvSpPr>
        <p:spPr>
          <a:xfrm>
            <a:off x="2377440" y="3474720"/>
            <a:ext cx="0" cy="1115568"/>
          </a:xfrm>
          <a:prstGeom prst="line">
            <a:avLst/>
          </a:prstGeom>
          <a:noFill/>
          <a:ln w="15875">
            <a:solidFill>
              <a:srgbClr val="0A1F44"/>
            </a:solidFill>
            <a:prstDash val="solid"/>
          </a:ln>
        </p:spPr>
      </p:sp>
      <p:sp>
        <p:nvSpPr>
          <p:cNvPr id="55" name="Shape 45"/>
          <p:cNvSpPr/>
          <p:nvPr/>
        </p:nvSpPr>
        <p:spPr>
          <a:xfrm>
            <a:off x="2377440" y="4590288"/>
            <a:ext cx="685800" cy="0"/>
          </a:xfrm>
          <a:prstGeom prst="line">
            <a:avLst/>
          </a:prstGeom>
          <a:noFill/>
          <a:ln w="15875">
            <a:solidFill>
              <a:srgbClr val="0A1F44"/>
            </a:solidFill>
            <a:prstDash val="solid"/>
            <a:tailEnd type="triangle"/>
          </a:ln>
        </p:spPr>
      </p:sp>
      <p:sp>
        <p:nvSpPr>
          <p:cNvPr id="56" name="Text 46"/>
          <p:cNvSpPr txBox="1"/>
          <p:nvPr/>
        </p:nvSpPr>
        <p:spPr>
          <a:xfrm>
            <a:off x="2450592" y="3794760"/>
            <a:ext cx="365760" cy="182880"/>
          </a:xfrm>
          <a:prstGeom prst="rect">
            <a:avLst/>
          </a:prstGeom>
          <a:noFill/>
          <a:ln/>
        </p:spPr>
        <p:txBody>
          <a:bodyPr wrap="square" lIns="0" tIns="0" rIns="0" bIns="0" rtlCol="0" anchor="t"/>
          <a:lstStyle/>
          <a:p>
            <a:pPr indent="0" marL="0">
              <a:buNone/>
            </a:pPr>
            <a:r>
              <a:rPr lang="en-US" sz="900" b="1" dirty="0">
                <a:solidFill>
                  <a:srgbClr val="DC2626"/>
                </a:solidFill>
                <a:latin typeface="Inter" pitchFamily="34" charset="0"/>
                <a:ea typeface="Inter" pitchFamily="34" charset="-122"/>
                <a:cs typeface="Inter" pitchFamily="34" charset="-120"/>
              </a:rPr>
              <a:t>No</a:t>
            </a:r>
            <a:endParaRPr lang="en-US" sz="900" dirty="0"/>
          </a:p>
        </p:txBody>
      </p:sp>
      <p:sp>
        <p:nvSpPr>
          <p:cNvPr id="57" name="Shape 47"/>
          <p:cNvSpPr/>
          <p:nvPr/>
        </p:nvSpPr>
        <p:spPr>
          <a:xfrm>
            <a:off x="3063240" y="4133088"/>
            <a:ext cx="1463040" cy="914400"/>
          </a:xfrm>
          <a:prstGeom prst="diamond">
            <a:avLst/>
          </a:prstGeom>
          <a:solidFill>
            <a:srgbClr val="FFFFFF"/>
          </a:solidFill>
          <a:ln w="15875">
            <a:solidFill>
              <a:srgbClr val="0A1F44"/>
            </a:solidFill>
            <a:prstDash val="solid"/>
          </a:ln>
        </p:spPr>
      </p:sp>
      <p:sp>
        <p:nvSpPr>
          <p:cNvPr id="58" name="Text 48"/>
          <p:cNvSpPr txBox="1"/>
          <p:nvPr/>
        </p:nvSpPr>
        <p:spPr>
          <a:xfrm>
            <a:off x="3172968" y="4133088"/>
            <a:ext cx="1243584" cy="914400"/>
          </a:xfrm>
          <a:prstGeom prst="rect">
            <a:avLst/>
          </a:prstGeom>
          <a:noFill/>
          <a:ln/>
        </p:spPr>
        <p:txBody>
          <a:bodyPr wrap="square" lIns="0" tIns="0" rIns="0" bIns="0" rtlCol="0" anchor="ctr"/>
          <a:lstStyle/>
          <a:p>
            <a:pPr algn="ctr" indent="0" marL="0">
              <a:buNone/>
            </a:pPr>
            <a:r>
              <a:rPr lang="en-US" sz="900" b="1" dirty="0">
                <a:solidFill>
                  <a:srgbClr val="0A1F44"/>
                </a:solidFill>
                <a:latin typeface="Inter" pitchFamily="34" charset="0"/>
                <a:ea typeface="Inter" pitchFamily="34" charset="-122"/>
                <a:cs typeface="Inter" pitchFamily="34" charset="-120"/>
              </a:rPr>
              <a:t>Reachable by email, SMS or app?</a:t>
            </a:r>
            <a:endParaRPr lang="en-US" sz="900" dirty="0"/>
          </a:p>
        </p:txBody>
      </p:sp>
      <p:sp>
        <p:nvSpPr>
          <p:cNvPr id="59" name="Shape 49"/>
          <p:cNvSpPr/>
          <p:nvPr/>
        </p:nvSpPr>
        <p:spPr>
          <a:xfrm>
            <a:off x="4526280" y="4590288"/>
            <a:ext cx="137160" cy="0"/>
          </a:xfrm>
          <a:prstGeom prst="line">
            <a:avLst/>
          </a:prstGeom>
          <a:noFill/>
          <a:ln w="15875">
            <a:solidFill>
              <a:srgbClr val="0A1F44"/>
            </a:solidFill>
            <a:prstDash val="solid"/>
          </a:ln>
        </p:spPr>
      </p:sp>
      <p:sp>
        <p:nvSpPr>
          <p:cNvPr id="60" name="Shape 50"/>
          <p:cNvSpPr/>
          <p:nvPr/>
        </p:nvSpPr>
        <p:spPr>
          <a:xfrm>
            <a:off x="4663440" y="4389120"/>
            <a:ext cx="0" cy="685800"/>
          </a:xfrm>
          <a:prstGeom prst="line">
            <a:avLst/>
          </a:prstGeom>
          <a:noFill/>
          <a:ln w="15875">
            <a:solidFill>
              <a:srgbClr val="0A1F44"/>
            </a:solidFill>
            <a:prstDash val="solid"/>
          </a:ln>
        </p:spPr>
      </p:sp>
      <p:sp>
        <p:nvSpPr>
          <p:cNvPr id="61" name="Shape 51"/>
          <p:cNvSpPr/>
          <p:nvPr/>
        </p:nvSpPr>
        <p:spPr>
          <a:xfrm>
            <a:off x="4663440" y="4389120"/>
            <a:ext cx="164592" cy="0"/>
          </a:xfrm>
          <a:prstGeom prst="line">
            <a:avLst/>
          </a:prstGeom>
          <a:noFill/>
          <a:ln w="15875">
            <a:solidFill>
              <a:srgbClr val="0A1F44"/>
            </a:solidFill>
            <a:prstDash val="solid"/>
            <a:tailEnd type="triangle"/>
          </a:ln>
        </p:spPr>
      </p:sp>
      <p:sp>
        <p:nvSpPr>
          <p:cNvPr id="62" name="Text 52"/>
          <p:cNvSpPr txBox="1"/>
          <p:nvPr/>
        </p:nvSpPr>
        <p:spPr>
          <a:xfrm>
            <a:off x="4572000" y="4133088"/>
            <a:ext cx="365760" cy="182880"/>
          </a:xfrm>
          <a:prstGeom prst="rect">
            <a:avLst/>
          </a:prstGeom>
          <a:noFill/>
          <a:ln/>
        </p:spPr>
        <p:txBody>
          <a:bodyPr wrap="square" lIns="0" tIns="0" rIns="0" bIns="0" rtlCol="0" anchor="t"/>
          <a:lstStyle/>
          <a:p>
            <a:pPr indent="0" marL="0">
              <a:buNone/>
            </a:pPr>
            <a:r>
              <a:rPr lang="en-US" sz="900" b="1" dirty="0">
                <a:solidFill>
                  <a:srgbClr val="16A34A"/>
                </a:solidFill>
                <a:latin typeface="Inter" pitchFamily="34" charset="0"/>
                <a:ea typeface="Inter" pitchFamily="34" charset="-122"/>
                <a:cs typeface="Inter" pitchFamily="34" charset="-120"/>
              </a:rPr>
              <a:t>Yes</a:t>
            </a:r>
            <a:endParaRPr lang="en-US" sz="900" dirty="0"/>
          </a:p>
        </p:txBody>
      </p:sp>
      <p:sp>
        <p:nvSpPr>
          <p:cNvPr id="63" name="Shape 53"/>
          <p:cNvSpPr/>
          <p:nvPr/>
        </p:nvSpPr>
        <p:spPr>
          <a:xfrm>
            <a:off x="4663440" y="5074920"/>
            <a:ext cx="164592" cy="0"/>
          </a:xfrm>
          <a:prstGeom prst="line">
            <a:avLst/>
          </a:prstGeom>
          <a:noFill/>
          <a:ln w="15875">
            <a:solidFill>
              <a:srgbClr val="0A1F44"/>
            </a:solidFill>
            <a:prstDash val="solid"/>
            <a:tailEnd type="triangle"/>
          </a:ln>
        </p:spPr>
      </p:sp>
      <p:sp>
        <p:nvSpPr>
          <p:cNvPr id="64" name="Text 54"/>
          <p:cNvSpPr txBox="1"/>
          <p:nvPr/>
        </p:nvSpPr>
        <p:spPr>
          <a:xfrm>
            <a:off x="4572000" y="5120640"/>
            <a:ext cx="365760" cy="182880"/>
          </a:xfrm>
          <a:prstGeom prst="rect">
            <a:avLst/>
          </a:prstGeom>
          <a:noFill/>
          <a:ln/>
        </p:spPr>
        <p:txBody>
          <a:bodyPr wrap="square" lIns="0" tIns="0" rIns="0" bIns="0" rtlCol="0" anchor="t"/>
          <a:lstStyle/>
          <a:p>
            <a:pPr indent="0" marL="0">
              <a:buNone/>
            </a:pPr>
            <a:r>
              <a:rPr lang="en-US" sz="900" b="1" dirty="0">
                <a:solidFill>
                  <a:srgbClr val="DC2626"/>
                </a:solidFill>
                <a:latin typeface="Inter" pitchFamily="34" charset="0"/>
                <a:ea typeface="Inter" pitchFamily="34" charset="-122"/>
                <a:cs typeface="Inter" pitchFamily="34" charset="-120"/>
              </a:rPr>
              <a:t>No</a:t>
            </a:r>
            <a:endParaRPr lang="en-US" sz="900" dirty="0"/>
          </a:p>
        </p:txBody>
      </p:sp>
      <p:sp>
        <p:nvSpPr>
          <p:cNvPr id="65" name="Shape 55"/>
          <p:cNvSpPr/>
          <p:nvPr/>
        </p:nvSpPr>
        <p:spPr>
          <a:xfrm>
            <a:off x="4828032" y="4133088"/>
            <a:ext cx="2670048" cy="512064"/>
          </a:xfrm>
          <a:prstGeom prst="roundRect">
            <a:avLst>
              <a:gd name="adj" fmla="val 14286"/>
            </a:avLst>
          </a:prstGeom>
          <a:solidFill>
            <a:srgbClr val="EFF6FF"/>
          </a:solidFill>
          <a:ln w="15875">
            <a:solidFill>
              <a:srgbClr val="1D4ED8"/>
            </a:solidFill>
            <a:prstDash val="solid"/>
          </a:ln>
        </p:spPr>
      </p:sp>
      <p:pic>
        <p:nvPicPr>
          <p:cNvPr id="66" name="Image 8" descr="preencoded.png">    </p:cNvPr>
          <p:cNvPicPr>
            <a:picLocks noChangeAspect="1"/>
          </p:cNvPicPr>
          <p:nvPr/>
        </p:nvPicPr>
        <p:blipFill>
          <a:blip r:embed="rId9"/>
          <a:stretch>
            <a:fillRect/>
          </a:stretch>
        </p:blipFill>
        <p:spPr>
          <a:xfrm>
            <a:off x="4937760" y="4261104"/>
            <a:ext cx="256032" cy="256032"/>
          </a:xfrm>
          <a:prstGeom prst="rect">
            <a:avLst/>
          </a:prstGeom>
        </p:spPr>
      </p:pic>
      <p:sp>
        <p:nvSpPr>
          <p:cNvPr id="67" name="Text 56"/>
          <p:cNvSpPr txBox="1"/>
          <p:nvPr/>
        </p:nvSpPr>
        <p:spPr>
          <a:xfrm>
            <a:off x="5285232" y="4133088"/>
            <a:ext cx="2139696" cy="512064"/>
          </a:xfrm>
          <a:prstGeom prst="rect">
            <a:avLst/>
          </a:prstGeom>
          <a:noFill/>
          <a:ln/>
        </p:spPr>
        <p:txBody>
          <a:bodyPr wrap="square" lIns="0" tIns="0" rIns="0" bIns="0" rtlCol="0" anchor="ctr"/>
          <a:lstStyle/>
          <a:p>
            <a:pPr indent="0" marL="0">
              <a:buNone/>
            </a:pPr>
            <a:r>
              <a:rPr lang="en-US" sz="1050" b="1" dirty="0">
                <a:solidFill>
                  <a:srgbClr val="0A1F44"/>
                </a:solidFill>
                <a:latin typeface="Inter" pitchFamily="34" charset="0"/>
                <a:ea typeface="Inter" pitchFamily="34" charset="-122"/>
                <a:cs typeface="Inter" pitchFamily="34" charset="-120"/>
              </a:rPr>
              <a:t>Saved Cart</a:t>
            </a:r>
            <a:endParaRPr lang="en-US" sz="1050" dirty="0"/>
          </a:p>
          <a:p>
            <a:pPr indent="0" marL="0">
              <a:buNone/>
            </a:pPr>
            <a:r>
              <a:rPr lang="en-US" sz="850" dirty="0">
                <a:solidFill>
                  <a:srgbClr val="334155"/>
                </a:solidFill>
                <a:latin typeface="Inter" pitchFamily="34" charset="0"/>
                <a:ea typeface="Inter" pitchFamily="34" charset="-122"/>
                <a:cs typeface="Inter" pitchFamily="34" charset="-120"/>
              </a:rPr>
              <a:t>Reminder at 1h and again at 24h; never a discount</a:t>
            </a:r>
            <a:endParaRPr lang="en-US" sz="1050" dirty="0"/>
          </a:p>
        </p:txBody>
      </p:sp>
      <p:sp>
        <p:nvSpPr>
          <p:cNvPr id="68" name="Shape 57"/>
          <p:cNvSpPr/>
          <p:nvPr/>
        </p:nvSpPr>
        <p:spPr>
          <a:xfrm>
            <a:off x="4828032" y="4828032"/>
            <a:ext cx="2670048" cy="512064"/>
          </a:xfrm>
          <a:prstGeom prst="roundRect">
            <a:avLst>
              <a:gd name="adj" fmla="val 14286"/>
            </a:avLst>
          </a:prstGeom>
          <a:solidFill>
            <a:srgbClr val="F1F5F9"/>
          </a:solidFill>
          <a:ln w="15875">
            <a:solidFill>
              <a:srgbClr val="94A3B8"/>
            </a:solidFill>
            <a:prstDash val="solid"/>
          </a:ln>
        </p:spPr>
      </p:sp>
      <p:pic>
        <p:nvPicPr>
          <p:cNvPr id="69" name="Image 9" descr="preencoded.png">    </p:cNvPr>
          <p:cNvPicPr>
            <a:picLocks noChangeAspect="1"/>
          </p:cNvPicPr>
          <p:nvPr/>
        </p:nvPicPr>
        <p:blipFill>
          <a:blip r:embed="rId10"/>
          <a:stretch>
            <a:fillRect/>
          </a:stretch>
        </p:blipFill>
        <p:spPr>
          <a:xfrm>
            <a:off x="4937760" y="4956048"/>
            <a:ext cx="256032" cy="256032"/>
          </a:xfrm>
          <a:prstGeom prst="rect">
            <a:avLst/>
          </a:prstGeom>
        </p:spPr>
      </p:pic>
      <p:sp>
        <p:nvSpPr>
          <p:cNvPr id="70" name="Text 58"/>
          <p:cNvSpPr txBox="1"/>
          <p:nvPr/>
        </p:nvSpPr>
        <p:spPr>
          <a:xfrm>
            <a:off x="5285232" y="4828032"/>
            <a:ext cx="2139696" cy="512064"/>
          </a:xfrm>
          <a:prstGeom prst="rect">
            <a:avLst/>
          </a:prstGeom>
          <a:noFill/>
          <a:ln/>
        </p:spPr>
        <p:txBody>
          <a:bodyPr wrap="square" lIns="0" tIns="0" rIns="0" bIns="0" rtlCol="0" anchor="ctr"/>
          <a:lstStyle/>
          <a:p>
            <a:pPr indent="0" marL="0">
              <a:buNone/>
            </a:pPr>
            <a:r>
              <a:rPr lang="en-US" sz="1050" b="1" dirty="0">
                <a:solidFill>
                  <a:srgbClr val="0A1F44"/>
                </a:solidFill>
                <a:latin typeface="Inter" pitchFamily="34" charset="0"/>
                <a:ea typeface="Inter" pitchFamily="34" charset="-122"/>
                <a:cs typeface="Inter" pitchFamily="34" charset="-120"/>
              </a:rPr>
              <a:t>Paid retargeting, days 1–7</a:t>
            </a:r>
            <a:endParaRPr lang="en-US" sz="1050" dirty="0"/>
          </a:p>
          <a:p>
            <a:pPr indent="0" marL="0">
              <a:buNone/>
            </a:pPr>
            <a:r>
              <a:rPr lang="en-US" sz="850" dirty="0">
                <a:solidFill>
                  <a:srgbClr val="334155"/>
                </a:solidFill>
                <a:latin typeface="Inter" pitchFamily="34" charset="0"/>
                <a:ea typeface="Inter" pitchFamily="34" charset="-122"/>
                <a:cs typeface="Inter" pitchFamily="34" charset="-120"/>
              </a:rPr>
              <a:t>Frequency-capped: the one job left for retargeting</a:t>
            </a:r>
            <a:endParaRPr lang="en-US" sz="1050" dirty="0"/>
          </a:p>
        </p:txBody>
      </p:sp>
      <p:sp>
        <p:nvSpPr>
          <p:cNvPr id="71" name="Shape 59"/>
          <p:cNvSpPr/>
          <p:nvPr/>
        </p:nvSpPr>
        <p:spPr>
          <a:xfrm>
            <a:off x="6949440" y="3840480"/>
            <a:ext cx="0" cy="292608"/>
          </a:xfrm>
          <a:prstGeom prst="line">
            <a:avLst/>
          </a:prstGeom>
          <a:noFill/>
          <a:ln w="15875">
            <a:solidFill>
              <a:srgbClr val="1D4ED8"/>
            </a:solidFill>
            <a:prstDash val="dash"/>
          </a:ln>
        </p:spPr>
      </p:sp>
      <p:sp>
        <p:nvSpPr>
          <p:cNvPr id="72" name="Shape 60"/>
          <p:cNvSpPr/>
          <p:nvPr/>
        </p:nvSpPr>
        <p:spPr>
          <a:xfrm>
            <a:off x="3108960" y="3840480"/>
            <a:ext cx="3840480" cy="0"/>
          </a:xfrm>
          <a:prstGeom prst="line">
            <a:avLst/>
          </a:prstGeom>
          <a:noFill/>
          <a:ln w="15875">
            <a:solidFill>
              <a:srgbClr val="1D4ED8"/>
            </a:solidFill>
            <a:prstDash val="dash"/>
          </a:ln>
        </p:spPr>
      </p:sp>
      <p:sp>
        <p:nvSpPr>
          <p:cNvPr id="73" name="Shape 61"/>
          <p:cNvSpPr/>
          <p:nvPr/>
        </p:nvSpPr>
        <p:spPr>
          <a:xfrm>
            <a:off x="3108960" y="3108960"/>
            <a:ext cx="0" cy="731520"/>
          </a:xfrm>
          <a:prstGeom prst="line">
            <a:avLst/>
          </a:prstGeom>
          <a:noFill/>
          <a:ln w="15875">
            <a:solidFill>
              <a:srgbClr val="1D4ED8"/>
            </a:solidFill>
            <a:prstDash val="dash"/>
          </a:ln>
        </p:spPr>
      </p:sp>
      <p:sp>
        <p:nvSpPr>
          <p:cNvPr id="74" name="Shape 62"/>
          <p:cNvSpPr/>
          <p:nvPr/>
        </p:nvSpPr>
        <p:spPr>
          <a:xfrm>
            <a:off x="3108960" y="3108960"/>
            <a:ext cx="-228600" cy="0"/>
          </a:xfrm>
          <a:prstGeom prst="line">
            <a:avLst/>
          </a:prstGeom>
          <a:noFill/>
          <a:ln w="15875">
            <a:solidFill>
              <a:srgbClr val="1D4ED8"/>
            </a:solidFill>
            <a:prstDash val="dash"/>
            <a:tailEnd type="triangle"/>
          </a:ln>
        </p:spPr>
      </p:sp>
      <p:sp>
        <p:nvSpPr>
          <p:cNvPr id="75" name="Text 63"/>
          <p:cNvSpPr txBox="1"/>
          <p:nvPr/>
        </p:nvSpPr>
        <p:spPr>
          <a:xfrm>
            <a:off x="4206240" y="3621024"/>
            <a:ext cx="2377440" cy="201168"/>
          </a:xfrm>
          <a:prstGeom prst="rect">
            <a:avLst/>
          </a:prstGeom>
          <a:noFill/>
          <a:ln/>
        </p:spPr>
        <p:txBody>
          <a:bodyPr wrap="square" lIns="0" tIns="0" rIns="0" bIns="0" rtlCol="0" anchor="t"/>
          <a:lstStyle/>
          <a:p>
            <a:pPr indent="0" marL="0">
              <a:buNone/>
            </a:pPr>
            <a:r>
              <a:rPr lang="en-US" sz="850" b="1" i="1" dirty="0">
                <a:solidFill>
                  <a:srgbClr val="1D4ED8"/>
                </a:solidFill>
                <a:latin typeface="Inter" pitchFamily="34" charset="0"/>
                <a:ea typeface="Inter" pitchFamily="34" charset="-122"/>
                <a:cs typeface="Inter" pitchFamily="34" charset="-120"/>
              </a:rPr>
              <a:t>orders later → joins the top path</a:t>
            </a:r>
            <a:endParaRPr lang="en-US" sz="850" dirty="0"/>
          </a:p>
        </p:txBody>
      </p:sp>
      <p:sp>
        <p:nvSpPr>
          <p:cNvPr id="76" name="Shape 64"/>
          <p:cNvSpPr/>
          <p:nvPr/>
        </p:nvSpPr>
        <p:spPr>
          <a:xfrm>
            <a:off x="7498080" y="5084064"/>
            <a:ext cx="228600" cy="0"/>
          </a:xfrm>
          <a:prstGeom prst="line">
            <a:avLst/>
          </a:prstGeom>
          <a:noFill/>
          <a:ln w="15875">
            <a:solidFill>
              <a:srgbClr val="94A3B8"/>
            </a:solidFill>
            <a:prstDash val="solid"/>
            <a:tailEnd type="triangle"/>
          </a:ln>
        </p:spPr>
      </p:sp>
      <p:sp>
        <p:nvSpPr>
          <p:cNvPr id="77" name="Text 65"/>
          <p:cNvSpPr txBox="1"/>
          <p:nvPr/>
        </p:nvSpPr>
        <p:spPr>
          <a:xfrm>
            <a:off x="7772400" y="4974336"/>
            <a:ext cx="1280160" cy="219456"/>
          </a:xfrm>
          <a:prstGeom prst="rect">
            <a:avLst/>
          </a:prstGeom>
          <a:noFill/>
          <a:ln/>
        </p:spPr>
        <p:txBody>
          <a:bodyPr wrap="square" lIns="0" tIns="0" rIns="0" bIns="0" rtlCol="0" anchor="ctr"/>
          <a:lstStyle/>
          <a:p>
            <a:pPr indent="0" marL="0">
              <a:buNone/>
            </a:pPr>
            <a:r>
              <a:rPr lang="en-US" sz="900" b="1" dirty="0">
                <a:solidFill>
                  <a:srgbClr val="64748B"/>
                </a:solidFill>
                <a:latin typeface="Inter" pitchFamily="34" charset="0"/>
                <a:ea typeface="Inter" pitchFamily="34" charset="-122"/>
                <a:cs typeface="Inter" pitchFamily="34" charset="-120"/>
              </a:rPr>
              <a:t>After day 7: stop</a:t>
            </a:r>
            <a:endParaRPr lang="en-US" sz="900" dirty="0"/>
          </a:p>
        </p:txBody>
      </p:sp>
      <p:sp>
        <p:nvSpPr>
          <p:cNvPr id="78" name="Text 66"/>
          <p:cNvSpPr txBox="1"/>
          <p:nvPr/>
        </p:nvSpPr>
        <p:spPr>
          <a:xfrm>
            <a:off x="9235440" y="4069080"/>
            <a:ext cx="1828800" cy="182880"/>
          </a:xfrm>
          <a:prstGeom prst="rect">
            <a:avLst/>
          </a:prstGeom>
          <a:noFill/>
          <a:ln/>
        </p:spPr>
        <p:txBody>
          <a:bodyPr wrap="square" lIns="0" tIns="0" rIns="0" bIns="0" rtlCol="0" anchor="t"/>
          <a:lstStyle/>
          <a:p>
            <a:pPr indent="0" marL="0">
              <a:buNone/>
            </a:pPr>
            <a:r>
              <a:rPr lang="en-US" sz="850" b="1" dirty="0">
                <a:solidFill>
                  <a:srgbClr val="1D4ED8"/>
                </a:solidFill>
                <a:latin typeface="Inter" pitchFamily="34" charset="0"/>
                <a:ea typeface="Inter" pitchFamily="34" charset="-122"/>
                <a:cs typeface="Inter" pitchFamily="34" charset="-120"/>
              </a:rPr>
              <a:t>LEGEND</a:t>
            </a:r>
            <a:endParaRPr lang="en-US" sz="850" dirty="0"/>
          </a:p>
        </p:txBody>
      </p:sp>
      <p:sp>
        <p:nvSpPr>
          <p:cNvPr id="79" name="Shape 67"/>
          <p:cNvSpPr/>
          <p:nvPr/>
        </p:nvSpPr>
        <p:spPr>
          <a:xfrm>
            <a:off x="9235440" y="4297680"/>
            <a:ext cx="237744" cy="164592"/>
          </a:xfrm>
          <a:prstGeom prst="diamond">
            <a:avLst/>
          </a:prstGeom>
          <a:solidFill>
            <a:srgbClr val="FFFFFF"/>
          </a:solidFill>
          <a:ln w="12700">
            <a:solidFill>
              <a:srgbClr val="0A1F44"/>
            </a:solidFill>
            <a:prstDash val="solid"/>
          </a:ln>
        </p:spPr>
      </p:sp>
      <p:sp>
        <p:nvSpPr>
          <p:cNvPr id="80" name="Text 68"/>
          <p:cNvSpPr txBox="1"/>
          <p:nvPr/>
        </p:nvSpPr>
        <p:spPr>
          <a:xfrm>
            <a:off x="9555480" y="4279392"/>
            <a:ext cx="2103120" cy="201168"/>
          </a:xfrm>
          <a:prstGeom prst="rect">
            <a:avLst/>
          </a:prstGeom>
          <a:noFill/>
          <a:ln/>
        </p:spPr>
        <p:txBody>
          <a:bodyPr wrap="square" lIns="0" tIns="0" rIns="0" bIns="0" rtlCol="0" anchor="ctr"/>
          <a:lstStyle/>
          <a:p>
            <a:pPr indent="0" marL="0">
              <a:buNone/>
            </a:pPr>
            <a:r>
              <a:rPr lang="en-US" sz="850" dirty="0">
                <a:solidFill>
                  <a:srgbClr val="0F172A"/>
                </a:solidFill>
                <a:latin typeface="Inter" pitchFamily="34" charset="0"/>
                <a:ea typeface="Inter" pitchFamily="34" charset="-122"/>
                <a:cs typeface="Inter" pitchFamily="34" charset="-120"/>
              </a:rPr>
              <a:t>Saved CJA segment test</a:t>
            </a:r>
            <a:endParaRPr lang="en-US" sz="850" dirty="0"/>
          </a:p>
        </p:txBody>
      </p:sp>
      <p:sp>
        <p:nvSpPr>
          <p:cNvPr id="81" name="Shape 69"/>
          <p:cNvSpPr/>
          <p:nvPr/>
        </p:nvSpPr>
        <p:spPr>
          <a:xfrm>
            <a:off x="9235440" y="4544568"/>
            <a:ext cx="237744" cy="164592"/>
          </a:xfrm>
          <a:prstGeom prst="roundRect">
            <a:avLst>
              <a:gd name="adj" fmla="val 22222"/>
            </a:avLst>
          </a:prstGeom>
          <a:solidFill>
            <a:srgbClr val="0A1F44"/>
          </a:solidFill>
          <a:ln w="6350">
            <a:solidFill>
              <a:srgbClr val="0A1F44"/>
            </a:solidFill>
            <a:prstDash val="solid"/>
          </a:ln>
        </p:spPr>
      </p:sp>
      <p:sp>
        <p:nvSpPr>
          <p:cNvPr id="82" name="Text 70"/>
          <p:cNvSpPr txBox="1"/>
          <p:nvPr/>
        </p:nvSpPr>
        <p:spPr>
          <a:xfrm>
            <a:off x="9555480" y="4526280"/>
            <a:ext cx="2103120" cy="201168"/>
          </a:xfrm>
          <a:prstGeom prst="rect">
            <a:avLst/>
          </a:prstGeom>
          <a:noFill/>
          <a:ln/>
        </p:spPr>
        <p:txBody>
          <a:bodyPr wrap="square" lIns="0" tIns="0" rIns="0" bIns="0" rtlCol="0" anchor="ctr"/>
          <a:lstStyle/>
          <a:p>
            <a:pPr indent="0" marL="0">
              <a:buNone/>
            </a:pPr>
            <a:r>
              <a:rPr lang="en-US" sz="850" dirty="0">
                <a:solidFill>
                  <a:srgbClr val="0F172A"/>
                </a:solidFill>
                <a:latin typeface="Inter" pitchFamily="34" charset="0"/>
                <a:ea typeface="Inter" pitchFamily="34" charset="-122"/>
                <a:cs typeface="Inter" pitchFamily="34" charset="-120"/>
              </a:rPr>
              <a:t>Start and outcome</a:t>
            </a:r>
            <a:endParaRPr lang="en-US" sz="850" dirty="0"/>
          </a:p>
        </p:txBody>
      </p:sp>
      <p:sp>
        <p:nvSpPr>
          <p:cNvPr id="83" name="Shape 71"/>
          <p:cNvSpPr/>
          <p:nvPr/>
        </p:nvSpPr>
        <p:spPr>
          <a:xfrm>
            <a:off x="9235440" y="4791456"/>
            <a:ext cx="237744" cy="164592"/>
          </a:xfrm>
          <a:prstGeom prst="roundRect">
            <a:avLst>
              <a:gd name="adj" fmla="val 22222"/>
            </a:avLst>
          </a:prstGeom>
          <a:solidFill>
            <a:srgbClr val="FFFFFF"/>
          </a:solidFill>
          <a:ln w="15875">
            <a:solidFill>
              <a:srgbClr val="1D4ED8"/>
            </a:solidFill>
            <a:prstDash val="solid"/>
          </a:ln>
        </p:spPr>
      </p:sp>
      <p:sp>
        <p:nvSpPr>
          <p:cNvPr id="84" name="Text 72"/>
          <p:cNvSpPr txBox="1"/>
          <p:nvPr/>
        </p:nvSpPr>
        <p:spPr>
          <a:xfrm>
            <a:off x="9555480" y="4773168"/>
            <a:ext cx="2103120" cy="201168"/>
          </a:xfrm>
          <a:prstGeom prst="rect">
            <a:avLst/>
          </a:prstGeom>
          <a:noFill/>
          <a:ln/>
        </p:spPr>
        <p:txBody>
          <a:bodyPr wrap="square" lIns="0" tIns="0" rIns="0" bIns="0" rtlCol="0" anchor="ctr"/>
          <a:lstStyle/>
          <a:p>
            <a:pPr indent="0" marL="0">
              <a:buNone/>
            </a:pPr>
            <a:r>
              <a:rPr lang="en-US" sz="850" dirty="0">
                <a:solidFill>
                  <a:srgbClr val="0F172A"/>
                </a:solidFill>
                <a:latin typeface="Inter" pitchFamily="34" charset="0"/>
                <a:ea typeface="Inter" pitchFamily="34" charset="-122"/>
                <a:cs typeface="Inter" pitchFamily="34" charset="-120"/>
              </a:rPr>
              <a:t>Owned channel: app, email, SMS, box</a:t>
            </a:r>
            <a:endParaRPr lang="en-US" sz="850" dirty="0"/>
          </a:p>
        </p:txBody>
      </p:sp>
      <p:sp>
        <p:nvSpPr>
          <p:cNvPr id="85" name="Shape 73"/>
          <p:cNvSpPr/>
          <p:nvPr/>
        </p:nvSpPr>
        <p:spPr>
          <a:xfrm>
            <a:off x="9235440" y="5038344"/>
            <a:ext cx="237744" cy="164592"/>
          </a:xfrm>
          <a:prstGeom prst="roundRect">
            <a:avLst>
              <a:gd name="adj" fmla="val 22222"/>
            </a:avLst>
          </a:prstGeom>
          <a:solidFill>
            <a:srgbClr val="FFFFFF"/>
          </a:solidFill>
          <a:ln w="15875">
            <a:solidFill>
              <a:srgbClr val="94A3B8"/>
            </a:solidFill>
            <a:prstDash val="solid"/>
          </a:ln>
        </p:spPr>
      </p:sp>
      <p:sp>
        <p:nvSpPr>
          <p:cNvPr id="86" name="Text 74"/>
          <p:cNvSpPr txBox="1"/>
          <p:nvPr/>
        </p:nvSpPr>
        <p:spPr>
          <a:xfrm>
            <a:off x="9555480" y="5020056"/>
            <a:ext cx="2103120" cy="201168"/>
          </a:xfrm>
          <a:prstGeom prst="rect">
            <a:avLst/>
          </a:prstGeom>
          <a:noFill/>
          <a:ln/>
        </p:spPr>
        <p:txBody>
          <a:bodyPr wrap="square" lIns="0" tIns="0" rIns="0" bIns="0" rtlCol="0" anchor="ctr"/>
          <a:lstStyle/>
          <a:p>
            <a:pPr indent="0" marL="0">
              <a:buNone/>
            </a:pPr>
            <a:r>
              <a:rPr lang="en-US" sz="850" dirty="0">
                <a:solidFill>
                  <a:srgbClr val="0F172A"/>
                </a:solidFill>
                <a:latin typeface="Inter" pitchFamily="34" charset="0"/>
                <a:ea typeface="Inter" pitchFamily="34" charset="-122"/>
                <a:cs typeface="Inter" pitchFamily="34" charset="-120"/>
              </a:rPr>
              <a:t>Paid media</a:t>
            </a:r>
            <a:endParaRPr lang="en-US" sz="850" dirty="0"/>
          </a:p>
        </p:txBody>
      </p:sp>
      <p:sp>
        <p:nvSpPr>
          <p:cNvPr id="87" name="Shape 75"/>
          <p:cNvSpPr/>
          <p:nvPr/>
        </p:nvSpPr>
        <p:spPr>
          <a:xfrm>
            <a:off x="9235440" y="5285232"/>
            <a:ext cx="237744" cy="164592"/>
          </a:xfrm>
          <a:prstGeom prst="roundRect">
            <a:avLst>
              <a:gd name="adj" fmla="val 22222"/>
            </a:avLst>
          </a:prstGeom>
          <a:solidFill>
            <a:srgbClr val="FFFFFF"/>
          </a:solidFill>
          <a:ln w="15875">
            <a:solidFill>
              <a:srgbClr val="DC2626"/>
            </a:solidFill>
            <a:prstDash val="solid"/>
          </a:ln>
        </p:spPr>
      </p:sp>
      <p:sp>
        <p:nvSpPr>
          <p:cNvPr id="88" name="Text 76"/>
          <p:cNvSpPr txBox="1"/>
          <p:nvPr/>
        </p:nvSpPr>
        <p:spPr>
          <a:xfrm>
            <a:off x="9555480" y="5266944"/>
            <a:ext cx="2103120" cy="201168"/>
          </a:xfrm>
          <a:prstGeom prst="rect">
            <a:avLst/>
          </a:prstGeom>
          <a:noFill/>
          <a:ln/>
        </p:spPr>
        <p:txBody>
          <a:bodyPr wrap="square" lIns="0" tIns="0" rIns="0" bIns="0" rtlCol="0" anchor="ctr"/>
          <a:lstStyle/>
          <a:p>
            <a:pPr indent="0" marL="0">
              <a:buNone/>
            </a:pPr>
            <a:r>
              <a:rPr lang="en-US" sz="850" dirty="0">
                <a:solidFill>
                  <a:srgbClr val="0F172A"/>
                </a:solidFill>
                <a:latin typeface="Inter" pitchFamily="34" charset="0"/>
                <a:ea typeface="Inter" pitchFamily="34" charset="-122"/>
                <a:cs typeface="Inter" pitchFamily="34" charset="-120"/>
              </a:rPr>
              <a:t>Removed from paid media</a:t>
            </a:r>
            <a:endParaRPr lang="en-US" sz="850" dirty="0"/>
          </a:p>
        </p:txBody>
      </p:sp>
      <p:sp>
        <p:nvSpPr>
          <p:cNvPr id="89" name="Shape 77"/>
          <p:cNvSpPr/>
          <p:nvPr/>
        </p:nvSpPr>
        <p:spPr>
          <a:xfrm>
            <a:off x="502920" y="5715000"/>
            <a:ext cx="11183112" cy="512064"/>
          </a:xfrm>
          <a:prstGeom prst="roundRect">
            <a:avLst>
              <a:gd name="adj" fmla="val 17857"/>
            </a:avLst>
          </a:prstGeom>
          <a:solidFill>
            <a:srgbClr val="EFF6FF"/>
          </a:solidFill>
          <a:ln w="6350">
            <a:solidFill>
              <a:srgbClr val="EFF6FF"/>
            </a:solidFill>
            <a:prstDash val="solid"/>
          </a:ln>
        </p:spPr>
      </p:sp>
      <p:sp>
        <p:nvSpPr>
          <p:cNvPr id="90" name="Shape 78"/>
          <p:cNvSpPr/>
          <p:nvPr/>
        </p:nvSpPr>
        <p:spPr>
          <a:xfrm>
            <a:off x="640080" y="5806440"/>
            <a:ext cx="329184" cy="329184"/>
          </a:xfrm>
          <a:prstGeom prst="ellipse">
            <a:avLst/>
          </a:prstGeom>
          <a:solidFill>
            <a:srgbClr val="1D4ED8"/>
          </a:solidFill>
          <a:ln w="6350">
            <a:solidFill>
              <a:srgbClr val="1D4ED8"/>
            </a:solidFill>
            <a:prstDash val="solid"/>
          </a:ln>
        </p:spPr>
      </p:sp>
      <p:pic>
        <p:nvPicPr>
          <p:cNvPr id="91" name="Image 10" descr="preencoded.png">    </p:cNvPr>
          <p:cNvPicPr>
            <a:picLocks noChangeAspect="1"/>
          </p:cNvPicPr>
          <p:nvPr/>
        </p:nvPicPr>
        <p:blipFill>
          <a:blip r:embed="rId11"/>
          <a:stretch>
            <a:fillRect/>
          </a:stretch>
        </p:blipFill>
        <p:spPr>
          <a:xfrm>
            <a:off x="712500" y="5878860"/>
            <a:ext cx="184343" cy="184343"/>
          </a:xfrm>
          <a:prstGeom prst="rect">
            <a:avLst/>
          </a:prstGeom>
        </p:spPr>
      </p:pic>
      <p:sp>
        <p:nvSpPr>
          <p:cNvPr id="92" name="Text 79"/>
          <p:cNvSpPr txBox="1"/>
          <p:nvPr/>
        </p:nvSpPr>
        <p:spPr>
          <a:xfrm>
            <a:off x="1097280" y="5715000"/>
            <a:ext cx="10424160" cy="512064"/>
          </a:xfrm>
          <a:prstGeom prst="rect">
            <a:avLst/>
          </a:prstGeom>
          <a:noFill/>
          <a:ln/>
        </p:spPr>
        <p:txBody>
          <a:bodyPr wrap="square" lIns="0" tIns="0" rIns="0" bIns="0" rtlCol="0" anchor="ctr"/>
          <a:lstStyle/>
          <a:p>
            <a:pPr indent="0" marL="0">
              <a:buNone/>
            </a:pPr>
            <a:r>
              <a:rPr lang="en-US" sz="1300" b="1" dirty="0">
                <a:solidFill>
                  <a:srgbClr val="0A1F44"/>
                </a:solidFill>
                <a:latin typeface="Inter" pitchFamily="34" charset="0"/>
                <a:ea typeface="Inter" pitchFamily="34" charset="-122"/>
                <a:cs typeface="Inter" pitchFamily="34" charset="-120"/>
              </a:rPr>
              <a:t>Each diamond is a saved CJA segment, so one rule drives both the message and its measurement</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9326880" cy="841248"/>
          </a:xfrm>
          <a:prstGeom prst="rect">
            <a:avLst/>
          </a:prstGeom>
          <a:noFill/>
          <a:ln/>
        </p:spPr>
        <p:txBody>
          <a:bodyPr wrap="square" lIns="0" tIns="0" rIns="0" bIns="0" rtlCol="0" anchor="ctr"/>
          <a:lstStyle/>
          <a:p>
            <a:pPr indent="0" marL="0">
              <a:buNone/>
            </a:pPr>
            <a:r>
              <a:rPr lang="en-US" sz="2400" b="1" dirty="0">
                <a:solidFill>
                  <a:srgbClr val="0A1F44"/>
                </a:solidFill>
                <a:latin typeface="Inter" pitchFamily="34" charset="0"/>
                <a:ea typeface="Inter" pitchFamily="34" charset="-122"/>
                <a:cs typeface="Inter" pitchFamily="34" charset="-120"/>
              </a:rPr>
              <a:t>Never Pay Twice: stop buying customers Quince already has</a:t>
            </a:r>
            <a:endParaRPr lang="en-US" sz="2400" dirty="0"/>
          </a:p>
        </p:txBody>
      </p:sp>
      <p:pic>
        <p:nvPicPr>
          <p:cNvPr id="3" name="Image 0" descr="/tmp/claude-0/-home-user-Quince/7efe80ae-a049-50c2-9886-98bf7ca3a04a/scratchpad/assets/quince.png">    </p:cNvPr>
          <p:cNvPicPr>
            <a:picLocks noChangeAspect="1"/>
          </p:cNvPicPr>
          <p:nvPr/>
        </p:nvPicPr>
        <p:blipFill>
          <a:blip r:embed="rId1"/>
          <a:stretch>
            <a:fillRect/>
          </a:stretch>
        </p:blipFill>
        <p:spPr>
          <a:xfrm>
            <a:off x="10236708" y="615544"/>
            <a:ext cx="777240" cy="231951"/>
          </a:xfrm>
          <a:prstGeom prst="rect">
            <a:avLst/>
          </a:prstGeom>
        </p:spPr>
      </p:pic>
      <p:sp>
        <p:nvSpPr>
          <p:cNvPr id="4" name="Shape 1"/>
          <p:cNvSpPr/>
          <p:nvPr/>
        </p:nvSpPr>
        <p:spPr>
          <a:xfrm>
            <a:off x="11155680" y="603504"/>
            <a:ext cx="530352" cy="256032"/>
          </a:xfrm>
          <a:prstGeom prst="roundRect">
            <a:avLst>
              <a:gd name="adj" fmla="val 50000"/>
            </a:avLst>
          </a:prstGeom>
          <a:solidFill>
            <a:srgbClr val="0A1F44"/>
          </a:solidFill>
          <a:ln w="6350">
            <a:solidFill>
              <a:srgbClr val="0A1F44"/>
            </a:solidFill>
            <a:prstDash val="solid"/>
          </a:ln>
        </p:spPr>
      </p:sp>
      <p:sp>
        <p:nvSpPr>
          <p:cNvPr id="5" name="Text 2"/>
          <p:cNvSpPr txBox="1"/>
          <p:nvPr/>
        </p:nvSpPr>
        <p:spPr>
          <a:xfrm>
            <a:off x="11155680" y="603504"/>
            <a:ext cx="530352"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Inter" pitchFamily="34" charset="0"/>
                <a:ea typeface="Inter" pitchFamily="34" charset="-122"/>
                <a:cs typeface="Inter" pitchFamily="34" charset="-120"/>
              </a:rPr>
              <a:t>G27</a:t>
            </a:r>
            <a:endParaRPr lang="en-US" sz="950" dirty="0"/>
          </a:p>
        </p:txBody>
      </p:sp>
      <p:sp>
        <p:nvSpPr>
          <p:cNvPr id="6" name="Shape 3"/>
          <p:cNvSpPr/>
          <p:nvPr/>
        </p:nvSpPr>
        <p:spPr>
          <a:xfrm>
            <a:off x="502920" y="6400800"/>
            <a:ext cx="11183112" cy="0"/>
          </a:xfrm>
          <a:prstGeom prst="line">
            <a:avLst/>
          </a:prstGeom>
          <a:noFill/>
          <a:ln w="9525">
            <a:solidFill>
              <a:srgbClr val="E2E8F0"/>
            </a:solidFill>
            <a:prstDash val="solid"/>
          </a:ln>
        </p:spPr>
      </p:sp>
      <p:sp>
        <p:nvSpPr>
          <p:cNvPr id="7" name="Text 4"/>
          <p:cNvSpPr txBox="1"/>
          <p:nvPr/>
        </p:nvSpPr>
        <p:spPr>
          <a:xfrm>
            <a:off x="502920" y="6464808"/>
            <a:ext cx="9418320" cy="256032"/>
          </a:xfrm>
          <a:prstGeom prst="rect">
            <a:avLst/>
          </a:prstGeom>
          <a:noFill/>
          <a:ln/>
        </p:spPr>
        <p:txBody>
          <a:bodyPr wrap="square" lIns="0" tIns="0" rIns="0" bIns="0" rtlCol="0" anchor="ctr"/>
          <a:lstStyle/>
          <a:p>
            <a:pPr indent="0" marL="0">
              <a:buNone/>
            </a:pPr>
            <a:r>
              <a:rPr lang="en-US" sz="800" dirty="0">
                <a:solidFill>
                  <a:srgbClr val="64748B"/>
                </a:solidFill>
                <a:latin typeface="Inter" pitchFamily="34" charset="0"/>
                <a:ea typeface="Inter" pitchFamily="34" charset="-122"/>
                <a:cs typeface="Inter" pitchFamily="34" charset="-120"/>
              </a:rPr>
              <a:t>Source: Adobe CJA, Quince Case Data View (125,521 events, 1 Jan–30 Apr 2026), segments A3b and A1; case Exhibits D, I, L; team design.</a:t>
            </a:r>
            <a:endParaRPr lang="en-US" sz="800" dirty="0"/>
          </a:p>
        </p:txBody>
      </p:sp>
      <p:sp>
        <p:nvSpPr>
          <p:cNvPr id="8" name="Text 5"/>
          <p:cNvSpPr txBox="1"/>
          <p:nvPr/>
        </p:nvSpPr>
        <p:spPr>
          <a:xfrm>
            <a:off x="9966960" y="6464808"/>
            <a:ext cx="1719072" cy="256032"/>
          </a:xfrm>
          <a:prstGeom prst="rect">
            <a:avLst/>
          </a:prstGeom>
          <a:noFill/>
          <a:ln/>
        </p:spPr>
        <p:txBody>
          <a:bodyPr wrap="square" lIns="0" tIns="0" rIns="0" bIns="0" rtlCol="0" anchor="ctr"/>
          <a:lstStyle/>
          <a:p>
            <a:pPr algn="r" indent="0" marL="0">
              <a:buNone/>
            </a:pPr>
            <a:r>
              <a:rPr lang="en-US" sz="800" dirty="0">
                <a:solidFill>
                  <a:srgbClr val="64748B"/>
                </a:solidFill>
                <a:latin typeface="Inter" pitchFamily="34" charset="0"/>
                <a:ea typeface="Inter" pitchFamily="34" charset="-122"/>
                <a:cs typeface="Inter" pitchFamily="34" charset="-120"/>
              </a:rPr>
              <a:t>Team G27  ·  18</a:t>
            </a:r>
            <a:endParaRPr lang="en-US" sz="800" dirty="0"/>
          </a:p>
        </p:txBody>
      </p:sp>
      <p:sp>
        <p:nvSpPr>
          <p:cNvPr id="9" name="Text 6"/>
          <p:cNvSpPr txBox="1"/>
          <p:nvPr/>
        </p:nvSpPr>
        <p:spPr>
          <a:xfrm>
            <a:off x="502920" y="1261872"/>
            <a:ext cx="2011680" cy="201168"/>
          </a:xfrm>
          <a:prstGeom prst="rect">
            <a:avLst/>
          </a:prstGeom>
          <a:noFill/>
          <a:ln/>
        </p:spPr>
        <p:txBody>
          <a:bodyPr wrap="square" lIns="0" tIns="0" rIns="0" bIns="0" rtlCol="0" anchor="t"/>
          <a:lstStyle/>
          <a:p>
            <a:pPr indent="0" marL="0">
              <a:buNone/>
            </a:pPr>
            <a:r>
              <a:rPr lang="en-US" sz="850" b="1" dirty="0">
                <a:solidFill>
                  <a:srgbClr val="1D4ED8"/>
                </a:solidFill>
                <a:latin typeface="Inter" pitchFamily="34" charset="0"/>
                <a:ea typeface="Inter" pitchFamily="34" charset="-122"/>
                <a:cs typeface="Inter" pitchFamily="34" charset="-120"/>
              </a:rPr>
              <a:t>DATA IN</a:t>
            </a:r>
            <a:endParaRPr lang="en-US" sz="850" dirty="0"/>
          </a:p>
        </p:txBody>
      </p:sp>
      <p:sp>
        <p:nvSpPr>
          <p:cNvPr id="10" name="Text 7"/>
          <p:cNvSpPr txBox="1"/>
          <p:nvPr/>
        </p:nvSpPr>
        <p:spPr>
          <a:xfrm>
            <a:off x="2743200" y="1261872"/>
            <a:ext cx="2011680" cy="201168"/>
          </a:xfrm>
          <a:prstGeom prst="rect">
            <a:avLst/>
          </a:prstGeom>
          <a:noFill/>
          <a:ln/>
        </p:spPr>
        <p:txBody>
          <a:bodyPr wrap="square" lIns="0" tIns="0" rIns="0" bIns="0" rtlCol="0" anchor="t"/>
          <a:lstStyle/>
          <a:p>
            <a:pPr indent="0" marL="0">
              <a:buNone/>
            </a:pPr>
            <a:r>
              <a:rPr lang="en-US" sz="850" b="1" dirty="0">
                <a:solidFill>
                  <a:srgbClr val="1D4ED8"/>
                </a:solidFill>
                <a:latin typeface="Inter" pitchFamily="34" charset="0"/>
                <a:ea typeface="Inter" pitchFamily="34" charset="-122"/>
                <a:cs typeface="Inter" pitchFamily="34" charset="-120"/>
              </a:rPr>
              <a:t>IDENTITY</a:t>
            </a:r>
            <a:endParaRPr lang="en-US" sz="850" dirty="0"/>
          </a:p>
        </p:txBody>
      </p:sp>
      <p:sp>
        <p:nvSpPr>
          <p:cNvPr id="11" name="Text 8"/>
          <p:cNvSpPr txBox="1"/>
          <p:nvPr/>
        </p:nvSpPr>
        <p:spPr>
          <a:xfrm>
            <a:off x="4983480" y="1261872"/>
            <a:ext cx="2011680" cy="201168"/>
          </a:xfrm>
          <a:prstGeom prst="rect">
            <a:avLst/>
          </a:prstGeom>
          <a:noFill/>
          <a:ln/>
        </p:spPr>
        <p:txBody>
          <a:bodyPr wrap="square" lIns="0" tIns="0" rIns="0" bIns="0" rtlCol="0" anchor="t"/>
          <a:lstStyle/>
          <a:p>
            <a:pPr indent="0" marL="0">
              <a:buNone/>
            </a:pPr>
            <a:r>
              <a:rPr lang="en-US" sz="850" b="1" dirty="0">
                <a:solidFill>
                  <a:srgbClr val="1D4ED8"/>
                </a:solidFill>
                <a:latin typeface="Inter" pitchFamily="34" charset="0"/>
                <a:ea typeface="Inter" pitchFamily="34" charset="-122"/>
                <a:cs typeface="Inter" pitchFamily="34" charset="-120"/>
              </a:rPr>
              <a:t>AUDIENCES IN CJA</a:t>
            </a:r>
            <a:endParaRPr lang="en-US" sz="850" dirty="0"/>
          </a:p>
        </p:txBody>
      </p:sp>
      <p:sp>
        <p:nvSpPr>
          <p:cNvPr id="12" name="Text 9"/>
          <p:cNvSpPr txBox="1"/>
          <p:nvPr/>
        </p:nvSpPr>
        <p:spPr>
          <a:xfrm>
            <a:off x="7315200" y="1261872"/>
            <a:ext cx="2011680" cy="201168"/>
          </a:xfrm>
          <a:prstGeom prst="rect">
            <a:avLst/>
          </a:prstGeom>
          <a:noFill/>
          <a:ln/>
        </p:spPr>
        <p:txBody>
          <a:bodyPr wrap="square" lIns="0" tIns="0" rIns="0" bIns="0" rtlCol="0" anchor="t"/>
          <a:lstStyle/>
          <a:p>
            <a:pPr indent="0" marL="0">
              <a:buNone/>
            </a:pPr>
            <a:r>
              <a:rPr lang="en-US" sz="850" b="1" dirty="0">
                <a:solidFill>
                  <a:srgbClr val="1D4ED8"/>
                </a:solidFill>
                <a:latin typeface="Inter" pitchFamily="34" charset="0"/>
                <a:ea typeface="Inter" pitchFamily="34" charset="-122"/>
                <a:cs typeface="Inter" pitchFamily="34" charset="-120"/>
              </a:rPr>
              <a:t>ACTIVATION, DAILY</a:t>
            </a:r>
            <a:endParaRPr lang="en-US" sz="850" dirty="0"/>
          </a:p>
        </p:txBody>
      </p:sp>
      <p:sp>
        <p:nvSpPr>
          <p:cNvPr id="13" name="Text 10"/>
          <p:cNvSpPr txBox="1"/>
          <p:nvPr/>
        </p:nvSpPr>
        <p:spPr>
          <a:xfrm>
            <a:off x="9646920" y="1261872"/>
            <a:ext cx="2011680" cy="201168"/>
          </a:xfrm>
          <a:prstGeom prst="rect">
            <a:avLst/>
          </a:prstGeom>
          <a:noFill/>
          <a:ln/>
        </p:spPr>
        <p:txBody>
          <a:bodyPr wrap="square" lIns="0" tIns="0" rIns="0" bIns="0" rtlCol="0" anchor="t"/>
          <a:lstStyle/>
          <a:p>
            <a:pPr indent="0" marL="0">
              <a:buNone/>
            </a:pPr>
            <a:r>
              <a:rPr lang="en-US" sz="850" b="1" dirty="0">
                <a:solidFill>
                  <a:srgbClr val="1D4ED8"/>
                </a:solidFill>
                <a:latin typeface="Inter" pitchFamily="34" charset="0"/>
                <a:ea typeface="Inter" pitchFamily="34" charset="-122"/>
                <a:cs typeface="Inter" pitchFamily="34" charset="-120"/>
              </a:rPr>
              <a:t>OUTCOME</a:t>
            </a:r>
            <a:endParaRPr lang="en-US" sz="850" dirty="0"/>
          </a:p>
        </p:txBody>
      </p:sp>
      <p:sp>
        <p:nvSpPr>
          <p:cNvPr id="14" name="Shape 11"/>
          <p:cNvSpPr/>
          <p:nvPr/>
        </p:nvSpPr>
        <p:spPr>
          <a:xfrm>
            <a:off x="502920" y="1554480"/>
            <a:ext cx="2039112" cy="2743200"/>
          </a:xfrm>
          <a:prstGeom prst="roundRect">
            <a:avLst>
              <a:gd name="adj" fmla="val 5381"/>
            </a:avLst>
          </a:prstGeom>
          <a:solidFill>
            <a:srgbClr val="F8FAFC"/>
          </a:solidFill>
          <a:ln w="9525">
            <a:solidFill>
              <a:srgbClr val="E2E8F0"/>
            </a:solidFill>
            <a:prstDash val="solid"/>
          </a:ln>
        </p:spPr>
      </p:sp>
      <p:sp>
        <p:nvSpPr>
          <p:cNvPr id="15" name="Shape 12"/>
          <p:cNvSpPr/>
          <p:nvPr/>
        </p:nvSpPr>
        <p:spPr>
          <a:xfrm>
            <a:off x="640080" y="1737360"/>
            <a:ext cx="384048" cy="384048"/>
          </a:xfrm>
          <a:prstGeom prst="ellipse">
            <a:avLst/>
          </a:prstGeom>
          <a:solidFill>
            <a:srgbClr val="EFF6FF"/>
          </a:solidFill>
          <a:ln w="6350">
            <a:solidFill>
              <a:srgbClr val="EFF6FF"/>
            </a:solidFill>
            <a:prstDash val="solid"/>
          </a:ln>
        </p:spPr>
      </p:sp>
      <p:pic>
        <p:nvPicPr>
          <p:cNvPr id="16" name="Image 1" descr="preencoded.png">    </p:cNvPr>
          <p:cNvPicPr>
            <a:picLocks noChangeAspect="1"/>
          </p:cNvPicPr>
          <p:nvPr/>
        </p:nvPicPr>
        <p:blipFill>
          <a:blip r:embed="rId2"/>
          <a:stretch>
            <a:fillRect/>
          </a:stretch>
        </p:blipFill>
        <p:spPr>
          <a:xfrm>
            <a:off x="724571" y="1821851"/>
            <a:ext cx="215067" cy="215067"/>
          </a:xfrm>
          <a:prstGeom prst="rect">
            <a:avLst/>
          </a:prstGeom>
        </p:spPr>
      </p:pic>
      <p:sp>
        <p:nvSpPr>
          <p:cNvPr id="17" name="Text 13"/>
          <p:cNvSpPr txBox="1"/>
          <p:nvPr/>
        </p:nvSpPr>
        <p:spPr>
          <a:xfrm>
            <a:off x="640080" y="2286000"/>
            <a:ext cx="1764792" cy="1463040"/>
          </a:xfrm>
          <a:prstGeom prst="rect">
            <a:avLst/>
          </a:prstGeom>
          <a:noFill/>
          <a:ln/>
        </p:spPr>
        <p:txBody>
          <a:bodyPr wrap="square" lIns="0" tIns="0" rIns="0" bIns="0" rtlCol="0" anchor="t"/>
          <a:lstStyle/>
          <a:p>
            <a:pPr indent="0" marL="0">
              <a:buNone/>
            </a:pPr>
            <a:r>
              <a:rPr lang="en-US" sz="1100" b="1" dirty="0">
                <a:solidFill>
                  <a:srgbClr val="0A1F44"/>
                </a:solidFill>
                <a:latin typeface="Inter" pitchFamily="34" charset="0"/>
                <a:ea typeface="Inter" pitchFamily="34" charset="-122"/>
                <a:cs typeface="Inter" pitchFamily="34" charset="-120"/>
              </a:rPr>
              <a:t>Every touchpoint</a:t>
            </a:r>
            <a:endParaRPr lang="en-US" sz="1100" dirty="0"/>
          </a:p>
          <a:p>
            <a:pPr indent="0" marL="0">
              <a:buNone/>
            </a:pPr>
            <a:r>
              <a:rPr lang="en-US" sz="900" dirty="0">
                <a:solidFill>
                  <a:srgbClr val="334155"/>
                </a:solidFill>
                <a:latin typeface="Inter" pitchFamily="34" charset="0"/>
                <a:ea typeface="Inter" pitchFamily="34" charset="-122"/>
                <a:cs typeface="Inter" pitchFamily="34" charset="-120"/>
              </a:rPr>
              <a:t>Web and app events, email, SMS and paid-media touches: 125,521 events in the CJA view</a:t>
            </a:r>
            <a:endParaRPr lang="en-US" sz="1100" dirty="0"/>
          </a:p>
        </p:txBody>
      </p:sp>
      <p:sp>
        <p:nvSpPr>
          <p:cNvPr id="18" name="Shape 14"/>
          <p:cNvSpPr/>
          <p:nvPr/>
        </p:nvSpPr>
        <p:spPr>
          <a:xfrm>
            <a:off x="2743200" y="1554480"/>
            <a:ext cx="2039112" cy="2743200"/>
          </a:xfrm>
          <a:prstGeom prst="roundRect">
            <a:avLst>
              <a:gd name="adj" fmla="val 5381"/>
            </a:avLst>
          </a:prstGeom>
          <a:solidFill>
            <a:srgbClr val="0A1F44"/>
          </a:solidFill>
          <a:ln w="6350">
            <a:solidFill>
              <a:srgbClr val="0A1F44"/>
            </a:solidFill>
            <a:prstDash val="solid"/>
          </a:ln>
        </p:spPr>
      </p:sp>
      <p:sp>
        <p:nvSpPr>
          <p:cNvPr id="19" name="Shape 15"/>
          <p:cNvSpPr/>
          <p:nvPr/>
        </p:nvSpPr>
        <p:spPr>
          <a:xfrm>
            <a:off x="2880360" y="1737360"/>
            <a:ext cx="384048" cy="384048"/>
          </a:xfrm>
          <a:prstGeom prst="ellipse">
            <a:avLst/>
          </a:prstGeom>
          <a:solidFill>
            <a:srgbClr val="1D4ED8"/>
          </a:solidFill>
          <a:ln w="6350">
            <a:solidFill>
              <a:srgbClr val="1D4ED8"/>
            </a:solidFill>
            <a:prstDash val="solid"/>
          </a:ln>
        </p:spPr>
      </p:sp>
      <p:pic>
        <p:nvPicPr>
          <p:cNvPr id="20" name="Image 2" descr="preencoded.png">    </p:cNvPr>
          <p:cNvPicPr>
            <a:picLocks noChangeAspect="1"/>
          </p:cNvPicPr>
          <p:nvPr/>
        </p:nvPicPr>
        <p:blipFill>
          <a:blip r:embed="rId3"/>
          <a:stretch>
            <a:fillRect/>
          </a:stretch>
        </p:blipFill>
        <p:spPr>
          <a:xfrm>
            <a:off x="2964851" y="1821851"/>
            <a:ext cx="215067" cy="215067"/>
          </a:xfrm>
          <a:prstGeom prst="rect">
            <a:avLst/>
          </a:prstGeom>
        </p:spPr>
      </p:pic>
      <p:sp>
        <p:nvSpPr>
          <p:cNvPr id="21" name="Text 16"/>
          <p:cNvSpPr txBox="1"/>
          <p:nvPr/>
        </p:nvSpPr>
        <p:spPr>
          <a:xfrm>
            <a:off x="2880360" y="2286000"/>
            <a:ext cx="1764792" cy="1463040"/>
          </a:xfrm>
          <a:prstGeom prst="rect">
            <a:avLst/>
          </a:prstGeom>
          <a:noFill/>
          <a:ln/>
        </p:spPr>
        <p:txBody>
          <a:bodyPr wrap="square" lIns="0" tIns="0" rIns="0" bIns="0" rtlCol="0" anchor="t"/>
          <a:lstStyle/>
          <a:p>
            <a:pPr indent="0" marL="0">
              <a:buNone/>
            </a:pPr>
            <a:r>
              <a:rPr lang="en-US" sz="1100" b="1" dirty="0">
                <a:solidFill>
                  <a:srgbClr val="FFFFFF"/>
                </a:solidFill>
                <a:latin typeface="Inter" pitchFamily="34" charset="0"/>
                <a:ea typeface="Inter" pitchFamily="34" charset="-122"/>
                <a:cs typeface="Inter" pitchFamily="34" charset="-120"/>
              </a:rPr>
              <a:t>One stitched person ID</a:t>
            </a:r>
            <a:endParaRPr lang="en-US" sz="1100" dirty="0"/>
          </a:p>
          <a:p>
            <a:pPr indent="0" marL="0">
              <a:buNone/>
            </a:pPr>
            <a:r>
              <a:rPr lang="en-US" sz="900" dirty="0">
                <a:solidFill>
                  <a:srgbClr val="C7D7F5"/>
                </a:solidFill>
                <a:latin typeface="Inter" pitchFamily="34" charset="0"/>
                <a:ea typeface="Inter" pitchFamily="34" charset="-122"/>
                <a:cs typeface="Inter" pitchFamily="34" charset="-120"/>
              </a:rPr>
              <a:t>The same customer across web, app, email and SMS; ready today (Exhibit L)</a:t>
            </a:r>
            <a:endParaRPr lang="en-US" sz="1100" dirty="0"/>
          </a:p>
        </p:txBody>
      </p:sp>
      <p:sp>
        <p:nvSpPr>
          <p:cNvPr id="22" name="Shape 17"/>
          <p:cNvSpPr/>
          <p:nvPr/>
        </p:nvSpPr>
        <p:spPr>
          <a:xfrm>
            <a:off x="4983480" y="1554480"/>
            <a:ext cx="2039112" cy="859536"/>
          </a:xfrm>
          <a:prstGeom prst="roundRect">
            <a:avLst>
              <a:gd name="adj" fmla="val 8511"/>
            </a:avLst>
          </a:prstGeom>
          <a:solidFill>
            <a:srgbClr val="FEF2F2"/>
          </a:solidFill>
          <a:ln w="12700">
            <a:solidFill>
              <a:srgbClr val="DC2626"/>
            </a:solidFill>
            <a:prstDash val="solid"/>
          </a:ln>
        </p:spPr>
      </p:sp>
      <p:sp>
        <p:nvSpPr>
          <p:cNvPr id="23" name="Text 18"/>
          <p:cNvSpPr txBox="1"/>
          <p:nvPr/>
        </p:nvSpPr>
        <p:spPr>
          <a:xfrm>
            <a:off x="5120640" y="1554480"/>
            <a:ext cx="1810512" cy="859536"/>
          </a:xfrm>
          <a:prstGeom prst="rect">
            <a:avLst/>
          </a:prstGeom>
          <a:noFill/>
          <a:ln/>
        </p:spPr>
        <p:txBody>
          <a:bodyPr wrap="square" lIns="0" tIns="0" rIns="0" bIns="0" rtlCol="0" anchor="ctr"/>
          <a:lstStyle/>
          <a:p>
            <a:pPr indent="0" marL="0">
              <a:buNone/>
            </a:pPr>
            <a:r>
              <a:rPr lang="en-US" sz="1050" b="1" dirty="0">
                <a:solidFill>
                  <a:srgbClr val="991B1B"/>
                </a:solidFill>
                <a:latin typeface="Inter" pitchFamily="34" charset="0"/>
                <a:ea typeface="Inter" pitchFamily="34" charset="-122"/>
                <a:cs typeface="Inter" pitchFamily="34" charset="-120"/>
              </a:rPr>
              <a:t>Recent buyers</a:t>
            </a:r>
            <a:endParaRPr lang="en-US" sz="1050" dirty="0"/>
          </a:p>
          <a:p>
            <a:pPr indent="0" marL="0">
              <a:buNone/>
            </a:pPr>
            <a:r>
              <a:rPr lang="en-US" sz="900" dirty="0">
                <a:solidFill>
                  <a:srgbClr val="334155"/>
                </a:solidFill>
                <a:latin typeface="Inter" pitchFamily="34" charset="0"/>
                <a:ea typeface="Inter" pitchFamily="34" charset="-122"/>
                <a:cs typeface="Inter" pitchFamily="34" charset="-120"/>
              </a:rPr>
              <a:t>ordered in the last 30 days</a:t>
            </a:r>
            <a:endParaRPr lang="en-US" sz="1050" dirty="0"/>
          </a:p>
        </p:txBody>
      </p:sp>
      <p:sp>
        <p:nvSpPr>
          <p:cNvPr id="24" name="Shape 19"/>
          <p:cNvSpPr/>
          <p:nvPr/>
        </p:nvSpPr>
        <p:spPr>
          <a:xfrm>
            <a:off x="4983480" y="2496312"/>
            <a:ext cx="2039112" cy="859536"/>
          </a:xfrm>
          <a:prstGeom prst="roundRect">
            <a:avLst>
              <a:gd name="adj" fmla="val 8511"/>
            </a:avLst>
          </a:prstGeom>
          <a:solidFill>
            <a:srgbClr val="FEF2F2"/>
          </a:solidFill>
          <a:ln w="12700">
            <a:solidFill>
              <a:srgbClr val="DC2626"/>
            </a:solidFill>
            <a:prstDash val="solid"/>
          </a:ln>
        </p:spPr>
      </p:sp>
      <p:sp>
        <p:nvSpPr>
          <p:cNvPr id="25" name="Text 20"/>
          <p:cNvSpPr txBox="1"/>
          <p:nvPr/>
        </p:nvSpPr>
        <p:spPr>
          <a:xfrm>
            <a:off x="5120640" y="2496312"/>
            <a:ext cx="1810512" cy="859536"/>
          </a:xfrm>
          <a:prstGeom prst="rect">
            <a:avLst/>
          </a:prstGeom>
          <a:noFill/>
          <a:ln/>
        </p:spPr>
        <p:txBody>
          <a:bodyPr wrap="square" lIns="0" tIns="0" rIns="0" bIns="0" rtlCol="0" anchor="ctr"/>
          <a:lstStyle/>
          <a:p>
            <a:pPr indent="0" marL="0">
              <a:buNone/>
            </a:pPr>
            <a:r>
              <a:rPr lang="en-US" sz="1050" b="1" dirty="0">
                <a:solidFill>
                  <a:srgbClr val="991B1B"/>
                </a:solidFill>
                <a:latin typeface="Inter" pitchFamily="34" charset="0"/>
                <a:ea typeface="Inter" pitchFamily="34" charset="-122"/>
                <a:cs typeface="Inter" pitchFamily="34" charset="-120"/>
              </a:rPr>
              <a:t>Owned-reachable</a:t>
            </a:r>
            <a:endParaRPr lang="en-US" sz="1050" dirty="0"/>
          </a:p>
          <a:p>
            <a:pPr indent="0" marL="0">
              <a:buNone/>
            </a:pPr>
            <a:r>
              <a:rPr lang="en-US" sz="900" dirty="0">
                <a:solidFill>
                  <a:srgbClr val="334155"/>
                </a:solidFill>
                <a:latin typeface="Inter" pitchFamily="34" charset="0"/>
                <a:ea typeface="Inter" pitchFamily="34" charset="-122"/>
                <a:cs typeface="Inter" pitchFamily="34" charset="-120"/>
              </a:rPr>
              <a:t>has email, SMS or the app</a:t>
            </a:r>
            <a:endParaRPr lang="en-US" sz="1050" dirty="0"/>
          </a:p>
        </p:txBody>
      </p:sp>
      <p:sp>
        <p:nvSpPr>
          <p:cNvPr id="26" name="Shape 21"/>
          <p:cNvSpPr/>
          <p:nvPr/>
        </p:nvSpPr>
        <p:spPr>
          <a:xfrm>
            <a:off x="4983480" y="3438144"/>
            <a:ext cx="2039112" cy="859536"/>
          </a:xfrm>
          <a:prstGeom prst="roundRect">
            <a:avLst>
              <a:gd name="adj" fmla="val 8511"/>
            </a:avLst>
          </a:prstGeom>
          <a:solidFill>
            <a:srgbClr val="FEF2F2"/>
          </a:solidFill>
          <a:ln w="12700">
            <a:solidFill>
              <a:srgbClr val="DC2626"/>
            </a:solidFill>
            <a:prstDash val="solid"/>
          </a:ln>
        </p:spPr>
      </p:sp>
      <p:sp>
        <p:nvSpPr>
          <p:cNvPr id="27" name="Text 22"/>
          <p:cNvSpPr txBox="1"/>
          <p:nvPr/>
        </p:nvSpPr>
        <p:spPr>
          <a:xfrm>
            <a:off x="5120640" y="3438144"/>
            <a:ext cx="1810512" cy="859536"/>
          </a:xfrm>
          <a:prstGeom prst="rect">
            <a:avLst/>
          </a:prstGeom>
          <a:noFill/>
          <a:ln/>
        </p:spPr>
        <p:txBody>
          <a:bodyPr wrap="square" lIns="0" tIns="0" rIns="0" bIns="0" rtlCol="0" anchor="ctr"/>
          <a:lstStyle/>
          <a:p>
            <a:pPr indent="0" marL="0">
              <a:buNone/>
            </a:pPr>
            <a:r>
              <a:rPr lang="en-US" sz="1050" b="1" dirty="0">
                <a:solidFill>
                  <a:srgbClr val="991B1B"/>
                </a:solidFill>
                <a:latin typeface="Inter" pitchFamily="34" charset="0"/>
                <a:ea typeface="Inter" pitchFamily="34" charset="-122"/>
                <a:cs typeface="Inter" pitchFamily="34" charset="-120"/>
              </a:rPr>
              <a:t>Single-page bouncers</a:t>
            </a:r>
            <a:endParaRPr lang="en-US" sz="1050" dirty="0"/>
          </a:p>
          <a:p>
            <a:pPr indent="0" marL="0">
              <a:buNone/>
            </a:pPr>
            <a:r>
              <a:rPr lang="en-US" sz="900" dirty="0">
                <a:solidFill>
                  <a:srgbClr val="334155"/>
                </a:solidFill>
                <a:latin typeface="Inter" pitchFamily="34" charset="0"/>
                <a:ea typeface="Inter" pitchFamily="34" charset="-122"/>
                <a:cs typeface="Inter" pitchFamily="34" charset="-120"/>
              </a:rPr>
              <a:t>lowest intent: left after one page</a:t>
            </a:r>
            <a:endParaRPr lang="en-US" sz="1050" dirty="0"/>
          </a:p>
        </p:txBody>
      </p:sp>
      <p:sp>
        <p:nvSpPr>
          <p:cNvPr id="28" name="Shape 23"/>
          <p:cNvSpPr/>
          <p:nvPr/>
        </p:nvSpPr>
        <p:spPr>
          <a:xfrm>
            <a:off x="7315200" y="1554480"/>
            <a:ext cx="2039112" cy="859536"/>
          </a:xfrm>
          <a:prstGeom prst="roundRect">
            <a:avLst>
              <a:gd name="adj" fmla="val 8511"/>
            </a:avLst>
          </a:prstGeom>
          <a:solidFill>
            <a:srgbClr val="FEF2F2"/>
          </a:solidFill>
          <a:ln w="12700">
            <a:solidFill>
              <a:srgbClr val="DC2626"/>
            </a:solidFill>
            <a:prstDash val="solid"/>
          </a:ln>
        </p:spPr>
      </p:sp>
      <p:sp>
        <p:nvSpPr>
          <p:cNvPr id="29" name="Text 24"/>
          <p:cNvSpPr txBox="1"/>
          <p:nvPr/>
        </p:nvSpPr>
        <p:spPr>
          <a:xfrm>
            <a:off x="7452360" y="1554480"/>
            <a:ext cx="1810512" cy="859536"/>
          </a:xfrm>
          <a:prstGeom prst="rect">
            <a:avLst/>
          </a:prstGeom>
          <a:noFill/>
          <a:ln/>
        </p:spPr>
        <p:txBody>
          <a:bodyPr wrap="square" lIns="0" tIns="0" rIns="0" bIns="0" rtlCol="0" anchor="ctr"/>
          <a:lstStyle/>
          <a:p>
            <a:pPr indent="0" marL="0">
              <a:buNone/>
            </a:pPr>
            <a:r>
              <a:rPr lang="en-US" sz="1050" b="1" dirty="0">
                <a:solidFill>
                  <a:srgbClr val="991B1B"/>
                </a:solidFill>
                <a:latin typeface="Inter" pitchFamily="34" charset="0"/>
                <a:ea typeface="Inter" pitchFamily="34" charset="-122"/>
                <a:cs typeface="Inter" pitchFamily="34" charset="-120"/>
              </a:rPr>
              <a:t>Suppression lists</a:t>
            </a:r>
            <a:endParaRPr lang="en-US" sz="1050" dirty="0"/>
          </a:p>
          <a:p>
            <a:pPr indent="0" marL="0">
              <a:buNone/>
            </a:pPr>
            <a:r>
              <a:rPr lang="en-US" sz="900" dirty="0">
                <a:solidFill>
                  <a:srgbClr val="334155"/>
                </a:solidFill>
                <a:latin typeface="Inter" pitchFamily="34" charset="0"/>
                <a:ea typeface="Inter" pitchFamily="34" charset="-122"/>
                <a:cs typeface="Inter" pitchFamily="34" charset="-120"/>
              </a:rPr>
              <a:t>to Meta, Google and TikTok daily, via Real-Time CDP</a:t>
            </a:r>
            <a:endParaRPr lang="en-US" sz="1050" dirty="0"/>
          </a:p>
        </p:txBody>
      </p:sp>
      <p:sp>
        <p:nvSpPr>
          <p:cNvPr id="30" name="Shape 25"/>
          <p:cNvSpPr/>
          <p:nvPr/>
        </p:nvSpPr>
        <p:spPr>
          <a:xfrm>
            <a:off x="7315200" y="2496312"/>
            <a:ext cx="2039112" cy="859536"/>
          </a:xfrm>
          <a:prstGeom prst="roundRect">
            <a:avLst>
              <a:gd name="adj" fmla="val 8511"/>
            </a:avLst>
          </a:prstGeom>
          <a:solidFill>
            <a:srgbClr val="F1F5F9"/>
          </a:solidFill>
          <a:ln w="12700">
            <a:solidFill>
              <a:srgbClr val="94A3B8"/>
            </a:solidFill>
            <a:prstDash val="solid"/>
          </a:ln>
        </p:spPr>
      </p:sp>
      <p:sp>
        <p:nvSpPr>
          <p:cNvPr id="31" name="Text 26"/>
          <p:cNvSpPr txBox="1"/>
          <p:nvPr/>
        </p:nvSpPr>
        <p:spPr>
          <a:xfrm>
            <a:off x="7452360" y="2496312"/>
            <a:ext cx="1810512" cy="859536"/>
          </a:xfrm>
          <a:prstGeom prst="rect">
            <a:avLst/>
          </a:prstGeom>
          <a:noFill/>
          <a:ln/>
        </p:spPr>
        <p:txBody>
          <a:bodyPr wrap="square" lIns="0" tIns="0" rIns="0" bIns="0" rtlCol="0" anchor="ctr"/>
          <a:lstStyle/>
          <a:p>
            <a:pPr indent="0" marL="0">
              <a:buNone/>
            </a:pPr>
            <a:r>
              <a:rPr lang="en-US" sz="1050" b="1" dirty="0">
                <a:solidFill>
                  <a:srgbClr val="0A1F44"/>
                </a:solidFill>
                <a:latin typeface="Inter" pitchFamily="34" charset="0"/>
                <a:ea typeface="Inter" pitchFamily="34" charset="-122"/>
                <a:cs typeface="Inter" pitchFamily="34" charset="-120"/>
              </a:rPr>
              <a:t>Frequency cap</a:t>
            </a:r>
            <a:endParaRPr lang="en-US" sz="1050" dirty="0"/>
          </a:p>
          <a:p>
            <a:pPr indent="0" marL="0">
              <a:buNone/>
            </a:pPr>
            <a:r>
              <a:rPr lang="en-US" sz="900" dirty="0">
                <a:solidFill>
                  <a:srgbClr val="334155"/>
                </a:solidFill>
                <a:latin typeface="Inter" pitchFamily="34" charset="0"/>
                <a:ea typeface="Inter" pitchFamily="34" charset="-122"/>
                <a:cs typeface="Inter" pitchFamily="34" charset="-120"/>
              </a:rPr>
              <a:t>per person, across platforms</a:t>
            </a:r>
            <a:endParaRPr lang="en-US" sz="1050" dirty="0"/>
          </a:p>
        </p:txBody>
      </p:sp>
      <p:sp>
        <p:nvSpPr>
          <p:cNvPr id="32" name="Shape 27"/>
          <p:cNvSpPr/>
          <p:nvPr/>
        </p:nvSpPr>
        <p:spPr>
          <a:xfrm>
            <a:off x="7315200" y="3438144"/>
            <a:ext cx="2039112" cy="859536"/>
          </a:xfrm>
          <a:prstGeom prst="roundRect">
            <a:avLst>
              <a:gd name="adj" fmla="val 8511"/>
            </a:avLst>
          </a:prstGeom>
          <a:solidFill>
            <a:srgbClr val="F1F5F9"/>
          </a:solidFill>
          <a:ln w="12700">
            <a:solidFill>
              <a:srgbClr val="94A3B8"/>
            </a:solidFill>
            <a:prstDash val="solid"/>
          </a:ln>
        </p:spPr>
      </p:sp>
      <p:sp>
        <p:nvSpPr>
          <p:cNvPr id="33" name="Text 28"/>
          <p:cNvSpPr txBox="1"/>
          <p:nvPr/>
        </p:nvSpPr>
        <p:spPr>
          <a:xfrm>
            <a:off x="7452360" y="3438144"/>
            <a:ext cx="1810512" cy="859536"/>
          </a:xfrm>
          <a:prstGeom prst="rect">
            <a:avLst/>
          </a:prstGeom>
          <a:noFill/>
          <a:ln/>
        </p:spPr>
        <p:txBody>
          <a:bodyPr wrap="square" lIns="0" tIns="0" rIns="0" bIns="0" rtlCol="0" anchor="ctr"/>
          <a:lstStyle/>
          <a:p>
            <a:pPr indent="0" marL="0">
              <a:buNone/>
            </a:pPr>
            <a:r>
              <a:rPr lang="en-US" sz="1050" b="1" dirty="0">
                <a:solidFill>
                  <a:srgbClr val="0A1F44"/>
                </a:solidFill>
                <a:latin typeface="Inter" pitchFamily="34" charset="0"/>
                <a:ea typeface="Inter" pitchFamily="34" charset="-122"/>
                <a:cs typeface="Inter" pitchFamily="34" charset="-120"/>
              </a:rPr>
              <a:t>Prospecting exclusions</a:t>
            </a:r>
            <a:endParaRPr lang="en-US" sz="1050" dirty="0"/>
          </a:p>
          <a:p>
            <a:pPr indent="0" marL="0">
              <a:buNone/>
            </a:pPr>
            <a:r>
              <a:rPr lang="en-US" sz="900" dirty="0">
                <a:solidFill>
                  <a:srgbClr val="334155"/>
                </a:solidFill>
                <a:latin typeface="Inter" pitchFamily="34" charset="0"/>
                <a:ea typeface="Inter" pitchFamily="34" charset="-122"/>
                <a:cs typeface="Inter" pitchFamily="34" charset="-120"/>
              </a:rPr>
              <a:t>existing buyers kept out of new-customer campaigns</a:t>
            </a:r>
            <a:endParaRPr lang="en-US" sz="1050" dirty="0"/>
          </a:p>
        </p:txBody>
      </p:sp>
      <p:sp>
        <p:nvSpPr>
          <p:cNvPr id="34" name="Shape 29"/>
          <p:cNvSpPr/>
          <p:nvPr/>
        </p:nvSpPr>
        <p:spPr>
          <a:xfrm>
            <a:off x="9646920" y="1554480"/>
            <a:ext cx="2039112" cy="2743200"/>
          </a:xfrm>
          <a:prstGeom prst="roundRect">
            <a:avLst>
              <a:gd name="adj" fmla="val 5381"/>
            </a:avLst>
          </a:prstGeom>
          <a:solidFill>
            <a:srgbClr val="1D4ED8"/>
          </a:solidFill>
          <a:ln w="6350">
            <a:solidFill>
              <a:srgbClr val="1D4ED8"/>
            </a:solidFill>
            <a:prstDash val="solid"/>
          </a:ln>
        </p:spPr>
      </p:sp>
      <p:sp>
        <p:nvSpPr>
          <p:cNvPr id="35" name="Shape 30"/>
          <p:cNvSpPr/>
          <p:nvPr/>
        </p:nvSpPr>
        <p:spPr>
          <a:xfrm>
            <a:off x="9784080" y="1737360"/>
            <a:ext cx="384048" cy="384048"/>
          </a:xfrm>
          <a:prstGeom prst="ellipse">
            <a:avLst/>
          </a:prstGeom>
          <a:solidFill>
            <a:srgbClr val="FFFFFF"/>
          </a:solidFill>
          <a:ln w="6350">
            <a:solidFill>
              <a:srgbClr val="FFFFFF"/>
            </a:solidFill>
            <a:prstDash val="solid"/>
          </a:ln>
        </p:spPr>
      </p:sp>
      <p:pic>
        <p:nvPicPr>
          <p:cNvPr id="36" name="Image 3" descr="preencoded.png">    </p:cNvPr>
          <p:cNvPicPr>
            <a:picLocks noChangeAspect="1"/>
          </p:cNvPicPr>
          <p:nvPr/>
        </p:nvPicPr>
        <p:blipFill>
          <a:blip r:embed="rId4"/>
          <a:stretch>
            <a:fillRect/>
          </a:stretch>
        </p:blipFill>
        <p:spPr>
          <a:xfrm>
            <a:off x="9868571" y="1821851"/>
            <a:ext cx="215067" cy="215067"/>
          </a:xfrm>
          <a:prstGeom prst="rect">
            <a:avLst/>
          </a:prstGeom>
        </p:spPr>
      </p:pic>
      <p:sp>
        <p:nvSpPr>
          <p:cNvPr id="37" name="Text 31"/>
          <p:cNvSpPr txBox="1"/>
          <p:nvPr/>
        </p:nvSpPr>
        <p:spPr>
          <a:xfrm>
            <a:off x="9784080" y="2286000"/>
            <a:ext cx="1764792" cy="1645920"/>
          </a:xfrm>
          <a:prstGeom prst="rect">
            <a:avLst/>
          </a:prstGeom>
          <a:noFill/>
          <a:ln/>
        </p:spPr>
        <p:txBody>
          <a:bodyPr wrap="square" lIns="0" tIns="0" rIns="0" bIns="0" rtlCol="0" anchor="t"/>
          <a:lstStyle/>
          <a:p>
            <a:pPr indent="0" marL="0">
              <a:buNone/>
            </a:pPr>
            <a:r>
              <a:rPr lang="en-US" sz="1100" b="1" dirty="0">
                <a:solidFill>
                  <a:srgbClr val="FFFFFF"/>
                </a:solidFill>
                <a:latin typeface="Inter" pitchFamily="34" charset="0"/>
                <a:ea typeface="Inter" pitchFamily="34" charset="-122"/>
                <a:cs typeface="Inter" pitchFamily="34" charset="-120"/>
              </a:rPr>
              <a:t>Retargeting's one job</a:t>
            </a:r>
            <a:endParaRPr lang="en-US" sz="1100" dirty="0"/>
          </a:p>
          <a:p>
            <a:pPr indent="0" marL="0">
              <a:buNone/>
            </a:pPr>
            <a:r>
              <a:rPr lang="en-US" sz="900" dirty="0">
                <a:solidFill>
                  <a:srgbClr val="DCE7FB"/>
                </a:solidFill>
                <a:latin typeface="Inter" pitchFamily="34" charset="0"/>
                <a:ea typeface="Inter" pitchFamily="34" charset="-122"/>
                <a:cs typeface="Inter" pitchFamily="34" charset="-120"/>
              </a:rPr>
              <a:t>reaching high-intent people Quince has no other way to contact, inside the same $14M line ($0 incremental, Exhibit I)</a:t>
            </a:r>
            <a:endParaRPr lang="en-US" sz="1100" dirty="0"/>
          </a:p>
        </p:txBody>
      </p:sp>
      <p:sp>
        <p:nvSpPr>
          <p:cNvPr id="38" name="Shape 32"/>
          <p:cNvSpPr/>
          <p:nvPr/>
        </p:nvSpPr>
        <p:spPr>
          <a:xfrm>
            <a:off x="2560320" y="2834640"/>
            <a:ext cx="164592" cy="182880"/>
          </a:xfrm>
          <a:prstGeom prst="rightArrow">
            <a:avLst/>
          </a:prstGeom>
          <a:solidFill>
            <a:srgbClr val="1D4ED8"/>
          </a:solidFill>
          <a:ln w="6350">
            <a:solidFill>
              <a:srgbClr val="1D4ED8"/>
            </a:solidFill>
            <a:prstDash val="solid"/>
          </a:ln>
        </p:spPr>
      </p:sp>
      <p:sp>
        <p:nvSpPr>
          <p:cNvPr id="39" name="Shape 33"/>
          <p:cNvSpPr/>
          <p:nvPr/>
        </p:nvSpPr>
        <p:spPr>
          <a:xfrm>
            <a:off x="4800600" y="2834640"/>
            <a:ext cx="164592" cy="182880"/>
          </a:xfrm>
          <a:prstGeom prst="rightArrow">
            <a:avLst/>
          </a:prstGeom>
          <a:solidFill>
            <a:srgbClr val="1D4ED8"/>
          </a:solidFill>
          <a:ln w="6350">
            <a:solidFill>
              <a:srgbClr val="1D4ED8"/>
            </a:solidFill>
            <a:prstDash val="solid"/>
          </a:ln>
        </p:spPr>
      </p:sp>
      <p:sp>
        <p:nvSpPr>
          <p:cNvPr id="40" name="Shape 34"/>
          <p:cNvSpPr/>
          <p:nvPr/>
        </p:nvSpPr>
        <p:spPr>
          <a:xfrm>
            <a:off x="7040880" y="2834640"/>
            <a:ext cx="164592" cy="182880"/>
          </a:xfrm>
          <a:prstGeom prst="rightArrow">
            <a:avLst/>
          </a:prstGeom>
          <a:solidFill>
            <a:srgbClr val="1D4ED8"/>
          </a:solidFill>
          <a:ln w="6350">
            <a:solidFill>
              <a:srgbClr val="1D4ED8"/>
            </a:solidFill>
            <a:prstDash val="solid"/>
          </a:ln>
        </p:spPr>
      </p:sp>
      <p:sp>
        <p:nvSpPr>
          <p:cNvPr id="41" name="Shape 35"/>
          <p:cNvSpPr/>
          <p:nvPr/>
        </p:nvSpPr>
        <p:spPr>
          <a:xfrm>
            <a:off x="9372600" y="2834640"/>
            <a:ext cx="164592" cy="182880"/>
          </a:xfrm>
          <a:prstGeom prst="rightArrow">
            <a:avLst/>
          </a:prstGeom>
          <a:solidFill>
            <a:srgbClr val="1D4ED8"/>
          </a:solidFill>
          <a:ln w="6350">
            <a:solidFill>
              <a:srgbClr val="1D4ED8"/>
            </a:solidFill>
            <a:prstDash val="solid"/>
          </a:ln>
        </p:spPr>
      </p:sp>
      <p:sp>
        <p:nvSpPr>
          <p:cNvPr id="42" name="Shape 36"/>
          <p:cNvSpPr/>
          <p:nvPr/>
        </p:nvSpPr>
        <p:spPr>
          <a:xfrm>
            <a:off x="10661904" y="4297680"/>
            <a:ext cx="0" cy="411480"/>
          </a:xfrm>
          <a:prstGeom prst="line">
            <a:avLst/>
          </a:prstGeom>
          <a:noFill/>
          <a:ln w="15875">
            <a:solidFill>
              <a:srgbClr val="1D4ED8"/>
            </a:solidFill>
            <a:prstDash val="solid"/>
          </a:ln>
        </p:spPr>
      </p:sp>
      <p:sp>
        <p:nvSpPr>
          <p:cNvPr id="43" name="Shape 37"/>
          <p:cNvSpPr/>
          <p:nvPr/>
        </p:nvSpPr>
        <p:spPr>
          <a:xfrm>
            <a:off x="5998464" y="4709160"/>
            <a:ext cx="4663440" cy="0"/>
          </a:xfrm>
          <a:prstGeom prst="line">
            <a:avLst/>
          </a:prstGeom>
          <a:noFill/>
          <a:ln w="15875">
            <a:solidFill>
              <a:srgbClr val="1D4ED8"/>
            </a:solidFill>
            <a:prstDash val="solid"/>
          </a:ln>
        </p:spPr>
      </p:sp>
      <p:sp>
        <p:nvSpPr>
          <p:cNvPr id="44" name="Shape 38"/>
          <p:cNvSpPr/>
          <p:nvPr/>
        </p:nvSpPr>
        <p:spPr>
          <a:xfrm>
            <a:off x="5998464" y="4297680"/>
            <a:ext cx="0" cy="411480"/>
          </a:xfrm>
          <a:prstGeom prst="line">
            <a:avLst/>
          </a:prstGeom>
          <a:noFill/>
          <a:ln w="15875">
            <a:solidFill>
              <a:srgbClr val="1D4ED8"/>
            </a:solidFill>
            <a:prstDash val="solid"/>
            <a:headEnd type="triangle"/>
          </a:ln>
        </p:spPr>
      </p:sp>
      <p:sp>
        <p:nvSpPr>
          <p:cNvPr id="45" name="Shape 39"/>
          <p:cNvSpPr/>
          <p:nvPr/>
        </p:nvSpPr>
        <p:spPr>
          <a:xfrm>
            <a:off x="6675120" y="4572000"/>
            <a:ext cx="3291840" cy="274320"/>
          </a:xfrm>
          <a:prstGeom prst="roundRect">
            <a:avLst>
              <a:gd name="adj" fmla="val 26667"/>
            </a:avLst>
          </a:prstGeom>
          <a:solidFill>
            <a:srgbClr val="FFFFFF"/>
          </a:solidFill>
          <a:ln w="6350">
            <a:solidFill>
              <a:srgbClr val="FFFFFF"/>
            </a:solidFill>
            <a:prstDash val="solid"/>
          </a:ln>
        </p:spPr>
      </p:sp>
      <p:sp>
        <p:nvSpPr>
          <p:cNvPr id="46" name="Text 40"/>
          <p:cNvSpPr txBox="1"/>
          <p:nvPr/>
        </p:nvSpPr>
        <p:spPr>
          <a:xfrm>
            <a:off x="6675120" y="4572000"/>
            <a:ext cx="3291840" cy="274320"/>
          </a:xfrm>
          <a:prstGeom prst="rect">
            <a:avLst/>
          </a:prstGeom>
          <a:noFill/>
          <a:ln/>
        </p:spPr>
        <p:txBody>
          <a:bodyPr wrap="square" lIns="0" tIns="0" rIns="0" bIns="0" rtlCol="0" anchor="ctr"/>
          <a:lstStyle/>
          <a:p>
            <a:pPr algn="ctr" indent="0" marL="0">
              <a:buNone/>
            </a:pPr>
            <a:r>
              <a:rPr lang="en-US" sz="950" b="1" dirty="0">
                <a:solidFill>
                  <a:srgbClr val="1D4ED8"/>
                </a:solidFill>
                <a:latin typeface="Inter" pitchFamily="34" charset="0"/>
                <a:ea typeface="Inter" pitchFamily="34" charset="-122"/>
                <a:cs typeface="Inter" pitchFamily="34" charset="-120"/>
              </a:rPr>
              <a:t>Prove: incremental orders per retargeting $ vs holdout</a:t>
            </a:r>
            <a:endParaRPr lang="en-US" sz="950" dirty="0"/>
          </a:p>
        </p:txBody>
      </p:sp>
      <p:sp>
        <p:nvSpPr>
          <p:cNvPr id="47" name="Text 41"/>
          <p:cNvSpPr txBox="1"/>
          <p:nvPr/>
        </p:nvSpPr>
        <p:spPr>
          <a:xfrm>
            <a:off x="502920" y="4892040"/>
            <a:ext cx="11183112" cy="548640"/>
          </a:xfrm>
          <a:prstGeom prst="rect">
            <a:avLst/>
          </a:prstGeom>
          <a:noFill/>
          <a:ln/>
        </p:spPr>
        <p:txBody>
          <a:bodyPr wrap="square" lIns="0" tIns="0" rIns="0" bIns="0" rtlCol="0" anchor="ctr"/>
          <a:lstStyle/>
          <a:p>
            <a:pPr indent="0" marL="0">
              <a:buNone/>
            </a:pPr>
            <a:r>
              <a:rPr lang="en-US" sz="1000" b="1" dirty="0">
                <a:solidFill>
                  <a:srgbClr val="0A1F44"/>
                </a:solidFill>
                <a:latin typeface="Inter" pitchFamily="34" charset="0"/>
                <a:ea typeface="Inter" pitchFamily="34" charset="-122"/>
                <a:cs typeface="Inter" pitchFamily="34" charset="-120"/>
              </a:rPr>
              <a:t>Why test it:  </a:t>
            </a:r>
            <a:pPr indent="0" marL="0">
              <a:buNone/>
            </a:pPr>
            <a:r>
              <a:rPr lang="en-US" sz="1000" dirty="0">
                <a:solidFill>
                  <a:srgbClr val="334155"/>
                </a:solidFill>
                <a:latin typeface="Inter" pitchFamily="34" charset="0"/>
                <a:ea typeface="Inter" pitchFamily="34" charset="-122"/>
                <a:cs typeface="Inter" pitchFamily="34" charset="-120"/>
              </a:rPr>
              <a:t>retargeted buyers repeat no better than organic (23.0% vs 23.4%, A3b) and attribution barely moves, so only a holdout can prove retargeting's value; the prospecting budget, which brings 45.5% of buyers, is unchanged.</a:t>
            </a:r>
            <a:endParaRPr lang="en-US" sz="1000" dirty="0"/>
          </a:p>
        </p:txBody>
      </p:sp>
      <p:sp>
        <p:nvSpPr>
          <p:cNvPr id="48" name="Shape 42"/>
          <p:cNvSpPr/>
          <p:nvPr/>
        </p:nvSpPr>
        <p:spPr>
          <a:xfrm>
            <a:off x="502920" y="5715000"/>
            <a:ext cx="11183112" cy="512064"/>
          </a:xfrm>
          <a:prstGeom prst="roundRect">
            <a:avLst>
              <a:gd name="adj" fmla="val 17857"/>
            </a:avLst>
          </a:prstGeom>
          <a:solidFill>
            <a:srgbClr val="EFF6FF"/>
          </a:solidFill>
          <a:ln w="6350">
            <a:solidFill>
              <a:srgbClr val="EFF6FF"/>
            </a:solidFill>
            <a:prstDash val="solid"/>
          </a:ln>
        </p:spPr>
      </p:sp>
      <p:sp>
        <p:nvSpPr>
          <p:cNvPr id="49" name="Shape 43"/>
          <p:cNvSpPr/>
          <p:nvPr/>
        </p:nvSpPr>
        <p:spPr>
          <a:xfrm>
            <a:off x="640080" y="5806440"/>
            <a:ext cx="329184" cy="329184"/>
          </a:xfrm>
          <a:prstGeom prst="ellipse">
            <a:avLst/>
          </a:prstGeom>
          <a:solidFill>
            <a:srgbClr val="1D4ED8"/>
          </a:solidFill>
          <a:ln w="6350">
            <a:solidFill>
              <a:srgbClr val="1D4ED8"/>
            </a:solidFill>
            <a:prstDash val="solid"/>
          </a:ln>
        </p:spPr>
      </p:sp>
      <p:pic>
        <p:nvPicPr>
          <p:cNvPr id="50" name="Image 4" descr="preencoded.png">    </p:cNvPr>
          <p:cNvPicPr>
            <a:picLocks noChangeAspect="1"/>
          </p:cNvPicPr>
          <p:nvPr/>
        </p:nvPicPr>
        <p:blipFill>
          <a:blip r:embed="rId5"/>
          <a:stretch>
            <a:fillRect/>
          </a:stretch>
        </p:blipFill>
        <p:spPr>
          <a:xfrm>
            <a:off x="712500" y="5878860"/>
            <a:ext cx="184343" cy="184343"/>
          </a:xfrm>
          <a:prstGeom prst="rect">
            <a:avLst/>
          </a:prstGeom>
        </p:spPr>
      </p:pic>
      <p:sp>
        <p:nvSpPr>
          <p:cNvPr id="51" name="Text 44"/>
          <p:cNvSpPr txBox="1"/>
          <p:nvPr/>
        </p:nvSpPr>
        <p:spPr>
          <a:xfrm>
            <a:off x="1097280" y="5715000"/>
            <a:ext cx="10424160" cy="512064"/>
          </a:xfrm>
          <a:prstGeom prst="rect">
            <a:avLst/>
          </a:prstGeom>
          <a:noFill/>
          <a:ln/>
        </p:spPr>
        <p:txBody>
          <a:bodyPr wrap="square" lIns="0" tIns="0" rIns="0" bIns="0" rtlCol="0" anchor="ctr"/>
          <a:lstStyle/>
          <a:p>
            <a:pPr indent="0" marL="0">
              <a:buNone/>
            </a:pPr>
            <a:r>
              <a:rPr lang="en-US" sz="1300" b="1" dirty="0">
                <a:solidFill>
                  <a:srgbClr val="0A1F44"/>
                </a:solidFill>
                <a:latin typeface="Inter" pitchFamily="34" charset="0"/>
                <a:ea typeface="Inter" pitchFamily="34" charset="-122"/>
                <a:cs typeface="Inter" pitchFamily="34" charset="-120"/>
              </a:rPr>
              <a:t>Suppression stops paying for customers Quince can already message; the prospecting budget is unchanged</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9326880" cy="841248"/>
          </a:xfrm>
          <a:prstGeom prst="rect">
            <a:avLst/>
          </a:prstGeom>
          <a:noFill/>
          <a:ln/>
        </p:spPr>
        <p:txBody>
          <a:bodyPr wrap="square" lIns="0" tIns="0" rIns="0" bIns="0" rtlCol="0" anchor="ctr"/>
          <a:lstStyle/>
          <a:p>
            <a:pPr indent="0" marL="0">
              <a:buNone/>
            </a:pPr>
            <a:r>
              <a:rPr lang="en-US" sz="2400" b="1" dirty="0">
                <a:solidFill>
                  <a:srgbClr val="0A1F44"/>
                </a:solidFill>
                <a:latin typeface="Inter" pitchFamily="34" charset="0"/>
                <a:ea typeface="Inter" pitchFamily="34" charset="-122"/>
                <a:cs typeface="Inter" pitchFamily="34" charset="-120"/>
              </a:rPr>
              <a:t>One CJA loop runs every lever, every week</a:t>
            </a:r>
            <a:endParaRPr lang="en-US" sz="2400" dirty="0"/>
          </a:p>
        </p:txBody>
      </p:sp>
      <p:pic>
        <p:nvPicPr>
          <p:cNvPr id="3" name="Image 0" descr="/tmp/claude-0/-home-user-Quince/7efe80ae-a049-50c2-9886-98bf7ca3a04a/scratchpad/assets/quince.png">    </p:cNvPr>
          <p:cNvPicPr>
            <a:picLocks noChangeAspect="1"/>
          </p:cNvPicPr>
          <p:nvPr/>
        </p:nvPicPr>
        <p:blipFill>
          <a:blip r:embed="rId1"/>
          <a:stretch>
            <a:fillRect/>
          </a:stretch>
        </p:blipFill>
        <p:spPr>
          <a:xfrm>
            <a:off x="10236708" y="615544"/>
            <a:ext cx="777240" cy="231951"/>
          </a:xfrm>
          <a:prstGeom prst="rect">
            <a:avLst/>
          </a:prstGeom>
        </p:spPr>
      </p:pic>
      <p:sp>
        <p:nvSpPr>
          <p:cNvPr id="4" name="Shape 1"/>
          <p:cNvSpPr/>
          <p:nvPr/>
        </p:nvSpPr>
        <p:spPr>
          <a:xfrm>
            <a:off x="11155680" y="603504"/>
            <a:ext cx="530352" cy="256032"/>
          </a:xfrm>
          <a:prstGeom prst="roundRect">
            <a:avLst>
              <a:gd name="adj" fmla="val 50000"/>
            </a:avLst>
          </a:prstGeom>
          <a:solidFill>
            <a:srgbClr val="0A1F44"/>
          </a:solidFill>
          <a:ln w="6350">
            <a:solidFill>
              <a:srgbClr val="0A1F44"/>
            </a:solidFill>
            <a:prstDash val="solid"/>
          </a:ln>
        </p:spPr>
      </p:sp>
      <p:sp>
        <p:nvSpPr>
          <p:cNvPr id="5" name="Text 2"/>
          <p:cNvSpPr txBox="1"/>
          <p:nvPr/>
        </p:nvSpPr>
        <p:spPr>
          <a:xfrm>
            <a:off x="11155680" y="603504"/>
            <a:ext cx="530352"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Inter" pitchFamily="34" charset="0"/>
                <a:ea typeface="Inter" pitchFamily="34" charset="-122"/>
                <a:cs typeface="Inter" pitchFamily="34" charset="-120"/>
              </a:rPr>
              <a:t>G27</a:t>
            </a:r>
            <a:endParaRPr lang="en-US" sz="950" dirty="0"/>
          </a:p>
        </p:txBody>
      </p:sp>
      <p:sp>
        <p:nvSpPr>
          <p:cNvPr id="6" name="Shape 3"/>
          <p:cNvSpPr/>
          <p:nvPr/>
        </p:nvSpPr>
        <p:spPr>
          <a:xfrm>
            <a:off x="502920" y="6400800"/>
            <a:ext cx="11183112" cy="0"/>
          </a:xfrm>
          <a:prstGeom prst="line">
            <a:avLst/>
          </a:prstGeom>
          <a:noFill/>
          <a:ln w="9525">
            <a:solidFill>
              <a:srgbClr val="E2E8F0"/>
            </a:solidFill>
            <a:prstDash val="solid"/>
          </a:ln>
        </p:spPr>
      </p:sp>
      <p:sp>
        <p:nvSpPr>
          <p:cNvPr id="7" name="Text 4"/>
          <p:cNvSpPr txBox="1"/>
          <p:nvPr/>
        </p:nvSpPr>
        <p:spPr>
          <a:xfrm>
            <a:off x="502920" y="6464808"/>
            <a:ext cx="9418320" cy="256032"/>
          </a:xfrm>
          <a:prstGeom prst="rect">
            <a:avLst/>
          </a:prstGeom>
          <a:noFill/>
          <a:ln/>
        </p:spPr>
        <p:txBody>
          <a:bodyPr wrap="square" lIns="0" tIns="0" rIns="0" bIns="0" rtlCol="0" anchor="ctr"/>
          <a:lstStyle/>
          <a:p>
            <a:pPr indent="0" marL="0">
              <a:buNone/>
            </a:pPr>
            <a:r>
              <a:rPr lang="en-US" sz="800" dirty="0">
                <a:solidFill>
                  <a:srgbClr val="64748B"/>
                </a:solidFill>
                <a:latin typeface="Inter" pitchFamily="34" charset="0"/>
                <a:ea typeface="Inter" pitchFamily="34" charset="-122"/>
                <a:cs typeface="Inter" pitchFamily="34" charset="-120"/>
              </a:rPr>
              <a:t>Source: case section 4 (Options A, B, C), Exhibits I and L; owners and rhythm are the team's operating design.</a:t>
            </a:r>
            <a:endParaRPr lang="en-US" sz="800" dirty="0"/>
          </a:p>
        </p:txBody>
      </p:sp>
      <p:sp>
        <p:nvSpPr>
          <p:cNvPr id="8" name="Text 5"/>
          <p:cNvSpPr txBox="1"/>
          <p:nvPr/>
        </p:nvSpPr>
        <p:spPr>
          <a:xfrm>
            <a:off x="9966960" y="6464808"/>
            <a:ext cx="1719072" cy="256032"/>
          </a:xfrm>
          <a:prstGeom prst="rect">
            <a:avLst/>
          </a:prstGeom>
          <a:noFill/>
          <a:ln/>
        </p:spPr>
        <p:txBody>
          <a:bodyPr wrap="square" lIns="0" tIns="0" rIns="0" bIns="0" rtlCol="0" anchor="ctr"/>
          <a:lstStyle/>
          <a:p>
            <a:pPr algn="r" indent="0" marL="0">
              <a:buNone/>
            </a:pPr>
            <a:r>
              <a:rPr lang="en-US" sz="800" dirty="0">
                <a:solidFill>
                  <a:srgbClr val="64748B"/>
                </a:solidFill>
                <a:latin typeface="Inter" pitchFamily="34" charset="0"/>
                <a:ea typeface="Inter" pitchFamily="34" charset="-122"/>
                <a:cs typeface="Inter" pitchFamily="34" charset="-120"/>
              </a:rPr>
              <a:t>Team G27  ·  19</a:t>
            </a:r>
            <a:endParaRPr lang="en-US" sz="800" dirty="0"/>
          </a:p>
        </p:txBody>
      </p:sp>
      <p:sp>
        <p:nvSpPr>
          <p:cNvPr id="9" name="Shape 6"/>
          <p:cNvSpPr/>
          <p:nvPr/>
        </p:nvSpPr>
        <p:spPr>
          <a:xfrm>
            <a:off x="502920" y="1371600"/>
            <a:ext cx="2103120" cy="3063240"/>
          </a:xfrm>
          <a:prstGeom prst="roundRect">
            <a:avLst>
              <a:gd name="adj" fmla="val 4348"/>
            </a:avLst>
          </a:prstGeom>
          <a:solidFill>
            <a:srgbClr val="F8FAFC"/>
          </a:solidFill>
          <a:ln w="9525">
            <a:solidFill>
              <a:srgbClr val="E2E8F0"/>
            </a:solidFill>
            <a:prstDash val="solid"/>
          </a:ln>
        </p:spPr>
      </p:sp>
      <p:sp>
        <p:nvSpPr>
          <p:cNvPr id="10" name="Shape 7"/>
          <p:cNvSpPr/>
          <p:nvPr/>
        </p:nvSpPr>
        <p:spPr>
          <a:xfrm>
            <a:off x="649224" y="1536192"/>
            <a:ext cx="329184" cy="329184"/>
          </a:xfrm>
          <a:prstGeom prst="ellipse">
            <a:avLst/>
          </a:prstGeom>
          <a:solidFill>
            <a:srgbClr val="1D4ED8"/>
          </a:solidFill>
          <a:ln w="6350">
            <a:solidFill>
              <a:srgbClr val="1D4ED8"/>
            </a:solidFill>
            <a:prstDash val="solid"/>
          </a:ln>
        </p:spPr>
      </p:sp>
      <p:sp>
        <p:nvSpPr>
          <p:cNvPr id="11" name="Text 8"/>
          <p:cNvSpPr txBox="1"/>
          <p:nvPr/>
        </p:nvSpPr>
        <p:spPr>
          <a:xfrm>
            <a:off x="649224" y="1536192"/>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1</a:t>
            </a:r>
            <a:endParaRPr lang="en-US" sz="1200" dirty="0"/>
          </a:p>
        </p:txBody>
      </p:sp>
      <p:sp>
        <p:nvSpPr>
          <p:cNvPr id="12" name="Text 9"/>
          <p:cNvSpPr txBox="1"/>
          <p:nvPr/>
        </p:nvSpPr>
        <p:spPr>
          <a:xfrm>
            <a:off x="1069848" y="1499616"/>
            <a:ext cx="1463040" cy="384048"/>
          </a:xfrm>
          <a:prstGeom prst="rect">
            <a:avLst/>
          </a:prstGeom>
          <a:noFill/>
          <a:ln/>
        </p:spPr>
        <p:txBody>
          <a:bodyPr wrap="square" lIns="0" tIns="0" rIns="0" bIns="0" rtlCol="0" anchor="ctr"/>
          <a:lstStyle/>
          <a:p>
            <a:pPr indent="0" marL="0">
              <a:buNone/>
            </a:pPr>
            <a:r>
              <a:rPr lang="en-US" sz="1500" b="1" dirty="0">
                <a:solidFill>
                  <a:srgbClr val="0A1F44"/>
                </a:solidFill>
                <a:latin typeface="Inter" pitchFamily="34" charset="0"/>
                <a:ea typeface="Inter" pitchFamily="34" charset="-122"/>
                <a:cs typeface="Inter" pitchFamily="34" charset="-120"/>
              </a:rPr>
              <a:t>Diagnose</a:t>
            </a:r>
            <a:endParaRPr lang="en-US" sz="1500" dirty="0"/>
          </a:p>
        </p:txBody>
      </p:sp>
      <p:sp>
        <p:nvSpPr>
          <p:cNvPr id="13" name="Shape 10"/>
          <p:cNvSpPr/>
          <p:nvPr/>
        </p:nvSpPr>
        <p:spPr>
          <a:xfrm>
            <a:off x="649224" y="1975104"/>
            <a:ext cx="822960" cy="237744"/>
          </a:xfrm>
          <a:prstGeom prst="roundRect">
            <a:avLst>
              <a:gd name="adj" fmla="val 50000"/>
            </a:avLst>
          </a:prstGeom>
          <a:solidFill>
            <a:srgbClr val="FFFFFF"/>
          </a:solidFill>
          <a:ln w="12700">
            <a:solidFill>
              <a:srgbClr val="1D4ED8"/>
            </a:solidFill>
            <a:prstDash val="solid"/>
          </a:ln>
        </p:spPr>
      </p:sp>
      <p:sp>
        <p:nvSpPr>
          <p:cNvPr id="14" name="Text 11"/>
          <p:cNvSpPr txBox="1"/>
          <p:nvPr/>
        </p:nvSpPr>
        <p:spPr>
          <a:xfrm>
            <a:off x="649224" y="1975104"/>
            <a:ext cx="822960" cy="237744"/>
          </a:xfrm>
          <a:prstGeom prst="rect">
            <a:avLst/>
          </a:prstGeom>
          <a:noFill/>
          <a:ln/>
        </p:spPr>
        <p:txBody>
          <a:bodyPr wrap="square" lIns="0" tIns="0" rIns="0" bIns="0" rtlCol="0" anchor="ctr"/>
          <a:lstStyle/>
          <a:p>
            <a:pPr algn="ctr" indent="0" marL="0">
              <a:buNone/>
            </a:pPr>
            <a:r>
              <a:rPr lang="en-US" sz="800" b="1" dirty="0">
                <a:solidFill>
                  <a:srgbClr val="1D4ED8"/>
                </a:solidFill>
                <a:latin typeface="Inter" pitchFamily="34" charset="0"/>
                <a:ea typeface="Inter" pitchFamily="34" charset="-122"/>
                <a:cs typeface="Inter" pitchFamily="34" charset="-120"/>
              </a:rPr>
              <a:t>Option C</a:t>
            </a:r>
            <a:endParaRPr lang="en-US" sz="800" dirty="0"/>
          </a:p>
        </p:txBody>
      </p:sp>
      <p:sp>
        <p:nvSpPr>
          <p:cNvPr id="15" name="Text 12"/>
          <p:cNvSpPr txBox="1"/>
          <p:nvPr/>
        </p:nvSpPr>
        <p:spPr>
          <a:xfrm>
            <a:off x="649224" y="2304288"/>
            <a:ext cx="1828800" cy="1097280"/>
          </a:xfrm>
          <a:prstGeom prst="rect">
            <a:avLst/>
          </a:prstGeom>
          <a:noFill/>
          <a:ln/>
        </p:spPr>
        <p:txBody>
          <a:bodyPr wrap="square" lIns="0" tIns="0" rIns="0" bIns="0" rtlCol="0" anchor="t"/>
          <a:lstStyle/>
          <a:p>
            <a:pPr indent="0" marL="0">
              <a:buNone/>
            </a:pPr>
            <a:r>
              <a:rPr lang="en-US" sz="1000" dirty="0">
                <a:solidFill>
                  <a:srgbClr val="0F172A"/>
                </a:solidFill>
                <a:latin typeface="Inter" pitchFamily="34" charset="0"/>
                <a:ea typeface="Inter" pitchFamily="34" charset="-122"/>
                <a:cs typeface="Inter" pitchFamily="34" charset="-120"/>
              </a:rPr>
              <a:t>Read Fallout, Flow, Cohort Table and Attribution IQ on one stitched person ID</a:t>
            </a:r>
            <a:endParaRPr lang="en-US" sz="1000" dirty="0"/>
          </a:p>
        </p:txBody>
      </p:sp>
      <p:sp>
        <p:nvSpPr>
          <p:cNvPr id="16" name="Shape 13"/>
          <p:cNvSpPr/>
          <p:nvPr/>
        </p:nvSpPr>
        <p:spPr>
          <a:xfrm>
            <a:off x="649224" y="3520440"/>
            <a:ext cx="1810512" cy="0"/>
          </a:xfrm>
          <a:prstGeom prst="line">
            <a:avLst/>
          </a:prstGeom>
          <a:noFill/>
          <a:ln w="9525">
            <a:solidFill>
              <a:srgbClr val="E2E8F0"/>
            </a:solidFill>
            <a:prstDash val="solid"/>
          </a:ln>
        </p:spPr>
      </p:sp>
      <p:sp>
        <p:nvSpPr>
          <p:cNvPr id="17" name="Text 14"/>
          <p:cNvSpPr txBox="1"/>
          <p:nvPr/>
        </p:nvSpPr>
        <p:spPr>
          <a:xfrm>
            <a:off x="649224" y="3584448"/>
            <a:ext cx="1828800" cy="731520"/>
          </a:xfrm>
          <a:prstGeom prst="rect">
            <a:avLst/>
          </a:prstGeom>
          <a:noFill/>
          <a:ln/>
        </p:spPr>
        <p:txBody>
          <a:bodyPr wrap="square" lIns="0" tIns="0" rIns="0" bIns="0" rtlCol="0" anchor="t"/>
          <a:lstStyle/>
          <a:p>
            <a:pPr indent="0" marL="0">
              <a:buNone/>
            </a:pPr>
            <a:r>
              <a:rPr lang="en-US" sz="750" b="1" dirty="0">
                <a:solidFill>
                  <a:srgbClr val="1D4ED8"/>
                </a:solidFill>
                <a:latin typeface="Inter" pitchFamily="34" charset="0"/>
                <a:ea typeface="Inter" pitchFamily="34" charset="-122"/>
                <a:cs typeface="Inter" pitchFamily="34" charset="-120"/>
              </a:rPr>
              <a:t>OWNER  </a:t>
            </a:r>
            <a:pPr indent="0" marL="0">
              <a:buNone/>
            </a:pPr>
            <a:r>
              <a:rPr lang="en-US" sz="950" b="1" dirty="0">
                <a:solidFill>
                  <a:srgbClr val="0A1F44"/>
                </a:solidFill>
                <a:latin typeface="Inter" pitchFamily="34" charset="0"/>
                <a:ea typeface="Inter" pitchFamily="34" charset="-122"/>
                <a:cs typeface="Inter" pitchFamily="34" charset="-120"/>
              </a:rPr>
              <a:t>Head of Analytics</a:t>
            </a:r>
            <a:endParaRPr lang="en-US" sz="950" dirty="0"/>
          </a:p>
          <a:p>
            <a:pPr indent="0" marL="0">
              <a:buNone/>
            </a:pPr>
            <a:r>
              <a:rPr lang="en-US" sz="750" b="1" dirty="0">
                <a:solidFill>
                  <a:srgbClr val="1D4ED8"/>
                </a:solidFill>
                <a:latin typeface="Inter" pitchFamily="34" charset="0"/>
                <a:ea typeface="Inter" pitchFamily="34" charset="-122"/>
                <a:cs typeface="Inter" pitchFamily="34" charset="-120"/>
              </a:rPr>
              <a:t>RHYTHM  </a:t>
            </a:r>
            <a:pPr indent="0" marL="0">
              <a:buNone/>
            </a:pPr>
            <a:r>
              <a:rPr lang="en-US" sz="950" dirty="0">
                <a:solidFill>
                  <a:srgbClr val="0F172A"/>
                </a:solidFill>
                <a:latin typeface="Inter" pitchFamily="34" charset="0"/>
                <a:ea typeface="Inter" pitchFamily="34" charset="-122"/>
                <a:cs typeface="Inter" pitchFamily="34" charset="-120"/>
              </a:rPr>
              <a:t>Weekly</a:t>
            </a:r>
            <a:endParaRPr lang="en-US" sz="950" dirty="0"/>
          </a:p>
        </p:txBody>
      </p:sp>
      <p:sp>
        <p:nvSpPr>
          <p:cNvPr id="18" name="Shape 15"/>
          <p:cNvSpPr/>
          <p:nvPr/>
        </p:nvSpPr>
        <p:spPr>
          <a:xfrm>
            <a:off x="2615184" y="2788920"/>
            <a:ext cx="146304" cy="182880"/>
          </a:xfrm>
          <a:prstGeom prst="rightArrow">
            <a:avLst/>
          </a:prstGeom>
          <a:solidFill>
            <a:srgbClr val="1D4ED8"/>
          </a:solidFill>
          <a:ln w="6350">
            <a:solidFill>
              <a:srgbClr val="1D4ED8"/>
            </a:solidFill>
            <a:prstDash val="solid"/>
          </a:ln>
        </p:spPr>
      </p:sp>
      <p:sp>
        <p:nvSpPr>
          <p:cNvPr id="19" name="Shape 16"/>
          <p:cNvSpPr/>
          <p:nvPr/>
        </p:nvSpPr>
        <p:spPr>
          <a:xfrm>
            <a:off x="2770632" y="1371600"/>
            <a:ext cx="2103120" cy="3063240"/>
          </a:xfrm>
          <a:prstGeom prst="roundRect">
            <a:avLst>
              <a:gd name="adj" fmla="val 4348"/>
            </a:avLst>
          </a:prstGeom>
          <a:solidFill>
            <a:srgbClr val="F8FAFC"/>
          </a:solidFill>
          <a:ln w="9525">
            <a:solidFill>
              <a:srgbClr val="E2E8F0"/>
            </a:solidFill>
            <a:prstDash val="solid"/>
          </a:ln>
        </p:spPr>
      </p:sp>
      <p:sp>
        <p:nvSpPr>
          <p:cNvPr id="20" name="Shape 17"/>
          <p:cNvSpPr/>
          <p:nvPr/>
        </p:nvSpPr>
        <p:spPr>
          <a:xfrm>
            <a:off x="2916936" y="1536192"/>
            <a:ext cx="329184" cy="329184"/>
          </a:xfrm>
          <a:prstGeom prst="ellipse">
            <a:avLst/>
          </a:prstGeom>
          <a:solidFill>
            <a:srgbClr val="1D4ED8"/>
          </a:solidFill>
          <a:ln w="6350">
            <a:solidFill>
              <a:srgbClr val="1D4ED8"/>
            </a:solidFill>
            <a:prstDash val="solid"/>
          </a:ln>
        </p:spPr>
      </p:sp>
      <p:sp>
        <p:nvSpPr>
          <p:cNvPr id="21" name="Text 18"/>
          <p:cNvSpPr txBox="1"/>
          <p:nvPr/>
        </p:nvSpPr>
        <p:spPr>
          <a:xfrm>
            <a:off x="2916936" y="1536192"/>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2</a:t>
            </a:r>
            <a:endParaRPr lang="en-US" sz="1200" dirty="0"/>
          </a:p>
        </p:txBody>
      </p:sp>
      <p:sp>
        <p:nvSpPr>
          <p:cNvPr id="22" name="Text 19"/>
          <p:cNvSpPr txBox="1"/>
          <p:nvPr/>
        </p:nvSpPr>
        <p:spPr>
          <a:xfrm>
            <a:off x="3337560" y="1499616"/>
            <a:ext cx="1463040" cy="384048"/>
          </a:xfrm>
          <a:prstGeom prst="rect">
            <a:avLst/>
          </a:prstGeom>
          <a:noFill/>
          <a:ln/>
        </p:spPr>
        <p:txBody>
          <a:bodyPr wrap="square" lIns="0" tIns="0" rIns="0" bIns="0" rtlCol="0" anchor="ctr"/>
          <a:lstStyle/>
          <a:p>
            <a:pPr indent="0" marL="0">
              <a:buNone/>
            </a:pPr>
            <a:r>
              <a:rPr lang="en-US" sz="1500" b="1" dirty="0">
                <a:solidFill>
                  <a:srgbClr val="0A1F44"/>
                </a:solidFill>
                <a:latin typeface="Inter" pitchFamily="34" charset="0"/>
                <a:ea typeface="Inter" pitchFamily="34" charset="-122"/>
                <a:cs typeface="Inter" pitchFamily="34" charset="-120"/>
              </a:rPr>
              <a:t>Target</a:t>
            </a:r>
            <a:endParaRPr lang="en-US" sz="1500" dirty="0"/>
          </a:p>
        </p:txBody>
      </p:sp>
      <p:sp>
        <p:nvSpPr>
          <p:cNvPr id="23" name="Shape 20"/>
          <p:cNvSpPr/>
          <p:nvPr/>
        </p:nvSpPr>
        <p:spPr>
          <a:xfrm>
            <a:off x="2916936" y="1975104"/>
            <a:ext cx="1143000" cy="237744"/>
          </a:xfrm>
          <a:prstGeom prst="roundRect">
            <a:avLst>
              <a:gd name="adj" fmla="val 50000"/>
            </a:avLst>
          </a:prstGeom>
          <a:solidFill>
            <a:srgbClr val="FFFFFF"/>
          </a:solidFill>
          <a:ln w="12700">
            <a:solidFill>
              <a:srgbClr val="1D4ED8"/>
            </a:solidFill>
            <a:prstDash val="solid"/>
          </a:ln>
        </p:spPr>
      </p:sp>
      <p:sp>
        <p:nvSpPr>
          <p:cNvPr id="24" name="Text 21"/>
          <p:cNvSpPr txBox="1"/>
          <p:nvPr/>
        </p:nvSpPr>
        <p:spPr>
          <a:xfrm>
            <a:off x="2916936" y="1975104"/>
            <a:ext cx="1143000" cy="237744"/>
          </a:xfrm>
          <a:prstGeom prst="rect">
            <a:avLst/>
          </a:prstGeom>
          <a:noFill/>
          <a:ln/>
        </p:spPr>
        <p:txBody>
          <a:bodyPr wrap="square" lIns="0" tIns="0" rIns="0" bIns="0" rtlCol="0" anchor="ctr"/>
          <a:lstStyle/>
          <a:p>
            <a:pPr algn="ctr" indent="0" marL="0">
              <a:buNone/>
            </a:pPr>
            <a:r>
              <a:rPr lang="en-US" sz="800" b="1" dirty="0">
                <a:solidFill>
                  <a:srgbClr val="1D4ED8"/>
                </a:solidFill>
                <a:latin typeface="Inter" pitchFamily="34" charset="0"/>
                <a:ea typeface="Inter" pitchFamily="34" charset="-122"/>
                <a:cs typeface="Inter" pitchFamily="34" charset="-120"/>
              </a:rPr>
              <a:t>Options A + B</a:t>
            </a:r>
            <a:endParaRPr lang="en-US" sz="800" dirty="0"/>
          </a:p>
        </p:txBody>
      </p:sp>
      <p:sp>
        <p:nvSpPr>
          <p:cNvPr id="25" name="Text 22"/>
          <p:cNvSpPr txBox="1"/>
          <p:nvPr/>
        </p:nvSpPr>
        <p:spPr>
          <a:xfrm>
            <a:off x="2916936" y="2304288"/>
            <a:ext cx="1828800" cy="1097280"/>
          </a:xfrm>
          <a:prstGeom prst="rect">
            <a:avLst/>
          </a:prstGeom>
          <a:noFill/>
          <a:ln/>
        </p:spPr>
        <p:txBody>
          <a:bodyPr wrap="square" lIns="0" tIns="0" rIns="0" bIns="0" rtlCol="0" anchor="t"/>
          <a:lstStyle/>
          <a:p>
            <a:pPr indent="0" marL="0">
              <a:buNone/>
            </a:pPr>
            <a:r>
              <a:rPr lang="en-US" sz="1000" dirty="0">
                <a:solidFill>
                  <a:srgbClr val="0F172A"/>
                </a:solidFill>
                <a:latin typeface="Inter" pitchFamily="34" charset="0"/>
                <a:ea typeface="Inter" pitchFamily="34" charset="-122"/>
                <a:cs typeface="Inter" pitchFamily="34" charset="-120"/>
              </a:rPr>
              <a:t>Turn findings into saved CJA segments: abandoners, engaged, cashmere-first, recent buyers</a:t>
            </a:r>
            <a:endParaRPr lang="en-US" sz="1000" dirty="0"/>
          </a:p>
        </p:txBody>
      </p:sp>
      <p:sp>
        <p:nvSpPr>
          <p:cNvPr id="26" name="Shape 23"/>
          <p:cNvSpPr/>
          <p:nvPr/>
        </p:nvSpPr>
        <p:spPr>
          <a:xfrm>
            <a:off x="2916936" y="3520440"/>
            <a:ext cx="1810512" cy="0"/>
          </a:xfrm>
          <a:prstGeom prst="line">
            <a:avLst/>
          </a:prstGeom>
          <a:noFill/>
          <a:ln w="9525">
            <a:solidFill>
              <a:srgbClr val="E2E8F0"/>
            </a:solidFill>
            <a:prstDash val="solid"/>
          </a:ln>
        </p:spPr>
      </p:sp>
      <p:sp>
        <p:nvSpPr>
          <p:cNvPr id="27" name="Text 24"/>
          <p:cNvSpPr txBox="1"/>
          <p:nvPr/>
        </p:nvSpPr>
        <p:spPr>
          <a:xfrm>
            <a:off x="2916936" y="3584448"/>
            <a:ext cx="1828800" cy="731520"/>
          </a:xfrm>
          <a:prstGeom prst="rect">
            <a:avLst/>
          </a:prstGeom>
          <a:noFill/>
          <a:ln/>
        </p:spPr>
        <p:txBody>
          <a:bodyPr wrap="square" lIns="0" tIns="0" rIns="0" bIns="0" rtlCol="0" anchor="t"/>
          <a:lstStyle/>
          <a:p>
            <a:pPr indent="0" marL="0">
              <a:buNone/>
            </a:pPr>
            <a:r>
              <a:rPr lang="en-US" sz="750" b="1" dirty="0">
                <a:solidFill>
                  <a:srgbClr val="1D4ED8"/>
                </a:solidFill>
                <a:latin typeface="Inter" pitchFamily="34" charset="0"/>
                <a:ea typeface="Inter" pitchFamily="34" charset="-122"/>
                <a:cs typeface="Inter" pitchFamily="34" charset="-120"/>
              </a:rPr>
              <a:t>OWNER  </a:t>
            </a:r>
            <a:pPr indent="0" marL="0">
              <a:buNone/>
            </a:pPr>
            <a:r>
              <a:rPr lang="en-US" sz="950" b="1" dirty="0">
                <a:solidFill>
                  <a:srgbClr val="0A1F44"/>
                </a:solidFill>
                <a:latin typeface="Inter" pitchFamily="34" charset="0"/>
                <a:ea typeface="Inter" pitchFamily="34" charset="-122"/>
                <a:cs typeface="Inter" pitchFamily="34" charset="-120"/>
              </a:rPr>
              <a:t>Analytics + CRM</a:t>
            </a:r>
            <a:endParaRPr lang="en-US" sz="950" dirty="0"/>
          </a:p>
          <a:p>
            <a:pPr indent="0" marL="0">
              <a:buNone/>
            </a:pPr>
            <a:r>
              <a:rPr lang="en-US" sz="750" b="1" dirty="0">
                <a:solidFill>
                  <a:srgbClr val="1D4ED8"/>
                </a:solidFill>
                <a:latin typeface="Inter" pitchFamily="34" charset="0"/>
                <a:ea typeface="Inter" pitchFamily="34" charset="-122"/>
                <a:cs typeface="Inter" pitchFamily="34" charset="-120"/>
              </a:rPr>
              <a:t>RHYTHM  </a:t>
            </a:r>
            <a:pPr indent="0" marL="0">
              <a:buNone/>
            </a:pPr>
            <a:r>
              <a:rPr lang="en-US" sz="950" dirty="0">
                <a:solidFill>
                  <a:srgbClr val="0F172A"/>
                </a:solidFill>
                <a:latin typeface="Inter" pitchFamily="34" charset="0"/>
                <a:ea typeface="Inter" pitchFamily="34" charset="-122"/>
                <a:cs typeface="Inter" pitchFamily="34" charset="-120"/>
              </a:rPr>
              <a:t>Weekly</a:t>
            </a:r>
            <a:endParaRPr lang="en-US" sz="950" dirty="0"/>
          </a:p>
        </p:txBody>
      </p:sp>
      <p:sp>
        <p:nvSpPr>
          <p:cNvPr id="28" name="Shape 25"/>
          <p:cNvSpPr/>
          <p:nvPr/>
        </p:nvSpPr>
        <p:spPr>
          <a:xfrm>
            <a:off x="4882896" y="2788920"/>
            <a:ext cx="146304" cy="182880"/>
          </a:xfrm>
          <a:prstGeom prst="rightArrow">
            <a:avLst/>
          </a:prstGeom>
          <a:solidFill>
            <a:srgbClr val="1D4ED8"/>
          </a:solidFill>
          <a:ln w="6350">
            <a:solidFill>
              <a:srgbClr val="1D4ED8"/>
            </a:solidFill>
            <a:prstDash val="solid"/>
          </a:ln>
        </p:spPr>
      </p:sp>
      <p:sp>
        <p:nvSpPr>
          <p:cNvPr id="29" name="Shape 26"/>
          <p:cNvSpPr/>
          <p:nvPr/>
        </p:nvSpPr>
        <p:spPr>
          <a:xfrm>
            <a:off x="5038344" y="1371600"/>
            <a:ext cx="2103120" cy="3063240"/>
          </a:xfrm>
          <a:prstGeom prst="roundRect">
            <a:avLst>
              <a:gd name="adj" fmla="val 4348"/>
            </a:avLst>
          </a:prstGeom>
          <a:solidFill>
            <a:srgbClr val="F8FAFC"/>
          </a:solidFill>
          <a:ln w="9525">
            <a:solidFill>
              <a:srgbClr val="E2E8F0"/>
            </a:solidFill>
            <a:prstDash val="solid"/>
          </a:ln>
        </p:spPr>
      </p:sp>
      <p:sp>
        <p:nvSpPr>
          <p:cNvPr id="30" name="Shape 27"/>
          <p:cNvSpPr/>
          <p:nvPr/>
        </p:nvSpPr>
        <p:spPr>
          <a:xfrm>
            <a:off x="5184648" y="1536192"/>
            <a:ext cx="329184" cy="329184"/>
          </a:xfrm>
          <a:prstGeom prst="ellipse">
            <a:avLst/>
          </a:prstGeom>
          <a:solidFill>
            <a:srgbClr val="1D4ED8"/>
          </a:solidFill>
          <a:ln w="6350">
            <a:solidFill>
              <a:srgbClr val="1D4ED8"/>
            </a:solidFill>
            <a:prstDash val="solid"/>
          </a:ln>
        </p:spPr>
      </p:sp>
      <p:sp>
        <p:nvSpPr>
          <p:cNvPr id="31" name="Text 28"/>
          <p:cNvSpPr txBox="1"/>
          <p:nvPr/>
        </p:nvSpPr>
        <p:spPr>
          <a:xfrm>
            <a:off x="5184648" y="1536192"/>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3</a:t>
            </a:r>
            <a:endParaRPr lang="en-US" sz="1200" dirty="0"/>
          </a:p>
        </p:txBody>
      </p:sp>
      <p:sp>
        <p:nvSpPr>
          <p:cNvPr id="32" name="Text 29"/>
          <p:cNvSpPr txBox="1"/>
          <p:nvPr/>
        </p:nvSpPr>
        <p:spPr>
          <a:xfrm>
            <a:off x="5605272" y="1499616"/>
            <a:ext cx="1463040" cy="384048"/>
          </a:xfrm>
          <a:prstGeom prst="rect">
            <a:avLst/>
          </a:prstGeom>
          <a:noFill/>
          <a:ln/>
        </p:spPr>
        <p:txBody>
          <a:bodyPr wrap="square" lIns="0" tIns="0" rIns="0" bIns="0" rtlCol="0" anchor="ctr"/>
          <a:lstStyle/>
          <a:p>
            <a:pPr indent="0" marL="0">
              <a:buNone/>
            </a:pPr>
            <a:r>
              <a:rPr lang="en-US" sz="1500" b="1" dirty="0">
                <a:solidFill>
                  <a:srgbClr val="0A1F44"/>
                </a:solidFill>
                <a:latin typeface="Inter" pitchFamily="34" charset="0"/>
                <a:ea typeface="Inter" pitchFamily="34" charset="-122"/>
                <a:cs typeface="Inter" pitchFamily="34" charset="-120"/>
              </a:rPr>
              <a:t>Activate</a:t>
            </a:r>
            <a:endParaRPr lang="en-US" sz="1500" dirty="0"/>
          </a:p>
        </p:txBody>
      </p:sp>
      <p:sp>
        <p:nvSpPr>
          <p:cNvPr id="33" name="Shape 30"/>
          <p:cNvSpPr/>
          <p:nvPr/>
        </p:nvSpPr>
        <p:spPr>
          <a:xfrm>
            <a:off x="5184648" y="1975104"/>
            <a:ext cx="1143000" cy="237744"/>
          </a:xfrm>
          <a:prstGeom prst="roundRect">
            <a:avLst>
              <a:gd name="adj" fmla="val 50000"/>
            </a:avLst>
          </a:prstGeom>
          <a:solidFill>
            <a:srgbClr val="FFFFFF"/>
          </a:solidFill>
          <a:ln w="12700">
            <a:solidFill>
              <a:srgbClr val="1D4ED8"/>
            </a:solidFill>
            <a:prstDash val="solid"/>
          </a:ln>
        </p:spPr>
      </p:sp>
      <p:sp>
        <p:nvSpPr>
          <p:cNvPr id="34" name="Text 31"/>
          <p:cNvSpPr txBox="1"/>
          <p:nvPr/>
        </p:nvSpPr>
        <p:spPr>
          <a:xfrm>
            <a:off x="5184648" y="1975104"/>
            <a:ext cx="1143000" cy="237744"/>
          </a:xfrm>
          <a:prstGeom prst="rect">
            <a:avLst/>
          </a:prstGeom>
          <a:noFill/>
          <a:ln/>
        </p:spPr>
        <p:txBody>
          <a:bodyPr wrap="square" lIns="0" tIns="0" rIns="0" bIns="0" rtlCol="0" anchor="ctr"/>
          <a:lstStyle/>
          <a:p>
            <a:pPr algn="ctr" indent="0" marL="0">
              <a:buNone/>
            </a:pPr>
            <a:r>
              <a:rPr lang="en-US" sz="800" b="1" dirty="0">
                <a:solidFill>
                  <a:srgbClr val="1D4ED8"/>
                </a:solidFill>
                <a:latin typeface="Inter" pitchFamily="34" charset="0"/>
                <a:ea typeface="Inter" pitchFamily="34" charset="-122"/>
                <a:cs typeface="Inter" pitchFamily="34" charset="-120"/>
              </a:rPr>
              <a:t>Options A + B</a:t>
            </a:r>
            <a:endParaRPr lang="en-US" sz="800" dirty="0"/>
          </a:p>
        </p:txBody>
      </p:sp>
      <p:sp>
        <p:nvSpPr>
          <p:cNvPr id="35" name="Text 32"/>
          <p:cNvSpPr txBox="1"/>
          <p:nvPr/>
        </p:nvSpPr>
        <p:spPr>
          <a:xfrm>
            <a:off x="5184648" y="2304288"/>
            <a:ext cx="1828800" cy="1097280"/>
          </a:xfrm>
          <a:prstGeom prst="rect">
            <a:avLst/>
          </a:prstGeom>
          <a:noFill/>
          <a:ln/>
        </p:spPr>
        <p:txBody>
          <a:bodyPr wrap="square" lIns="0" tIns="0" rIns="0" bIns="0" rtlCol="0" anchor="t"/>
          <a:lstStyle/>
          <a:p>
            <a:pPr indent="0" marL="0">
              <a:buNone/>
            </a:pPr>
            <a:r>
              <a:rPr lang="en-US" sz="1000" dirty="0">
                <a:solidFill>
                  <a:srgbClr val="0F172A"/>
                </a:solidFill>
                <a:latin typeface="Inter" pitchFamily="34" charset="0"/>
                <a:ea typeface="Inter" pitchFamily="34" charset="-122"/>
                <a:cs typeface="Inter" pitchFamily="34" charset="-120"/>
              </a:rPr>
              <a:t>Send segments to lifecycle journeys and to paid-media suppression lists</a:t>
            </a:r>
            <a:endParaRPr lang="en-US" sz="1000" dirty="0"/>
          </a:p>
        </p:txBody>
      </p:sp>
      <p:sp>
        <p:nvSpPr>
          <p:cNvPr id="36" name="Shape 33"/>
          <p:cNvSpPr/>
          <p:nvPr/>
        </p:nvSpPr>
        <p:spPr>
          <a:xfrm>
            <a:off x="5184648" y="3520440"/>
            <a:ext cx="1810512" cy="0"/>
          </a:xfrm>
          <a:prstGeom prst="line">
            <a:avLst/>
          </a:prstGeom>
          <a:noFill/>
          <a:ln w="9525">
            <a:solidFill>
              <a:srgbClr val="E2E8F0"/>
            </a:solidFill>
            <a:prstDash val="solid"/>
          </a:ln>
        </p:spPr>
      </p:sp>
      <p:sp>
        <p:nvSpPr>
          <p:cNvPr id="37" name="Text 34"/>
          <p:cNvSpPr txBox="1"/>
          <p:nvPr/>
        </p:nvSpPr>
        <p:spPr>
          <a:xfrm>
            <a:off x="5184648" y="3584448"/>
            <a:ext cx="1828800" cy="731520"/>
          </a:xfrm>
          <a:prstGeom prst="rect">
            <a:avLst/>
          </a:prstGeom>
          <a:noFill/>
          <a:ln/>
        </p:spPr>
        <p:txBody>
          <a:bodyPr wrap="square" lIns="0" tIns="0" rIns="0" bIns="0" rtlCol="0" anchor="t"/>
          <a:lstStyle/>
          <a:p>
            <a:pPr indent="0" marL="0">
              <a:buNone/>
            </a:pPr>
            <a:r>
              <a:rPr lang="en-US" sz="750" b="1" dirty="0">
                <a:solidFill>
                  <a:srgbClr val="1D4ED8"/>
                </a:solidFill>
                <a:latin typeface="Inter" pitchFamily="34" charset="0"/>
                <a:ea typeface="Inter" pitchFamily="34" charset="-122"/>
                <a:cs typeface="Inter" pitchFamily="34" charset="-120"/>
              </a:rPr>
              <a:t>OWNER  </a:t>
            </a:r>
            <a:pPr indent="0" marL="0">
              <a:buNone/>
            </a:pPr>
            <a:r>
              <a:rPr lang="en-US" sz="950" b="1" dirty="0">
                <a:solidFill>
                  <a:srgbClr val="0A1F44"/>
                </a:solidFill>
                <a:latin typeface="Inter" pitchFamily="34" charset="0"/>
                <a:ea typeface="Inter" pitchFamily="34" charset="-122"/>
                <a:cs typeface="Inter" pitchFamily="34" charset="-120"/>
              </a:rPr>
              <a:t>Marketing ops</a:t>
            </a:r>
            <a:endParaRPr lang="en-US" sz="950" dirty="0"/>
          </a:p>
          <a:p>
            <a:pPr indent="0" marL="0">
              <a:buNone/>
            </a:pPr>
            <a:r>
              <a:rPr lang="en-US" sz="750" b="1" dirty="0">
                <a:solidFill>
                  <a:srgbClr val="1D4ED8"/>
                </a:solidFill>
                <a:latin typeface="Inter" pitchFamily="34" charset="0"/>
                <a:ea typeface="Inter" pitchFamily="34" charset="-122"/>
                <a:cs typeface="Inter" pitchFamily="34" charset="-120"/>
              </a:rPr>
              <a:t>RHYTHM  </a:t>
            </a:r>
            <a:pPr indent="0" marL="0">
              <a:buNone/>
            </a:pPr>
            <a:r>
              <a:rPr lang="en-US" sz="950" dirty="0">
                <a:solidFill>
                  <a:srgbClr val="0F172A"/>
                </a:solidFill>
                <a:latin typeface="Inter" pitchFamily="34" charset="0"/>
                <a:ea typeface="Inter" pitchFamily="34" charset="-122"/>
                <a:cs typeface="Inter" pitchFamily="34" charset="-120"/>
              </a:rPr>
              <a:t>Daily sync</a:t>
            </a:r>
            <a:endParaRPr lang="en-US" sz="950" dirty="0"/>
          </a:p>
        </p:txBody>
      </p:sp>
      <p:sp>
        <p:nvSpPr>
          <p:cNvPr id="38" name="Shape 35"/>
          <p:cNvSpPr/>
          <p:nvPr/>
        </p:nvSpPr>
        <p:spPr>
          <a:xfrm>
            <a:off x="7150608" y="2788920"/>
            <a:ext cx="146304" cy="182880"/>
          </a:xfrm>
          <a:prstGeom prst="rightArrow">
            <a:avLst/>
          </a:prstGeom>
          <a:solidFill>
            <a:srgbClr val="1D4ED8"/>
          </a:solidFill>
          <a:ln w="6350">
            <a:solidFill>
              <a:srgbClr val="1D4ED8"/>
            </a:solidFill>
            <a:prstDash val="solid"/>
          </a:ln>
        </p:spPr>
      </p:sp>
      <p:sp>
        <p:nvSpPr>
          <p:cNvPr id="39" name="Shape 36"/>
          <p:cNvSpPr/>
          <p:nvPr/>
        </p:nvSpPr>
        <p:spPr>
          <a:xfrm>
            <a:off x="7306056" y="1371600"/>
            <a:ext cx="2103120" cy="3063240"/>
          </a:xfrm>
          <a:prstGeom prst="roundRect">
            <a:avLst>
              <a:gd name="adj" fmla="val 4348"/>
            </a:avLst>
          </a:prstGeom>
          <a:solidFill>
            <a:srgbClr val="F8FAFC"/>
          </a:solidFill>
          <a:ln w="9525">
            <a:solidFill>
              <a:srgbClr val="E2E8F0"/>
            </a:solidFill>
            <a:prstDash val="solid"/>
          </a:ln>
        </p:spPr>
      </p:sp>
      <p:sp>
        <p:nvSpPr>
          <p:cNvPr id="40" name="Shape 37"/>
          <p:cNvSpPr/>
          <p:nvPr/>
        </p:nvSpPr>
        <p:spPr>
          <a:xfrm>
            <a:off x="7452360" y="1536192"/>
            <a:ext cx="329184" cy="329184"/>
          </a:xfrm>
          <a:prstGeom prst="ellipse">
            <a:avLst/>
          </a:prstGeom>
          <a:solidFill>
            <a:srgbClr val="1D4ED8"/>
          </a:solidFill>
          <a:ln w="6350">
            <a:solidFill>
              <a:srgbClr val="1D4ED8"/>
            </a:solidFill>
            <a:prstDash val="solid"/>
          </a:ln>
        </p:spPr>
      </p:sp>
      <p:sp>
        <p:nvSpPr>
          <p:cNvPr id="41" name="Text 38"/>
          <p:cNvSpPr txBox="1"/>
          <p:nvPr/>
        </p:nvSpPr>
        <p:spPr>
          <a:xfrm>
            <a:off x="7452360" y="1536192"/>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4</a:t>
            </a:r>
            <a:endParaRPr lang="en-US" sz="1200" dirty="0"/>
          </a:p>
        </p:txBody>
      </p:sp>
      <p:sp>
        <p:nvSpPr>
          <p:cNvPr id="42" name="Text 39"/>
          <p:cNvSpPr txBox="1"/>
          <p:nvPr/>
        </p:nvSpPr>
        <p:spPr>
          <a:xfrm>
            <a:off x="7872984" y="1499616"/>
            <a:ext cx="1463040" cy="384048"/>
          </a:xfrm>
          <a:prstGeom prst="rect">
            <a:avLst/>
          </a:prstGeom>
          <a:noFill/>
          <a:ln/>
        </p:spPr>
        <p:txBody>
          <a:bodyPr wrap="square" lIns="0" tIns="0" rIns="0" bIns="0" rtlCol="0" anchor="ctr"/>
          <a:lstStyle/>
          <a:p>
            <a:pPr indent="0" marL="0">
              <a:buNone/>
            </a:pPr>
            <a:r>
              <a:rPr lang="en-US" sz="1500" b="1" dirty="0">
                <a:solidFill>
                  <a:srgbClr val="0A1F44"/>
                </a:solidFill>
                <a:latin typeface="Inter" pitchFamily="34" charset="0"/>
                <a:ea typeface="Inter" pitchFamily="34" charset="-122"/>
                <a:cs typeface="Inter" pitchFamily="34" charset="-120"/>
              </a:rPr>
              <a:t>Prove</a:t>
            </a:r>
            <a:endParaRPr lang="en-US" sz="1500" dirty="0"/>
          </a:p>
        </p:txBody>
      </p:sp>
      <p:sp>
        <p:nvSpPr>
          <p:cNvPr id="43" name="Shape 40"/>
          <p:cNvSpPr/>
          <p:nvPr/>
        </p:nvSpPr>
        <p:spPr>
          <a:xfrm>
            <a:off x="7452360" y="1975104"/>
            <a:ext cx="822960" cy="237744"/>
          </a:xfrm>
          <a:prstGeom prst="roundRect">
            <a:avLst>
              <a:gd name="adj" fmla="val 50000"/>
            </a:avLst>
          </a:prstGeom>
          <a:solidFill>
            <a:srgbClr val="FFFFFF"/>
          </a:solidFill>
          <a:ln w="12700">
            <a:solidFill>
              <a:srgbClr val="1D4ED8"/>
            </a:solidFill>
            <a:prstDash val="solid"/>
          </a:ln>
        </p:spPr>
      </p:sp>
      <p:sp>
        <p:nvSpPr>
          <p:cNvPr id="44" name="Text 41"/>
          <p:cNvSpPr txBox="1"/>
          <p:nvPr/>
        </p:nvSpPr>
        <p:spPr>
          <a:xfrm>
            <a:off x="7452360" y="1975104"/>
            <a:ext cx="822960" cy="237744"/>
          </a:xfrm>
          <a:prstGeom prst="rect">
            <a:avLst/>
          </a:prstGeom>
          <a:noFill/>
          <a:ln/>
        </p:spPr>
        <p:txBody>
          <a:bodyPr wrap="square" lIns="0" tIns="0" rIns="0" bIns="0" rtlCol="0" anchor="ctr"/>
          <a:lstStyle/>
          <a:p>
            <a:pPr algn="ctr" indent="0" marL="0">
              <a:buNone/>
            </a:pPr>
            <a:r>
              <a:rPr lang="en-US" sz="800" b="1" dirty="0">
                <a:solidFill>
                  <a:srgbClr val="1D4ED8"/>
                </a:solidFill>
                <a:latin typeface="Inter" pitchFamily="34" charset="0"/>
                <a:ea typeface="Inter" pitchFamily="34" charset="-122"/>
                <a:cs typeface="Inter" pitchFamily="34" charset="-120"/>
              </a:rPr>
              <a:t>Option C</a:t>
            </a:r>
            <a:endParaRPr lang="en-US" sz="800" dirty="0"/>
          </a:p>
        </p:txBody>
      </p:sp>
      <p:sp>
        <p:nvSpPr>
          <p:cNvPr id="45" name="Text 42"/>
          <p:cNvSpPr txBox="1"/>
          <p:nvPr/>
        </p:nvSpPr>
        <p:spPr>
          <a:xfrm>
            <a:off x="7452360" y="2304288"/>
            <a:ext cx="1828800" cy="1097280"/>
          </a:xfrm>
          <a:prstGeom prst="rect">
            <a:avLst/>
          </a:prstGeom>
          <a:noFill/>
          <a:ln/>
        </p:spPr>
        <p:txBody>
          <a:bodyPr wrap="square" lIns="0" tIns="0" rIns="0" bIns="0" rtlCol="0" anchor="t"/>
          <a:lstStyle/>
          <a:p>
            <a:pPr indent="0" marL="0">
              <a:buNone/>
            </a:pPr>
            <a:r>
              <a:rPr lang="en-US" sz="1000" dirty="0">
                <a:solidFill>
                  <a:srgbClr val="0F172A"/>
                </a:solidFill>
                <a:latin typeface="Inter" pitchFamily="34" charset="0"/>
                <a:ea typeface="Inter" pitchFamily="34" charset="-122"/>
                <a:cs typeface="Inter" pitchFamily="34" charset="-120"/>
              </a:rPr>
              <a:t>Read every move against a randomized holdout: 10% in the South pilot</a:t>
            </a:r>
            <a:endParaRPr lang="en-US" sz="1000" dirty="0"/>
          </a:p>
        </p:txBody>
      </p:sp>
      <p:sp>
        <p:nvSpPr>
          <p:cNvPr id="46" name="Shape 43"/>
          <p:cNvSpPr/>
          <p:nvPr/>
        </p:nvSpPr>
        <p:spPr>
          <a:xfrm>
            <a:off x="7452360" y="3520440"/>
            <a:ext cx="1810512" cy="0"/>
          </a:xfrm>
          <a:prstGeom prst="line">
            <a:avLst/>
          </a:prstGeom>
          <a:noFill/>
          <a:ln w="9525">
            <a:solidFill>
              <a:srgbClr val="E2E8F0"/>
            </a:solidFill>
            <a:prstDash val="solid"/>
          </a:ln>
        </p:spPr>
      </p:sp>
      <p:sp>
        <p:nvSpPr>
          <p:cNvPr id="47" name="Text 44"/>
          <p:cNvSpPr txBox="1"/>
          <p:nvPr/>
        </p:nvSpPr>
        <p:spPr>
          <a:xfrm>
            <a:off x="7452360" y="3584448"/>
            <a:ext cx="1828800" cy="731520"/>
          </a:xfrm>
          <a:prstGeom prst="rect">
            <a:avLst/>
          </a:prstGeom>
          <a:noFill/>
          <a:ln/>
        </p:spPr>
        <p:txBody>
          <a:bodyPr wrap="square" lIns="0" tIns="0" rIns="0" bIns="0" rtlCol="0" anchor="t"/>
          <a:lstStyle/>
          <a:p>
            <a:pPr indent="0" marL="0">
              <a:buNone/>
            </a:pPr>
            <a:r>
              <a:rPr lang="en-US" sz="750" b="1" dirty="0">
                <a:solidFill>
                  <a:srgbClr val="1D4ED8"/>
                </a:solidFill>
                <a:latin typeface="Inter" pitchFamily="34" charset="0"/>
                <a:ea typeface="Inter" pitchFamily="34" charset="-122"/>
                <a:cs typeface="Inter" pitchFamily="34" charset="-120"/>
              </a:rPr>
              <a:t>OWNER  </a:t>
            </a:r>
            <a:pPr indent="0" marL="0">
              <a:buNone/>
            </a:pPr>
            <a:r>
              <a:rPr lang="en-US" sz="950" b="1" dirty="0">
                <a:solidFill>
                  <a:srgbClr val="0A1F44"/>
                </a:solidFill>
                <a:latin typeface="Inter" pitchFamily="34" charset="0"/>
                <a:ea typeface="Inter" pitchFamily="34" charset="-122"/>
                <a:cs typeface="Inter" pitchFamily="34" charset="-120"/>
              </a:rPr>
              <a:t>Head of Analytics</a:t>
            </a:r>
            <a:endParaRPr lang="en-US" sz="950" dirty="0"/>
          </a:p>
          <a:p>
            <a:pPr indent="0" marL="0">
              <a:buNone/>
            </a:pPr>
            <a:r>
              <a:rPr lang="en-US" sz="750" b="1" dirty="0">
                <a:solidFill>
                  <a:srgbClr val="1D4ED8"/>
                </a:solidFill>
                <a:latin typeface="Inter" pitchFamily="34" charset="0"/>
                <a:ea typeface="Inter" pitchFamily="34" charset="-122"/>
                <a:cs typeface="Inter" pitchFamily="34" charset="-120"/>
              </a:rPr>
              <a:t>RHYTHM  </a:t>
            </a:r>
            <a:pPr indent="0" marL="0">
              <a:buNone/>
            </a:pPr>
            <a:r>
              <a:rPr lang="en-US" sz="950" dirty="0">
                <a:solidFill>
                  <a:srgbClr val="0F172A"/>
                </a:solidFill>
                <a:latin typeface="Inter" pitchFamily="34" charset="0"/>
                <a:ea typeface="Inter" pitchFamily="34" charset="-122"/>
                <a:cs typeface="Inter" pitchFamily="34" charset="-120"/>
              </a:rPr>
              <a:t>Weekly council</a:t>
            </a:r>
            <a:endParaRPr lang="en-US" sz="950" dirty="0"/>
          </a:p>
        </p:txBody>
      </p:sp>
      <p:sp>
        <p:nvSpPr>
          <p:cNvPr id="48" name="Shape 45"/>
          <p:cNvSpPr/>
          <p:nvPr/>
        </p:nvSpPr>
        <p:spPr>
          <a:xfrm>
            <a:off x="9418320" y="2788920"/>
            <a:ext cx="146304" cy="182880"/>
          </a:xfrm>
          <a:prstGeom prst="rightArrow">
            <a:avLst/>
          </a:prstGeom>
          <a:solidFill>
            <a:srgbClr val="1D4ED8"/>
          </a:solidFill>
          <a:ln w="6350">
            <a:solidFill>
              <a:srgbClr val="1D4ED8"/>
            </a:solidFill>
            <a:prstDash val="solid"/>
          </a:ln>
        </p:spPr>
      </p:sp>
      <p:sp>
        <p:nvSpPr>
          <p:cNvPr id="49" name="Shape 46"/>
          <p:cNvSpPr/>
          <p:nvPr/>
        </p:nvSpPr>
        <p:spPr>
          <a:xfrm>
            <a:off x="9573768" y="1371600"/>
            <a:ext cx="2103120" cy="3063240"/>
          </a:xfrm>
          <a:prstGeom prst="roundRect">
            <a:avLst>
              <a:gd name="adj" fmla="val 4348"/>
            </a:avLst>
          </a:prstGeom>
          <a:solidFill>
            <a:srgbClr val="F8FAFC"/>
          </a:solidFill>
          <a:ln w="9525">
            <a:solidFill>
              <a:srgbClr val="E2E8F0"/>
            </a:solidFill>
            <a:prstDash val="solid"/>
          </a:ln>
        </p:spPr>
      </p:sp>
      <p:sp>
        <p:nvSpPr>
          <p:cNvPr id="50" name="Shape 47"/>
          <p:cNvSpPr/>
          <p:nvPr/>
        </p:nvSpPr>
        <p:spPr>
          <a:xfrm>
            <a:off x="9720072" y="1536192"/>
            <a:ext cx="329184" cy="329184"/>
          </a:xfrm>
          <a:prstGeom prst="ellipse">
            <a:avLst/>
          </a:prstGeom>
          <a:solidFill>
            <a:srgbClr val="0A1F44"/>
          </a:solidFill>
          <a:ln w="6350">
            <a:solidFill>
              <a:srgbClr val="0A1F44"/>
            </a:solidFill>
            <a:prstDash val="solid"/>
          </a:ln>
        </p:spPr>
      </p:sp>
      <p:sp>
        <p:nvSpPr>
          <p:cNvPr id="51" name="Text 48"/>
          <p:cNvSpPr txBox="1"/>
          <p:nvPr/>
        </p:nvSpPr>
        <p:spPr>
          <a:xfrm>
            <a:off x="9720072" y="1536192"/>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5</a:t>
            </a:r>
            <a:endParaRPr lang="en-US" sz="1200" dirty="0"/>
          </a:p>
        </p:txBody>
      </p:sp>
      <p:sp>
        <p:nvSpPr>
          <p:cNvPr id="52" name="Text 49"/>
          <p:cNvSpPr txBox="1"/>
          <p:nvPr/>
        </p:nvSpPr>
        <p:spPr>
          <a:xfrm>
            <a:off x="10140696" y="1499616"/>
            <a:ext cx="1463040" cy="384048"/>
          </a:xfrm>
          <a:prstGeom prst="rect">
            <a:avLst/>
          </a:prstGeom>
          <a:noFill/>
          <a:ln/>
        </p:spPr>
        <p:txBody>
          <a:bodyPr wrap="square" lIns="0" tIns="0" rIns="0" bIns="0" rtlCol="0" anchor="ctr"/>
          <a:lstStyle/>
          <a:p>
            <a:pPr indent="0" marL="0">
              <a:buNone/>
            </a:pPr>
            <a:r>
              <a:rPr lang="en-US" sz="1500" b="1" dirty="0">
                <a:solidFill>
                  <a:srgbClr val="0A1F44"/>
                </a:solidFill>
                <a:latin typeface="Inter" pitchFamily="34" charset="0"/>
                <a:ea typeface="Inter" pitchFamily="34" charset="-122"/>
                <a:cs typeface="Inter" pitchFamily="34" charset="-120"/>
              </a:rPr>
              <a:t>Reallocate</a:t>
            </a:r>
            <a:endParaRPr lang="en-US" sz="1500" dirty="0"/>
          </a:p>
        </p:txBody>
      </p:sp>
      <p:sp>
        <p:nvSpPr>
          <p:cNvPr id="53" name="Shape 50"/>
          <p:cNvSpPr/>
          <p:nvPr/>
        </p:nvSpPr>
        <p:spPr>
          <a:xfrm>
            <a:off x="9720072" y="1975104"/>
            <a:ext cx="822960" cy="237744"/>
          </a:xfrm>
          <a:prstGeom prst="roundRect">
            <a:avLst>
              <a:gd name="adj" fmla="val 50000"/>
            </a:avLst>
          </a:prstGeom>
          <a:solidFill>
            <a:srgbClr val="FFFFFF"/>
          </a:solidFill>
          <a:ln w="12700">
            <a:solidFill>
              <a:srgbClr val="1D4ED8"/>
            </a:solidFill>
            <a:prstDash val="solid"/>
          </a:ln>
        </p:spPr>
      </p:sp>
      <p:sp>
        <p:nvSpPr>
          <p:cNvPr id="54" name="Text 51"/>
          <p:cNvSpPr txBox="1"/>
          <p:nvPr/>
        </p:nvSpPr>
        <p:spPr>
          <a:xfrm>
            <a:off x="9720072" y="1975104"/>
            <a:ext cx="822960" cy="237744"/>
          </a:xfrm>
          <a:prstGeom prst="rect">
            <a:avLst/>
          </a:prstGeom>
          <a:noFill/>
          <a:ln/>
        </p:spPr>
        <p:txBody>
          <a:bodyPr wrap="square" lIns="0" tIns="0" rIns="0" bIns="0" rtlCol="0" anchor="ctr"/>
          <a:lstStyle/>
          <a:p>
            <a:pPr algn="ctr" indent="0" marL="0">
              <a:buNone/>
            </a:pPr>
            <a:r>
              <a:rPr lang="en-US" sz="800" b="1" dirty="0">
                <a:solidFill>
                  <a:srgbClr val="1D4ED8"/>
                </a:solidFill>
                <a:latin typeface="Inter" pitchFamily="34" charset="0"/>
                <a:ea typeface="Inter" pitchFamily="34" charset="-122"/>
                <a:cs typeface="Inter" pitchFamily="34" charset="-120"/>
              </a:rPr>
              <a:t>Option C</a:t>
            </a:r>
            <a:endParaRPr lang="en-US" sz="800" dirty="0"/>
          </a:p>
        </p:txBody>
      </p:sp>
      <p:sp>
        <p:nvSpPr>
          <p:cNvPr id="55" name="Text 52"/>
          <p:cNvSpPr txBox="1"/>
          <p:nvPr/>
        </p:nvSpPr>
        <p:spPr>
          <a:xfrm>
            <a:off x="9720072" y="2304288"/>
            <a:ext cx="1828800" cy="1097280"/>
          </a:xfrm>
          <a:prstGeom prst="rect">
            <a:avLst/>
          </a:prstGeom>
          <a:noFill/>
          <a:ln/>
        </p:spPr>
        <p:txBody>
          <a:bodyPr wrap="square" lIns="0" tIns="0" rIns="0" bIns="0" rtlCol="0" anchor="t"/>
          <a:lstStyle/>
          <a:p>
            <a:pPr indent="0" marL="0">
              <a:buNone/>
            </a:pPr>
            <a:r>
              <a:rPr lang="en-US" sz="1000" dirty="0">
                <a:solidFill>
                  <a:srgbClr val="0F172A"/>
                </a:solidFill>
                <a:latin typeface="Inter" pitchFamily="34" charset="0"/>
                <a:ea typeface="Inter" pitchFamily="34" charset="-122"/>
                <a:cs typeface="Inter" pitchFamily="34" charset="-120"/>
              </a:rPr>
              <a:t>Move money across lines only when the holdout proves it; otherwise it stays</a:t>
            </a:r>
            <a:endParaRPr lang="en-US" sz="1000" dirty="0"/>
          </a:p>
        </p:txBody>
      </p:sp>
      <p:sp>
        <p:nvSpPr>
          <p:cNvPr id="56" name="Shape 53"/>
          <p:cNvSpPr/>
          <p:nvPr/>
        </p:nvSpPr>
        <p:spPr>
          <a:xfrm>
            <a:off x="9720072" y="3520440"/>
            <a:ext cx="1810512" cy="0"/>
          </a:xfrm>
          <a:prstGeom prst="line">
            <a:avLst/>
          </a:prstGeom>
          <a:noFill/>
          <a:ln w="9525">
            <a:solidFill>
              <a:srgbClr val="E2E8F0"/>
            </a:solidFill>
            <a:prstDash val="solid"/>
          </a:ln>
        </p:spPr>
      </p:sp>
      <p:sp>
        <p:nvSpPr>
          <p:cNvPr id="57" name="Text 54"/>
          <p:cNvSpPr txBox="1"/>
          <p:nvPr/>
        </p:nvSpPr>
        <p:spPr>
          <a:xfrm>
            <a:off x="9720072" y="3584448"/>
            <a:ext cx="1828800" cy="731520"/>
          </a:xfrm>
          <a:prstGeom prst="rect">
            <a:avLst/>
          </a:prstGeom>
          <a:noFill/>
          <a:ln/>
        </p:spPr>
        <p:txBody>
          <a:bodyPr wrap="square" lIns="0" tIns="0" rIns="0" bIns="0" rtlCol="0" anchor="t"/>
          <a:lstStyle/>
          <a:p>
            <a:pPr indent="0" marL="0">
              <a:buNone/>
            </a:pPr>
            <a:r>
              <a:rPr lang="en-US" sz="750" b="1" dirty="0">
                <a:solidFill>
                  <a:srgbClr val="1D4ED8"/>
                </a:solidFill>
                <a:latin typeface="Inter" pitchFamily="34" charset="0"/>
                <a:ea typeface="Inter" pitchFamily="34" charset="-122"/>
                <a:cs typeface="Inter" pitchFamily="34" charset="-120"/>
              </a:rPr>
              <a:t>OWNER  </a:t>
            </a:r>
            <a:pPr indent="0" marL="0">
              <a:buNone/>
            </a:pPr>
            <a:r>
              <a:rPr lang="en-US" sz="950" b="1" dirty="0">
                <a:solidFill>
                  <a:srgbClr val="0A1F44"/>
                </a:solidFill>
                <a:latin typeface="Inter" pitchFamily="34" charset="0"/>
                <a:ea typeface="Inter" pitchFamily="34" charset="-122"/>
                <a:cs typeface="Inter" pitchFamily="34" charset="-120"/>
              </a:rPr>
              <a:t>CMO + CFO</a:t>
            </a:r>
            <a:endParaRPr lang="en-US" sz="950" dirty="0"/>
          </a:p>
          <a:p>
            <a:pPr indent="0" marL="0">
              <a:buNone/>
            </a:pPr>
            <a:r>
              <a:rPr lang="en-US" sz="750" b="1" dirty="0">
                <a:solidFill>
                  <a:srgbClr val="1D4ED8"/>
                </a:solidFill>
                <a:latin typeface="Inter" pitchFamily="34" charset="0"/>
                <a:ea typeface="Inter" pitchFamily="34" charset="-122"/>
                <a:cs typeface="Inter" pitchFamily="34" charset="-120"/>
              </a:rPr>
              <a:t>RHYTHM  </a:t>
            </a:r>
            <a:pPr indent="0" marL="0">
              <a:buNone/>
            </a:pPr>
            <a:r>
              <a:rPr lang="en-US" sz="950" dirty="0">
                <a:solidFill>
                  <a:srgbClr val="0F172A"/>
                </a:solidFill>
                <a:latin typeface="Inter" pitchFamily="34" charset="0"/>
                <a:ea typeface="Inter" pitchFamily="34" charset="-122"/>
                <a:cs typeface="Inter" pitchFamily="34" charset="-120"/>
              </a:rPr>
              <a:t>Gates: months 3, 9</a:t>
            </a:r>
            <a:endParaRPr lang="en-US" sz="950" dirty="0"/>
          </a:p>
        </p:txBody>
      </p:sp>
      <p:sp>
        <p:nvSpPr>
          <p:cNvPr id="58" name="Shape 55"/>
          <p:cNvSpPr/>
          <p:nvPr/>
        </p:nvSpPr>
        <p:spPr>
          <a:xfrm>
            <a:off x="10652760" y="4434840"/>
            <a:ext cx="0" cy="384048"/>
          </a:xfrm>
          <a:prstGeom prst="line">
            <a:avLst/>
          </a:prstGeom>
          <a:noFill/>
          <a:ln w="15875">
            <a:solidFill>
              <a:srgbClr val="1D4ED8"/>
            </a:solidFill>
            <a:prstDash val="solid"/>
          </a:ln>
        </p:spPr>
      </p:sp>
      <p:sp>
        <p:nvSpPr>
          <p:cNvPr id="59" name="Shape 56"/>
          <p:cNvSpPr/>
          <p:nvPr/>
        </p:nvSpPr>
        <p:spPr>
          <a:xfrm>
            <a:off x="1554480" y="4818888"/>
            <a:ext cx="9098280" cy="0"/>
          </a:xfrm>
          <a:prstGeom prst="line">
            <a:avLst/>
          </a:prstGeom>
          <a:noFill/>
          <a:ln w="15875">
            <a:solidFill>
              <a:srgbClr val="1D4ED8"/>
            </a:solidFill>
            <a:prstDash val="solid"/>
          </a:ln>
        </p:spPr>
      </p:sp>
      <p:sp>
        <p:nvSpPr>
          <p:cNvPr id="60" name="Shape 57"/>
          <p:cNvSpPr/>
          <p:nvPr/>
        </p:nvSpPr>
        <p:spPr>
          <a:xfrm>
            <a:off x="1554480" y="4434840"/>
            <a:ext cx="0" cy="384048"/>
          </a:xfrm>
          <a:prstGeom prst="line">
            <a:avLst/>
          </a:prstGeom>
          <a:noFill/>
          <a:ln w="15875">
            <a:solidFill>
              <a:srgbClr val="1D4ED8"/>
            </a:solidFill>
            <a:prstDash val="solid"/>
            <a:headEnd type="triangle"/>
          </a:ln>
        </p:spPr>
      </p:sp>
      <p:sp>
        <p:nvSpPr>
          <p:cNvPr id="61" name="Shape 58"/>
          <p:cNvSpPr/>
          <p:nvPr/>
        </p:nvSpPr>
        <p:spPr>
          <a:xfrm>
            <a:off x="4206240" y="4681728"/>
            <a:ext cx="3840480" cy="274320"/>
          </a:xfrm>
          <a:prstGeom prst="roundRect">
            <a:avLst>
              <a:gd name="adj" fmla="val 26667"/>
            </a:avLst>
          </a:prstGeom>
          <a:solidFill>
            <a:srgbClr val="FFFFFF"/>
          </a:solidFill>
          <a:ln w="6350">
            <a:solidFill>
              <a:srgbClr val="FFFFFF"/>
            </a:solidFill>
            <a:prstDash val="solid"/>
          </a:ln>
        </p:spPr>
      </p:sp>
      <p:sp>
        <p:nvSpPr>
          <p:cNvPr id="62" name="Text 59"/>
          <p:cNvSpPr txBox="1"/>
          <p:nvPr/>
        </p:nvSpPr>
        <p:spPr>
          <a:xfrm>
            <a:off x="4206240" y="4681728"/>
            <a:ext cx="3840480" cy="274320"/>
          </a:xfrm>
          <a:prstGeom prst="rect">
            <a:avLst/>
          </a:prstGeom>
          <a:noFill/>
          <a:ln/>
        </p:spPr>
        <p:txBody>
          <a:bodyPr wrap="square" lIns="0" tIns="0" rIns="0" bIns="0" rtlCol="0" anchor="ctr"/>
          <a:lstStyle/>
          <a:p>
            <a:pPr algn="ctr" indent="0" marL="0">
              <a:buNone/>
            </a:pPr>
            <a:r>
              <a:rPr lang="en-US" sz="950" b="1" dirty="0">
                <a:solidFill>
                  <a:srgbClr val="1D4ED8"/>
                </a:solidFill>
                <a:latin typeface="Inter" pitchFamily="34" charset="0"/>
                <a:ea typeface="Inter" pitchFamily="34" charset="-122"/>
                <a:cs typeface="Inter" pitchFamily="34" charset="-120"/>
              </a:rPr>
              <a:t>What CJA proves sets the next diagnosis and the next move</a:t>
            </a:r>
            <a:endParaRPr lang="en-US" sz="950" dirty="0"/>
          </a:p>
        </p:txBody>
      </p:sp>
      <p:sp>
        <p:nvSpPr>
          <p:cNvPr id="63" name="Text 60"/>
          <p:cNvSpPr txBox="1"/>
          <p:nvPr/>
        </p:nvSpPr>
        <p:spPr>
          <a:xfrm>
            <a:off x="502920" y="5102352"/>
            <a:ext cx="11183112" cy="457200"/>
          </a:xfrm>
          <a:prstGeom prst="rect">
            <a:avLst/>
          </a:prstGeom>
          <a:noFill/>
          <a:ln/>
        </p:spPr>
        <p:txBody>
          <a:bodyPr wrap="square" lIns="0" tIns="0" rIns="0" bIns="0" rtlCol="0" anchor="ctr"/>
          <a:lstStyle/>
          <a:p>
            <a:pPr indent="0" marL="0">
              <a:buNone/>
            </a:pPr>
            <a:r>
              <a:rPr lang="en-US" sz="1000" b="1" dirty="0">
                <a:solidFill>
                  <a:srgbClr val="0A1F44"/>
                </a:solidFill>
                <a:latin typeface="Inter" pitchFamily="34" charset="0"/>
                <a:ea typeface="Inter" pitchFamily="34" charset="-122"/>
                <a:cs typeface="Inter" pitchFamily="34" charset="-120"/>
              </a:rPr>
              <a:t>Why it matters:  </a:t>
            </a:r>
            <a:pPr indent="0" marL="0">
              <a:buNone/>
            </a:pPr>
            <a:r>
              <a:rPr lang="en-US" sz="1000" dirty="0">
                <a:solidFill>
                  <a:srgbClr val="334155"/>
                </a:solidFill>
                <a:latin typeface="Inter" pitchFamily="34" charset="0"/>
                <a:ea typeface="Inter" pitchFamily="34" charset="-122"/>
                <a:cs typeface="Inter" pitchFamily="34" charset="-120"/>
              </a:rPr>
              <a:t>Option C alone takes 6–12 months to trust (Exhibit I). Running it as a weekly loop from day one lets Options A and B act within weeks, with C deciding every budget move.</a:t>
            </a:r>
            <a:endParaRPr lang="en-US" sz="1000" dirty="0"/>
          </a:p>
        </p:txBody>
      </p:sp>
      <p:sp>
        <p:nvSpPr>
          <p:cNvPr id="64" name="Shape 61"/>
          <p:cNvSpPr/>
          <p:nvPr/>
        </p:nvSpPr>
        <p:spPr>
          <a:xfrm>
            <a:off x="502920" y="5715000"/>
            <a:ext cx="11183112" cy="512064"/>
          </a:xfrm>
          <a:prstGeom prst="roundRect">
            <a:avLst>
              <a:gd name="adj" fmla="val 17857"/>
            </a:avLst>
          </a:prstGeom>
          <a:solidFill>
            <a:srgbClr val="EFF6FF"/>
          </a:solidFill>
          <a:ln w="6350">
            <a:solidFill>
              <a:srgbClr val="EFF6FF"/>
            </a:solidFill>
            <a:prstDash val="solid"/>
          </a:ln>
        </p:spPr>
      </p:sp>
      <p:sp>
        <p:nvSpPr>
          <p:cNvPr id="65" name="Shape 62"/>
          <p:cNvSpPr/>
          <p:nvPr/>
        </p:nvSpPr>
        <p:spPr>
          <a:xfrm>
            <a:off x="640080" y="5806440"/>
            <a:ext cx="329184" cy="329184"/>
          </a:xfrm>
          <a:prstGeom prst="ellipse">
            <a:avLst/>
          </a:prstGeom>
          <a:solidFill>
            <a:srgbClr val="1D4ED8"/>
          </a:solidFill>
          <a:ln w="6350">
            <a:solidFill>
              <a:srgbClr val="1D4ED8"/>
            </a:solidFill>
            <a:prstDash val="solid"/>
          </a:ln>
        </p:spPr>
      </p:sp>
      <p:pic>
        <p:nvPicPr>
          <p:cNvPr id="66" name="Image 1" descr="preencoded.png">    </p:cNvPr>
          <p:cNvPicPr>
            <a:picLocks noChangeAspect="1"/>
          </p:cNvPicPr>
          <p:nvPr/>
        </p:nvPicPr>
        <p:blipFill>
          <a:blip r:embed="rId2"/>
          <a:stretch>
            <a:fillRect/>
          </a:stretch>
        </p:blipFill>
        <p:spPr>
          <a:xfrm>
            <a:off x="712500" y="5878860"/>
            <a:ext cx="184343" cy="184343"/>
          </a:xfrm>
          <a:prstGeom prst="rect">
            <a:avLst/>
          </a:prstGeom>
        </p:spPr>
      </p:pic>
      <p:sp>
        <p:nvSpPr>
          <p:cNvPr id="67" name="Text 63"/>
          <p:cNvSpPr txBox="1"/>
          <p:nvPr/>
        </p:nvSpPr>
        <p:spPr>
          <a:xfrm>
            <a:off x="1097280" y="5715000"/>
            <a:ext cx="10424160" cy="512064"/>
          </a:xfrm>
          <a:prstGeom prst="rect">
            <a:avLst/>
          </a:prstGeom>
          <a:noFill/>
          <a:ln/>
        </p:spPr>
        <p:txBody>
          <a:bodyPr wrap="square" lIns="0" tIns="0" rIns="0" bIns="0" rtlCol="0" anchor="ctr"/>
          <a:lstStyle/>
          <a:p>
            <a:pPr indent="0" marL="0">
              <a:buNone/>
            </a:pPr>
            <a:r>
              <a:rPr lang="en-US" sz="1300" b="1" dirty="0">
                <a:solidFill>
                  <a:srgbClr val="0A1F44"/>
                </a:solidFill>
                <a:latin typeface="Inter" pitchFamily="34" charset="0"/>
                <a:ea typeface="Inter" pitchFamily="34" charset="-122"/>
                <a:cs typeface="Inter" pitchFamily="34" charset="-120"/>
              </a:rPr>
              <a:t>Growth and analytics share one workspace, one holdout and one decision rule</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9326880" cy="841248"/>
          </a:xfrm>
          <a:prstGeom prst="rect">
            <a:avLst/>
          </a:prstGeom>
          <a:noFill/>
          <a:ln/>
        </p:spPr>
        <p:txBody>
          <a:bodyPr wrap="square" lIns="0" tIns="0" rIns="0" bIns="0" rtlCol="0" anchor="ctr"/>
          <a:lstStyle/>
          <a:p>
            <a:pPr indent="0" marL="0">
              <a:buNone/>
            </a:pPr>
            <a:r>
              <a:rPr lang="en-US" sz="2400" b="1" dirty="0">
                <a:solidFill>
                  <a:srgbClr val="0A1F44"/>
                </a:solidFill>
                <a:latin typeface="Inter" pitchFamily="34" charset="0"/>
                <a:ea typeface="Inter" pitchFamily="34" charset="-122"/>
                <a:cs typeface="Inter" pitchFamily="34" charset="-120"/>
              </a:rPr>
              <a:t>Fourteen programs, three flagships, zero discounts</a:t>
            </a:r>
            <a:endParaRPr lang="en-US" sz="2400" dirty="0"/>
          </a:p>
        </p:txBody>
      </p:sp>
      <p:pic>
        <p:nvPicPr>
          <p:cNvPr id="3" name="Image 0" descr="/tmp/claude-0/-home-user-Quince/7efe80ae-a049-50c2-9886-98bf7ca3a04a/scratchpad/assets/quince.png">    </p:cNvPr>
          <p:cNvPicPr>
            <a:picLocks noChangeAspect="1"/>
          </p:cNvPicPr>
          <p:nvPr/>
        </p:nvPicPr>
        <p:blipFill>
          <a:blip r:embed="rId1"/>
          <a:stretch>
            <a:fillRect/>
          </a:stretch>
        </p:blipFill>
        <p:spPr>
          <a:xfrm>
            <a:off x="10236708" y="615544"/>
            <a:ext cx="777240" cy="231951"/>
          </a:xfrm>
          <a:prstGeom prst="rect">
            <a:avLst/>
          </a:prstGeom>
        </p:spPr>
      </p:pic>
      <p:sp>
        <p:nvSpPr>
          <p:cNvPr id="4" name="Shape 1"/>
          <p:cNvSpPr/>
          <p:nvPr/>
        </p:nvSpPr>
        <p:spPr>
          <a:xfrm>
            <a:off x="11155680" y="603504"/>
            <a:ext cx="530352" cy="256032"/>
          </a:xfrm>
          <a:prstGeom prst="roundRect">
            <a:avLst>
              <a:gd name="adj" fmla="val 50000"/>
            </a:avLst>
          </a:prstGeom>
          <a:solidFill>
            <a:srgbClr val="0A1F44"/>
          </a:solidFill>
          <a:ln w="6350">
            <a:solidFill>
              <a:srgbClr val="0A1F44"/>
            </a:solidFill>
            <a:prstDash val="solid"/>
          </a:ln>
        </p:spPr>
      </p:sp>
      <p:sp>
        <p:nvSpPr>
          <p:cNvPr id="5" name="Text 2"/>
          <p:cNvSpPr txBox="1"/>
          <p:nvPr/>
        </p:nvSpPr>
        <p:spPr>
          <a:xfrm>
            <a:off x="11155680" y="603504"/>
            <a:ext cx="530352"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Inter" pitchFamily="34" charset="0"/>
                <a:ea typeface="Inter" pitchFamily="34" charset="-122"/>
                <a:cs typeface="Inter" pitchFamily="34" charset="-120"/>
              </a:rPr>
              <a:t>G27</a:t>
            </a:r>
            <a:endParaRPr lang="en-US" sz="950" dirty="0"/>
          </a:p>
        </p:txBody>
      </p:sp>
      <p:sp>
        <p:nvSpPr>
          <p:cNvPr id="6" name="Shape 3"/>
          <p:cNvSpPr/>
          <p:nvPr/>
        </p:nvSpPr>
        <p:spPr>
          <a:xfrm>
            <a:off x="502920" y="6400800"/>
            <a:ext cx="11183112" cy="0"/>
          </a:xfrm>
          <a:prstGeom prst="line">
            <a:avLst/>
          </a:prstGeom>
          <a:noFill/>
          <a:ln w="9525">
            <a:solidFill>
              <a:srgbClr val="E2E8F0"/>
            </a:solidFill>
            <a:prstDash val="solid"/>
          </a:ln>
        </p:spPr>
      </p:sp>
      <p:sp>
        <p:nvSpPr>
          <p:cNvPr id="7" name="Text 4"/>
          <p:cNvSpPr txBox="1"/>
          <p:nvPr/>
        </p:nvSpPr>
        <p:spPr>
          <a:xfrm>
            <a:off x="502920" y="6464808"/>
            <a:ext cx="9418320" cy="256032"/>
          </a:xfrm>
          <a:prstGeom prst="rect">
            <a:avLst/>
          </a:prstGeom>
          <a:noFill/>
          <a:ln/>
        </p:spPr>
        <p:txBody>
          <a:bodyPr wrap="square" lIns="0" tIns="0" rIns="0" bIns="0" rtlCol="0" anchor="ctr"/>
          <a:lstStyle/>
          <a:p>
            <a:pPr indent="0" marL="0">
              <a:buNone/>
            </a:pPr>
            <a:r>
              <a:rPr lang="en-US" sz="800" dirty="0">
                <a:solidFill>
                  <a:srgbClr val="64748B"/>
                </a:solidFill>
                <a:latin typeface="Inter" pitchFamily="34" charset="0"/>
                <a:ea typeface="Inter" pitchFamily="34" charset="-122"/>
                <a:cs typeface="Inter" pitchFamily="34" charset="-120"/>
              </a:rPr>
              <a:t>Source: team strategy. Each program sits in one lever, works on one named behaviour and has a KPI CJA can read. No program uses a price cut.</a:t>
            </a:r>
            <a:endParaRPr lang="en-US" sz="800" dirty="0"/>
          </a:p>
        </p:txBody>
      </p:sp>
      <p:sp>
        <p:nvSpPr>
          <p:cNvPr id="8" name="Text 5"/>
          <p:cNvSpPr txBox="1"/>
          <p:nvPr/>
        </p:nvSpPr>
        <p:spPr>
          <a:xfrm>
            <a:off x="9966960" y="6464808"/>
            <a:ext cx="1719072" cy="256032"/>
          </a:xfrm>
          <a:prstGeom prst="rect">
            <a:avLst/>
          </a:prstGeom>
          <a:noFill/>
          <a:ln/>
        </p:spPr>
        <p:txBody>
          <a:bodyPr wrap="square" lIns="0" tIns="0" rIns="0" bIns="0" rtlCol="0" anchor="ctr"/>
          <a:lstStyle/>
          <a:p>
            <a:pPr algn="r" indent="0" marL="0">
              <a:buNone/>
            </a:pPr>
            <a:r>
              <a:rPr lang="en-US" sz="800" dirty="0">
                <a:solidFill>
                  <a:srgbClr val="64748B"/>
                </a:solidFill>
                <a:latin typeface="Inter" pitchFamily="34" charset="0"/>
                <a:ea typeface="Inter" pitchFamily="34" charset="-122"/>
                <a:cs typeface="Inter" pitchFamily="34" charset="-120"/>
              </a:rPr>
              <a:t>Team G27  ·  20</a:t>
            </a:r>
            <a:endParaRPr lang="en-US" sz="800" dirty="0"/>
          </a:p>
        </p:txBody>
      </p:sp>
      <p:sp>
        <p:nvSpPr>
          <p:cNvPr id="9" name="Shape 6"/>
          <p:cNvSpPr/>
          <p:nvPr/>
        </p:nvSpPr>
        <p:spPr>
          <a:xfrm>
            <a:off x="502920" y="1243584"/>
            <a:ext cx="3611880" cy="384048"/>
          </a:xfrm>
          <a:prstGeom prst="roundRect">
            <a:avLst>
              <a:gd name="adj" fmla="val 50000"/>
            </a:avLst>
          </a:prstGeom>
          <a:solidFill>
            <a:srgbClr val="EFF6FF"/>
          </a:solidFill>
          <a:ln w="6350">
            <a:solidFill>
              <a:srgbClr val="EFF6FF"/>
            </a:solidFill>
            <a:prstDash val="solid"/>
          </a:ln>
        </p:spPr>
      </p:sp>
      <p:sp>
        <p:nvSpPr>
          <p:cNvPr id="10" name="Text 7"/>
          <p:cNvSpPr txBox="1"/>
          <p:nvPr/>
        </p:nvSpPr>
        <p:spPr>
          <a:xfrm>
            <a:off x="502920" y="1243584"/>
            <a:ext cx="3611880" cy="384048"/>
          </a:xfrm>
          <a:prstGeom prst="rect">
            <a:avLst/>
          </a:prstGeom>
          <a:noFill/>
          <a:ln/>
        </p:spPr>
        <p:txBody>
          <a:bodyPr wrap="square" lIns="0" tIns="0" rIns="0" bIns="0" rtlCol="0" anchor="ctr"/>
          <a:lstStyle/>
          <a:p>
            <a:pPr algn="ctr" indent="0" marL="0">
              <a:buNone/>
            </a:pPr>
            <a:r>
              <a:rPr lang="en-US" sz="1200" b="1" dirty="0">
                <a:solidFill>
                  <a:srgbClr val="1D4ED8"/>
                </a:solidFill>
                <a:latin typeface="Inter" pitchFamily="34" charset="0"/>
                <a:ea typeface="Inter" pitchFamily="34" charset="-122"/>
                <a:cs typeface="Inter" pitchFamily="34" charset="-120"/>
              </a:rPr>
              <a:t>1  Capture every buyer</a:t>
            </a:r>
            <a:endParaRPr lang="en-US" sz="1200" dirty="0"/>
          </a:p>
        </p:txBody>
      </p:sp>
      <p:sp>
        <p:nvSpPr>
          <p:cNvPr id="11" name="Shape 8"/>
          <p:cNvSpPr/>
          <p:nvPr/>
        </p:nvSpPr>
        <p:spPr>
          <a:xfrm>
            <a:off x="502920" y="1755648"/>
            <a:ext cx="3611880" cy="914400"/>
          </a:xfrm>
          <a:prstGeom prst="roundRect">
            <a:avLst>
              <a:gd name="adj" fmla="val 6000"/>
            </a:avLst>
          </a:prstGeom>
          <a:solidFill>
            <a:srgbClr val="0A1F44"/>
          </a:solidFill>
          <a:ln w="6350">
            <a:solidFill>
              <a:srgbClr val="0A1F44"/>
            </a:solidFill>
            <a:prstDash val="solid"/>
          </a:ln>
        </p:spPr>
      </p:sp>
      <p:sp>
        <p:nvSpPr>
          <p:cNvPr id="12" name="Text 9"/>
          <p:cNvSpPr txBox="1"/>
          <p:nvPr/>
        </p:nvSpPr>
        <p:spPr>
          <a:xfrm>
            <a:off x="630936" y="1755648"/>
            <a:ext cx="3355848" cy="914400"/>
          </a:xfrm>
          <a:prstGeom prst="rect">
            <a:avLst/>
          </a:prstGeom>
          <a:noFill/>
          <a:ln/>
        </p:spPr>
        <p:txBody>
          <a:bodyPr wrap="square" lIns="0" tIns="0" rIns="0" bIns="0" rtlCol="0" anchor="ctr"/>
          <a:lstStyle/>
          <a:p>
            <a:pPr indent="0" marL="0">
              <a:buNone/>
            </a:pPr>
            <a:r>
              <a:rPr lang="en-US" sz="1100" b="1" dirty="0">
                <a:solidFill>
                  <a:srgbClr val="FFFFFF"/>
                </a:solidFill>
                <a:latin typeface="Inter" pitchFamily="34" charset="0"/>
                <a:ea typeface="Inter" pitchFamily="34" charset="-122"/>
                <a:cs typeface="Inter" pitchFamily="34" charset="-120"/>
              </a:rPr>
              <a:t>★ Quince Passport</a:t>
            </a:r>
            <a:endParaRPr lang="en-US" sz="1200" dirty="0"/>
          </a:p>
          <a:p>
            <a:pPr indent="0" marL="0">
              <a:buNone/>
            </a:pPr>
            <a:r>
              <a:rPr lang="en-US" sz="850" dirty="0">
                <a:solidFill>
                  <a:srgbClr val="C7D7F5"/>
                </a:solidFill>
                <a:latin typeface="Inter" pitchFamily="34" charset="0"/>
                <a:ea typeface="Inter" pitchFamily="34" charset="-122"/>
                <a:cs typeface="Inter" pitchFamily="34" charset="-120"/>
              </a:rPr>
              <a:t>A card in every box: scan to register the piece for care tips, easy exchange and restock alerts; it asks for SMS or the app</a:t>
            </a:r>
            <a:endParaRPr lang="en-US" sz="1200" dirty="0"/>
          </a:p>
        </p:txBody>
      </p:sp>
      <p:sp>
        <p:nvSpPr>
          <p:cNvPr id="13" name="Shape 10"/>
          <p:cNvSpPr/>
          <p:nvPr/>
        </p:nvSpPr>
        <p:spPr>
          <a:xfrm>
            <a:off x="502920" y="2743200"/>
            <a:ext cx="3611880" cy="880872"/>
          </a:xfrm>
          <a:prstGeom prst="roundRect">
            <a:avLst>
              <a:gd name="adj" fmla="val 6228"/>
            </a:avLst>
          </a:prstGeom>
          <a:solidFill>
            <a:srgbClr val="FFFFFF"/>
          </a:solidFill>
          <a:ln w="9525">
            <a:solidFill>
              <a:srgbClr val="E2E8F0"/>
            </a:solidFill>
            <a:prstDash val="solid"/>
          </a:ln>
        </p:spPr>
      </p:sp>
      <p:sp>
        <p:nvSpPr>
          <p:cNvPr id="14" name="Text 11"/>
          <p:cNvSpPr txBox="1"/>
          <p:nvPr/>
        </p:nvSpPr>
        <p:spPr>
          <a:xfrm>
            <a:off x="630936" y="2743200"/>
            <a:ext cx="3355848" cy="880872"/>
          </a:xfrm>
          <a:prstGeom prst="rect">
            <a:avLst/>
          </a:prstGeom>
          <a:noFill/>
          <a:ln/>
        </p:spPr>
        <p:txBody>
          <a:bodyPr wrap="square" lIns="0" tIns="0" rIns="0" bIns="0" rtlCol="0" anchor="ctr"/>
          <a:lstStyle/>
          <a:p>
            <a:pPr indent="0" marL="0">
              <a:buNone/>
            </a:pPr>
            <a:r>
              <a:rPr lang="en-US" sz="1000" b="1" dirty="0">
                <a:solidFill>
                  <a:srgbClr val="0F172A"/>
                </a:solidFill>
                <a:latin typeface="Inter" pitchFamily="34" charset="0"/>
                <a:ea typeface="Inter" pitchFamily="34" charset="-122"/>
                <a:cs typeface="Inter" pitchFamily="34" charset="-120"/>
              </a:rPr>
              <a:t>Track It in the App</a:t>
            </a:r>
            <a:endParaRPr lang="en-US" sz="1200" dirty="0"/>
          </a:p>
          <a:p>
            <a:pPr indent="0" marL="0">
              <a:buNone/>
            </a:pPr>
            <a:r>
              <a:rPr lang="en-US" sz="950" dirty="0">
                <a:solidFill>
                  <a:srgbClr val="334155"/>
                </a:solidFill>
                <a:latin typeface="Inter" pitchFamily="34" charset="0"/>
                <a:ea typeface="Inter" pitchFamily="34" charset="-122"/>
                <a:cs typeface="Inter" pitchFamily="34" charset="-120"/>
              </a:rPr>
              <a:t>Tracking opens in the app; app converts carts 27.1% vs 22.7% on web (A1)</a:t>
            </a:r>
            <a:endParaRPr lang="en-US" sz="1200" dirty="0"/>
          </a:p>
        </p:txBody>
      </p:sp>
      <p:sp>
        <p:nvSpPr>
          <p:cNvPr id="15" name="Shape 12"/>
          <p:cNvSpPr/>
          <p:nvPr/>
        </p:nvSpPr>
        <p:spPr>
          <a:xfrm>
            <a:off x="502920" y="3697224"/>
            <a:ext cx="3611880" cy="880872"/>
          </a:xfrm>
          <a:prstGeom prst="roundRect">
            <a:avLst>
              <a:gd name="adj" fmla="val 6228"/>
            </a:avLst>
          </a:prstGeom>
          <a:solidFill>
            <a:srgbClr val="FFFFFF"/>
          </a:solidFill>
          <a:ln w="9525">
            <a:solidFill>
              <a:srgbClr val="E2E8F0"/>
            </a:solidFill>
            <a:prstDash val="solid"/>
          </a:ln>
        </p:spPr>
      </p:sp>
      <p:sp>
        <p:nvSpPr>
          <p:cNvPr id="16" name="Text 13"/>
          <p:cNvSpPr txBox="1"/>
          <p:nvPr/>
        </p:nvSpPr>
        <p:spPr>
          <a:xfrm>
            <a:off x="630936" y="3697224"/>
            <a:ext cx="3355848" cy="880872"/>
          </a:xfrm>
          <a:prstGeom prst="rect">
            <a:avLst/>
          </a:prstGeom>
          <a:noFill/>
          <a:ln/>
        </p:spPr>
        <p:txBody>
          <a:bodyPr wrap="square" lIns="0" tIns="0" rIns="0" bIns="0" rtlCol="0" anchor="ctr"/>
          <a:lstStyle/>
          <a:p>
            <a:pPr indent="0" marL="0">
              <a:buNone/>
            </a:pPr>
            <a:r>
              <a:rPr lang="en-US" sz="1000" b="1" dirty="0">
                <a:solidFill>
                  <a:srgbClr val="0F172A"/>
                </a:solidFill>
                <a:latin typeface="Inter" pitchFamily="34" charset="0"/>
                <a:ea typeface="Inter" pitchFamily="34" charset="-122"/>
                <a:cs typeface="Inter" pitchFamily="34" charset="-120"/>
              </a:rPr>
              <a:t>Saved Cart</a:t>
            </a:r>
            <a:endParaRPr lang="en-US" sz="1200" dirty="0"/>
          </a:p>
          <a:p>
            <a:pPr indent="0" marL="0">
              <a:buNone/>
            </a:pPr>
            <a:r>
              <a:rPr lang="en-US" sz="950" dirty="0">
                <a:solidFill>
                  <a:srgbClr val="334155"/>
                </a:solidFill>
                <a:latin typeface="Inter" pitchFamily="34" charset="0"/>
                <a:ea typeface="Inter" pitchFamily="34" charset="-122"/>
                <a:cs typeface="Inter" pitchFamily="34" charset="-120"/>
              </a:rPr>
              <a:t>Reminders within hours of abandonment, with fit and return promises, never a discount</a:t>
            </a:r>
            <a:endParaRPr lang="en-US" sz="1200" dirty="0"/>
          </a:p>
        </p:txBody>
      </p:sp>
      <p:sp>
        <p:nvSpPr>
          <p:cNvPr id="17" name="Shape 14"/>
          <p:cNvSpPr/>
          <p:nvPr/>
        </p:nvSpPr>
        <p:spPr>
          <a:xfrm>
            <a:off x="502920" y="4651248"/>
            <a:ext cx="3611880" cy="880872"/>
          </a:xfrm>
          <a:prstGeom prst="roundRect">
            <a:avLst>
              <a:gd name="adj" fmla="val 6228"/>
            </a:avLst>
          </a:prstGeom>
          <a:solidFill>
            <a:srgbClr val="FFFFFF"/>
          </a:solidFill>
          <a:ln w="9525">
            <a:solidFill>
              <a:srgbClr val="E2E8F0"/>
            </a:solidFill>
            <a:prstDash val="solid"/>
          </a:ln>
        </p:spPr>
      </p:sp>
      <p:sp>
        <p:nvSpPr>
          <p:cNvPr id="18" name="Text 15"/>
          <p:cNvSpPr txBox="1"/>
          <p:nvPr/>
        </p:nvSpPr>
        <p:spPr>
          <a:xfrm>
            <a:off x="630936" y="4651248"/>
            <a:ext cx="3355848" cy="880872"/>
          </a:xfrm>
          <a:prstGeom prst="rect">
            <a:avLst/>
          </a:prstGeom>
          <a:noFill/>
          <a:ln/>
        </p:spPr>
        <p:txBody>
          <a:bodyPr wrap="square" lIns="0" tIns="0" rIns="0" bIns="0" rtlCol="0" anchor="ctr"/>
          <a:lstStyle/>
          <a:p>
            <a:pPr indent="0" marL="0">
              <a:buNone/>
            </a:pPr>
            <a:r>
              <a:rPr lang="en-US" sz="1000" b="1" dirty="0">
                <a:solidFill>
                  <a:srgbClr val="0F172A"/>
                </a:solidFill>
                <a:latin typeface="Inter" pitchFamily="34" charset="0"/>
                <a:ea typeface="Inter" pitchFamily="34" charset="-122"/>
                <a:cs typeface="Inter" pitchFamily="34" charset="-120"/>
              </a:rPr>
              <a:t>Restock-First Waitlist</a:t>
            </a:r>
            <a:endParaRPr lang="en-US" sz="1200" dirty="0"/>
          </a:p>
          <a:p>
            <a:pPr indent="0" marL="0">
              <a:buNone/>
            </a:pPr>
            <a:r>
              <a:rPr lang="en-US" sz="950" dirty="0">
                <a:solidFill>
                  <a:srgbClr val="334155"/>
                </a:solidFill>
                <a:latin typeface="Inter" pitchFamily="34" charset="0"/>
                <a:ea typeface="Inter" pitchFamily="34" charset="-122"/>
                <a:cs typeface="Inter" pitchFamily="34" charset="-120"/>
              </a:rPr>
              <a:t>"Text me when it's back" on real sell-outs: a reason to opt in</a:t>
            </a:r>
            <a:endParaRPr lang="en-US" sz="1200" dirty="0"/>
          </a:p>
        </p:txBody>
      </p:sp>
      <p:sp>
        <p:nvSpPr>
          <p:cNvPr id="19" name="Shape 16"/>
          <p:cNvSpPr/>
          <p:nvPr/>
        </p:nvSpPr>
        <p:spPr>
          <a:xfrm>
            <a:off x="4288536" y="1243584"/>
            <a:ext cx="3611880" cy="384048"/>
          </a:xfrm>
          <a:prstGeom prst="roundRect">
            <a:avLst>
              <a:gd name="adj" fmla="val 50000"/>
            </a:avLst>
          </a:prstGeom>
          <a:solidFill>
            <a:srgbClr val="EFF6FF"/>
          </a:solidFill>
          <a:ln w="6350">
            <a:solidFill>
              <a:srgbClr val="EFF6FF"/>
            </a:solidFill>
            <a:prstDash val="solid"/>
          </a:ln>
        </p:spPr>
      </p:sp>
      <p:sp>
        <p:nvSpPr>
          <p:cNvPr id="20" name="Text 17"/>
          <p:cNvSpPr txBox="1"/>
          <p:nvPr/>
        </p:nvSpPr>
        <p:spPr>
          <a:xfrm>
            <a:off x="4288536" y="1243584"/>
            <a:ext cx="3611880" cy="384048"/>
          </a:xfrm>
          <a:prstGeom prst="rect">
            <a:avLst/>
          </a:prstGeom>
          <a:noFill/>
          <a:ln/>
        </p:spPr>
        <p:txBody>
          <a:bodyPr wrap="square" lIns="0" tIns="0" rIns="0" bIns="0" rtlCol="0" anchor="ctr"/>
          <a:lstStyle/>
          <a:p>
            <a:pPr algn="ctr" indent="0" marL="0">
              <a:buNone/>
            </a:pPr>
            <a:r>
              <a:rPr lang="en-US" sz="1200" b="1" dirty="0">
                <a:solidFill>
                  <a:srgbClr val="1D4ED8"/>
                </a:solidFill>
                <a:latin typeface="Inter" pitchFamily="34" charset="0"/>
                <a:ea typeface="Inter" pitchFamily="34" charset="-122"/>
                <a:cs typeface="Inter" pitchFamily="34" charset="-120"/>
              </a:rPr>
              <a:t>2  Win the Golden Month</a:t>
            </a:r>
            <a:endParaRPr lang="en-US" sz="1200" dirty="0"/>
          </a:p>
        </p:txBody>
      </p:sp>
      <p:sp>
        <p:nvSpPr>
          <p:cNvPr id="21" name="Shape 18"/>
          <p:cNvSpPr/>
          <p:nvPr/>
        </p:nvSpPr>
        <p:spPr>
          <a:xfrm>
            <a:off x="4288536" y="1755648"/>
            <a:ext cx="3611880" cy="914400"/>
          </a:xfrm>
          <a:prstGeom prst="roundRect">
            <a:avLst>
              <a:gd name="adj" fmla="val 6000"/>
            </a:avLst>
          </a:prstGeom>
          <a:solidFill>
            <a:srgbClr val="0A1F44"/>
          </a:solidFill>
          <a:ln w="6350">
            <a:solidFill>
              <a:srgbClr val="0A1F44"/>
            </a:solidFill>
            <a:prstDash val="solid"/>
          </a:ln>
        </p:spPr>
      </p:sp>
      <p:sp>
        <p:nvSpPr>
          <p:cNvPr id="22" name="Text 19"/>
          <p:cNvSpPr txBox="1"/>
          <p:nvPr/>
        </p:nvSpPr>
        <p:spPr>
          <a:xfrm>
            <a:off x="4416552" y="1755648"/>
            <a:ext cx="3355848" cy="914400"/>
          </a:xfrm>
          <a:prstGeom prst="rect">
            <a:avLst/>
          </a:prstGeom>
          <a:noFill/>
          <a:ln/>
        </p:spPr>
        <p:txBody>
          <a:bodyPr wrap="square" lIns="0" tIns="0" rIns="0" bIns="0" rtlCol="0" anchor="ctr"/>
          <a:lstStyle/>
          <a:p>
            <a:pPr indent="0" marL="0">
              <a:buNone/>
            </a:pPr>
            <a:r>
              <a:rPr lang="en-US" sz="1100" b="1" dirty="0">
                <a:solidFill>
                  <a:srgbClr val="FFFFFF"/>
                </a:solidFill>
                <a:latin typeface="Inter" pitchFamily="34" charset="0"/>
                <a:ea typeface="Inter" pitchFamily="34" charset="-122"/>
                <a:cs typeface="Inter" pitchFamily="34" charset="-120"/>
              </a:rPr>
              <a:t>★ Material Journeys</a:t>
            </a:r>
            <a:endParaRPr lang="en-US" sz="1200" dirty="0"/>
          </a:p>
          <a:p>
            <a:pPr indent="0" marL="0">
              <a:buNone/>
            </a:pPr>
            <a:r>
              <a:rPr lang="en-US" sz="850" dirty="0">
                <a:solidFill>
                  <a:srgbClr val="C7D7F5"/>
                </a:solidFill>
                <a:latin typeface="Inter" pitchFamily="34" charset="0"/>
                <a:ea typeface="Inter" pitchFamily="34" charset="-122"/>
                <a:cs typeface="Inter" pitchFamily="34" charset="-120"/>
              </a:rPr>
              <a:t>Before arrival, how the material is made and how to care for it (no supplier names); by day 21, a second category (cashmere → home)</a:t>
            </a:r>
            <a:endParaRPr lang="en-US" sz="1200" dirty="0"/>
          </a:p>
        </p:txBody>
      </p:sp>
      <p:sp>
        <p:nvSpPr>
          <p:cNvPr id="23" name="Shape 20"/>
          <p:cNvSpPr/>
          <p:nvPr/>
        </p:nvSpPr>
        <p:spPr>
          <a:xfrm>
            <a:off x="4288536" y="2743200"/>
            <a:ext cx="3611880" cy="499262"/>
          </a:xfrm>
          <a:prstGeom prst="roundRect">
            <a:avLst>
              <a:gd name="adj" fmla="val 10989"/>
            </a:avLst>
          </a:prstGeom>
          <a:solidFill>
            <a:srgbClr val="FFFFFF"/>
          </a:solidFill>
          <a:ln w="9525">
            <a:solidFill>
              <a:srgbClr val="E2E8F0"/>
            </a:solidFill>
            <a:prstDash val="solid"/>
          </a:ln>
        </p:spPr>
      </p:sp>
      <p:sp>
        <p:nvSpPr>
          <p:cNvPr id="24" name="Text 21"/>
          <p:cNvSpPr txBox="1"/>
          <p:nvPr/>
        </p:nvSpPr>
        <p:spPr>
          <a:xfrm>
            <a:off x="4416552" y="2743200"/>
            <a:ext cx="3355848" cy="499262"/>
          </a:xfrm>
          <a:prstGeom prst="rect">
            <a:avLst/>
          </a:prstGeom>
          <a:noFill/>
          <a:ln/>
        </p:spPr>
        <p:txBody>
          <a:bodyPr wrap="square" lIns="0" tIns="0" rIns="0" bIns="0" rtlCol="0" anchor="ctr"/>
          <a:lstStyle/>
          <a:p>
            <a:pPr indent="0" marL="0">
              <a:buNone/>
            </a:pPr>
            <a:r>
              <a:rPr lang="en-US" sz="1000" b="1" dirty="0">
                <a:solidFill>
                  <a:srgbClr val="0F172A"/>
                </a:solidFill>
                <a:latin typeface="Inter" pitchFamily="34" charset="0"/>
                <a:ea typeface="Inter" pitchFamily="34" charset="-122"/>
                <a:cs typeface="Inter" pitchFamily="34" charset="-120"/>
              </a:rPr>
              <a:t>Care Calendar</a:t>
            </a:r>
            <a:endParaRPr lang="en-US" sz="1200" dirty="0"/>
          </a:p>
          <a:p>
            <a:pPr indent="0" marL="0">
              <a:buNone/>
            </a:pPr>
            <a:r>
              <a:rPr lang="en-US" sz="950" dirty="0">
                <a:solidFill>
                  <a:srgbClr val="334155"/>
                </a:solidFill>
                <a:latin typeface="Inter" pitchFamily="34" charset="0"/>
                <a:ea typeface="Inter" pitchFamily="34" charset="-122"/>
                <a:cs typeface="Inter" pitchFamily="34" charset="-120"/>
              </a:rPr>
              <a:t>Seasonal care reminders keep cashmere buyers in touch</a:t>
            </a:r>
            <a:endParaRPr lang="en-US" sz="1200" dirty="0"/>
          </a:p>
        </p:txBody>
      </p:sp>
      <p:sp>
        <p:nvSpPr>
          <p:cNvPr id="25" name="Shape 22"/>
          <p:cNvSpPr/>
          <p:nvPr/>
        </p:nvSpPr>
        <p:spPr>
          <a:xfrm>
            <a:off x="4288536" y="3315614"/>
            <a:ext cx="3611880" cy="499262"/>
          </a:xfrm>
          <a:prstGeom prst="roundRect">
            <a:avLst>
              <a:gd name="adj" fmla="val 10989"/>
            </a:avLst>
          </a:prstGeom>
          <a:solidFill>
            <a:srgbClr val="FFFFFF"/>
          </a:solidFill>
          <a:ln w="9525">
            <a:solidFill>
              <a:srgbClr val="E2E8F0"/>
            </a:solidFill>
            <a:prstDash val="solid"/>
          </a:ln>
        </p:spPr>
      </p:sp>
      <p:sp>
        <p:nvSpPr>
          <p:cNvPr id="26" name="Text 23"/>
          <p:cNvSpPr txBox="1"/>
          <p:nvPr/>
        </p:nvSpPr>
        <p:spPr>
          <a:xfrm>
            <a:off x="4416552" y="3315614"/>
            <a:ext cx="3355848" cy="499262"/>
          </a:xfrm>
          <a:prstGeom prst="rect">
            <a:avLst/>
          </a:prstGeom>
          <a:noFill/>
          <a:ln/>
        </p:spPr>
        <p:txBody>
          <a:bodyPr wrap="square" lIns="0" tIns="0" rIns="0" bIns="0" rtlCol="0" anchor="ctr"/>
          <a:lstStyle/>
          <a:p>
            <a:pPr indent="0" marL="0">
              <a:buNone/>
            </a:pPr>
            <a:r>
              <a:rPr lang="en-US" sz="1000" b="1" dirty="0">
                <a:solidFill>
                  <a:srgbClr val="0F172A"/>
                </a:solidFill>
                <a:latin typeface="Inter" pitchFamily="34" charset="0"/>
                <a:ea typeface="Inter" pitchFamily="34" charset="-122"/>
                <a:cs typeface="Inter" pitchFamily="34" charset="-120"/>
              </a:rPr>
              <a:t>Gift Ledger</a:t>
            </a:r>
            <a:endParaRPr lang="en-US" sz="1200" dirty="0"/>
          </a:p>
          <a:p>
            <a:pPr indent="0" marL="0">
              <a:buNone/>
            </a:pPr>
            <a:r>
              <a:rPr lang="en-US" sz="950" dirty="0">
                <a:solidFill>
                  <a:srgbClr val="334155"/>
                </a:solidFill>
                <a:latin typeface="Inter" pitchFamily="34" charset="0"/>
                <a:ea typeface="Inter" pitchFamily="34" charset="-122"/>
                <a:cs typeface="Inter" pitchFamily="34" charset="-120"/>
              </a:rPr>
              <a:t>Customers save gift dates; picks arrive 14 days before</a:t>
            </a:r>
            <a:endParaRPr lang="en-US" sz="1200" dirty="0"/>
          </a:p>
        </p:txBody>
      </p:sp>
      <p:sp>
        <p:nvSpPr>
          <p:cNvPr id="27" name="Shape 24"/>
          <p:cNvSpPr/>
          <p:nvPr/>
        </p:nvSpPr>
        <p:spPr>
          <a:xfrm>
            <a:off x="4288536" y="3888029"/>
            <a:ext cx="3611880" cy="499262"/>
          </a:xfrm>
          <a:prstGeom prst="roundRect">
            <a:avLst>
              <a:gd name="adj" fmla="val 10989"/>
            </a:avLst>
          </a:prstGeom>
          <a:solidFill>
            <a:srgbClr val="FFFFFF"/>
          </a:solidFill>
          <a:ln w="9525">
            <a:solidFill>
              <a:srgbClr val="E2E8F0"/>
            </a:solidFill>
            <a:prstDash val="solid"/>
          </a:ln>
        </p:spPr>
      </p:sp>
      <p:sp>
        <p:nvSpPr>
          <p:cNvPr id="28" name="Text 25"/>
          <p:cNvSpPr txBox="1"/>
          <p:nvPr/>
        </p:nvSpPr>
        <p:spPr>
          <a:xfrm>
            <a:off x="4416552" y="3888029"/>
            <a:ext cx="3355848" cy="499262"/>
          </a:xfrm>
          <a:prstGeom prst="rect">
            <a:avLst/>
          </a:prstGeom>
          <a:noFill/>
          <a:ln/>
        </p:spPr>
        <p:txBody>
          <a:bodyPr wrap="square" lIns="0" tIns="0" rIns="0" bIns="0" rtlCol="0" anchor="ctr"/>
          <a:lstStyle/>
          <a:p>
            <a:pPr indent="0" marL="0">
              <a:buNone/>
            </a:pPr>
            <a:r>
              <a:rPr lang="en-US" sz="1000" b="1" dirty="0">
                <a:solidFill>
                  <a:srgbClr val="0F172A"/>
                </a:solidFill>
                <a:latin typeface="Inter" pitchFamily="34" charset="0"/>
                <a:ea typeface="Inter" pitchFamily="34" charset="-122"/>
                <a:cs typeface="Inter" pitchFamily="34" charset="-120"/>
              </a:rPr>
              <a:t>Quince Insider</a:t>
            </a:r>
            <a:endParaRPr lang="en-US" sz="1200" dirty="0"/>
          </a:p>
          <a:p>
            <a:pPr indent="0" marL="0">
              <a:buNone/>
            </a:pPr>
            <a:r>
              <a:rPr lang="en-US" sz="950" dirty="0">
                <a:solidFill>
                  <a:srgbClr val="334155"/>
                </a:solidFill>
                <a:latin typeface="Inter" pitchFamily="34" charset="0"/>
                <a:ea typeface="Inter" pitchFamily="34" charset="-122"/>
                <a:cs typeface="Inter" pitchFamily="34" charset="-120"/>
              </a:rPr>
              <a:t>Early access earned by engagement, not spend</a:t>
            </a:r>
            <a:endParaRPr lang="en-US" sz="1200" dirty="0"/>
          </a:p>
        </p:txBody>
      </p:sp>
      <p:sp>
        <p:nvSpPr>
          <p:cNvPr id="29" name="Shape 26"/>
          <p:cNvSpPr/>
          <p:nvPr/>
        </p:nvSpPr>
        <p:spPr>
          <a:xfrm>
            <a:off x="4288536" y="4460443"/>
            <a:ext cx="3611880" cy="499262"/>
          </a:xfrm>
          <a:prstGeom prst="roundRect">
            <a:avLst>
              <a:gd name="adj" fmla="val 10989"/>
            </a:avLst>
          </a:prstGeom>
          <a:solidFill>
            <a:srgbClr val="FFFFFF"/>
          </a:solidFill>
          <a:ln w="9525">
            <a:solidFill>
              <a:srgbClr val="E2E8F0"/>
            </a:solidFill>
            <a:prstDash val="solid"/>
          </a:ln>
        </p:spPr>
      </p:sp>
      <p:sp>
        <p:nvSpPr>
          <p:cNvPr id="30" name="Text 27"/>
          <p:cNvSpPr txBox="1"/>
          <p:nvPr/>
        </p:nvSpPr>
        <p:spPr>
          <a:xfrm>
            <a:off x="4416552" y="4460443"/>
            <a:ext cx="3355848" cy="499262"/>
          </a:xfrm>
          <a:prstGeom prst="rect">
            <a:avLst/>
          </a:prstGeom>
          <a:noFill/>
          <a:ln/>
        </p:spPr>
        <p:txBody>
          <a:bodyPr wrap="square" lIns="0" tIns="0" rIns="0" bIns="0" rtlCol="0" anchor="ctr"/>
          <a:lstStyle/>
          <a:p>
            <a:pPr indent="0" marL="0">
              <a:buNone/>
            </a:pPr>
            <a:r>
              <a:rPr lang="en-US" sz="1000" b="1" dirty="0">
                <a:solidFill>
                  <a:srgbClr val="0F172A"/>
                </a:solidFill>
                <a:latin typeface="Inter" pitchFamily="34" charset="0"/>
                <a:ea typeface="Inter" pitchFamily="34" charset="-122"/>
                <a:cs typeface="Inter" pitchFamily="34" charset="-120"/>
              </a:rPr>
              <a:t>Beauty Refill</a:t>
            </a:r>
            <a:endParaRPr lang="en-US" sz="1200" dirty="0"/>
          </a:p>
          <a:p>
            <a:pPr indent="0" marL="0">
              <a:buNone/>
            </a:pPr>
            <a:r>
              <a:rPr lang="en-US" sz="950" dirty="0">
                <a:solidFill>
                  <a:srgbClr val="334155"/>
                </a:solidFill>
                <a:latin typeface="Inter" pitchFamily="34" charset="0"/>
                <a:ea typeface="Inter" pitchFamily="34" charset="-122"/>
                <a:cs typeface="Inter" pitchFamily="34" charset="-120"/>
              </a:rPr>
              <a:t>Refill reminders timed to each product's use cycle</a:t>
            </a:r>
            <a:endParaRPr lang="en-US" sz="1200" dirty="0"/>
          </a:p>
        </p:txBody>
      </p:sp>
      <p:sp>
        <p:nvSpPr>
          <p:cNvPr id="31" name="Shape 28"/>
          <p:cNvSpPr/>
          <p:nvPr/>
        </p:nvSpPr>
        <p:spPr>
          <a:xfrm>
            <a:off x="4288536" y="5032858"/>
            <a:ext cx="3611880" cy="499262"/>
          </a:xfrm>
          <a:prstGeom prst="roundRect">
            <a:avLst>
              <a:gd name="adj" fmla="val 10989"/>
            </a:avLst>
          </a:prstGeom>
          <a:solidFill>
            <a:srgbClr val="FFFFFF"/>
          </a:solidFill>
          <a:ln w="9525">
            <a:solidFill>
              <a:srgbClr val="E2E8F0"/>
            </a:solidFill>
            <a:prstDash val="solid"/>
          </a:ln>
        </p:spPr>
      </p:sp>
      <p:sp>
        <p:nvSpPr>
          <p:cNvPr id="32" name="Text 29"/>
          <p:cNvSpPr txBox="1"/>
          <p:nvPr/>
        </p:nvSpPr>
        <p:spPr>
          <a:xfrm>
            <a:off x="4416552" y="5032858"/>
            <a:ext cx="3355848" cy="499262"/>
          </a:xfrm>
          <a:prstGeom prst="rect">
            <a:avLst/>
          </a:prstGeom>
          <a:noFill/>
          <a:ln/>
        </p:spPr>
        <p:txBody>
          <a:bodyPr wrap="square" lIns="0" tIns="0" rIns="0" bIns="0" rtlCol="0" anchor="ctr"/>
          <a:lstStyle/>
          <a:p>
            <a:pPr indent="0" marL="0">
              <a:buNone/>
            </a:pPr>
            <a:r>
              <a:rPr lang="en-US" sz="1000" b="1" dirty="0">
                <a:solidFill>
                  <a:srgbClr val="0F172A"/>
                </a:solidFill>
                <a:latin typeface="Inter" pitchFamily="34" charset="0"/>
                <a:ea typeface="Inter" pitchFamily="34" charset="-122"/>
                <a:cs typeface="Inter" pitchFamily="34" charset="-120"/>
              </a:rPr>
              <a:t>Cashmere Second Life</a:t>
            </a:r>
            <a:endParaRPr lang="en-US" sz="1200" dirty="0"/>
          </a:p>
          <a:p>
            <a:pPr indent="0" marL="0">
              <a:buNone/>
            </a:pPr>
            <a:r>
              <a:rPr lang="en-US" sz="950" dirty="0">
                <a:solidFill>
                  <a:srgbClr val="334155"/>
                </a:solidFill>
                <a:latin typeface="Inter" pitchFamily="34" charset="0"/>
                <a:ea typeface="Inter" pitchFamily="34" charset="-122"/>
                <a:cs typeface="Inter" pitchFamily="34" charset="-120"/>
              </a:rPr>
              <a:t>Take-back for recycling, rewarded with early access</a:t>
            </a:r>
            <a:endParaRPr lang="en-US" sz="1200" dirty="0"/>
          </a:p>
        </p:txBody>
      </p:sp>
      <p:sp>
        <p:nvSpPr>
          <p:cNvPr id="33" name="Shape 30"/>
          <p:cNvSpPr/>
          <p:nvPr/>
        </p:nvSpPr>
        <p:spPr>
          <a:xfrm>
            <a:off x="8074152" y="1243584"/>
            <a:ext cx="3611880" cy="384048"/>
          </a:xfrm>
          <a:prstGeom prst="roundRect">
            <a:avLst>
              <a:gd name="adj" fmla="val 50000"/>
            </a:avLst>
          </a:prstGeom>
          <a:solidFill>
            <a:srgbClr val="EFF6FF"/>
          </a:solidFill>
          <a:ln w="6350">
            <a:solidFill>
              <a:srgbClr val="EFF6FF"/>
            </a:solidFill>
            <a:prstDash val="solid"/>
          </a:ln>
        </p:spPr>
      </p:sp>
      <p:sp>
        <p:nvSpPr>
          <p:cNvPr id="34" name="Text 31"/>
          <p:cNvSpPr txBox="1"/>
          <p:nvPr/>
        </p:nvSpPr>
        <p:spPr>
          <a:xfrm>
            <a:off x="8074152" y="1243584"/>
            <a:ext cx="3611880" cy="384048"/>
          </a:xfrm>
          <a:prstGeom prst="rect">
            <a:avLst/>
          </a:prstGeom>
          <a:noFill/>
          <a:ln/>
        </p:spPr>
        <p:txBody>
          <a:bodyPr wrap="square" lIns="0" tIns="0" rIns="0" bIns="0" rtlCol="0" anchor="ctr"/>
          <a:lstStyle/>
          <a:p>
            <a:pPr algn="ctr" indent="0" marL="0">
              <a:buNone/>
            </a:pPr>
            <a:r>
              <a:rPr lang="en-US" sz="1200" b="1" dirty="0">
                <a:solidFill>
                  <a:srgbClr val="1D4ED8"/>
                </a:solidFill>
                <a:latin typeface="Inter" pitchFamily="34" charset="0"/>
                <a:ea typeface="Inter" pitchFamily="34" charset="-122"/>
                <a:cs typeface="Inter" pitchFamily="34" charset="-120"/>
              </a:rPr>
              <a:t>3  Never pay twice</a:t>
            </a:r>
            <a:endParaRPr lang="en-US" sz="1200" dirty="0"/>
          </a:p>
        </p:txBody>
      </p:sp>
      <p:sp>
        <p:nvSpPr>
          <p:cNvPr id="35" name="Shape 32"/>
          <p:cNvSpPr/>
          <p:nvPr/>
        </p:nvSpPr>
        <p:spPr>
          <a:xfrm>
            <a:off x="8074152" y="1755648"/>
            <a:ext cx="3611880" cy="914400"/>
          </a:xfrm>
          <a:prstGeom prst="roundRect">
            <a:avLst>
              <a:gd name="adj" fmla="val 6000"/>
            </a:avLst>
          </a:prstGeom>
          <a:solidFill>
            <a:srgbClr val="0A1F44"/>
          </a:solidFill>
          <a:ln w="6350">
            <a:solidFill>
              <a:srgbClr val="0A1F44"/>
            </a:solidFill>
            <a:prstDash val="solid"/>
          </a:ln>
        </p:spPr>
      </p:sp>
      <p:sp>
        <p:nvSpPr>
          <p:cNvPr id="36" name="Text 33"/>
          <p:cNvSpPr txBox="1"/>
          <p:nvPr/>
        </p:nvSpPr>
        <p:spPr>
          <a:xfrm>
            <a:off x="8202168" y="1755648"/>
            <a:ext cx="3355848" cy="914400"/>
          </a:xfrm>
          <a:prstGeom prst="rect">
            <a:avLst/>
          </a:prstGeom>
          <a:noFill/>
          <a:ln/>
        </p:spPr>
        <p:txBody>
          <a:bodyPr wrap="square" lIns="0" tIns="0" rIns="0" bIns="0" rtlCol="0" anchor="ctr"/>
          <a:lstStyle/>
          <a:p>
            <a:pPr indent="0" marL="0">
              <a:buNone/>
            </a:pPr>
            <a:r>
              <a:rPr lang="en-US" sz="1100" b="1" dirty="0">
                <a:solidFill>
                  <a:srgbClr val="FFFFFF"/>
                </a:solidFill>
                <a:latin typeface="Inter" pitchFamily="34" charset="0"/>
                <a:ea typeface="Inter" pitchFamily="34" charset="-122"/>
                <a:cs typeface="Inter" pitchFamily="34" charset="-120"/>
              </a:rPr>
              <a:t>★ Never Pay Twice Engine</a:t>
            </a:r>
            <a:endParaRPr lang="en-US" sz="1200" dirty="0"/>
          </a:p>
          <a:p>
            <a:pPr indent="0" marL="0">
              <a:buNone/>
            </a:pPr>
            <a:r>
              <a:rPr lang="en-US" sz="850" dirty="0">
                <a:solidFill>
                  <a:srgbClr val="C7D7F5"/>
                </a:solidFill>
                <a:latin typeface="Inter" pitchFamily="34" charset="0"/>
                <a:ea typeface="Inter" pitchFamily="34" charset="-122"/>
                <a:cs typeface="Inter" pitchFamily="34" charset="-120"/>
              </a:rPr>
              <a:t>CJA suppression lists, synced daily to Meta, Google and TikTok, remove recent and owned-reachable buyers from paid retargeting</a:t>
            </a:r>
            <a:endParaRPr lang="en-US" sz="1200" dirty="0"/>
          </a:p>
        </p:txBody>
      </p:sp>
      <p:sp>
        <p:nvSpPr>
          <p:cNvPr id="37" name="Shape 34"/>
          <p:cNvSpPr/>
          <p:nvPr/>
        </p:nvSpPr>
        <p:spPr>
          <a:xfrm>
            <a:off x="8074152" y="2743200"/>
            <a:ext cx="3611880" cy="880872"/>
          </a:xfrm>
          <a:prstGeom prst="roundRect">
            <a:avLst>
              <a:gd name="adj" fmla="val 6228"/>
            </a:avLst>
          </a:prstGeom>
          <a:solidFill>
            <a:srgbClr val="FFFFFF"/>
          </a:solidFill>
          <a:ln w="9525">
            <a:solidFill>
              <a:srgbClr val="E2E8F0"/>
            </a:solidFill>
            <a:prstDash val="solid"/>
          </a:ln>
        </p:spPr>
      </p:sp>
      <p:sp>
        <p:nvSpPr>
          <p:cNvPr id="38" name="Text 35"/>
          <p:cNvSpPr txBox="1"/>
          <p:nvPr/>
        </p:nvSpPr>
        <p:spPr>
          <a:xfrm>
            <a:off x="8202168" y="2743200"/>
            <a:ext cx="3355848" cy="880872"/>
          </a:xfrm>
          <a:prstGeom prst="rect">
            <a:avLst/>
          </a:prstGeom>
          <a:noFill/>
          <a:ln/>
        </p:spPr>
        <p:txBody>
          <a:bodyPr wrap="square" lIns="0" tIns="0" rIns="0" bIns="0" rtlCol="0" anchor="ctr"/>
          <a:lstStyle/>
          <a:p>
            <a:pPr indent="0" marL="0">
              <a:buNone/>
            </a:pPr>
            <a:r>
              <a:rPr lang="en-US" sz="1000" b="1" dirty="0">
                <a:solidFill>
                  <a:srgbClr val="0F172A"/>
                </a:solidFill>
                <a:latin typeface="Inter" pitchFamily="34" charset="0"/>
                <a:ea typeface="Inter" pitchFamily="34" charset="-122"/>
                <a:cs typeface="Inter" pitchFamily="34" charset="-120"/>
              </a:rPr>
              <a:t>Loyalist Lookalikes</a:t>
            </a:r>
            <a:endParaRPr lang="en-US" sz="1200" dirty="0"/>
          </a:p>
          <a:p>
            <a:pPr indent="0" marL="0">
              <a:buNone/>
            </a:pPr>
            <a:r>
              <a:rPr lang="en-US" sz="950" dirty="0">
                <a:solidFill>
                  <a:srgbClr val="334155"/>
                </a:solidFill>
                <a:latin typeface="Inter" pitchFamily="34" charset="0"/>
                <a:ea typeface="Inter" pitchFamily="34" charset="-122"/>
                <a:cs typeface="Inter" pitchFamily="34" charset="-120"/>
              </a:rPr>
              <a:t>Prospecting seeded on repeat buyers, not one-time buyers</a:t>
            </a:r>
            <a:endParaRPr lang="en-US" sz="1200" dirty="0"/>
          </a:p>
        </p:txBody>
      </p:sp>
      <p:sp>
        <p:nvSpPr>
          <p:cNvPr id="39" name="Shape 36"/>
          <p:cNvSpPr/>
          <p:nvPr/>
        </p:nvSpPr>
        <p:spPr>
          <a:xfrm>
            <a:off x="8074152" y="3697224"/>
            <a:ext cx="3611880" cy="880872"/>
          </a:xfrm>
          <a:prstGeom prst="roundRect">
            <a:avLst>
              <a:gd name="adj" fmla="val 6228"/>
            </a:avLst>
          </a:prstGeom>
          <a:solidFill>
            <a:srgbClr val="FFFFFF"/>
          </a:solidFill>
          <a:ln w="9525">
            <a:solidFill>
              <a:srgbClr val="E2E8F0"/>
            </a:solidFill>
            <a:prstDash val="solid"/>
          </a:ln>
        </p:spPr>
      </p:sp>
      <p:sp>
        <p:nvSpPr>
          <p:cNvPr id="40" name="Text 37"/>
          <p:cNvSpPr txBox="1"/>
          <p:nvPr/>
        </p:nvSpPr>
        <p:spPr>
          <a:xfrm>
            <a:off x="8202168" y="3697224"/>
            <a:ext cx="3355848" cy="880872"/>
          </a:xfrm>
          <a:prstGeom prst="rect">
            <a:avLst/>
          </a:prstGeom>
          <a:noFill/>
          <a:ln/>
        </p:spPr>
        <p:txBody>
          <a:bodyPr wrap="square" lIns="0" tIns="0" rIns="0" bIns="0" rtlCol="0" anchor="ctr"/>
          <a:lstStyle/>
          <a:p>
            <a:pPr indent="0" marL="0">
              <a:buNone/>
            </a:pPr>
            <a:r>
              <a:rPr lang="en-US" sz="1000" b="1" dirty="0">
                <a:solidFill>
                  <a:srgbClr val="0F172A"/>
                </a:solidFill>
                <a:latin typeface="Inter" pitchFamily="34" charset="0"/>
                <a:ea typeface="Inter" pitchFamily="34" charset="-122"/>
                <a:cs typeface="Inter" pitchFamily="34" charset="-120"/>
              </a:rPr>
              <a:t>Proof Creators</a:t>
            </a:r>
            <a:endParaRPr lang="en-US" sz="1200" dirty="0"/>
          </a:p>
          <a:p>
            <a:pPr indent="0" marL="0">
              <a:buNone/>
            </a:pPr>
            <a:r>
              <a:rPr lang="en-US" sz="950" dirty="0">
                <a:solidFill>
                  <a:srgbClr val="334155"/>
                </a:solidFill>
                <a:latin typeface="Inter" pitchFamily="34" charset="0"/>
                <a:ea typeface="Inter" pitchFamily="34" charset="-122"/>
                <a:cs typeface="Inter" pitchFamily="34" charset="-120"/>
              </a:rPr>
              <a:t>Wear-tests and fabric close-ups instead of discount codes</a:t>
            </a:r>
            <a:endParaRPr lang="en-US" sz="1200" dirty="0"/>
          </a:p>
        </p:txBody>
      </p:sp>
      <p:sp>
        <p:nvSpPr>
          <p:cNvPr id="41" name="Shape 38"/>
          <p:cNvSpPr/>
          <p:nvPr/>
        </p:nvSpPr>
        <p:spPr>
          <a:xfrm>
            <a:off x="8074152" y="4651248"/>
            <a:ext cx="3611880" cy="880872"/>
          </a:xfrm>
          <a:prstGeom prst="roundRect">
            <a:avLst>
              <a:gd name="adj" fmla="val 6228"/>
            </a:avLst>
          </a:prstGeom>
          <a:solidFill>
            <a:srgbClr val="FFFFFF"/>
          </a:solidFill>
          <a:ln w="9525">
            <a:solidFill>
              <a:srgbClr val="E2E8F0"/>
            </a:solidFill>
            <a:prstDash val="solid"/>
          </a:ln>
        </p:spPr>
      </p:sp>
      <p:sp>
        <p:nvSpPr>
          <p:cNvPr id="42" name="Text 39"/>
          <p:cNvSpPr txBox="1"/>
          <p:nvPr/>
        </p:nvSpPr>
        <p:spPr>
          <a:xfrm>
            <a:off x="8202168" y="4651248"/>
            <a:ext cx="3355848" cy="880872"/>
          </a:xfrm>
          <a:prstGeom prst="rect">
            <a:avLst/>
          </a:prstGeom>
          <a:noFill/>
          <a:ln/>
        </p:spPr>
        <p:txBody>
          <a:bodyPr wrap="square" lIns="0" tIns="0" rIns="0" bIns="0" rtlCol="0" anchor="ctr"/>
          <a:lstStyle/>
          <a:p>
            <a:pPr indent="0" marL="0">
              <a:buNone/>
            </a:pPr>
            <a:r>
              <a:rPr lang="en-US" sz="1000" b="1" dirty="0">
                <a:solidFill>
                  <a:srgbClr val="0F172A"/>
                </a:solidFill>
                <a:latin typeface="Inter" pitchFamily="34" charset="0"/>
                <a:ea typeface="Inter" pitchFamily="34" charset="-122"/>
                <a:cs typeface="Inter" pitchFamily="34" charset="-120"/>
              </a:rPr>
              <a:t>The Fitting Room</a:t>
            </a:r>
            <a:endParaRPr lang="en-US" sz="1200" dirty="0"/>
          </a:p>
          <a:p>
            <a:pPr indent="0" marL="0">
              <a:buNone/>
            </a:pPr>
            <a:r>
              <a:rPr lang="en-US" sz="950" dirty="0">
                <a:solidFill>
                  <a:srgbClr val="334155"/>
                </a:solidFill>
                <a:latin typeface="Inter" pitchFamily="34" charset="0"/>
                <a:ea typeface="Inter" pitchFamily="34" charset="-122"/>
                <a:cs typeface="Inter" pitchFamily="34" charset="-120"/>
              </a:rPr>
              <a:t>Members-only pop-up for app users, one metro, one season: try fabrics in person; asset-light, no store</a:t>
            </a:r>
            <a:endParaRPr lang="en-US" sz="1200" dirty="0"/>
          </a:p>
        </p:txBody>
      </p:sp>
      <p:sp>
        <p:nvSpPr>
          <p:cNvPr id="43" name="Text 40"/>
          <p:cNvSpPr txBox="1"/>
          <p:nvPr/>
        </p:nvSpPr>
        <p:spPr>
          <a:xfrm>
            <a:off x="502920" y="5760720"/>
            <a:ext cx="3657600" cy="411480"/>
          </a:xfrm>
          <a:prstGeom prst="rect">
            <a:avLst/>
          </a:prstGeom>
          <a:noFill/>
          <a:ln/>
        </p:spPr>
        <p:txBody>
          <a:bodyPr wrap="square" lIns="0" tIns="0" rIns="0" bIns="0" rtlCol="0" anchor="ctr"/>
          <a:lstStyle/>
          <a:p>
            <a:pPr indent="0" marL="0">
              <a:buNone/>
            </a:pPr>
            <a:r>
              <a:rPr lang="en-US" sz="1800" b="1" dirty="0">
                <a:solidFill>
                  <a:srgbClr val="1D4ED8"/>
                </a:solidFill>
                <a:latin typeface="Inter" pitchFamily="34" charset="0"/>
                <a:ea typeface="Inter" pitchFamily="34" charset="-122"/>
                <a:cs typeface="Inter" pitchFamily="34" charset="-120"/>
              </a:rPr>
              <a:t>0  </a:t>
            </a:r>
            <a:pPr indent="0" marL="0">
              <a:buNone/>
            </a:pPr>
            <a:r>
              <a:rPr lang="en-US" sz="1100" dirty="0">
                <a:solidFill>
                  <a:srgbClr val="64748B"/>
                </a:solidFill>
                <a:latin typeface="Inter" pitchFamily="34" charset="0"/>
                <a:ea typeface="Inter" pitchFamily="34" charset="-122"/>
                <a:cs typeface="Inter" pitchFamily="34" charset="-120"/>
              </a:rPr>
              <a:t>discounts</a:t>
            </a:r>
            <a:endParaRPr lang="en-US" sz="1200" dirty="0"/>
          </a:p>
        </p:txBody>
      </p:sp>
      <p:sp>
        <p:nvSpPr>
          <p:cNvPr id="44" name="Text 41"/>
          <p:cNvSpPr txBox="1"/>
          <p:nvPr/>
        </p:nvSpPr>
        <p:spPr>
          <a:xfrm>
            <a:off x="4251960" y="5760720"/>
            <a:ext cx="3657600" cy="411480"/>
          </a:xfrm>
          <a:prstGeom prst="rect">
            <a:avLst/>
          </a:prstGeom>
          <a:noFill/>
          <a:ln/>
        </p:spPr>
        <p:txBody>
          <a:bodyPr wrap="square" lIns="0" tIns="0" rIns="0" bIns="0" rtlCol="0" anchor="ctr"/>
          <a:lstStyle/>
          <a:p>
            <a:pPr indent="0" marL="0">
              <a:buNone/>
            </a:pPr>
            <a:r>
              <a:rPr lang="en-US" sz="1800" b="1" dirty="0">
                <a:solidFill>
                  <a:srgbClr val="1D4ED8"/>
                </a:solidFill>
                <a:latin typeface="Inter" pitchFamily="34" charset="0"/>
                <a:ea typeface="Inter" pitchFamily="34" charset="-122"/>
                <a:cs typeface="Inter" pitchFamily="34" charset="-120"/>
              </a:rPr>
              <a:t>14  </a:t>
            </a:r>
            <a:pPr indent="0" marL="0">
              <a:buNone/>
            </a:pPr>
            <a:r>
              <a:rPr lang="en-US" sz="1100" dirty="0">
                <a:solidFill>
                  <a:srgbClr val="64748B"/>
                </a:solidFill>
                <a:latin typeface="Inter" pitchFamily="34" charset="0"/>
                <a:ea typeface="Inter" pitchFamily="34" charset="-122"/>
                <a:cs typeface="Inter" pitchFamily="34" charset="-120"/>
              </a:rPr>
              <a:t>programs tested against a holdout</a:t>
            </a:r>
            <a:endParaRPr lang="en-US" sz="1200" dirty="0"/>
          </a:p>
        </p:txBody>
      </p:sp>
      <p:sp>
        <p:nvSpPr>
          <p:cNvPr id="45" name="Text 42"/>
          <p:cNvSpPr txBox="1"/>
          <p:nvPr/>
        </p:nvSpPr>
        <p:spPr>
          <a:xfrm>
            <a:off x="8001000" y="5760720"/>
            <a:ext cx="3657600" cy="411480"/>
          </a:xfrm>
          <a:prstGeom prst="rect">
            <a:avLst/>
          </a:prstGeom>
          <a:noFill/>
          <a:ln/>
        </p:spPr>
        <p:txBody>
          <a:bodyPr wrap="square" lIns="0" tIns="0" rIns="0" bIns="0" rtlCol="0" anchor="ctr"/>
          <a:lstStyle/>
          <a:p>
            <a:pPr indent="0" marL="0">
              <a:buNone/>
            </a:pPr>
            <a:r>
              <a:rPr lang="en-US" sz="1800" b="1" dirty="0">
                <a:solidFill>
                  <a:srgbClr val="1D4ED8"/>
                </a:solidFill>
                <a:latin typeface="Inter" pitchFamily="34" charset="0"/>
                <a:ea typeface="Inter" pitchFamily="34" charset="-122"/>
                <a:cs typeface="Inter" pitchFamily="34" charset="-120"/>
              </a:rPr>
              <a:t>$0  </a:t>
            </a:r>
            <a:pPr indent="0" marL="0">
              <a:buNone/>
            </a:pPr>
            <a:r>
              <a:rPr lang="en-US" sz="1100" dirty="0">
                <a:solidFill>
                  <a:srgbClr val="64748B"/>
                </a:solidFill>
                <a:latin typeface="Inter" pitchFamily="34" charset="0"/>
                <a:ea typeface="Inter" pitchFamily="34" charset="-122"/>
                <a:cs typeface="Inter" pitchFamily="34" charset="-120"/>
              </a:rPr>
              <a:t>new budget</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9326880" cy="841248"/>
          </a:xfrm>
          <a:prstGeom prst="rect">
            <a:avLst/>
          </a:prstGeom>
          <a:noFill/>
          <a:ln/>
        </p:spPr>
        <p:txBody>
          <a:bodyPr wrap="square" lIns="0" tIns="0" rIns="0" bIns="0" rtlCol="0" anchor="ctr"/>
          <a:lstStyle/>
          <a:p>
            <a:pPr indent="0" marL="0">
              <a:buNone/>
            </a:pPr>
            <a:r>
              <a:rPr lang="en-US" sz="2400" b="1" dirty="0">
                <a:solidFill>
                  <a:srgbClr val="0A1F44"/>
                </a:solidFill>
                <a:latin typeface="Inter" pitchFamily="34" charset="0"/>
                <a:ea typeface="Inter" pitchFamily="34" charset="-122"/>
                <a:cs typeface="Inter" pitchFamily="34" charset="-120"/>
              </a:rPr>
              <a:t>How the fixed $120M moves from rented to owned</a:t>
            </a:r>
            <a:endParaRPr lang="en-US" sz="2400" dirty="0"/>
          </a:p>
        </p:txBody>
      </p:sp>
      <p:pic>
        <p:nvPicPr>
          <p:cNvPr id="3" name="Image 0" descr="/tmp/claude-0/-home-user-Quince/7efe80ae-a049-50c2-9886-98bf7ca3a04a/scratchpad/assets/quince.png">    </p:cNvPr>
          <p:cNvPicPr>
            <a:picLocks noChangeAspect="1"/>
          </p:cNvPicPr>
          <p:nvPr/>
        </p:nvPicPr>
        <p:blipFill>
          <a:blip r:embed="rId1"/>
          <a:stretch>
            <a:fillRect/>
          </a:stretch>
        </p:blipFill>
        <p:spPr>
          <a:xfrm>
            <a:off x="10236708" y="615544"/>
            <a:ext cx="777240" cy="231951"/>
          </a:xfrm>
          <a:prstGeom prst="rect">
            <a:avLst/>
          </a:prstGeom>
        </p:spPr>
      </p:pic>
      <p:sp>
        <p:nvSpPr>
          <p:cNvPr id="4" name="Shape 1"/>
          <p:cNvSpPr/>
          <p:nvPr/>
        </p:nvSpPr>
        <p:spPr>
          <a:xfrm>
            <a:off x="11155680" y="603504"/>
            <a:ext cx="530352" cy="256032"/>
          </a:xfrm>
          <a:prstGeom prst="roundRect">
            <a:avLst>
              <a:gd name="adj" fmla="val 50000"/>
            </a:avLst>
          </a:prstGeom>
          <a:solidFill>
            <a:srgbClr val="0A1F44"/>
          </a:solidFill>
          <a:ln w="6350">
            <a:solidFill>
              <a:srgbClr val="0A1F44"/>
            </a:solidFill>
            <a:prstDash val="solid"/>
          </a:ln>
        </p:spPr>
      </p:sp>
      <p:sp>
        <p:nvSpPr>
          <p:cNvPr id="5" name="Text 2"/>
          <p:cNvSpPr txBox="1"/>
          <p:nvPr/>
        </p:nvSpPr>
        <p:spPr>
          <a:xfrm>
            <a:off x="11155680" y="603504"/>
            <a:ext cx="530352"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Inter" pitchFamily="34" charset="0"/>
                <a:ea typeface="Inter" pitchFamily="34" charset="-122"/>
                <a:cs typeface="Inter" pitchFamily="34" charset="-120"/>
              </a:rPr>
              <a:t>G27</a:t>
            </a:r>
            <a:endParaRPr lang="en-US" sz="950" dirty="0"/>
          </a:p>
        </p:txBody>
      </p:sp>
      <p:sp>
        <p:nvSpPr>
          <p:cNvPr id="6" name="Shape 3"/>
          <p:cNvSpPr/>
          <p:nvPr/>
        </p:nvSpPr>
        <p:spPr>
          <a:xfrm>
            <a:off x="502920" y="6400800"/>
            <a:ext cx="11183112" cy="0"/>
          </a:xfrm>
          <a:prstGeom prst="line">
            <a:avLst/>
          </a:prstGeom>
          <a:noFill/>
          <a:ln w="9525">
            <a:solidFill>
              <a:srgbClr val="E2E8F0"/>
            </a:solidFill>
            <a:prstDash val="solid"/>
          </a:ln>
        </p:spPr>
      </p:sp>
      <p:sp>
        <p:nvSpPr>
          <p:cNvPr id="7" name="Text 4"/>
          <p:cNvSpPr txBox="1"/>
          <p:nvPr/>
        </p:nvSpPr>
        <p:spPr>
          <a:xfrm>
            <a:off x="502920" y="6464808"/>
            <a:ext cx="9418320" cy="256032"/>
          </a:xfrm>
          <a:prstGeom prst="rect">
            <a:avLst/>
          </a:prstGeom>
          <a:noFill/>
          <a:ln/>
        </p:spPr>
        <p:txBody>
          <a:bodyPr wrap="square" lIns="0" tIns="0" rIns="0" bIns="0" rtlCol="0" anchor="ctr"/>
          <a:lstStyle/>
          <a:p>
            <a:pPr indent="0" marL="0">
              <a:buNone/>
            </a:pPr>
            <a:r>
              <a:rPr lang="en-US" sz="800" dirty="0">
                <a:solidFill>
                  <a:srgbClr val="64748B"/>
                </a:solidFill>
                <a:latin typeface="Inter" pitchFamily="34" charset="0"/>
                <a:ea typeface="Inter" pitchFamily="34" charset="-122"/>
                <a:cs typeface="Inter" pitchFamily="34" charset="-120"/>
              </a:rPr>
              <a:t>Source: case Exhibits G (budget), I (cost by option), D (channel CAC), N (regions); Adobe CJA A3b, A2 and Attribution IQ. South test sizes assume spend follows the customer split (South 28%); final amounts are what each holdout proves.</a:t>
            </a:r>
            <a:endParaRPr lang="en-US" sz="800" dirty="0"/>
          </a:p>
        </p:txBody>
      </p:sp>
      <p:sp>
        <p:nvSpPr>
          <p:cNvPr id="8" name="Text 5"/>
          <p:cNvSpPr txBox="1"/>
          <p:nvPr/>
        </p:nvSpPr>
        <p:spPr>
          <a:xfrm>
            <a:off x="9966960" y="6464808"/>
            <a:ext cx="1719072" cy="256032"/>
          </a:xfrm>
          <a:prstGeom prst="rect">
            <a:avLst/>
          </a:prstGeom>
          <a:noFill/>
          <a:ln/>
        </p:spPr>
        <p:txBody>
          <a:bodyPr wrap="square" lIns="0" tIns="0" rIns="0" bIns="0" rtlCol="0" anchor="ctr"/>
          <a:lstStyle/>
          <a:p>
            <a:pPr algn="r" indent="0" marL="0">
              <a:buNone/>
            </a:pPr>
            <a:r>
              <a:rPr lang="en-US" sz="800" dirty="0">
                <a:solidFill>
                  <a:srgbClr val="64748B"/>
                </a:solidFill>
                <a:latin typeface="Inter" pitchFamily="34" charset="0"/>
                <a:ea typeface="Inter" pitchFamily="34" charset="-122"/>
                <a:cs typeface="Inter" pitchFamily="34" charset="-120"/>
              </a:rPr>
              <a:t>Team G27  ·  21</a:t>
            </a:r>
            <a:endParaRPr lang="en-US" sz="800" dirty="0"/>
          </a:p>
        </p:txBody>
      </p:sp>
      <p:sp>
        <p:nvSpPr>
          <p:cNvPr id="9" name="Text 6"/>
          <p:cNvSpPr txBox="1"/>
          <p:nvPr/>
        </p:nvSpPr>
        <p:spPr>
          <a:xfrm>
            <a:off x="502920" y="1243584"/>
            <a:ext cx="2560320" cy="201168"/>
          </a:xfrm>
          <a:prstGeom prst="rect">
            <a:avLst/>
          </a:prstGeom>
          <a:noFill/>
          <a:ln/>
        </p:spPr>
        <p:txBody>
          <a:bodyPr wrap="square" lIns="0" tIns="0" rIns="0" bIns="0" rtlCol="0" anchor="t"/>
          <a:lstStyle/>
          <a:p>
            <a:pPr indent="0" marL="0">
              <a:buNone/>
            </a:pPr>
            <a:r>
              <a:rPr lang="en-US" sz="850" b="1" dirty="0">
                <a:solidFill>
                  <a:srgbClr val="1D4ED8"/>
                </a:solidFill>
                <a:latin typeface="Inter" pitchFamily="34" charset="0"/>
                <a:ea typeface="Inter" pitchFamily="34" charset="-122"/>
                <a:cs typeface="Inter" pitchFamily="34" charset="-120"/>
              </a:rPr>
              <a:t>LINE (EXHIBIT G)</a:t>
            </a:r>
            <a:endParaRPr lang="en-US" sz="850" dirty="0"/>
          </a:p>
        </p:txBody>
      </p:sp>
      <p:sp>
        <p:nvSpPr>
          <p:cNvPr id="10" name="Text 7"/>
          <p:cNvSpPr txBox="1"/>
          <p:nvPr/>
        </p:nvSpPr>
        <p:spPr>
          <a:xfrm>
            <a:off x="3931920" y="1243584"/>
            <a:ext cx="2560320" cy="201168"/>
          </a:xfrm>
          <a:prstGeom prst="rect">
            <a:avLst/>
          </a:prstGeom>
          <a:noFill/>
          <a:ln/>
        </p:spPr>
        <p:txBody>
          <a:bodyPr wrap="square" lIns="0" tIns="0" rIns="0" bIns="0" rtlCol="0" anchor="t"/>
          <a:lstStyle/>
          <a:p>
            <a:pPr indent="0" marL="0">
              <a:buNone/>
            </a:pPr>
            <a:r>
              <a:rPr lang="en-US" sz="850" b="1" dirty="0">
                <a:solidFill>
                  <a:srgbClr val="1D4ED8"/>
                </a:solidFill>
                <a:latin typeface="Inter" pitchFamily="34" charset="0"/>
                <a:ea typeface="Inter" pitchFamily="34" charset="-122"/>
                <a:cs typeface="Inter" pitchFamily="34" charset="-120"/>
              </a:rPr>
              <a:t>WHAT CHANGES</a:t>
            </a:r>
            <a:endParaRPr lang="en-US" sz="850" dirty="0"/>
          </a:p>
        </p:txBody>
      </p:sp>
      <p:sp>
        <p:nvSpPr>
          <p:cNvPr id="11" name="Text 8"/>
          <p:cNvSpPr txBox="1"/>
          <p:nvPr/>
        </p:nvSpPr>
        <p:spPr>
          <a:xfrm>
            <a:off x="6537960" y="1243584"/>
            <a:ext cx="2560320" cy="201168"/>
          </a:xfrm>
          <a:prstGeom prst="rect">
            <a:avLst/>
          </a:prstGeom>
          <a:noFill/>
          <a:ln/>
        </p:spPr>
        <p:txBody>
          <a:bodyPr wrap="square" lIns="0" tIns="0" rIns="0" bIns="0" rtlCol="0" anchor="t"/>
          <a:lstStyle/>
          <a:p>
            <a:pPr indent="0" marL="0">
              <a:buNone/>
            </a:pPr>
            <a:r>
              <a:rPr lang="en-US" sz="850" b="1" dirty="0">
                <a:solidFill>
                  <a:srgbClr val="1D4ED8"/>
                </a:solidFill>
                <a:latin typeface="Inter" pitchFamily="34" charset="0"/>
                <a:ea typeface="Inter" pitchFamily="34" charset="-122"/>
                <a:cs typeface="Inter" pitchFamily="34" charset="-120"/>
              </a:rPr>
              <a:t>EVIDENCE</a:t>
            </a:r>
            <a:endParaRPr lang="en-US" sz="850" dirty="0"/>
          </a:p>
        </p:txBody>
      </p:sp>
      <p:sp>
        <p:nvSpPr>
          <p:cNvPr id="12" name="Text 9"/>
          <p:cNvSpPr txBox="1"/>
          <p:nvPr/>
        </p:nvSpPr>
        <p:spPr>
          <a:xfrm>
            <a:off x="9098280" y="1243584"/>
            <a:ext cx="2560320" cy="201168"/>
          </a:xfrm>
          <a:prstGeom prst="rect">
            <a:avLst/>
          </a:prstGeom>
          <a:noFill/>
          <a:ln/>
        </p:spPr>
        <p:txBody>
          <a:bodyPr wrap="square" lIns="0" tIns="0" rIns="0" bIns="0" rtlCol="0" anchor="t"/>
          <a:lstStyle/>
          <a:p>
            <a:pPr indent="0" marL="0">
              <a:buNone/>
            </a:pPr>
            <a:r>
              <a:rPr lang="en-US" sz="850" b="1" dirty="0">
                <a:solidFill>
                  <a:srgbClr val="1D4ED8"/>
                </a:solidFill>
                <a:latin typeface="Inter" pitchFamily="34" charset="0"/>
                <a:ea typeface="Inter" pitchFamily="34" charset="-122"/>
                <a:cs typeface="Inter" pitchFamily="34" charset="-120"/>
              </a:rPr>
              <a:t>DECISION RULE</a:t>
            </a:r>
            <a:endParaRPr lang="en-US" sz="850" dirty="0"/>
          </a:p>
        </p:txBody>
      </p:sp>
      <p:sp>
        <p:nvSpPr>
          <p:cNvPr id="13" name="Shape 10"/>
          <p:cNvSpPr/>
          <p:nvPr/>
        </p:nvSpPr>
        <p:spPr>
          <a:xfrm>
            <a:off x="502920" y="1517904"/>
            <a:ext cx="11183112" cy="566928"/>
          </a:xfrm>
          <a:prstGeom prst="roundRect">
            <a:avLst>
              <a:gd name="adj" fmla="val 8065"/>
            </a:avLst>
          </a:prstGeom>
          <a:solidFill>
            <a:srgbClr val="F8FAFC"/>
          </a:solidFill>
          <a:ln w="6350">
            <a:solidFill>
              <a:srgbClr val="F8FAFC"/>
            </a:solidFill>
            <a:prstDash val="solid"/>
          </a:ln>
        </p:spPr>
      </p:sp>
      <p:sp>
        <p:nvSpPr>
          <p:cNvPr id="14" name="Text 11"/>
          <p:cNvSpPr txBox="1"/>
          <p:nvPr/>
        </p:nvSpPr>
        <p:spPr>
          <a:xfrm>
            <a:off x="594360" y="1545336"/>
            <a:ext cx="1828800" cy="274320"/>
          </a:xfrm>
          <a:prstGeom prst="rect">
            <a:avLst/>
          </a:prstGeom>
          <a:noFill/>
          <a:ln/>
        </p:spPr>
        <p:txBody>
          <a:bodyPr wrap="square" lIns="0" tIns="0" rIns="0" bIns="0" rtlCol="0" anchor="ctr"/>
          <a:lstStyle/>
          <a:p>
            <a:pPr indent="0" marL="0">
              <a:buNone/>
            </a:pPr>
            <a:r>
              <a:rPr lang="en-US" sz="1000" b="1" dirty="0">
                <a:solidFill>
                  <a:srgbClr val="0A1F44"/>
                </a:solidFill>
                <a:latin typeface="Inter" pitchFamily="34" charset="0"/>
                <a:ea typeface="Inter" pitchFamily="34" charset="-122"/>
                <a:cs typeface="Inter" pitchFamily="34" charset="-120"/>
              </a:rPr>
              <a:t>Paid social prospecting</a:t>
            </a:r>
            <a:endParaRPr lang="en-US" sz="1000" dirty="0"/>
          </a:p>
        </p:txBody>
      </p:sp>
      <p:sp>
        <p:nvSpPr>
          <p:cNvPr id="15" name="Shape 12"/>
          <p:cNvSpPr/>
          <p:nvPr/>
        </p:nvSpPr>
        <p:spPr>
          <a:xfrm>
            <a:off x="594360" y="1865376"/>
            <a:ext cx="1737360" cy="128016"/>
          </a:xfrm>
          <a:prstGeom prst="rect">
            <a:avLst/>
          </a:prstGeom>
          <a:solidFill>
            <a:srgbClr val="93B4F5"/>
          </a:solidFill>
          <a:ln w="6350">
            <a:solidFill>
              <a:srgbClr val="93B4F5"/>
            </a:solidFill>
            <a:prstDash val="solid"/>
          </a:ln>
        </p:spPr>
      </p:sp>
      <p:sp>
        <p:nvSpPr>
          <p:cNvPr id="16" name="Text 13"/>
          <p:cNvSpPr txBox="1"/>
          <p:nvPr/>
        </p:nvSpPr>
        <p:spPr>
          <a:xfrm>
            <a:off x="2386584" y="1810512"/>
            <a:ext cx="548640" cy="219456"/>
          </a:xfrm>
          <a:prstGeom prst="rect">
            <a:avLst/>
          </a:prstGeom>
          <a:noFill/>
          <a:ln/>
        </p:spPr>
        <p:txBody>
          <a:bodyPr wrap="square" lIns="0" tIns="0" rIns="0" bIns="0" rtlCol="0" anchor="ctr"/>
          <a:lstStyle/>
          <a:p>
            <a:pPr indent="0" marL="0">
              <a:buNone/>
            </a:pPr>
            <a:r>
              <a:rPr lang="en-US" sz="850" b="1" dirty="0">
                <a:solidFill>
                  <a:srgbClr val="0A1F44"/>
                </a:solidFill>
                <a:latin typeface="Inter" pitchFamily="34" charset="0"/>
                <a:ea typeface="Inter" pitchFamily="34" charset="-122"/>
                <a:cs typeface="Inter" pitchFamily="34" charset="-120"/>
              </a:rPr>
              <a:t>$58M</a:t>
            </a:r>
            <a:endParaRPr lang="en-US" sz="850" dirty="0"/>
          </a:p>
        </p:txBody>
      </p:sp>
      <p:sp>
        <p:nvSpPr>
          <p:cNvPr id="17" name="Text 14"/>
          <p:cNvSpPr txBox="1"/>
          <p:nvPr/>
        </p:nvSpPr>
        <p:spPr>
          <a:xfrm>
            <a:off x="3931920" y="1517904"/>
            <a:ext cx="2514600" cy="566928"/>
          </a:xfrm>
          <a:prstGeom prst="rect">
            <a:avLst/>
          </a:prstGeom>
          <a:noFill/>
          <a:ln/>
        </p:spPr>
        <p:txBody>
          <a:bodyPr wrap="square" lIns="0" tIns="0" rIns="0" bIns="0" rtlCol="0" anchor="ctr"/>
          <a:lstStyle/>
          <a:p>
            <a:pPr indent="0" marL="0">
              <a:buNone/>
            </a:pPr>
            <a:r>
              <a:rPr lang="en-US" sz="900" dirty="0">
                <a:solidFill>
                  <a:srgbClr val="0F172A"/>
                </a:solidFill>
                <a:latin typeface="Inter" pitchFamily="34" charset="0"/>
                <a:ea typeface="Inter" pitchFamily="34" charset="-122"/>
                <a:cs typeface="Inter" pitchFamily="34" charset="-120"/>
              </a:rPr>
              <a:t>Months 7–9: South test on ~$16.2M; existing buyers excluded, lookalikes on repeaters</a:t>
            </a:r>
            <a:endParaRPr lang="en-US" sz="900" dirty="0"/>
          </a:p>
        </p:txBody>
      </p:sp>
      <p:sp>
        <p:nvSpPr>
          <p:cNvPr id="18" name="Text 15"/>
          <p:cNvSpPr txBox="1"/>
          <p:nvPr/>
        </p:nvSpPr>
        <p:spPr>
          <a:xfrm>
            <a:off x="6537960" y="1517904"/>
            <a:ext cx="2468880" cy="566928"/>
          </a:xfrm>
          <a:prstGeom prst="rect">
            <a:avLst/>
          </a:prstGeom>
          <a:noFill/>
          <a:ln/>
        </p:spPr>
        <p:txBody>
          <a:bodyPr wrap="square" lIns="0" tIns="0" rIns="0" bIns="0" rtlCol="0" anchor="ctr"/>
          <a:lstStyle/>
          <a:p>
            <a:pPr indent="0" marL="0">
              <a:buNone/>
            </a:pPr>
            <a:r>
              <a:rPr lang="en-US" sz="900" dirty="0">
                <a:solidFill>
                  <a:srgbClr val="334155"/>
                </a:solidFill>
                <a:latin typeface="Inter" pitchFamily="34" charset="0"/>
                <a:ea typeface="Inter" pitchFamily="34" charset="-122"/>
                <a:cs typeface="Inter" pitchFamily="34" charset="-120"/>
              </a:rPr>
              <a:t>Brings 45.5% of buyers (A3b) but its buyers repeat least, 18% (Exhibit D)</a:t>
            </a:r>
            <a:endParaRPr lang="en-US" sz="900" dirty="0"/>
          </a:p>
        </p:txBody>
      </p:sp>
      <p:sp>
        <p:nvSpPr>
          <p:cNvPr id="19" name="Text 16"/>
          <p:cNvSpPr txBox="1"/>
          <p:nvPr/>
        </p:nvSpPr>
        <p:spPr>
          <a:xfrm>
            <a:off x="9098280" y="1517904"/>
            <a:ext cx="2514600" cy="566928"/>
          </a:xfrm>
          <a:prstGeom prst="rect">
            <a:avLst/>
          </a:prstGeom>
          <a:noFill/>
          <a:ln/>
        </p:spPr>
        <p:txBody>
          <a:bodyPr wrap="square" lIns="0" tIns="0" rIns="0" bIns="0" rtlCol="0" anchor="ctr"/>
          <a:lstStyle/>
          <a:p>
            <a:pPr indent="0" marL="0">
              <a:buNone/>
            </a:pPr>
            <a:r>
              <a:rPr lang="en-US" sz="900" b="1" dirty="0">
                <a:solidFill>
                  <a:srgbClr val="0A1F44"/>
                </a:solidFill>
                <a:latin typeface="Inter" pitchFamily="34" charset="0"/>
                <a:ea typeface="Inter" pitchFamily="34" charset="-122"/>
                <a:cs typeface="Inter" pitchFamily="34" charset="-120"/>
              </a:rPr>
              <a:t>Moves to owned only what the holdout shows is over-credited</a:t>
            </a:r>
            <a:endParaRPr lang="en-US" sz="900" dirty="0"/>
          </a:p>
        </p:txBody>
      </p:sp>
      <p:sp>
        <p:nvSpPr>
          <p:cNvPr id="20" name="Shape 17"/>
          <p:cNvSpPr/>
          <p:nvPr/>
        </p:nvSpPr>
        <p:spPr>
          <a:xfrm>
            <a:off x="502920" y="2157984"/>
            <a:ext cx="11183112" cy="566928"/>
          </a:xfrm>
          <a:prstGeom prst="roundRect">
            <a:avLst>
              <a:gd name="adj" fmla="val 8065"/>
            </a:avLst>
          </a:prstGeom>
          <a:solidFill>
            <a:srgbClr val="FFFFFF"/>
          </a:solidFill>
          <a:ln w="6350">
            <a:solidFill>
              <a:srgbClr val="FFFFFF"/>
            </a:solidFill>
            <a:prstDash val="solid"/>
          </a:ln>
        </p:spPr>
      </p:sp>
      <p:sp>
        <p:nvSpPr>
          <p:cNvPr id="21" name="Text 18"/>
          <p:cNvSpPr txBox="1"/>
          <p:nvPr/>
        </p:nvSpPr>
        <p:spPr>
          <a:xfrm>
            <a:off x="594360" y="2185416"/>
            <a:ext cx="1828800" cy="274320"/>
          </a:xfrm>
          <a:prstGeom prst="rect">
            <a:avLst/>
          </a:prstGeom>
          <a:noFill/>
          <a:ln/>
        </p:spPr>
        <p:txBody>
          <a:bodyPr wrap="square" lIns="0" tIns="0" rIns="0" bIns="0" rtlCol="0" anchor="ctr"/>
          <a:lstStyle/>
          <a:p>
            <a:pPr indent="0" marL="0">
              <a:buNone/>
            </a:pPr>
            <a:r>
              <a:rPr lang="en-US" sz="1000" b="1" dirty="0">
                <a:solidFill>
                  <a:srgbClr val="0A1F44"/>
                </a:solidFill>
                <a:latin typeface="Inter" pitchFamily="34" charset="0"/>
                <a:ea typeface="Inter" pitchFamily="34" charset="-122"/>
                <a:cs typeface="Inter" pitchFamily="34" charset="-120"/>
              </a:rPr>
              <a:t>Paid search</a:t>
            </a:r>
            <a:endParaRPr lang="en-US" sz="1000" dirty="0"/>
          </a:p>
        </p:txBody>
      </p:sp>
      <p:sp>
        <p:nvSpPr>
          <p:cNvPr id="22" name="Shape 19"/>
          <p:cNvSpPr/>
          <p:nvPr/>
        </p:nvSpPr>
        <p:spPr>
          <a:xfrm>
            <a:off x="594360" y="2505456"/>
            <a:ext cx="658999" cy="128016"/>
          </a:xfrm>
          <a:prstGeom prst="rect">
            <a:avLst/>
          </a:prstGeom>
          <a:solidFill>
            <a:srgbClr val="93B4F5"/>
          </a:solidFill>
          <a:ln w="6350">
            <a:solidFill>
              <a:srgbClr val="93B4F5"/>
            </a:solidFill>
            <a:prstDash val="solid"/>
          </a:ln>
        </p:spPr>
      </p:sp>
      <p:sp>
        <p:nvSpPr>
          <p:cNvPr id="23" name="Text 20"/>
          <p:cNvSpPr txBox="1"/>
          <p:nvPr/>
        </p:nvSpPr>
        <p:spPr>
          <a:xfrm>
            <a:off x="1308223" y="2450592"/>
            <a:ext cx="548640" cy="219456"/>
          </a:xfrm>
          <a:prstGeom prst="rect">
            <a:avLst/>
          </a:prstGeom>
          <a:noFill/>
          <a:ln/>
        </p:spPr>
        <p:txBody>
          <a:bodyPr wrap="square" lIns="0" tIns="0" rIns="0" bIns="0" rtlCol="0" anchor="ctr"/>
          <a:lstStyle/>
          <a:p>
            <a:pPr indent="0" marL="0">
              <a:buNone/>
            </a:pPr>
            <a:r>
              <a:rPr lang="en-US" sz="850" b="1" dirty="0">
                <a:solidFill>
                  <a:srgbClr val="0A1F44"/>
                </a:solidFill>
                <a:latin typeface="Inter" pitchFamily="34" charset="0"/>
                <a:ea typeface="Inter" pitchFamily="34" charset="-122"/>
                <a:cs typeface="Inter" pitchFamily="34" charset="-120"/>
              </a:rPr>
              <a:t>$22M</a:t>
            </a:r>
            <a:endParaRPr lang="en-US" sz="850" dirty="0"/>
          </a:p>
        </p:txBody>
      </p:sp>
      <p:sp>
        <p:nvSpPr>
          <p:cNvPr id="24" name="Text 21"/>
          <p:cNvSpPr txBox="1"/>
          <p:nvPr/>
        </p:nvSpPr>
        <p:spPr>
          <a:xfrm>
            <a:off x="3931920" y="2157984"/>
            <a:ext cx="2514600" cy="566928"/>
          </a:xfrm>
          <a:prstGeom prst="rect">
            <a:avLst/>
          </a:prstGeom>
          <a:noFill/>
          <a:ln/>
        </p:spPr>
        <p:txBody>
          <a:bodyPr wrap="square" lIns="0" tIns="0" rIns="0" bIns="0" rtlCol="0" anchor="ctr"/>
          <a:lstStyle/>
          <a:p>
            <a:pPr indent="0" marL="0">
              <a:buNone/>
            </a:pPr>
            <a:r>
              <a:rPr lang="en-US" sz="900" dirty="0">
                <a:solidFill>
                  <a:srgbClr val="0F172A"/>
                </a:solidFill>
                <a:latin typeface="Inter" pitchFamily="34" charset="0"/>
                <a:ea typeface="Inter" pitchFamily="34" charset="-122"/>
                <a:cs typeface="Inter" pitchFamily="34" charset="-120"/>
              </a:rPr>
              <a:t>Months 4–6: South geo test on ~$6.2M of branded terms</a:t>
            </a:r>
            <a:endParaRPr lang="en-US" sz="900" dirty="0"/>
          </a:p>
        </p:txBody>
      </p:sp>
      <p:sp>
        <p:nvSpPr>
          <p:cNvPr id="25" name="Text 22"/>
          <p:cNvSpPr txBox="1"/>
          <p:nvPr/>
        </p:nvSpPr>
        <p:spPr>
          <a:xfrm>
            <a:off x="6537960" y="2157984"/>
            <a:ext cx="2468880" cy="566928"/>
          </a:xfrm>
          <a:prstGeom prst="rect">
            <a:avLst/>
          </a:prstGeom>
          <a:noFill/>
          <a:ln/>
        </p:spPr>
        <p:txBody>
          <a:bodyPr wrap="square" lIns="0" tIns="0" rIns="0" bIns="0" rtlCol="0" anchor="ctr"/>
          <a:lstStyle/>
          <a:p>
            <a:pPr indent="0" marL="0">
              <a:buNone/>
            </a:pPr>
            <a:r>
              <a:rPr lang="en-US" sz="900" dirty="0">
                <a:solidFill>
                  <a:srgbClr val="334155"/>
                </a:solidFill>
                <a:latin typeface="Inter" pitchFamily="34" charset="0"/>
                <a:ea typeface="Inter" pitchFamily="34" charset="-122"/>
                <a:cs typeface="Inter" pitchFamily="34" charset="-120"/>
              </a:rPr>
              <a:t>Brand-keyword ads showed no short-term lift at eBay (Blake et al. 2015)</a:t>
            </a:r>
            <a:endParaRPr lang="en-US" sz="900" dirty="0"/>
          </a:p>
        </p:txBody>
      </p:sp>
      <p:sp>
        <p:nvSpPr>
          <p:cNvPr id="26" name="Text 23"/>
          <p:cNvSpPr txBox="1"/>
          <p:nvPr/>
        </p:nvSpPr>
        <p:spPr>
          <a:xfrm>
            <a:off x="9098280" y="2157984"/>
            <a:ext cx="2514600" cy="566928"/>
          </a:xfrm>
          <a:prstGeom prst="rect">
            <a:avLst/>
          </a:prstGeom>
          <a:noFill/>
          <a:ln/>
        </p:spPr>
        <p:txBody>
          <a:bodyPr wrap="square" lIns="0" tIns="0" rIns="0" bIns="0" rtlCol="0" anchor="ctr"/>
          <a:lstStyle/>
          <a:p>
            <a:pPr indent="0" marL="0">
              <a:buNone/>
            </a:pPr>
            <a:r>
              <a:rPr lang="en-US" sz="900" b="1" dirty="0">
                <a:solidFill>
                  <a:srgbClr val="0A1F44"/>
                </a:solidFill>
                <a:latin typeface="Inter" pitchFamily="34" charset="0"/>
                <a:ea typeface="Inter" pitchFamily="34" charset="-122"/>
                <a:cs typeface="Inter" pitchFamily="34" charset="-120"/>
              </a:rPr>
              <a:t>Non-incremental branded spend moves to owned</a:t>
            </a:r>
            <a:endParaRPr lang="en-US" sz="900" dirty="0"/>
          </a:p>
        </p:txBody>
      </p:sp>
      <p:sp>
        <p:nvSpPr>
          <p:cNvPr id="27" name="Shape 24"/>
          <p:cNvSpPr/>
          <p:nvPr/>
        </p:nvSpPr>
        <p:spPr>
          <a:xfrm>
            <a:off x="502920" y="2798064"/>
            <a:ext cx="11183112" cy="566928"/>
          </a:xfrm>
          <a:prstGeom prst="roundRect">
            <a:avLst>
              <a:gd name="adj" fmla="val 8065"/>
            </a:avLst>
          </a:prstGeom>
          <a:solidFill>
            <a:srgbClr val="F8FAFC"/>
          </a:solidFill>
          <a:ln w="6350">
            <a:solidFill>
              <a:srgbClr val="F8FAFC"/>
            </a:solidFill>
            <a:prstDash val="solid"/>
          </a:ln>
        </p:spPr>
      </p:sp>
      <p:sp>
        <p:nvSpPr>
          <p:cNvPr id="28" name="Text 25"/>
          <p:cNvSpPr txBox="1"/>
          <p:nvPr/>
        </p:nvSpPr>
        <p:spPr>
          <a:xfrm>
            <a:off x="594360" y="2825496"/>
            <a:ext cx="1828800" cy="274320"/>
          </a:xfrm>
          <a:prstGeom prst="rect">
            <a:avLst/>
          </a:prstGeom>
          <a:noFill/>
          <a:ln/>
        </p:spPr>
        <p:txBody>
          <a:bodyPr wrap="square" lIns="0" tIns="0" rIns="0" bIns="0" rtlCol="0" anchor="ctr"/>
          <a:lstStyle/>
          <a:p>
            <a:pPr indent="0" marL="0">
              <a:buNone/>
            </a:pPr>
            <a:r>
              <a:rPr lang="en-US" sz="1000" b="1" dirty="0">
                <a:solidFill>
                  <a:srgbClr val="0A1F44"/>
                </a:solidFill>
                <a:latin typeface="Inter" pitchFamily="34" charset="0"/>
                <a:ea typeface="Inter" pitchFamily="34" charset="-122"/>
                <a:cs typeface="Inter" pitchFamily="34" charset="-120"/>
              </a:rPr>
              <a:t>Influencer / affiliate</a:t>
            </a:r>
            <a:endParaRPr lang="en-US" sz="1000" dirty="0"/>
          </a:p>
        </p:txBody>
      </p:sp>
      <p:sp>
        <p:nvSpPr>
          <p:cNvPr id="29" name="Shape 26"/>
          <p:cNvSpPr/>
          <p:nvPr/>
        </p:nvSpPr>
        <p:spPr>
          <a:xfrm>
            <a:off x="594360" y="3145536"/>
            <a:ext cx="479272" cy="128016"/>
          </a:xfrm>
          <a:prstGeom prst="rect">
            <a:avLst/>
          </a:prstGeom>
          <a:solidFill>
            <a:srgbClr val="93B4F5"/>
          </a:solidFill>
          <a:ln w="6350">
            <a:solidFill>
              <a:srgbClr val="93B4F5"/>
            </a:solidFill>
            <a:prstDash val="solid"/>
          </a:ln>
        </p:spPr>
      </p:sp>
      <p:sp>
        <p:nvSpPr>
          <p:cNvPr id="30" name="Text 27"/>
          <p:cNvSpPr txBox="1"/>
          <p:nvPr/>
        </p:nvSpPr>
        <p:spPr>
          <a:xfrm>
            <a:off x="1128496" y="3090672"/>
            <a:ext cx="548640" cy="219456"/>
          </a:xfrm>
          <a:prstGeom prst="rect">
            <a:avLst/>
          </a:prstGeom>
          <a:noFill/>
          <a:ln/>
        </p:spPr>
        <p:txBody>
          <a:bodyPr wrap="square" lIns="0" tIns="0" rIns="0" bIns="0" rtlCol="0" anchor="ctr"/>
          <a:lstStyle/>
          <a:p>
            <a:pPr indent="0" marL="0">
              <a:buNone/>
            </a:pPr>
            <a:r>
              <a:rPr lang="en-US" sz="850" b="1" dirty="0">
                <a:solidFill>
                  <a:srgbClr val="0A1F44"/>
                </a:solidFill>
                <a:latin typeface="Inter" pitchFamily="34" charset="0"/>
                <a:ea typeface="Inter" pitchFamily="34" charset="-122"/>
                <a:cs typeface="Inter" pitchFamily="34" charset="-120"/>
              </a:rPr>
              <a:t>$16M</a:t>
            </a:r>
            <a:endParaRPr lang="en-US" sz="850" dirty="0"/>
          </a:p>
        </p:txBody>
      </p:sp>
      <p:sp>
        <p:nvSpPr>
          <p:cNvPr id="31" name="Text 28"/>
          <p:cNvSpPr txBox="1"/>
          <p:nvPr/>
        </p:nvSpPr>
        <p:spPr>
          <a:xfrm>
            <a:off x="3931920" y="2798064"/>
            <a:ext cx="2514600" cy="566928"/>
          </a:xfrm>
          <a:prstGeom prst="rect">
            <a:avLst/>
          </a:prstGeom>
          <a:noFill/>
          <a:ln/>
        </p:spPr>
        <p:txBody>
          <a:bodyPr wrap="square" lIns="0" tIns="0" rIns="0" bIns="0" rtlCol="0" anchor="ctr"/>
          <a:lstStyle/>
          <a:p>
            <a:pPr indent="0" marL="0">
              <a:buNone/>
            </a:pPr>
            <a:r>
              <a:rPr lang="en-US" sz="900" dirty="0">
                <a:solidFill>
                  <a:srgbClr val="0F172A"/>
                </a:solidFill>
                <a:latin typeface="Inter" pitchFamily="34" charset="0"/>
                <a:ea typeface="Inter" pitchFamily="34" charset="-122"/>
                <a:cs typeface="Inter" pitchFamily="34" charset="-120"/>
              </a:rPr>
              <a:t>Briefs shift to proof: wear-tests and fabric close-ups</a:t>
            </a:r>
            <a:endParaRPr lang="en-US" sz="900" dirty="0"/>
          </a:p>
        </p:txBody>
      </p:sp>
      <p:sp>
        <p:nvSpPr>
          <p:cNvPr id="32" name="Text 29"/>
          <p:cNvSpPr txBox="1"/>
          <p:nvPr/>
        </p:nvSpPr>
        <p:spPr>
          <a:xfrm>
            <a:off x="6537960" y="2798064"/>
            <a:ext cx="2468880" cy="566928"/>
          </a:xfrm>
          <a:prstGeom prst="rect">
            <a:avLst/>
          </a:prstGeom>
          <a:noFill/>
          <a:ln/>
        </p:spPr>
        <p:txBody>
          <a:bodyPr wrap="square" lIns="0" tIns="0" rIns="0" bIns="0" rtlCol="0" anchor="ctr"/>
          <a:lstStyle/>
          <a:p>
            <a:pPr indent="0" marL="0">
              <a:buNone/>
            </a:pPr>
            <a:r>
              <a:rPr lang="en-US" sz="900" dirty="0">
                <a:solidFill>
                  <a:srgbClr val="334155"/>
                </a:solidFill>
                <a:latin typeface="Inter" pitchFamily="34" charset="0"/>
                <a:ea typeface="Inter" pitchFamily="34" charset="-122"/>
                <a:cs typeface="Inter" pitchFamily="34" charset="-120"/>
              </a:rPr>
              <a:t>Hypothesis; 69% product → cart drop (A1)</a:t>
            </a:r>
            <a:endParaRPr lang="en-US" sz="900" dirty="0"/>
          </a:p>
        </p:txBody>
      </p:sp>
      <p:sp>
        <p:nvSpPr>
          <p:cNvPr id="33" name="Text 30"/>
          <p:cNvSpPr txBox="1"/>
          <p:nvPr/>
        </p:nvSpPr>
        <p:spPr>
          <a:xfrm>
            <a:off x="9098280" y="2798064"/>
            <a:ext cx="2514600" cy="566928"/>
          </a:xfrm>
          <a:prstGeom prst="rect">
            <a:avLst/>
          </a:prstGeom>
          <a:noFill/>
          <a:ln/>
        </p:spPr>
        <p:txBody>
          <a:bodyPr wrap="square" lIns="0" tIns="0" rIns="0" bIns="0" rtlCol="0" anchor="ctr"/>
          <a:lstStyle/>
          <a:p>
            <a:pPr indent="0" marL="0">
              <a:buNone/>
            </a:pPr>
            <a:r>
              <a:rPr lang="en-US" sz="900" b="1" dirty="0">
                <a:solidFill>
                  <a:srgbClr val="0A1F44"/>
                </a:solidFill>
                <a:latin typeface="Inter" pitchFamily="34" charset="0"/>
                <a:ea typeface="Inter" pitchFamily="34" charset="-122"/>
                <a:cs typeface="Inter" pitchFamily="34" charset="-120"/>
              </a:rPr>
              <a:t>No dollar move without a holdout</a:t>
            </a:r>
            <a:endParaRPr lang="en-US" sz="900" dirty="0"/>
          </a:p>
        </p:txBody>
      </p:sp>
      <p:sp>
        <p:nvSpPr>
          <p:cNvPr id="34" name="Shape 31"/>
          <p:cNvSpPr/>
          <p:nvPr/>
        </p:nvSpPr>
        <p:spPr>
          <a:xfrm>
            <a:off x="502920" y="3438144"/>
            <a:ext cx="11183112" cy="566928"/>
          </a:xfrm>
          <a:prstGeom prst="roundRect">
            <a:avLst>
              <a:gd name="adj" fmla="val 8065"/>
            </a:avLst>
          </a:prstGeom>
          <a:solidFill>
            <a:srgbClr val="FFFFFF"/>
          </a:solidFill>
          <a:ln w="6350">
            <a:solidFill>
              <a:srgbClr val="FFFFFF"/>
            </a:solidFill>
            <a:prstDash val="solid"/>
          </a:ln>
        </p:spPr>
      </p:sp>
      <p:sp>
        <p:nvSpPr>
          <p:cNvPr id="35" name="Text 32"/>
          <p:cNvSpPr txBox="1"/>
          <p:nvPr/>
        </p:nvSpPr>
        <p:spPr>
          <a:xfrm>
            <a:off x="594360" y="3465576"/>
            <a:ext cx="1828800" cy="274320"/>
          </a:xfrm>
          <a:prstGeom prst="rect">
            <a:avLst/>
          </a:prstGeom>
          <a:noFill/>
          <a:ln/>
        </p:spPr>
        <p:txBody>
          <a:bodyPr wrap="square" lIns="0" tIns="0" rIns="0" bIns="0" rtlCol="0" anchor="ctr"/>
          <a:lstStyle/>
          <a:p>
            <a:pPr indent="0" marL="0">
              <a:buNone/>
            </a:pPr>
            <a:r>
              <a:rPr lang="en-US" sz="1000" b="1" dirty="0">
                <a:solidFill>
                  <a:srgbClr val="0A1F44"/>
                </a:solidFill>
                <a:latin typeface="Inter" pitchFamily="34" charset="0"/>
                <a:ea typeface="Inter" pitchFamily="34" charset="-122"/>
                <a:cs typeface="Inter" pitchFamily="34" charset="-120"/>
              </a:rPr>
              <a:t>Paid social retargeting</a:t>
            </a:r>
            <a:endParaRPr lang="en-US" sz="1000" dirty="0"/>
          </a:p>
        </p:txBody>
      </p:sp>
      <p:sp>
        <p:nvSpPr>
          <p:cNvPr id="36" name="Shape 33"/>
          <p:cNvSpPr/>
          <p:nvPr/>
        </p:nvSpPr>
        <p:spPr>
          <a:xfrm>
            <a:off x="594360" y="3785616"/>
            <a:ext cx="419363" cy="128016"/>
          </a:xfrm>
          <a:prstGeom prst="rect">
            <a:avLst/>
          </a:prstGeom>
          <a:solidFill>
            <a:srgbClr val="93B4F5"/>
          </a:solidFill>
          <a:ln w="6350">
            <a:solidFill>
              <a:srgbClr val="93B4F5"/>
            </a:solidFill>
            <a:prstDash val="solid"/>
          </a:ln>
        </p:spPr>
      </p:sp>
      <p:sp>
        <p:nvSpPr>
          <p:cNvPr id="37" name="Text 34"/>
          <p:cNvSpPr txBox="1"/>
          <p:nvPr/>
        </p:nvSpPr>
        <p:spPr>
          <a:xfrm>
            <a:off x="1068587" y="3730752"/>
            <a:ext cx="548640" cy="219456"/>
          </a:xfrm>
          <a:prstGeom prst="rect">
            <a:avLst/>
          </a:prstGeom>
          <a:noFill/>
          <a:ln/>
        </p:spPr>
        <p:txBody>
          <a:bodyPr wrap="square" lIns="0" tIns="0" rIns="0" bIns="0" rtlCol="0" anchor="ctr"/>
          <a:lstStyle/>
          <a:p>
            <a:pPr indent="0" marL="0">
              <a:buNone/>
            </a:pPr>
            <a:r>
              <a:rPr lang="en-US" sz="850" b="1" dirty="0">
                <a:solidFill>
                  <a:srgbClr val="0A1F44"/>
                </a:solidFill>
                <a:latin typeface="Inter" pitchFamily="34" charset="0"/>
                <a:ea typeface="Inter" pitchFamily="34" charset="-122"/>
                <a:cs typeface="Inter" pitchFamily="34" charset="-120"/>
              </a:rPr>
              <a:t>$14M</a:t>
            </a:r>
            <a:endParaRPr lang="en-US" sz="850" dirty="0"/>
          </a:p>
        </p:txBody>
      </p:sp>
      <p:sp>
        <p:nvSpPr>
          <p:cNvPr id="38" name="Text 35"/>
          <p:cNvSpPr txBox="1"/>
          <p:nvPr/>
        </p:nvSpPr>
        <p:spPr>
          <a:xfrm>
            <a:off x="3931920" y="3438144"/>
            <a:ext cx="2514600" cy="566928"/>
          </a:xfrm>
          <a:prstGeom prst="rect">
            <a:avLst/>
          </a:prstGeom>
          <a:noFill/>
          <a:ln/>
        </p:spPr>
        <p:txBody>
          <a:bodyPr wrap="square" lIns="0" tIns="0" rIns="0" bIns="0" rtlCol="0" anchor="ctr"/>
          <a:lstStyle/>
          <a:p>
            <a:pPr indent="0" marL="0">
              <a:buNone/>
            </a:pPr>
            <a:r>
              <a:rPr lang="en-US" sz="900" dirty="0">
                <a:solidFill>
                  <a:srgbClr val="0F172A"/>
                </a:solidFill>
                <a:latin typeface="Inter" pitchFamily="34" charset="0"/>
                <a:ea typeface="Inter" pitchFamily="34" charset="-122"/>
                <a:cs typeface="Inter" pitchFamily="34" charset="-120"/>
              </a:rPr>
              <a:t>Re-aimed inside the line: suppression and frequency caps</a:t>
            </a:r>
            <a:endParaRPr lang="en-US" sz="900" dirty="0"/>
          </a:p>
        </p:txBody>
      </p:sp>
      <p:sp>
        <p:nvSpPr>
          <p:cNvPr id="39" name="Text 36"/>
          <p:cNvSpPr txBox="1"/>
          <p:nvPr/>
        </p:nvSpPr>
        <p:spPr>
          <a:xfrm>
            <a:off x="6537960" y="3438144"/>
            <a:ext cx="2468880" cy="566928"/>
          </a:xfrm>
          <a:prstGeom prst="rect">
            <a:avLst/>
          </a:prstGeom>
          <a:noFill/>
          <a:ln/>
        </p:spPr>
        <p:txBody>
          <a:bodyPr wrap="square" lIns="0" tIns="0" rIns="0" bIns="0" rtlCol="0" anchor="ctr"/>
          <a:lstStyle/>
          <a:p>
            <a:pPr indent="0" marL="0">
              <a:buNone/>
            </a:pPr>
            <a:r>
              <a:rPr lang="en-US" sz="900" dirty="0">
                <a:solidFill>
                  <a:srgbClr val="334155"/>
                </a:solidFill>
                <a:latin typeface="Inter" pitchFamily="34" charset="0"/>
                <a:ea typeface="Inter" pitchFamily="34" charset="-122"/>
                <a:cs typeface="Inter" pitchFamily="34" charset="-120"/>
              </a:rPr>
              <a:t>Repeats no better than organic, 23.0% vs 23.4% (A3b)</a:t>
            </a:r>
            <a:endParaRPr lang="en-US" sz="900" dirty="0"/>
          </a:p>
        </p:txBody>
      </p:sp>
      <p:sp>
        <p:nvSpPr>
          <p:cNvPr id="40" name="Text 37"/>
          <p:cNvSpPr txBox="1"/>
          <p:nvPr/>
        </p:nvSpPr>
        <p:spPr>
          <a:xfrm>
            <a:off x="9098280" y="3438144"/>
            <a:ext cx="2514600" cy="566928"/>
          </a:xfrm>
          <a:prstGeom prst="rect">
            <a:avLst/>
          </a:prstGeom>
          <a:noFill/>
          <a:ln/>
        </p:spPr>
        <p:txBody>
          <a:bodyPr wrap="square" lIns="0" tIns="0" rIns="0" bIns="0" rtlCol="0" anchor="ctr"/>
          <a:lstStyle/>
          <a:p>
            <a:pPr indent="0" marL="0">
              <a:buNone/>
            </a:pPr>
            <a:r>
              <a:rPr lang="en-US" sz="900" b="1" dirty="0">
                <a:solidFill>
                  <a:srgbClr val="0A1F44"/>
                </a:solidFill>
                <a:latin typeface="Inter" pitchFamily="34" charset="0"/>
                <a:ea typeface="Inter" pitchFamily="34" charset="-122"/>
                <a:cs typeface="Inter" pitchFamily="34" charset="-120"/>
              </a:rPr>
              <a:t>After day 90: up to $3.4M (24.5% × $14M) moves to owned, as the holdout proves</a:t>
            </a:r>
            <a:endParaRPr lang="en-US" sz="900" dirty="0"/>
          </a:p>
        </p:txBody>
      </p:sp>
      <p:sp>
        <p:nvSpPr>
          <p:cNvPr id="41" name="Shape 38"/>
          <p:cNvSpPr/>
          <p:nvPr/>
        </p:nvSpPr>
        <p:spPr>
          <a:xfrm>
            <a:off x="502920" y="4078224"/>
            <a:ext cx="11183112" cy="566928"/>
          </a:xfrm>
          <a:prstGeom prst="roundRect">
            <a:avLst>
              <a:gd name="adj" fmla="val 8065"/>
            </a:avLst>
          </a:prstGeom>
          <a:solidFill>
            <a:srgbClr val="F8FAFC"/>
          </a:solidFill>
          <a:ln w="6350">
            <a:solidFill>
              <a:srgbClr val="F8FAFC"/>
            </a:solidFill>
            <a:prstDash val="solid"/>
          </a:ln>
        </p:spPr>
      </p:sp>
      <p:sp>
        <p:nvSpPr>
          <p:cNvPr id="42" name="Text 39"/>
          <p:cNvSpPr txBox="1"/>
          <p:nvPr/>
        </p:nvSpPr>
        <p:spPr>
          <a:xfrm>
            <a:off x="594360" y="4105656"/>
            <a:ext cx="1828800" cy="274320"/>
          </a:xfrm>
          <a:prstGeom prst="rect">
            <a:avLst/>
          </a:prstGeom>
          <a:noFill/>
          <a:ln/>
        </p:spPr>
        <p:txBody>
          <a:bodyPr wrap="square" lIns="0" tIns="0" rIns="0" bIns="0" rtlCol="0" anchor="ctr"/>
          <a:lstStyle/>
          <a:p>
            <a:pPr indent="0" marL="0">
              <a:buNone/>
            </a:pPr>
            <a:r>
              <a:rPr lang="en-US" sz="1000" b="1" dirty="0">
                <a:solidFill>
                  <a:srgbClr val="0A1F44"/>
                </a:solidFill>
                <a:latin typeface="Inter" pitchFamily="34" charset="0"/>
                <a:ea typeface="Inter" pitchFamily="34" charset="-122"/>
                <a:cs typeface="Inter" pitchFamily="34" charset="-120"/>
              </a:rPr>
              <a:t>Email, SMS, app</a:t>
            </a:r>
            <a:endParaRPr lang="en-US" sz="1000" dirty="0"/>
          </a:p>
        </p:txBody>
      </p:sp>
      <p:sp>
        <p:nvSpPr>
          <p:cNvPr id="43" name="Shape 40"/>
          <p:cNvSpPr/>
          <p:nvPr/>
        </p:nvSpPr>
        <p:spPr>
          <a:xfrm>
            <a:off x="594360" y="4425696"/>
            <a:ext cx="179727" cy="128016"/>
          </a:xfrm>
          <a:prstGeom prst="rect">
            <a:avLst/>
          </a:prstGeom>
          <a:solidFill>
            <a:srgbClr val="1D4ED8"/>
          </a:solidFill>
          <a:ln w="6350">
            <a:solidFill>
              <a:srgbClr val="1D4ED8"/>
            </a:solidFill>
            <a:prstDash val="solid"/>
          </a:ln>
        </p:spPr>
      </p:sp>
      <p:sp>
        <p:nvSpPr>
          <p:cNvPr id="44" name="Text 41"/>
          <p:cNvSpPr txBox="1"/>
          <p:nvPr/>
        </p:nvSpPr>
        <p:spPr>
          <a:xfrm>
            <a:off x="828951" y="4370832"/>
            <a:ext cx="548640" cy="219456"/>
          </a:xfrm>
          <a:prstGeom prst="rect">
            <a:avLst/>
          </a:prstGeom>
          <a:noFill/>
          <a:ln/>
        </p:spPr>
        <p:txBody>
          <a:bodyPr wrap="square" lIns="0" tIns="0" rIns="0" bIns="0" rtlCol="0" anchor="ctr"/>
          <a:lstStyle/>
          <a:p>
            <a:pPr indent="0" marL="0">
              <a:buNone/>
            </a:pPr>
            <a:r>
              <a:rPr lang="en-US" sz="850" b="1" dirty="0">
                <a:solidFill>
                  <a:srgbClr val="0A1F44"/>
                </a:solidFill>
                <a:latin typeface="Inter" pitchFamily="34" charset="0"/>
                <a:ea typeface="Inter" pitchFamily="34" charset="-122"/>
                <a:cs typeface="Inter" pitchFamily="34" charset="-120"/>
              </a:rPr>
              <a:t>$6M</a:t>
            </a:r>
            <a:endParaRPr lang="en-US" sz="850" dirty="0"/>
          </a:p>
        </p:txBody>
      </p:sp>
      <p:sp>
        <p:nvSpPr>
          <p:cNvPr id="45" name="Text 42"/>
          <p:cNvSpPr txBox="1"/>
          <p:nvPr/>
        </p:nvSpPr>
        <p:spPr>
          <a:xfrm>
            <a:off x="3931920" y="4078224"/>
            <a:ext cx="2514600" cy="566928"/>
          </a:xfrm>
          <a:prstGeom prst="rect">
            <a:avLst/>
          </a:prstGeom>
          <a:noFill/>
          <a:ln/>
        </p:spPr>
        <p:txBody>
          <a:bodyPr wrap="square" lIns="0" tIns="0" rIns="0" bIns="0" rtlCol="0" anchor="ctr"/>
          <a:lstStyle/>
          <a:p>
            <a:pPr indent="0" marL="0">
              <a:buNone/>
            </a:pPr>
            <a:r>
              <a:rPr lang="en-US" sz="900" dirty="0">
                <a:solidFill>
                  <a:srgbClr val="0F172A"/>
                </a:solidFill>
                <a:latin typeface="Inter" pitchFamily="34" charset="0"/>
                <a:ea typeface="Inter" pitchFamily="34" charset="-122"/>
                <a:cs typeface="Inter" pitchFamily="34" charset="-120"/>
              </a:rPr>
              <a:t>Option A: $2–3M of this line funds activation platform, lifecycle team, content and CRM</a:t>
            </a:r>
            <a:endParaRPr lang="en-US" sz="900" dirty="0"/>
          </a:p>
        </p:txBody>
      </p:sp>
      <p:sp>
        <p:nvSpPr>
          <p:cNvPr id="46" name="Text 43"/>
          <p:cNvSpPr txBox="1"/>
          <p:nvPr/>
        </p:nvSpPr>
        <p:spPr>
          <a:xfrm>
            <a:off x="6537960" y="4078224"/>
            <a:ext cx="2468880" cy="566928"/>
          </a:xfrm>
          <a:prstGeom prst="rect">
            <a:avLst/>
          </a:prstGeom>
          <a:noFill/>
          <a:ln/>
        </p:spPr>
        <p:txBody>
          <a:bodyPr wrap="square" lIns="0" tIns="0" rIns="0" bIns="0" rtlCol="0" anchor="ctr"/>
          <a:lstStyle/>
          <a:p>
            <a:pPr indent="0" marL="0">
              <a:buNone/>
            </a:pPr>
            <a:r>
              <a:rPr lang="en-US" sz="900" dirty="0">
                <a:solidFill>
                  <a:srgbClr val="334155"/>
                </a:solidFill>
                <a:latin typeface="Inter" pitchFamily="34" charset="0"/>
                <a:ea typeface="Inter" pitchFamily="34" charset="-122"/>
                <a:cs typeface="Inter" pitchFamily="34" charset="-120"/>
              </a:rPr>
              <a:t>Engaged buyers repeat 28.1% vs 4.7% (A2)</a:t>
            </a:r>
            <a:endParaRPr lang="en-US" sz="900" dirty="0"/>
          </a:p>
        </p:txBody>
      </p:sp>
      <p:sp>
        <p:nvSpPr>
          <p:cNvPr id="47" name="Text 44"/>
          <p:cNvSpPr txBox="1"/>
          <p:nvPr/>
        </p:nvSpPr>
        <p:spPr>
          <a:xfrm>
            <a:off x="9098280" y="4078224"/>
            <a:ext cx="2514600" cy="566928"/>
          </a:xfrm>
          <a:prstGeom prst="rect">
            <a:avLst/>
          </a:prstGeom>
          <a:noFill/>
          <a:ln/>
        </p:spPr>
        <p:txBody>
          <a:bodyPr wrap="square" lIns="0" tIns="0" rIns="0" bIns="0" rtlCol="0" anchor="ctr"/>
          <a:lstStyle/>
          <a:p>
            <a:pPr indent="0" marL="0">
              <a:buNone/>
            </a:pPr>
            <a:r>
              <a:rPr lang="en-US" sz="900" b="1" dirty="0">
                <a:solidFill>
                  <a:srgbClr val="0A1F44"/>
                </a:solidFill>
                <a:latin typeface="Inter" pitchFamily="34" charset="0"/>
                <a:ea typeface="Inter" pitchFamily="34" charset="-122"/>
                <a:cs typeface="Inter" pitchFamily="34" charset="-120"/>
              </a:rPr>
              <a:t>Receives every proven tranche</a:t>
            </a:r>
            <a:endParaRPr lang="en-US" sz="900" dirty="0"/>
          </a:p>
        </p:txBody>
      </p:sp>
      <p:sp>
        <p:nvSpPr>
          <p:cNvPr id="48" name="Shape 45"/>
          <p:cNvSpPr/>
          <p:nvPr/>
        </p:nvSpPr>
        <p:spPr>
          <a:xfrm>
            <a:off x="502920" y="4718304"/>
            <a:ext cx="11183112" cy="566928"/>
          </a:xfrm>
          <a:prstGeom prst="roundRect">
            <a:avLst>
              <a:gd name="adj" fmla="val 8065"/>
            </a:avLst>
          </a:prstGeom>
          <a:solidFill>
            <a:srgbClr val="FFFFFF"/>
          </a:solidFill>
          <a:ln w="6350">
            <a:solidFill>
              <a:srgbClr val="FFFFFF"/>
            </a:solidFill>
            <a:prstDash val="solid"/>
          </a:ln>
        </p:spPr>
      </p:sp>
      <p:sp>
        <p:nvSpPr>
          <p:cNvPr id="49" name="Text 46"/>
          <p:cNvSpPr txBox="1"/>
          <p:nvPr/>
        </p:nvSpPr>
        <p:spPr>
          <a:xfrm>
            <a:off x="594360" y="4745736"/>
            <a:ext cx="1828800" cy="274320"/>
          </a:xfrm>
          <a:prstGeom prst="rect">
            <a:avLst/>
          </a:prstGeom>
          <a:noFill/>
          <a:ln/>
        </p:spPr>
        <p:txBody>
          <a:bodyPr wrap="square" lIns="0" tIns="0" rIns="0" bIns="0" rtlCol="0" anchor="ctr"/>
          <a:lstStyle/>
          <a:p>
            <a:pPr indent="0" marL="0">
              <a:buNone/>
            </a:pPr>
            <a:r>
              <a:rPr lang="en-US" sz="1000" b="1" dirty="0">
                <a:solidFill>
                  <a:srgbClr val="0A1F44"/>
                </a:solidFill>
                <a:latin typeface="Inter" pitchFamily="34" charset="0"/>
                <a:ea typeface="Inter" pitchFamily="34" charset="-122"/>
                <a:cs typeface="Inter" pitchFamily="34" charset="-120"/>
              </a:rPr>
              <a:t>Brand / other</a:t>
            </a:r>
            <a:endParaRPr lang="en-US" sz="1000" dirty="0"/>
          </a:p>
        </p:txBody>
      </p:sp>
      <p:sp>
        <p:nvSpPr>
          <p:cNvPr id="50" name="Shape 47"/>
          <p:cNvSpPr/>
          <p:nvPr/>
        </p:nvSpPr>
        <p:spPr>
          <a:xfrm>
            <a:off x="594360" y="5065776"/>
            <a:ext cx="119818" cy="128016"/>
          </a:xfrm>
          <a:prstGeom prst="rect">
            <a:avLst/>
          </a:prstGeom>
          <a:solidFill>
            <a:srgbClr val="93B4F5"/>
          </a:solidFill>
          <a:ln w="6350">
            <a:solidFill>
              <a:srgbClr val="93B4F5"/>
            </a:solidFill>
            <a:prstDash val="solid"/>
          </a:ln>
        </p:spPr>
      </p:sp>
      <p:sp>
        <p:nvSpPr>
          <p:cNvPr id="51" name="Text 48"/>
          <p:cNvSpPr txBox="1"/>
          <p:nvPr/>
        </p:nvSpPr>
        <p:spPr>
          <a:xfrm>
            <a:off x="769042" y="5010912"/>
            <a:ext cx="548640" cy="219456"/>
          </a:xfrm>
          <a:prstGeom prst="rect">
            <a:avLst/>
          </a:prstGeom>
          <a:noFill/>
          <a:ln/>
        </p:spPr>
        <p:txBody>
          <a:bodyPr wrap="square" lIns="0" tIns="0" rIns="0" bIns="0" rtlCol="0" anchor="ctr"/>
          <a:lstStyle/>
          <a:p>
            <a:pPr indent="0" marL="0">
              <a:buNone/>
            </a:pPr>
            <a:r>
              <a:rPr lang="en-US" sz="850" b="1" dirty="0">
                <a:solidFill>
                  <a:srgbClr val="0A1F44"/>
                </a:solidFill>
                <a:latin typeface="Inter" pitchFamily="34" charset="0"/>
                <a:ea typeface="Inter" pitchFamily="34" charset="-122"/>
                <a:cs typeface="Inter" pitchFamily="34" charset="-120"/>
              </a:rPr>
              <a:t>$4M</a:t>
            </a:r>
            <a:endParaRPr lang="en-US" sz="850" dirty="0"/>
          </a:p>
        </p:txBody>
      </p:sp>
      <p:sp>
        <p:nvSpPr>
          <p:cNvPr id="52" name="Text 49"/>
          <p:cNvSpPr txBox="1"/>
          <p:nvPr/>
        </p:nvSpPr>
        <p:spPr>
          <a:xfrm>
            <a:off x="3931920" y="4718304"/>
            <a:ext cx="2514600" cy="566928"/>
          </a:xfrm>
          <a:prstGeom prst="rect">
            <a:avLst/>
          </a:prstGeom>
          <a:noFill/>
          <a:ln/>
        </p:spPr>
        <p:txBody>
          <a:bodyPr wrap="square" lIns="0" tIns="0" rIns="0" bIns="0" rtlCol="0" anchor="ctr"/>
          <a:lstStyle/>
          <a:p>
            <a:pPr indent="0" marL="0">
              <a:buNone/>
            </a:pPr>
            <a:r>
              <a:rPr lang="en-US" sz="900" dirty="0">
                <a:solidFill>
                  <a:srgbClr val="0F172A"/>
                </a:solidFill>
                <a:latin typeface="Inter" pitchFamily="34" charset="0"/>
                <a:ea typeface="Inter" pitchFamily="34" charset="-122"/>
                <a:cs typeface="Inter" pitchFamily="34" charset="-120"/>
              </a:rPr>
              <a:t>Unchanged; The Fitting Room tested only if it fits this line</a:t>
            </a:r>
            <a:endParaRPr lang="en-US" sz="900" dirty="0"/>
          </a:p>
        </p:txBody>
      </p:sp>
      <p:sp>
        <p:nvSpPr>
          <p:cNvPr id="53" name="Text 50"/>
          <p:cNvSpPr txBox="1"/>
          <p:nvPr/>
        </p:nvSpPr>
        <p:spPr>
          <a:xfrm>
            <a:off x="6537960" y="4718304"/>
            <a:ext cx="2468880" cy="566928"/>
          </a:xfrm>
          <a:prstGeom prst="rect">
            <a:avLst/>
          </a:prstGeom>
          <a:noFill/>
          <a:ln/>
        </p:spPr>
        <p:txBody>
          <a:bodyPr wrap="square" lIns="0" tIns="0" rIns="0" bIns="0" rtlCol="0" anchor="ctr"/>
          <a:lstStyle/>
          <a:p>
            <a:pPr indent="0" marL="0">
              <a:buNone/>
            </a:pPr>
            <a:r>
              <a:rPr lang="en-US" sz="900" dirty="0">
                <a:solidFill>
                  <a:srgbClr val="334155"/>
                </a:solidFill>
                <a:latin typeface="Inter" pitchFamily="34" charset="0"/>
                <a:ea typeface="Inter" pitchFamily="34" charset="-122"/>
                <a:cs typeface="Inter" pitchFamily="34" charset="-120"/>
              </a:rPr>
              <a:t>Asset-light pop-up, no store</a:t>
            </a:r>
            <a:endParaRPr lang="en-US" sz="900" dirty="0"/>
          </a:p>
        </p:txBody>
      </p:sp>
      <p:sp>
        <p:nvSpPr>
          <p:cNvPr id="54" name="Text 51"/>
          <p:cNvSpPr txBox="1"/>
          <p:nvPr/>
        </p:nvSpPr>
        <p:spPr>
          <a:xfrm>
            <a:off x="9098280" y="4718304"/>
            <a:ext cx="2514600" cy="566928"/>
          </a:xfrm>
          <a:prstGeom prst="rect">
            <a:avLst/>
          </a:prstGeom>
          <a:noFill/>
          <a:ln/>
        </p:spPr>
        <p:txBody>
          <a:bodyPr wrap="square" lIns="0" tIns="0" rIns="0" bIns="0" rtlCol="0" anchor="ctr"/>
          <a:lstStyle/>
          <a:p>
            <a:pPr indent="0" marL="0">
              <a:buNone/>
            </a:pPr>
            <a:r>
              <a:rPr lang="en-US" sz="900" b="1" dirty="0">
                <a:solidFill>
                  <a:srgbClr val="0A1F44"/>
                </a:solidFill>
                <a:latin typeface="Inter" pitchFamily="34" charset="0"/>
                <a:ea typeface="Inter" pitchFamily="34" charset="-122"/>
                <a:cs typeface="Inter" pitchFamily="34" charset="-120"/>
              </a:rPr>
              <a:t>One-season test; stopped if attendee repeat doesn't beat a matched holdout</a:t>
            </a:r>
            <a:endParaRPr lang="en-US" sz="900" dirty="0"/>
          </a:p>
        </p:txBody>
      </p:sp>
      <p:sp>
        <p:nvSpPr>
          <p:cNvPr id="55" name="Shape 52"/>
          <p:cNvSpPr/>
          <p:nvPr/>
        </p:nvSpPr>
        <p:spPr>
          <a:xfrm>
            <a:off x="502920" y="5486400"/>
            <a:ext cx="11183112" cy="512064"/>
          </a:xfrm>
          <a:prstGeom prst="roundRect">
            <a:avLst>
              <a:gd name="adj" fmla="val 17857"/>
            </a:avLst>
          </a:prstGeom>
          <a:solidFill>
            <a:srgbClr val="EFF6FF"/>
          </a:solidFill>
          <a:ln w="6350">
            <a:solidFill>
              <a:srgbClr val="EFF6FF"/>
            </a:solidFill>
            <a:prstDash val="solid"/>
          </a:ln>
        </p:spPr>
      </p:sp>
      <p:sp>
        <p:nvSpPr>
          <p:cNvPr id="56" name="Shape 53"/>
          <p:cNvSpPr/>
          <p:nvPr/>
        </p:nvSpPr>
        <p:spPr>
          <a:xfrm>
            <a:off x="640080" y="5577840"/>
            <a:ext cx="329184" cy="329184"/>
          </a:xfrm>
          <a:prstGeom prst="ellipse">
            <a:avLst/>
          </a:prstGeom>
          <a:solidFill>
            <a:srgbClr val="1D4ED8"/>
          </a:solidFill>
          <a:ln w="6350">
            <a:solidFill>
              <a:srgbClr val="1D4ED8"/>
            </a:solidFill>
            <a:prstDash val="solid"/>
          </a:ln>
        </p:spPr>
      </p:sp>
      <p:pic>
        <p:nvPicPr>
          <p:cNvPr id="57" name="Image 1" descr="preencoded.png">    </p:cNvPr>
          <p:cNvPicPr>
            <a:picLocks noChangeAspect="1"/>
          </p:cNvPicPr>
          <p:nvPr/>
        </p:nvPicPr>
        <p:blipFill>
          <a:blip r:embed="rId2"/>
          <a:stretch>
            <a:fillRect/>
          </a:stretch>
        </p:blipFill>
        <p:spPr>
          <a:xfrm>
            <a:off x="712500" y="5650260"/>
            <a:ext cx="184343" cy="184343"/>
          </a:xfrm>
          <a:prstGeom prst="rect">
            <a:avLst/>
          </a:prstGeom>
        </p:spPr>
      </p:pic>
      <p:sp>
        <p:nvSpPr>
          <p:cNvPr id="58" name="Text 54"/>
          <p:cNvSpPr txBox="1"/>
          <p:nvPr/>
        </p:nvSpPr>
        <p:spPr>
          <a:xfrm>
            <a:off x="1097280" y="5486400"/>
            <a:ext cx="10424160" cy="512064"/>
          </a:xfrm>
          <a:prstGeom prst="rect">
            <a:avLst/>
          </a:prstGeom>
          <a:noFill/>
          <a:ln/>
        </p:spPr>
        <p:txBody>
          <a:bodyPr wrap="square" lIns="0" tIns="0" rIns="0" bIns="0" rtlCol="0" anchor="ctr"/>
          <a:lstStyle/>
          <a:p>
            <a:pPr indent="0" marL="0">
              <a:buNone/>
            </a:pPr>
            <a:r>
              <a:rPr lang="en-US" sz="1300" b="1" dirty="0">
                <a:solidFill>
                  <a:srgbClr val="0A1F44"/>
                </a:solidFill>
                <a:latin typeface="Inter" pitchFamily="34" charset="0"/>
                <a:ea typeface="Inter" pitchFamily="34" charset="-122"/>
                <a:cs typeface="Inter" pitchFamily="34" charset="-120"/>
              </a:rPr>
              <a:t>Net change: $0. Money leaves rented lines in three steps, each sized by what its holdout proves</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9326880" cy="841248"/>
          </a:xfrm>
          <a:prstGeom prst="rect">
            <a:avLst/>
          </a:prstGeom>
          <a:noFill/>
          <a:ln/>
        </p:spPr>
        <p:txBody>
          <a:bodyPr wrap="square" lIns="0" tIns="0" rIns="0" bIns="0" rtlCol="0" anchor="ctr"/>
          <a:lstStyle/>
          <a:p>
            <a:pPr indent="0" marL="0">
              <a:buNone/>
            </a:pPr>
            <a:r>
              <a:rPr lang="en-US" sz="2400" b="1" dirty="0">
                <a:solidFill>
                  <a:srgbClr val="0A1F44"/>
                </a:solidFill>
                <a:latin typeface="Inter" pitchFamily="34" charset="0"/>
                <a:ea typeface="Inter" pitchFamily="34" charset="-122"/>
                <a:cs typeface="Inter" pitchFamily="34" charset="-120"/>
              </a:rPr>
              <a:t>What +6 points takes, in the case's own numbers</a:t>
            </a:r>
            <a:endParaRPr lang="en-US" sz="2400" dirty="0"/>
          </a:p>
        </p:txBody>
      </p:sp>
      <p:pic>
        <p:nvPicPr>
          <p:cNvPr id="3" name="Image 0" descr="/tmp/claude-0/-home-user-Quince/7efe80ae-a049-50c2-9886-98bf7ca3a04a/scratchpad/assets/quince.png">    </p:cNvPr>
          <p:cNvPicPr>
            <a:picLocks noChangeAspect="1"/>
          </p:cNvPicPr>
          <p:nvPr/>
        </p:nvPicPr>
        <p:blipFill>
          <a:blip r:embed="rId1"/>
          <a:stretch>
            <a:fillRect/>
          </a:stretch>
        </p:blipFill>
        <p:spPr>
          <a:xfrm>
            <a:off x="10236708" y="615544"/>
            <a:ext cx="777240" cy="231951"/>
          </a:xfrm>
          <a:prstGeom prst="rect">
            <a:avLst/>
          </a:prstGeom>
        </p:spPr>
      </p:pic>
      <p:sp>
        <p:nvSpPr>
          <p:cNvPr id="4" name="Shape 1"/>
          <p:cNvSpPr/>
          <p:nvPr/>
        </p:nvSpPr>
        <p:spPr>
          <a:xfrm>
            <a:off x="11155680" y="603504"/>
            <a:ext cx="530352" cy="256032"/>
          </a:xfrm>
          <a:prstGeom prst="roundRect">
            <a:avLst>
              <a:gd name="adj" fmla="val 50000"/>
            </a:avLst>
          </a:prstGeom>
          <a:solidFill>
            <a:srgbClr val="0A1F44"/>
          </a:solidFill>
          <a:ln w="6350">
            <a:solidFill>
              <a:srgbClr val="0A1F44"/>
            </a:solidFill>
            <a:prstDash val="solid"/>
          </a:ln>
        </p:spPr>
      </p:sp>
      <p:sp>
        <p:nvSpPr>
          <p:cNvPr id="5" name="Text 2"/>
          <p:cNvSpPr txBox="1"/>
          <p:nvPr/>
        </p:nvSpPr>
        <p:spPr>
          <a:xfrm>
            <a:off x="11155680" y="603504"/>
            <a:ext cx="530352"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Inter" pitchFamily="34" charset="0"/>
                <a:ea typeface="Inter" pitchFamily="34" charset="-122"/>
                <a:cs typeface="Inter" pitchFamily="34" charset="-120"/>
              </a:rPr>
              <a:t>G27</a:t>
            </a:r>
            <a:endParaRPr lang="en-US" sz="950" dirty="0"/>
          </a:p>
        </p:txBody>
      </p:sp>
      <p:sp>
        <p:nvSpPr>
          <p:cNvPr id="6" name="Shape 3"/>
          <p:cNvSpPr/>
          <p:nvPr/>
        </p:nvSpPr>
        <p:spPr>
          <a:xfrm>
            <a:off x="502920" y="6400800"/>
            <a:ext cx="11183112" cy="0"/>
          </a:xfrm>
          <a:prstGeom prst="line">
            <a:avLst/>
          </a:prstGeom>
          <a:noFill/>
          <a:ln w="9525">
            <a:solidFill>
              <a:srgbClr val="E2E8F0"/>
            </a:solidFill>
            <a:prstDash val="solid"/>
          </a:ln>
        </p:spPr>
      </p:sp>
      <p:sp>
        <p:nvSpPr>
          <p:cNvPr id="7" name="Text 4"/>
          <p:cNvSpPr txBox="1"/>
          <p:nvPr/>
        </p:nvSpPr>
        <p:spPr>
          <a:xfrm>
            <a:off x="502920" y="6464808"/>
            <a:ext cx="9418320" cy="256032"/>
          </a:xfrm>
          <a:prstGeom prst="rect">
            <a:avLst/>
          </a:prstGeom>
          <a:noFill/>
          <a:ln/>
        </p:spPr>
        <p:txBody>
          <a:bodyPr wrap="square" lIns="0" tIns="0" rIns="0" bIns="0" rtlCol="0" anchor="ctr"/>
          <a:lstStyle/>
          <a:p>
            <a:pPr indent="0" marL="0">
              <a:buNone/>
            </a:pPr>
            <a:r>
              <a:rPr lang="en-US" sz="800" dirty="0">
                <a:solidFill>
                  <a:srgbClr val="64748B"/>
                </a:solidFill>
                <a:latin typeface="Inter" pitchFamily="34" charset="0"/>
                <a:ea typeface="Inter" pitchFamily="34" charset="-122"/>
                <a:cs typeface="Inter" pitchFamily="34" charset="-120"/>
              </a:rPr>
              <a:t>Source: case Exhibits E (90-day repeat by engagement type) and J (impact of a 6-point gain); Adobe CJA A5. Arithmetic on case figures, not a forecast.</a:t>
            </a:r>
            <a:endParaRPr lang="en-US" sz="800" dirty="0"/>
          </a:p>
        </p:txBody>
      </p:sp>
      <p:sp>
        <p:nvSpPr>
          <p:cNvPr id="8" name="Text 5"/>
          <p:cNvSpPr txBox="1"/>
          <p:nvPr/>
        </p:nvSpPr>
        <p:spPr>
          <a:xfrm>
            <a:off x="9966960" y="6464808"/>
            <a:ext cx="1719072" cy="256032"/>
          </a:xfrm>
          <a:prstGeom prst="rect">
            <a:avLst/>
          </a:prstGeom>
          <a:noFill/>
          <a:ln/>
        </p:spPr>
        <p:txBody>
          <a:bodyPr wrap="square" lIns="0" tIns="0" rIns="0" bIns="0" rtlCol="0" anchor="ctr"/>
          <a:lstStyle/>
          <a:p>
            <a:pPr algn="r" indent="0" marL="0">
              <a:buNone/>
            </a:pPr>
            <a:r>
              <a:rPr lang="en-US" sz="800" dirty="0">
                <a:solidFill>
                  <a:srgbClr val="64748B"/>
                </a:solidFill>
                <a:latin typeface="Inter" pitchFamily="34" charset="0"/>
                <a:ea typeface="Inter" pitchFamily="34" charset="-122"/>
                <a:cs typeface="Inter" pitchFamily="34" charset="-120"/>
              </a:rPr>
              <a:t>Team G27  ·  22</a:t>
            </a:r>
            <a:endParaRPr lang="en-US" sz="800" dirty="0"/>
          </a:p>
        </p:txBody>
      </p:sp>
      <p:sp>
        <p:nvSpPr>
          <p:cNvPr id="9" name="Text 6"/>
          <p:cNvSpPr txBox="1"/>
          <p:nvPr/>
        </p:nvSpPr>
        <p:spPr>
          <a:xfrm>
            <a:off x="502920" y="1261872"/>
            <a:ext cx="4023360" cy="274320"/>
          </a:xfrm>
          <a:prstGeom prst="rect">
            <a:avLst/>
          </a:prstGeom>
          <a:noFill/>
          <a:ln/>
        </p:spPr>
        <p:txBody>
          <a:bodyPr wrap="square" lIns="0" tIns="0" rIns="0" bIns="0" rtlCol="0" anchor="t"/>
          <a:lstStyle/>
          <a:p>
            <a:pPr indent="0" marL="0">
              <a:buNone/>
            </a:pPr>
            <a:r>
              <a:rPr lang="en-US" sz="1200" b="1" dirty="0">
                <a:solidFill>
                  <a:srgbClr val="0A1F44"/>
                </a:solidFill>
                <a:latin typeface="Inter" pitchFamily="34" charset="0"/>
                <a:ea typeface="Inter" pitchFamily="34" charset="-122"/>
                <a:cs typeface="Inter" pitchFamily="34" charset="-120"/>
              </a:rPr>
              <a:t>90-day repeat by engagement (Exhibit E)</a:t>
            </a:r>
            <a:endParaRPr lang="en-US" sz="1200" dirty="0"/>
          </a:p>
        </p:txBody>
      </p:sp>
      <p:sp>
        <p:nvSpPr>
          <p:cNvPr id="10" name="Text 7"/>
          <p:cNvSpPr txBox="1"/>
          <p:nvPr/>
        </p:nvSpPr>
        <p:spPr>
          <a:xfrm>
            <a:off x="502920" y="1737360"/>
            <a:ext cx="3931920" cy="256032"/>
          </a:xfrm>
          <a:prstGeom prst="rect">
            <a:avLst/>
          </a:prstGeom>
          <a:noFill/>
          <a:ln/>
        </p:spPr>
        <p:txBody>
          <a:bodyPr wrap="square" lIns="0" tIns="0" rIns="0" bIns="0" rtlCol="0" anchor="t"/>
          <a:lstStyle/>
          <a:p>
            <a:pPr indent="0" marL="0">
              <a:buNone/>
            </a:pPr>
            <a:r>
              <a:rPr lang="en-US" sz="1050" dirty="0">
                <a:solidFill>
                  <a:srgbClr val="0F172A"/>
                </a:solidFill>
                <a:latin typeface="Inter" pitchFamily="34" charset="0"/>
                <a:ea typeface="Inter" pitchFamily="34" charset="-122"/>
                <a:cs typeface="Inter" pitchFamily="34" charset="-120"/>
              </a:rPr>
              <a:t>App-installed</a:t>
            </a:r>
            <a:endParaRPr lang="en-US" sz="1050" dirty="0"/>
          </a:p>
        </p:txBody>
      </p:sp>
      <p:sp>
        <p:nvSpPr>
          <p:cNvPr id="11" name="Shape 8"/>
          <p:cNvSpPr/>
          <p:nvPr/>
        </p:nvSpPr>
        <p:spPr>
          <a:xfrm>
            <a:off x="502920" y="2029968"/>
            <a:ext cx="3108960" cy="292608"/>
          </a:xfrm>
          <a:prstGeom prst="rect">
            <a:avLst/>
          </a:prstGeom>
          <a:solidFill>
            <a:srgbClr val="1D4ED8"/>
          </a:solidFill>
          <a:ln w="6350">
            <a:solidFill>
              <a:srgbClr val="1D4ED8"/>
            </a:solidFill>
            <a:prstDash val="solid"/>
          </a:ln>
        </p:spPr>
      </p:sp>
      <p:sp>
        <p:nvSpPr>
          <p:cNvPr id="12" name="Text 9"/>
          <p:cNvSpPr txBox="1"/>
          <p:nvPr/>
        </p:nvSpPr>
        <p:spPr>
          <a:xfrm>
            <a:off x="3685032" y="2011680"/>
            <a:ext cx="640080" cy="329184"/>
          </a:xfrm>
          <a:prstGeom prst="rect">
            <a:avLst/>
          </a:prstGeom>
          <a:noFill/>
          <a:ln/>
        </p:spPr>
        <p:txBody>
          <a:bodyPr wrap="square" lIns="0" tIns="0" rIns="0" bIns="0" rtlCol="0" anchor="ctr"/>
          <a:lstStyle/>
          <a:p>
            <a:pPr indent="0" marL="0">
              <a:buNone/>
            </a:pPr>
            <a:r>
              <a:rPr lang="en-US" sz="1200" b="1" dirty="0">
                <a:solidFill>
                  <a:srgbClr val="0A1F44"/>
                </a:solidFill>
                <a:latin typeface="Inter" pitchFamily="34" charset="0"/>
                <a:ea typeface="Inter" pitchFamily="34" charset="-122"/>
                <a:cs typeface="Inter" pitchFamily="34" charset="-120"/>
              </a:rPr>
              <a:t>38%</a:t>
            </a:r>
            <a:endParaRPr lang="en-US" sz="1200" dirty="0"/>
          </a:p>
        </p:txBody>
      </p:sp>
      <p:sp>
        <p:nvSpPr>
          <p:cNvPr id="13" name="Text 10"/>
          <p:cNvSpPr txBox="1"/>
          <p:nvPr/>
        </p:nvSpPr>
        <p:spPr>
          <a:xfrm>
            <a:off x="502920" y="2514600"/>
            <a:ext cx="3931920" cy="256032"/>
          </a:xfrm>
          <a:prstGeom prst="rect">
            <a:avLst/>
          </a:prstGeom>
          <a:noFill/>
          <a:ln/>
        </p:spPr>
        <p:txBody>
          <a:bodyPr wrap="square" lIns="0" tIns="0" rIns="0" bIns="0" rtlCol="0" anchor="t"/>
          <a:lstStyle/>
          <a:p>
            <a:pPr indent="0" marL="0">
              <a:buNone/>
            </a:pPr>
            <a:r>
              <a:rPr lang="en-US" sz="1050" dirty="0">
                <a:solidFill>
                  <a:srgbClr val="0F172A"/>
                </a:solidFill>
                <a:latin typeface="Inter" pitchFamily="34" charset="0"/>
                <a:ea typeface="Inter" pitchFamily="34" charset="-122"/>
                <a:cs typeface="Inter" pitchFamily="34" charset="-120"/>
              </a:rPr>
              <a:t>Email/SMS-subscribed</a:t>
            </a:r>
            <a:endParaRPr lang="en-US" sz="1050" dirty="0"/>
          </a:p>
        </p:txBody>
      </p:sp>
      <p:sp>
        <p:nvSpPr>
          <p:cNvPr id="14" name="Shape 11"/>
          <p:cNvSpPr/>
          <p:nvPr/>
        </p:nvSpPr>
        <p:spPr>
          <a:xfrm>
            <a:off x="502920" y="2807208"/>
            <a:ext cx="2372627" cy="292608"/>
          </a:xfrm>
          <a:prstGeom prst="rect">
            <a:avLst/>
          </a:prstGeom>
          <a:solidFill>
            <a:srgbClr val="2563EB"/>
          </a:solidFill>
          <a:ln w="6350">
            <a:solidFill>
              <a:srgbClr val="2563EB"/>
            </a:solidFill>
            <a:prstDash val="solid"/>
          </a:ln>
        </p:spPr>
      </p:sp>
      <p:sp>
        <p:nvSpPr>
          <p:cNvPr id="15" name="Text 12"/>
          <p:cNvSpPr txBox="1"/>
          <p:nvPr/>
        </p:nvSpPr>
        <p:spPr>
          <a:xfrm>
            <a:off x="2948699" y="2788920"/>
            <a:ext cx="640080" cy="329184"/>
          </a:xfrm>
          <a:prstGeom prst="rect">
            <a:avLst/>
          </a:prstGeom>
          <a:noFill/>
          <a:ln/>
        </p:spPr>
        <p:txBody>
          <a:bodyPr wrap="square" lIns="0" tIns="0" rIns="0" bIns="0" rtlCol="0" anchor="ctr"/>
          <a:lstStyle/>
          <a:p>
            <a:pPr indent="0" marL="0">
              <a:buNone/>
            </a:pPr>
            <a:r>
              <a:rPr lang="en-US" sz="1200" b="1" dirty="0">
                <a:solidFill>
                  <a:srgbClr val="0A1F44"/>
                </a:solidFill>
                <a:latin typeface="Inter" pitchFamily="34" charset="0"/>
                <a:ea typeface="Inter" pitchFamily="34" charset="-122"/>
                <a:cs typeface="Inter" pitchFamily="34" charset="-120"/>
              </a:rPr>
              <a:t>29%</a:t>
            </a:r>
            <a:endParaRPr lang="en-US" sz="1200" dirty="0"/>
          </a:p>
        </p:txBody>
      </p:sp>
      <p:sp>
        <p:nvSpPr>
          <p:cNvPr id="16" name="Text 13"/>
          <p:cNvSpPr txBox="1"/>
          <p:nvPr/>
        </p:nvSpPr>
        <p:spPr>
          <a:xfrm>
            <a:off x="502920" y="3291840"/>
            <a:ext cx="3931920" cy="256032"/>
          </a:xfrm>
          <a:prstGeom prst="rect">
            <a:avLst/>
          </a:prstGeom>
          <a:noFill/>
          <a:ln/>
        </p:spPr>
        <p:txBody>
          <a:bodyPr wrap="square" lIns="0" tIns="0" rIns="0" bIns="0" rtlCol="0" anchor="t"/>
          <a:lstStyle/>
          <a:p>
            <a:pPr indent="0" marL="0">
              <a:buNone/>
            </a:pPr>
            <a:r>
              <a:rPr lang="en-US" sz="1050" dirty="0">
                <a:solidFill>
                  <a:srgbClr val="0F172A"/>
                </a:solidFill>
                <a:latin typeface="Inter" pitchFamily="34" charset="0"/>
                <a:ea typeface="Inter" pitchFamily="34" charset="-122"/>
                <a:cs typeface="Inter" pitchFamily="34" charset="-120"/>
              </a:rPr>
              <a:t>Blended average</a:t>
            </a:r>
            <a:endParaRPr lang="en-US" sz="1050" dirty="0"/>
          </a:p>
        </p:txBody>
      </p:sp>
      <p:sp>
        <p:nvSpPr>
          <p:cNvPr id="17" name="Shape 14"/>
          <p:cNvSpPr/>
          <p:nvPr/>
        </p:nvSpPr>
        <p:spPr>
          <a:xfrm>
            <a:off x="502920" y="3584448"/>
            <a:ext cx="1963554" cy="292608"/>
          </a:xfrm>
          <a:prstGeom prst="rect">
            <a:avLst/>
          </a:prstGeom>
          <a:solidFill>
            <a:srgbClr val="0A1F44"/>
          </a:solidFill>
          <a:ln w="6350">
            <a:solidFill>
              <a:srgbClr val="0A1F44"/>
            </a:solidFill>
            <a:prstDash val="solid"/>
          </a:ln>
        </p:spPr>
      </p:sp>
      <p:sp>
        <p:nvSpPr>
          <p:cNvPr id="18" name="Text 15"/>
          <p:cNvSpPr txBox="1"/>
          <p:nvPr/>
        </p:nvSpPr>
        <p:spPr>
          <a:xfrm>
            <a:off x="2539626" y="3566160"/>
            <a:ext cx="640080" cy="329184"/>
          </a:xfrm>
          <a:prstGeom prst="rect">
            <a:avLst/>
          </a:prstGeom>
          <a:noFill/>
          <a:ln/>
        </p:spPr>
        <p:txBody>
          <a:bodyPr wrap="square" lIns="0" tIns="0" rIns="0" bIns="0" rtlCol="0" anchor="ctr"/>
          <a:lstStyle/>
          <a:p>
            <a:pPr indent="0" marL="0">
              <a:buNone/>
            </a:pPr>
            <a:r>
              <a:rPr lang="en-US" sz="1200" b="1" dirty="0">
                <a:solidFill>
                  <a:srgbClr val="0A1F44"/>
                </a:solidFill>
                <a:latin typeface="Inter" pitchFamily="34" charset="0"/>
                <a:ea typeface="Inter" pitchFamily="34" charset="-122"/>
                <a:cs typeface="Inter" pitchFamily="34" charset="-120"/>
              </a:rPr>
              <a:t>24%</a:t>
            </a:r>
            <a:endParaRPr lang="en-US" sz="1200" dirty="0"/>
          </a:p>
        </p:txBody>
      </p:sp>
      <p:sp>
        <p:nvSpPr>
          <p:cNvPr id="19" name="Text 16"/>
          <p:cNvSpPr txBox="1"/>
          <p:nvPr/>
        </p:nvSpPr>
        <p:spPr>
          <a:xfrm>
            <a:off x="502920" y="4069080"/>
            <a:ext cx="3931920" cy="256032"/>
          </a:xfrm>
          <a:prstGeom prst="rect">
            <a:avLst/>
          </a:prstGeom>
          <a:noFill/>
          <a:ln/>
        </p:spPr>
        <p:txBody>
          <a:bodyPr wrap="square" lIns="0" tIns="0" rIns="0" bIns="0" rtlCol="0" anchor="t"/>
          <a:lstStyle/>
          <a:p>
            <a:pPr indent="0" marL="0">
              <a:buNone/>
            </a:pPr>
            <a:r>
              <a:rPr lang="en-US" sz="1050" dirty="0">
                <a:solidFill>
                  <a:srgbClr val="0F172A"/>
                </a:solidFill>
                <a:latin typeface="Inter" pitchFamily="34" charset="0"/>
                <a:ea typeface="Inter" pitchFamily="34" charset="-122"/>
                <a:cs typeface="Inter" pitchFamily="34" charset="-120"/>
              </a:rPr>
              <a:t>Web-only, unsubscribed</a:t>
            </a:r>
            <a:endParaRPr lang="en-US" sz="1050" dirty="0"/>
          </a:p>
        </p:txBody>
      </p:sp>
      <p:sp>
        <p:nvSpPr>
          <p:cNvPr id="20" name="Shape 17"/>
          <p:cNvSpPr/>
          <p:nvPr/>
        </p:nvSpPr>
        <p:spPr>
          <a:xfrm>
            <a:off x="502920" y="4361688"/>
            <a:ext cx="1063592" cy="292608"/>
          </a:xfrm>
          <a:prstGeom prst="rect">
            <a:avLst/>
          </a:prstGeom>
          <a:solidFill>
            <a:srgbClr val="94A3B8"/>
          </a:solidFill>
          <a:ln w="6350">
            <a:solidFill>
              <a:srgbClr val="94A3B8"/>
            </a:solidFill>
            <a:prstDash val="solid"/>
          </a:ln>
        </p:spPr>
      </p:sp>
      <p:sp>
        <p:nvSpPr>
          <p:cNvPr id="21" name="Text 18"/>
          <p:cNvSpPr txBox="1"/>
          <p:nvPr/>
        </p:nvSpPr>
        <p:spPr>
          <a:xfrm>
            <a:off x="1639664" y="4343400"/>
            <a:ext cx="640080" cy="329184"/>
          </a:xfrm>
          <a:prstGeom prst="rect">
            <a:avLst/>
          </a:prstGeom>
          <a:noFill/>
          <a:ln/>
        </p:spPr>
        <p:txBody>
          <a:bodyPr wrap="square" lIns="0" tIns="0" rIns="0" bIns="0" rtlCol="0" anchor="ctr"/>
          <a:lstStyle/>
          <a:p>
            <a:pPr indent="0" marL="0">
              <a:buNone/>
            </a:pPr>
            <a:r>
              <a:rPr lang="en-US" sz="1200" b="1" dirty="0">
                <a:solidFill>
                  <a:srgbClr val="0A1F44"/>
                </a:solidFill>
                <a:latin typeface="Inter" pitchFamily="34" charset="0"/>
                <a:ea typeface="Inter" pitchFamily="34" charset="-122"/>
                <a:cs typeface="Inter" pitchFamily="34" charset="-120"/>
              </a:rPr>
              <a:t>13%</a:t>
            </a:r>
            <a:endParaRPr lang="en-US" sz="1200" dirty="0"/>
          </a:p>
        </p:txBody>
      </p:sp>
      <p:sp>
        <p:nvSpPr>
          <p:cNvPr id="22" name="Text 19"/>
          <p:cNvSpPr txBox="1"/>
          <p:nvPr/>
        </p:nvSpPr>
        <p:spPr>
          <a:xfrm>
            <a:off x="4754880" y="1261872"/>
            <a:ext cx="3566160" cy="274320"/>
          </a:xfrm>
          <a:prstGeom prst="rect">
            <a:avLst/>
          </a:prstGeom>
          <a:noFill/>
          <a:ln/>
        </p:spPr>
        <p:txBody>
          <a:bodyPr wrap="square" lIns="0" tIns="0" rIns="0" bIns="0" rtlCol="0" anchor="t"/>
          <a:lstStyle/>
          <a:p>
            <a:pPr indent="0" marL="0">
              <a:buNone/>
            </a:pPr>
            <a:r>
              <a:rPr lang="en-US" sz="1200" b="1" dirty="0">
                <a:solidFill>
                  <a:srgbClr val="0A1F44"/>
                </a:solidFill>
                <a:latin typeface="Inter" pitchFamily="34" charset="0"/>
                <a:ea typeface="Inter" pitchFamily="34" charset="-122"/>
                <a:cs typeface="Inter" pitchFamily="34" charset="-120"/>
              </a:rPr>
              <a:t>What it takes to add 6 points</a:t>
            </a:r>
            <a:endParaRPr lang="en-US" sz="1200" dirty="0"/>
          </a:p>
        </p:txBody>
      </p:sp>
      <p:sp>
        <p:nvSpPr>
          <p:cNvPr id="23" name="Shape 20"/>
          <p:cNvSpPr/>
          <p:nvPr/>
        </p:nvSpPr>
        <p:spPr>
          <a:xfrm>
            <a:off x="4754880" y="1737360"/>
            <a:ext cx="3566160" cy="1325880"/>
          </a:xfrm>
          <a:prstGeom prst="roundRect">
            <a:avLst>
              <a:gd name="adj" fmla="val 5517"/>
            </a:avLst>
          </a:prstGeom>
          <a:solidFill>
            <a:srgbClr val="EFF6FF"/>
          </a:solidFill>
          <a:ln w="6350">
            <a:solidFill>
              <a:srgbClr val="EFF6FF"/>
            </a:solidFill>
            <a:prstDash val="solid"/>
          </a:ln>
        </p:spPr>
      </p:sp>
      <p:sp>
        <p:nvSpPr>
          <p:cNvPr id="24" name="Text 21"/>
          <p:cNvSpPr txBox="1"/>
          <p:nvPr/>
        </p:nvSpPr>
        <p:spPr>
          <a:xfrm>
            <a:off x="4919472" y="1847088"/>
            <a:ext cx="3291840" cy="502920"/>
          </a:xfrm>
          <a:prstGeom prst="rect">
            <a:avLst/>
          </a:prstGeom>
          <a:noFill/>
          <a:ln/>
        </p:spPr>
        <p:txBody>
          <a:bodyPr wrap="square" lIns="0" tIns="0" rIns="0" bIns="0" rtlCol="0" anchor="ctr"/>
          <a:lstStyle/>
          <a:p>
            <a:pPr indent="0" marL="0">
              <a:buNone/>
            </a:pPr>
            <a:r>
              <a:rPr lang="en-US" sz="2600" b="1" dirty="0">
                <a:solidFill>
                  <a:srgbClr val="1D4ED8"/>
                </a:solidFill>
                <a:latin typeface="Inter" pitchFamily="34" charset="0"/>
                <a:ea typeface="Inter" pitchFamily="34" charset="-122"/>
                <a:cs typeface="Inter" pitchFamily="34" charset="-120"/>
              </a:rPr>
              <a:t>24% → ~29%</a:t>
            </a:r>
            <a:endParaRPr lang="en-US" sz="2600" dirty="0"/>
          </a:p>
        </p:txBody>
      </p:sp>
      <p:sp>
        <p:nvSpPr>
          <p:cNvPr id="25" name="Text 22"/>
          <p:cNvSpPr txBox="1"/>
          <p:nvPr/>
        </p:nvSpPr>
        <p:spPr>
          <a:xfrm>
            <a:off x="4919472" y="2359152"/>
            <a:ext cx="3291840" cy="292608"/>
          </a:xfrm>
          <a:prstGeom prst="rect">
            <a:avLst/>
          </a:prstGeom>
          <a:noFill/>
          <a:ln/>
        </p:spPr>
        <p:txBody>
          <a:bodyPr wrap="square" lIns="0" tIns="0" rIns="0" bIns="0" rtlCol="0" anchor="t"/>
          <a:lstStyle/>
          <a:p>
            <a:pPr indent="0" marL="0">
              <a:buNone/>
            </a:pPr>
            <a:r>
              <a:rPr lang="en-US" sz="1100" b="1" dirty="0">
                <a:solidFill>
                  <a:srgbClr val="0A1F44"/>
                </a:solidFill>
                <a:latin typeface="Inter" pitchFamily="34" charset="0"/>
                <a:ea typeface="Inter" pitchFamily="34" charset="-122"/>
                <a:cs typeface="Inter" pitchFamily="34" charset="-120"/>
              </a:rPr>
              <a:t>of buyers moved web-only → app</a:t>
            </a:r>
            <a:endParaRPr lang="en-US" sz="1100" dirty="0"/>
          </a:p>
        </p:txBody>
      </p:sp>
      <p:sp>
        <p:nvSpPr>
          <p:cNvPr id="26" name="Text 23"/>
          <p:cNvSpPr txBox="1"/>
          <p:nvPr/>
        </p:nvSpPr>
        <p:spPr>
          <a:xfrm>
            <a:off x="4919472" y="2633472"/>
            <a:ext cx="3291840" cy="384048"/>
          </a:xfrm>
          <a:prstGeom prst="rect">
            <a:avLst/>
          </a:prstGeom>
          <a:noFill/>
          <a:ln/>
        </p:spPr>
        <p:txBody>
          <a:bodyPr wrap="square" lIns="0" tIns="0" rIns="0" bIns="0" rtlCol="0" anchor="t"/>
          <a:lstStyle/>
          <a:p>
            <a:pPr indent="0" marL="0">
              <a:buNone/>
            </a:pPr>
            <a:r>
              <a:rPr lang="en-US" sz="900" dirty="0">
                <a:solidFill>
                  <a:srgbClr val="64748B"/>
                </a:solidFill>
                <a:latin typeface="Inter" pitchFamily="34" charset="0"/>
                <a:ea typeface="Inter" pitchFamily="34" charset="-122"/>
                <a:cs typeface="Inter" pitchFamily="34" charset="-120"/>
              </a:rPr>
              <a:t>each adds 25 pts (38 − 13); ~21 pts after the A5 selection haircut</a:t>
            </a:r>
            <a:endParaRPr lang="en-US" sz="900" dirty="0"/>
          </a:p>
        </p:txBody>
      </p:sp>
      <p:sp>
        <p:nvSpPr>
          <p:cNvPr id="27" name="Shape 24"/>
          <p:cNvSpPr/>
          <p:nvPr/>
        </p:nvSpPr>
        <p:spPr>
          <a:xfrm>
            <a:off x="4754880" y="3218688"/>
            <a:ext cx="3566160" cy="1325880"/>
          </a:xfrm>
          <a:prstGeom prst="roundRect">
            <a:avLst>
              <a:gd name="adj" fmla="val 5517"/>
            </a:avLst>
          </a:prstGeom>
          <a:solidFill>
            <a:srgbClr val="EFF6FF"/>
          </a:solidFill>
          <a:ln w="6350">
            <a:solidFill>
              <a:srgbClr val="EFF6FF"/>
            </a:solidFill>
            <a:prstDash val="solid"/>
          </a:ln>
        </p:spPr>
      </p:sp>
      <p:sp>
        <p:nvSpPr>
          <p:cNvPr id="28" name="Text 25"/>
          <p:cNvSpPr txBox="1"/>
          <p:nvPr/>
        </p:nvSpPr>
        <p:spPr>
          <a:xfrm>
            <a:off x="4919472" y="3328416"/>
            <a:ext cx="3291840" cy="502920"/>
          </a:xfrm>
          <a:prstGeom prst="rect">
            <a:avLst/>
          </a:prstGeom>
          <a:noFill/>
          <a:ln/>
        </p:spPr>
        <p:txBody>
          <a:bodyPr wrap="square" lIns="0" tIns="0" rIns="0" bIns="0" rtlCol="0" anchor="ctr"/>
          <a:lstStyle/>
          <a:p>
            <a:pPr indent="0" marL="0">
              <a:buNone/>
            </a:pPr>
            <a:r>
              <a:rPr lang="en-US" sz="2600" b="1" dirty="0">
                <a:solidFill>
                  <a:srgbClr val="1D4ED8"/>
                </a:solidFill>
                <a:latin typeface="Inter" pitchFamily="34" charset="0"/>
                <a:ea typeface="Inter" pitchFamily="34" charset="-122"/>
                <a:cs typeface="Inter" pitchFamily="34" charset="-120"/>
              </a:rPr>
              <a:t>37.5% → ~59%</a:t>
            </a:r>
            <a:endParaRPr lang="en-US" sz="2600" dirty="0"/>
          </a:p>
        </p:txBody>
      </p:sp>
      <p:sp>
        <p:nvSpPr>
          <p:cNvPr id="29" name="Text 26"/>
          <p:cNvSpPr txBox="1"/>
          <p:nvPr/>
        </p:nvSpPr>
        <p:spPr>
          <a:xfrm>
            <a:off x="4919472" y="3840480"/>
            <a:ext cx="3291840" cy="292608"/>
          </a:xfrm>
          <a:prstGeom prst="rect">
            <a:avLst/>
          </a:prstGeom>
          <a:noFill/>
          <a:ln/>
        </p:spPr>
        <p:txBody>
          <a:bodyPr wrap="square" lIns="0" tIns="0" rIns="0" bIns="0" rtlCol="0" anchor="t"/>
          <a:lstStyle/>
          <a:p>
            <a:pPr indent="0" marL="0">
              <a:buNone/>
            </a:pPr>
            <a:r>
              <a:rPr lang="en-US" sz="1100" b="1" dirty="0">
                <a:solidFill>
                  <a:srgbClr val="0A1F44"/>
                </a:solidFill>
                <a:latin typeface="Inter" pitchFamily="34" charset="0"/>
                <a:ea typeface="Inter" pitchFamily="34" charset="-122"/>
                <a:cs typeface="Inter" pitchFamily="34" charset="-120"/>
              </a:rPr>
              <a:t>of buyers moved web-only → email/SMS</a:t>
            </a:r>
            <a:endParaRPr lang="en-US" sz="1100" dirty="0"/>
          </a:p>
        </p:txBody>
      </p:sp>
      <p:sp>
        <p:nvSpPr>
          <p:cNvPr id="30" name="Text 27"/>
          <p:cNvSpPr txBox="1"/>
          <p:nvPr/>
        </p:nvSpPr>
        <p:spPr>
          <a:xfrm>
            <a:off x="4919472" y="4114800"/>
            <a:ext cx="3291840" cy="384048"/>
          </a:xfrm>
          <a:prstGeom prst="rect">
            <a:avLst/>
          </a:prstGeom>
          <a:noFill/>
          <a:ln/>
        </p:spPr>
        <p:txBody>
          <a:bodyPr wrap="square" lIns="0" tIns="0" rIns="0" bIns="0" rtlCol="0" anchor="t"/>
          <a:lstStyle/>
          <a:p>
            <a:pPr indent="0" marL="0">
              <a:buNone/>
            </a:pPr>
            <a:r>
              <a:rPr lang="en-US" sz="900" dirty="0">
                <a:solidFill>
                  <a:srgbClr val="64748B"/>
                </a:solidFill>
                <a:latin typeface="Inter" pitchFamily="34" charset="0"/>
                <a:ea typeface="Inter" pitchFamily="34" charset="-122"/>
                <a:cs typeface="Inter" pitchFamily="34" charset="-120"/>
              </a:rPr>
              <a:t>each adds 16 pts; ~10 after haircut: more than the ≥31% who are web-only</a:t>
            </a:r>
            <a:endParaRPr lang="en-US" sz="900" dirty="0"/>
          </a:p>
        </p:txBody>
      </p:sp>
      <p:sp>
        <p:nvSpPr>
          <p:cNvPr id="31" name="Text 28"/>
          <p:cNvSpPr txBox="1"/>
          <p:nvPr/>
        </p:nvSpPr>
        <p:spPr>
          <a:xfrm>
            <a:off x="4754880" y="4681728"/>
            <a:ext cx="3566160" cy="731520"/>
          </a:xfrm>
          <a:prstGeom prst="rect">
            <a:avLst/>
          </a:prstGeom>
          <a:noFill/>
          <a:ln/>
        </p:spPr>
        <p:txBody>
          <a:bodyPr wrap="square" lIns="0" tIns="0" rIns="0" bIns="0" rtlCol="0" anchor="t"/>
          <a:lstStyle/>
          <a:p>
            <a:pPr indent="0" marL="0">
              <a:buNone/>
            </a:pPr>
            <a:r>
              <a:rPr lang="en-US" sz="900" i="1" dirty="0">
                <a:solidFill>
                  <a:srgbClr val="334155"/>
                </a:solidFill>
                <a:latin typeface="Inter" pitchFamily="34" charset="0"/>
                <a:ea typeface="Inter" pitchFamily="34" charset="-122"/>
                <a:cs typeface="Inter" pitchFamily="34" charset="-120"/>
              </a:rPr>
              <a:t>Minimums: Exhibit E's lifts include selection (A2 any time → A5 after order one: app 25.9% → 21.5%, SMS 18.5% → 11.7%). Engagement mix only; category shift and cart recovery add lift on top</a:t>
            </a:r>
            <a:endParaRPr lang="en-US" sz="900" dirty="0"/>
          </a:p>
        </p:txBody>
      </p:sp>
      <p:sp>
        <p:nvSpPr>
          <p:cNvPr id="32" name="Shape 29"/>
          <p:cNvSpPr/>
          <p:nvPr/>
        </p:nvSpPr>
        <p:spPr>
          <a:xfrm>
            <a:off x="8595360" y="1261872"/>
            <a:ext cx="3090672" cy="4114800"/>
          </a:xfrm>
          <a:prstGeom prst="roundRect">
            <a:avLst>
              <a:gd name="adj" fmla="val 2367"/>
            </a:avLst>
          </a:prstGeom>
          <a:solidFill>
            <a:srgbClr val="0A1F44"/>
          </a:solidFill>
          <a:ln w="6350">
            <a:solidFill>
              <a:srgbClr val="0A1F44"/>
            </a:solidFill>
            <a:prstDash val="solid"/>
          </a:ln>
        </p:spPr>
      </p:sp>
      <p:sp>
        <p:nvSpPr>
          <p:cNvPr id="33" name="Text 30"/>
          <p:cNvSpPr txBox="1"/>
          <p:nvPr/>
        </p:nvSpPr>
        <p:spPr>
          <a:xfrm>
            <a:off x="8778240" y="1371600"/>
            <a:ext cx="2743200" cy="274320"/>
          </a:xfrm>
          <a:prstGeom prst="rect">
            <a:avLst/>
          </a:prstGeom>
          <a:noFill/>
          <a:ln/>
        </p:spPr>
        <p:txBody>
          <a:bodyPr wrap="square" lIns="0" tIns="0" rIns="0" bIns="0" rtlCol="0" anchor="t"/>
          <a:lstStyle/>
          <a:p>
            <a:pPr indent="0" marL="0">
              <a:buNone/>
            </a:pPr>
            <a:r>
              <a:rPr lang="en-US" sz="900" b="1" dirty="0">
                <a:solidFill>
                  <a:srgbClr val="8FB2EE"/>
                </a:solidFill>
                <a:latin typeface="Inter" pitchFamily="34" charset="0"/>
                <a:ea typeface="Inter" pitchFamily="34" charset="-122"/>
                <a:cs typeface="Inter" pitchFamily="34" charset="-120"/>
              </a:rPr>
              <a:t>WHAT +6 POINTS IS WORTH (EXHIBIT J)</a:t>
            </a:r>
            <a:endParaRPr lang="en-US" sz="900" dirty="0"/>
          </a:p>
        </p:txBody>
      </p:sp>
      <p:sp>
        <p:nvSpPr>
          <p:cNvPr id="34" name="Text 31"/>
          <p:cNvSpPr txBox="1"/>
          <p:nvPr/>
        </p:nvSpPr>
        <p:spPr>
          <a:xfrm>
            <a:off x="8778240" y="1783080"/>
            <a:ext cx="2743200" cy="457200"/>
          </a:xfrm>
          <a:prstGeom prst="rect">
            <a:avLst/>
          </a:prstGeom>
          <a:noFill/>
          <a:ln/>
        </p:spPr>
        <p:txBody>
          <a:bodyPr wrap="square" lIns="0" tIns="0" rIns="0" bIns="0" rtlCol="0" anchor="ctr"/>
          <a:lstStyle/>
          <a:p>
            <a:pPr indent="0" marL="0">
              <a:buNone/>
            </a:pPr>
            <a:r>
              <a:rPr lang="en-US" sz="2200" b="1" dirty="0">
                <a:solidFill>
                  <a:srgbClr val="FFFFFF"/>
                </a:solidFill>
                <a:latin typeface="Inter" pitchFamily="34" charset="0"/>
                <a:ea typeface="Inter" pitchFamily="34" charset="-122"/>
                <a:cs typeface="Inter" pitchFamily="34" charset="-120"/>
              </a:rPr>
              <a:t>~250,000</a:t>
            </a:r>
            <a:endParaRPr lang="en-US" sz="2200" dirty="0"/>
          </a:p>
        </p:txBody>
      </p:sp>
      <p:sp>
        <p:nvSpPr>
          <p:cNvPr id="35" name="Text 32"/>
          <p:cNvSpPr txBox="1"/>
          <p:nvPr/>
        </p:nvSpPr>
        <p:spPr>
          <a:xfrm>
            <a:off x="8778240" y="2221992"/>
            <a:ext cx="2743200" cy="274320"/>
          </a:xfrm>
          <a:prstGeom prst="rect">
            <a:avLst/>
          </a:prstGeom>
          <a:noFill/>
          <a:ln/>
        </p:spPr>
        <p:txBody>
          <a:bodyPr wrap="square" lIns="0" tIns="0" rIns="0" bIns="0" rtlCol="0" anchor="t"/>
          <a:lstStyle/>
          <a:p>
            <a:pPr indent="0" marL="0">
              <a:buNone/>
            </a:pPr>
            <a:r>
              <a:rPr lang="en-US" sz="1000" dirty="0">
                <a:solidFill>
                  <a:srgbClr val="C7D7F5"/>
                </a:solidFill>
                <a:latin typeface="Inter" pitchFamily="34" charset="0"/>
                <a:ea typeface="Inter" pitchFamily="34" charset="-122"/>
                <a:cs typeface="Inter" pitchFamily="34" charset="-120"/>
              </a:rPr>
              <a:t>incremental repeat orders a year</a:t>
            </a:r>
            <a:endParaRPr lang="en-US" sz="1000" dirty="0"/>
          </a:p>
        </p:txBody>
      </p:sp>
      <p:sp>
        <p:nvSpPr>
          <p:cNvPr id="36" name="Text 33"/>
          <p:cNvSpPr txBox="1"/>
          <p:nvPr/>
        </p:nvSpPr>
        <p:spPr>
          <a:xfrm>
            <a:off x="8778240" y="2651760"/>
            <a:ext cx="2743200" cy="457200"/>
          </a:xfrm>
          <a:prstGeom prst="rect">
            <a:avLst/>
          </a:prstGeom>
          <a:noFill/>
          <a:ln/>
        </p:spPr>
        <p:txBody>
          <a:bodyPr wrap="square" lIns="0" tIns="0" rIns="0" bIns="0" rtlCol="0" anchor="ctr"/>
          <a:lstStyle/>
          <a:p>
            <a:pPr indent="0" marL="0">
              <a:buNone/>
            </a:pPr>
            <a:r>
              <a:rPr lang="en-US" sz="2200" b="1" dirty="0">
                <a:solidFill>
                  <a:srgbClr val="FFFFFF"/>
                </a:solidFill>
                <a:latin typeface="Inter" pitchFamily="34" charset="0"/>
                <a:ea typeface="Inter" pitchFamily="34" charset="-122"/>
                <a:cs typeface="Inter" pitchFamily="34" charset="-120"/>
              </a:rPr>
              <a:t>~$30M</a:t>
            </a:r>
            <a:endParaRPr lang="en-US" sz="2200" dirty="0"/>
          </a:p>
        </p:txBody>
      </p:sp>
      <p:sp>
        <p:nvSpPr>
          <p:cNvPr id="37" name="Text 34"/>
          <p:cNvSpPr txBox="1"/>
          <p:nvPr/>
        </p:nvSpPr>
        <p:spPr>
          <a:xfrm>
            <a:off x="8778240" y="3090672"/>
            <a:ext cx="2743200" cy="274320"/>
          </a:xfrm>
          <a:prstGeom prst="rect">
            <a:avLst/>
          </a:prstGeom>
          <a:noFill/>
          <a:ln/>
        </p:spPr>
        <p:txBody>
          <a:bodyPr wrap="square" lIns="0" tIns="0" rIns="0" bIns="0" rtlCol="0" anchor="t"/>
          <a:lstStyle/>
          <a:p>
            <a:pPr indent="0" marL="0">
              <a:buNone/>
            </a:pPr>
            <a:r>
              <a:rPr lang="en-US" sz="1000" dirty="0">
                <a:solidFill>
                  <a:srgbClr val="C7D7F5"/>
                </a:solidFill>
                <a:latin typeface="Inter" pitchFamily="34" charset="0"/>
                <a:ea typeface="Inter" pitchFamily="34" charset="-122"/>
                <a:cs typeface="Inter" pitchFamily="34" charset="-120"/>
              </a:rPr>
              <a:t>incremental revenue</a:t>
            </a:r>
            <a:endParaRPr lang="en-US" sz="1000" dirty="0"/>
          </a:p>
        </p:txBody>
      </p:sp>
      <p:sp>
        <p:nvSpPr>
          <p:cNvPr id="38" name="Text 35"/>
          <p:cNvSpPr txBox="1"/>
          <p:nvPr/>
        </p:nvSpPr>
        <p:spPr>
          <a:xfrm>
            <a:off x="8778240" y="3520440"/>
            <a:ext cx="2743200" cy="457200"/>
          </a:xfrm>
          <a:prstGeom prst="rect">
            <a:avLst/>
          </a:prstGeom>
          <a:noFill/>
          <a:ln/>
        </p:spPr>
        <p:txBody>
          <a:bodyPr wrap="square" lIns="0" tIns="0" rIns="0" bIns="0" rtlCol="0" anchor="ctr"/>
          <a:lstStyle/>
          <a:p>
            <a:pPr indent="0" marL="0">
              <a:buNone/>
            </a:pPr>
            <a:r>
              <a:rPr lang="en-US" sz="2200" b="1" dirty="0">
                <a:solidFill>
                  <a:srgbClr val="FFFFFF"/>
                </a:solidFill>
                <a:latin typeface="Inter" pitchFamily="34" charset="0"/>
                <a:ea typeface="Inter" pitchFamily="34" charset="-122"/>
                <a:cs typeface="Inter" pitchFamily="34" charset="-120"/>
              </a:rPr>
              <a:t>~$13.5M</a:t>
            </a:r>
            <a:endParaRPr lang="en-US" sz="2200" dirty="0"/>
          </a:p>
        </p:txBody>
      </p:sp>
      <p:sp>
        <p:nvSpPr>
          <p:cNvPr id="39" name="Text 36"/>
          <p:cNvSpPr txBox="1"/>
          <p:nvPr/>
        </p:nvSpPr>
        <p:spPr>
          <a:xfrm>
            <a:off x="8778240" y="3959352"/>
            <a:ext cx="2743200" cy="274320"/>
          </a:xfrm>
          <a:prstGeom prst="rect">
            <a:avLst/>
          </a:prstGeom>
          <a:noFill/>
          <a:ln/>
        </p:spPr>
        <p:txBody>
          <a:bodyPr wrap="square" lIns="0" tIns="0" rIns="0" bIns="0" rtlCol="0" anchor="t"/>
          <a:lstStyle/>
          <a:p>
            <a:pPr indent="0" marL="0">
              <a:buNone/>
            </a:pPr>
            <a:r>
              <a:rPr lang="en-US" sz="1000" dirty="0">
                <a:solidFill>
                  <a:srgbClr val="C7D7F5"/>
                </a:solidFill>
                <a:latin typeface="Inter" pitchFamily="34" charset="0"/>
                <a:ea typeface="Inter" pitchFamily="34" charset="-122"/>
                <a:cs typeface="Inter" pitchFamily="34" charset="-120"/>
              </a:rPr>
              <a:t>contribution at ~45% margin</a:t>
            </a:r>
            <a:endParaRPr lang="en-US" sz="1000" dirty="0"/>
          </a:p>
        </p:txBody>
      </p:sp>
      <p:sp>
        <p:nvSpPr>
          <p:cNvPr id="40" name="Text 37"/>
          <p:cNvSpPr txBox="1"/>
          <p:nvPr/>
        </p:nvSpPr>
        <p:spPr>
          <a:xfrm>
            <a:off x="8778240" y="4389120"/>
            <a:ext cx="2743200" cy="457200"/>
          </a:xfrm>
          <a:prstGeom prst="rect">
            <a:avLst/>
          </a:prstGeom>
          <a:noFill/>
          <a:ln/>
        </p:spPr>
        <p:txBody>
          <a:bodyPr wrap="square" lIns="0" tIns="0" rIns="0" bIns="0" rtlCol="0" anchor="ctr"/>
          <a:lstStyle/>
          <a:p>
            <a:pPr indent="0" marL="0">
              <a:buNone/>
            </a:pPr>
            <a:r>
              <a:rPr lang="en-US" sz="2200" b="1" dirty="0">
                <a:solidFill>
                  <a:srgbClr val="FFFFFF"/>
                </a:solidFill>
                <a:latin typeface="Inter" pitchFamily="34" charset="0"/>
                <a:ea typeface="Inter" pitchFamily="34" charset="-122"/>
                <a:cs typeface="Inter" pitchFamily="34" charset="-120"/>
              </a:rPr>
              <a:t>~10–12%</a:t>
            </a:r>
            <a:endParaRPr lang="en-US" sz="2200" dirty="0"/>
          </a:p>
        </p:txBody>
      </p:sp>
      <p:sp>
        <p:nvSpPr>
          <p:cNvPr id="41" name="Text 38"/>
          <p:cNvSpPr txBox="1"/>
          <p:nvPr/>
        </p:nvSpPr>
        <p:spPr>
          <a:xfrm>
            <a:off x="8778240" y="4828032"/>
            <a:ext cx="2743200" cy="274320"/>
          </a:xfrm>
          <a:prstGeom prst="rect">
            <a:avLst/>
          </a:prstGeom>
          <a:noFill/>
          <a:ln/>
        </p:spPr>
        <p:txBody>
          <a:bodyPr wrap="square" lIns="0" tIns="0" rIns="0" bIns="0" rtlCol="0" anchor="t"/>
          <a:lstStyle/>
          <a:p>
            <a:pPr indent="0" marL="0">
              <a:buNone/>
            </a:pPr>
            <a:r>
              <a:rPr lang="en-US" sz="1000" dirty="0">
                <a:solidFill>
                  <a:srgbClr val="C7D7F5"/>
                </a:solidFill>
                <a:latin typeface="Inter" pitchFamily="34" charset="0"/>
                <a:ea typeface="Inter" pitchFamily="34" charset="-122"/>
                <a:cs typeface="Inter" pitchFamily="34" charset="-120"/>
              </a:rPr>
              <a:t>lower effective blended CAC</a:t>
            </a:r>
            <a:endParaRPr lang="en-US" sz="1000" dirty="0"/>
          </a:p>
        </p:txBody>
      </p:sp>
      <p:sp>
        <p:nvSpPr>
          <p:cNvPr id="42" name="Shape 39"/>
          <p:cNvSpPr/>
          <p:nvPr/>
        </p:nvSpPr>
        <p:spPr>
          <a:xfrm>
            <a:off x="502920" y="5577840"/>
            <a:ext cx="11183112" cy="512064"/>
          </a:xfrm>
          <a:prstGeom prst="roundRect">
            <a:avLst>
              <a:gd name="adj" fmla="val 17857"/>
            </a:avLst>
          </a:prstGeom>
          <a:solidFill>
            <a:srgbClr val="EFF6FF"/>
          </a:solidFill>
          <a:ln w="6350">
            <a:solidFill>
              <a:srgbClr val="EFF6FF"/>
            </a:solidFill>
            <a:prstDash val="solid"/>
          </a:ln>
        </p:spPr>
      </p:sp>
      <p:sp>
        <p:nvSpPr>
          <p:cNvPr id="43" name="Shape 40"/>
          <p:cNvSpPr/>
          <p:nvPr/>
        </p:nvSpPr>
        <p:spPr>
          <a:xfrm>
            <a:off x="640080" y="5669280"/>
            <a:ext cx="329184" cy="329184"/>
          </a:xfrm>
          <a:prstGeom prst="ellipse">
            <a:avLst/>
          </a:prstGeom>
          <a:solidFill>
            <a:srgbClr val="1D4ED8"/>
          </a:solidFill>
          <a:ln w="6350">
            <a:solidFill>
              <a:srgbClr val="1D4ED8"/>
            </a:solidFill>
            <a:prstDash val="solid"/>
          </a:ln>
        </p:spPr>
      </p:sp>
      <p:pic>
        <p:nvPicPr>
          <p:cNvPr id="44" name="Image 1" descr="preencoded.png">    </p:cNvPr>
          <p:cNvPicPr>
            <a:picLocks noChangeAspect="1"/>
          </p:cNvPicPr>
          <p:nvPr/>
        </p:nvPicPr>
        <p:blipFill>
          <a:blip r:embed="rId2"/>
          <a:stretch>
            <a:fillRect/>
          </a:stretch>
        </p:blipFill>
        <p:spPr>
          <a:xfrm>
            <a:off x="712500" y="5741700"/>
            <a:ext cx="184343" cy="184343"/>
          </a:xfrm>
          <a:prstGeom prst="rect">
            <a:avLst/>
          </a:prstGeom>
        </p:spPr>
      </p:pic>
      <p:sp>
        <p:nvSpPr>
          <p:cNvPr id="45" name="Text 41"/>
          <p:cNvSpPr txBox="1"/>
          <p:nvPr/>
        </p:nvSpPr>
        <p:spPr>
          <a:xfrm>
            <a:off x="1097280" y="5577840"/>
            <a:ext cx="10424160" cy="512064"/>
          </a:xfrm>
          <a:prstGeom prst="rect">
            <a:avLst/>
          </a:prstGeom>
          <a:noFill/>
          <a:ln/>
        </p:spPr>
        <p:txBody>
          <a:bodyPr wrap="square" lIns="0" tIns="0" rIns="0" bIns="0" rtlCol="0" anchor="ctr"/>
          <a:lstStyle/>
          <a:p>
            <a:pPr indent="0" marL="0">
              <a:buNone/>
            </a:pPr>
            <a:r>
              <a:rPr lang="en-US" sz="1300" b="1" dirty="0">
                <a:solidFill>
                  <a:srgbClr val="0A1F44"/>
                </a:solidFill>
                <a:latin typeface="Inter" pitchFamily="34" charset="0"/>
                <a:ea typeface="Inter" pitchFamily="34" charset="-122"/>
                <a:cs typeface="Inter" pitchFamily="34" charset="-120"/>
              </a:rPr>
              <a:t>+6 points needs most web-only buyers moved into owned channels, the app route first: that is why lever 1 comes first</a:t>
            </a:r>
            <a:endParaRPr lang="en-US" sz="13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9326880" cy="841248"/>
          </a:xfrm>
          <a:prstGeom prst="rect">
            <a:avLst/>
          </a:prstGeom>
          <a:noFill/>
          <a:ln/>
        </p:spPr>
        <p:txBody>
          <a:bodyPr wrap="square" lIns="0" tIns="0" rIns="0" bIns="0" rtlCol="0" anchor="ctr"/>
          <a:lstStyle/>
          <a:p>
            <a:pPr indent="0" marL="0">
              <a:buNone/>
            </a:pPr>
            <a:r>
              <a:rPr lang="en-US" sz="2400" b="1" dirty="0">
                <a:solidFill>
                  <a:srgbClr val="0A1F44"/>
                </a:solidFill>
                <a:latin typeface="Inter" pitchFamily="34" charset="0"/>
                <a:ea typeface="Inter" pitchFamily="34" charset="-122"/>
                <a:cs typeface="Inter" pitchFamily="34" charset="-120"/>
              </a:rPr>
              <a:t>Last click credits owned channels as little as a third</a:t>
            </a:r>
            <a:endParaRPr lang="en-US" sz="2400" dirty="0"/>
          </a:p>
        </p:txBody>
      </p:sp>
      <p:pic>
        <p:nvPicPr>
          <p:cNvPr id="3" name="Image 0" descr="/tmp/claude-0/-home-user-Quince/7efe80ae-a049-50c2-9886-98bf7ca3a04a/scratchpad/assets/quince.png">    </p:cNvPr>
          <p:cNvPicPr>
            <a:picLocks noChangeAspect="1"/>
          </p:cNvPicPr>
          <p:nvPr/>
        </p:nvPicPr>
        <p:blipFill>
          <a:blip r:embed="rId1"/>
          <a:stretch>
            <a:fillRect/>
          </a:stretch>
        </p:blipFill>
        <p:spPr>
          <a:xfrm>
            <a:off x="10236708" y="615544"/>
            <a:ext cx="777240" cy="231951"/>
          </a:xfrm>
          <a:prstGeom prst="rect">
            <a:avLst/>
          </a:prstGeom>
        </p:spPr>
      </p:pic>
      <p:sp>
        <p:nvSpPr>
          <p:cNvPr id="4" name="Shape 1"/>
          <p:cNvSpPr/>
          <p:nvPr/>
        </p:nvSpPr>
        <p:spPr>
          <a:xfrm>
            <a:off x="11155680" y="603504"/>
            <a:ext cx="530352" cy="256032"/>
          </a:xfrm>
          <a:prstGeom prst="roundRect">
            <a:avLst>
              <a:gd name="adj" fmla="val 50000"/>
            </a:avLst>
          </a:prstGeom>
          <a:solidFill>
            <a:srgbClr val="0A1F44"/>
          </a:solidFill>
          <a:ln w="6350">
            <a:solidFill>
              <a:srgbClr val="0A1F44"/>
            </a:solidFill>
            <a:prstDash val="solid"/>
          </a:ln>
        </p:spPr>
      </p:sp>
      <p:sp>
        <p:nvSpPr>
          <p:cNvPr id="5" name="Text 2"/>
          <p:cNvSpPr txBox="1"/>
          <p:nvPr/>
        </p:nvSpPr>
        <p:spPr>
          <a:xfrm>
            <a:off x="11155680" y="603504"/>
            <a:ext cx="530352"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Inter" pitchFamily="34" charset="0"/>
                <a:ea typeface="Inter" pitchFamily="34" charset="-122"/>
                <a:cs typeface="Inter" pitchFamily="34" charset="-120"/>
              </a:rPr>
              <a:t>G27</a:t>
            </a:r>
            <a:endParaRPr lang="en-US" sz="950" dirty="0"/>
          </a:p>
        </p:txBody>
      </p:sp>
      <p:sp>
        <p:nvSpPr>
          <p:cNvPr id="6" name="Shape 3"/>
          <p:cNvSpPr/>
          <p:nvPr/>
        </p:nvSpPr>
        <p:spPr>
          <a:xfrm>
            <a:off x="502920" y="6400800"/>
            <a:ext cx="11183112" cy="0"/>
          </a:xfrm>
          <a:prstGeom prst="line">
            <a:avLst/>
          </a:prstGeom>
          <a:noFill/>
          <a:ln w="9525">
            <a:solidFill>
              <a:srgbClr val="E2E8F0"/>
            </a:solidFill>
            <a:prstDash val="solid"/>
          </a:ln>
        </p:spPr>
      </p:sp>
      <p:sp>
        <p:nvSpPr>
          <p:cNvPr id="7" name="Text 4"/>
          <p:cNvSpPr txBox="1"/>
          <p:nvPr/>
        </p:nvSpPr>
        <p:spPr>
          <a:xfrm>
            <a:off x="502920" y="6464808"/>
            <a:ext cx="9418320" cy="256032"/>
          </a:xfrm>
          <a:prstGeom prst="rect">
            <a:avLst/>
          </a:prstGeom>
          <a:noFill/>
          <a:ln/>
        </p:spPr>
        <p:txBody>
          <a:bodyPr wrap="square" lIns="0" tIns="0" rIns="0" bIns="0" rtlCol="0" anchor="ctr"/>
          <a:lstStyle/>
          <a:p>
            <a:pPr indent="0" marL="0">
              <a:buNone/>
            </a:pPr>
            <a:r>
              <a:rPr lang="en-US" sz="800" dirty="0">
                <a:solidFill>
                  <a:srgbClr val="64748B"/>
                </a:solidFill>
                <a:latin typeface="Inter" pitchFamily="34" charset="0"/>
                <a:ea typeface="Inter" pitchFamily="34" charset="-122"/>
                <a:cs typeface="Inter" pitchFamily="34" charset="-120"/>
              </a:rPr>
              <a:t>Source: Adobe CJA Attribution IQ, Order Revenue ($337,044), Marketing Channel, Person container, 90-day lookback, 1 Jan–30 Apr 2026.</a:t>
            </a:r>
            <a:endParaRPr lang="en-US" sz="800" dirty="0"/>
          </a:p>
        </p:txBody>
      </p:sp>
      <p:sp>
        <p:nvSpPr>
          <p:cNvPr id="8" name="Text 5"/>
          <p:cNvSpPr txBox="1"/>
          <p:nvPr/>
        </p:nvSpPr>
        <p:spPr>
          <a:xfrm>
            <a:off x="9966960" y="6464808"/>
            <a:ext cx="1719072" cy="256032"/>
          </a:xfrm>
          <a:prstGeom prst="rect">
            <a:avLst/>
          </a:prstGeom>
          <a:noFill/>
          <a:ln/>
        </p:spPr>
        <p:txBody>
          <a:bodyPr wrap="square" lIns="0" tIns="0" rIns="0" bIns="0" rtlCol="0" anchor="ctr"/>
          <a:lstStyle/>
          <a:p>
            <a:pPr algn="r" indent="0" marL="0">
              <a:buNone/>
            </a:pPr>
            <a:r>
              <a:rPr lang="en-US" sz="800" dirty="0">
                <a:solidFill>
                  <a:srgbClr val="64748B"/>
                </a:solidFill>
                <a:latin typeface="Inter" pitchFamily="34" charset="0"/>
                <a:ea typeface="Inter" pitchFamily="34" charset="-122"/>
                <a:cs typeface="Inter" pitchFamily="34" charset="-120"/>
              </a:rPr>
              <a:t>Team G27  ·  23</a:t>
            </a:r>
            <a:endParaRPr lang="en-US" sz="800" dirty="0"/>
          </a:p>
        </p:txBody>
      </p:sp>
      <p:sp>
        <p:nvSpPr>
          <p:cNvPr id="9" name="Text 6"/>
          <p:cNvSpPr txBox="1"/>
          <p:nvPr/>
        </p:nvSpPr>
        <p:spPr>
          <a:xfrm>
            <a:off x="2743200" y="1325880"/>
            <a:ext cx="548640" cy="228600"/>
          </a:xfrm>
          <a:prstGeom prst="rect">
            <a:avLst/>
          </a:prstGeom>
          <a:noFill/>
          <a:ln/>
        </p:spPr>
        <p:txBody>
          <a:bodyPr wrap="square" lIns="0" tIns="0" rIns="0" bIns="0" rtlCol="0" anchor="t"/>
          <a:lstStyle/>
          <a:p>
            <a:pPr algn="ctr" indent="0" marL="0">
              <a:buNone/>
            </a:pPr>
            <a:r>
              <a:rPr lang="en-US" sz="950" dirty="0">
                <a:solidFill>
                  <a:srgbClr val="64748B"/>
                </a:solidFill>
                <a:latin typeface="Inter" pitchFamily="34" charset="0"/>
                <a:ea typeface="Inter" pitchFamily="34" charset="-122"/>
                <a:cs typeface="Inter" pitchFamily="34" charset="-120"/>
              </a:rPr>
              <a:t>0%</a:t>
            </a:r>
            <a:endParaRPr lang="en-US" sz="950" dirty="0"/>
          </a:p>
        </p:txBody>
      </p:sp>
      <p:sp>
        <p:nvSpPr>
          <p:cNvPr id="10" name="Shape 7"/>
          <p:cNvSpPr/>
          <p:nvPr/>
        </p:nvSpPr>
        <p:spPr>
          <a:xfrm>
            <a:off x="3017520" y="1600200"/>
            <a:ext cx="0" cy="4206240"/>
          </a:xfrm>
          <a:prstGeom prst="line">
            <a:avLst/>
          </a:prstGeom>
          <a:noFill/>
          <a:ln w="9525">
            <a:solidFill>
              <a:srgbClr val="E2E8F0"/>
            </a:solidFill>
            <a:prstDash val="dash"/>
          </a:ln>
        </p:spPr>
      </p:sp>
      <p:sp>
        <p:nvSpPr>
          <p:cNvPr id="11" name="Text 8"/>
          <p:cNvSpPr txBox="1"/>
          <p:nvPr/>
        </p:nvSpPr>
        <p:spPr>
          <a:xfrm>
            <a:off x="3584448" y="1325880"/>
            <a:ext cx="548640" cy="228600"/>
          </a:xfrm>
          <a:prstGeom prst="rect">
            <a:avLst/>
          </a:prstGeom>
          <a:noFill/>
          <a:ln/>
        </p:spPr>
        <p:txBody>
          <a:bodyPr wrap="square" lIns="0" tIns="0" rIns="0" bIns="0" rtlCol="0" anchor="t"/>
          <a:lstStyle/>
          <a:p>
            <a:pPr algn="ctr" indent="0" marL="0">
              <a:buNone/>
            </a:pPr>
            <a:r>
              <a:rPr lang="en-US" sz="950" dirty="0">
                <a:solidFill>
                  <a:srgbClr val="64748B"/>
                </a:solidFill>
                <a:latin typeface="Inter" pitchFamily="34" charset="0"/>
                <a:ea typeface="Inter" pitchFamily="34" charset="-122"/>
                <a:cs typeface="Inter" pitchFamily="34" charset="-120"/>
              </a:rPr>
              <a:t>10%</a:t>
            </a:r>
            <a:endParaRPr lang="en-US" sz="950" dirty="0"/>
          </a:p>
        </p:txBody>
      </p:sp>
      <p:sp>
        <p:nvSpPr>
          <p:cNvPr id="12" name="Shape 9"/>
          <p:cNvSpPr/>
          <p:nvPr/>
        </p:nvSpPr>
        <p:spPr>
          <a:xfrm>
            <a:off x="3858768" y="1600200"/>
            <a:ext cx="0" cy="4206240"/>
          </a:xfrm>
          <a:prstGeom prst="line">
            <a:avLst/>
          </a:prstGeom>
          <a:noFill/>
          <a:ln w="9525">
            <a:solidFill>
              <a:srgbClr val="E2E8F0"/>
            </a:solidFill>
            <a:prstDash val="dash"/>
          </a:ln>
        </p:spPr>
      </p:sp>
      <p:sp>
        <p:nvSpPr>
          <p:cNvPr id="13" name="Text 10"/>
          <p:cNvSpPr txBox="1"/>
          <p:nvPr/>
        </p:nvSpPr>
        <p:spPr>
          <a:xfrm>
            <a:off x="4425696" y="1325880"/>
            <a:ext cx="548640" cy="228600"/>
          </a:xfrm>
          <a:prstGeom prst="rect">
            <a:avLst/>
          </a:prstGeom>
          <a:noFill/>
          <a:ln/>
        </p:spPr>
        <p:txBody>
          <a:bodyPr wrap="square" lIns="0" tIns="0" rIns="0" bIns="0" rtlCol="0" anchor="t"/>
          <a:lstStyle/>
          <a:p>
            <a:pPr algn="ctr" indent="0" marL="0">
              <a:buNone/>
            </a:pPr>
            <a:r>
              <a:rPr lang="en-US" sz="950" dirty="0">
                <a:solidFill>
                  <a:srgbClr val="64748B"/>
                </a:solidFill>
                <a:latin typeface="Inter" pitchFamily="34" charset="0"/>
                <a:ea typeface="Inter" pitchFamily="34" charset="-122"/>
                <a:cs typeface="Inter" pitchFamily="34" charset="-120"/>
              </a:rPr>
              <a:t>20%</a:t>
            </a:r>
            <a:endParaRPr lang="en-US" sz="950" dirty="0"/>
          </a:p>
        </p:txBody>
      </p:sp>
      <p:sp>
        <p:nvSpPr>
          <p:cNvPr id="14" name="Shape 11"/>
          <p:cNvSpPr/>
          <p:nvPr/>
        </p:nvSpPr>
        <p:spPr>
          <a:xfrm>
            <a:off x="4700016" y="1600200"/>
            <a:ext cx="0" cy="4206240"/>
          </a:xfrm>
          <a:prstGeom prst="line">
            <a:avLst/>
          </a:prstGeom>
          <a:noFill/>
          <a:ln w="9525">
            <a:solidFill>
              <a:srgbClr val="E2E8F0"/>
            </a:solidFill>
            <a:prstDash val="dash"/>
          </a:ln>
        </p:spPr>
      </p:sp>
      <p:sp>
        <p:nvSpPr>
          <p:cNvPr id="15" name="Text 12"/>
          <p:cNvSpPr txBox="1"/>
          <p:nvPr/>
        </p:nvSpPr>
        <p:spPr>
          <a:xfrm>
            <a:off x="5266944" y="1325880"/>
            <a:ext cx="548640" cy="228600"/>
          </a:xfrm>
          <a:prstGeom prst="rect">
            <a:avLst/>
          </a:prstGeom>
          <a:noFill/>
          <a:ln/>
        </p:spPr>
        <p:txBody>
          <a:bodyPr wrap="square" lIns="0" tIns="0" rIns="0" bIns="0" rtlCol="0" anchor="t"/>
          <a:lstStyle/>
          <a:p>
            <a:pPr algn="ctr" indent="0" marL="0">
              <a:buNone/>
            </a:pPr>
            <a:r>
              <a:rPr lang="en-US" sz="950" dirty="0">
                <a:solidFill>
                  <a:srgbClr val="64748B"/>
                </a:solidFill>
                <a:latin typeface="Inter" pitchFamily="34" charset="0"/>
                <a:ea typeface="Inter" pitchFamily="34" charset="-122"/>
                <a:cs typeface="Inter" pitchFamily="34" charset="-120"/>
              </a:rPr>
              <a:t>30%</a:t>
            </a:r>
            <a:endParaRPr lang="en-US" sz="950" dirty="0"/>
          </a:p>
        </p:txBody>
      </p:sp>
      <p:sp>
        <p:nvSpPr>
          <p:cNvPr id="16" name="Shape 13"/>
          <p:cNvSpPr/>
          <p:nvPr/>
        </p:nvSpPr>
        <p:spPr>
          <a:xfrm>
            <a:off x="5541264" y="1600200"/>
            <a:ext cx="0" cy="4206240"/>
          </a:xfrm>
          <a:prstGeom prst="line">
            <a:avLst/>
          </a:prstGeom>
          <a:noFill/>
          <a:ln w="9525">
            <a:solidFill>
              <a:srgbClr val="E2E8F0"/>
            </a:solidFill>
            <a:prstDash val="dash"/>
          </a:ln>
        </p:spPr>
      </p:sp>
      <p:sp>
        <p:nvSpPr>
          <p:cNvPr id="17" name="Text 14"/>
          <p:cNvSpPr txBox="1"/>
          <p:nvPr/>
        </p:nvSpPr>
        <p:spPr>
          <a:xfrm>
            <a:off x="6108192" y="1325880"/>
            <a:ext cx="548640" cy="228600"/>
          </a:xfrm>
          <a:prstGeom prst="rect">
            <a:avLst/>
          </a:prstGeom>
          <a:noFill/>
          <a:ln/>
        </p:spPr>
        <p:txBody>
          <a:bodyPr wrap="square" lIns="0" tIns="0" rIns="0" bIns="0" rtlCol="0" anchor="t"/>
          <a:lstStyle/>
          <a:p>
            <a:pPr algn="ctr" indent="0" marL="0">
              <a:buNone/>
            </a:pPr>
            <a:r>
              <a:rPr lang="en-US" sz="950" dirty="0">
                <a:solidFill>
                  <a:srgbClr val="64748B"/>
                </a:solidFill>
                <a:latin typeface="Inter" pitchFamily="34" charset="0"/>
                <a:ea typeface="Inter" pitchFamily="34" charset="-122"/>
                <a:cs typeface="Inter" pitchFamily="34" charset="-120"/>
              </a:rPr>
              <a:t>40%</a:t>
            </a:r>
            <a:endParaRPr lang="en-US" sz="950" dirty="0"/>
          </a:p>
        </p:txBody>
      </p:sp>
      <p:sp>
        <p:nvSpPr>
          <p:cNvPr id="18" name="Shape 15"/>
          <p:cNvSpPr/>
          <p:nvPr/>
        </p:nvSpPr>
        <p:spPr>
          <a:xfrm>
            <a:off x="6382512" y="1600200"/>
            <a:ext cx="0" cy="4206240"/>
          </a:xfrm>
          <a:prstGeom prst="line">
            <a:avLst/>
          </a:prstGeom>
          <a:noFill/>
          <a:ln w="9525">
            <a:solidFill>
              <a:srgbClr val="E2E8F0"/>
            </a:solidFill>
            <a:prstDash val="dash"/>
          </a:ln>
        </p:spPr>
      </p:sp>
      <p:sp>
        <p:nvSpPr>
          <p:cNvPr id="19" name="Text 16"/>
          <p:cNvSpPr txBox="1"/>
          <p:nvPr/>
        </p:nvSpPr>
        <p:spPr>
          <a:xfrm>
            <a:off x="6949440" y="1325880"/>
            <a:ext cx="548640" cy="228600"/>
          </a:xfrm>
          <a:prstGeom prst="rect">
            <a:avLst/>
          </a:prstGeom>
          <a:noFill/>
          <a:ln/>
        </p:spPr>
        <p:txBody>
          <a:bodyPr wrap="square" lIns="0" tIns="0" rIns="0" bIns="0" rtlCol="0" anchor="t"/>
          <a:lstStyle/>
          <a:p>
            <a:pPr algn="ctr" indent="0" marL="0">
              <a:buNone/>
            </a:pPr>
            <a:r>
              <a:rPr lang="en-US" sz="950" dirty="0">
                <a:solidFill>
                  <a:srgbClr val="64748B"/>
                </a:solidFill>
                <a:latin typeface="Inter" pitchFamily="34" charset="0"/>
                <a:ea typeface="Inter" pitchFamily="34" charset="-122"/>
                <a:cs typeface="Inter" pitchFamily="34" charset="-120"/>
              </a:rPr>
              <a:t>50%</a:t>
            </a:r>
            <a:endParaRPr lang="en-US" sz="950" dirty="0"/>
          </a:p>
        </p:txBody>
      </p:sp>
      <p:sp>
        <p:nvSpPr>
          <p:cNvPr id="20" name="Shape 17"/>
          <p:cNvSpPr/>
          <p:nvPr/>
        </p:nvSpPr>
        <p:spPr>
          <a:xfrm>
            <a:off x="7223760" y="1600200"/>
            <a:ext cx="0" cy="4206240"/>
          </a:xfrm>
          <a:prstGeom prst="line">
            <a:avLst/>
          </a:prstGeom>
          <a:noFill/>
          <a:ln w="9525">
            <a:solidFill>
              <a:srgbClr val="E2E8F0"/>
            </a:solidFill>
            <a:prstDash val="dash"/>
          </a:ln>
        </p:spPr>
      </p:sp>
      <p:sp>
        <p:nvSpPr>
          <p:cNvPr id="21" name="Text 18"/>
          <p:cNvSpPr txBox="1"/>
          <p:nvPr/>
        </p:nvSpPr>
        <p:spPr>
          <a:xfrm>
            <a:off x="594360" y="1737360"/>
            <a:ext cx="2331720" cy="365760"/>
          </a:xfrm>
          <a:prstGeom prst="rect">
            <a:avLst/>
          </a:prstGeom>
          <a:noFill/>
          <a:ln/>
        </p:spPr>
        <p:txBody>
          <a:bodyPr wrap="square" lIns="0" tIns="0" rIns="0" bIns="0" rtlCol="0" anchor="ctr"/>
          <a:lstStyle/>
          <a:p>
            <a:pPr indent="0" marL="0">
              <a:buNone/>
            </a:pPr>
            <a:r>
              <a:rPr lang="en-US" sz="1100" dirty="0">
                <a:solidFill>
                  <a:srgbClr val="0F172A"/>
                </a:solidFill>
                <a:latin typeface="Inter" pitchFamily="34" charset="0"/>
                <a:ea typeface="Inter" pitchFamily="34" charset="-122"/>
                <a:cs typeface="Inter" pitchFamily="34" charset="-120"/>
              </a:rPr>
              <a:t>Paid social prospecting</a:t>
            </a:r>
            <a:endParaRPr lang="en-US" sz="1100" dirty="0"/>
          </a:p>
        </p:txBody>
      </p:sp>
      <p:sp>
        <p:nvSpPr>
          <p:cNvPr id="22" name="Shape 19"/>
          <p:cNvSpPr/>
          <p:nvPr/>
        </p:nvSpPr>
        <p:spPr>
          <a:xfrm>
            <a:off x="6508699" y="1920240"/>
            <a:ext cx="353324" cy="0"/>
          </a:xfrm>
          <a:prstGeom prst="line">
            <a:avLst/>
          </a:prstGeom>
          <a:noFill/>
          <a:ln w="38100">
            <a:solidFill>
              <a:srgbClr val="94A3B8"/>
            </a:solidFill>
            <a:prstDash val="solid"/>
          </a:ln>
        </p:spPr>
      </p:sp>
      <p:sp>
        <p:nvSpPr>
          <p:cNvPr id="23" name="Shape 20"/>
          <p:cNvSpPr/>
          <p:nvPr/>
        </p:nvSpPr>
        <p:spPr>
          <a:xfrm>
            <a:off x="6417259" y="1828800"/>
            <a:ext cx="182880" cy="182880"/>
          </a:xfrm>
          <a:prstGeom prst="ellipse">
            <a:avLst/>
          </a:prstGeom>
          <a:solidFill>
            <a:srgbClr val="94A3B8"/>
          </a:solidFill>
          <a:ln w="6350">
            <a:solidFill>
              <a:srgbClr val="94A3B8"/>
            </a:solidFill>
            <a:prstDash val="solid"/>
          </a:ln>
        </p:spPr>
      </p:sp>
      <p:sp>
        <p:nvSpPr>
          <p:cNvPr id="24" name="Shape 21"/>
          <p:cNvSpPr/>
          <p:nvPr/>
        </p:nvSpPr>
        <p:spPr>
          <a:xfrm>
            <a:off x="6770583" y="1828800"/>
            <a:ext cx="182880" cy="182880"/>
          </a:xfrm>
          <a:prstGeom prst="ellipse">
            <a:avLst/>
          </a:prstGeom>
          <a:solidFill>
            <a:srgbClr val="0A1F44"/>
          </a:solidFill>
          <a:ln w="6350">
            <a:solidFill>
              <a:srgbClr val="0A1F44"/>
            </a:solidFill>
            <a:prstDash val="solid"/>
          </a:ln>
        </p:spPr>
      </p:sp>
      <p:sp>
        <p:nvSpPr>
          <p:cNvPr id="25" name="Text 22"/>
          <p:cNvSpPr txBox="1"/>
          <p:nvPr/>
        </p:nvSpPr>
        <p:spPr>
          <a:xfrm>
            <a:off x="7026615" y="1737360"/>
            <a:ext cx="1234440" cy="365760"/>
          </a:xfrm>
          <a:prstGeom prst="rect">
            <a:avLst/>
          </a:prstGeom>
          <a:noFill/>
          <a:ln/>
        </p:spPr>
        <p:txBody>
          <a:bodyPr wrap="square" lIns="0" tIns="0" rIns="0" bIns="0" rtlCol="0" anchor="ctr"/>
          <a:lstStyle/>
          <a:p>
            <a:pPr indent="0" marL="0">
              <a:buNone/>
            </a:pPr>
            <a:r>
              <a:rPr lang="en-US" sz="950" dirty="0">
                <a:solidFill>
                  <a:srgbClr val="64748B"/>
                </a:solidFill>
                <a:latin typeface="Inter" pitchFamily="34" charset="0"/>
                <a:ea typeface="Inter" pitchFamily="34" charset="-122"/>
                <a:cs typeface="Inter" pitchFamily="34" charset="-120"/>
              </a:rPr>
              <a:t>41.5% → 45.7%</a:t>
            </a:r>
            <a:endParaRPr lang="en-US" sz="950" dirty="0"/>
          </a:p>
        </p:txBody>
      </p:sp>
      <p:sp>
        <p:nvSpPr>
          <p:cNvPr id="26" name="Text 23"/>
          <p:cNvSpPr txBox="1"/>
          <p:nvPr/>
        </p:nvSpPr>
        <p:spPr>
          <a:xfrm>
            <a:off x="594360" y="2249424"/>
            <a:ext cx="2331720" cy="365760"/>
          </a:xfrm>
          <a:prstGeom prst="rect">
            <a:avLst/>
          </a:prstGeom>
          <a:noFill/>
          <a:ln/>
        </p:spPr>
        <p:txBody>
          <a:bodyPr wrap="square" lIns="0" tIns="0" rIns="0" bIns="0" rtlCol="0" anchor="ctr"/>
          <a:lstStyle/>
          <a:p>
            <a:pPr indent="0" marL="0">
              <a:buNone/>
            </a:pPr>
            <a:r>
              <a:rPr lang="en-US" sz="1100" dirty="0">
                <a:solidFill>
                  <a:srgbClr val="0F172A"/>
                </a:solidFill>
                <a:latin typeface="Inter" pitchFamily="34" charset="0"/>
                <a:ea typeface="Inter" pitchFamily="34" charset="-122"/>
                <a:cs typeface="Inter" pitchFamily="34" charset="-120"/>
              </a:rPr>
              <a:t>Organic, direct, SEO</a:t>
            </a:r>
            <a:endParaRPr lang="en-US" sz="1100" dirty="0"/>
          </a:p>
        </p:txBody>
      </p:sp>
      <p:sp>
        <p:nvSpPr>
          <p:cNvPr id="27" name="Shape 24"/>
          <p:cNvSpPr/>
          <p:nvPr/>
        </p:nvSpPr>
        <p:spPr>
          <a:xfrm>
            <a:off x="4363517" y="2432304"/>
            <a:ext cx="67300" cy="0"/>
          </a:xfrm>
          <a:prstGeom prst="line">
            <a:avLst/>
          </a:prstGeom>
          <a:noFill/>
          <a:ln w="38100">
            <a:solidFill>
              <a:srgbClr val="94A3B8"/>
            </a:solidFill>
            <a:prstDash val="solid"/>
          </a:ln>
        </p:spPr>
      </p:sp>
      <p:sp>
        <p:nvSpPr>
          <p:cNvPr id="28" name="Shape 25"/>
          <p:cNvSpPr/>
          <p:nvPr/>
        </p:nvSpPr>
        <p:spPr>
          <a:xfrm>
            <a:off x="4272077" y="2340864"/>
            <a:ext cx="182880" cy="182880"/>
          </a:xfrm>
          <a:prstGeom prst="ellipse">
            <a:avLst/>
          </a:prstGeom>
          <a:solidFill>
            <a:srgbClr val="94A3B8"/>
          </a:solidFill>
          <a:ln w="6350">
            <a:solidFill>
              <a:srgbClr val="94A3B8"/>
            </a:solidFill>
            <a:prstDash val="solid"/>
          </a:ln>
        </p:spPr>
      </p:sp>
      <p:sp>
        <p:nvSpPr>
          <p:cNvPr id="29" name="Shape 26"/>
          <p:cNvSpPr/>
          <p:nvPr/>
        </p:nvSpPr>
        <p:spPr>
          <a:xfrm>
            <a:off x="4339377" y="2340864"/>
            <a:ext cx="182880" cy="182880"/>
          </a:xfrm>
          <a:prstGeom prst="ellipse">
            <a:avLst/>
          </a:prstGeom>
          <a:solidFill>
            <a:srgbClr val="0A1F44"/>
          </a:solidFill>
          <a:ln w="6350">
            <a:solidFill>
              <a:srgbClr val="0A1F44"/>
            </a:solidFill>
            <a:prstDash val="solid"/>
          </a:ln>
        </p:spPr>
      </p:sp>
      <p:sp>
        <p:nvSpPr>
          <p:cNvPr id="30" name="Text 27"/>
          <p:cNvSpPr txBox="1"/>
          <p:nvPr/>
        </p:nvSpPr>
        <p:spPr>
          <a:xfrm>
            <a:off x="4595409" y="2249424"/>
            <a:ext cx="1234440" cy="365760"/>
          </a:xfrm>
          <a:prstGeom prst="rect">
            <a:avLst/>
          </a:prstGeom>
          <a:noFill/>
          <a:ln/>
        </p:spPr>
        <p:txBody>
          <a:bodyPr wrap="square" lIns="0" tIns="0" rIns="0" bIns="0" rtlCol="0" anchor="ctr"/>
          <a:lstStyle/>
          <a:p>
            <a:pPr indent="0" marL="0">
              <a:buNone/>
            </a:pPr>
            <a:r>
              <a:rPr lang="en-US" sz="950" dirty="0">
                <a:solidFill>
                  <a:srgbClr val="64748B"/>
                </a:solidFill>
                <a:latin typeface="Inter" pitchFamily="34" charset="0"/>
                <a:ea typeface="Inter" pitchFamily="34" charset="-122"/>
                <a:cs typeface="Inter" pitchFamily="34" charset="-120"/>
              </a:rPr>
              <a:t>16.0% → 16.8%</a:t>
            </a:r>
            <a:endParaRPr lang="en-US" sz="950" dirty="0"/>
          </a:p>
        </p:txBody>
      </p:sp>
      <p:sp>
        <p:nvSpPr>
          <p:cNvPr id="31" name="Text 28"/>
          <p:cNvSpPr txBox="1"/>
          <p:nvPr/>
        </p:nvSpPr>
        <p:spPr>
          <a:xfrm>
            <a:off x="594360" y="2761488"/>
            <a:ext cx="2331720" cy="365760"/>
          </a:xfrm>
          <a:prstGeom prst="rect">
            <a:avLst/>
          </a:prstGeom>
          <a:noFill/>
          <a:ln/>
        </p:spPr>
        <p:txBody>
          <a:bodyPr wrap="square" lIns="0" tIns="0" rIns="0" bIns="0" rtlCol="0" anchor="ctr"/>
          <a:lstStyle/>
          <a:p>
            <a:pPr indent="0" marL="0">
              <a:buNone/>
            </a:pPr>
            <a:r>
              <a:rPr lang="en-US" sz="1100" dirty="0">
                <a:solidFill>
                  <a:srgbClr val="0F172A"/>
                </a:solidFill>
                <a:latin typeface="Inter" pitchFamily="34" charset="0"/>
                <a:ea typeface="Inter" pitchFamily="34" charset="-122"/>
                <a:cs typeface="Inter" pitchFamily="34" charset="-120"/>
              </a:rPr>
              <a:t>Paid social retargeting</a:t>
            </a:r>
            <a:endParaRPr lang="en-US" sz="1100" dirty="0"/>
          </a:p>
        </p:txBody>
      </p:sp>
      <p:sp>
        <p:nvSpPr>
          <p:cNvPr id="32" name="Shape 29"/>
          <p:cNvSpPr/>
          <p:nvPr/>
        </p:nvSpPr>
        <p:spPr>
          <a:xfrm>
            <a:off x="4102730" y="2944368"/>
            <a:ext cx="100950" cy="0"/>
          </a:xfrm>
          <a:prstGeom prst="line">
            <a:avLst/>
          </a:prstGeom>
          <a:noFill/>
          <a:ln w="38100">
            <a:solidFill>
              <a:srgbClr val="94A3B8"/>
            </a:solidFill>
            <a:prstDash val="solid"/>
          </a:ln>
        </p:spPr>
      </p:sp>
      <p:sp>
        <p:nvSpPr>
          <p:cNvPr id="33" name="Shape 30"/>
          <p:cNvSpPr/>
          <p:nvPr/>
        </p:nvSpPr>
        <p:spPr>
          <a:xfrm>
            <a:off x="4011290" y="2852928"/>
            <a:ext cx="182880" cy="182880"/>
          </a:xfrm>
          <a:prstGeom prst="ellipse">
            <a:avLst/>
          </a:prstGeom>
          <a:solidFill>
            <a:srgbClr val="94A3B8"/>
          </a:solidFill>
          <a:ln w="6350">
            <a:solidFill>
              <a:srgbClr val="94A3B8"/>
            </a:solidFill>
            <a:prstDash val="solid"/>
          </a:ln>
        </p:spPr>
      </p:sp>
      <p:sp>
        <p:nvSpPr>
          <p:cNvPr id="34" name="Shape 31"/>
          <p:cNvSpPr/>
          <p:nvPr/>
        </p:nvSpPr>
        <p:spPr>
          <a:xfrm>
            <a:off x="4112240" y="2852928"/>
            <a:ext cx="182880" cy="182880"/>
          </a:xfrm>
          <a:prstGeom prst="ellipse">
            <a:avLst/>
          </a:prstGeom>
          <a:solidFill>
            <a:srgbClr val="0A1F44"/>
          </a:solidFill>
          <a:ln w="6350">
            <a:solidFill>
              <a:srgbClr val="0A1F44"/>
            </a:solidFill>
            <a:prstDash val="solid"/>
          </a:ln>
        </p:spPr>
      </p:sp>
      <p:sp>
        <p:nvSpPr>
          <p:cNvPr id="35" name="Text 32"/>
          <p:cNvSpPr txBox="1"/>
          <p:nvPr/>
        </p:nvSpPr>
        <p:spPr>
          <a:xfrm>
            <a:off x="4368272" y="2761488"/>
            <a:ext cx="1234440" cy="365760"/>
          </a:xfrm>
          <a:prstGeom prst="rect">
            <a:avLst/>
          </a:prstGeom>
          <a:noFill/>
          <a:ln/>
        </p:spPr>
        <p:txBody>
          <a:bodyPr wrap="square" lIns="0" tIns="0" rIns="0" bIns="0" rtlCol="0" anchor="ctr"/>
          <a:lstStyle/>
          <a:p>
            <a:pPr indent="0" marL="0">
              <a:buNone/>
            </a:pPr>
            <a:r>
              <a:rPr lang="en-US" sz="950" dirty="0">
                <a:solidFill>
                  <a:srgbClr val="64748B"/>
                </a:solidFill>
                <a:latin typeface="Inter" pitchFamily="34" charset="0"/>
                <a:ea typeface="Inter" pitchFamily="34" charset="-122"/>
                <a:cs typeface="Inter" pitchFamily="34" charset="-120"/>
              </a:rPr>
              <a:t>12.9% → 14.1%</a:t>
            </a:r>
            <a:endParaRPr lang="en-US" sz="950" dirty="0"/>
          </a:p>
        </p:txBody>
      </p:sp>
      <p:sp>
        <p:nvSpPr>
          <p:cNvPr id="36" name="Text 33"/>
          <p:cNvSpPr txBox="1"/>
          <p:nvPr/>
        </p:nvSpPr>
        <p:spPr>
          <a:xfrm>
            <a:off x="594360" y="3273552"/>
            <a:ext cx="2331720" cy="365760"/>
          </a:xfrm>
          <a:prstGeom prst="rect">
            <a:avLst/>
          </a:prstGeom>
          <a:noFill/>
          <a:ln/>
        </p:spPr>
        <p:txBody>
          <a:bodyPr wrap="square" lIns="0" tIns="0" rIns="0" bIns="0" rtlCol="0" anchor="ctr"/>
          <a:lstStyle/>
          <a:p>
            <a:pPr indent="0" marL="0">
              <a:buNone/>
            </a:pPr>
            <a:r>
              <a:rPr lang="en-US" sz="1100" dirty="0">
                <a:solidFill>
                  <a:srgbClr val="0F172A"/>
                </a:solidFill>
                <a:latin typeface="Inter" pitchFamily="34" charset="0"/>
                <a:ea typeface="Inter" pitchFamily="34" charset="-122"/>
                <a:cs typeface="Inter" pitchFamily="34" charset="-120"/>
              </a:rPr>
              <a:t>Paid search</a:t>
            </a:r>
            <a:endParaRPr lang="en-US" sz="1100" dirty="0"/>
          </a:p>
        </p:txBody>
      </p:sp>
      <p:sp>
        <p:nvSpPr>
          <p:cNvPr id="37" name="Shape 34"/>
          <p:cNvSpPr/>
          <p:nvPr/>
        </p:nvSpPr>
        <p:spPr>
          <a:xfrm>
            <a:off x="4094317" y="3456432"/>
            <a:ext cx="75712" cy="0"/>
          </a:xfrm>
          <a:prstGeom prst="line">
            <a:avLst/>
          </a:prstGeom>
          <a:noFill/>
          <a:ln w="38100">
            <a:solidFill>
              <a:srgbClr val="94A3B8"/>
            </a:solidFill>
            <a:prstDash val="solid"/>
          </a:ln>
        </p:spPr>
      </p:sp>
      <p:sp>
        <p:nvSpPr>
          <p:cNvPr id="38" name="Shape 35"/>
          <p:cNvSpPr/>
          <p:nvPr/>
        </p:nvSpPr>
        <p:spPr>
          <a:xfrm>
            <a:off x="4002877" y="3364992"/>
            <a:ext cx="182880" cy="182880"/>
          </a:xfrm>
          <a:prstGeom prst="ellipse">
            <a:avLst/>
          </a:prstGeom>
          <a:solidFill>
            <a:srgbClr val="94A3B8"/>
          </a:solidFill>
          <a:ln w="6350">
            <a:solidFill>
              <a:srgbClr val="94A3B8"/>
            </a:solidFill>
            <a:prstDash val="solid"/>
          </a:ln>
        </p:spPr>
      </p:sp>
      <p:sp>
        <p:nvSpPr>
          <p:cNvPr id="39" name="Shape 36"/>
          <p:cNvSpPr/>
          <p:nvPr/>
        </p:nvSpPr>
        <p:spPr>
          <a:xfrm>
            <a:off x="4078590" y="3364992"/>
            <a:ext cx="182880" cy="182880"/>
          </a:xfrm>
          <a:prstGeom prst="ellipse">
            <a:avLst/>
          </a:prstGeom>
          <a:solidFill>
            <a:srgbClr val="0A1F44"/>
          </a:solidFill>
          <a:ln w="6350">
            <a:solidFill>
              <a:srgbClr val="0A1F44"/>
            </a:solidFill>
            <a:prstDash val="solid"/>
          </a:ln>
        </p:spPr>
      </p:sp>
      <p:sp>
        <p:nvSpPr>
          <p:cNvPr id="40" name="Text 37"/>
          <p:cNvSpPr txBox="1"/>
          <p:nvPr/>
        </p:nvSpPr>
        <p:spPr>
          <a:xfrm>
            <a:off x="4334622" y="3273552"/>
            <a:ext cx="1234440" cy="365760"/>
          </a:xfrm>
          <a:prstGeom prst="rect">
            <a:avLst/>
          </a:prstGeom>
          <a:noFill/>
          <a:ln/>
        </p:spPr>
        <p:txBody>
          <a:bodyPr wrap="square" lIns="0" tIns="0" rIns="0" bIns="0" rtlCol="0" anchor="ctr"/>
          <a:lstStyle/>
          <a:p>
            <a:pPr indent="0" marL="0">
              <a:buNone/>
            </a:pPr>
            <a:r>
              <a:rPr lang="en-US" sz="950" dirty="0">
                <a:solidFill>
                  <a:srgbClr val="64748B"/>
                </a:solidFill>
                <a:latin typeface="Inter" pitchFamily="34" charset="0"/>
                <a:ea typeface="Inter" pitchFamily="34" charset="-122"/>
                <a:cs typeface="Inter" pitchFamily="34" charset="-120"/>
              </a:rPr>
              <a:t>12.8% → 13.7%</a:t>
            </a:r>
            <a:endParaRPr lang="en-US" sz="950" dirty="0"/>
          </a:p>
        </p:txBody>
      </p:sp>
      <p:sp>
        <p:nvSpPr>
          <p:cNvPr id="41" name="Text 38"/>
          <p:cNvSpPr txBox="1"/>
          <p:nvPr/>
        </p:nvSpPr>
        <p:spPr>
          <a:xfrm>
            <a:off x="594360" y="3785616"/>
            <a:ext cx="2331720" cy="365760"/>
          </a:xfrm>
          <a:prstGeom prst="rect">
            <a:avLst/>
          </a:prstGeom>
          <a:noFill/>
          <a:ln/>
        </p:spPr>
        <p:txBody>
          <a:bodyPr wrap="square" lIns="0" tIns="0" rIns="0" bIns="0" rtlCol="0" anchor="ctr"/>
          <a:lstStyle/>
          <a:p>
            <a:pPr indent="0" marL="0">
              <a:buNone/>
            </a:pPr>
            <a:r>
              <a:rPr lang="en-US" sz="1100" dirty="0">
                <a:solidFill>
                  <a:srgbClr val="0F172A"/>
                </a:solidFill>
                <a:latin typeface="Inter" pitchFamily="34" charset="0"/>
                <a:ea typeface="Inter" pitchFamily="34" charset="-122"/>
                <a:cs typeface="Inter" pitchFamily="34" charset="-120"/>
              </a:rPr>
              <a:t>Influencer, affiliate</a:t>
            </a:r>
            <a:endParaRPr lang="en-US" sz="1100" dirty="0"/>
          </a:p>
        </p:txBody>
      </p:sp>
      <p:sp>
        <p:nvSpPr>
          <p:cNvPr id="42" name="Shape 39"/>
          <p:cNvSpPr/>
          <p:nvPr/>
        </p:nvSpPr>
        <p:spPr>
          <a:xfrm>
            <a:off x="4035430" y="3968496"/>
            <a:ext cx="100950" cy="0"/>
          </a:xfrm>
          <a:prstGeom prst="line">
            <a:avLst/>
          </a:prstGeom>
          <a:noFill/>
          <a:ln w="38100">
            <a:solidFill>
              <a:srgbClr val="94A3B8"/>
            </a:solidFill>
            <a:prstDash val="solid"/>
          </a:ln>
        </p:spPr>
      </p:sp>
      <p:sp>
        <p:nvSpPr>
          <p:cNvPr id="43" name="Shape 40"/>
          <p:cNvSpPr/>
          <p:nvPr/>
        </p:nvSpPr>
        <p:spPr>
          <a:xfrm>
            <a:off x="3943990" y="3877056"/>
            <a:ext cx="182880" cy="182880"/>
          </a:xfrm>
          <a:prstGeom prst="ellipse">
            <a:avLst/>
          </a:prstGeom>
          <a:solidFill>
            <a:srgbClr val="94A3B8"/>
          </a:solidFill>
          <a:ln w="6350">
            <a:solidFill>
              <a:srgbClr val="94A3B8"/>
            </a:solidFill>
            <a:prstDash val="solid"/>
          </a:ln>
        </p:spPr>
      </p:sp>
      <p:sp>
        <p:nvSpPr>
          <p:cNvPr id="44" name="Shape 41"/>
          <p:cNvSpPr/>
          <p:nvPr/>
        </p:nvSpPr>
        <p:spPr>
          <a:xfrm>
            <a:off x="4044940" y="3877056"/>
            <a:ext cx="182880" cy="182880"/>
          </a:xfrm>
          <a:prstGeom prst="ellipse">
            <a:avLst/>
          </a:prstGeom>
          <a:solidFill>
            <a:srgbClr val="0A1F44"/>
          </a:solidFill>
          <a:ln w="6350">
            <a:solidFill>
              <a:srgbClr val="0A1F44"/>
            </a:solidFill>
            <a:prstDash val="solid"/>
          </a:ln>
        </p:spPr>
      </p:sp>
      <p:sp>
        <p:nvSpPr>
          <p:cNvPr id="45" name="Text 42"/>
          <p:cNvSpPr txBox="1"/>
          <p:nvPr/>
        </p:nvSpPr>
        <p:spPr>
          <a:xfrm>
            <a:off x="4300972" y="3785616"/>
            <a:ext cx="1234440" cy="365760"/>
          </a:xfrm>
          <a:prstGeom prst="rect">
            <a:avLst/>
          </a:prstGeom>
          <a:noFill/>
          <a:ln/>
        </p:spPr>
        <p:txBody>
          <a:bodyPr wrap="square" lIns="0" tIns="0" rIns="0" bIns="0" rtlCol="0" anchor="ctr"/>
          <a:lstStyle/>
          <a:p>
            <a:pPr indent="0" marL="0">
              <a:buNone/>
            </a:pPr>
            <a:r>
              <a:rPr lang="en-US" sz="950" dirty="0">
                <a:solidFill>
                  <a:srgbClr val="64748B"/>
                </a:solidFill>
                <a:latin typeface="Inter" pitchFamily="34" charset="0"/>
                <a:ea typeface="Inter" pitchFamily="34" charset="-122"/>
                <a:cs typeface="Inter" pitchFamily="34" charset="-120"/>
              </a:rPr>
              <a:t>12.1% → 13.3%</a:t>
            </a:r>
            <a:endParaRPr lang="en-US" sz="950" dirty="0"/>
          </a:p>
        </p:txBody>
      </p:sp>
      <p:sp>
        <p:nvSpPr>
          <p:cNvPr id="46" name="Shape 43"/>
          <p:cNvSpPr/>
          <p:nvPr/>
        </p:nvSpPr>
        <p:spPr>
          <a:xfrm>
            <a:off x="502920" y="4261104"/>
            <a:ext cx="7726680" cy="438912"/>
          </a:xfrm>
          <a:prstGeom prst="rect">
            <a:avLst/>
          </a:prstGeom>
          <a:solidFill>
            <a:srgbClr val="EFF6FF"/>
          </a:solidFill>
          <a:ln w="6350">
            <a:solidFill>
              <a:srgbClr val="EFF6FF"/>
            </a:solidFill>
            <a:prstDash val="solid"/>
          </a:ln>
        </p:spPr>
      </p:sp>
      <p:sp>
        <p:nvSpPr>
          <p:cNvPr id="47" name="Text 44"/>
          <p:cNvSpPr txBox="1"/>
          <p:nvPr/>
        </p:nvSpPr>
        <p:spPr>
          <a:xfrm>
            <a:off x="594360" y="4297680"/>
            <a:ext cx="2331720" cy="365760"/>
          </a:xfrm>
          <a:prstGeom prst="rect">
            <a:avLst/>
          </a:prstGeom>
          <a:noFill/>
          <a:ln/>
        </p:spPr>
        <p:txBody>
          <a:bodyPr wrap="square" lIns="0" tIns="0" rIns="0" bIns="0" rtlCol="0" anchor="ctr"/>
          <a:lstStyle/>
          <a:p>
            <a:pPr indent="0" marL="0">
              <a:buNone/>
            </a:pPr>
            <a:r>
              <a:rPr lang="en-US" sz="1100" b="1" dirty="0">
                <a:solidFill>
                  <a:srgbClr val="1D4ED8"/>
                </a:solidFill>
                <a:latin typeface="Inter" pitchFamily="34" charset="0"/>
                <a:ea typeface="Inter" pitchFamily="34" charset="-122"/>
                <a:cs typeface="Inter" pitchFamily="34" charset="-120"/>
              </a:rPr>
              <a:t>Email</a:t>
            </a:r>
            <a:endParaRPr lang="en-US" sz="1100" dirty="0"/>
          </a:p>
        </p:txBody>
      </p:sp>
      <p:sp>
        <p:nvSpPr>
          <p:cNvPr id="48" name="Shape 45"/>
          <p:cNvSpPr/>
          <p:nvPr/>
        </p:nvSpPr>
        <p:spPr>
          <a:xfrm>
            <a:off x="3244657" y="4480560"/>
            <a:ext cx="504749" cy="0"/>
          </a:xfrm>
          <a:prstGeom prst="line">
            <a:avLst/>
          </a:prstGeom>
          <a:noFill/>
          <a:ln w="38100">
            <a:solidFill>
              <a:srgbClr val="1D4ED8"/>
            </a:solidFill>
            <a:prstDash val="solid"/>
          </a:ln>
        </p:spPr>
      </p:sp>
      <p:sp>
        <p:nvSpPr>
          <p:cNvPr id="49" name="Shape 46"/>
          <p:cNvSpPr/>
          <p:nvPr/>
        </p:nvSpPr>
        <p:spPr>
          <a:xfrm>
            <a:off x="3153217" y="4389120"/>
            <a:ext cx="182880" cy="182880"/>
          </a:xfrm>
          <a:prstGeom prst="ellipse">
            <a:avLst/>
          </a:prstGeom>
          <a:solidFill>
            <a:srgbClr val="94A3B8"/>
          </a:solidFill>
          <a:ln w="6350">
            <a:solidFill>
              <a:srgbClr val="94A3B8"/>
            </a:solidFill>
            <a:prstDash val="solid"/>
          </a:ln>
        </p:spPr>
      </p:sp>
      <p:sp>
        <p:nvSpPr>
          <p:cNvPr id="50" name="Shape 47"/>
          <p:cNvSpPr/>
          <p:nvPr/>
        </p:nvSpPr>
        <p:spPr>
          <a:xfrm>
            <a:off x="3657966" y="4389120"/>
            <a:ext cx="182880" cy="182880"/>
          </a:xfrm>
          <a:prstGeom prst="ellipse">
            <a:avLst/>
          </a:prstGeom>
          <a:solidFill>
            <a:srgbClr val="1D4ED8"/>
          </a:solidFill>
          <a:ln w="6350">
            <a:solidFill>
              <a:srgbClr val="1D4ED8"/>
            </a:solidFill>
            <a:prstDash val="solid"/>
          </a:ln>
        </p:spPr>
      </p:sp>
      <p:sp>
        <p:nvSpPr>
          <p:cNvPr id="51" name="Text 48"/>
          <p:cNvSpPr txBox="1"/>
          <p:nvPr/>
        </p:nvSpPr>
        <p:spPr>
          <a:xfrm>
            <a:off x="3913998" y="4297680"/>
            <a:ext cx="1234440" cy="365760"/>
          </a:xfrm>
          <a:prstGeom prst="rect">
            <a:avLst/>
          </a:prstGeom>
          <a:noFill/>
          <a:ln/>
        </p:spPr>
        <p:txBody>
          <a:bodyPr wrap="square" lIns="0" tIns="0" rIns="0" bIns="0" rtlCol="0" anchor="ctr"/>
          <a:lstStyle/>
          <a:p>
            <a:pPr indent="0" marL="0">
              <a:buNone/>
            </a:pPr>
            <a:r>
              <a:rPr lang="en-US" sz="950" b="1" dirty="0">
                <a:solidFill>
                  <a:srgbClr val="1D4ED8"/>
                </a:solidFill>
                <a:latin typeface="Inter" pitchFamily="34" charset="0"/>
                <a:ea typeface="Inter" pitchFamily="34" charset="-122"/>
                <a:cs typeface="Inter" pitchFamily="34" charset="-120"/>
              </a:rPr>
              <a:t>2.7% → 8.7%</a:t>
            </a:r>
            <a:endParaRPr lang="en-US" sz="950" dirty="0"/>
          </a:p>
        </p:txBody>
      </p:sp>
      <p:sp>
        <p:nvSpPr>
          <p:cNvPr id="52" name="Shape 49"/>
          <p:cNvSpPr/>
          <p:nvPr/>
        </p:nvSpPr>
        <p:spPr>
          <a:xfrm>
            <a:off x="502920" y="4773168"/>
            <a:ext cx="7726680" cy="438912"/>
          </a:xfrm>
          <a:prstGeom prst="rect">
            <a:avLst/>
          </a:prstGeom>
          <a:solidFill>
            <a:srgbClr val="EFF6FF"/>
          </a:solidFill>
          <a:ln w="6350">
            <a:solidFill>
              <a:srgbClr val="EFF6FF"/>
            </a:solidFill>
            <a:prstDash val="solid"/>
          </a:ln>
        </p:spPr>
      </p:sp>
      <p:sp>
        <p:nvSpPr>
          <p:cNvPr id="53" name="Text 50"/>
          <p:cNvSpPr txBox="1"/>
          <p:nvPr/>
        </p:nvSpPr>
        <p:spPr>
          <a:xfrm>
            <a:off x="594360" y="4809744"/>
            <a:ext cx="2331720" cy="365760"/>
          </a:xfrm>
          <a:prstGeom prst="rect">
            <a:avLst/>
          </a:prstGeom>
          <a:noFill/>
          <a:ln/>
        </p:spPr>
        <p:txBody>
          <a:bodyPr wrap="square" lIns="0" tIns="0" rIns="0" bIns="0" rtlCol="0" anchor="ctr"/>
          <a:lstStyle/>
          <a:p>
            <a:pPr indent="0" marL="0">
              <a:buNone/>
            </a:pPr>
            <a:r>
              <a:rPr lang="en-US" sz="1100" b="1" dirty="0">
                <a:solidFill>
                  <a:srgbClr val="1D4ED8"/>
                </a:solidFill>
                <a:latin typeface="Inter" pitchFamily="34" charset="0"/>
                <a:ea typeface="Inter" pitchFamily="34" charset="-122"/>
                <a:cs typeface="Inter" pitchFamily="34" charset="-120"/>
              </a:rPr>
              <a:t>SMS</a:t>
            </a:r>
            <a:endParaRPr lang="en-US" sz="1100" dirty="0"/>
          </a:p>
        </p:txBody>
      </p:sp>
      <p:sp>
        <p:nvSpPr>
          <p:cNvPr id="54" name="Shape 51"/>
          <p:cNvSpPr/>
          <p:nvPr/>
        </p:nvSpPr>
        <p:spPr>
          <a:xfrm>
            <a:off x="3076407" y="4992624"/>
            <a:ext cx="227137" cy="0"/>
          </a:xfrm>
          <a:prstGeom prst="line">
            <a:avLst/>
          </a:prstGeom>
          <a:noFill/>
          <a:ln w="38100">
            <a:solidFill>
              <a:srgbClr val="1D4ED8"/>
            </a:solidFill>
            <a:prstDash val="solid"/>
          </a:ln>
        </p:spPr>
      </p:sp>
      <p:sp>
        <p:nvSpPr>
          <p:cNvPr id="55" name="Shape 52"/>
          <p:cNvSpPr/>
          <p:nvPr/>
        </p:nvSpPr>
        <p:spPr>
          <a:xfrm>
            <a:off x="2984967" y="4901184"/>
            <a:ext cx="182880" cy="182880"/>
          </a:xfrm>
          <a:prstGeom prst="ellipse">
            <a:avLst/>
          </a:prstGeom>
          <a:solidFill>
            <a:srgbClr val="94A3B8"/>
          </a:solidFill>
          <a:ln w="6350">
            <a:solidFill>
              <a:srgbClr val="94A3B8"/>
            </a:solidFill>
            <a:prstDash val="solid"/>
          </a:ln>
        </p:spPr>
      </p:sp>
      <p:sp>
        <p:nvSpPr>
          <p:cNvPr id="56" name="Shape 53"/>
          <p:cNvSpPr/>
          <p:nvPr/>
        </p:nvSpPr>
        <p:spPr>
          <a:xfrm>
            <a:off x="3212104" y="4901184"/>
            <a:ext cx="182880" cy="182880"/>
          </a:xfrm>
          <a:prstGeom prst="ellipse">
            <a:avLst/>
          </a:prstGeom>
          <a:solidFill>
            <a:srgbClr val="1D4ED8"/>
          </a:solidFill>
          <a:ln w="6350">
            <a:solidFill>
              <a:srgbClr val="1D4ED8"/>
            </a:solidFill>
            <a:prstDash val="solid"/>
          </a:ln>
        </p:spPr>
      </p:sp>
      <p:sp>
        <p:nvSpPr>
          <p:cNvPr id="57" name="Text 54"/>
          <p:cNvSpPr txBox="1"/>
          <p:nvPr/>
        </p:nvSpPr>
        <p:spPr>
          <a:xfrm>
            <a:off x="3468136" y="4809744"/>
            <a:ext cx="1234440" cy="365760"/>
          </a:xfrm>
          <a:prstGeom prst="rect">
            <a:avLst/>
          </a:prstGeom>
          <a:noFill/>
          <a:ln/>
        </p:spPr>
        <p:txBody>
          <a:bodyPr wrap="square" lIns="0" tIns="0" rIns="0" bIns="0" rtlCol="0" anchor="ctr"/>
          <a:lstStyle/>
          <a:p>
            <a:pPr indent="0" marL="0">
              <a:buNone/>
            </a:pPr>
            <a:r>
              <a:rPr lang="en-US" sz="950" b="1" dirty="0">
                <a:solidFill>
                  <a:srgbClr val="1D4ED8"/>
                </a:solidFill>
                <a:latin typeface="Inter" pitchFamily="34" charset="0"/>
                <a:ea typeface="Inter" pitchFamily="34" charset="-122"/>
                <a:cs typeface="Inter" pitchFamily="34" charset="-120"/>
              </a:rPr>
              <a:t>0.7% → 3.4%</a:t>
            </a:r>
            <a:endParaRPr lang="en-US" sz="950" dirty="0"/>
          </a:p>
        </p:txBody>
      </p:sp>
      <p:sp>
        <p:nvSpPr>
          <p:cNvPr id="58" name="Shape 55"/>
          <p:cNvSpPr/>
          <p:nvPr/>
        </p:nvSpPr>
        <p:spPr>
          <a:xfrm>
            <a:off x="502920" y="5285232"/>
            <a:ext cx="7726680" cy="438912"/>
          </a:xfrm>
          <a:prstGeom prst="rect">
            <a:avLst/>
          </a:prstGeom>
          <a:solidFill>
            <a:srgbClr val="EFF6FF"/>
          </a:solidFill>
          <a:ln w="6350">
            <a:solidFill>
              <a:srgbClr val="EFF6FF"/>
            </a:solidFill>
            <a:prstDash val="solid"/>
          </a:ln>
        </p:spPr>
      </p:sp>
      <p:sp>
        <p:nvSpPr>
          <p:cNvPr id="59" name="Text 56"/>
          <p:cNvSpPr txBox="1"/>
          <p:nvPr/>
        </p:nvSpPr>
        <p:spPr>
          <a:xfrm>
            <a:off x="594360" y="5321808"/>
            <a:ext cx="2331720" cy="365760"/>
          </a:xfrm>
          <a:prstGeom prst="rect">
            <a:avLst/>
          </a:prstGeom>
          <a:noFill/>
          <a:ln/>
        </p:spPr>
        <p:txBody>
          <a:bodyPr wrap="square" lIns="0" tIns="0" rIns="0" bIns="0" rtlCol="0" anchor="ctr"/>
          <a:lstStyle/>
          <a:p>
            <a:pPr indent="0" marL="0">
              <a:buNone/>
            </a:pPr>
            <a:r>
              <a:rPr lang="en-US" sz="1100" b="1" dirty="0">
                <a:solidFill>
                  <a:srgbClr val="1D4ED8"/>
                </a:solidFill>
                <a:latin typeface="Inter" pitchFamily="34" charset="0"/>
                <a:ea typeface="Inter" pitchFamily="34" charset="-122"/>
                <a:cs typeface="Inter" pitchFamily="34" charset="-120"/>
              </a:rPr>
              <a:t>App push</a:t>
            </a:r>
            <a:endParaRPr lang="en-US" sz="1100" dirty="0"/>
          </a:p>
        </p:txBody>
      </p:sp>
      <p:sp>
        <p:nvSpPr>
          <p:cNvPr id="60" name="Shape 57"/>
          <p:cNvSpPr/>
          <p:nvPr/>
        </p:nvSpPr>
        <p:spPr>
          <a:xfrm>
            <a:off x="3135295" y="5504688"/>
            <a:ext cx="126187" cy="0"/>
          </a:xfrm>
          <a:prstGeom prst="line">
            <a:avLst/>
          </a:prstGeom>
          <a:noFill/>
          <a:ln w="38100">
            <a:solidFill>
              <a:srgbClr val="1D4ED8"/>
            </a:solidFill>
            <a:prstDash val="solid"/>
          </a:ln>
        </p:spPr>
      </p:sp>
      <p:sp>
        <p:nvSpPr>
          <p:cNvPr id="61" name="Shape 58"/>
          <p:cNvSpPr/>
          <p:nvPr/>
        </p:nvSpPr>
        <p:spPr>
          <a:xfrm>
            <a:off x="3043855" y="5413248"/>
            <a:ext cx="182880" cy="182880"/>
          </a:xfrm>
          <a:prstGeom prst="ellipse">
            <a:avLst/>
          </a:prstGeom>
          <a:solidFill>
            <a:srgbClr val="94A3B8"/>
          </a:solidFill>
          <a:ln w="6350">
            <a:solidFill>
              <a:srgbClr val="94A3B8"/>
            </a:solidFill>
            <a:prstDash val="solid"/>
          </a:ln>
        </p:spPr>
      </p:sp>
      <p:sp>
        <p:nvSpPr>
          <p:cNvPr id="62" name="Shape 59"/>
          <p:cNvSpPr/>
          <p:nvPr/>
        </p:nvSpPr>
        <p:spPr>
          <a:xfrm>
            <a:off x="3170042" y="5413248"/>
            <a:ext cx="182880" cy="182880"/>
          </a:xfrm>
          <a:prstGeom prst="ellipse">
            <a:avLst/>
          </a:prstGeom>
          <a:solidFill>
            <a:srgbClr val="1D4ED8"/>
          </a:solidFill>
          <a:ln w="6350">
            <a:solidFill>
              <a:srgbClr val="1D4ED8"/>
            </a:solidFill>
            <a:prstDash val="solid"/>
          </a:ln>
        </p:spPr>
      </p:sp>
      <p:sp>
        <p:nvSpPr>
          <p:cNvPr id="63" name="Text 60"/>
          <p:cNvSpPr txBox="1"/>
          <p:nvPr/>
        </p:nvSpPr>
        <p:spPr>
          <a:xfrm>
            <a:off x="3426074" y="5321808"/>
            <a:ext cx="1234440" cy="365760"/>
          </a:xfrm>
          <a:prstGeom prst="rect">
            <a:avLst/>
          </a:prstGeom>
          <a:noFill/>
          <a:ln/>
        </p:spPr>
        <p:txBody>
          <a:bodyPr wrap="square" lIns="0" tIns="0" rIns="0" bIns="0" rtlCol="0" anchor="ctr"/>
          <a:lstStyle/>
          <a:p>
            <a:pPr indent="0" marL="0">
              <a:buNone/>
            </a:pPr>
            <a:r>
              <a:rPr lang="en-US" sz="950" b="1" dirty="0">
                <a:solidFill>
                  <a:srgbClr val="1D4ED8"/>
                </a:solidFill>
                <a:latin typeface="Inter" pitchFamily="34" charset="0"/>
                <a:ea typeface="Inter" pitchFamily="34" charset="-122"/>
                <a:cs typeface="Inter" pitchFamily="34" charset="-120"/>
              </a:rPr>
              <a:t>1.4% → 2.9%</a:t>
            </a:r>
            <a:endParaRPr lang="en-US" sz="950" dirty="0"/>
          </a:p>
        </p:txBody>
      </p:sp>
      <p:sp>
        <p:nvSpPr>
          <p:cNvPr id="64" name="Shape 61"/>
          <p:cNvSpPr/>
          <p:nvPr/>
        </p:nvSpPr>
        <p:spPr>
          <a:xfrm>
            <a:off x="3017520" y="5943600"/>
            <a:ext cx="146304" cy="146304"/>
          </a:xfrm>
          <a:prstGeom prst="ellipse">
            <a:avLst/>
          </a:prstGeom>
          <a:solidFill>
            <a:srgbClr val="94A3B8"/>
          </a:solidFill>
          <a:ln w="6350">
            <a:solidFill>
              <a:srgbClr val="94A3B8"/>
            </a:solidFill>
            <a:prstDash val="solid"/>
          </a:ln>
        </p:spPr>
      </p:sp>
      <p:sp>
        <p:nvSpPr>
          <p:cNvPr id="65" name="Text 62"/>
          <p:cNvSpPr txBox="1"/>
          <p:nvPr/>
        </p:nvSpPr>
        <p:spPr>
          <a:xfrm>
            <a:off x="3218688" y="5897880"/>
            <a:ext cx="914400" cy="237744"/>
          </a:xfrm>
          <a:prstGeom prst="rect">
            <a:avLst/>
          </a:prstGeom>
          <a:noFill/>
          <a:ln/>
        </p:spPr>
        <p:txBody>
          <a:bodyPr wrap="square" lIns="0" tIns="0" rIns="0" bIns="0" rtlCol="0" anchor="ctr"/>
          <a:lstStyle/>
          <a:p>
            <a:pPr indent="0" marL="0">
              <a:buNone/>
            </a:pPr>
            <a:r>
              <a:rPr lang="en-US" sz="950" dirty="0">
                <a:solidFill>
                  <a:srgbClr val="334155"/>
                </a:solidFill>
                <a:latin typeface="Inter" pitchFamily="34" charset="0"/>
                <a:ea typeface="Inter" pitchFamily="34" charset="-122"/>
                <a:cs typeface="Inter" pitchFamily="34" charset="-120"/>
              </a:rPr>
              <a:t>Last touch</a:t>
            </a:r>
            <a:endParaRPr lang="en-US" sz="950" dirty="0"/>
          </a:p>
        </p:txBody>
      </p:sp>
      <p:sp>
        <p:nvSpPr>
          <p:cNvPr id="66" name="Shape 63"/>
          <p:cNvSpPr/>
          <p:nvPr/>
        </p:nvSpPr>
        <p:spPr>
          <a:xfrm>
            <a:off x="4206240" y="5943600"/>
            <a:ext cx="146304" cy="146304"/>
          </a:xfrm>
          <a:prstGeom prst="ellipse">
            <a:avLst/>
          </a:prstGeom>
          <a:solidFill>
            <a:srgbClr val="0A1F44"/>
          </a:solidFill>
          <a:ln w="6350">
            <a:solidFill>
              <a:srgbClr val="0A1F44"/>
            </a:solidFill>
            <a:prstDash val="solid"/>
          </a:ln>
        </p:spPr>
      </p:sp>
      <p:sp>
        <p:nvSpPr>
          <p:cNvPr id="67" name="Text 64"/>
          <p:cNvSpPr txBox="1"/>
          <p:nvPr/>
        </p:nvSpPr>
        <p:spPr>
          <a:xfrm>
            <a:off x="4407408" y="5897880"/>
            <a:ext cx="1097280" cy="237744"/>
          </a:xfrm>
          <a:prstGeom prst="rect">
            <a:avLst/>
          </a:prstGeom>
          <a:noFill/>
          <a:ln/>
        </p:spPr>
        <p:txBody>
          <a:bodyPr wrap="square" lIns="0" tIns="0" rIns="0" bIns="0" rtlCol="0" anchor="ctr"/>
          <a:lstStyle/>
          <a:p>
            <a:pPr indent="0" marL="0">
              <a:buNone/>
            </a:pPr>
            <a:r>
              <a:rPr lang="en-US" sz="950" dirty="0">
                <a:solidFill>
                  <a:srgbClr val="334155"/>
                </a:solidFill>
                <a:latin typeface="Inter" pitchFamily="34" charset="0"/>
                <a:ea typeface="Inter" pitchFamily="34" charset="-122"/>
                <a:cs typeface="Inter" pitchFamily="34" charset="-120"/>
              </a:rPr>
              <a:t>Participation</a:t>
            </a:r>
            <a:endParaRPr lang="en-US" sz="950" dirty="0"/>
          </a:p>
        </p:txBody>
      </p:sp>
      <p:sp>
        <p:nvSpPr>
          <p:cNvPr id="68" name="Shape 65"/>
          <p:cNvSpPr/>
          <p:nvPr/>
        </p:nvSpPr>
        <p:spPr>
          <a:xfrm>
            <a:off x="8595360" y="1737360"/>
            <a:ext cx="3090672" cy="1828800"/>
          </a:xfrm>
          <a:prstGeom prst="roundRect">
            <a:avLst>
              <a:gd name="adj" fmla="val 4000"/>
            </a:avLst>
          </a:prstGeom>
          <a:solidFill>
            <a:srgbClr val="0A1F44"/>
          </a:solidFill>
          <a:ln w="6350">
            <a:solidFill>
              <a:srgbClr val="0A1F44"/>
            </a:solidFill>
            <a:prstDash val="solid"/>
          </a:ln>
        </p:spPr>
      </p:sp>
      <p:sp>
        <p:nvSpPr>
          <p:cNvPr id="69" name="Text 66"/>
          <p:cNvSpPr txBox="1"/>
          <p:nvPr/>
        </p:nvSpPr>
        <p:spPr>
          <a:xfrm>
            <a:off x="8778240" y="1828800"/>
            <a:ext cx="2743200" cy="1645920"/>
          </a:xfrm>
          <a:prstGeom prst="rect">
            <a:avLst/>
          </a:prstGeom>
          <a:noFill/>
          <a:ln/>
        </p:spPr>
        <p:txBody>
          <a:bodyPr wrap="square" lIns="0" tIns="0" rIns="0" bIns="0" rtlCol="0" anchor="ctr"/>
          <a:lstStyle/>
          <a:p>
            <a:pPr indent="0" marL="0">
              <a:buNone/>
            </a:pPr>
            <a:r>
              <a:rPr lang="en-US" sz="2400" b="1" dirty="0">
                <a:solidFill>
                  <a:srgbClr val="FFFFFF"/>
                </a:solidFill>
                <a:latin typeface="Inter" pitchFamily="34" charset="0"/>
                <a:ea typeface="Inter" pitchFamily="34" charset="-122"/>
                <a:cs typeface="Inter" pitchFamily="34" charset="-120"/>
              </a:rPr>
              <a:t>4.8% → 15.0%</a:t>
            </a:r>
            <a:endParaRPr lang="en-US" sz="1200" dirty="0"/>
          </a:p>
          <a:p>
            <a:pPr indent="0" marL="0">
              <a:buNone/>
            </a:pPr>
            <a:r>
              <a:rPr lang="en-US" sz="1100" dirty="0">
                <a:solidFill>
                  <a:srgbClr val="C7D7F5"/>
                </a:solidFill>
                <a:latin typeface="Inter" pitchFamily="34" charset="0"/>
                <a:ea typeface="Inter" pitchFamily="34" charset="-122"/>
                <a:cs typeface="Inter" pitchFamily="34" charset="-120"/>
              </a:rPr>
              <a:t>Owned channels: last-touch credit vs up to 15.0% of revenue they appear in (not additive)</a:t>
            </a:r>
            <a:endParaRPr lang="en-US" sz="1200" dirty="0"/>
          </a:p>
        </p:txBody>
      </p:sp>
      <p:sp>
        <p:nvSpPr>
          <p:cNvPr id="70" name="Shape 67"/>
          <p:cNvSpPr/>
          <p:nvPr/>
        </p:nvSpPr>
        <p:spPr>
          <a:xfrm>
            <a:off x="8595360" y="3749040"/>
            <a:ext cx="3090672" cy="1828800"/>
          </a:xfrm>
          <a:prstGeom prst="roundRect">
            <a:avLst>
              <a:gd name="adj" fmla="val 4000"/>
            </a:avLst>
          </a:prstGeom>
          <a:solidFill>
            <a:srgbClr val="EFF6FF"/>
          </a:solidFill>
          <a:ln w="6350">
            <a:solidFill>
              <a:srgbClr val="EFF6FF"/>
            </a:solidFill>
            <a:prstDash val="solid"/>
          </a:ln>
        </p:spPr>
      </p:sp>
      <p:sp>
        <p:nvSpPr>
          <p:cNvPr id="71" name="Text 68"/>
          <p:cNvSpPr txBox="1"/>
          <p:nvPr/>
        </p:nvSpPr>
        <p:spPr>
          <a:xfrm>
            <a:off x="8778240" y="3840480"/>
            <a:ext cx="2743200" cy="1645920"/>
          </a:xfrm>
          <a:prstGeom prst="rect">
            <a:avLst/>
          </a:prstGeom>
          <a:noFill/>
          <a:ln/>
        </p:spPr>
        <p:txBody>
          <a:bodyPr wrap="square" lIns="0" tIns="0" rIns="0" bIns="0" rtlCol="0" anchor="ctr"/>
          <a:lstStyle/>
          <a:p>
            <a:pPr indent="0" marL="0">
              <a:buNone/>
            </a:pPr>
            <a:r>
              <a:rPr lang="en-US" sz="2000" b="1" dirty="0">
                <a:solidFill>
                  <a:srgbClr val="1D4ED8"/>
                </a:solidFill>
                <a:latin typeface="Inter" pitchFamily="34" charset="0"/>
                <a:ea typeface="Inter" pitchFamily="34" charset="-122"/>
                <a:cs typeface="Inter" pitchFamily="34" charset="-120"/>
              </a:rPr>
              <a:t>12.9 · 12.4 · 12.5%</a:t>
            </a:r>
            <a:endParaRPr lang="en-US" sz="1200" dirty="0"/>
          </a:p>
          <a:p>
            <a:pPr indent="0" marL="0">
              <a:buNone/>
            </a:pPr>
            <a:r>
              <a:rPr lang="en-US" sz="1100" dirty="0">
                <a:solidFill>
                  <a:srgbClr val="334155"/>
                </a:solidFill>
                <a:latin typeface="Inter" pitchFamily="34" charset="0"/>
                <a:ea typeface="Inter" pitchFamily="34" charset="-122"/>
                <a:cs typeface="Inter" pitchFamily="34" charset="-120"/>
              </a:rPr>
              <a:t>Retargeting under last touch, first touch and linear: attribution can't settle it; holdouts can (Gordon et al. 2019)</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9326880" cy="841248"/>
          </a:xfrm>
          <a:prstGeom prst="rect">
            <a:avLst/>
          </a:prstGeom>
          <a:noFill/>
          <a:ln/>
        </p:spPr>
        <p:txBody>
          <a:bodyPr wrap="square" lIns="0" tIns="0" rIns="0" bIns="0" rtlCol="0" anchor="ctr"/>
          <a:lstStyle/>
          <a:p>
            <a:pPr indent="0" marL="0">
              <a:buNone/>
            </a:pPr>
            <a:r>
              <a:rPr lang="en-US" sz="2400" b="1" dirty="0">
                <a:solidFill>
                  <a:srgbClr val="0A1F44"/>
                </a:solidFill>
                <a:latin typeface="Inter" pitchFamily="34" charset="0"/>
                <a:ea typeface="Inter" pitchFamily="34" charset="-122"/>
                <a:cs typeface="Inter" pitchFamily="34" charset="-120"/>
              </a:rPr>
              <a:t>Material Journeys reuses Quince's existing shipping events</a:t>
            </a:r>
            <a:endParaRPr lang="en-US" sz="2400" dirty="0"/>
          </a:p>
        </p:txBody>
      </p:sp>
      <p:pic>
        <p:nvPicPr>
          <p:cNvPr id="3" name="Image 0" descr="/tmp/claude-0/-home-user-Quince/7efe80ae-a049-50c2-9886-98bf7ca3a04a/scratchpad/assets/quince.png">    </p:cNvPr>
          <p:cNvPicPr>
            <a:picLocks noChangeAspect="1"/>
          </p:cNvPicPr>
          <p:nvPr/>
        </p:nvPicPr>
        <p:blipFill>
          <a:blip r:embed="rId1"/>
          <a:stretch>
            <a:fillRect/>
          </a:stretch>
        </p:blipFill>
        <p:spPr>
          <a:xfrm>
            <a:off x="10236708" y="615544"/>
            <a:ext cx="777240" cy="231951"/>
          </a:xfrm>
          <a:prstGeom prst="rect">
            <a:avLst/>
          </a:prstGeom>
        </p:spPr>
      </p:pic>
      <p:sp>
        <p:nvSpPr>
          <p:cNvPr id="4" name="Shape 1"/>
          <p:cNvSpPr/>
          <p:nvPr/>
        </p:nvSpPr>
        <p:spPr>
          <a:xfrm>
            <a:off x="11155680" y="603504"/>
            <a:ext cx="530352" cy="256032"/>
          </a:xfrm>
          <a:prstGeom prst="roundRect">
            <a:avLst>
              <a:gd name="adj" fmla="val 50000"/>
            </a:avLst>
          </a:prstGeom>
          <a:solidFill>
            <a:srgbClr val="0A1F44"/>
          </a:solidFill>
          <a:ln w="6350">
            <a:solidFill>
              <a:srgbClr val="0A1F44"/>
            </a:solidFill>
            <a:prstDash val="solid"/>
          </a:ln>
        </p:spPr>
      </p:sp>
      <p:sp>
        <p:nvSpPr>
          <p:cNvPr id="5" name="Text 2"/>
          <p:cNvSpPr txBox="1"/>
          <p:nvPr/>
        </p:nvSpPr>
        <p:spPr>
          <a:xfrm>
            <a:off x="11155680" y="603504"/>
            <a:ext cx="530352"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Inter" pitchFamily="34" charset="0"/>
                <a:ea typeface="Inter" pitchFamily="34" charset="-122"/>
                <a:cs typeface="Inter" pitchFamily="34" charset="-120"/>
              </a:rPr>
              <a:t>G27</a:t>
            </a:r>
            <a:endParaRPr lang="en-US" sz="950" dirty="0"/>
          </a:p>
        </p:txBody>
      </p:sp>
      <p:sp>
        <p:nvSpPr>
          <p:cNvPr id="6" name="Shape 3"/>
          <p:cNvSpPr/>
          <p:nvPr/>
        </p:nvSpPr>
        <p:spPr>
          <a:xfrm>
            <a:off x="502920" y="6400800"/>
            <a:ext cx="11183112" cy="0"/>
          </a:xfrm>
          <a:prstGeom prst="line">
            <a:avLst/>
          </a:prstGeom>
          <a:noFill/>
          <a:ln w="9525">
            <a:solidFill>
              <a:srgbClr val="E2E8F0"/>
            </a:solidFill>
            <a:prstDash val="solid"/>
          </a:ln>
        </p:spPr>
      </p:sp>
      <p:sp>
        <p:nvSpPr>
          <p:cNvPr id="7" name="Text 4"/>
          <p:cNvSpPr txBox="1"/>
          <p:nvPr/>
        </p:nvSpPr>
        <p:spPr>
          <a:xfrm>
            <a:off x="502920" y="6464808"/>
            <a:ext cx="9418320" cy="256032"/>
          </a:xfrm>
          <a:prstGeom prst="rect">
            <a:avLst/>
          </a:prstGeom>
          <a:noFill/>
          <a:ln/>
        </p:spPr>
        <p:txBody>
          <a:bodyPr wrap="square" lIns="0" tIns="0" rIns="0" bIns="0" rtlCol="0" anchor="ctr"/>
          <a:lstStyle/>
          <a:p>
            <a:pPr indent="0" marL="0">
              <a:buNone/>
            </a:pPr>
            <a:r>
              <a:rPr lang="en-US" sz="800" dirty="0">
                <a:solidFill>
                  <a:srgbClr val="64748B"/>
                </a:solidFill>
                <a:latin typeface="Inter" pitchFamily="34" charset="0"/>
                <a:ea typeface="Inter" pitchFamily="34" charset="-122"/>
                <a:cs typeface="Inter" pitchFamily="34" charset="-120"/>
              </a:rPr>
              <a:t>Source: case section 1 (M2C model), Exhibits L and N; team build plan. Month ranges are the team's plan, not case figures.</a:t>
            </a:r>
            <a:endParaRPr lang="en-US" sz="800" dirty="0"/>
          </a:p>
        </p:txBody>
      </p:sp>
      <p:sp>
        <p:nvSpPr>
          <p:cNvPr id="8" name="Text 5"/>
          <p:cNvSpPr txBox="1"/>
          <p:nvPr/>
        </p:nvSpPr>
        <p:spPr>
          <a:xfrm>
            <a:off x="9966960" y="6464808"/>
            <a:ext cx="1719072" cy="256032"/>
          </a:xfrm>
          <a:prstGeom prst="rect">
            <a:avLst/>
          </a:prstGeom>
          <a:noFill/>
          <a:ln/>
        </p:spPr>
        <p:txBody>
          <a:bodyPr wrap="square" lIns="0" tIns="0" rIns="0" bIns="0" rtlCol="0" anchor="ctr"/>
          <a:lstStyle/>
          <a:p>
            <a:pPr algn="r" indent="0" marL="0">
              <a:buNone/>
            </a:pPr>
            <a:r>
              <a:rPr lang="en-US" sz="800" dirty="0">
                <a:solidFill>
                  <a:srgbClr val="64748B"/>
                </a:solidFill>
                <a:latin typeface="Inter" pitchFamily="34" charset="0"/>
                <a:ea typeface="Inter" pitchFamily="34" charset="-122"/>
                <a:cs typeface="Inter" pitchFamily="34" charset="-120"/>
              </a:rPr>
              <a:t>Team G27  ·  24</a:t>
            </a:r>
            <a:endParaRPr lang="en-US" sz="800" dirty="0"/>
          </a:p>
        </p:txBody>
      </p:sp>
      <p:sp>
        <p:nvSpPr>
          <p:cNvPr id="9" name="Shape 6"/>
          <p:cNvSpPr/>
          <p:nvPr/>
        </p:nvSpPr>
        <p:spPr>
          <a:xfrm>
            <a:off x="502920" y="1261872"/>
            <a:ext cx="5852160" cy="640080"/>
          </a:xfrm>
          <a:prstGeom prst="roundRect">
            <a:avLst>
              <a:gd name="adj" fmla="val 11429"/>
            </a:avLst>
          </a:prstGeom>
          <a:solidFill>
            <a:srgbClr val="0A1F44"/>
          </a:solidFill>
          <a:ln w="6350">
            <a:solidFill>
              <a:srgbClr val="0A1F44"/>
            </a:solidFill>
            <a:prstDash val="solid"/>
          </a:ln>
        </p:spPr>
      </p:sp>
      <p:pic>
        <p:nvPicPr>
          <p:cNvPr id="10" name="Image 1" descr="preencoded.png">    </p:cNvPr>
          <p:cNvPicPr>
            <a:picLocks noChangeAspect="1"/>
          </p:cNvPicPr>
          <p:nvPr/>
        </p:nvPicPr>
        <p:blipFill>
          <a:blip r:embed="rId2"/>
          <a:stretch>
            <a:fillRect/>
          </a:stretch>
        </p:blipFill>
        <p:spPr>
          <a:xfrm>
            <a:off x="667512" y="1417320"/>
            <a:ext cx="329184" cy="329184"/>
          </a:xfrm>
          <a:prstGeom prst="rect">
            <a:avLst/>
          </a:prstGeom>
        </p:spPr>
      </p:pic>
      <p:sp>
        <p:nvSpPr>
          <p:cNvPr id="11" name="Text 7"/>
          <p:cNvSpPr txBox="1"/>
          <p:nvPr/>
        </p:nvSpPr>
        <p:spPr>
          <a:xfrm>
            <a:off x="1143000" y="1261872"/>
            <a:ext cx="5074920" cy="640080"/>
          </a:xfrm>
          <a:prstGeom prst="rect">
            <a:avLst/>
          </a:prstGeom>
          <a:noFill/>
          <a:ln/>
        </p:spPr>
        <p:txBody>
          <a:bodyPr wrap="square" lIns="0" tIns="0" rIns="0" bIns="0" rtlCol="0" anchor="ctr"/>
          <a:lstStyle/>
          <a:p>
            <a:pPr indent="0" marL="0">
              <a:buNone/>
            </a:pPr>
            <a:r>
              <a:rPr lang="en-US" sz="1150" b="1" dirty="0">
                <a:solidFill>
                  <a:srgbClr val="FFFFFF"/>
                </a:solidFill>
                <a:latin typeface="Inter" pitchFamily="34" charset="0"/>
                <a:ea typeface="Inter" pitchFamily="34" charset="-122"/>
                <a:cs typeface="Inter" pitchFamily="34" charset="-120"/>
              </a:rPr>
              <a:t>Factories and 3PL partners</a:t>
            </a:r>
            <a:endParaRPr lang="en-US" sz="1200" dirty="0"/>
          </a:p>
          <a:p>
            <a:pPr indent="0" marL="0">
              <a:buNone/>
            </a:pPr>
            <a:r>
              <a:rPr lang="en-US" sz="900" dirty="0">
                <a:solidFill>
                  <a:srgbClr val="FFFFFF"/>
                </a:solidFill>
                <a:latin typeface="Inter" pitchFamily="34" charset="0"/>
                <a:ea typeface="Inter" pitchFamily="34" charset="-122"/>
                <a:cs typeface="Inter" pitchFamily="34" charset="-120"/>
              </a:rPr>
              <a:t>Shipment created · customs cleared · out for delivery · delivered</a:t>
            </a:r>
            <a:endParaRPr lang="en-US" sz="1200" dirty="0"/>
          </a:p>
        </p:txBody>
      </p:sp>
      <p:sp>
        <p:nvSpPr>
          <p:cNvPr id="12" name="Shape 8"/>
          <p:cNvSpPr/>
          <p:nvPr/>
        </p:nvSpPr>
        <p:spPr>
          <a:xfrm>
            <a:off x="3310128" y="1920240"/>
            <a:ext cx="237744" cy="182880"/>
          </a:xfrm>
          <a:prstGeom prst="downArrow">
            <a:avLst/>
          </a:prstGeom>
          <a:solidFill>
            <a:srgbClr val="94A3B8"/>
          </a:solidFill>
          <a:ln w="6350">
            <a:solidFill>
              <a:srgbClr val="94A3B8"/>
            </a:solidFill>
            <a:prstDash val="solid"/>
          </a:ln>
        </p:spPr>
      </p:sp>
      <p:sp>
        <p:nvSpPr>
          <p:cNvPr id="13" name="Shape 9"/>
          <p:cNvSpPr/>
          <p:nvPr/>
        </p:nvSpPr>
        <p:spPr>
          <a:xfrm>
            <a:off x="502920" y="2121408"/>
            <a:ext cx="5852160" cy="640080"/>
          </a:xfrm>
          <a:prstGeom prst="roundRect">
            <a:avLst>
              <a:gd name="adj" fmla="val 11429"/>
            </a:avLst>
          </a:prstGeom>
          <a:solidFill>
            <a:srgbClr val="1D4ED8"/>
          </a:solidFill>
          <a:ln w="6350">
            <a:solidFill>
              <a:srgbClr val="1D4ED8"/>
            </a:solidFill>
            <a:prstDash val="solid"/>
          </a:ln>
        </p:spPr>
      </p:sp>
      <p:pic>
        <p:nvPicPr>
          <p:cNvPr id="14" name="Image 2" descr="preencoded.png">    </p:cNvPr>
          <p:cNvPicPr>
            <a:picLocks noChangeAspect="1"/>
          </p:cNvPicPr>
          <p:nvPr/>
        </p:nvPicPr>
        <p:blipFill>
          <a:blip r:embed="rId3"/>
          <a:stretch>
            <a:fillRect/>
          </a:stretch>
        </p:blipFill>
        <p:spPr>
          <a:xfrm>
            <a:off x="667512" y="2276856"/>
            <a:ext cx="329184" cy="329184"/>
          </a:xfrm>
          <a:prstGeom prst="rect">
            <a:avLst/>
          </a:prstGeom>
        </p:spPr>
      </p:pic>
      <p:sp>
        <p:nvSpPr>
          <p:cNvPr id="15" name="Text 10"/>
          <p:cNvSpPr txBox="1"/>
          <p:nvPr/>
        </p:nvSpPr>
        <p:spPr>
          <a:xfrm>
            <a:off x="1143000" y="2121408"/>
            <a:ext cx="5074920" cy="640080"/>
          </a:xfrm>
          <a:prstGeom prst="rect">
            <a:avLst/>
          </a:prstGeom>
          <a:noFill/>
          <a:ln/>
        </p:spPr>
        <p:txBody>
          <a:bodyPr wrap="square" lIns="0" tIns="0" rIns="0" bIns="0" rtlCol="0" anchor="ctr"/>
          <a:lstStyle/>
          <a:p>
            <a:pPr indent="0" marL="0">
              <a:buNone/>
            </a:pPr>
            <a:r>
              <a:rPr lang="en-US" sz="1150" b="1" dirty="0">
                <a:solidFill>
                  <a:srgbClr val="FFFFFF"/>
                </a:solidFill>
                <a:latin typeface="Inter" pitchFamily="34" charset="0"/>
                <a:ea typeface="Inter" pitchFamily="34" charset="-122"/>
                <a:cs typeface="Inter" pitchFamily="34" charset="-120"/>
              </a:rPr>
              <a:t>Order and fulfillment events</a:t>
            </a:r>
            <a:endParaRPr lang="en-US" sz="1200" dirty="0"/>
          </a:p>
          <a:p>
            <a:pPr indent="0" marL="0">
              <a:buNone/>
            </a:pPr>
            <a:r>
              <a:rPr lang="en-US" sz="900" dirty="0">
                <a:solidFill>
                  <a:srgbClr val="FFFFFF"/>
                </a:solidFill>
                <a:latin typeface="Inter" pitchFamily="34" charset="0"/>
                <a:ea typeface="Inter" pitchFamily="34" charset="-122"/>
                <a:cs typeface="Inter" pitchFamily="34" charset="-120"/>
              </a:rPr>
              <a:t>One event stream per order, keyed to the order ID</a:t>
            </a:r>
            <a:endParaRPr lang="en-US" sz="1200" dirty="0"/>
          </a:p>
        </p:txBody>
      </p:sp>
      <p:sp>
        <p:nvSpPr>
          <p:cNvPr id="16" name="Shape 11"/>
          <p:cNvSpPr/>
          <p:nvPr/>
        </p:nvSpPr>
        <p:spPr>
          <a:xfrm>
            <a:off x="3310128" y="2779776"/>
            <a:ext cx="237744" cy="182880"/>
          </a:xfrm>
          <a:prstGeom prst="downArrow">
            <a:avLst/>
          </a:prstGeom>
          <a:solidFill>
            <a:srgbClr val="94A3B8"/>
          </a:solidFill>
          <a:ln w="6350">
            <a:solidFill>
              <a:srgbClr val="94A3B8"/>
            </a:solidFill>
            <a:prstDash val="solid"/>
          </a:ln>
        </p:spPr>
      </p:sp>
      <p:sp>
        <p:nvSpPr>
          <p:cNvPr id="17" name="Shape 12"/>
          <p:cNvSpPr/>
          <p:nvPr/>
        </p:nvSpPr>
        <p:spPr>
          <a:xfrm>
            <a:off x="502920" y="2980944"/>
            <a:ext cx="5852160" cy="640080"/>
          </a:xfrm>
          <a:prstGeom prst="roundRect">
            <a:avLst>
              <a:gd name="adj" fmla="val 11429"/>
            </a:avLst>
          </a:prstGeom>
          <a:solidFill>
            <a:srgbClr val="2563EB"/>
          </a:solidFill>
          <a:ln w="6350">
            <a:solidFill>
              <a:srgbClr val="2563EB"/>
            </a:solidFill>
            <a:prstDash val="solid"/>
          </a:ln>
        </p:spPr>
      </p:sp>
      <p:pic>
        <p:nvPicPr>
          <p:cNvPr id="18" name="Image 3" descr="preencoded.png">    </p:cNvPr>
          <p:cNvPicPr>
            <a:picLocks noChangeAspect="1"/>
          </p:cNvPicPr>
          <p:nvPr/>
        </p:nvPicPr>
        <p:blipFill>
          <a:blip r:embed="rId4"/>
          <a:stretch>
            <a:fillRect/>
          </a:stretch>
        </p:blipFill>
        <p:spPr>
          <a:xfrm>
            <a:off x="667512" y="3136392"/>
            <a:ext cx="329184" cy="329184"/>
          </a:xfrm>
          <a:prstGeom prst="rect">
            <a:avLst/>
          </a:prstGeom>
        </p:spPr>
      </p:pic>
      <p:sp>
        <p:nvSpPr>
          <p:cNvPr id="19" name="Text 13"/>
          <p:cNvSpPr txBox="1"/>
          <p:nvPr/>
        </p:nvSpPr>
        <p:spPr>
          <a:xfrm>
            <a:off x="1143000" y="2980944"/>
            <a:ext cx="5074920" cy="640080"/>
          </a:xfrm>
          <a:prstGeom prst="rect">
            <a:avLst/>
          </a:prstGeom>
          <a:noFill/>
          <a:ln/>
        </p:spPr>
        <p:txBody>
          <a:bodyPr wrap="square" lIns="0" tIns="0" rIns="0" bIns="0" rtlCol="0" anchor="ctr"/>
          <a:lstStyle/>
          <a:p>
            <a:pPr indent="0" marL="0">
              <a:buNone/>
            </a:pPr>
            <a:r>
              <a:rPr lang="en-US" sz="1150" b="1" dirty="0">
                <a:solidFill>
                  <a:srgbClr val="FFFFFF"/>
                </a:solidFill>
                <a:latin typeface="Inter" pitchFamily="34" charset="0"/>
                <a:ea typeface="Inter" pitchFamily="34" charset="-122"/>
                <a:cs typeface="Inter" pitchFamily="34" charset="-120"/>
              </a:rPr>
              <a:t>Adobe CJA: stitched person ID</a:t>
            </a:r>
            <a:endParaRPr lang="en-US" sz="1200" dirty="0"/>
          </a:p>
          <a:p>
            <a:pPr indent="0" marL="0">
              <a:buNone/>
            </a:pPr>
            <a:r>
              <a:rPr lang="en-US" sz="900" dirty="0">
                <a:solidFill>
                  <a:srgbClr val="FFFFFF"/>
                </a:solidFill>
                <a:latin typeface="Inter" pitchFamily="34" charset="0"/>
                <a:ea typeface="Inter" pitchFamily="34" charset="-122"/>
                <a:cs typeface="Inter" pitchFamily="34" charset="-120"/>
              </a:rPr>
              <a:t>Order ID → person; audiences; holdout assignment</a:t>
            </a:r>
            <a:endParaRPr lang="en-US" sz="1200" dirty="0"/>
          </a:p>
        </p:txBody>
      </p:sp>
      <p:sp>
        <p:nvSpPr>
          <p:cNvPr id="20" name="Shape 14"/>
          <p:cNvSpPr/>
          <p:nvPr/>
        </p:nvSpPr>
        <p:spPr>
          <a:xfrm>
            <a:off x="3310128" y="3639312"/>
            <a:ext cx="237744" cy="182880"/>
          </a:xfrm>
          <a:prstGeom prst="downArrow">
            <a:avLst/>
          </a:prstGeom>
          <a:solidFill>
            <a:srgbClr val="94A3B8"/>
          </a:solidFill>
          <a:ln w="6350">
            <a:solidFill>
              <a:srgbClr val="94A3B8"/>
            </a:solidFill>
            <a:prstDash val="solid"/>
          </a:ln>
        </p:spPr>
      </p:sp>
      <p:sp>
        <p:nvSpPr>
          <p:cNvPr id="21" name="Shape 15"/>
          <p:cNvSpPr/>
          <p:nvPr/>
        </p:nvSpPr>
        <p:spPr>
          <a:xfrm>
            <a:off x="502920" y="3840480"/>
            <a:ext cx="5852160" cy="640080"/>
          </a:xfrm>
          <a:prstGeom prst="roundRect">
            <a:avLst>
              <a:gd name="adj" fmla="val 11429"/>
            </a:avLst>
          </a:prstGeom>
          <a:solidFill>
            <a:srgbClr val="3B82F6"/>
          </a:solidFill>
          <a:ln w="6350">
            <a:solidFill>
              <a:srgbClr val="3B82F6"/>
            </a:solidFill>
            <a:prstDash val="solid"/>
          </a:ln>
        </p:spPr>
      </p:sp>
      <p:pic>
        <p:nvPicPr>
          <p:cNvPr id="22" name="Image 4" descr="preencoded.png">    </p:cNvPr>
          <p:cNvPicPr>
            <a:picLocks noChangeAspect="1"/>
          </p:cNvPicPr>
          <p:nvPr/>
        </p:nvPicPr>
        <p:blipFill>
          <a:blip r:embed="rId5"/>
          <a:stretch>
            <a:fillRect/>
          </a:stretch>
        </p:blipFill>
        <p:spPr>
          <a:xfrm>
            <a:off x="667512" y="3995928"/>
            <a:ext cx="329184" cy="329184"/>
          </a:xfrm>
          <a:prstGeom prst="rect">
            <a:avLst/>
          </a:prstGeom>
        </p:spPr>
      </p:pic>
      <p:sp>
        <p:nvSpPr>
          <p:cNvPr id="23" name="Text 16"/>
          <p:cNvSpPr txBox="1"/>
          <p:nvPr/>
        </p:nvSpPr>
        <p:spPr>
          <a:xfrm>
            <a:off x="1143000" y="3840480"/>
            <a:ext cx="5074920" cy="640080"/>
          </a:xfrm>
          <a:prstGeom prst="rect">
            <a:avLst/>
          </a:prstGeom>
          <a:noFill/>
          <a:ln/>
        </p:spPr>
        <p:txBody>
          <a:bodyPr wrap="square" lIns="0" tIns="0" rIns="0" bIns="0" rtlCol="0" anchor="ctr"/>
          <a:lstStyle/>
          <a:p>
            <a:pPr indent="0" marL="0">
              <a:buNone/>
            </a:pPr>
            <a:r>
              <a:rPr lang="en-US" sz="1150" b="1" dirty="0">
                <a:solidFill>
                  <a:srgbClr val="FFFFFF"/>
                </a:solidFill>
                <a:latin typeface="Inter" pitchFamily="34" charset="0"/>
                <a:ea typeface="Inter" pitchFamily="34" charset="-122"/>
                <a:cs typeface="Inter" pitchFamily="34" charset="-120"/>
              </a:rPr>
              <a:t>Activation and journey triggers</a:t>
            </a:r>
            <a:endParaRPr lang="en-US" sz="1200" dirty="0"/>
          </a:p>
          <a:p>
            <a:pPr indent="0" marL="0">
              <a:buNone/>
            </a:pPr>
            <a:r>
              <a:rPr lang="en-US" sz="900" dirty="0">
                <a:solidFill>
                  <a:srgbClr val="FFFFFF"/>
                </a:solidFill>
                <a:latin typeface="Inter" pitchFamily="34" charset="0"/>
                <a:ea typeface="Inter" pitchFamily="34" charset="-122"/>
                <a:cs typeface="Inter" pitchFamily="34" charset="-120"/>
              </a:rPr>
              <a:t>Pre-arrival material and care guide · delivery-day Passport and app ask · day-21 next category</a:t>
            </a:r>
            <a:endParaRPr lang="en-US" sz="1200" dirty="0"/>
          </a:p>
        </p:txBody>
      </p:sp>
      <p:sp>
        <p:nvSpPr>
          <p:cNvPr id="24" name="Shape 17"/>
          <p:cNvSpPr/>
          <p:nvPr/>
        </p:nvSpPr>
        <p:spPr>
          <a:xfrm>
            <a:off x="3310128" y="4498848"/>
            <a:ext cx="237744" cy="182880"/>
          </a:xfrm>
          <a:prstGeom prst="downArrow">
            <a:avLst/>
          </a:prstGeom>
          <a:solidFill>
            <a:srgbClr val="94A3B8"/>
          </a:solidFill>
          <a:ln w="6350">
            <a:solidFill>
              <a:srgbClr val="94A3B8"/>
            </a:solidFill>
            <a:prstDash val="solid"/>
          </a:ln>
        </p:spPr>
      </p:sp>
      <p:sp>
        <p:nvSpPr>
          <p:cNvPr id="25" name="Shape 18"/>
          <p:cNvSpPr/>
          <p:nvPr/>
        </p:nvSpPr>
        <p:spPr>
          <a:xfrm>
            <a:off x="502920" y="4700016"/>
            <a:ext cx="5852160" cy="640080"/>
          </a:xfrm>
          <a:prstGeom prst="roundRect">
            <a:avLst>
              <a:gd name="adj" fmla="val 11429"/>
            </a:avLst>
          </a:prstGeom>
          <a:solidFill>
            <a:srgbClr val="60A5FA"/>
          </a:solidFill>
          <a:ln w="6350">
            <a:solidFill>
              <a:srgbClr val="60A5FA"/>
            </a:solidFill>
            <a:prstDash val="solid"/>
          </a:ln>
        </p:spPr>
      </p:sp>
      <p:pic>
        <p:nvPicPr>
          <p:cNvPr id="26" name="Image 5" descr="preencoded.png">    </p:cNvPr>
          <p:cNvPicPr>
            <a:picLocks noChangeAspect="1"/>
          </p:cNvPicPr>
          <p:nvPr/>
        </p:nvPicPr>
        <p:blipFill>
          <a:blip r:embed="rId6"/>
          <a:stretch>
            <a:fillRect/>
          </a:stretch>
        </p:blipFill>
        <p:spPr>
          <a:xfrm>
            <a:off x="667512" y="4855464"/>
            <a:ext cx="329184" cy="329184"/>
          </a:xfrm>
          <a:prstGeom prst="rect">
            <a:avLst/>
          </a:prstGeom>
        </p:spPr>
      </p:pic>
      <p:sp>
        <p:nvSpPr>
          <p:cNvPr id="27" name="Text 19"/>
          <p:cNvSpPr txBox="1"/>
          <p:nvPr/>
        </p:nvSpPr>
        <p:spPr>
          <a:xfrm>
            <a:off x="1143000" y="4700016"/>
            <a:ext cx="5074920" cy="640080"/>
          </a:xfrm>
          <a:prstGeom prst="rect">
            <a:avLst/>
          </a:prstGeom>
          <a:noFill/>
          <a:ln/>
        </p:spPr>
        <p:txBody>
          <a:bodyPr wrap="square" lIns="0" tIns="0" rIns="0" bIns="0" rtlCol="0" anchor="ctr"/>
          <a:lstStyle/>
          <a:p>
            <a:pPr indent="0" marL="0">
              <a:buNone/>
            </a:pPr>
            <a:r>
              <a:rPr lang="en-US" sz="1150" b="1" dirty="0">
                <a:solidFill>
                  <a:srgbClr val="FFFFFF"/>
                </a:solidFill>
                <a:latin typeface="Inter" pitchFamily="34" charset="0"/>
                <a:ea typeface="Inter" pitchFamily="34" charset="-122"/>
                <a:cs typeface="Inter" pitchFamily="34" charset="-120"/>
              </a:rPr>
              <a:t>Owned channels</a:t>
            </a:r>
            <a:endParaRPr lang="en-US" sz="1200" dirty="0"/>
          </a:p>
          <a:p>
            <a:pPr indent="0" marL="0">
              <a:buNone/>
            </a:pPr>
            <a:r>
              <a:rPr lang="en-US" sz="900" dirty="0">
                <a:solidFill>
                  <a:srgbClr val="FFFFFF"/>
                </a:solidFill>
                <a:latin typeface="Inter" pitchFamily="34" charset="0"/>
                <a:ea typeface="Inter" pitchFamily="34" charset="-122"/>
                <a:cs typeface="Inter" pitchFamily="34" charset="-120"/>
              </a:rPr>
              <a:t>SMS · email · app push, under one frequency cap</a:t>
            </a:r>
            <a:endParaRPr lang="en-US" sz="1200" dirty="0"/>
          </a:p>
        </p:txBody>
      </p:sp>
      <p:sp>
        <p:nvSpPr>
          <p:cNvPr id="28" name="Text 20"/>
          <p:cNvSpPr txBox="1"/>
          <p:nvPr/>
        </p:nvSpPr>
        <p:spPr>
          <a:xfrm>
            <a:off x="6629400" y="1243584"/>
            <a:ext cx="5056632" cy="274320"/>
          </a:xfrm>
          <a:prstGeom prst="rect">
            <a:avLst/>
          </a:prstGeom>
          <a:noFill/>
          <a:ln/>
        </p:spPr>
        <p:txBody>
          <a:bodyPr wrap="square" lIns="0" tIns="0" rIns="0" bIns="0" rtlCol="0" anchor="t"/>
          <a:lstStyle/>
          <a:p>
            <a:pPr indent="0" marL="0">
              <a:buNone/>
            </a:pPr>
            <a:r>
              <a:rPr lang="en-US" sz="1250" b="1" dirty="0">
                <a:solidFill>
                  <a:srgbClr val="0A1F44"/>
                </a:solidFill>
                <a:latin typeface="Inter" pitchFamily="34" charset="0"/>
                <a:ea typeface="Inter" pitchFamily="34" charset="-122"/>
                <a:cs typeface="Inter" pitchFamily="34" charset="-120"/>
              </a:rPr>
              <a:t>Build sequence, months 3–6 (after Gate 1)</a:t>
            </a:r>
            <a:endParaRPr lang="en-US" sz="1250" dirty="0"/>
          </a:p>
        </p:txBody>
      </p:sp>
      <p:sp>
        <p:nvSpPr>
          <p:cNvPr id="29" name="Shape 21"/>
          <p:cNvSpPr/>
          <p:nvPr/>
        </p:nvSpPr>
        <p:spPr>
          <a:xfrm>
            <a:off x="6629400" y="1627632"/>
            <a:ext cx="5056632" cy="1252728"/>
          </a:xfrm>
          <a:prstGeom prst="roundRect">
            <a:avLst>
              <a:gd name="adj" fmla="val 4380"/>
            </a:avLst>
          </a:prstGeom>
          <a:solidFill>
            <a:srgbClr val="F8FAFC"/>
          </a:solidFill>
          <a:ln w="9525">
            <a:solidFill>
              <a:srgbClr val="E2E8F0"/>
            </a:solidFill>
            <a:prstDash val="solid"/>
          </a:ln>
        </p:spPr>
      </p:sp>
      <p:sp>
        <p:nvSpPr>
          <p:cNvPr id="30" name="Shape 22"/>
          <p:cNvSpPr/>
          <p:nvPr/>
        </p:nvSpPr>
        <p:spPr>
          <a:xfrm>
            <a:off x="6757416" y="1737360"/>
            <a:ext cx="329184" cy="329184"/>
          </a:xfrm>
          <a:prstGeom prst="ellipse">
            <a:avLst/>
          </a:prstGeom>
          <a:solidFill>
            <a:srgbClr val="1D4ED8"/>
          </a:solidFill>
          <a:ln w="6350">
            <a:solidFill>
              <a:srgbClr val="1D4ED8"/>
            </a:solidFill>
            <a:prstDash val="solid"/>
          </a:ln>
        </p:spPr>
      </p:sp>
      <p:sp>
        <p:nvSpPr>
          <p:cNvPr id="31" name="Text 23"/>
          <p:cNvSpPr txBox="1"/>
          <p:nvPr/>
        </p:nvSpPr>
        <p:spPr>
          <a:xfrm>
            <a:off x="6757416" y="173736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1</a:t>
            </a:r>
            <a:endParaRPr lang="en-US" sz="1200" dirty="0"/>
          </a:p>
        </p:txBody>
      </p:sp>
      <p:sp>
        <p:nvSpPr>
          <p:cNvPr id="32" name="Text 24"/>
          <p:cNvSpPr txBox="1"/>
          <p:nvPr/>
        </p:nvSpPr>
        <p:spPr>
          <a:xfrm>
            <a:off x="7178040" y="1719072"/>
            <a:ext cx="4416552" cy="329184"/>
          </a:xfrm>
          <a:prstGeom prst="rect">
            <a:avLst/>
          </a:prstGeom>
          <a:noFill/>
          <a:ln/>
        </p:spPr>
        <p:txBody>
          <a:bodyPr wrap="square" lIns="0" tIns="0" rIns="0" bIns="0" rtlCol="0" anchor="ctr"/>
          <a:lstStyle/>
          <a:p>
            <a:pPr indent="0" marL="0">
              <a:buNone/>
            </a:pPr>
            <a:r>
              <a:rPr lang="en-US" sz="1150" b="1" dirty="0">
                <a:solidFill>
                  <a:srgbClr val="1D4ED8"/>
                </a:solidFill>
                <a:latin typeface="Inter" pitchFamily="34" charset="0"/>
                <a:ea typeface="Inter" pitchFamily="34" charset="-122"/>
                <a:cs typeface="Inter" pitchFamily="34" charset="-120"/>
              </a:rPr>
              <a:t>Month 3–4  </a:t>
            </a:r>
            <a:pPr indent="0" marL="0">
              <a:buNone/>
            </a:pPr>
            <a:r>
              <a:rPr lang="en-US" sz="1150" b="1" dirty="0">
                <a:solidFill>
                  <a:srgbClr val="0A1F44"/>
                </a:solidFill>
                <a:latin typeface="Inter" pitchFamily="34" charset="0"/>
                <a:ea typeface="Inter" pitchFamily="34" charset="-122"/>
                <a:cs typeface="Inter" pitchFamily="34" charset="-120"/>
              </a:rPr>
              <a:t>Map and consent</a:t>
            </a:r>
            <a:endParaRPr lang="en-US" sz="1150" dirty="0"/>
          </a:p>
        </p:txBody>
      </p:sp>
      <p:sp>
        <p:nvSpPr>
          <p:cNvPr id="33" name="Shape 25"/>
          <p:cNvSpPr/>
          <p:nvPr/>
        </p:nvSpPr>
        <p:spPr>
          <a:xfrm>
            <a:off x="7196328" y="2240280"/>
            <a:ext cx="64008" cy="64008"/>
          </a:xfrm>
          <a:prstGeom prst="ellipse">
            <a:avLst/>
          </a:prstGeom>
          <a:solidFill>
            <a:srgbClr val="1D4ED8"/>
          </a:solidFill>
          <a:ln w="6350">
            <a:solidFill>
              <a:srgbClr val="1D4ED8"/>
            </a:solidFill>
            <a:prstDash val="solid"/>
          </a:ln>
        </p:spPr>
      </p:sp>
      <p:sp>
        <p:nvSpPr>
          <p:cNvPr id="34" name="Text 26"/>
          <p:cNvSpPr txBox="1"/>
          <p:nvPr/>
        </p:nvSpPr>
        <p:spPr>
          <a:xfrm>
            <a:off x="7342632" y="2157984"/>
            <a:ext cx="4233672" cy="201168"/>
          </a:xfrm>
          <a:prstGeom prst="rect">
            <a:avLst/>
          </a:prstGeom>
          <a:noFill/>
          <a:ln/>
        </p:spPr>
        <p:txBody>
          <a:bodyPr wrap="square" lIns="0" tIns="0" rIns="0" bIns="0" rtlCol="0" anchor="ctr"/>
          <a:lstStyle/>
          <a:p>
            <a:pPr indent="0" marL="0">
              <a:buNone/>
            </a:pPr>
            <a:r>
              <a:rPr lang="en-US" sz="900" dirty="0">
                <a:solidFill>
                  <a:srgbClr val="0F172A"/>
                </a:solidFill>
                <a:latin typeface="Inter" pitchFamily="34" charset="0"/>
                <a:ea typeface="Inter" pitchFamily="34" charset="-122"/>
                <a:cs typeface="Inter" pitchFamily="34" charset="-120"/>
              </a:rPr>
              <a:t>List the shipping milestones factories and 3PLs already emit</a:t>
            </a:r>
            <a:endParaRPr lang="en-US" sz="900" dirty="0"/>
          </a:p>
        </p:txBody>
      </p:sp>
      <p:sp>
        <p:nvSpPr>
          <p:cNvPr id="35" name="Shape 27"/>
          <p:cNvSpPr/>
          <p:nvPr/>
        </p:nvSpPr>
        <p:spPr>
          <a:xfrm>
            <a:off x="7196328" y="2459736"/>
            <a:ext cx="64008" cy="64008"/>
          </a:xfrm>
          <a:prstGeom prst="ellipse">
            <a:avLst/>
          </a:prstGeom>
          <a:solidFill>
            <a:srgbClr val="1D4ED8"/>
          </a:solidFill>
          <a:ln w="6350">
            <a:solidFill>
              <a:srgbClr val="1D4ED8"/>
            </a:solidFill>
            <a:prstDash val="solid"/>
          </a:ln>
        </p:spPr>
      </p:sp>
      <p:sp>
        <p:nvSpPr>
          <p:cNvPr id="36" name="Text 28"/>
          <p:cNvSpPr txBox="1"/>
          <p:nvPr/>
        </p:nvSpPr>
        <p:spPr>
          <a:xfrm>
            <a:off x="7342632" y="2377440"/>
            <a:ext cx="4233672" cy="201168"/>
          </a:xfrm>
          <a:prstGeom prst="rect">
            <a:avLst/>
          </a:prstGeom>
          <a:noFill/>
          <a:ln/>
        </p:spPr>
        <p:txBody>
          <a:bodyPr wrap="square" lIns="0" tIns="0" rIns="0" bIns="0" rtlCol="0" anchor="ctr"/>
          <a:lstStyle/>
          <a:p>
            <a:pPr indent="0" marL="0">
              <a:buNone/>
            </a:pPr>
            <a:r>
              <a:rPr lang="en-US" sz="900" dirty="0">
                <a:solidFill>
                  <a:srgbClr val="0F172A"/>
                </a:solidFill>
                <a:latin typeface="Inter" pitchFamily="34" charset="0"/>
                <a:ea typeface="Inter" pitchFamily="34" charset="-122"/>
                <a:cs typeface="Inter" pitchFamily="34" charset="-120"/>
              </a:rPr>
              <a:t>Agree one order-ID key with operations</a:t>
            </a:r>
            <a:endParaRPr lang="en-US" sz="900" dirty="0"/>
          </a:p>
        </p:txBody>
      </p:sp>
      <p:sp>
        <p:nvSpPr>
          <p:cNvPr id="37" name="Shape 29"/>
          <p:cNvSpPr/>
          <p:nvPr/>
        </p:nvSpPr>
        <p:spPr>
          <a:xfrm>
            <a:off x="7196328" y="2679192"/>
            <a:ext cx="64008" cy="64008"/>
          </a:xfrm>
          <a:prstGeom prst="ellipse">
            <a:avLst/>
          </a:prstGeom>
          <a:solidFill>
            <a:srgbClr val="1D4ED8"/>
          </a:solidFill>
          <a:ln w="6350">
            <a:solidFill>
              <a:srgbClr val="1D4ED8"/>
            </a:solidFill>
            <a:prstDash val="solid"/>
          </a:ln>
        </p:spPr>
      </p:sp>
      <p:sp>
        <p:nvSpPr>
          <p:cNvPr id="38" name="Text 30"/>
          <p:cNvSpPr txBox="1"/>
          <p:nvPr/>
        </p:nvSpPr>
        <p:spPr>
          <a:xfrm>
            <a:off x="7342632" y="2596896"/>
            <a:ext cx="4233672" cy="201168"/>
          </a:xfrm>
          <a:prstGeom prst="rect">
            <a:avLst/>
          </a:prstGeom>
          <a:noFill/>
          <a:ln/>
        </p:spPr>
        <p:txBody>
          <a:bodyPr wrap="square" lIns="0" tIns="0" rIns="0" bIns="0" rtlCol="0" anchor="ctr"/>
          <a:lstStyle/>
          <a:p>
            <a:pPr indent="0" marL="0">
              <a:buNone/>
            </a:pPr>
            <a:r>
              <a:rPr lang="en-US" sz="900" dirty="0">
                <a:solidFill>
                  <a:srgbClr val="0F172A"/>
                </a:solidFill>
                <a:latin typeface="Inter" pitchFamily="34" charset="0"/>
                <a:ea typeface="Inter" pitchFamily="34" charset="-122"/>
                <a:cs typeface="Inter" pitchFamily="34" charset="-120"/>
              </a:rPr>
              <a:t>Split transactional and marketing SMS consent with Legal (CCPA)</a:t>
            </a:r>
            <a:endParaRPr lang="en-US" sz="900" dirty="0"/>
          </a:p>
        </p:txBody>
      </p:sp>
      <p:sp>
        <p:nvSpPr>
          <p:cNvPr id="39" name="Shape 31"/>
          <p:cNvSpPr/>
          <p:nvPr/>
        </p:nvSpPr>
        <p:spPr>
          <a:xfrm>
            <a:off x="6629400" y="2971800"/>
            <a:ext cx="5056632" cy="1252728"/>
          </a:xfrm>
          <a:prstGeom prst="roundRect">
            <a:avLst>
              <a:gd name="adj" fmla="val 4380"/>
            </a:avLst>
          </a:prstGeom>
          <a:solidFill>
            <a:srgbClr val="F8FAFC"/>
          </a:solidFill>
          <a:ln w="9525">
            <a:solidFill>
              <a:srgbClr val="E2E8F0"/>
            </a:solidFill>
            <a:prstDash val="solid"/>
          </a:ln>
        </p:spPr>
      </p:sp>
      <p:sp>
        <p:nvSpPr>
          <p:cNvPr id="40" name="Shape 32"/>
          <p:cNvSpPr/>
          <p:nvPr/>
        </p:nvSpPr>
        <p:spPr>
          <a:xfrm>
            <a:off x="6757416" y="3081528"/>
            <a:ext cx="329184" cy="329184"/>
          </a:xfrm>
          <a:prstGeom prst="ellipse">
            <a:avLst/>
          </a:prstGeom>
          <a:solidFill>
            <a:srgbClr val="1D4ED8"/>
          </a:solidFill>
          <a:ln w="6350">
            <a:solidFill>
              <a:srgbClr val="1D4ED8"/>
            </a:solidFill>
            <a:prstDash val="solid"/>
          </a:ln>
        </p:spPr>
      </p:sp>
      <p:sp>
        <p:nvSpPr>
          <p:cNvPr id="41" name="Text 33"/>
          <p:cNvSpPr txBox="1"/>
          <p:nvPr/>
        </p:nvSpPr>
        <p:spPr>
          <a:xfrm>
            <a:off x="6757416" y="3081528"/>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2</a:t>
            </a:r>
            <a:endParaRPr lang="en-US" sz="1200" dirty="0"/>
          </a:p>
        </p:txBody>
      </p:sp>
      <p:sp>
        <p:nvSpPr>
          <p:cNvPr id="42" name="Text 34"/>
          <p:cNvSpPr txBox="1"/>
          <p:nvPr/>
        </p:nvSpPr>
        <p:spPr>
          <a:xfrm>
            <a:off x="7178040" y="3063240"/>
            <a:ext cx="4416552" cy="329184"/>
          </a:xfrm>
          <a:prstGeom prst="rect">
            <a:avLst/>
          </a:prstGeom>
          <a:noFill/>
          <a:ln/>
        </p:spPr>
        <p:txBody>
          <a:bodyPr wrap="square" lIns="0" tIns="0" rIns="0" bIns="0" rtlCol="0" anchor="ctr"/>
          <a:lstStyle/>
          <a:p>
            <a:pPr indent="0" marL="0">
              <a:buNone/>
            </a:pPr>
            <a:r>
              <a:rPr lang="en-US" sz="1150" b="1" dirty="0">
                <a:solidFill>
                  <a:srgbClr val="1D4ED8"/>
                </a:solidFill>
                <a:latin typeface="Inter" pitchFamily="34" charset="0"/>
                <a:ea typeface="Inter" pitchFamily="34" charset="-122"/>
                <a:cs typeface="Inter" pitchFamily="34" charset="-120"/>
              </a:rPr>
              <a:t>Month 4–5  </a:t>
            </a:r>
            <a:pPr indent="0" marL="0">
              <a:buNone/>
            </a:pPr>
            <a:r>
              <a:rPr lang="en-US" sz="1150" b="1" dirty="0">
                <a:solidFill>
                  <a:srgbClr val="0A1F44"/>
                </a:solidFill>
                <a:latin typeface="Inter" pitchFamily="34" charset="0"/>
                <a:ea typeface="Inter" pitchFamily="34" charset="-122"/>
                <a:cs typeface="Inter" pitchFamily="34" charset="-120"/>
              </a:rPr>
              <a:t>Connect</a:t>
            </a:r>
            <a:endParaRPr lang="en-US" sz="1150" dirty="0"/>
          </a:p>
        </p:txBody>
      </p:sp>
      <p:sp>
        <p:nvSpPr>
          <p:cNvPr id="43" name="Shape 35"/>
          <p:cNvSpPr/>
          <p:nvPr/>
        </p:nvSpPr>
        <p:spPr>
          <a:xfrm>
            <a:off x="7196328" y="3584448"/>
            <a:ext cx="64008" cy="64008"/>
          </a:xfrm>
          <a:prstGeom prst="ellipse">
            <a:avLst/>
          </a:prstGeom>
          <a:solidFill>
            <a:srgbClr val="1D4ED8"/>
          </a:solidFill>
          <a:ln w="6350">
            <a:solidFill>
              <a:srgbClr val="1D4ED8"/>
            </a:solidFill>
            <a:prstDash val="solid"/>
          </a:ln>
        </p:spPr>
      </p:sp>
      <p:sp>
        <p:nvSpPr>
          <p:cNvPr id="44" name="Text 36"/>
          <p:cNvSpPr txBox="1"/>
          <p:nvPr/>
        </p:nvSpPr>
        <p:spPr>
          <a:xfrm>
            <a:off x="7342632" y="3502152"/>
            <a:ext cx="4233672" cy="201168"/>
          </a:xfrm>
          <a:prstGeom prst="rect">
            <a:avLst/>
          </a:prstGeom>
          <a:noFill/>
          <a:ln/>
        </p:spPr>
        <p:txBody>
          <a:bodyPr wrap="square" lIns="0" tIns="0" rIns="0" bIns="0" rtlCol="0" anchor="ctr"/>
          <a:lstStyle/>
          <a:p>
            <a:pPr indent="0" marL="0">
              <a:buNone/>
            </a:pPr>
            <a:r>
              <a:rPr lang="en-US" sz="900" dirty="0">
                <a:solidFill>
                  <a:srgbClr val="0F172A"/>
                </a:solidFill>
                <a:latin typeface="Inter" pitchFamily="34" charset="0"/>
                <a:ea typeface="Inter" pitchFamily="34" charset="-122"/>
                <a:cs typeface="Inter" pitchFamily="34" charset="-120"/>
              </a:rPr>
              <a:t>Stream events into CJA: order ID → person ID</a:t>
            </a:r>
            <a:endParaRPr lang="en-US" sz="900" dirty="0"/>
          </a:p>
        </p:txBody>
      </p:sp>
      <p:sp>
        <p:nvSpPr>
          <p:cNvPr id="45" name="Shape 37"/>
          <p:cNvSpPr/>
          <p:nvPr/>
        </p:nvSpPr>
        <p:spPr>
          <a:xfrm>
            <a:off x="7196328" y="3803904"/>
            <a:ext cx="64008" cy="64008"/>
          </a:xfrm>
          <a:prstGeom prst="ellipse">
            <a:avLst/>
          </a:prstGeom>
          <a:solidFill>
            <a:srgbClr val="1D4ED8"/>
          </a:solidFill>
          <a:ln w="6350">
            <a:solidFill>
              <a:srgbClr val="1D4ED8"/>
            </a:solidFill>
            <a:prstDash val="solid"/>
          </a:ln>
        </p:spPr>
      </p:sp>
      <p:sp>
        <p:nvSpPr>
          <p:cNvPr id="46" name="Text 38"/>
          <p:cNvSpPr txBox="1"/>
          <p:nvPr/>
        </p:nvSpPr>
        <p:spPr>
          <a:xfrm>
            <a:off x="7342632" y="3721608"/>
            <a:ext cx="4233672" cy="201168"/>
          </a:xfrm>
          <a:prstGeom prst="rect">
            <a:avLst/>
          </a:prstGeom>
          <a:noFill/>
          <a:ln/>
        </p:spPr>
        <p:txBody>
          <a:bodyPr wrap="square" lIns="0" tIns="0" rIns="0" bIns="0" rtlCol="0" anchor="ctr"/>
          <a:lstStyle/>
          <a:p>
            <a:pPr indent="0" marL="0">
              <a:buNone/>
            </a:pPr>
            <a:r>
              <a:rPr lang="en-US" sz="900" dirty="0">
                <a:solidFill>
                  <a:srgbClr val="0F172A"/>
                </a:solidFill>
                <a:latin typeface="Inter" pitchFamily="34" charset="0"/>
                <a:ea typeface="Inter" pitchFamily="34" charset="-122"/>
                <a:cs typeface="Inter" pitchFamily="34" charset="-120"/>
              </a:rPr>
              <a:t>Build audiences: in transit, delivered, day 21 with no second order</a:t>
            </a:r>
            <a:endParaRPr lang="en-US" sz="900" dirty="0"/>
          </a:p>
        </p:txBody>
      </p:sp>
      <p:sp>
        <p:nvSpPr>
          <p:cNvPr id="47" name="Shape 39"/>
          <p:cNvSpPr/>
          <p:nvPr/>
        </p:nvSpPr>
        <p:spPr>
          <a:xfrm>
            <a:off x="7196328" y="4023360"/>
            <a:ext cx="64008" cy="64008"/>
          </a:xfrm>
          <a:prstGeom prst="ellipse">
            <a:avLst/>
          </a:prstGeom>
          <a:solidFill>
            <a:srgbClr val="1D4ED8"/>
          </a:solidFill>
          <a:ln w="6350">
            <a:solidFill>
              <a:srgbClr val="1D4ED8"/>
            </a:solidFill>
            <a:prstDash val="solid"/>
          </a:ln>
        </p:spPr>
      </p:sp>
      <p:sp>
        <p:nvSpPr>
          <p:cNvPr id="48" name="Text 40"/>
          <p:cNvSpPr txBox="1"/>
          <p:nvPr/>
        </p:nvSpPr>
        <p:spPr>
          <a:xfrm>
            <a:off x="7342632" y="3941064"/>
            <a:ext cx="4233672" cy="201168"/>
          </a:xfrm>
          <a:prstGeom prst="rect">
            <a:avLst/>
          </a:prstGeom>
          <a:noFill/>
          <a:ln/>
        </p:spPr>
        <p:txBody>
          <a:bodyPr wrap="square" lIns="0" tIns="0" rIns="0" bIns="0" rtlCol="0" anchor="ctr"/>
          <a:lstStyle/>
          <a:p>
            <a:pPr indent="0" marL="0">
              <a:buNone/>
            </a:pPr>
            <a:r>
              <a:rPr lang="en-US" sz="900" dirty="0">
                <a:solidFill>
                  <a:srgbClr val="0F172A"/>
                </a:solidFill>
                <a:latin typeface="Inter" pitchFamily="34" charset="0"/>
                <a:ea typeface="Inter" pitchFamily="34" charset="-122"/>
                <a:cs typeface="Inter" pitchFamily="34" charset="-120"/>
              </a:rPr>
              <a:t>Assign the 10% randomized holdout</a:t>
            </a:r>
            <a:endParaRPr lang="en-US" sz="900" dirty="0"/>
          </a:p>
        </p:txBody>
      </p:sp>
      <p:sp>
        <p:nvSpPr>
          <p:cNvPr id="49" name="Shape 41"/>
          <p:cNvSpPr/>
          <p:nvPr/>
        </p:nvSpPr>
        <p:spPr>
          <a:xfrm>
            <a:off x="6629400" y="4315968"/>
            <a:ext cx="5056632" cy="1252728"/>
          </a:xfrm>
          <a:prstGeom prst="roundRect">
            <a:avLst>
              <a:gd name="adj" fmla="val 4380"/>
            </a:avLst>
          </a:prstGeom>
          <a:solidFill>
            <a:srgbClr val="F8FAFC"/>
          </a:solidFill>
          <a:ln w="9525">
            <a:solidFill>
              <a:srgbClr val="E2E8F0"/>
            </a:solidFill>
            <a:prstDash val="solid"/>
          </a:ln>
        </p:spPr>
      </p:sp>
      <p:sp>
        <p:nvSpPr>
          <p:cNvPr id="50" name="Shape 42"/>
          <p:cNvSpPr/>
          <p:nvPr/>
        </p:nvSpPr>
        <p:spPr>
          <a:xfrm>
            <a:off x="6757416" y="4425696"/>
            <a:ext cx="329184" cy="329184"/>
          </a:xfrm>
          <a:prstGeom prst="ellipse">
            <a:avLst/>
          </a:prstGeom>
          <a:solidFill>
            <a:srgbClr val="1D4ED8"/>
          </a:solidFill>
          <a:ln w="6350">
            <a:solidFill>
              <a:srgbClr val="1D4ED8"/>
            </a:solidFill>
            <a:prstDash val="solid"/>
          </a:ln>
        </p:spPr>
      </p:sp>
      <p:sp>
        <p:nvSpPr>
          <p:cNvPr id="51" name="Text 43"/>
          <p:cNvSpPr txBox="1"/>
          <p:nvPr/>
        </p:nvSpPr>
        <p:spPr>
          <a:xfrm>
            <a:off x="6757416" y="4425696"/>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3</a:t>
            </a:r>
            <a:endParaRPr lang="en-US" sz="1200" dirty="0"/>
          </a:p>
        </p:txBody>
      </p:sp>
      <p:sp>
        <p:nvSpPr>
          <p:cNvPr id="52" name="Text 44"/>
          <p:cNvSpPr txBox="1"/>
          <p:nvPr/>
        </p:nvSpPr>
        <p:spPr>
          <a:xfrm>
            <a:off x="7178040" y="4407408"/>
            <a:ext cx="4416552" cy="329184"/>
          </a:xfrm>
          <a:prstGeom prst="rect">
            <a:avLst/>
          </a:prstGeom>
          <a:noFill/>
          <a:ln/>
        </p:spPr>
        <p:txBody>
          <a:bodyPr wrap="square" lIns="0" tIns="0" rIns="0" bIns="0" rtlCol="0" anchor="ctr"/>
          <a:lstStyle/>
          <a:p>
            <a:pPr indent="0" marL="0">
              <a:buNone/>
            </a:pPr>
            <a:r>
              <a:rPr lang="en-US" sz="1150" b="1" dirty="0">
                <a:solidFill>
                  <a:srgbClr val="1D4ED8"/>
                </a:solidFill>
                <a:latin typeface="Inter" pitchFamily="34" charset="0"/>
                <a:ea typeface="Inter" pitchFamily="34" charset="-122"/>
                <a:cs typeface="Inter" pitchFamily="34" charset="-120"/>
              </a:rPr>
              <a:t>Month 5–6  </a:t>
            </a:r>
            <a:pPr indent="0" marL="0">
              <a:buNone/>
            </a:pPr>
            <a:r>
              <a:rPr lang="en-US" sz="1150" b="1" dirty="0">
                <a:solidFill>
                  <a:srgbClr val="0A1F44"/>
                </a:solidFill>
                <a:latin typeface="Inter" pitchFamily="34" charset="0"/>
                <a:ea typeface="Inter" pitchFamily="34" charset="-122"/>
                <a:cs typeface="Inter" pitchFamily="34" charset="-120"/>
              </a:rPr>
              <a:t>Launch and read</a:t>
            </a:r>
            <a:endParaRPr lang="en-US" sz="1150" dirty="0"/>
          </a:p>
        </p:txBody>
      </p:sp>
      <p:sp>
        <p:nvSpPr>
          <p:cNvPr id="53" name="Shape 45"/>
          <p:cNvSpPr/>
          <p:nvPr/>
        </p:nvSpPr>
        <p:spPr>
          <a:xfrm>
            <a:off x="7196328" y="4928616"/>
            <a:ext cx="64008" cy="64008"/>
          </a:xfrm>
          <a:prstGeom prst="ellipse">
            <a:avLst/>
          </a:prstGeom>
          <a:solidFill>
            <a:srgbClr val="1D4ED8"/>
          </a:solidFill>
          <a:ln w="6350">
            <a:solidFill>
              <a:srgbClr val="1D4ED8"/>
            </a:solidFill>
            <a:prstDash val="solid"/>
          </a:ln>
        </p:spPr>
      </p:sp>
      <p:sp>
        <p:nvSpPr>
          <p:cNvPr id="54" name="Text 46"/>
          <p:cNvSpPr txBox="1"/>
          <p:nvPr/>
        </p:nvSpPr>
        <p:spPr>
          <a:xfrm>
            <a:off x="7342632" y="4846320"/>
            <a:ext cx="4233672" cy="201168"/>
          </a:xfrm>
          <a:prstGeom prst="rect">
            <a:avLst/>
          </a:prstGeom>
          <a:noFill/>
          <a:ln/>
        </p:spPr>
        <p:txBody>
          <a:bodyPr wrap="square" lIns="0" tIns="0" rIns="0" bIns="0" rtlCol="0" anchor="ctr"/>
          <a:lstStyle/>
          <a:p>
            <a:pPr indent="0" marL="0">
              <a:buNone/>
            </a:pPr>
            <a:r>
              <a:rPr lang="en-US" sz="900" dirty="0">
                <a:solidFill>
                  <a:srgbClr val="0F172A"/>
                </a:solidFill>
                <a:latin typeface="Inter" pitchFamily="34" charset="0"/>
                <a:ea typeface="Inter" pitchFamily="34" charset="-122"/>
                <a:cs typeface="Inter" pitchFamily="34" charset="-120"/>
              </a:rPr>
              <a:t>Pre-arrival guide: how the material is made and cared for</a:t>
            </a:r>
            <a:endParaRPr lang="en-US" sz="900" dirty="0"/>
          </a:p>
        </p:txBody>
      </p:sp>
      <p:sp>
        <p:nvSpPr>
          <p:cNvPr id="55" name="Shape 47"/>
          <p:cNvSpPr/>
          <p:nvPr/>
        </p:nvSpPr>
        <p:spPr>
          <a:xfrm>
            <a:off x="7196328" y="5148072"/>
            <a:ext cx="64008" cy="64008"/>
          </a:xfrm>
          <a:prstGeom prst="ellipse">
            <a:avLst/>
          </a:prstGeom>
          <a:solidFill>
            <a:srgbClr val="1D4ED8"/>
          </a:solidFill>
          <a:ln w="6350">
            <a:solidFill>
              <a:srgbClr val="1D4ED8"/>
            </a:solidFill>
            <a:prstDash val="solid"/>
          </a:ln>
        </p:spPr>
      </p:sp>
      <p:sp>
        <p:nvSpPr>
          <p:cNvPr id="56" name="Text 48"/>
          <p:cNvSpPr txBox="1"/>
          <p:nvPr/>
        </p:nvSpPr>
        <p:spPr>
          <a:xfrm>
            <a:off x="7342632" y="5065776"/>
            <a:ext cx="4233672" cy="201168"/>
          </a:xfrm>
          <a:prstGeom prst="rect">
            <a:avLst/>
          </a:prstGeom>
          <a:noFill/>
          <a:ln/>
        </p:spPr>
        <p:txBody>
          <a:bodyPr wrap="square" lIns="0" tIns="0" rIns="0" bIns="0" rtlCol="0" anchor="ctr"/>
          <a:lstStyle/>
          <a:p>
            <a:pPr indent="0" marL="0">
              <a:buNone/>
            </a:pPr>
            <a:r>
              <a:rPr lang="en-US" sz="900" dirty="0">
                <a:solidFill>
                  <a:srgbClr val="0F172A"/>
                </a:solidFill>
                <a:latin typeface="Inter" pitchFamily="34" charset="0"/>
                <a:ea typeface="Inter" pitchFamily="34" charset="-122"/>
                <a:cs typeface="Inter" pitchFamily="34" charset="-120"/>
              </a:rPr>
              <a:t>Delivery-day Passport and app ask; day-21 second category</a:t>
            </a:r>
            <a:endParaRPr lang="en-US" sz="900" dirty="0"/>
          </a:p>
        </p:txBody>
      </p:sp>
      <p:sp>
        <p:nvSpPr>
          <p:cNvPr id="57" name="Shape 49"/>
          <p:cNvSpPr/>
          <p:nvPr/>
        </p:nvSpPr>
        <p:spPr>
          <a:xfrm>
            <a:off x="7196328" y="5367528"/>
            <a:ext cx="64008" cy="64008"/>
          </a:xfrm>
          <a:prstGeom prst="ellipse">
            <a:avLst/>
          </a:prstGeom>
          <a:solidFill>
            <a:srgbClr val="1D4ED8"/>
          </a:solidFill>
          <a:ln w="6350">
            <a:solidFill>
              <a:srgbClr val="1D4ED8"/>
            </a:solidFill>
            <a:prstDash val="solid"/>
          </a:ln>
        </p:spPr>
      </p:sp>
      <p:sp>
        <p:nvSpPr>
          <p:cNvPr id="58" name="Text 50"/>
          <p:cNvSpPr txBox="1"/>
          <p:nvPr/>
        </p:nvSpPr>
        <p:spPr>
          <a:xfrm>
            <a:off x="7342632" y="5285232"/>
            <a:ext cx="4233672" cy="201168"/>
          </a:xfrm>
          <a:prstGeom prst="rect">
            <a:avLst/>
          </a:prstGeom>
          <a:noFill/>
          <a:ln/>
        </p:spPr>
        <p:txBody>
          <a:bodyPr wrap="square" lIns="0" tIns="0" rIns="0" bIns="0" rtlCol="0" anchor="ctr"/>
          <a:lstStyle/>
          <a:p>
            <a:pPr indent="0" marL="0">
              <a:buNone/>
            </a:pPr>
            <a:r>
              <a:rPr lang="en-US" sz="900" dirty="0">
                <a:solidFill>
                  <a:srgbClr val="0F172A"/>
                </a:solidFill>
                <a:latin typeface="Inter" pitchFamily="34" charset="0"/>
                <a:ea typeface="Inter" pitchFamily="34" charset="-122"/>
                <a:cs typeface="Inter" pitchFamily="34" charset="-120"/>
              </a:rPr>
              <a:t>Read results against the holdout every week</a:t>
            </a:r>
            <a:endParaRPr lang="en-US" sz="900" dirty="0"/>
          </a:p>
        </p:txBody>
      </p:sp>
      <p:sp>
        <p:nvSpPr>
          <p:cNvPr id="59" name="Shape 51"/>
          <p:cNvSpPr/>
          <p:nvPr/>
        </p:nvSpPr>
        <p:spPr>
          <a:xfrm>
            <a:off x="502920" y="5715000"/>
            <a:ext cx="11183112" cy="512064"/>
          </a:xfrm>
          <a:prstGeom prst="roundRect">
            <a:avLst>
              <a:gd name="adj" fmla="val 17857"/>
            </a:avLst>
          </a:prstGeom>
          <a:solidFill>
            <a:srgbClr val="EFF6FF"/>
          </a:solidFill>
          <a:ln w="6350">
            <a:solidFill>
              <a:srgbClr val="EFF6FF"/>
            </a:solidFill>
            <a:prstDash val="solid"/>
          </a:ln>
        </p:spPr>
      </p:sp>
      <p:sp>
        <p:nvSpPr>
          <p:cNvPr id="60" name="Shape 52"/>
          <p:cNvSpPr/>
          <p:nvPr/>
        </p:nvSpPr>
        <p:spPr>
          <a:xfrm>
            <a:off x="640080" y="5806440"/>
            <a:ext cx="329184" cy="329184"/>
          </a:xfrm>
          <a:prstGeom prst="ellipse">
            <a:avLst/>
          </a:prstGeom>
          <a:solidFill>
            <a:srgbClr val="1D4ED8"/>
          </a:solidFill>
          <a:ln w="6350">
            <a:solidFill>
              <a:srgbClr val="1D4ED8"/>
            </a:solidFill>
            <a:prstDash val="solid"/>
          </a:ln>
        </p:spPr>
      </p:sp>
      <p:pic>
        <p:nvPicPr>
          <p:cNvPr id="61" name="Image 6" descr="preencoded.png">    </p:cNvPr>
          <p:cNvPicPr>
            <a:picLocks noChangeAspect="1"/>
          </p:cNvPicPr>
          <p:nvPr/>
        </p:nvPicPr>
        <p:blipFill>
          <a:blip r:embed="rId7"/>
          <a:stretch>
            <a:fillRect/>
          </a:stretch>
        </p:blipFill>
        <p:spPr>
          <a:xfrm>
            <a:off x="712500" y="5878860"/>
            <a:ext cx="184343" cy="184343"/>
          </a:xfrm>
          <a:prstGeom prst="rect">
            <a:avLst/>
          </a:prstGeom>
        </p:spPr>
      </p:pic>
      <p:sp>
        <p:nvSpPr>
          <p:cNvPr id="62" name="Text 53"/>
          <p:cNvSpPr txBox="1"/>
          <p:nvPr/>
        </p:nvSpPr>
        <p:spPr>
          <a:xfrm>
            <a:off x="1097280" y="5715000"/>
            <a:ext cx="10424160" cy="512064"/>
          </a:xfrm>
          <a:prstGeom prst="rect">
            <a:avLst/>
          </a:prstGeom>
          <a:noFill/>
          <a:ln/>
        </p:spPr>
        <p:txBody>
          <a:bodyPr wrap="square" lIns="0" tIns="0" rIns="0" bIns="0" rtlCol="0" anchor="ctr"/>
          <a:lstStyle/>
          <a:p>
            <a:pPr indent="0" marL="0">
              <a:buNone/>
            </a:pPr>
            <a:r>
              <a:rPr lang="en-US" sz="1300" b="1" dirty="0">
                <a:solidFill>
                  <a:srgbClr val="0A1F44"/>
                </a:solidFill>
                <a:latin typeface="Inter" pitchFamily="34" charset="0"/>
                <a:ea typeface="Inter" pitchFamily="34" charset="-122"/>
                <a:cs typeface="Inter" pitchFamily="34" charset="-120"/>
              </a:rPr>
              <a:t>The tech lift depends on one thing: 3PL shipping events keyed to an order ID</a:t>
            </a:r>
            <a:endParaRPr lang="en-US" sz="13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9326880" cy="841248"/>
          </a:xfrm>
          <a:prstGeom prst="rect">
            <a:avLst/>
          </a:prstGeom>
          <a:noFill/>
          <a:ln/>
        </p:spPr>
        <p:txBody>
          <a:bodyPr wrap="square" lIns="0" tIns="0" rIns="0" bIns="0" rtlCol="0" anchor="ctr"/>
          <a:lstStyle/>
          <a:p>
            <a:pPr indent="0" marL="0">
              <a:buNone/>
            </a:pPr>
            <a:r>
              <a:rPr lang="en-US" sz="2400" b="1" dirty="0">
                <a:solidFill>
                  <a:srgbClr val="0A1F44"/>
                </a:solidFill>
                <a:latin typeface="Inter" pitchFamily="34" charset="0"/>
                <a:ea typeface="Inter" pitchFamily="34" charset="-122"/>
                <a:cs typeface="Inter" pitchFamily="34" charset="-120"/>
              </a:rPr>
              <a:t>Nine risks, each with a mitigation and an early warning</a:t>
            </a:r>
            <a:endParaRPr lang="en-US" sz="2400" dirty="0"/>
          </a:p>
        </p:txBody>
      </p:sp>
      <p:pic>
        <p:nvPicPr>
          <p:cNvPr id="3" name="Image 0" descr="/tmp/claude-0/-home-user-Quince/7efe80ae-a049-50c2-9886-98bf7ca3a04a/scratchpad/assets/quince.png">    </p:cNvPr>
          <p:cNvPicPr>
            <a:picLocks noChangeAspect="1"/>
          </p:cNvPicPr>
          <p:nvPr/>
        </p:nvPicPr>
        <p:blipFill>
          <a:blip r:embed="rId1"/>
          <a:stretch>
            <a:fillRect/>
          </a:stretch>
        </p:blipFill>
        <p:spPr>
          <a:xfrm>
            <a:off x="10236708" y="615544"/>
            <a:ext cx="777240" cy="231951"/>
          </a:xfrm>
          <a:prstGeom prst="rect">
            <a:avLst/>
          </a:prstGeom>
        </p:spPr>
      </p:pic>
      <p:sp>
        <p:nvSpPr>
          <p:cNvPr id="4" name="Shape 1"/>
          <p:cNvSpPr/>
          <p:nvPr/>
        </p:nvSpPr>
        <p:spPr>
          <a:xfrm>
            <a:off x="11155680" y="603504"/>
            <a:ext cx="530352" cy="256032"/>
          </a:xfrm>
          <a:prstGeom prst="roundRect">
            <a:avLst>
              <a:gd name="adj" fmla="val 50000"/>
            </a:avLst>
          </a:prstGeom>
          <a:solidFill>
            <a:srgbClr val="0A1F44"/>
          </a:solidFill>
          <a:ln w="6350">
            <a:solidFill>
              <a:srgbClr val="0A1F44"/>
            </a:solidFill>
            <a:prstDash val="solid"/>
          </a:ln>
        </p:spPr>
      </p:sp>
      <p:sp>
        <p:nvSpPr>
          <p:cNvPr id="5" name="Text 2"/>
          <p:cNvSpPr txBox="1"/>
          <p:nvPr/>
        </p:nvSpPr>
        <p:spPr>
          <a:xfrm>
            <a:off x="11155680" y="603504"/>
            <a:ext cx="530352"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Inter" pitchFamily="34" charset="0"/>
                <a:ea typeface="Inter" pitchFamily="34" charset="-122"/>
                <a:cs typeface="Inter" pitchFamily="34" charset="-120"/>
              </a:rPr>
              <a:t>G27</a:t>
            </a:r>
            <a:endParaRPr lang="en-US" sz="950" dirty="0"/>
          </a:p>
        </p:txBody>
      </p:sp>
      <p:sp>
        <p:nvSpPr>
          <p:cNvPr id="6" name="Shape 3"/>
          <p:cNvSpPr/>
          <p:nvPr/>
        </p:nvSpPr>
        <p:spPr>
          <a:xfrm>
            <a:off x="502920" y="6400800"/>
            <a:ext cx="11183112" cy="0"/>
          </a:xfrm>
          <a:prstGeom prst="line">
            <a:avLst/>
          </a:prstGeom>
          <a:noFill/>
          <a:ln w="9525">
            <a:solidFill>
              <a:srgbClr val="E2E8F0"/>
            </a:solidFill>
            <a:prstDash val="solid"/>
          </a:ln>
        </p:spPr>
      </p:sp>
      <p:sp>
        <p:nvSpPr>
          <p:cNvPr id="7" name="Text 4"/>
          <p:cNvSpPr txBox="1"/>
          <p:nvPr/>
        </p:nvSpPr>
        <p:spPr>
          <a:xfrm>
            <a:off x="502920" y="6464808"/>
            <a:ext cx="9418320" cy="256032"/>
          </a:xfrm>
          <a:prstGeom prst="rect">
            <a:avLst/>
          </a:prstGeom>
          <a:noFill/>
          <a:ln/>
        </p:spPr>
        <p:txBody>
          <a:bodyPr wrap="square" lIns="0" tIns="0" rIns="0" bIns="0" rtlCol="0" anchor="ctr"/>
          <a:lstStyle/>
          <a:p>
            <a:pPr indent="0" marL="0">
              <a:buNone/>
            </a:pPr>
            <a:r>
              <a:rPr lang="en-US" sz="800" dirty="0">
                <a:solidFill>
                  <a:srgbClr val="64748B"/>
                </a:solidFill>
                <a:latin typeface="Inter" pitchFamily="34" charset="0"/>
                <a:ea typeface="Inter" pitchFamily="34" charset="-122"/>
                <a:cs typeface="Inter" pitchFamily="34" charset="-120"/>
              </a:rPr>
              <a:t>Source: case section 7 and Exhibit K; likelihood and impact positions are team judgment.</a:t>
            </a:r>
            <a:endParaRPr lang="en-US" sz="800" dirty="0"/>
          </a:p>
        </p:txBody>
      </p:sp>
      <p:sp>
        <p:nvSpPr>
          <p:cNvPr id="8" name="Text 5"/>
          <p:cNvSpPr txBox="1"/>
          <p:nvPr/>
        </p:nvSpPr>
        <p:spPr>
          <a:xfrm>
            <a:off x="9966960" y="6464808"/>
            <a:ext cx="1719072" cy="256032"/>
          </a:xfrm>
          <a:prstGeom prst="rect">
            <a:avLst/>
          </a:prstGeom>
          <a:noFill/>
          <a:ln/>
        </p:spPr>
        <p:txBody>
          <a:bodyPr wrap="square" lIns="0" tIns="0" rIns="0" bIns="0" rtlCol="0" anchor="ctr"/>
          <a:lstStyle/>
          <a:p>
            <a:pPr algn="r" indent="0" marL="0">
              <a:buNone/>
            </a:pPr>
            <a:r>
              <a:rPr lang="en-US" sz="800" dirty="0">
                <a:solidFill>
                  <a:srgbClr val="64748B"/>
                </a:solidFill>
                <a:latin typeface="Inter" pitchFamily="34" charset="0"/>
                <a:ea typeface="Inter" pitchFamily="34" charset="-122"/>
                <a:cs typeface="Inter" pitchFamily="34" charset="-120"/>
              </a:rPr>
              <a:t>Team G27  ·  25</a:t>
            </a:r>
            <a:endParaRPr lang="en-US" sz="800" dirty="0"/>
          </a:p>
        </p:txBody>
      </p:sp>
      <p:sp>
        <p:nvSpPr>
          <p:cNvPr id="9" name="Shape 6"/>
          <p:cNvSpPr/>
          <p:nvPr/>
        </p:nvSpPr>
        <p:spPr>
          <a:xfrm>
            <a:off x="868680" y="1417320"/>
            <a:ext cx="960120" cy="960120"/>
          </a:xfrm>
          <a:prstGeom prst="rect">
            <a:avLst/>
          </a:prstGeom>
          <a:solidFill>
            <a:srgbClr val="FEF3C7"/>
          </a:solidFill>
          <a:ln w="6350">
            <a:solidFill>
              <a:srgbClr val="FEF3C7"/>
            </a:solidFill>
            <a:prstDash val="solid"/>
          </a:ln>
        </p:spPr>
      </p:sp>
      <p:sp>
        <p:nvSpPr>
          <p:cNvPr id="10" name="Shape 7"/>
          <p:cNvSpPr/>
          <p:nvPr/>
        </p:nvSpPr>
        <p:spPr>
          <a:xfrm>
            <a:off x="1865376" y="1417320"/>
            <a:ext cx="960120" cy="960120"/>
          </a:xfrm>
          <a:prstGeom prst="rect">
            <a:avLst/>
          </a:prstGeom>
          <a:solidFill>
            <a:srgbClr val="FDE2E2"/>
          </a:solidFill>
          <a:ln w="6350">
            <a:solidFill>
              <a:srgbClr val="FDE2E2"/>
            </a:solidFill>
            <a:prstDash val="solid"/>
          </a:ln>
        </p:spPr>
      </p:sp>
      <p:sp>
        <p:nvSpPr>
          <p:cNvPr id="11" name="Shape 8"/>
          <p:cNvSpPr/>
          <p:nvPr/>
        </p:nvSpPr>
        <p:spPr>
          <a:xfrm>
            <a:off x="2862072" y="1417320"/>
            <a:ext cx="960120" cy="960120"/>
          </a:xfrm>
          <a:prstGeom prst="rect">
            <a:avLst/>
          </a:prstGeom>
          <a:solidFill>
            <a:srgbClr val="FDE2E2"/>
          </a:solidFill>
          <a:ln w="6350">
            <a:solidFill>
              <a:srgbClr val="FDE2E2"/>
            </a:solidFill>
            <a:prstDash val="solid"/>
          </a:ln>
        </p:spPr>
      </p:sp>
      <p:sp>
        <p:nvSpPr>
          <p:cNvPr id="12" name="Shape 9"/>
          <p:cNvSpPr/>
          <p:nvPr/>
        </p:nvSpPr>
        <p:spPr>
          <a:xfrm>
            <a:off x="868680" y="2414016"/>
            <a:ext cx="960120" cy="960120"/>
          </a:xfrm>
          <a:prstGeom prst="rect">
            <a:avLst/>
          </a:prstGeom>
          <a:solidFill>
            <a:srgbClr val="E8F5EC"/>
          </a:solidFill>
          <a:ln w="6350">
            <a:solidFill>
              <a:srgbClr val="E8F5EC"/>
            </a:solidFill>
            <a:prstDash val="solid"/>
          </a:ln>
        </p:spPr>
      </p:sp>
      <p:sp>
        <p:nvSpPr>
          <p:cNvPr id="13" name="Shape 10"/>
          <p:cNvSpPr/>
          <p:nvPr/>
        </p:nvSpPr>
        <p:spPr>
          <a:xfrm>
            <a:off x="1865376" y="2414016"/>
            <a:ext cx="960120" cy="960120"/>
          </a:xfrm>
          <a:prstGeom prst="rect">
            <a:avLst/>
          </a:prstGeom>
          <a:solidFill>
            <a:srgbClr val="FEF3C7"/>
          </a:solidFill>
          <a:ln w="6350">
            <a:solidFill>
              <a:srgbClr val="FEF3C7"/>
            </a:solidFill>
            <a:prstDash val="solid"/>
          </a:ln>
        </p:spPr>
      </p:sp>
      <p:sp>
        <p:nvSpPr>
          <p:cNvPr id="14" name="Shape 11"/>
          <p:cNvSpPr/>
          <p:nvPr/>
        </p:nvSpPr>
        <p:spPr>
          <a:xfrm>
            <a:off x="2862072" y="2414016"/>
            <a:ext cx="960120" cy="960120"/>
          </a:xfrm>
          <a:prstGeom prst="rect">
            <a:avLst/>
          </a:prstGeom>
          <a:solidFill>
            <a:srgbClr val="FDE2E2"/>
          </a:solidFill>
          <a:ln w="6350">
            <a:solidFill>
              <a:srgbClr val="FDE2E2"/>
            </a:solidFill>
            <a:prstDash val="solid"/>
          </a:ln>
        </p:spPr>
      </p:sp>
      <p:sp>
        <p:nvSpPr>
          <p:cNvPr id="15" name="Shape 12"/>
          <p:cNvSpPr/>
          <p:nvPr/>
        </p:nvSpPr>
        <p:spPr>
          <a:xfrm>
            <a:off x="868680" y="3410712"/>
            <a:ext cx="960120" cy="960120"/>
          </a:xfrm>
          <a:prstGeom prst="rect">
            <a:avLst/>
          </a:prstGeom>
          <a:solidFill>
            <a:srgbClr val="E8F5EC"/>
          </a:solidFill>
          <a:ln w="6350">
            <a:solidFill>
              <a:srgbClr val="E8F5EC"/>
            </a:solidFill>
            <a:prstDash val="solid"/>
          </a:ln>
        </p:spPr>
      </p:sp>
      <p:sp>
        <p:nvSpPr>
          <p:cNvPr id="16" name="Shape 13"/>
          <p:cNvSpPr/>
          <p:nvPr/>
        </p:nvSpPr>
        <p:spPr>
          <a:xfrm>
            <a:off x="1865376" y="3410712"/>
            <a:ext cx="960120" cy="960120"/>
          </a:xfrm>
          <a:prstGeom prst="rect">
            <a:avLst/>
          </a:prstGeom>
          <a:solidFill>
            <a:srgbClr val="E8F5EC"/>
          </a:solidFill>
          <a:ln w="6350">
            <a:solidFill>
              <a:srgbClr val="E8F5EC"/>
            </a:solidFill>
            <a:prstDash val="solid"/>
          </a:ln>
        </p:spPr>
      </p:sp>
      <p:sp>
        <p:nvSpPr>
          <p:cNvPr id="17" name="Shape 14"/>
          <p:cNvSpPr/>
          <p:nvPr/>
        </p:nvSpPr>
        <p:spPr>
          <a:xfrm>
            <a:off x="2862072" y="3410712"/>
            <a:ext cx="960120" cy="960120"/>
          </a:xfrm>
          <a:prstGeom prst="rect">
            <a:avLst/>
          </a:prstGeom>
          <a:solidFill>
            <a:srgbClr val="FEF3C7"/>
          </a:solidFill>
          <a:ln w="6350">
            <a:solidFill>
              <a:srgbClr val="FEF3C7"/>
            </a:solidFill>
            <a:prstDash val="solid"/>
          </a:ln>
        </p:spPr>
      </p:sp>
      <p:sp>
        <p:nvSpPr>
          <p:cNvPr id="18" name="Text 15"/>
          <p:cNvSpPr txBox="1"/>
          <p:nvPr/>
        </p:nvSpPr>
        <p:spPr>
          <a:xfrm>
            <a:off x="868680" y="4443984"/>
            <a:ext cx="2926080" cy="219456"/>
          </a:xfrm>
          <a:prstGeom prst="rect">
            <a:avLst/>
          </a:prstGeom>
          <a:noFill/>
          <a:ln/>
        </p:spPr>
        <p:txBody>
          <a:bodyPr wrap="square" lIns="0" tIns="0" rIns="0" bIns="0" rtlCol="0" anchor="t"/>
          <a:lstStyle/>
          <a:p>
            <a:pPr algn="ctr" indent="0" marL="0">
              <a:buNone/>
            </a:pPr>
            <a:r>
              <a:rPr lang="en-US" sz="950" b="1" dirty="0">
                <a:solidFill>
                  <a:srgbClr val="0F172A"/>
                </a:solidFill>
                <a:latin typeface="Inter" pitchFamily="34" charset="0"/>
                <a:ea typeface="Inter" pitchFamily="34" charset="-122"/>
                <a:cs typeface="Inter" pitchFamily="34" charset="-120"/>
              </a:rPr>
              <a:t>Likelihood →</a:t>
            </a:r>
            <a:endParaRPr lang="en-US" sz="950" dirty="0"/>
          </a:p>
        </p:txBody>
      </p:sp>
      <p:sp>
        <p:nvSpPr>
          <p:cNvPr id="19" name="Text 16"/>
          <p:cNvSpPr txBox="1"/>
          <p:nvPr/>
        </p:nvSpPr>
        <p:spPr>
          <a:xfrm rot="16200000">
            <a:off x="-457200" y="2747772"/>
            <a:ext cx="2286000" cy="219456"/>
          </a:xfrm>
          <a:prstGeom prst="rect">
            <a:avLst/>
          </a:prstGeom>
          <a:noFill/>
          <a:ln/>
        </p:spPr>
        <p:txBody>
          <a:bodyPr wrap="square" lIns="0" tIns="0" rIns="0" bIns="0" rtlCol="0" anchor="t"/>
          <a:lstStyle/>
          <a:p>
            <a:pPr algn="ctr" indent="0" marL="0">
              <a:buNone/>
            </a:pPr>
            <a:r>
              <a:rPr lang="en-US" sz="950" b="1" dirty="0">
                <a:solidFill>
                  <a:srgbClr val="0F172A"/>
                </a:solidFill>
                <a:latin typeface="Inter" pitchFamily="34" charset="0"/>
                <a:ea typeface="Inter" pitchFamily="34" charset="-122"/>
                <a:cs typeface="Inter" pitchFamily="34" charset="-120"/>
              </a:rPr>
              <a:t>Impact →</a:t>
            </a:r>
            <a:endParaRPr lang="en-US" sz="950" dirty="0"/>
          </a:p>
        </p:txBody>
      </p:sp>
      <p:sp>
        <p:nvSpPr>
          <p:cNvPr id="20" name="Shape 17"/>
          <p:cNvSpPr/>
          <p:nvPr/>
        </p:nvSpPr>
        <p:spPr>
          <a:xfrm>
            <a:off x="3177540" y="1732788"/>
            <a:ext cx="329184" cy="329184"/>
          </a:xfrm>
          <a:prstGeom prst="ellipse">
            <a:avLst/>
          </a:prstGeom>
          <a:solidFill>
            <a:srgbClr val="0A1F44"/>
          </a:solidFill>
          <a:ln w="6350">
            <a:solidFill>
              <a:srgbClr val="0A1F44"/>
            </a:solidFill>
            <a:prstDash val="solid"/>
          </a:ln>
        </p:spPr>
      </p:sp>
      <p:sp>
        <p:nvSpPr>
          <p:cNvPr id="21" name="Text 18"/>
          <p:cNvSpPr txBox="1"/>
          <p:nvPr/>
        </p:nvSpPr>
        <p:spPr>
          <a:xfrm>
            <a:off x="3177540" y="1732788"/>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1</a:t>
            </a:r>
            <a:endParaRPr lang="en-US" sz="1200" dirty="0"/>
          </a:p>
        </p:txBody>
      </p:sp>
      <p:sp>
        <p:nvSpPr>
          <p:cNvPr id="22" name="Shape 19"/>
          <p:cNvSpPr/>
          <p:nvPr/>
        </p:nvSpPr>
        <p:spPr>
          <a:xfrm>
            <a:off x="2939796" y="2729484"/>
            <a:ext cx="329184" cy="329184"/>
          </a:xfrm>
          <a:prstGeom prst="ellipse">
            <a:avLst/>
          </a:prstGeom>
          <a:solidFill>
            <a:srgbClr val="0A1F44"/>
          </a:solidFill>
          <a:ln w="6350">
            <a:solidFill>
              <a:srgbClr val="0A1F44"/>
            </a:solidFill>
            <a:prstDash val="solid"/>
          </a:ln>
        </p:spPr>
      </p:sp>
      <p:sp>
        <p:nvSpPr>
          <p:cNvPr id="23" name="Text 20"/>
          <p:cNvSpPr txBox="1"/>
          <p:nvPr/>
        </p:nvSpPr>
        <p:spPr>
          <a:xfrm>
            <a:off x="2939796" y="2729484"/>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2</a:t>
            </a:r>
            <a:endParaRPr lang="en-US" sz="1200" dirty="0"/>
          </a:p>
        </p:txBody>
      </p:sp>
      <p:sp>
        <p:nvSpPr>
          <p:cNvPr id="24" name="Shape 21"/>
          <p:cNvSpPr/>
          <p:nvPr/>
        </p:nvSpPr>
        <p:spPr>
          <a:xfrm>
            <a:off x="1943100" y="2729484"/>
            <a:ext cx="329184" cy="329184"/>
          </a:xfrm>
          <a:prstGeom prst="ellipse">
            <a:avLst/>
          </a:prstGeom>
          <a:solidFill>
            <a:srgbClr val="0A1F44"/>
          </a:solidFill>
          <a:ln w="6350">
            <a:solidFill>
              <a:srgbClr val="0A1F44"/>
            </a:solidFill>
            <a:prstDash val="solid"/>
          </a:ln>
        </p:spPr>
      </p:sp>
      <p:sp>
        <p:nvSpPr>
          <p:cNvPr id="25" name="Text 22"/>
          <p:cNvSpPr txBox="1"/>
          <p:nvPr/>
        </p:nvSpPr>
        <p:spPr>
          <a:xfrm>
            <a:off x="1943100" y="2729484"/>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3</a:t>
            </a:r>
            <a:endParaRPr lang="en-US" sz="1200" dirty="0"/>
          </a:p>
        </p:txBody>
      </p:sp>
      <p:sp>
        <p:nvSpPr>
          <p:cNvPr id="26" name="Shape 23"/>
          <p:cNvSpPr/>
          <p:nvPr/>
        </p:nvSpPr>
        <p:spPr>
          <a:xfrm>
            <a:off x="2180844" y="1732788"/>
            <a:ext cx="329184" cy="329184"/>
          </a:xfrm>
          <a:prstGeom prst="ellipse">
            <a:avLst/>
          </a:prstGeom>
          <a:solidFill>
            <a:srgbClr val="0A1F44"/>
          </a:solidFill>
          <a:ln w="6350">
            <a:solidFill>
              <a:srgbClr val="0A1F44"/>
            </a:solidFill>
            <a:prstDash val="solid"/>
          </a:ln>
        </p:spPr>
      </p:sp>
      <p:sp>
        <p:nvSpPr>
          <p:cNvPr id="27" name="Text 24"/>
          <p:cNvSpPr txBox="1"/>
          <p:nvPr/>
        </p:nvSpPr>
        <p:spPr>
          <a:xfrm>
            <a:off x="2180844" y="1732788"/>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4</a:t>
            </a:r>
            <a:endParaRPr lang="en-US" sz="1200" dirty="0"/>
          </a:p>
        </p:txBody>
      </p:sp>
      <p:sp>
        <p:nvSpPr>
          <p:cNvPr id="28" name="Shape 25"/>
          <p:cNvSpPr/>
          <p:nvPr/>
        </p:nvSpPr>
        <p:spPr>
          <a:xfrm>
            <a:off x="2180844" y="3726180"/>
            <a:ext cx="329184" cy="329184"/>
          </a:xfrm>
          <a:prstGeom prst="ellipse">
            <a:avLst/>
          </a:prstGeom>
          <a:solidFill>
            <a:srgbClr val="0A1F44"/>
          </a:solidFill>
          <a:ln w="6350">
            <a:solidFill>
              <a:srgbClr val="0A1F44"/>
            </a:solidFill>
            <a:prstDash val="solid"/>
          </a:ln>
        </p:spPr>
      </p:sp>
      <p:sp>
        <p:nvSpPr>
          <p:cNvPr id="29" name="Text 26"/>
          <p:cNvSpPr txBox="1"/>
          <p:nvPr/>
        </p:nvSpPr>
        <p:spPr>
          <a:xfrm>
            <a:off x="2180844" y="372618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5</a:t>
            </a:r>
            <a:endParaRPr lang="en-US" sz="1200" dirty="0"/>
          </a:p>
        </p:txBody>
      </p:sp>
      <p:sp>
        <p:nvSpPr>
          <p:cNvPr id="30" name="Shape 27"/>
          <p:cNvSpPr/>
          <p:nvPr/>
        </p:nvSpPr>
        <p:spPr>
          <a:xfrm>
            <a:off x="3177540" y="3726180"/>
            <a:ext cx="329184" cy="329184"/>
          </a:xfrm>
          <a:prstGeom prst="ellipse">
            <a:avLst/>
          </a:prstGeom>
          <a:solidFill>
            <a:srgbClr val="0A1F44"/>
          </a:solidFill>
          <a:ln w="6350">
            <a:solidFill>
              <a:srgbClr val="0A1F44"/>
            </a:solidFill>
            <a:prstDash val="solid"/>
          </a:ln>
        </p:spPr>
      </p:sp>
      <p:sp>
        <p:nvSpPr>
          <p:cNvPr id="31" name="Text 28"/>
          <p:cNvSpPr txBox="1"/>
          <p:nvPr/>
        </p:nvSpPr>
        <p:spPr>
          <a:xfrm>
            <a:off x="3177540" y="372618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6</a:t>
            </a:r>
            <a:endParaRPr lang="en-US" sz="1200" dirty="0"/>
          </a:p>
        </p:txBody>
      </p:sp>
      <p:sp>
        <p:nvSpPr>
          <p:cNvPr id="32" name="Shape 29"/>
          <p:cNvSpPr/>
          <p:nvPr/>
        </p:nvSpPr>
        <p:spPr>
          <a:xfrm>
            <a:off x="3415284" y="2729484"/>
            <a:ext cx="329184" cy="329184"/>
          </a:xfrm>
          <a:prstGeom prst="ellipse">
            <a:avLst/>
          </a:prstGeom>
          <a:solidFill>
            <a:srgbClr val="0A1F44"/>
          </a:solidFill>
          <a:ln w="6350">
            <a:solidFill>
              <a:srgbClr val="0A1F44"/>
            </a:solidFill>
            <a:prstDash val="solid"/>
          </a:ln>
        </p:spPr>
      </p:sp>
      <p:sp>
        <p:nvSpPr>
          <p:cNvPr id="33" name="Text 30"/>
          <p:cNvSpPr txBox="1"/>
          <p:nvPr/>
        </p:nvSpPr>
        <p:spPr>
          <a:xfrm>
            <a:off x="3415284" y="2729484"/>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7</a:t>
            </a:r>
            <a:endParaRPr lang="en-US" sz="1200" dirty="0"/>
          </a:p>
        </p:txBody>
      </p:sp>
      <p:sp>
        <p:nvSpPr>
          <p:cNvPr id="34" name="Shape 31"/>
          <p:cNvSpPr/>
          <p:nvPr/>
        </p:nvSpPr>
        <p:spPr>
          <a:xfrm>
            <a:off x="1184148" y="1732788"/>
            <a:ext cx="329184" cy="329184"/>
          </a:xfrm>
          <a:prstGeom prst="ellipse">
            <a:avLst/>
          </a:prstGeom>
          <a:solidFill>
            <a:srgbClr val="0A1F44"/>
          </a:solidFill>
          <a:ln w="6350">
            <a:solidFill>
              <a:srgbClr val="0A1F44"/>
            </a:solidFill>
            <a:prstDash val="solid"/>
          </a:ln>
        </p:spPr>
      </p:sp>
      <p:sp>
        <p:nvSpPr>
          <p:cNvPr id="35" name="Text 32"/>
          <p:cNvSpPr txBox="1"/>
          <p:nvPr/>
        </p:nvSpPr>
        <p:spPr>
          <a:xfrm>
            <a:off x="1184148" y="1732788"/>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8</a:t>
            </a:r>
            <a:endParaRPr lang="en-US" sz="1200" dirty="0"/>
          </a:p>
        </p:txBody>
      </p:sp>
      <p:sp>
        <p:nvSpPr>
          <p:cNvPr id="36" name="Shape 33"/>
          <p:cNvSpPr/>
          <p:nvPr/>
        </p:nvSpPr>
        <p:spPr>
          <a:xfrm>
            <a:off x="2418588" y="2729484"/>
            <a:ext cx="329184" cy="329184"/>
          </a:xfrm>
          <a:prstGeom prst="ellipse">
            <a:avLst/>
          </a:prstGeom>
          <a:solidFill>
            <a:srgbClr val="0A1F44"/>
          </a:solidFill>
          <a:ln w="6350">
            <a:solidFill>
              <a:srgbClr val="0A1F44"/>
            </a:solidFill>
            <a:prstDash val="solid"/>
          </a:ln>
        </p:spPr>
      </p:sp>
      <p:sp>
        <p:nvSpPr>
          <p:cNvPr id="37" name="Text 34"/>
          <p:cNvSpPr txBox="1"/>
          <p:nvPr/>
        </p:nvSpPr>
        <p:spPr>
          <a:xfrm>
            <a:off x="2418588" y="2729484"/>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9</a:t>
            </a:r>
            <a:endParaRPr lang="en-US" sz="1200" dirty="0"/>
          </a:p>
        </p:txBody>
      </p:sp>
      <p:sp>
        <p:nvSpPr>
          <p:cNvPr id="38" name="Shape 35"/>
          <p:cNvSpPr/>
          <p:nvPr/>
        </p:nvSpPr>
        <p:spPr>
          <a:xfrm>
            <a:off x="4206240" y="1316736"/>
            <a:ext cx="329184" cy="329184"/>
          </a:xfrm>
          <a:prstGeom prst="ellipse">
            <a:avLst/>
          </a:prstGeom>
          <a:solidFill>
            <a:srgbClr val="0A1F44"/>
          </a:solidFill>
          <a:ln w="6350">
            <a:solidFill>
              <a:srgbClr val="0A1F44"/>
            </a:solidFill>
            <a:prstDash val="solid"/>
          </a:ln>
        </p:spPr>
      </p:sp>
      <p:sp>
        <p:nvSpPr>
          <p:cNvPr id="39" name="Text 36"/>
          <p:cNvSpPr txBox="1"/>
          <p:nvPr/>
        </p:nvSpPr>
        <p:spPr>
          <a:xfrm>
            <a:off x="4206240" y="1316736"/>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1</a:t>
            </a:r>
            <a:endParaRPr lang="en-US" sz="1200" dirty="0"/>
          </a:p>
        </p:txBody>
      </p:sp>
      <p:sp>
        <p:nvSpPr>
          <p:cNvPr id="40" name="Text 37"/>
          <p:cNvSpPr txBox="1"/>
          <p:nvPr/>
        </p:nvSpPr>
        <p:spPr>
          <a:xfrm>
            <a:off x="4663440" y="1261872"/>
            <a:ext cx="2743200" cy="457200"/>
          </a:xfrm>
          <a:prstGeom prst="rect">
            <a:avLst/>
          </a:prstGeom>
          <a:noFill/>
          <a:ln/>
        </p:spPr>
        <p:txBody>
          <a:bodyPr wrap="square" lIns="0" tIns="0" rIns="0" bIns="0" rtlCol="0" anchor="ctr"/>
          <a:lstStyle/>
          <a:p>
            <a:pPr indent="0" marL="0">
              <a:buNone/>
            </a:pPr>
            <a:r>
              <a:rPr lang="en-US" sz="1100" b="1" dirty="0">
                <a:solidFill>
                  <a:srgbClr val="0A1F44"/>
                </a:solidFill>
                <a:latin typeface="Inter" pitchFamily="34" charset="0"/>
                <a:ea typeface="Inter" pitchFamily="34" charset="-122"/>
                <a:cs typeface="Inter" pitchFamily="34" charset="-120"/>
              </a:rPr>
              <a:t>Selection bias inflates lift</a:t>
            </a:r>
            <a:endParaRPr lang="en-US" sz="1100" dirty="0"/>
          </a:p>
        </p:txBody>
      </p:sp>
      <p:sp>
        <p:nvSpPr>
          <p:cNvPr id="41" name="Text 38"/>
          <p:cNvSpPr txBox="1"/>
          <p:nvPr/>
        </p:nvSpPr>
        <p:spPr>
          <a:xfrm>
            <a:off x="7498080" y="1261872"/>
            <a:ext cx="4187952" cy="457200"/>
          </a:xfrm>
          <a:prstGeom prst="rect">
            <a:avLst/>
          </a:prstGeom>
          <a:noFill/>
          <a:ln/>
        </p:spPr>
        <p:txBody>
          <a:bodyPr wrap="square" lIns="0" tIns="0" rIns="0" bIns="0" rtlCol="0" anchor="ctr"/>
          <a:lstStyle/>
          <a:p>
            <a:pPr indent="0" marL="0">
              <a:buNone/>
            </a:pPr>
            <a:r>
              <a:rPr lang="en-US" sz="950" b="1" dirty="0">
                <a:solidFill>
                  <a:srgbClr val="1D4ED8"/>
                </a:solidFill>
                <a:latin typeface="Inter" pitchFamily="34" charset="0"/>
                <a:ea typeface="Inter" pitchFamily="34" charset="-122"/>
                <a:cs typeface="Inter" pitchFamily="34" charset="-120"/>
              </a:rPr>
              <a:t>Mitigation: </a:t>
            </a:r>
            <a:pPr indent="0" marL="0">
              <a:buNone/>
            </a:pPr>
            <a:r>
              <a:rPr lang="en-US" sz="950" dirty="0">
                <a:solidFill>
                  <a:srgbClr val="0F172A"/>
                </a:solidFill>
                <a:latin typeface="Inter" pitchFamily="34" charset="0"/>
                <a:ea typeface="Inter" pitchFamily="34" charset="-122"/>
                <a:cs typeface="Inter" pitchFamily="34" charset="-120"/>
              </a:rPr>
              <a:t>Randomized 10% holdout</a:t>
            </a:r>
            <a:endParaRPr lang="en-US" sz="950" dirty="0"/>
          </a:p>
          <a:p>
            <a:pPr indent="0" marL="0">
              <a:buNone/>
            </a:pPr>
            <a:r>
              <a:rPr lang="en-US" sz="950" b="1" dirty="0">
                <a:solidFill>
                  <a:srgbClr val="D97706"/>
                </a:solidFill>
                <a:latin typeface="Inter" pitchFamily="34" charset="0"/>
                <a:ea typeface="Inter" pitchFamily="34" charset="-122"/>
                <a:cs typeface="Inter" pitchFamily="34" charset="-120"/>
              </a:rPr>
              <a:t>Early warning: </a:t>
            </a:r>
            <a:pPr indent="0" marL="0">
              <a:buNone/>
            </a:pPr>
            <a:r>
              <a:rPr lang="en-US" sz="950" dirty="0">
                <a:solidFill>
                  <a:srgbClr val="0F172A"/>
                </a:solidFill>
                <a:latin typeface="Inter" pitchFamily="34" charset="0"/>
                <a:ea typeface="Inter" pitchFamily="34" charset="-122"/>
                <a:cs typeface="Inter" pitchFamily="34" charset="-120"/>
              </a:rPr>
              <a:t>holdout gap shrinks</a:t>
            </a:r>
            <a:endParaRPr lang="en-US" sz="950" dirty="0"/>
          </a:p>
        </p:txBody>
      </p:sp>
      <p:sp>
        <p:nvSpPr>
          <p:cNvPr id="42" name="Shape 39"/>
          <p:cNvSpPr/>
          <p:nvPr/>
        </p:nvSpPr>
        <p:spPr>
          <a:xfrm>
            <a:off x="4206240" y="1837944"/>
            <a:ext cx="329184" cy="329184"/>
          </a:xfrm>
          <a:prstGeom prst="ellipse">
            <a:avLst/>
          </a:prstGeom>
          <a:solidFill>
            <a:srgbClr val="0A1F44"/>
          </a:solidFill>
          <a:ln w="6350">
            <a:solidFill>
              <a:srgbClr val="0A1F44"/>
            </a:solidFill>
            <a:prstDash val="solid"/>
          </a:ln>
        </p:spPr>
      </p:sp>
      <p:sp>
        <p:nvSpPr>
          <p:cNvPr id="43" name="Text 40"/>
          <p:cNvSpPr txBox="1"/>
          <p:nvPr/>
        </p:nvSpPr>
        <p:spPr>
          <a:xfrm>
            <a:off x="4206240" y="1837944"/>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2</a:t>
            </a:r>
            <a:endParaRPr lang="en-US" sz="1200" dirty="0"/>
          </a:p>
        </p:txBody>
      </p:sp>
      <p:sp>
        <p:nvSpPr>
          <p:cNvPr id="44" name="Text 41"/>
          <p:cNvSpPr txBox="1"/>
          <p:nvPr/>
        </p:nvSpPr>
        <p:spPr>
          <a:xfrm>
            <a:off x="4663440" y="1783080"/>
            <a:ext cx="2743200" cy="457200"/>
          </a:xfrm>
          <a:prstGeom prst="rect">
            <a:avLst/>
          </a:prstGeom>
          <a:noFill/>
          <a:ln/>
        </p:spPr>
        <p:txBody>
          <a:bodyPr wrap="square" lIns="0" tIns="0" rIns="0" bIns="0" rtlCol="0" anchor="ctr"/>
          <a:lstStyle/>
          <a:p>
            <a:pPr indent="0" marL="0">
              <a:buNone/>
            </a:pPr>
            <a:r>
              <a:rPr lang="en-US" sz="1100" b="1" dirty="0">
                <a:solidFill>
                  <a:srgbClr val="0A1F44"/>
                </a:solidFill>
                <a:latin typeface="Inter" pitchFamily="34" charset="0"/>
                <a:ea typeface="Inter" pitchFamily="34" charset="-122"/>
                <a:cs typeface="Inter" pitchFamily="34" charset="-120"/>
              </a:rPr>
              <a:t>Channel owners resist cuts</a:t>
            </a:r>
            <a:endParaRPr lang="en-US" sz="1100" dirty="0"/>
          </a:p>
        </p:txBody>
      </p:sp>
      <p:sp>
        <p:nvSpPr>
          <p:cNvPr id="45" name="Text 42"/>
          <p:cNvSpPr txBox="1"/>
          <p:nvPr/>
        </p:nvSpPr>
        <p:spPr>
          <a:xfrm>
            <a:off x="7498080" y="1783080"/>
            <a:ext cx="4187952" cy="457200"/>
          </a:xfrm>
          <a:prstGeom prst="rect">
            <a:avLst/>
          </a:prstGeom>
          <a:noFill/>
          <a:ln/>
        </p:spPr>
        <p:txBody>
          <a:bodyPr wrap="square" lIns="0" tIns="0" rIns="0" bIns="0" rtlCol="0" anchor="ctr"/>
          <a:lstStyle/>
          <a:p>
            <a:pPr indent="0" marL="0">
              <a:buNone/>
            </a:pPr>
            <a:r>
              <a:rPr lang="en-US" sz="950" b="1" dirty="0">
                <a:solidFill>
                  <a:srgbClr val="1D4ED8"/>
                </a:solidFill>
                <a:latin typeface="Inter" pitchFamily="34" charset="0"/>
                <a:ea typeface="Inter" pitchFamily="34" charset="-122"/>
                <a:cs typeface="Inter" pitchFamily="34" charset="-120"/>
              </a:rPr>
              <a:t>Mitigation: </a:t>
            </a:r>
            <a:pPr indent="0" marL="0">
              <a:buNone/>
            </a:pPr>
            <a:r>
              <a:rPr lang="en-US" sz="950" dirty="0">
                <a:solidFill>
                  <a:srgbClr val="0F172A"/>
                </a:solidFill>
                <a:latin typeface="Inter" pitchFamily="34" charset="0"/>
                <a:ea typeface="Inter" pitchFamily="34" charset="-122"/>
                <a:cs typeface="Inter" pitchFamily="34" charset="-120"/>
              </a:rPr>
              <a:t>Scorecards on incremental revenue</a:t>
            </a:r>
            <a:endParaRPr lang="en-US" sz="950" dirty="0"/>
          </a:p>
          <a:p>
            <a:pPr indent="0" marL="0">
              <a:buNone/>
            </a:pPr>
            <a:r>
              <a:rPr lang="en-US" sz="950" b="1" dirty="0">
                <a:solidFill>
                  <a:srgbClr val="D97706"/>
                </a:solidFill>
                <a:latin typeface="Inter" pitchFamily="34" charset="0"/>
                <a:ea typeface="Inter" pitchFamily="34" charset="-122"/>
                <a:cs typeface="Inter" pitchFamily="34" charset="-120"/>
              </a:rPr>
              <a:t>Early warning: </a:t>
            </a:r>
            <a:pPr indent="0" marL="0">
              <a:buNone/>
            </a:pPr>
            <a:r>
              <a:rPr lang="en-US" sz="950" dirty="0">
                <a:solidFill>
                  <a:srgbClr val="0F172A"/>
                </a:solidFill>
                <a:latin typeface="Inter" pitchFamily="34" charset="0"/>
                <a:ea typeface="Inter" pitchFamily="34" charset="-122"/>
                <a:cs typeface="Inter" pitchFamily="34" charset="-120"/>
              </a:rPr>
              <a:t>escalations at the weekly council</a:t>
            </a:r>
            <a:endParaRPr lang="en-US" sz="950" dirty="0"/>
          </a:p>
        </p:txBody>
      </p:sp>
      <p:sp>
        <p:nvSpPr>
          <p:cNvPr id="46" name="Shape 43"/>
          <p:cNvSpPr/>
          <p:nvPr/>
        </p:nvSpPr>
        <p:spPr>
          <a:xfrm>
            <a:off x="4206240" y="2359152"/>
            <a:ext cx="329184" cy="329184"/>
          </a:xfrm>
          <a:prstGeom prst="ellipse">
            <a:avLst/>
          </a:prstGeom>
          <a:solidFill>
            <a:srgbClr val="0A1F44"/>
          </a:solidFill>
          <a:ln w="6350">
            <a:solidFill>
              <a:srgbClr val="0A1F44"/>
            </a:solidFill>
            <a:prstDash val="solid"/>
          </a:ln>
        </p:spPr>
      </p:sp>
      <p:sp>
        <p:nvSpPr>
          <p:cNvPr id="47" name="Text 44"/>
          <p:cNvSpPr txBox="1"/>
          <p:nvPr/>
        </p:nvSpPr>
        <p:spPr>
          <a:xfrm>
            <a:off x="4206240" y="2359152"/>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3</a:t>
            </a:r>
            <a:endParaRPr lang="en-US" sz="1200" dirty="0"/>
          </a:p>
        </p:txBody>
      </p:sp>
      <p:sp>
        <p:nvSpPr>
          <p:cNvPr id="48" name="Text 45"/>
          <p:cNvSpPr txBox="1"/>
          <p:nvPr/>
        </p:nvSpPr>
        <p:spPr>
          <a:xfrm>
            <a:off x="4663440" y="2304288"/>
            <a:ext cx="2743200" cy="457200"/>
          </a:xfrm>
          <a:prstGeom prst="rect">
            <a:avLst/>
          </a:prstGeom>
          <a:noFill/>
          <a:ln/>
        </p:spPr>
        <p:txBody>
          <a:bodyPr wrap="square" lIns="0" tIns="0" rIns="0" bIns="0" rtlCol="0" anchor="ctr"/>
          <a:lstStyle/>
          <a:p>
            <a:pPr indent="0" marL="0">
              <a:buNone/>
            </a:pPr>
            <a:r>
              <a:rPr lang="en-US" sz="1100" b="1" dirty="0">
                <a:solidFill>
                  <a:srgbClr val="0A1F44"/>
                </a:solidFill>
                <a:latin typeface="Inter" pitchFamily="34" charset="0"/>
                <a:ea typeface="Inter" pitchFamily="34" charset="-122"/>
                <a:cs typeface="Inter" pitchFamily="34" charset="-120"/>
              </a:rPr>
              <a:t>Message fatigue, unsubscribes</a:t>
            </a:r>
            <a:endParaRPr lang="en-US" sz="1100" dirty="0"/>
          </a:p>
        </p:txBody>
      </p:sp>
      <p:sp>
        <p:nvSpPr>
          <p:cNvPr id="49" name="Text 46"/>
          <p:cNvSpPr txBox="1"/>
          <p:nvPr/>
        </p:nvSpPr>
        <p:spPr>
          <a:xfrm>
            <a:off x="7498080" y="2304288"/>
            <a:ext cx="4187952" cy="457200"/>
          </a:xfrm>
          <a:prstGeom prst="rect">
            <a:avLst/>
          </a:prstGeom>
          <a:noFill/>
          <a:ln/>
        </p:spPr>
        <p:txBody>
          <a:bodyPr wrap="square" lIns="0" tIns="0" rIns="0" bIns="0" rtlCol="0" anchor="ctr"/>
          <a:lstStyle/>
          <a:p>
            <a:pPr indent="0" marL="0">
              <a:buNone/>
            </a:pPr>
            <a:r>
              <a:rPr lang="en-US" sz="950" b="1" dirty="0">
                <a:solidFill>
                  <a:srgbClr val="1D4ED8"/>
                </a:solidFill>
                <a:latin typeface="Inter" pitchFamily="34" charset="0"/>
                <a:ea typeface="Inter" pitchFamily="34" charset="-122"/>
                <a:cs typeface="Inter" pitchFamily="34" charset="-120"/>
              </a:rPr>
              <a:t>Mitigation: </a:t>
            </a:r>
            <a:pPr indent="0" marL="0">
              <a:buNone/>
            </a:pPr>
            <a:r>
              <a:rPr lang="en-US" sz="950" dirty="0">
                <a:solidFill>
                  <a:srgbClr val="0F172A"/>
                </a:solidFill>
                <a:latin typeface="Inter" pitchFamily="34" charset="0"/>
                <a:ea typeface="Inter" pitchFamily="34" charset="-122"/>
                <a:cs typeface="Inter" pitchFamily="34" charset="-120"/>
              </a:rPr>
              <a:t>Fewer, triggered sends</a:t>
            </a:r>
            <a:endParaRPr lang="en-US" sz="950" dirty="0"/>
          </a:p>
          <a:p>
            <a:pPr indent="0" marL="0">
              <a:buNone/>
            </a:pPr>
            <a:r>
              <a:rPr lang="en-US" sz="950" b="1" dirty="0">
                <a:solidFill>
                  <a:srgbClr val="D97706"/>
                </a:solidFill>
                <a:latin typeface="Inter" pitchFamily="34" charset="0"/>
                <a:ea typeface="Inter" pitchFamily="34" charset="-122"/>
                <a:cs typeface="Inter" pitchFamily="34" charset="-120"/>
              </a:rPr>
              <a:t>Early warning: </a:t>
            </a:r>
            <a:pPr indent="0" marL="0">
              <a:buNone/>
            </a:pPr>
            <a:r>
              <a:rPr lang="en-US" sz="950" dirty="0">
                <a:solidFill>
                  <a:srgbClr val="0F172A"/>
                </a:solidFill>
                <a:latin typeface="Inter" pitchFamily="34" charset="0"/>
                <a:ea typeface="Inter" pitchFamily="34" charset="-122"/>
                <a:cs typeface="Inter" pitchFamily="34" charset="-120"/>
              </a:rPr>
              <a:t>unsubscribes above pre-pilot rate</a:t>
            </a:r>
            <a:endParaRPr lang="en-US" sz="950" dirty="0"/>
          </a:p>
        </p:txBody>
      </p:sp>
      <p:sp>
        <p:nvSpPr>
          <p:cNvPr id="50" name="Shape 47"/>
          <p:cNvSpPr/>
          <p:nvPr/>
        </p:nvSpPr>
        <p:spPr>
          <a:xfrm>
            <a:off x="4206240" y="2880360"/>
            <a:ext cx="329184" cy="329184"/>
          </a:xfrm>
          <a:prstGeom prst="ellipse">
            <a:avLst/>
          </a:prstGeom>
          <a:solidFill>
            <a:srgbClr val="0A1F44"/>
          </a:solidFill>
          <a:ln w="6350">
            <a:solidFill>
              <a:srgbClr val="0A1F44"/>
            </a:solidFill>
            <a:prstDash val="solid"/>
          </a:ln>
        </p:spPr>
      </p:sp>
      <p:sp>
        <p:nvSpPr>
          <p:cNvPr id="51" name="Text 48"/>
          <p:cNvSpPr txBox="1"/>
          <p:nvPr/>
        </p:nvSpPr>
        <p:spPr>
          <a:xfrm>
            <a:off x="4206240" y="288036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4</a:t>
            </a:r>
            <a:endParaRPr lang="en-US" sz="1200" dirty="0"/>
          </a:p>
        </p:txBody>
      </p:sp>
      <p:sp>
        <p:nvSpPr>
          <p:cNvPr id="52" name="Text 49"/>
          <p:cNvSpPr txBox="1"/>
          <p:nvPr/>
        </p:nvSpPr>
        <p:spPr>
          <a:xfrm>
            <a:off x="4663440" y="2825496"/>
            <a:ext cx="2743200" cy="457200"/>
          </a:xfrm>
          <a:prstGeom prst="rect">
            <a:avLst/>
          </a:prstGeom>
          <a:noFill/>
          <a:ln/>
        </p:spPr>
        <p:txBody>
          <a:bodyPr wrap="square" lIns="0" tIns="0" rIns="0" bIns="0" rtlCol="0" anchor="ctr"/>
          <a:lstStyle/>
          <a:p>
            <a:pPr indent="0" marL="0">
              <a:buNone/>
            </a:pPr>
            <a:r>
              <a:rPr lang="en-US" sz="1100" b="1" dirty="0">
                <a:solidFill>
                  <a:srgbClr val="0A1F44"/>
                </a:solidFill>
                <a:latin typeface="Inter" pitchFamily="34" charset="0"/>
                <a:ea typeface="Inter" pitchFamily="34" charset="-122"/>
                <a:cs typeface="Inter" pitchFamily="34" charset="-120"/>
              </a:rPr>
              <a:t>Consent and privacy (CCPA)</a:t>
            </a:r>
            <a:endParaRPr lang="en-US" sz="1100" dirty="0"/>
          </a:p>
        </p:txBody>
      </p:sp>
      <p:sp>
        <p:nvSpPr>
          <p:cNvPr id="53" name="Text 50"/>
          <p:cNvSpPr txBox="1"/>
          <p:nvPr/>
        </p:nvSpPr>
        <p:spPr>
          <a:xfrm>
            <a:off x="7498080" y="2825496"/>
            <a:ext cx="4187952" cy="457200"/>
          </a:xfrm>
          <a:prstGeom prst="rect">
            <a:avLst/>
          </a:prstGeom>
          <a:noFill/>
          <a:ln/>
        </p:spPr>
        <p:txBody>
          <a:bodyPr wrap="square" lIns="0" tIns="0" rIns="0" bIns="0" rtlCol="0" anchor="ctr"/>
          <a:lstStyle/>
          <a:p>
            <a:pPr indent="0" marL="0">
              <a:buNone/>
            </a:pPr>
            <a:r>
              <a:rPr lang="en-US" sz="950" b="1" dirty="0">
                <a:solidFill>
                  <a:srgbClr val="1D4ED8"/>
                </a:solidFill>
                <a:latin typeface="Inter" pitchFamily="34" charset="0"/>
                <a:ea typeface="Inter" pitchFamily="34" charset="-122"/>
                <a:cs typeface="Inter" pitchFamily="34" charset="-120"/>
              </a:rPr>
              <a:t>Mitigation: </a:t>
            </a:r>
            <a:pPr indent="0" marL="0">
              <a:buNone/>
            </a:pPr>
            <a:r>
              <a:rPr lang="en-US" sz="950" dirty="0">
                <a:solidFill>
                  <a:srgbClr val="0F172A"/>
                </a:solidFill>
                <a:latin typeface="Inter" pitchFamily="34" charset="0"/>
                <a:ea typeface="Inter" pitchFamily="34" charset="-122"/>
                <a:cs typeface="Inter" pitchFamily="34" charset="-120"/>
              </a:rPr>
              <a:t>Transactional and marketing consent split</a:t>
            </a:r>
            <a:endParaRPr lang="en-US" sz="950" dirty="0"/>
          </a:p>
          <a:p>
            <a:pPr indent="0" marL="0">
              <a:buNone/>
            </a:pPr>
            <a:r>
              <a:rPr lang="en-US" sz="950" b="1" dirty="0">
                <a:solidFill>
                  <a:srgbClr val="D97706"/>
                </a:solidFill>
                <a:latin typeface="Inter" pitchFamily="34" charset="0"/>
                <a:ea typeface="Inter" pitchFamily="34" charset="-122"/>
                <a:cs typeface="Inter" pitchFamily="34" charset="-120"/>
              </a:rPr>
              <a:t>Early warning: </a:t>
            </a:r>
            <a:pPr indent="0" marL="0">
              <a:buNone/>
            </a:pPr>
            <a:r>
              <a:rPr lang="en-US" sz="950" dirty="0">
                <a:solidFill>
                  <a:srgbClr val="0F172A"/>
                </a:solidFill>
                <a:latin typeface="Inter" pitchFamily="34" charset="0"/>
                <a:ea typeface="Inter" pitchFamily="34" charset="-122"/>
                <a:cs typeface="Inter" pitchFamily="34" charset="-120"/>
              </a:rPr>
              <a:t>consent complaints</a:t>
            </a:r>
            <a:endParaRPr lang="en-US" sz="950" dirty="0"/>
          </a:p>
        </p:txBody>
      </p:sp>
      <p:sp>
        <p:nvSpPr>
          <p:cNvPr id="54" name="Shape 51"/>
          <p:cNvSpPr/>
          <p:nvPr/>
        </p:nvSpPr>
        <p:spPr>
          <a:xfrm>
            <a:off x="4206240" y="3401568"/>
            <a:ext cx="329184" cy="329184"/>
          </a:xfrm>
          <a:prstGeom prst="ellipse">
            <a:avLst/>
          </a:prstGeom>
          <a:solidFill>
            <a:srgbClr val="0A1F44"/>
          </a:solidFill>
          <a:ln w="6350">
            <a:solidFill>
              <a:srgbClr val="0A1F44"/>
            </a:solidFill>
            <a:prstDash val="solid"/>
          </a:ln>
        </p:spPr>
      </p:sp>
      <p:sp>
        <p:nvSpPr>
          <p:cNvPr id="55" name="Text 52"/>
          <p:cNvSpPr txBox="1"/>
          <p:nvPr/>
        </p:nvSpPr>
        <p:spPr>
          <a:xfrm>
            <a:off x="4206240" y="3401568"/>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5</a:t>
            </a:r>
            <a:endParaRPr lang="en-US" sz="1200" dirty="0"/>
          </a:p>
        </p:txBody>
      </p:sp>
      <p:sp>
        <p:nvSpPr>
          <p:cNvPr id="56" name="Text 53"/>
          <p:cNvSpPr txBox="1"/>
          <p:nvPr/>
        </p:nvSpPr>
        <p:spPr>
          <a:xfrm>
            <a:off x="4663440" y="3346704"/>
            <a:ext cx="2743200" cy="457200"/>
          </a:xfrm>
          <a:prstGeom prst="rect">
            <a:avLst/>
          </a:prstGeom>
          <a:noFill/>
          <a:ln/>
        </p:spPr>
        <p:txBody>
          <a:bodyPr wrap="square" lIns="0" tIns="0" rIns="0" bIns="0" rtlCol="0" anchor="ctr"/>
          <a:lstStyle/>
          <a:p>
            <a:pPr indent="0" marL="0">
              <a:buNone/>
            </a:pPr>
            <a:r>
              <a:rPr lang="en-US" sz="1100" b="1" dirty="0">
                <a:solidFill>
                  <a:srgbClr val="0A1F44"/>
                </a:solidFill>
                <a:latin typeface="Inter" pitchFamily="34" charset="0"/>
                <a:ea typeface="Inter" pitchFamily="34" charset="-122"/>
                <a:cs typeface="Inter" pitchFamily="34" charset="-120"/>
              </a:rPr>
              <a:t>The Fitting Room doesn't pay back</a:t>
            </a:r>
            <a:endParaRPr lang="en-US" sz="1100" dirty="0"/>
          </a:p>
        </p:txBody>
      </p:sp>
      <p:sp>
        <p:nvSpPr>
          <p:cNvPr id="57" name="Text 54"/>
          <p:cNvSpPr txBox="1"/>
          <p:nvPr/>
        </p:nvSpPr>
        <p:spPr>
          <a:xfrm>
            <a:off x="7498080" y="3346704"/>
            <a:ext cx="4187952" cy="457200"/>
          </a:xfrm>
          <a:prstGeom prst="rect">
            <a:avLst/>
          </a:prstGeom>
          <a:noFill/>
          <a:ln/>
        </p:spPr>
        <p:txBody>
          <a:bodyPr wrap="square" lIns="0" tIns="0" rIns="0" bIns="0" rtlCol="0" anchor="ctr"/>
          <a:lstStyle/>
          <a:p>
            <a:pPr indent="0" marL="0">
              <a:buNone/>
            </a:pPr>
            <a:r>
              <a:rPr lang="en-US" sz="950" b="1" dirty="0">
                <a:solidFill>
                  <a:srgbClr val="1D4ED8"/>
                </a:solidFill>
                <a:latin typeface="Inter" pitchFamily="34" charset="0"/>
                <a:ea typeface="Inter" pitchFamily="34" charset="-122"/>
                <a:cs typeface="Inter" pitchFamily="34" charset="-120"/>
              </a:rPr>
              <a:t>Mitigation: </a:t>
            </a:r>
            <a:pPr indent="0" marL="0">
              <a:buNone/>
            </a:pPr>
            <a:r>
              <a:rPr lang="en-US" sz="950" dirty="0">
                <a:solidFill>
                  <a:srgbClr val="0F172A"/>
                </a:solidFill>
                <a:latin typeface="Inter" pitchFamily="34" charset="0"/>
                <a:ea typeface="Inter" pitchFamily="34" charset="-122"/>
                <a:cs typeface="Inter" pitchFamily="34" charset="-120"/>
              </a:rPr>
              <a:t>One-season test</a:t>
            </a:r>
            <a:endParaRPr lang="en-US" sz="950" dirty="0"/>
          </a:p>
          <a:p>
            <a:pPr indent="0" marL="0">
              <a:buNone/>
            </a:pPr>
            <a:r>
              <a:rPr lang="en-US" sz="950" b="1" dirty="0">
                <a:solidFill>
                  <a:srgbClr val="D97706"/>
                </a:solidFill>
                <a:latin typeface="Inter" pitchFamily="34" charset="0"/>
                <a:ea typeface="Inter" pitchFamily="34" charset="-122"/>
                <a:cs typeface="Inter" pitchFamily="34" charset="-120"/>
              </a:rPr>
              <a:t>Early warning: </a:t>
            </a:r>
            <a:pPr indent="0" marL="0">
              <a:buNone/>
            </a:pPr>
            <a:r>
              <a:rPr lang="en-US" sz="950" dirty="0">
                <a:solidFill>
                  <a:srgbClr val="0F172A"/>
                </a:solidFill>
                <a:latin typeface="Inter" pitchFamily="34" charset="0"/>
                <a:ea typeface="Inter" pitchFamily="34" charset="-122"/>
                <a:cs typeface="Inter" pitchFamily="34" charset="-120"/>
              </a:rPr>
              <a:t>attendee repeat no better than a matched holdout</a:t>
            </a:r>
            <a:endParaRPr lang="en-US" sz="950" dirty="0"/>
          </a:p>
        </p:txBody>
      </p:sp>
      <p:sp>
        <p:nvSpPr>
          <p:cNvPr id="58" name="Shape 55"/>
          <p:cNvSpPr/>
          <p:nvPr/>
        </p:nvSpPr>
        <p:spPr>
          <a:xfrm>
            <a:off x="4206240" y="3922776"/>
            <a:ext cx="329184" cy="329184"/>
          </a:xfrm>
          <a:prstGeom prst="ellipse">
            <a:avLst/>
          </a:prstGeom>
          <a:solidFill>
            <a:srgbClr val="0A1F44"/>
          </a:solidFill>
          <a:ln w="6350">
            <a:solidFill>
              <a:srgbClr val="0A1F44"/>
            </a:solidFill>
            <a:prstDash val="solid"/>
          </a:ln>
        </p:spPr>
      </p:sp>
      <p:sp>
        <p:nvSpPr>
          <p:cNvPr id="59" name="Text 56"/>
          <p:cNvSpPr txBox="1"/>
          <p:nvPr/>
        </p:nvSpPr>
        <p:spPr>
          <a:xfrm>
            <a:off x="4206240" y="3922776"/>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6</a:t>
            </a:r>
            <a:endParaRPr lang="en-US" sz="1200" dirty="0"/>
          </a:p>
        </p:txBody>
      </p:sp>
      <p:sp>
        <p:nvSpPr>
          <p:cNvPr id="60" name="Text 57"/>
          <p:cNvSpPr txBox="1"/>
          <p:nvPr/>
        </p:nvSpPr>
        <p:spPr>
          <a:xfrm>
            <a:off x="4663440" y="3867912"/>
            <a:ext cx="2743200" cy="457200"/>
          </a:xfrm>
          <a:prstGeom prst="rect">
            <a:avLst/>
          </a:prstGeom>
          <a:noFill/>
          <a:ln/>
        </p:spPr>
        <p:txBody>
          <a:bodyPr wrap="square" lIns="0" tIns="0" rIns="0" bIns="0" rtlCol="0" anchor="ctr"/>
          <a:lstStyle/>
          <a:p>
            <a:pPr indent="0" marL="0">
              <a:buNone/>
            </a:pPr>
            <a:r>
              <a:rPr lang="en-US" sz="1100" b="1" dirty="0">
                <a:solidFill>
                  <a:srgbClr val="0A1F44"/>
                </a:solidFill>
                <a:latin typeface="Inter" pitchFamily="34" charset="0"/>
                <a:ea typeface="Inter" pitchFamily="34" charset="-122"/>
                <a:cs typeface="Inter" pitchFamily="34" charset="-120"/>
              </a:rPr>
              <a:t>Platform or signal shock</a:t>
            </a:r>
            <a:endParaRPr lang="en-US" sz="1100" dirty="0"/>
          </a:p>
        </p:txBody>
      </p:sp>
      <p:sp>
        <p:nvSpPr>
          <p:cNvPr id="61" name="Text 58"/>
          <p:cNvSpPr txBox="1"/>
          <p:nvPr/>
        </p:nvSpPr>
        <p:spPr>
          <a:xfrm>
            <a:off x="7498080" y="3867912"/>
            <a:ext cx="4187952" cy="457200"/>
          </a:xfrm>
          <a:prstGeom prst="rect">
            <a:avLst/>
          </a:prstGeom>
          <a:noFill/>
          <a:ln/>
        </p:spPr>
        <p:txBody>
          <a:bodyPr wrap="square" lIns="0" tIns="0" rIns="0" bIns="0" rtlCol="0" anchor="ctr"/>
          <a:lstStyle/>
          <a:p>
            <a:pPr indent="0" marL="0">
              <a:buNone/>
            </a:pPr>
            <a:r>
              <a:rPr lang="en-US" sz="950" b="1" dirty="0">
                <a:solidFill>
                  <a:srgbClr val="1D4ED8"/>
                </a:solidFill>
                <a:latin typeface="Inter" pitchFamily="34" charset="0"/>
                <a:ea typeface="Inter" pitchFamily="34" charset="-122"/>
                <a:cs typeface="Inter" pitchFamily="34" charset="-120"/>
              </a:rPr>
              <a:t>Mitigation: </a:t>
            </a:r>
            <a:pPr indent="0" marL="0">
              <a:buNone/>
            </a:pPr>
            <a:r>
              <a:rPr lang="en-US" sz="950" dirty="0">
                <a:solidFill>
                  <a:srgbClr val="0F172A"/>
                </a:solidFill>
                <a:latin typeface="Inter" pitchFamily="34" charset="0"/>
                <a:ea typeface="Inter" pitchFamily="34" charset="-122"/>
                <a:cs typeface="Inter" pitchFamily="34" charset="-120"/>
              </a:rPr>
              <a:t>More owned reach; first-party lists</a:t>
            </a:r>
            <a:endParaRPr lang="en-US" sz="950" dirty="0"/>
          </a:p>
          <a:p>
            <a:pPr indent="0" marL="0">
              <a:buNone/>
            </a:pPr>
            <a:r>
              <a:rPr lang="en-US" sz="950" b="1" dirty="0">
                <a:solidFill>
                  <a:srgbClr val="D97706"/>
                </a:solidFill>
                <a:latin typeface="Inter" pitchFamily="34" charset="0"/>
                <a:ea typeface="Inter" pitchFamily="34" charset="-122"/>
                <a:cs typeface="Inter" pitchFamily="34" charset="-120"/>
              </a:rPr>
              <a:t>Early warning: </a:t>
            </a:r>
            <a:pPr indent="0" marL="0">
              <a:buNone/>
            </a:pPr>
            <a:r>
              <a:rPr lang="en-US" sz="950" dirty="0">
                <a:solidFill>
                  <a:srgbClr val="0F172A"/>
                </a:solidFill>
                <a:latin typeface="Inter" pitchFamily="34" charset="0"/>
                <a:ea typeface="Inter" pitchFamily="34" charset="-122"/>
                <a:cs typeface="Inter" pitchFamily="34" charset="-120"/>
              </a:rPr>
              <a:t>CPM or match-rate drop</a:t>
            </a:r>
            <a:endParaRPr lang="en-US" sz="950" dirty="0"/>
          </a:p>
        </p:txBody>
      </p:sp>
      <p:sp>
        <p:nvSpPr>
          <p:cNvPr id="62" name="Shape 59"/>
          <p:cNvSpPr/>
          <p:nvPr/>
        </p:nvSpPr>
        <p:spPr>
          <a:xfrm>
            <a:off x="4206240" y="4443984"/>
            <a:ext cx="329184" cy="329184"/>
          </a:xfrm>
          <a:prstGeom prst="ellipse">
            <a:avLst/>
          </a:prstGeom>
          <a:solidFill>
            <a:srgbClr val="0A1F44"/>
          </a:solidFill>
          <a:ln w="6350">
            <a:solidFill>
              <a:srgbClr val="0A1F44"/>
            </a:solidFill>
            <a:prstDash val="solid"/>
          </a:ln>
        </p:spPr>
      </p:sp>
      <p:sp>
        <p:nvSpPr>
          <p:cNvPr id="63" name="Text 60"/>
          <p:cNvSpPr txBox="1"/>
          <p:nvPr/>
        </p:nvSpPr>
        <p:spPr>
          <a:xfrm>
            <a:off x="4206240" y="4443984"/>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7</a:t>
            </a:r>
            <a:endParaRPr lang="en-US" sz="1200" dirty="0"/>
          </a:p>
        </p:txBody>
      </p:sp>
      <p:sp>
        <p:nvSpPr>
          <p:cNvPr id="64" name="Text 61"/>
          <p:cNvSpPr txBox="1"/>
          <p:nvPr/>
        </p:nvSpPr>
        <p:spPr>
          <a:xfrm>
            <a:off x="4663440" y="4389120"/>
            <a:ext cx="2743200" cy="457200"/>
          </a:xfrm>
          <a:prstGeom prst="rect">
            <a:avLst/>
          </a:prstGeom>
          <a:noFill/>
          <a:ln/>
        </p:spPr>
        <p:txBody>
          <a:bodyPr wrap="square" lIns="0" tIns="0" rIns="0" bIns="0" rtlCol="0" anchor="ctr"/>
          <a:lstStyle/>
          <a:p>
            <a:pPr indent="0" marL="0">
              <a:buNone/>
            </a:pPr>
            <a:r>
              <a:rPr lang="en-US" sz="1100" b="1" dirty="0">
                <a:solidFill>
                  <a:srgbClr val="0A1F44"/>
                </a:solidFill>
                <a:latin typeface="Inter" pitchFamily="34" charset="0"/>
                <a:ea typeface="Inter" pitchFamily="34" charset="-122"/>
                <a:cs typeface="Inter" pitchFamily="34" charset="-120"/>
              </a:rPr>
              <a:t>Creative fatigue</a:t>
            </a:r>
            <a:endParaRPr lang="en-US" sz="1100" dirty="0"/>
          </a:p>
        </p:txBody>
      </p:sp>
      <p:sp>
        <p:nvSpPr>
          <p:cNvPr id="65" name="Text 62"/>
          <p:cNvSpPr txBox="1"/>
          <p:nvPr/>
        </p:nvSpPr>
        <p:spPr>
          <a:xfrm>
            <a:off x="7498080" y="4389120"/>
            <a:ext cx="4187952" cy="457200"/>
          </a:xfrm>
          <a:prstGeom prst="rect">
            <a:avLst/>
          </a:prstGeom>
          <a:noFill/>
          <a:ln/>
        </p:spPr>
        <p:txBody>
          <a:bodyPr wrap="square" lIns="0" tIns="0" rIns="0" bIns="0" rtlCol="0" anchor="ctr"/>
          <a:lstStyle/>
          <a:p>
            <a:pPr indent="0" marL="0">
              <a:buNone/>
            </a:pPr>
            <a:r>
              <a:rPr lang="en-US" sz="950" b="1" dirty="0">
                <a:solidFill>
                  <a:srgbClr val="1D4ED8"/>
                </a:solidFill>
                <a:latin typeface="Inter" pitchFamily="34" charset="0"/>
                <a:ea typeface="Inter" pitchFamily="34" charset="-122"/>
                <a:cs typeface="Inter" pitchFamily="34" charset="-120"/>
              </a:rPr>
              <a:t>Mitigation: </a:t>
            </a:r>
            <a:pPr indent="0" marL="0">
              <a:buNone/>
            </a:pPr>
            <a:r>
              <a:rPr lang="en-US" sz="950" dirty="0">
                <a:solidFill>
                  <a:srgbClr val="0F172A"/>
                </a:solidFill>
                <a:latin typeface="Inter" pitchFamily="34" charset="0"/>
                <a:ea typeface="Inter" pitchFamily="34" charset="-122"/>
                <a:cs typeface="Inter" pitchFamily="34" charset="-120"/>
              </a:rPr>
              <a:t>Fresh creative funded by Option A</a:t>
            </a:r>
            <a:endParaRPr lang="en-US" sz="950" dirty="0"/>
          </a:p>
          <a:p>
            <a:pPr indent="0" marL="0">
              <a:buNone/>
            </a:pPr>
            <a:r>
              <a:rPr lang="en-US" sz="950" b="1" dirty="0">
                <a:solidFill>
                  <a:srgbClr val="D97706"/>
                </a:solidFill>
                <a:latin typeface="Inter" pitchFamily="34" charset="0"/>
                <a:ea typeface="Inter" pitchFamily="34" charset="-122"/>
                <a:cs typeface="Inter" pitchFamily="34" charset="-120"/>
              </a:rPr>
              <a:t>Early warning: </a:t>
            </a:r>
            <a:pPr indent="0" marL="0">
              <a:buNone/>
            </a:pPr>
            <a:r>
              <a:rPr lang="en-US" sz="950" dirty="0">
                <a:solidFill>
                  <a:srgbClr val="0F172A"/>
                </a:solidFill>
                <a:latin typeface="Inter" pitchFamily="34" charset="0"/>
                <a:ea typeface="Inter" pitchFamily="34" charset="-122"/>
                <a:cs typeface="Inter" pitchFamily="34" charset="-120"/>
              </a:rPr>
              <a:t>falling click and conversion rates</a:t>
            </a:r>
            <a:endParaRPr lang="en-US" sz="950" dirty="0"/>
          </a:p>
        </p:txBody>
      </p:sp>
      <p:sp>
        <p:nvSpPr>
          <p:cNvPr id="66" name="Shape 63"/>
          <p:cNvSpPr/>
          <p:nvPr/>
        </p:nvSpPr>
        <p:spPr>
          <a:xfrm>
            <a:off x="4206240" y="4965192"/>
            <a:ext cx="329184" cy="329184"/>
          </a:xfrm>
          <a:prstGeom prst="ellipse">
            <a:avLst/>
          </a:prstGeom>
          <a:solidFill>
            <a:srgbClr val="0A1F44"/>
          </a:solidFill>
          <a:ln w="6350">
            <a:solidFill>
              <a:srgbClr val="0A1F44"/>
            </a:solidFill>
            <a:prstDash val="solid"/>
          </a:ln>
        </p:spPr>
      </p:sp>
      <p:sp>
        <p:nvSpPr>
          <p:cNvPr id="67" name="Text 64"/>
          <p:cNvSpPr txBox="1"/>
          <p:nvPr/>
        </p:nvSpPr>
        <p:spPr>
          <a:xfrm>
            <a:off x="4206240" y="4965192"/>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8</a:t>
            </a:r>
            <a:endParaRPr lang="en-US" sz="1200" dirty="0"/>
          </a:p>
        </p:txBody>
      </p:sp>
      <p:sp>
        <p:nvSpPr>
          <p:cNvPr id="68" name="Text 65"/>
          <p:cNvSpPr txBox="1"/>
          <p:nvPr/>
        </p:nvSpPr>
        <p:spPr>
          <a:xfrm>
            <a:off x="4663440" y="4910328"/>
            <a:ext cx="2743200" cy="457200"/>
          </a:xfrm>
          <a:prstGeom prst="rect">
            <a:avLst/>
          </a:prstGeom>
          <a:noFill/>
          <a:ln/>
        </p:spPr>
        <p:txBody>
          <a:bodyPr wrap="square" lIns="0" tIns="0" rIns="0" bIns="0" rtlCol="0" anchor="ctr"/>
          <a:lstStyle/>
          <a:p>
            <a:pPr indent="0" marL="0">
              <a:buNone/>
            </a:pPr>
            <a:r>
              <a:rPr lang="en-US" sz="1100" b="1" dirty="0">
                <a:solidFill>
                  <a:srgbClr val="0A1F44"/>
                </a:solidFill>
                <a:latin typeface="Inter" pitchFamily="34" charset="0"/>
                <a:ea typeface="Inter" pitchFamily="34" charset="-122"/>
                <a:cs typeface="Inter" pitchFamily="34" charset="-120"/>
              </a:rPr>
              <a:t>Fewer new customers</a:t>
            </a:r>
            <a:endParaRPr lang="en-US" sz="1100" dirty="0"/>
          </a:p>
        </p:txBody>
      </p:sp>
      <p:sp>
        <p:nvSpPr>
          <p:cNvPr id="69" name="Text 66"/>
          <p:cNvSpPr txBox="1"/>
          <p:nvPr/>
        </p:nvSpPr>
        <p:spPr>
          <a:xfrm>
            <a:off x="7498080" y="4910328"/>
            <a:ext cx="4187952" cy="457200"/>
          </a:xfrm>
          <a:prstGeom prst="rect">
            <a:avLst/>
          </a:prstGeom>
          <a:noFill/>
          <a:ln/>
        </p:spPr>
        <p:txBody>
          <a:bodyPr wrap="square" lIns="0" tIns="0" rIns="0" bIns="0" rtlCol="0" anchor="ctr"/>
          <a:lstStyle/>
          <a:p>
            <a:pPr indent="0" marL="0">
              <a:buNone/>
            </a:pPr>
            <a:r>
              <a:rPr lang="en-US" sz="950" b="1" dirty="0">
                <a:solidFill>
                  <a:srgbClr val="1D4ED8"/>
                </a:solidFill>
                <a:latin typeface="Inter" pitchFamily="34" charset="0"/>
                <a:ea typeface="Inter" pitchFamily="34" charset="-122"/>
                <a:cs typeface="Inter" pitchFamily="34" charset="-120"/>
              </a:rPr>
              <a:t>Mitigation: </a:t>
            </a:r>
            <a:pPr indent="0" marL="0">
              <a:buNone/>
            </a:pPr>
            <a:r>
              <a:rPr lang="en-US" sz="950" dirty="0">
                <a:solidFill>
                  <a:srgbClr val="0F172A"/>
                </a:solidFill>
                <a:latin typeface="Inter" pitchFamily="34" charset="0"/>
                <a:ea typeface="Inter" pitchFamily="34" charset="-122"/>
                <a:cs typeface="Inter" pitchFamily="34" charset="-120"/>
              </a:rPr>
              <a:t>Prospecting budget unchanged; exclusions tested</a:t>
            </a:r>
            <a:endParaRPr lang="en-US" sz="950" dirty="0"/>
          </a:p>
          <a:p>
            <a:pPr indent="0" marL="0">
              <a:buNone/>
            </a:pPr>
            <a:r>
              <a:rPr lang="en-US" sz="950" b="1" dirty="0">
                <a:solidFill>
                  <a:srgbClr val="D97706"/>
                </a:solidFill>
                <a:latin typeface="Inter" pitchFamily="34" charset="0"/>
                <a:ea typeface="Inter" pitchFamily="34" charset="-122"/>
                <a:cs typeface="Inter" pitchFamily="34" charset="-120"/>
              </a:rPr>
              <a:t>Early warning: </a:t>
            </a:r>
            <a:pPr indent="0" marL="0">
              <a:buNone/>
            </a:pPr>
            <a:r>
              <a:rPr lang="en-US" sz="950" dirty="0">
                <a:solidFill>
                  <a:srgbClr val="0F172A"/>
                </a:solidFill>
                <a:latin typeface="Inter" pitchFamily="34" charset="0"/>
                <a:ea typeface="Inter" pitchFamily="34" charset="-122"/>
                <a:cs typeface="Inter" pitchFamily="34" charset="-120"/>
              </a:rPr>
              <a:t>weekly new customers vs plan</a:t>
            </a:r>
            <a:endParaRPr lang="en-US" sz="950" dirty="0"/>
          </a:p>
        </p:txBody>
      </p:sp>
      <p:sp>
        <p:nvSpPr>
          <p:cNvPr id="70" name="Shape 67"/>
          <p:cNvSpPr/>
          <p:nvPr/>
        </p:nvSpPr>
        <p:spPr>
          <a:xfrm>
            <a:off x="4206240" y="5486400"/>
            <a:ext cx="329184" cy="329184"/>
          </a:xfrm>
          <a:prstGeom prst="ellipse">
            <a:avLst/>
          </a:prstGeom>
          <a:solidFill>
            <a:srgbClr val="0A1F44"/>
          </a:solidFill>
          <a:ln w="6350">
            <a:solidFill>
              <a:srgbClr val="0A1F44"/>
            </a:solidFill>
            <a:prstDash val="solid"/>
          </a:ln>
        </p:spPr>
      </p:sp>
      <p:sp>
        <p:nvSpPr>
          <p:cNvPr id="71" name="Text 68"/>
          <p:cNvSpPr txBox="1"/>
          <p:nvPr/>
        </p:nvSpPr>
        <p:spPr>
          <a:xfrm>
            <a:off x="4206240" y="548640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9</a:t>
            </a:r>
            <a:endParaRPr lang="en-US" sz="1200" dirty="0"/>
          </a:p>
        </p:txBody>
      </p:sp>
      <p:sp>
        <p:nvSpPr>
          <p:cNvPr id="72" name="Text 69"/>
          <p:cNvSpPr txBox="1"/>
          <p:nvPr/>
        </p:nvSpPr>
        <p:spPr>
          <a:xfrm>
            <a:off x="4663440" y="5431536"/>
            <a:ext cx="2743200" cy="457200"/>
          </a:xfrm>
          <a:prstGeom prst="rect">
            <a:avLst/>
          </a:prstGeom>
          <a:noFill/>
          <a:ln/>
        </p:spPr>
        <p:txBody>
          <a:bodyPr wrap="square" lIns="0" tIns="0" rIns="0" bIns="0" rtlCol="0" anchor="ctr"/>
          <a:lstStyle/>
          <a:p>
            <a:pPr indent="0" marL="0">
              <a:buNone/>
            </a:pPr>
            <a:r>
              <a:rPr lang="en-US" sz="1100" b="1" dirty="0">
                <a:solidFill>
                  <a:srgbClr val="0A1F44"/>
                </a:solidFill>
                <a:latin typeface="Inter" pitchFamily="34" charset="0"/>
                <a:ea typeface="Inter" pitchFamily="34" charset="-122"/>
                <a:cs typeface="Inter" pitchFamily="34" charset="-120"/>
              </a:rPr>
              <a:t>Activation set-up slips</a:t>
            </a:r>
            <a:endParaRPr lang="en-US" sz="1100" dirty="0"/>
          </a:p>
        </p:txBody>
      </p:sp>
      <p:sp>
        <p:nvSpPr>
          <p:cNvPr id="73" name="Text 70"/>
          <p:cNvSpPr txBox="1"/>
          <p:nvPr/>
        </p:nvSpPr>
        <p:spPr>
          <a:xfrm>
            <a:off x="7498080" y="5431536"/>
            <a:ext cx="4187952" cy="457200"/>
          </a:xfrm>
          <a:prstGeom prst="rect">
            <a:avLst/>
          </a:prstGeom>
          <a:noFill/>
          <a:ln/>
        </p:spPr>
        <p:txBody>
          <a:bodyPr wrap="square" lIns="0" tIns="0" rIns="0" bIns="0" rtlCol="0" anchor="ctr"/>
          <a:lstStyle/>
          <a:p>
            <a:pPr indent="0" marL="0">
              <a:buNone/>
            </a:pPr>
            <a:r>
              <a:rPr lang="en-US" sz="950" b="1" dirty="0">
                <a:solidFill>
                  <a:srgbClr val="1D4ED8"/>
                </a:solidFill>
                <a:latin typeface="Inter" pitchFamily="34" charset="0"/>
                <a:ea typeface="Inter" pitchFamily="34" charset="-122"/>
                <a:cs typeface="Inter" pitchFamily="34" charset="-120"/>
              </a:rPr>
              <a:t>Mitigation: </a:t>
            </a:r>
            <a:pPr indent="0" marL="0">
              <a:buNone/>
            </a:pPr>
            <a:r>
              <a:rPr lang="en-US" sz="950" dirty="0">
                <a:solidFill>
                  <a:srgbClr val="0F172A"/>
                </a:solidFill>
                <a:latin typeface="Inter" pitchFamily="34" charset="0"/>
                <a:ea typeface="Inter" pitchFamily="34" charset="-122"/>
                <a:cs typeface="Inter" pitchFamily="34" charset="-120"/>
              </a:rPr>
              <a:t>Start in month 0; manual list upload as fallback</a:t>
            </a:r>
            <a:endParaRPr lang="en-US" sz="950" dirty="0"/>
          </a:p>
          <a:p>
            <a:pPr indent="0" marL="0">
              <a:buNone/>
            </a:pPr>
            <a:r>
              <a:rPr lang="en-US" sz="950" b="1" dirty="0">
                <a:solidFill>
                  <a:srgbClr val="D97706"/>
                </a:solidFill>
                <a:latin typeface="Inter" pitchFamily="34" charset="0"/>
                <a:ea typeface="Inter" pitchFamily="34" charset="-122"/>
                <a:cs typeface="Inter" pitchFamily="34" charset="-120"/>
              </a:rPr>
              <a:t>Early warning: </a:t>
            </a:r>
            <a:pPr indent="0" marL="0">
              <a:buNone/>
            </a:pPr>
            <a:r>
              <a:rPr lang="en-US" sz="950" dirty="0">
                <a:solidFill>
                  <a:srgbClr val="0F172A"/>
                </a:solidFill>
                <a:latin typeface="Inter" pitchFamily="34" charset="0"/>
                <a:ea typeface="Inter" pitchFamily="34" charset="-122"/>
                <a:cs typeface="Inter" pitchFamily="34" charset="-120"/>
              </a:rPr>
              <a:t>suppression lists not live by week 6</a:t>
            </a:r>
            <a:endParaRPr lang="en-US" sz="9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9326880" cy="841248"/>
          </a:xfrm>
          <a:prstGeom prst="rect">
            <a:avLst/>
          </a:prstGeom>
          <a:noFill/>
          <a:ln/>
        </p:spPr>
        <p:txBody>
          <a:bodyPr wrap="square" lIns="0" tIns="0" rIns="0" bIns="0" rtlCol="0" anchor="ctr"/>
          <a:lstStyle/>
          <a:p>
            <a:pPr indent="0" marL="0">
              <a:buNone/>
            </a:pPr>
            <a:r>
              <a:rPr lang="en-US" sz="2400" b="1" dirty="0">
                <a:solidFill>
                  <a:srgbClr val="0A1F44"/>
                </a:solidFill>
                <a:latin typeface="Inter" pitchFamily="34" charset="0"/>
                <a:ea typeface="Inter" pitchFamily="34" charset="-122"/>
                <a:cs typeface="Inter" pitchFamily="34" charset="-120"/>
              </a:rPr>
              <a:t>Every number in this deck, and where it comes from</a:t>
            </a:r>
            <a:endParaRPr lang="en-US" sz="2400" dirty="0"/>
          </a:p>
        </p:txBody>
      </p:sp>
      <p:pic>
        <p:nvPicPr>
          <p:cNvPr id="3" name="Image 0" descr="/tmp/claude-0/-home-user-Quince/7efe80ae-a049-50c2-9886-98bf7ca3a04a/scratchpad/assets/quince.png">    </p:cNvPr>
          <p:cNvPicPr>
            <a:picLocks noChangeAspect="1"/>
          </p:cNvPicPr>
          <p:nvPr/>
        </p:nvPicPr>
        <p:blipFill>
          <a:blip r:embed="rId1"/>
          <a:stretch>
            <a:fillRect/>
          </a:stretch>
        </p:blipFill>
        <p:spPr>
          <a:xfrm>
            <a:off x="10236708" y="615544"/>
            <a:ext cx="777240" cy="231951"/>
          </a:xfrm>
          <a:prstGeom prst="rect">
            <a:avLst/>
          </a:prstGeom>
        </p:spPr>
      </p:pic>
      <p:sp>
        <p:nvSpPr>
          <p:cNvPr id="4" name="Shape 1"/>
          <p:cNvSpPr/>
          <p:nvPr/>
        </p:nvSpPr>
        <p:spPr>
          <a:xfrm>
            <a:off x="11155680" y="603504"/>
            <a:ext cx="530352" cy="256032"/>
          </a:xfrm>
          <a:prstGeom prst="roundRect">
            <a:avLst>
              <a:gd name="adj" fmla="val 50000"/>
            </a:avLst>
          </a:prstGeom>
          <a:solidFill>
            <a:srgbClr val="0A1F44"/>
          </a:solidFill>
          <a:ln w="6350">
            <a:solidFill>
              <a:srgbClr val="0A1F44"/>
            </a:solidFill>
            <a:prstDash val="solid"/>
          </a:ln>
        </p:spPr>
      </p:sp>
      <p:sp>
        <p:nvSpPr>
          <p:cNvPr id="5" name="Text 2"/>
          <p:cNvSpPr txBox="1"/>
          <p:nvPr/>
        </p:nvSpPr>
        <p:spPr>
          <a:xfrm>
            <a:off x="11155680" y="603504"/>
            <a:ext cx="530352"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Inter" pitchFamily="34" charset="0"/>
                <a:ea typeface="Inter" pitchFamily="34" charset="-122"/>
                <a:cs typeface="Inter" pitchFamily="34" charset="-120"/>
              </a:rPr>
              <a:t>G27</a:t>
            </a:r>
            <a:endParaRPr lang="en-US" sz="950" dirty="0"/>
          </a:p>
        </p:txBody>
      </p:sp>
      <p:sp>
        <p:nvSpPr>
          <p:cNvPr id="6" name="Shape 3"/>
          <p:cNvSpPr/>
          <p:nvPr/>
        </p:nvSpPr>
        <p:spPr>
          <a:xfrm>
            <a:off x="502920" y="6400800"/>
            <a:ext cx="11183112" cy="0"/>
          </a:xfrm>
          <a:prstGeom prst="line">
            <a:avLst/>
          </a:prstGeom>
          <a:noFill/>
          <a:ln w="9525">
            <a:solidFill>
              <a:srgbClr val="E2E8F0"/>
            </a:solidFill>
            <a:prstDash val="solid"/>
          </a:ln>
        </p:spPr>
      </p:sp>
      <p:sp>
        <p:nvSpPr>
          <p:cNvPr id="7" name="Text 4"/>
          <p:cNvSpPr txBox="1"/>
          <p:nvPr/>
        </p:nvSpPr>
        <p:spPr>
          <a:xfrm>
            <a:off x="502920" y="6464808"/>
            <a:ext cx="9418320" cy="256032"/>
          </a:xfrm>
          <a:prstGeom prst="rect">
            <a:avLst/>
          </a:prstGeom>
          <a:noFill/>
          <a:ln/>
        </p:spPr>
        <p:txBody>
          <a:bodyPr wrap="square" lIns="0" tIns="0" rIns="0" bIns="0" rtlCol="0" anchor="ctr"/>
          <a:lstStyle/>
          <a:p>
            <a:pPr indent="0" marL="0">
              <a:buNone/>
            </a:pPr>
            <a:r>
              <a:rPr lang="en-US" sz="800" dirty="0">
                <a:solidFill>
                  <a:srgbClr val="64748B"/>
                </a:solidFill>
                <a:latin typeface="Inter" pitchFamily="34" charset="0"/>
                <a:ea typeface="Inter" pitchFamily="34" charset="-122"/>
                <a:cs typeface="Inter" pitchFamily="34" charset="-120"/>
              </a:rPr>
              <a:t>Case figures are the packet's illustrative estimates, never Quince disclosures. CJA figures come from the team's sandbox, 60,000 people, 1 Jan–30 Apr 2026.</a:t>
            </a:r>
            <a:endParaRPr lang="en-US" sz="800" dirty="0"/>
          </a:p>
        </p:txBody>
      </p:sp>
      <p:sp>
        <p:nvSpPr>
          <p:cNvPr id="8" name="Text 5"/>
          <p:cNvSpPr txBox="1"/>
          <p:nvPr/>
        </p:nvSpPr>
        <p:spPr>
          <a:xfrm>
            <a:off x="9966960" y="6464808"/>
            <a:ext cx="1719072" cy="256032"/>
          </a:xfrm>
          <a:prstGeom prst="rect">
            <a:avLst/>
          </a:prstGeom>
          <a:noFill/>
          <a:ln/>
        </p:spPr>
        <p:txBody>
          <a:bodyPr wrap="square" lIns="0" tIns="0" rIns="0" bIns="0" rtlCol="0" anchor="ctr"/>
          <a:lstStyle/>
          <a:p>
            <a:pPr algn="r" indent="0" marL="0">
              <a:buNone/>
            </a:pPr>
            <a:r>
              <a:rPr lang="en-US" sz="800" dirty="0">
                <a:solidFill>
                  <a:srgbClr val="64748B"/>
                </a:solidFill>
                <a:latin typeface="Inter" pitchFamily="34" charset="0"/>
                <a:ea typeface="Inter" pitchFamily="34" charset="-122"/>
                <a:cs typeface="Inter" pitchFamily="34" charset="-120"/>
              </a:rPr>
              <a:t>Team G27  ·  26</a:t>
            </a:r>
            <a:endParaRPr lang="en-US" sz="800" dirty="0"/>
          </a:p>
        </p:txBody>
      </p:sp>
      <p:sp>
        <p:nvSpPr>
          <p:cNvPr id="9" name="Shape 6"/>
          <p:cNvSpPr/>
          <p:nvPr/>
        </p:nvSpPr>
        <p:spPr>
          <a:xfrm>
            <a:off x="502920" y="1261872"/>
            <a:ext cx="5513832" cy="2176272"/>
          </a:xfrm>
          <a:prstGeom prst="roundRect">
            <a:avLst>
              <a:gd name="adj" fmla="val 2521"/>
            </a:avLst>
          </a:prstGeom>
          <a:solidFill>
            <a:srgbClr val="FFFFFF"/>
          </a:solidFill>
          <a:ln w="9525">
            <a:solidFill>
              <a:srgbClr val="E2E8F0"/>
            </a:solidFill>
            <a:prstDash val="solid"/>
          </a:ln>
        </p:spPr>
      </p:sp>
      <p:sp>
        <p:nvSpPr>
          <p:cNvPr id="10" name="Shape 7"/>
          <p:cNvSpPr/>
          <p:nvPr/>
        </p:nvSpPr>
        <p:spPr>
          <a:xfrm>
            <a:off x="502920" y="1261872"/>
            <a:ext cx="64008" cy="2176272"/>
          </a:xfrm>
          <a:prstGeom prst="rect">
            <a:avLst/>
          </a:prstGeom>
          <a:solidFill>
            <a:srgbClr val="0A1F44"/>
          </a:solidFill>
          <a:ln w="6350">
            <a:solidFill>
              <a:srgbClr val="0A1F44"/>
            </a:solidFill>
            <a:prstDash val="solid"/>
          </a:ln>
        </p:spPr>
      </p:sp>
      <p:sp>
        <p:nvSpPr>
          <p:cNvPr id="11" name="Text 8"/>
          <p:cNvSpPr txBox="1"/>
          <p:nvPr/>
        </p:nvSpPr>
        <p:spPr>
          <a:xfrm>
            <a:off x="704088" y="1335024"/>
            <a:ext cx="5239512" cy="274320"/>
          </a:xfrm>
          <a:prstGeom prst="rect">
            <a:avLst/>
          </a:prstGeom>
          <a:noFill/>
          <a:ln/>
        </p:spPr>
        <p:txBody>
          <a:bodyPr wrap="square" lIns="0" tIns="0" rIns="0" bIns="0" rtlCol="0" anchor="ctr"/>
          <a:lstStyle/>
          <a:p>
            <a:pPr indent="0" marL="0">
              <a:buNone/>
            </a:pPr>
            <a:r>
              <a:rPr lang="en-US" sz="1150" b="1" dirty="0">
                <a:solidFill>
                  <a:srgbClr val="0A1F44"/>
                </a:solidFill>
                <a:latin typeface="Inter" pitchFamily="34" charset="0"/>
                <a:ea typeface="Inter" pitchFamily="34" charset="-122"/>
                <a:cs typeface="Inter" pitchFamily="34" charset="-120"/>
              </a:rPr>
              <a:t>Case packet (illustrative)</a:t>
            </a:r>
            <a:endParaRPr lang="en-US" sz="1150" dirty="0"/>
          </a:p>
        </p:txBody>
      </p:sp>
      <p:sp>
        <p:nvSpPr>
          <p:cNvPr id="12" name="Shape 9"/>
          <p:cNvSpPr/>
          <p:nvPr/>
        </p:nvSpPr>
        <p:spPr>
          <a:xfrm>
            <a:off x="722376" y="1773936"/>
            <a:ext cx="64008" cy="64008"/>
          </a:xfrm>
          <a:prstGeom prst="ellipse">
            <a:avLst/>
          </a:prstGeom>
          <a:solidFill>
            <a:srgbClr val="0A1F44"/>
          </a:solidFill>
          <a:ln w="6350">
            <a:solidFill>
              <a:srgbClr val="0A1F44"/>
            </a:solidFill>
            <a:prstDash val="solid"/>
          </a:ln>
        </p:spPr>
      </p:sp>
      <p:sp>
        <p:nvSpPr>
          <p:cNvPr id="13" name="Text 10"/>
          <p:cNvSpPr txBox="1"/>
          <p:nvPr/>
        </p:nvSpPr>
        <p:spPr>
          <a:xfrm>
            <a:off x="850392" y="1664208"/>
            <a:ext cx="5056632" cy="274320"/>
          </a:xfrm>
          <a:prstGeom prst="rect">
            <a:avLst/>
          </a:prstGeom>
          <a:noFill/>
          <a:ln/>
        </p:spPr>
        <p:txBody>
          <a:bodyPr wrap="square" lIns="0" tIns="0" rIns="0" bIns="0" rtlCol="0" anchor="ctr">
            <a:normAutofit/>
          </a:bodyPr>
          <a:lstStyle/>
          <a:p>
            <a:pPr indent="0" marL="0">
              <a:buNone/>
            </a:pPr>
            <a:r>
              <a:rPr lang="en-US" sz="850" dirty="0">
                <a:solidFill>
                  <a:srgbClr val="0F172A"/>
                </a:solidFill>
                <a:latin typeface="Inter" pitchFamily="34" charset="0"/>
                <a:ea typeface="Inter" pitchFamily="34" charset="-122"/>
                <a:cs typeface="Inter" pitchFamily="34" charset="-120"/>
              </a:rPr>
              <a:t>$120M budget and its six lines (Exhibit G); 4.2M active customers (A)</a:t>
            </a:r>
            <a:endParaRPr lang="en-US" sz="850" dirty="0"/>
          </a:p>
        </p:txBody>
      </p:sp>
      <p:sp>
        <p:nvSpPr>
          <p:cNvPr id="14" name="Shape 11"/>
          <p:cNvSpPr/>
          <p:nvPr/>
        </p:nvSpPr>
        <p:spPr>
          <a:xfrm>
            <a:off x="722376" y="2057400"/>
            <a:ext cx="64008" cy="64008"/>
          </a:xfrm>
          <a:prstGeom prst="ellipse">
            <a:avLst/>
          </a:prstGeom>
          <a:solidFill>
            <a:srgbClr val="0A1F44"/>
          </a:solidFill>
          <a:ln w="6350">
            <a:solidFill>
              <a:srgbClr val="0A1F44"/>
            </a:solidFill>
            <a:prstDash val="solid"/>
          </a:ln>
        </p:spPr>
      </p:sp>
      <p:sp>
        <p:nvSpPr>
          <p:cNvPr id="15" name="Text 12"/>
          <p:cNvSpPr txBox="1"/>
          <p:nvPr/>
        </p:nvSpPr>
        <p:spPr>
          <a:xfrm>
            <a:off x="850392" y="1947672"/>
            <a:ext cx="5056632" cy="274320"/>
          </a:xfrm>
          <a:prstGeom prst="rect">
            <a:avLst/>
          </a:prstGeom>
          <a:noFill/>
          <a:ln/>
        </p:spPr>
        <p:txBody>
          <a:bodyPr wrap="square" lIns="0" tIns="0" rIns="0" bIns="0" rtlCol="0" anchor="ctr">
            <a:normAutofit/>
          </a:bodyPr>
          <a:lstStyle/>
          <a:p>
            <a:pPr indent="0" marL="0">
              <a:buNone/>
            </a:pPr>
            <a:r>
              <a:rPr lang="en-US" sz="850" dirty="0">
                <a:solidFill>
                  <a:srgbClr val="0F172A"/>
                </a:solidFill>
                <a:latin typeface="Inter" pitchFamily="34" charset="0"/>
                <a:ea typeface="Inter" pitchFamily="34" charset="-122"/>
                <a:cs typeface="Inter" pitchFamily="34" charset="-120"/>
              </a:rPr>
              <a:t>CAC $48 → $62; repeat 24% vs 30–35% peers; targets +6 pts and −10% (section 3)</a:t>
            </a:r>
            <a:endParaRPr lang="en-US" sz="850" dirty="0"/>
          </a:p>
        </p:txBody>
      </p:sp>
      <p:sp>
        <p:nvSpPr>
          <p:cNvPr id="16" name="Shape 13"/>
          <p:cNvSpPr/>
          <p:nvPr/>
        </p:nvSpPr>
        <p:spPr>
          <a:xfrm>
            <a:off x="722376" y="2340864"/>
            <a:ext cx="64008" cy="64008"/>
          </a:xfrm>
          <a:prstGeom prst="ellipse">
            <a:avLst/>
          </a:prstGeom>
          <a:solidFill>
            <a:srgbClr val="0A1F44"/>
          </a:solidFill>
          <a:ln w="6350">
            <a:solidFill>
              <a:srgbClr val="0A1F44"/>
            </a:solidFill>
            <a:prstDash val="solid"/>
          </a:ln>
        </p:spPr>
      </p:sp>
      <p:sp>
        <p:nvSpPr>
          <p:cNvPr id="17" name="Text 14"/>
          <p:cNvSpPr txBox="1"/>
          <p:nvPr/>
        </p:nvSpPr>
        <p:spPr>
          <a:xfrm>
            <a:off x="850392" y="2231136"/>
            <a:ext cx="5056632" cy="274320"/>
          </a:xfrm>
          <a:prstGeom prst="rect">
            <a:avLst/>
          </a:prstGeom>
          <a:noFill/>
          <a:ln/>
        </p:spPr>
        <p:txBody>
          <a:bodyPr wrap="square" lIns="0" tIns="0" rIns="0" bIns="0" rtlCol="0" anchor="ctr">
            <a:normAutofit/>
          </a:bodyPr>
          <a:lstStyle/>
          <a:p>
            <a:pPr indent="0" marL="0">
              <a:buNone/>
            </a:pPr>
            <a:r>
              <a:rPr lang="en-US" sz="850" dirty="0">
                <a:solidFill>
                  <a:srgbClr val="0F172A"/>
                </a:solidFill>
                <a:latin typeface="Inter" pitchFamily="34" charset="0"/>
                <a:ea typeface="Inter" pitchFamily="34" charset="-122"/>
                <a:cs typeface="Inter" pitchFamily="34" charset="-120"/>
              </a:rPr>
              <a:t>Cart abandonment ~78% vs ~70% benchmark (C); retargeting CAC $31 (D)</a:t>
            </a:r>
            <a:endParaRPr lang="en-US" sz="850" dirty="0"/>
          </a:p>
        </p:txBody>
      </p:sp>
      <p:sp>
        <p:nvSpPr>
          <p:cNvPr id="18" name="Shape 15"/>
          <p:cNvSpPr/>
          <p:nvPr/>
        </p:nvSpPr>
        <p:spPr>
          <a:xfrm>
            <a:off x="722376" y="2624328"/>
            <a:ext cx="64008" cy="64008"/>
          </a:xfrm>
          <a:prstGeom prst="ellipse">
            <a:avLst/>
          </a:prstGeom>
          <a:solidFill>
            <a:srgbClr val="0A1F44"/>
          </a:solidFill>
          <a:ln w="6350">
            <a:solidFill>
              <a:srgbClr val="0A1F44"/>
            </a:solidFill>
            <a:prstDash val="solid"/>
          </a:ln>
        </p:spPr>
      </p:sp>
      <p:sp>
        <p:nvSpPr>
          <p:cNvPr id="19" name="Text 16"/>
          <p:cNvSpPr txBox="1"/>
          <p:nvPr/>
        </p:nvSpPr>
        <p:spPr>
          <a:xfrm>
            <a:off x="850392" y="2514600"/>
            <a:ext cx="5056632" cy="274320"/>
          </a:xfrm>
          <a:prstGeom prst="rect">
            <a:avLst/>
          </a:prstGeom>
          <a:noFill/>
          <a:ln/>
        </p:spPr>
        <p:txBody>
          <a:bodyPr wrap="square" lIns="0" tIns="0" rIns="0" bIns="0" rtlCol="0" anchor="ctr">
            <a:normAutofit/>
          </a:bodyPr>
          <a:lstStyle/>
          <a:p>
            <a:pPr indent="0" marL="0">
              <a:buNone/>
            </a:pPr>
            <a:r>
              <a:rPr lang="en-US" sz="850" dirty="0">
                <a:solidFill>
                  <a:srgbClr val="0F172A"/>
                </a:solidFill>
                <a:latin typeface="Inter" pitchFamily="34" charset="0"/>
                <a:ea typeface="Inter" pitchFamily="34" charset="-122"/>
                <a:cs typeface="Inter" pitchFamily="34" charset="-120"/>
              </a:rPr>
              <a:t>Repeat 38% / 29% / 13% by engagement (E); ~250K orders, ~$30M, ~$13.5M, ~10–12% CAC (J)</a:t>
            </a:r>
            <a:endParaRPr lang="en-US" sz="850" dirty="0"/>
          </a:p>
        </p:txBody>
      </p:sp>
      <p:sp>
        <p:nvSpPr>
          <p:cNvPr id="20" name="Shape 17"/>
          <p:cNvSpPr/>
          <p:nvPr/>
        </p:nvSpPr>
        <p:spPr>
          <a:xfrm>
            <a:off x="722376" y="2907792"/>
            <a:ext cx="64008" cy="64008"/>
          </a:xfrm>
          <a:prstGeom prst="ellipse">
            <a:avLst/>
          </a:prstGeom>
          <a:solidFill>
            <a:srgbClr val="0A1F44"/>
          </a:solidFill>
          <a:ln w="6350">
            <a:solidFill>
              <a:srgbClr val="0A1F44"/>
            </a:solidFill>
            <a:prstDash val="solid"/>
          </a:ln>
        </p:spPr>
      </p:sp>
      <p:sp>
        <p:nvSpPr>
          <p:cNvPr id="21" name="Text 18"/>
          <p:cNvSpPr txBox="1"/>
          <p:nvPr/>
        </p:nvSpPr>
        <p:spPr>
          <a:xfrm>
            <a:off x="850392" y="2798064"/>
            <a:ext cx="5056632" cy="274320"/>
          </a:xfrm>
          <a:prstGeom prst="rect">
            <a:avLst/>
          </a:prstGeom>
          <a:noFill/>
          <a:ln/>
        </p:spPr>
        <p:txBody>
          <a:bodyPr wrap="square" lIns="0" tIns="0" rIns="0" bIns="0" rtlCol="0" anchor="ctr">
            <a:normAutofit/>
          </a:bodyPr>
          <a:lstStyle/>
          <a:p>
            <a:pPr indent="0" marL="0">
              <a:buNone/>
            </a:pPr>
            <a:r>
              <a:rPr lang="en-US" sz="850" dirty="0">
                <a:solidFill>
                  <a:srgbClr val="0F172A"/>
                </a:solidFill>
                <a:latin typeface="Inter" pitchFamily="34" charset="0"/>
                <a:ea typeface="Inter" pitchFamily="34" charset="-122"/>
                <a:cs typeface="Inter" pitchFamily="34" charset="-120"/>
              </a:rPr>
              <a:t>Option A $2–3M inside the $6M owned line; B $0 within $14M; time to impact (I)</a:t>
            </a:r>
            <a:endParaRPr lang="en-US" sz="850" dirty="0"/>
          </a:p>
        </p:txBody>
      </p:sp>
      <p:sp>
        <p:nvSpPr>
          <p:cNvPr id="22" name="Shape 19"/>
          <p:cNvSpPr/>
          <p:nvPr/>
        </p:nvSpPr>
        <p:spPr>
          <a:xfrm>
            <a:off x="722376" y="3191256"/>
            <a:ext cx="64008" cy="64008"/>
          </a:xfrm>
          <a:prstGeom prst="ellipse">
            <a:avLst/>
          </a:prstGeom>
          <a:solidFill>
            <a:srgbClr val="0A1F44"/>
          </a:solidFill>
          <a:ln w="6350">
            <a:solidFill>
              <a:srgbClr val="0A1F44"/>
            </a:solidFill>
            <a:prstDash val="solid"/>
          </a:ln>
        </p:spPr>
      </p:sp>
      <p:sp>
        <p:nvSpPr>
          <p:cNvPr id="23" name="Text 20"/>
          <p:cNvSpPr txBox="1"/>
          <p:nvPr/>
        </p:nvSpPr>
        <p:spPr>
          <a:xfrm>
            <a:off x="850392" y="3081528"/>
            <a:ext cx="5056632" cy="274320"/>
          </a:xfrm>
          <a:prstGeom prst="rect">
            <a:avLst/>
          </a:prstGeom>
          <a:noFill/>
          <a:ln/>
        </p:spPr>
        <p:txBody>
          <a:bodyPr wrap="square" lIns="0" tIns="0" rIns="0" bIns="0" rtlCol="0" anchor="ctr">
            <a:normAutofit/>
          </a:bodyPr>
          <a:lstStyle/>
          <a:p>
            <a:pPr indent="0" marL="0">
              <a:buNone/>
            </a:pPr>
            <a:r>
              <a:rPr lang="en-US" sz="850" dirty="0">
                <a:solidFill>
                  <a:srgbClr val="0F172A"/>
                </a:solidFill>
                <a:latin typeface="Inter" pitchFamily="34" charset="0"/>
                <a:ea typeface="Inter" pitchFamily="34" charset="-122"/>
                <a:cs typeface="Inter" pitchFamily="34" charset="-120"/>
              </a:rPr>
              <a:t>Regions (N); ~$180B market (section 2); app 22% of sessions (A)</a:t>
            </a:r>
            <a:endParaRPr lang="en-US" sz="850" dirty="0"/>
          </a:p>
        </p:txBody>
      </p:sp>
      <p:sp>
        <p:nvSpPr>
          <p:cNvPr id="24" name="Shape 21"/>
          <p:cNvSpPr/>
          <p:nvPr/>
        </p:nvSpPr>
        <p:spPr>
          <a:xfrm>
            <a:off x="6172200" y="1261872"/>
            <a:ext cx="5513832" cy="2176272"/>
          </a:xfrm>
          <a:prstGeom prst="roundRect">
            <a:avLst>
              <a:gd name="adj" fmla="val 2521"/>
            </a:avLst>
          </a:prstGeom>
          <a:solidFill>
            <a:srgbClr val="FFFFFF"/>
          </a:solidFill>
          <a:ln w="9525">
            <a:solidFill>
              <a:srgbClr val="E2E8F0"/>
            </a:solidFill>
            <a:prstDash val="solid"/>
          </a:ln>
        </p:spPr>
      </p:sp>
      <p:sp>
        <p:nvSpPr>
          <p:cNvPr id="25" name="Shape 22"/>
          <p:cNvSpPr/>
          <p:nvPr/>
        </p:nvSpPr>
        <p:spPr>
          <a:xfrm>
            <a:off x="6172200" y="1261872"/>
            <a:ext cx="64008" cy="2176272"/>
          </a:xfrm>
          <a:prstGeom prst="rect">
            <a:avLst/>
          </a:prstGeom>
          <a:solidFill>
            <a:srgbClr val="1D4ED8"/>
          </a:solidFill>
          <a:ln w="6350">
            <a:solidFill>
              <a:srgbClr val="1D4ED8"/>
            </a:solidFill>
            <a:prstDash val="solid"/>
          </a:ln>
        </p:spPr>
      </p:sp>
      <p:sp>
        <p:nvSpPr>
          <p:cNvPr id="26" name="Text 23"/>
          <p:cNvSpPr txBox="1"/>
          <p:nvPr/>
        </p:nvSpPr>
        <p:spPr>
          <a:xfrm>
            <a:off x="6373368" y="1335024"/>
            <a:ext cx="5239512" cy="274320"/>
          </a:xfrm>
          <a:prstGeom prst="rect">
            <a:avLst/>
          </a:prstGeom>
          <a:noFill/>
          <a:ln/>
        </p:spPr>
        <p:txBody>
          <a:bodyPr wrap="square" lIns="0" tIns="0" rIns="0" bIns="0" rtlCol="0" anchor="ctr"/>
          <a:lstStyle/>
          <a:p>
            <a:pPr indent="0" marL="0">
              <a:buNone/>
            </a:pPr>
            <a:r>
              <a:rPr lang="en-US" sz="1150" b="1" dirty="0">
                <a:solidFill>
                  <a:srgbClr val="0A1F44"/>
                </a:solidFill>
                <a:latin typeface="Inter" pitchFamily="34" charset="0"/>
                <a:ea typeface="Inter" pitchFamily="34" charset="-122"/>
                <a:cs typeface="Inter" pitchFamily="34" charset="-120"/>
              </a:rPr>
              <a:t>Adobe CJA (our sandbox)</a:t>
            </a:r>
            <a:endParaRPr lang="en-US" sz="1150" dirty="0"/>
          </a:p>
        </p:txBody>
      </p:sp>
      <p:sp>
        <p:nvSpPr>
          <p:cNvPr id="27" name="Shape 24"/>
          <p:cNvSpPr/>
          <p:nvPr/>
        </p:nvSpPr>
        <p:spPr>
          <a:xfrm>
            <a:off x="6391656" y="1773936"/>
            <a:ext cx="64008" cy="64008"/>
          </a:xfrm>
          <a:prstGeom prst="ellipse">
            <a:avLst/>
          </a:prstGeom>
          <a:solidFill>
            <a:srgbClr val="1D4ED8"/>
          </a:solidFill>
          <a:ln w="6350">
            <a:solidFill>
              <a:srgbClr val="1D4ED8"/>
            </a:solidFill>
            <a:prstDash val="solid"/>
          </a:ln>
        </p:spPr>
      </p:sp>
      <p:sp>
        <p:nvSpPr>
          <p:cNvPr id="28" name="Text 25"/>
          <p:cNvSpPr txBox="1"/>
          <p:nvPr/>
        </p:nvSpPr>
        <p:spPr>
          <a:xfrm>
            <a:off x="6519672" y="1664208"/>
            <a:ext cx="5056632" cy="274320"/>
          </a:xfrm>
          <a:prstGeom prst="rect">
            <a:avLst/>
          </a:prstGeom>
          <a:noFill/>
          <a:ln/>
        </p:spPr>
        <p:txBody>
          <a:bodyPr wrap="square" lIns="0" tIns="0" rIns="0" bIns="0" rtlCol="0" anchor="ctr">
            <a:normAutofit/>
          </a:bodyPr>
          <a:lstStyle/>
          <a:p>
            <a:pPr indent="0" marL="0">
              <a:buNone/>
            </a:pPr>
            <a:r>
              <a:rPr lang="en-US" sz="850" dirty="0">
                <a:solidFill>
                  <a:srgbClr val="0F172A"/>
                </a:solidFill>
                <a:latin typeface="Inter" pitchFamily="34" charset="0"/>
                <a:ea typeface="Inter" pitchFamily="34" charset="-122"/>
                <a:cs typeface="Inter" pitchFamily="34" charset="-120"/>
              </a:rPr>
              <a:t>60,000 → 2,592 people; 69% and 77% drop-offs; 25,227 = 36,566 − 11,339 (Fallout)</a:t>
            </a:r>
            <a:endParaRPr lang="en-US" sz="850" dirty="0"/>
          </a:p>
        </p:txBody>
      </p:sp>
      <p:sp>
        <p:nvSpPr>
          <p:cNvPr id="29" name="Shape 26"/>
          <p:cNvSpPr/>
          <p:nvPr/>
        </p:nvSpPr>
        <p:spPr>
          <a:xfrm>
            <a:off x="6391656" y="2057400"/>
            <a:ext cx="64008" cy="64008"/>
          </a:xfrm>
          <a:prstGeom prst="ellipse">
            <a:avLst/>
          </a:prstGeom>
          <a:solidFill>
            <a:srgbClr val="1D4ED8"/>
          </a:solidFill>
          <a:ln w="6350">
            <a:solidFill>
              <a:srgbClr val="1D4ED8"/>
            </a:solidFill>
            <a:prstDash val="solid"/>
          </a:ln>
        </p:spPr>
      </p:sp>
      <p:sp>
        <p:nvSpPr>
          <p:cNvPr id="30" name="Text 27"/>
          <p:cNvSpPr txBox="1"/>
          <p:nvPr/>
        </p:nvSpPr>
        <p:spPr>
          <a:xfrm>
            <a:off x="6519672" y="1947672"/>
            <a:ext cx="5056632" cy="274320"/>
          </a:xfrm>
          <a:prstGeom prst="rect">
            <a:avLst/>
          </a:prstGeom>
          <a:noFill/>
          <a:ln/>
        </p:spPr>
        <p:txBody>
          <a:bodyPr wrap="square" lIns="0" tIns="0" rIns="0" bIns="0" rtlCol="0" anchor="ctr">
            <a:normAutofit/>
          </a:bodyPr>
          <a:lstStyle/>
          <a:p>
            <a:pPr indent="0" marL="0">
              <a:buNone/>
            </a:pPr>
            <a:r>
              <a:rPr lang="en-US" sz="850" dirty="0">
                <a:solidFill>
                  <a:srgbClr val="0F172A"/>
                </a:solidFill>
                <a:latin typeface="Inter" pitchFamily="34" charset="0"/>
                <a:ea typeface="Inter" pitchFamily="34" charset="-122"/>
                <a:cs typeface="Inter" pitchFamily="34" charset="-120"/>
              </a:rPr>
              <a:t>11,610 cart paths: 6,088 to checkout, 1 to email (Flow)</a:t>
            </a:r>
            <a:endParaRPr lang="en-US" sz="850" dirty="0"/>
          </a:p>
        </p:txBody>
      </p:sp>
      <p:sp>
        <p:nvSpPr>
          <p:cNvPr id="31" name="Shape 28"/>
          <p:cNvSpPr/>
          <p:nvPr/>
        </p:nvSpPr>
        <p:spPr>
          <a:xfrm>
            <a:off x="6391656" y="2340864"/>
            <a:ext cx="64008" cy="64008"/>
          </a:xfrm>
          <a:prstGeom prst="ellipse">
            <a:avLst/>
          </a:prstGeom>
          <a:solidFill>
            <a:srgbClr val="1D4ED8"/>
          </a:solidFill>
          <a:ln w="6350">
            <a:solidFill>
              <a:srgbClr val="1D4ED8"/>
            </a:solidFill>
            <a:prstDash val="solid"/>
          </a:ln>
        </p:spPr>
      </p:sp>
      <p:sp>
        <p:nvSpPr>
          <p:cNvPr id="32" name="Text 29"/>
          <p:cNvSpPr txBox="1"/>
          <p:nvPr/>
        </p:nvSpPr>
        <p:spPr>
          <a:xfrm>
            <a:off x="6519672" y="2231136"/>
            <a:ext cx="5056632" cy="274320"/>
          </a:xfrm>
          <a:prstGeom prst="rect">
            <a:avLst/>
          </a:prstGeom>
          <a:noFill/>
          <a:ln/>
        </p:spPr>
        <p:txBody>
          <a:bodyPr wrap="square" lIns="0" tIns="0" rIns="0" bIns="0" rtlCol="0" anchor="ctr">
            <a:normAutofit/>
          </a:bodyPr>
          <a:lstStyle/>
          <a:p>
            <a:pPr indent="0" marL="0">
              <a:buNone/>
            </a:pPr>
            <a:r>
              <a:rPr lang="en-US" sz="850" dirty="0">
                <a:solidFill>
                  <a:srgbClr val="0F172A"/>
                </a:solidFill>
                <a:latin typeface="Inter" pitchFamily="34" charset="0"/>
                <a:ea typeface="Inter" pitchFamily="34" charset="-122"/>
                <a:cs typeface="Inter" pitchFamily="34" charset="-120"/>
              </a:rPr>
              <a:t>28.1% vs 4.7%; 24.5% of buyers, 66% of repeaters; 10.5% overall (A2)</a:t>
            </a:r>
            <a:endParaRPr lang="en-US" sz="850" dirty="0"/>
          </a:p>
        </p:txBody>
      </p:sp>
      <p:sp>
        <p:nvSpPr>
          <p:cNvPr id="33" name="Shape 30"/>
          <p:cNvSpPr/>
          <p:nvPr/>
        </p:nvSpPr>
        <p:spPr>
          <a:xfrm>
            <a:off x="6391656" y="2624328"/>
            <a:ext cx="64008" cy="64008"/>
          </a:xfrm>
          <a:prstGeom prst="ellipse">
            <a:avLst/>
          </a:prstGeom>
          <a:solidFill>
            <a:srgbClr val="1D4ED8"/>
          </a:solidFill>
          <a:ln w="6350">
            <a:solidFill>
              <a:srgbClr val="1D4ED8"/>
            </a:solidFill>
            <a:prstDash val="solid"/>
          </a:ln>
        </p:spPr>
      </p:sp>
      <p:sp>
        <p:nvSpPr>
          <p:cNvPr id="34" name="Text 31"/>
          <p:cNvSpPr txBox="1"/>
          <p:nvPr/>
        </p:nvSpPr>
        <p:spPr>
          <a:xfrm>
            <a:off x="6519672" y="2514600"/>
            <a:ext cx="5056632" cy="274320"/>
          </a:xfrm>
          <a:prstGeom prst="rect">
            <a:avLst/>
          </a:prstGeom>
          <a:noFill/>
          <a:ln/>
        </p:spPr>
        <p:txBody>
          <a:bodyPr wrap="square" lIns="0" tIns="0" rIns="0" bIns="0" rtlCol="0" anchor="ctr">
            <a:normAutofit/>
          </a:bodyPr>
          <a:lstStyle/>
          <a:p>
            <a:pPr indent="0" marL="0">
              <a:buNone/>
            </a:pPr>
            <a:r>
              <a:rPr lang="en-US" sz="850" dirty="0">
                <a:solidFill>
                  <a:srgbClr val="0F172A"/>
                </a:solidFill>
                <a:latin typeface="Inter" pitchFamily="34" charset="0"/>
                <a:ea typeface="Inter" pitchFamily="34" charset="-122"/>
                <a:cs typeface="Inter" pitchFamily="34" charset="-120"/>
              </a:rPr>
              <a:t>App 21.5% (n = 265), SMS 11.7% (n = 315) after order one (A5)</a:t>
            </a:r>
            <a:endParaRPr lang="en-US" sz="850" dirty="0"/>
          </a:p>
        </p:txBody>
      </p:sp>
      <p:sp>
        <p:nvSpPr>
          <p:cNvPr id="35" name="Shape 32"/>
          <p:cNvSpPr/>
          <p:nvPr/>
        </p:nvSpPr>
        <p:spPr>
          <a:xfrm>
            <a:off x="6391656" y="2907792"/>
            <a:ext cx="64008" cy="64008"/>
          </a:xfrm>
          <a:prstGeom prst="ellipse">
            <a:avLst/>
          </a:prstGeom>
          <a:solidFill>
            <a:srgbClr val="1D4ED8"/>
          </a:solidFill>
          <a:ln w="6350">
            <a:solidFill>
              <a:srgbClr val="1D4ED8"/>
            </a:solidFill>
            <a:prstDash val="solid"/>
          </a:ln>
        </p:spPr>
      </p:sp>
      <p:sp>
        <p:nvSpPr>
          <p:cNvPr id="36" name="Text 33"/>
          <p:cNvSpPr txBox="1"/>
          <p:nvPr/>
        </p:nvSpPr>
        <p:spPr>
          <a:xfrm>
            <a:off x="6519672" y="2798064"/>
            <a:ext cx="5056632" cy="274320"/>
          </a:xfrm>
          <a:prstGeom prst="rect">
            <a:avLst/>
          </a:prstGeom>
          <a:noFill/>
          <a:ln/>
        </p:spPr>
        <p:txBody>
          <a:bodyPr wrap="square" lIns="0" tIns="0" rIns="0" bIns="0" rtlCol="0" anchor="ctr">
            <a:normAutofit/>
          </a:bodyPr>
          <a:lstStyle/>
          <a:p>
            <a:pPr indent="0" marL="0">
              <a:buNone/>
            </a:pPr>
            <a:r>
              <a:rPr lang="en-US" sz="850" dirty="0">
                <a:solidFill>
                  <a:srgbClr val="0F172A"/>
                </a:solidFill>
                <a:latin typeface="Inter" pitchFamily="34" charset="0"/>
                <a:ea typeface="Inter" pitchFamily="34" charset="-122"/>
                <a:cs typeface="Inter" pitchFamily="34" charset="-120"/>
              </a:rPr>
              <a:t>Week 2: 5.6% vs 2.1%; half of engaged repeats in weeks 1–4 (Cohort)</a:t>
            </a:r>
            <a:endParaRPr lang="en-US" sz="850" dirty="0"/>
          </a:p>
        </p:txBody>
      </p:sp>
      <p:sp>
        <p:nvSpPr>
          <p:cNvPr id="37" name="Shape 34"/>
          <p:cNvSpPr/>
          <p:nvPr/>
        </p:nvSpPr>
        <p:spPr>
          <a:xfrm>
            <a:off x="6391656" y="3191256"/>
            <a:ext cx="64008" cy="64008"/>
          </a:xfrm>
          <a:prstGeom prst="ellipse">
            <a:avLst/>
          </a:prstGeom>
          <a:solidFill>
            <a:srgbClr val="1D4ED8"/>
          </a:solidFill>
          <a:ln w="6350">
            <a:solidFill>
              <a:srgbClr val="1D4ED8"/>
            </a:solidFill>
            <a:prstDash val="solid"/>
          </a:ln>
        </p:spPr>
      </p:sp>
      <p:sp>
        <p:nvSpPr>
          <p:cNvPr id="38" name="Text 35"/>
          <p:cNvSpPr txBox="1"/>
          <p:nvPr/>
        </p:nvSpPr>
        <p:spPr>
          <a:xfrm>
            <a:off x="6519672" y="3081528"/>
            <a:ext cx="5056632" cy="274320"/>
          </a:xfrm>
          <a:prstGeom prst="rect">
            <a:avLst/>
          </a:prstGeom>
          <a:noFill/>
          <a:ln/>
        </p:spPr>
        <p:txBody>
          <a:bodyPr wrap="square" lIns="0" tIns="0" rIns="0" bIns="0" rtlCol="0" anchor="ctr">
            <a:normAutofit/>
          </a:bodyPr>
          <a:lstStyle/>
          <a:p>
            <a:pPr indent="0" marL="0">
              <a:buNone/>
            </a:pPr>
            <a:r>
              <a:rPr lang="en-US" sz="850" dirty="0">
                <a:solidFill>
                  <a:srgbClr val="0F172A"/>
                </a:solidFill>
                <a:latin typeface="Inter" pitchFamily="34" charset="0"/>
                <a:ea typeface="Inter" pitchFamily="34" charset="-122"/>
                <a:cs typeface="Inter" pitchFamily="34" charset="-120"/>
              </a:rPr>
              <a:t>Category repeat, cashmere 40.7% (A6); 23.0% vs 23.4%, 45.5% (A3b); 4.8% vs 15.0% (AIQ)</a:t>
            </a:r>
            <a:endParaRPr lang="en-US" sz="850" dirty="0"/>
          </a:p>
        </p:txBody>
      </p:sp>
      <p:sp>
        <p:nvSpPr>
          <p:cNvPr id="39" name="Shape 36"/>
          <p:cNvSpPr/>
          <p:nvPr/>
        </p:nvSpPr>
        <p:spPr>
          <a:xfrm>
            <a:off x="502920" y="3566160"/>
            <a:ext cx="5513832" cy="2176272"/>
          </a:xfrm>
          <a:prstGeom prst="roundRect">
            <a:avLst>
              <a:gd name="adj" fmla="val 2521"/>
            </a:avLst>
          </a:prstGeom>
          <a:solidFill>
            <a:srgbClr val="FFFFFF"/>
          </a:solidFill>
          <a:ln w="9525">
            <a:solidFill>
              <a:srgbClr val="E2E8F0"/>
            </a:solidFill>
            <a:prstDash val="solid"/>
          </a:ln>
        </p:spPr>
      </p:sp>
      <p:sp>
        <p:nvSpPr>
          <p:cNvPr id="40" name="Shape 37"/>
          <p:cNvSpPr/>
          <p:nvPr/>
        </p:nvSpPr>
        <p:spPr>
          <a:xfrm>
            <a:off x="502920" y="3566160"/>
            <a:ext cx="64008" cy="2176272"/>
          </a:xfrm>
          <a:prstGeom prst="rect">
            <a:avLst/>
          </a:prstGeom>
          <a:solidFill>
            <a:srgbClr val="2563EB"/>
          </a:solidFill>
          <a:ln w="6350">
            <a:solidFill>
              <a:srgbClr val="2563EB"/>
            </a:solidFill>
            <a:prstDash val="solid"/>
          </a:ln>
        </p:spPr>
      </p:sp>
      <p:sp>
        <p:nvSpPr>
          <p:cNvPr id="41" name="Text 38"/>
          <p:cNvSpPr txBox="1"/>
          <p:nvPr/>
        </p:nvSpPr>
        <p:spPr>
          <a:xfrm>
            <a:off x="704088" y="3639312"/>
            <a:ext cx="5239512" cy="274320"/>
          </a:xfrm>
          <a:prstGeom prst="rect">
            <a:avLst/>
          </a:prstGeom>
          <a:noFill/>
          <a:ln/>
        </p:spPr>
        <p:txBody>
          <a:bodyPr wrap="square" lIns="0" tIns="0" rIns="0" bIns="0" rtlCol="0" anchor="ctr"/>
          <a:lstStyle/>
          <a:p>
            <a:pPr indent="0" marL="0">
              <a:buNone/>
            </a:pPr>
            <a:r>
              <a:rPr lang="en-US" sz="1150" b="1" dirty="0">
                <a:solidFill>
                  <a:srgbClr val="0A1F44"/>
                </a:solidFill>
                <a:latin typeface="Inter" pitchFamily="34" charset="0"/>
                <a:ea typeface="Inter" pitchFamily="34" charset="-122"/>
                <a:cs typeface="Inter" pitchFamily="34" charset="-120"/>
              </a:rPr>
              <a:t>Public data (cited)</a:t>
            </a:r>
            <a:endParaRPr lang="en-US" sz="1150" dirty="0"/>
          </a:p>
        </p:txBody>
      </p:sp>
      <p:sp>
        <p:nvSpPr>
          <p:cNvPr id="42" name="Shape 39"/>
          <p:cNvSpPr/>
          <p:nvPr/>
        </p:nvSpPr>
        <p:spPr>
          <a:xfrm>
            <a:off x="722376" y="4078224"/>
            <a:ext cx="64008" cy="64008"/>
          </a:xfrm>
          <a:prstGeom prst="ellipse">
            <a:avLst/>
          </a:prstGeom>
          <a:solidFill>
            <a:srgbClr val="2563EB"/>
          </a:solidFill>
          <a:ln w="6350">
            <a:solidFill>
              <a:srgbClr val="2563EB"/>
            </a:solidFill>
            <a:prstDash val="solid"/>
          </a:ln>
        </p:spPr>
      </p:sp>
      <p:sp>
        <p:nvSpPr>
          <p:cNvPr id="43" name="Text 40"/>
          <p:cNvSpPr txBox="1"/>
          <p:nvPr/>
        </p:nvSpPr>
        <p:spPr>
          <a:xfrm>
            <a:off x="850392" y="3968496"/>
            <a:ext cx="5056632" cy="274320"/>
          </a:xfrm>
          <a:prstGeom prst="rect">
            <a:avLst/>
          </a:prstGeom>
          <a:noFill/>
          <a:ln/>
        </p:spPr>
        <p:txBody>
          <a:bodyPr wrap="square" lIns="0" tIns="0" rIns="0" bIns="0" rtlCol="0" anchor="ctr">
            <a:normAutofit/>
          </a:bodyPr>
          <a:lstStyle/>
          <a:p>
            <a:pPr indent="0" marL="0">
              <a:buNone/>
            </a:pPr>
            <a:r>
              <a:rPr lang="en-US" sz="850" dirty="0">
                <a:solidFill>
                  <a:srgbClr val="0F172A"/>
                </a:solidFill>
                <a:latin typeface="Inter" pitchFamily="34" charset="0"/>
                <a:ea typeface="Inter" pitchFamily="34" charset="-122"/>
                <a:cs typeface="Inter" pitchFamily="34" charset="-120"/>
              </a:rPr>
              <a:t>ATT opt-in 35% (Adjust, Q2 2025) to 50% (AppsFlyer, Apr 2025)</a:t>
            </a:r>
            <a:endParaRPr lang="en-US" sz="850" dirty="0"/>
          </a:p>
        </p:txBody>
      </p:sp>
      <p:sp>
        <p:nvSpPr>
          <p:cNvPr id="44" name="Shape 41"/>
          <p:cNvSpPr/>
          <p:nvPr/>
        </p:nvSpPr>
        <p:spPr>
          <a:xfrm>
            <a:off x="722376" y="4361688"/>
            <a:ext cx="64008" cy="64008"/>
          </a:xfrm>
          <a:prstGeom prst="ellipse">
            <a:avLst/>
          </a:prstGeom>
          <a:solidFill>
            <a:srgbClr val="2563EB"/>
          </a:solidFill>
          <a:ln w="6350">
            <a:solidFill>
              <a:srgbClr val="2563EB"/>
            </a:solidFill>
            <a:prstDash val="solid"/>
          </a:ln>
        </p:spPr>
      </p:sp>
      <p:sp>
        <p:nvSpPr>
          <p:cNvPr id="45" name="Text 42"/>
          <p:cNvSpPr txBox="1"/>
          <p:nvPr/>
        </p:nvSpPr>
        <p:spPr>
          <a:xfrm>
            <a:off x="850392" y="4251960"/>
            <a:ext cx="5056632" cy="274320"/>
          </a:xfrm>
          <a:prstGeom prst="rect">
            <a:avLst/>
          </a:prstGeom>
          <a:noFill/>
          <a:ln/>
        </p:spPr>
        <p:txBody>
          <a:bodyPr wrap="square" lIns="0" tIns="0" rIns="0" bIns="0" rtlCol="0" anchor="ctr">
            <a:normAutofit/>
          </a:bodyPr>
          <a:lstStyle/>
          <a:p>
            <a:pPr indent="0" marL="0">
              <a:buNone/>
            </a:pPr>
            <a:r>
              <a:rPr lang="en-US" sz="850" dirty="0">
                <a:solidFill>
                  <a:srgbClr val="0F172A"/>
                </a:solidFill>
                <a:latin typeface="Inter" pitchFamily="34" charset="0"/>
                <a:ea typeface="Inter" pitchFamily="34" charset="-122"/>
                <a:cs typeface="Inter" pitchFamily="34" charset="-120"/>
              </a:rPr>
              <a:t>Meta average price per ad +12% year on year (Q2 2026 results)</a:t>
            </a:r>
            <a:endParaRPr lang="en-US" sz="850" dirty="0"/>
          </a:p>
        </p:txBody>
      </p:sp>
      <p:sp>
        <p:nvSpPr>
          <p:cNvPr id="46" name="Shape 43"/>
          <p:cNvSpPr/>
          <p:nvPr/>
        </p:nvSpPr>
        <p:spPr>
          <a:xfrm>
            <a:off x="722376" y="4645152"/>
            <a:ext cx="64008" cy="64008"/>
          </a:xfrm>
          <a:prstGeom prst="ellipse">
            <a:avLst/>
          </a:prstGeom>
          <a:solidFill>
            <a:srgbClr val="2563EB"/>
          </a:solidFill>
          <a:ln w="6350">
            <a:solidFill>
              <a:srgbClr val="2563EB"/>
            </a:solidFill>
            <a:prstDash val="solid"/>
          </a:ln>
        </p:spPr>
      </p:sp>
      <p:sp>
        <p:nvSpPr>
          <p:cNvPr id="47" name="Text 44"/>
          <p:cNvSpPr txBox="1"/>
          <p:nvPr/>
        </p:nvSpPr>
        <p:spPr>
          <a:xfrm>
            <a:off x="850392" y="4535424"/>
            <a:ext cx="5056632" cy="274320"/>
          </a:xfrm>
          <a:prstGeom prst="rect">
            <a:avLst/>
          </a:prstGeom>
          <a:noFill/>
          <a:ln/>
        </p:spPr>
        <p:txBody>
          <a:bodyPr wrap="square" lIns="0" tIns="0" rIns="0" bIns="0" rtlCol="0" anchor="ctr">
            <a:normAutofit/>
          </a:bodyPr>
          <a:lstStyle/>
          <a:p>
            <a:pPr indent="0" marL="0">
              <a:buNone/>
            </a:pPr>
            <a:r>
              <a:rPr lang="en-US" sz="850" dirty="0">
                <a:solidFill>
                  <a:srgbClr val="0F172A"/>
                </a:solidFill>
                <a:latin typeface="Inter" pitchFamily="34" charset="0"/>
                <a:ea typeface="Inter" pitchFamily="34" charset="-122"/>
                <a:cs typeface="Inter" pitchFamily="34" charset="-120"/>
              </a:rPr>
              <a:t>Meta Advantage+ defaults (2025); TikTok US joint venture (Jan 2026)</a:t>
            </a:r>
            <a:endParaRPr lang="en-US" sz="850" dirty="0"/>
          </a:p>
        </p:txBody>
      </p:sp>
      <p:sp>
        <p:nvSpPr>
          <p:cNvPr id="48" name="Shape 45"/>
          <p:cNvSpPr/>
          <p:nvPr/>
        </p:nvSpPr>
        <p:spPr>
          <a:xfrm>
            <a:off x="722376" y="4928616"/>
            <a:ext cx="64008" cy="64008"/>
          </a:xfrm>
          <a:prstGeom prst="ellipse">
            <a:avLst/>
          </a:prstGeom>
          <a:solidFill>
            <a:srgbClr val="2563EB"/>
          </a:solidFill>
          <a:ln w="6350">
            <a:solidFill>
              <a:srgbClr val="2563EB"/>
            </a:solidFill>
            <a:prstDash val="solid"/>
          </a:ln>
        </p:spPr>
      </p:sp>
      <p:sp>
        <p:nvSpPr>
          <p:cNvPr id="49" name="Text 46"/>
          <p:cNvSpPr txBox="1"/>
          <p:nvPr/>
        </p:nvSpPr>
        <p:spPr>
          <a:xfrm>
            <a:off x="850392" y="4818888"/>
            <a:ext cx="5056632" cy="274320"/>
          </a:xfrm>
          <a:prstGeom prst="rect">
            <a:avLst/>
          </a:prstGeom>
          <a:noFill/>
          <a:ln/>
        </p:spPr>
        <p:txBody>
          <a:bodyPr wrap="square" lIns="0" tIns="0" rIns="0" bIns="0" rtlCol="0" anchor="ctr">
            <a:normAutofit/>
          </a:bodyPr>
          <a:lstStyle/>
          <a:p>
            <a:pPr indent="0" marL="0">
              <a:buNone/>
            </a:pPr>
            <a:r>
              <a:rPr lang="en-US" sz="850" dirty="0">
                <a:solidFill>
                  <a:srgbClr val="0F172A"/>
                </a:solidFill>
                <a:latin typeface="Inter" pitchFamily="34" charset="0"/>
                <a:ea typeface="Inter" pitchFamily="34" charset="-122"/>
                <a:cs typeface="Inter" pitchFamily="34" charset="-120"/>
              </a:rPr>
              <a:t>Consumer sentiment record low (UMich, 2026); apparel prices up with tariffs (Cotton Inc.)</a:t>
            </a:r>
            <a:endParaRPr lang="en-US" sz="850" dirty="0"/>
          </a:p>
        </p:txBody>
      </p:sp>
      <p:sp>
        <p:nvSpPr>
          <p:cNvPr id="50" name="Shape 47"/>
          <p:cNvSpPr/>
          <p:nvPr/>
        </p:nvSpPr>
        <p:spPr>
          <a:xfrm>
            <a:off x="722376" y="5212080"/>
            <a:ext cx="64008" cy="64008"/>
          </a:xfrm>
          <a:prstGeom prst="ellipse">
            <a:avLst/>
          </a:prstGeom>
          <a:solidFill>
            <a:srgbClr val="2563EB"/>
          </a:solidFill>
          <a:ln w="6350">
            <a:solidFill>
              <a:srgbClr val="2563EB"/>
            </a:solidFill>
            <a:prstDash val="solid"/>
          </a:ln>
        </p:spPr>
      </p:sp>
      <p:sp>
        <p:nvSpPr>
          <p:cNvPr id="51" name="Text 48"/>
          <p:cNvSpPr txBox="1"/>
          <p:nvPr/>
        </p:nvSpPr>
        <p:spPr>
          <a:xfrm>
            <a:off x="850392" y="5102352"/>
            <a:ext cx="5056632" cy="274320"/>
          </a:xfrm>
          <a:prstGeom prst="rect">
            <a:avLst/>
          </a:prstGeom>
          <a:noFill/>
          <a:ln/>
        </p:spPr>
        <p:txBody>
          <a:bodyPr wrap="square" lIns="0" tIns="0" rIns="0" bIns="0" rtlCol="0" anchor="ctr">
            <a:normAutofit/>
          </a:bodyPr>
          <a:lstStyle/>
          <a:p>
            <a:pPr indent="0" marL="0">
              <a:buNone/>
            </a:pPr>
            <a:r>
              <a:rPr lang="en-US" sz="850" dirty="0">
                <a:solidFill>
                  <a:srgbClr val="0F172A"/>
                </a:solidFill>
                <a:latin typeface="Inter" pitchFamily="34" charset="0"/>
                <a:ea typeface="Inter" pitchFamily="34" charset="-122"/>
                <a:cs typeface="Inter" pitchFamily="34" charset="-120"/>
              </a:rPr>
              <a:t>Shein to buy Everlane (May 2026); Amazon ads $19.8B, +26% (Q2 2026)</a:t>
            </a:r>
            <a:endParaRPr lang="en-US" sz="850" dirty="0"/>
          </a:p>
        </p:txBody>
      </p:sp>
      <p:sp>
        <p:nvSpPr>
          <p:cNvPr id="52" name="Shape 49"/>
          <p:cNvSpPr/>
          <p:nvPr/>
        </p:nvSpPr>
        <p:spPr>
          <a:xfrm>
            <a:off x="722376" y="5495544"/>
            <a:ext cx="64008" cy="64008"/>
          </a:xfrm>
          <a:prstGeom prst="ellipse">
            <a:avLst/>
          </a:prstGeom>
          <a:solidFill>
            <a:srgbClr val="2563EB"/>
          </a:solidFill>
          <a:ln w="6350">
            <a:solidFill>
              <a:srgbClr val="2563EB"/>
            </a:solidFill>
            <a:prstDash val="solid"/>
          </a:ln>
        </p:spPr>
      </p:sp>
      <p:sp>
        <p:nvSpPr>
          <p:cNvPr id="53" name="Text 50"/>
          <p:cNvSpPr txBox="1"/>
          <p:nvPr/>
        </p:nvSpPr>
        <p:spPr>
          <a:xfrm>
            <a:off x="850392" y="5385816"/>
            <a:ext cx="5056632" cy="274320"/>
          </a:xfrm>
          <a:prstGeom prst="rect">
            <a:avLst/>
          </a:prstGeom>
          <a:noFill/>
          <a:ln/>
        </p:spPr>
        <p:txBody>
          <a:bodyPr wrap="square" lIns="0" tIns="0" rIns="0" bIns="0" rtlCol="0" anchor="ctr">
            <a:normAutofit/>
          </a:bodyPr>
          <a:lstStyle/>
          <a:p>
            <a:pPr indent="0" marL="0">
              <a:buNone/>
            </a:pPr>
            <a:r>
              <a:rPr lang="en-US" sz="850" dirty="0">
                <a:solidFill>
                  <a:srgbClr val="0F172A"/>
                </a:solidFill>
                <a:latin typeface="Inter" pitchFamily="34" charset="0"/>
                <a:ea typeface="Inter" pitchFamily="34" charset="-122"/>
                <a:cs typeface="Inter" pitchFamily="34" charset="-120"/>
              </a:rPr>
              <a:t>Census: 17.1% online (Q2 2026); McKinsey 71%; Tapestry 6.8M; WSI v. Quince (2026)</a:t>
            </a:r>
            <a:endParaRPr lang="en-US" sz="850" dirty="0"/>
          </a:p>
        </p:txBody>
      </p:sp>
      <p:sp>
        <p:nvSpPr>
          <p:cNvPr id="54" name="Shape 51"/>
          <p:cNvSpPr/>
          <p:nvPr/>
        </p:nvSpPr>
        <p:spPr>
          <a:xfrm>
            <a:off x="6172200" y="3566160"/>
            <a:ext cx="5513832" cy="2176272"/>
          </a:xfrm>
          <a:prstGeom prst="roundRect">
            <a:avLst>
              <a:gd name="adj" fmla="val 2521"/>
            </a:avLst>
          </a:prstGeom>
          <a:solidFill>
            <a:srgbClr val="FFFFFF"/>
          </a:solidFill>
          <a:ln w="9525">
            <a:solidFill>
              <a:srgbClr val="E2E8F0"/>
            </a:solidFill>
            <a:prstDash val="solid"/>
          </a:ln>
        </p:spPr>
      </p:sp>
      <p:sp>
        <p:nvSpPr>
          <p:cNvPr id="55" name="Shape 52"/>
          <p:cNvSpPr/>
          <p:nvPr/>
        </p:nvSpPr>
        <p:spPr>
          <a:xfrm>
            <a:off x="6172200" y="3566160"/>
            <a:ext cx="64008" cy="2176272"/>
          </a:xfrm>
          <a:prstGeom prst="rect">
            <a:avLst/>
          </a:prstGeom>
          <a:solidFill>
            <a:srgbClr val="60A5FA"/>
          </a:solidFill>
          <a:ln w="6350">
            <a:solidFill>
              <a:srgbClr val="60A5FA"/>
            </a:solidFill>
            <a:prstDash val="solid"/>
          </a:ln>
        </p:spPr>
      </p:sp>
      <p:sp>
        <p:nvSpPr>
          <p:cNvPr id="56" name="Text 53"/>
          <p:cNvSpPr txBox="1"/>
          <p:nvPr/>
        </p:nvSpPr>
        <p:spPr>
          <a:xfrm>
            <a:off x="6373368" y="3639312"/>
            <a:ext cx="5239512" cy="274320"/>
          </a:xfrm>
          <a:prstGeom prst="rect">
            <a:avLst/>
          </a:prstGeom>
          <a:noFill/>
          <a:ln/>
        </p:spPr>
        <p:txBody>
          <a:bodyPr wrap="square" lIns="0" tIns="0" rIns="0" bIns="0" rtlCol="0" anchor="ctr"/>
          <a:lstStyle/>
          <a:p>
            <a:pPr indent="0" marL="0">
              <a:buNone/>
            </a:pPr>
            <a:r>
              <a:rPr lang="en-US" sz="1150" b="1" dirty="0">
                <a:solidFill>
                  <a:srgbClr val="0A1F44"/>
                </a:solidFill>
                <a:latin typeface="Inter" pitchFamily="34" charset="0"/>
                <a:ea typeface="Inter" pitchFamily="34" charset="-122"/>
                <a:cs typeface="Inter" pitchFamily="34" charset="-120"/>
              </a:rPr>
              <a:t>Derived, or team design</a:t>
            </a:r>
            <a:endParaRPr lang="en-US" sz="1150" dirty="0"/>
          </a:p>
        </p:txBody>
      </p:sp>
      <p:sp>
        <p:nvSpPr>
          <p:cNvPr id="57" name="Shape 54"/>
          <p:cNvSpPr/>
          <p:nvPr/>
        </p:nvSpPr>
        <p:spPr>
          <a:xfrm>
            <a:off x="6391656" y="4078224"/>
            <a:ext cx="64008" cy="64008"/>
          </a:xfrm>
          <a:prstGeom prst="ellipse">
            <a:avLst/>
          </a:prstGeom>
          <a:solidFill>
            <a:srgbClr val="60A5FA"/>
          </a:solidFill>
          <a:ln w="6350">
            <a:solidFill>
              <a:srgbClr val="60A5FA"/>
            </a:solidFill>
            <a:prstDash val="solid"/>
          </a:ln>
        </p:spPr>
      </p:sp>
      <p:sp>
        <p:nvSpPr>
          <p:cNvPr id="58" name="Text 55"/>
          <p:cNvSpPr txBox="1"/>
          <p:nvPr/>
        </p:nvSpPr>
        <p:spPr>
          <a:xfrm>
            <a:off x="6519672" y="3968496"/>
            <a:ext cx="5056632" cy="274320"/>
          </a:xfrm>
          <a:prstGeom prst="rect">
            <a:avLst/>
          </a:prstGeom>
          <a:noFill/>
          <a:ln/>
        </p:spPr>
        <p:txBody>
          <a:bodyPr wrap="square" lIns="0" tIns="0" rIns="0" bIns="0" rtlCol="0" anchor="ctr">
            <a:normAutofit/>
          </a:bodyPr>
          <a:lstStyle/>
          <a:p>
            <a:pPr indent="0" marL="0">
              <a:buNone/>
            </a:pPr>
            <a:r>
              <a:rPr lang="en-US" sz="850" dirty="0">
                <a:solidFill>
                  <a:srgbClr val="0F172A"/>
                </a:solidFill>
                <a:latin typeface="Inter" pitchFamily="34" charset="0"/>
                <a:ea typeface="Inter" pitchFamily="34" charset="-122"/>
                <a:cs typeface="Inter" pitchFamily="34" charset="-120"/>
              </a:rPr>
              <a:t>+29% = $62 ÷ $48; $1.43 = $6M ÷ 4.2M; 60% = ($58M + $14M) ÷ $120M</a:t>
            </a:r>
            <a:endParaRPr lang="en-US" sz="850" dirty="0"/>
          </a:p>
        </p:txBody>
      </p:sp>
      <p:sp>
        <p:nvSpPr>
          <p:cNvPr id="59" name="Shape 56"/>
          <p:cNvSpPr/>
          <p:nvPr/>
        </p:nvSpPr>
        <p:spPr>
          <a:xfrm>
            <a:off x="6391656" y="4361688"/>
            <a:ext cx="64008" cy="64008"/>
          </a:xfrm>
          <a:prstGeom prst="ellipse">
            <a:avLst/>
          </a:prstGeom>
          <a:solidFill>
            <a:srgbClr val="60A5FA"/>
          </a:solidFill>
          <a:ln w="6350">
            <a:solidFill>
              <a:srgbClr val="60A5FA"/>
            </a:solidFill>
            <a:prstDash val="solid"/>
          </a:ln>
        </p:spPr>
      </p:sp>
      <p:sp>
        <p:nvSpPr>
          <p:cNvPr id="60" name="Text 57"/>
          <p:cNvSpPr txBox="1"/>
          <p:nvPr/>
        </p:nvSpPr>
        <p:spPr>
          <a:xfrm>
            <a:off x="6519672" y="4251960"/>
            <a:ext cx="5056632" cy="274320"/>
          </a:xfrm>
          <a:prstGeom prst="rect">
            <a:avLst/>
          </a:prstGeom>
          <a:noFill/>
          <a:ln/>
        </p:spPr>
        <p:txBody>
          <a:bodyPr wrap="square" lIns="0" tIns="0" rIns="0" bIns="0" rtlCol="0" anchor="ctr">
            <a:normAutofit/>
          </a:bodyPr>
          <a:lstStyle/>
          <a:p>
            <a:pPr indent="0" marL="0">
              <a:buNone/>
            </a:pPr>
            <a:r>
              <a:rPr lang="en-US" sz="850" dirty="0">
                <a:solidFill>
                  <a:srgbClr val="0F172A"/>
                </a:solidFill>
                <a:latin typeface="Inter" pitchFamily="34" charset="0"/>
                <a:ea typeface="Inter" pitchFamily="34" charset="-122"/>
                <a:cs typeface="Inter" pitchFamily="34" charset="-120"/>
              </a:rPr>
              <a:t>4.6× = 21.5 ÷ 4.7; 2.7× = 5.6 ÷ 2.1; a third = 4.8 ÷ 15.0; ~5,500 = 11,610 − 6,088 − 1</a:t>
            </a:r>
            <a:endParaRPr lang="en-US" sz="850" dirty="0"/>
          </a:p>
        </p:txBody>
      </p:sp>
      <p:sp>
        <p:nvSpPr>
          <p:cNvPr id="61" name="Shape 58"/>
          <p:cNvSpPr/>
          <p:nvPr/>
        </p:nvSpPr>
        <p:spPr>
          <a:xfrm>
            <a:off x="6391656" y="4645152"/>
            <a:ext cx="64008" cy="64008"/>
          </a:xfrm>
          <a:prstGeom prst="ellipse">
            <a:avLst/>
          </a:prstGeom>
          <a:solidFill>
            <a:srgbClr val="60A5FA"/>
          </a:solidFill>
          <a:ln w="6350">
            <a:solidFill>
              <a:srgbClr val="60A5FA"/>
            </a:solidFill>
            <a:prstDash val="solid"/>
          </a:ln>
        </p:spPr>
      </p:sp>
      <p:sp>
        <p:nvSpPr>
          <p:cNvPr id="62" name="Text 59"/>
          <p:cNvSpPr txBox="1"/>
          <p:nvPr/>
        </p:nvSpPr>
        <p:spPr>
          <a:xfrm>
            <a:off x="6519672" y="4535424"/>
            <a:ext cx="5056632" cy="274320"/>
          </a:xfrm>
          <a:prstGeom prst="rect">
            <a:avLst/>
          </a:prstGeom>
          <a:noFill/>
          <a:ln/>
        </p:spPr>
        <p:txBody>
          <a:bodyPr wrap="square" lIns="0" tIns="0" rIns="0" bIns="0" rtlCol="0" anchor="ctr">
            <a:normAutofit/>
          </a:bodyPr>
          <a:lstStyle/>
          <a:p>
            <a:pPr indent="0" marL="0">
              <a:buNone/>
            </a:pPr>
            <a:r>
              <a:rPr lang="en-US" sz="850" dirty="0">
                <a:solidFill>
                  <a:srgbClr val="0F172A"/>
                </a:solidFill>
                <a:latin typeface="Inter" pitchFamily="34" charset="0"/>
                <a:ea typeface="Inter" pitchFamily="34" charset="-122"/>
                <a:cs typeface="Inter" pitchFamily="34" charset="-120"/>
              </a:rPr>
              <a:t>+6 pts: 6 ÷ 25 = 24% (app), 6 ÷ 16 = 37.5% (email/SMS); ~29% and ~59% after A2→A5 haircuts; web-only ≥ 31% (38a + 29s + 13w = 24)</a:t>
            </a:r>
            <a:endParaRPr lang="en-US" sz="850" dirty="0"/>
          </a:p>
        </p:txBody>
      </p:sp>
      <p:sp>
        <p:nvSpPr>
          <p:cNvPr id="63" name="Shape 60"/>
          <p:cNvSpPr/>
          <p:nvPr/>
        </p:nvSpPr>
        <p:spPr>
          <a:xfrm>
            <a:off x="6391656" y="4928616"/>
            <a:ext cx="64008" cy="64008"/>
          </a:xfrm>
          <a:prstGeom prst="ellipse">
            <a:avLst/>
          </a:prstGeom>
          <a:solidFill>
            <a:srgbClr val="60A5FA"/>
          </a:solidFill>
          <a:ln w="6350">
            <a:solidFill>
              <a:srgbClr val="60A5FA"/>
            </a:solidFill>
            <a:prstDash val="solid"/>
          </a:ln>
        </p:spPr>
      </p:sp>
      <p:sp>
        <p:nvSpPr>
          <p:cNvPr id="64" name="Text 61"/>
          <p:cNvSpPr txBox="1"/>
          <p:nvPr/>
        </p:nvSpPr>
        <p:spPr>
          <a:xfrm>
            <a:off x="6519672" y="4818888"/>
            <a:ext cx="5056632" cy="274320"/>
          </a:xfrm>
          <a:prstGeom prst="rect">
            <a:avLst/>
          </a:prstGeom>
          <a:noFill/>
          <a:ln/>
        </p:spPr>
        <p:txBody>
          <a:bodyPr wrap="square" lIns="0" tIns="0" rIns="0" bIns="0" rtlCol="0" anchor="ctr">
            <a:normAutofit/>
          </a:bodyPr>
          <a:lstStyle/>
          <a:p>
            <a:pPr indent="0" marL="0">
              <a:buNone/>
            </a:pPr>
            <a:r>
              <a:rPr lang="en-US" sz="850" dirty="0">
                <a:solidFill>
                  <a:srgbClr val="0F172A"/>
                </a:solidFill>
                <a:latin typeface="Inter" pitchFamily="34" charset="0"/>
                <a:ea typeface="Inter" pitchFamily="34" charset="-122"/>
                <a:cs typeface="Inter" pitchFamily="34" charset="-120"/>
              </a:rPr>
              <a:t>Pilot design, not forecasts: 10% holdout, South region, gates at months 3 and 9</a:t>
            </a:r>
            <a:endParaRPr lang="en-US" sz="850" dirty="0"/>
          </a:p>
        </p:txBody>
      </p:sp>
      <p:sp>
        <p:nvSpPr>
          <p:cNvPr id="65" name="Shape 62"/>
          <p:cNvSpPr/>
          <p:nvPr/>
        </p:nvSpPr>
        <p:spPr>
          <a:xfrm>
            <a:off x="6391656" y="5212080"/>
            <a:ext cx="64008" cy="64008"/>
          </a:xfrm>
          <a:prstGeom prst="ellipse">
            <a:avLst/>
          </a:prstGeom>
          <a:solidFill>
            <a:srgbClr val="60A5FA"/>
          </a:solidFill>
          <a:ln w="6350">
            <a:solidFill>
              <a:srgbClr val="60A5FA"/>
            </a:solidFill>
            <a:prstDash val="solid"/>
          </a:ln>
        </p:spPr>
      </p:sp>
      <p:sp>
        <p:nvSpPr>
          <p:cNvPr id="66" name="Text 63"/>
          <p:cNvSpPr txBox="1"/>
          <p:nvPr/>
        </p:nvSpPr>
        <p:spPr>
          <a:xfrm>
            <a:off x="6519672" y="5102352"/>
            <a:ext cx="5056632" cy="274320"/>
          </a:xfrm>
          <a:prstGeom prst="rect">
            <a:avLst/>
          </a:prstGeom>
          <a:noFill/>
          <a:ln/>
        </p:spPr>
        <p:txBody>
          <a:bodyPr wrap="square" lIns="0" tIns="0" rIns="0" bIns="0" rtlCol="0" anchor="ctr">
            <a:normAutofit/>
          </a:bodyPr>
          <a:lstStyle/>
          <a:p>
            <a:pPr indent="0" marL="0">
              <a:buNone/>
            </a:pPr>
            <a:r>
              <a:rPr lang="en-US" sz="850" dirty="0">
                <a:solidFill>
                  <a:srgbClr val="0F172A"/>
                </a:solidFill>
                <a:latin typeface="Inter" pitchFamily="34" charset="0"/>
                <a:ea typeface="Inter" pitchFamily="34" charset="-122"/>
                <a:cs typeface="Inter" pitchFamily="34" charset="-120"/>
              </a:rPr>
              <a:t>Timing (1h, 24h, delivery, day 7, 21, 60); 30-day recent buyers; gift picks 14 days ahead</a:t>
            </a:r>
            <a:endParaRPr lang="en-US" sz="850" dirty="0"/>
          </a:p>
        </p:txBody>
      </p:sp>
      <p:sp>
        <p:nvSpPr>
          <p:cNvPr id="67" name="Shape 64"/>
          <p:cNvSpPr/>
          <p:nvPr/>
        </p:nvSpPr>
        <p:spPr>
          <a:xfrm>
            <a:off x="6391656" y="5495544"/>
            <a:ext cx="64008" cy="64008"/>
          </a:xfrm>
          <a:prstGeom prst="ellipse">
            <a:avLst/>
          </a:prstGeom>
          <a:solidFill>
            <a:srgbClr val="60A5FA"/>
          </a:solidFill>
          <a:ln w="6350">
            <a:solidFill>
              <a:srgbClr val="60A5FA"/>
            </a:solidFill>
            <a:prstDash val="solid"/>
          </a:ln>
        </p:spPr>
      </p:sp>
      <p:sp>
        <p:nvSpPr>
          <p:cNvPr id="68" name="Text 65"/>
          <p:cNvSpPr txBox="1"/>
          <p:nvPr/>
        </p:nvSpPr>
        <p:spPr>
          <a:xfrm>
            <a:off x="6519672" y="5385816"/>
            <a:ext cx="5056632" cy="274320"/>
          </a:xfrm>
          <a:prstGeom prst="rect">
            <a:avLst/>
          </a:prstGeom>
          <a:noFill/>
          <a:ln/>
        </p:spPr>
        <p:txBody>
          <a:bodyPr wrap="square" lIns="0" tIns="0" rIns="0" bIns="0" rtlCol="0" anchor="ctr">
            <a:normAutofit/>
          </a:bodyPr>
          <a:lstStyle/>
          <a:p>
            <a:pPr indent="0" marL="0">
              <a:buNone/>
            </a:pPr>
            <a:r>
              <a:rPr lang="en-US" sz="850" dirty="0">
                <a:solidFill>
                  <a:srgbClr val="0F172A"/>
                </a:solidFill>
                <a:latin typeface="Inter" pitchFamily="34" charset="0"/>
                <a:ea typeface="Inter" pitchFamily="34" charset="-122"/>
                <a:cs typeface="Inter" pitchFamily="34" charset="-120"/>
              </a:rPr>
              <a:t>$3.4M = 24.5% × $14M; South tests 28% (Exh. N) × $22M = ~$6.2M, × $58M = ~$16.2M</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10896"/>
            <a:ext cx="9326880" cy="841248"/>
          </a:xfrm>
          <a:prstGeom prst="rect">
            <a:avLst/>
          </a:prstGeom>
          <a:noFill/>
          <a:ln/>
        </p:spPr>
        <p:txBody>
          <a:bodyPr wrap="square" lIns="0" tIns="0" rIns="0" bIns="0" rtlCol="0" anchor="ctr"/>
          <a:lstStyle/>
          <a:p>
            <a:pPr indent="0" marL="0">
              <a:buNone/>
            </a:pPr>
            <a:r>
              <a:rPr lang="en-US" sz="2400" b="1" dirty="0">
                <a:solidFill>
                  <a:srgbClr val="0A1F44"/>
                </a:solidFill>
                <a:latin typeface="Inter" pitchFamily="34" charset="0"/>
                <a:ea typeface="Inter" pitchFamily="34" charset="-122"/>
                <a:cs typeface="Inter" pitchFamily="34" charset="-120"/>
              </a:rPr>
              <a:t>Sources: case data, our CJA project and public research</a:t>
            </a:r>
            <a:endParaRPr lang="en-US" sz="2400" dirty="0"/>
          </a:p>
        </p:txBody>
      </p:sp>
      <p:pic>
        <p:nvPicPr>
          <p:cNvPr id="3" name="Image 0" descr="/tmp/claude-0/-home-user-Quince/7efe80ae-a049-50c2-9886-98bf7ca3a04a/scratchpad/assets/quince.png">    </p:cNvPr>
          <p:cNvPicPr>
            <a:picLocks noChangeAspect="1"/>
          </p:cNvPicPr>
          <p:nvPr/>
        </p:nvPicPr>
        <p:blipFill>
          <a:blip r:embed="rId1"/>
          <a:stretch>
            <a:fillRect/>
          </a:stretch>
        </p:blipFill>
        <p:spPr>
          <a:xfrm>
            <a:off x="10236708" y="615544"/>
            <a:ext cx="777240" cy="231951"/>
          </a:xfrm>
          <a:prstGeom prst="rect">
            <a:avLst/>
          </a:prstGeom>
        </p:spPr>
      </p:pic>
      <p:sp>
        <p:nvSpPr>
          <p:cNvPr id="4" name="Shape 1"/>
          <p:cNvSpPr/>
          <p:nvPr/>
        </p:nvSpPr>
        <p:spPr>
          <a:xfrm>
            <a:off x="11155680" y="603504"/>
            <a:ext cx="530352" cy="256032"/>
          </a:xfrm>
          <a:prstGeom prst="roundRect">
            <a:avLst>
              <a:gd name="adj" fmla="val 50000"/>
            </a:avLst>
          </a:prstGeom>
          <a:solidFill>
            <a:srgbClr val="0A1F44"/>
          </a:solidFill>
          <a:ln w="6350">
            <a:solidFill>
              <a:srgbClr val="0A1F44"/>
            </a:solidFill>
            <a:prstDash val="solid"/>
          </a:ln>
        </p:spPr>
      </p:sp>
      <p:sp>
        <p:nvSpPr>
          <p:cNvPr id="5" name="Text 2"/>
          <p:cNvSpPr txBox="1"/>
          <p:nvPr/>
        </p:nvSpPr>
        <p:spPr>
          <a:xfrm>
            <a:off x="11155680" y="603504"/>
            <a:ext cx="530352"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Inter" pitchFamily="34" charset="0"/>
                <a:ea typeface="Inter" pitchFamily="34" charset="-122"/>
                <a:cs typeface="Inter" pitchFamily="34" charset="-120"/>
              </a:rPr>
              <a:t>G27</a:t>
            </a:r>
            <a:endParaRPr lang="en-US" sz="950" dirty="0"/>
          </a:p>
        </p:txBody>
      </p:sp>
      <p:sp>
        <p:nvSpPr>
          <p:cNvPr id="6" name="Shape 3"/>
          <p:cNvSpPr/>
          <p:nvPr/>
        </p:nvSpPr>
        <p:spPr>
          <a:xfrm>
            <a:off x="502920" y="6400800"/>
            <a:ext cx="11183112" cy="0"/>
          </a:xfrm>
          <a:prstGeom prst="line">
            <a:avLst/>
          </a:prstGeom>
          <a:noFill/>
          <a:ln w="9525">
            <a:solidFill>
              <a:srgbClr val="E2E8F0"/>
            </a:solidFill>
            <a:prstDash val="solid"/>
          </a:ln>
        </p:spPr>
      </p:sp>
      <p:sp>
        <p:nvSpPr>
          <p:cNvPr id="7" name="Text 4"/>
          <p:cNvSpPr txBox="1"/>
          <p:nvPr/>
        </p:nvSpPr>
        <p:spPr>
          <a:xfrm>
            <a:off x="502920" y="6464808"/>
            <a:ext cx="9418320" cy="256032"/>
          </a:xfrm>
          <a:prstGeom prst="rect">
            <a:avLst/>
          </a:prstGeom>
          <a:noFill/>
          <a:ln/>
        </p:spPr>
        <p:txBody>
          <a:bodyPr wrap="square" lIns="0" tIns="0" rIns="0" bIns="0" rtlCol="0" anchor="ctr"/>
          <a:lstStyle/>
          <a:p>
            <a:pPr indent="0" marL="0">
              <a:buNone/>
            </a:pPr>
            <a:r>
              <a:rPr lang="en-US" sz="800" dirty="0">
                <a:solidFill>
                  <a:srgbClr val="64748B"/>
                </a:solidFill>
                <a:latin typeface="Inter" pitchFamily="34" charset="0"/>
                <a:ea typeface="Inter" pitchFamily="34" charset="-122"/>
                <a:cs typeface="Inter" pitchFamily="34" charset="-120"/>
              </a:rPr>
              <a:t>Case figures are the packet's illustrative estimates, never Quince disclosures. Links checked in October 2026.</a:t>
            </a:r>
            <a:endParaRPr lang="en-US" sz="800" dirty="0"/>
          </a:p>
        </p:txBody>
      </p:sp>
      <p:sp>
        <p:nvSpPr>
          <p:cNvPr id="8" name="Text 5"/>
          <p:cNvSpPr txBox="1"/>
          <p:nvPr/>
        </p:nvSpPr>
        <p:spPr>
          <a:xfrm>
            <a:off x="9966960" y="6464808"/>
            <a:ext cx="1719072" cy="256032"/>
          </a:xfrm>
          <a:prstGeom prst="rect">
            <a:avLst/>
          </a:prstGeom>
          <a:noFill/>
          <a:ln/>
        </p:spPr>
        <p:txBody>
          <a:bodyPr wrap="square" lIns="0" tIns="0" rIns="0" bIns="0" rtlCol="0" anchor="ctr"/>
          <a:lstStyle/>
          <a:p>
            <a:pPr algn="r" indent="0" marL="0">
              <a:buNone/>
            </a:pPr>
            <a:r>
              <a:rPr lang="en-US" sz="800" dirty="0">
                <a:solidFill>
                  <a:srgbClr val="64748B"/>
                </a:solidFill>
                <a:latin typeface="Inter" pitchFamily="34" charset="0"/>
                <a:ea typeface="Inter" pitchFamily="34" charset="-122"/>
                <a:cs typeface="Inter" pitchFamily="34" charset="-120"/>
              </a:rPr>
              <a:t>Team G27  ·  27</a:t>
            </a:r>
            <a:endParaRPr lang="en-US" sz="800" dirty="0"/>
          </a:p>
        </p:txBody>
      </p:sp>
      <p:sp>
        <p:nvSpPr>
          <p:cNvPr id="9" name="Text 6"/>
          <p:cNvSpPr txBox="1"/>
          <p:nvPr/>
        </p:nvSpPr>
        <p:spPr>
          <a:xfrm>
            <a:off x="502920" y="1234440"/>
            <a:ext cx="5394960" cy="274320"/>
          </a:xfrm>
          <a:prstGeom prst="rect">
            <a:avLst/>
          </a:prstGeom>
          <a:noFill/>
          <a:ln/>
        </p:spPr>
        <p:txBody>
          <a:bodyPr wrap="square" lIns="0" tIns="0" rIns="0" bIns="0" rtlCol="0" anchor="t"/>
          <a:lstStyle/>
          <a:p>
            <a:pPr indent="0" marL="0">
              <a:buNone/>
            </a:pPr>
            <a:r>
              <a:rPr lang="en-US" sz="1250" b="1" dirty="0">
                <a:solidFill>
                  <a:srgbClr val="1D4ED8"/>
                </a:solidFill>
                <a:latin typeface="Inter" pitchFamily="34" charset="0"/>
                <a:ea typeface="Inter" pitchFamily="34" charset="-122"/>
                <a:cs typeface="Inter" pitchFamily="34" charset="-120"/>
              </a:rPr>
              <a:t>Case and Adobe CJA</a:t>
            </a:r>
            <a:endParaRPr lang="en-US" sz="1250" dirty="0"/>
          </a:p>
        </p:txBody>
      </p:sp>
      <p:sp>
        <p:nvSpPr>
          <p:cNvPr id="10" name="Text 7"/>
          <p:cNvSpPr txBox="1"/>
          <p:nvPr/>
        </p:nvSpPr>
        <p:spPr>
          <a:xfrm>
            <a:off x="502920" y="1572768"/>
            <a:ext cx="5394960" cy="621792"/>
          </a:xfrm>
          <a:prstGeom prst="rect">
            <a:avLst/>
          </a:prstGeom>
          <a:noFill/>
          <a:ln/>
        </p:spPr>
        <p:txBody>
          <a:bodyPr wrap="square" lIns="0" tIns="0" rIns="0" bIns="0" rtlCol="0" anchor="t"/>
          <a:lstStyle/>
          <a:p>
            <a:pPr indent="0" marL="0">
              <a:buNone/>
            </a:pPr>
            <a:r>
              <a:rPr lang="en-US" sz="1050" b="1" dirty="0">
                <a:solidFill>
                  <a:srgbClr val="0F172A"/>
                </a:solidFill>
                <a:latin typeface="Inter" pitchFamily="34" charset="0"/>
                <a:ea typeface="Inter" pitchFamily="34" charset="-122"/>
                <a:cs typeface="Inter" pitchFamily="34" charset="-120"/>
              </a:rPr>
              <a:t>Quince case packet, "Closing the Loop"</a:t>
            </a:r>
            <a:endParaRPr lang="en-US" sz="1200" dirty="0"/>
          </a:p>
          <a:p>
            <a:pPr indent="0" marL="0">
              <a:buNone/>
            </a:pPr>
            <a:r>
              <a:rPr lang="en-US" sz="900" dirty="0">
                <a:solidFill>
                  <a:srgbClr val="64748B"/>
                </a:solidFill>
                <a:latin typeface="Inter" pitchFamily="34" charset="0"/>
                <a:ea typeface="Inter" pitchFamily="34" charset="-122"/>
                <a:cs typeface="Inter" pitchFamily="34" charset="-120"/>
              </a:rPr>
              <a:t>Case Competition World Cup, Graduate Track, 9 Oct 2026; Exhibits A–O, all illustrative</a:t>
            </a:r>
            <a:endParaRPr lang="en-US" sz="1200" dirty="0"/>
          </a:p>
        </p:txBody>
      </p:sp>
      <p:sp>
        <p:nvSpPr>
          <p:cNvPr id="11" name="Text 8"/>
          <p:cNvSpPr txBox="1"/>
          <p:nvPr/>
        </p:nvSpPr>
        <p:spPr>
          <a:xfrm>
            <a:off x="502920" y="2212848"/>
            <a:ext cx="5394960" cy="621792"/>
          </a:xfrm>
          <a:prstGeom prst="rect">
            <a:avLst/>
          </a:prstGeom>
          <a:noFill/>
          <a:ln/>
        </p:spPr>
        <p:txBody>
          <a:bodyPr wrap="square" lIns="0" tIns="0" rIns="0" bIns="0" rtlCol="0" anchor="t"/>
          <a:lstStyle/>
          <a:p>
            <a:pPr indent="0" marL="0">
              <a:buNone/>
            </a:pPr>
            <a:r>
              <a:rPr lang="en-US" sz="1050" b="1" dirty="0">
                <a:solidFill>
                  <a:srgbClr val="0F172A"/>
                </a:solidFill>
                <a:latin typeface="Inter" pitchFamily="34" charset="0"/>
                <a:ea typeface="Inter" pitchFamily="34" charset="-122"/>
                <a:cs typeface="Inter" pitchFamily="34" charset="-120"/>
              </a:rPr>
              <a:t>Adobe CJA, Quince Case Data View</a:t>
            </a:r>
            <a:endParaRPr lang="en-US" sz="1200" dirty="0"/>
          </a:p>
          <a:p>
            <a:pPr indent="0" marL="0">
              <a:buNone/>
            </a:pPr>
            <a:r>
              <a:rPr lang="en-US" sz="900" dirty="0">
                <a:solidFill>
                  <a:srgbClr val="64748B"/>
                </a:solidFill>
                <a:latin typeface="Inter" pitchFamily="34" charset="0"/>
                <a:ea typeface="Inter" pitchFamily="34" charset="-122"/>
                <a:cs typeface="Inter" pitchFamily="34" charset="-120"/>
              </a:rPr>
              <a:t>Team project: 60,000 people, 125,521 events, 1 Jan–30 Apr 2026 (appendix 9–13)</a:t>
            </a:r>
            <a:endParaRPr lang="en-US" sz="1200" dirty="0"/>
          </a:p>
        </p:txBody>
      </p:sp>
      <p:sp>
        <p:nvSpPr>
          <p:cNvPr id="12" name="Text 9"/>
          <p:cNvSpPr txBox="1"/>
          <p:nvPr/>
        </p:nvSpPr>
        <p:spPr>
          <a:xfrm>
            <a:off x="502920" y="2852928"/>
            <a:ext cx="5394960" cy="621792"/>
          </a:xfrm>
          <a:prstGeom prst="rect">
            <a:avLst/>
          </a:prstGeom>
          <a:noFill/>
          <a:ln/>
        </p:spPr>
        <p:txBody>
          <a:bodyPr wrap="square" lIns="0" tIns="0" rIns="0" bIns="0" rtlCol="0" anchor="t"/>
          <a:lstStyle/>
          <a:p>
            <a:pPr indent="0" marL="0">
              <a:buNone/>
            </a:pPr>
            <a:r>
              <a:rPr lang="en-US" sz="1050" b="1" dirty="0">
                <a:solidFill>
                  <a:srgbClr val="0F172A"/>
                </a:solidFill>
                <a:latin typeface="Inter" pitchFamily="34" charset="0"/>
                <a:ea typeface="Inter" pitchFamily="34" charset="-122"/>
                <a:cs typeface="Inter" pitchFamily="34" charset="-120"/>
              </a:rPr>
              <a:t>Adobe Experience League: publishing CJA audiences</a:t>
            </a:r>
            <a:endParaRPr lang="en-US" sz="1200" dirty="0"/>
          </a:p>
          <a:p>
            <a:pPr indent="0" marL="0">
              <a:buNone/>
            </a:pPr>
            <a:r>
              <a:rPr lang="en-US" sz="900" dirty="0">
                <a:solidFill>
                  <a:srgbClr val="64748B"/>
                </a:solidFill>
                <a:latin typeface="Inter" pitchFamily="34" charset="0"/>
                <a:ea typeface="Inter" pitchFamily="34" charset="-122"/>
                <a:cs typeface="Inter" pitchFamily="34" charset="-120"/>
              </a:rPr>
              <a:t>Audiences activate via Real-Time CDP or Journey Optimizer</a:t>
            </a:r>
            <a:endParaRPr lang="en-US" sz="1200" dirty="0"/>
          </a:p>
          <a:p>
            <a:pPr indent="0" marL="0">
              <a:buNone/>
            </a:pPr>
            <a:r>
              <a:rPr lang="en-US" sz="850" u="sng" dirty="0">
                <a:solidFill>
                  <a:srgbClr val="1D4ED8"/>
                </a:solidFill>
                <a:latin typeface="Inter" pitchFamily="34" charset="0"/>
                <a:ea typeface="Inter" pitchFamily="34" charset="-122"/>
                <a:cs typeface="Inter" pitchFamily="34" charset="-120"/>
                <a:hlinkClick r:id="rId2" invalidUrl="" action="" tgtFrame="" tooltip="" history="1" highlightClick="0" endSnd="0">
                  <a:extLst>
                    <a:ext uri="{A12FA001-AC4F-418D-AE19-62706E023703}">
                      <ahyp:hlinkClr xmlns:ahyp="http://schemas.microsoft.com/office/drawing/2018/hyperlinkcolor" val="tx"/>
                    </a:ext>
                  </a:extLst>
                </a:hlinkClick>
              </a:rPr>
              <a:t>experienceleague.adobe.com/en/docs/analytics-platform/using/cja-compon</a:t>
            </a:r>
            <a:endParaRPr lang="en-US" sz="1200" dirty="0"/>
          </a:p>
        </p:txBody>
      </p:sp>
      <p:sp>
        <p:nvSpPr>
          <p:cNvPr id="13" name="Text 10"/>
          <p:cNvSpPr txBox="1"/>
          <p:nvPr/>
        </p:nvSpPr>
        <p:spPr>
          <a:xfrm>
            <a:off x="502920" y="3493008"/>
            <a:ext cx="5394960" cy="621792"/>
          </a:xfrm>
          <a:prstGeom prst="rect">
            <a:avLst/>
          </a:prstGeom>
          <a:noFill/>
          <a:ln/>
        </p:spPr>
        <p:txBody>
          <a:bodyPr wrap="square" lIns="0" tIns="0" rIns="0" bIns="0" rtlCol="0" anchor="t"/>
          <a:lstStyle/>
          <a:p>
            <a:pPr indent="0" marL="0">
              <a:buNone/>
            </a:pPr>
            <a:r>
              <a:rPr lang="en-US" sz="1050" b="1" dirty="0">
                <a:solidFill>
                  <a:srgbClr val="0F172A"/>
                </a:solidFill>
                <a:latin typeface="Inter" pitchFamily="34" charset="0"/>
                <a:ea typeface="Inter" pitchFamily="34" charset="-122"/>
                <a:cs typeface="Inter" pitchFamily="34" charset="-120"/>
              </a:rPr>
              <a:t>Shein to buy Everlane (NPR via Michigan Public, 22 May 2026)</a:t>
            </a:r>
            <a:endParaRPr lang="en-US" sz="1200" dirty="0"/>
          </a:p>
          <a:p>
            <a:pPr indent="0" marL="0">
              <a:buNone/>
            </a:pPr>
            <a:r>
              <a:rPr lang="en-US" sz="900" dirty="0">
                <a:solidFill>
                  <a:srgbClr val="64748B"/>
                </a:solidFill>
                <a:latin typeface="Inter" pitchFamily="34" charset="0"/>
                <a:ea typeface="Inter" pitchFamily="34" charset="-122"/>
                <a:cs typeface="Inter" pitchFamily="34" charset="-120"/>
              </a:rPr>
              <a:t>Everlane agreed to be acquired; price not disclosed</a:t>
            </a:r>
            <a:endParaRPr lang="en-US" sz="1200" dirty="0"/>
          </a:p>
          <a:p>
            <a:pPr indent="0" marL="0">
              <a:buNone/>
            </a:pPr>
            <a:r>
              <a:rPr lang="en-US" sz="850" u="sng" dirty="0">
                <a:solidFill>
                  <a:srgbClr val="1D4ED8"/>
                </a:solidFill>
                <a:latin typeface="Inter" pitchFamily="34" charset="0"/>
                <a:ea typeface="Inter" pitchFamily="34" charset="-122"/>
                <a:cs typeface="Inter" pitchFamily="34" charset="-120"/>
                <a:hlinkClick r:id="rId3" invalidUrl="" action="" tgtFrame="" tooltip="" history="1" highlightClick="0" endSnd="0">
                  <a:extLst>
                    <a:ext uri="{A12FA001-AC4F-418D-AE19-62706E023703}">
                      <ahyp:hlinkClr xmlns:ahyp="http://schemas.microsoft.com/office/drawing/2018/hyperlinkcolor" val="tx"/>
                    </a:ext>
                  </a:extLst>
                </a:hlinkClick>
              </a:rPr>
              <a:t>michiganpublic.org/2026-05-22/shein-buys-everlane-which-sold-millennia</a:t>
            </a:r>
            <a:endParaRPr lang="en-US" sz="1200" dirty="0"/>
          </a:p>
        </p:txBody>
      </p:sp>
      <p:sp>
        <p:nvSpPr>
          <p:cNvPr id="14" name="Text 11"/>
          <p:cNvSpPr txBox="1"/>
          <p:nvPr/>
        </p:nvSpPr>
        <p:spPr>
          <a:xfrm>
            <a:off x="502920" y="4133088"/>
            <a:ext cx="5394960" cy="621792"/>
          </a:xfrm>
          <a:prstGeom prst="rect">
            <a:avLst/>
          </a:prstGeom>
          <a:noFill/>
          <a:ln/>
        </p:spPr>
        <p:txBody>
          <a:bodyPr wrap="square" lIns="0" tIns="0" rIns="0" bIns="0" rtlCol="0" anchor="t"/>
          <a:lstStyle/>
          <a:p>
            <a:pPr indent="0" marL="0">
              <a:buNone/>
            </a:pPr>
            <a:r>
              <a:rPr lang="en-US" sz="1050" b="1" dirty="0">
                <a:solidFill>
                  <a:srgbClr val="0F172A"/>
                </a:solidFill>
                <a:latin typeface="Inter" pitchFamily="34" charset="0"/>
                <a:ea typeface="Inter" pitchFamily="34" charset="-122"/>
                <a:cs typeface="Inter" pitchFamily="34" charset="-120"/>
              </a:rPr>
              <a:t>Gordon, Zettelmeyer, Bhargava &amp; Chapsky (2019)</a:t>
            </a:r>
            <a:endParaRPr lang="en-US" sz="1200" dirty="0"/>
          </a:p>
          <a:p>
            <a:pPr indent="0" marL="0">
              <a:buNone/>
            </a:pPr>
            <a:r>
              <a:rPr lang="en-US" sz="900" dirty="0">
                <a:solidFill>
                  <a:srgbClr val="64748B"/>
                </a:solidFill>
                <a:latin typeface="Inter" pitchFamily="34" charset="0"/>
                <a:ea typeface="Inter" pitchFamily="34" charset="-122"/>
                <a:cs typeface="Inter" pitchFamily="34" charset="-120"/>
              </a:rPr>
              <a:t>A Comparison of Approaches to Advertising Measurement. Marketing Science 38(2)</a:t>
            </a:r>
            <a:endParaRPr lang="en-US" sz="1200" dirty="0"/>
          </a:p>
          <a:p>
            <a:pPr indent="0" marL="0">
              <a:buNone/>
            </a:pPr>
            <a:r>
              <a:rPr lang="en-US" sz="850" u="sng" dirty="0">
                <a:solidFill>
                  <a:srgbClr val="1D4ED8"/>
                </a:solidFill>
                <a:latin typeface="Inter" pitchFamily="34" charset="0"/>
                <a:ea typeface="Inter" pitchFamily="34" charset="-122"/>
                <a:cs typeface="Inter" pitchFamily="34" charset="-120"/>
                <a:hlinkClick r:id="rId4" invalidUrl="" action="" tgtFrame="" tooltip="" history="1" highlightClick="0" endSnd="0">
                  <a:extLst>
                    <a:ext uri="{A12FA001-AC4F-418D-AE19-62706E023703}">
                      <ahyp:hlinkClr xmlns:ahyp="http://schemas.microsoft.com/office/drawing/2018/hyperlinkcolor" val="tx"/>
                    </a:ext>
                  </a:extLst>
                </a:hlinkClick>
              </a:rPr>
              <a:t>doi.org/10.1287/mksc.2018.1135</a:t>
            </a:r>
            <a:endParaRPr lang="en-US" sz="1200" dirty="0"/>
          </a:p>
        </p:txBody>
      </p:sp>
      <p:sp>
        <p:nvSpPr>
          <p:cNvPr id="15" name="Text 12"/>
          <p:cNvSpPr txBox="1"/>
          <p:nvPr/>
        </p:nvSpPr>
        <p:spPr>
          <a:xfrm>
            <a:off x="502920" y="4773168"/>
            <a:ext cx="5394960" cy="621792"/>
          </a:xfrm>
          <a:prstGeom prst="rect">
            <a:avLst/>
          </a:prstGeom>
          <a:noFill/>
          <a:ln/>
        </p:spPr>
        <p:txBody>
          <a:bodyPr wrap="square" lIns="0" tIns="0" rIns="0" bIns="0" rtlCol="0" anchor="t"/>
          <a:lstStyle/>
          <a:p>
            <a:pPr indent="0" marL="0">
              <a:buNone/>
            </a:pPr>
            <a:r>
              <a:rPr lang="en-US" sz="1050" b="1" dirty="0">
                <a:solidFill>
                  <a:srgbClr val="0F172A"/>
                </a:solidFill>
                <a:latin typeface="Inter" pitchFamily="34" charset="0"/>
                <a:ea typeface="Inter" pitchFamily="34" charset="-122"/>
                <a:cs typeface="Inter" pitchFamily="34" charset="-120"/>
              </a:rPr>
              <a:t>Blake, Nosko &amp; Tadelis (2015)</a:t>
            </a:r>
            <a:endParaRPr lang="en-US" sz="1200" dirty="0"/>
          </a:p>
          <a:p>
            <a:pPr indent="0" marL="0">
              <a:buNone/>
            </a:pPr>
            <a:r>
              <a:rPr lang="en-US" sz="900" dirty="0">
                <a:solidFill>
                  <a:srgbClr val="64748B"/>
                </a:solidFill>
                <a:latin typeface="Inter" pitchFamily="34" charset="0"/>
                <a:ea typeface="Inter" pitchFamily="34" charset="-122"/>
                <a:cs typeface="Inter" pitchFamily="34" charset="-120"/>
              </a:rPr>
              <a:t>Consumer Heterogeneity and Paid Search Effectiveness. Econometrica 83(1)</a:t>
            </a:r>
            <a:endParaRPr lang="en-US" sz="1200" dirty="0"/>
          </a:p>
          <a:p>
            <a:pPr indent="0" marL="0">
              <a:buNone/>
            </a:pPr>
            <a:r>
              <a:rPr lang="en-US" sz="850" u="sng" dirty="0">
                <a:solidFill>
                  <a:srgbClr val="1D4ED8"/>
                </a:solidFill>
                <a:latin typeface="Inter" pitchFamily="34" charset="0"/>
                <a:ea typeface="Inter" pitchFamily="34" charset="-122"/>
                <a:cs typeface="Inter" pitchFamily="34" charset="-120"/>
                <a:hlinkClick r:id="rId5" invalidUrl="" action="" tgtFrame="" tooltip="" history="1" highlightClick="0" endSnd="0">
                  <a:extLst>
                    <a:ext uri="{A12FA001-AC4F-418D-AE19-62706E023703}">
                      <ahyp:hlinkClr xmlns:ahyp="http://schemas.microsoft.com/office/drawing/2018/hyperlinkcolor" val="tx"/>
                    </a:ext>
                  </a:extLst>
                </a:hlinkClick>
              </a:rPr>
              <a:t>doi.org/10.3982/ECTA12423</a:t>
            </a:r>
            <a:endParaRPr lang="en-US" sz="1200" dirty="0"/>
          </a:p>
        </p:txBody>
      </p:sp>
      <p:sp>
        <p:nvSpPr>
          <p:cNvPr id="16" name="Text 13"/>
          <p:cNvSpPr txBox="1"/>
          <p:nvPr/>
        </p:nvSpPr>
        <p:spPr>
          <a:xfrm>
            <a:off x="6291072" y="1234440"/>
            <a:ext cx="5394960" cy="274320"/>
          </a:xfrm>
          <a:prstGeom prst="rect">
            <a:avLst/>
          </a:prstGeom>
          <a:noFill/>
          <a:ln/>
        </p:spPr>
        <p:txBody>
          <a:bodyPr wrap="square" lIns="0" tIns="0" rIns="0" bIns="0" rtlCol="0" anchor="t"/>
          <a:lstStyle/>
          <a:p>
            <a:pPr indent="0" marL="0">
              <a:buNone/>
            </a:pPr>
            <a:r>
              <a:rPr lang="en-US" sz="1250" b="1" dirty="0">
                <a:solidFill>
                  <a:srgbClr val="1D4ED8"/>
                </a:solidFill>
                <a:latin typeface="Inter" pitchFamily="34" charset="0"/>
                <a:ea typeface="Inter" pitchFamily="34" charset="-122"/>
                <a:cs typeface="Inter" pitchFamily="34" charset="-120"/>
              </a:rPr>
              <a:t>Market and industry research</a:t>
            </a:r>
            <a:endParaRPr lang="en-US" sz="1250" dirty="0"/>
          </a:p>
        </p:txBody>
      </p:sp>
      <p:sp>
        <p:nvSpPr>
          <p:cNvPr id="17" name="Text 14"/>
          <p:cNvSpPr txBox="1"/>
          <p:nvPr/>
        </p:nvSpPr>
        <p:spPr>
          <a:xfrm>
            <a:off x="6291072" y="1572768"/>
            <a:ext cx="5394960" cy="621792"/>
          </a:xfrm>
          <a:prstGeom prst="rect">
            <a:avLst/>
          </a:prstGeom>
          <a:noFill/>
          <a:ln/>
        </p:spPr>
        <p:txBody>
          <a:bodyPr wrap="square" lIns="0" tIns="0" rIns="0" bIns="0" rtlCol="0" anchor="t"/>
          <a:lstStyle/>
          <a:p>
            <a:pPr indent="0" marL="0">
              <a:buNone/>
            </a:pPr>
            <a:r>
              <a:rPr lang="en-US" sz="1050" b="1" dirty="0">
                <a:solidFill>
                  <a:srgbClr val="0F172A"/>
                </a:solidFill>
                <a:latin typeface="Inter" pitchFamily="34" charset="0"/>
                <a:ea typeface="Inter" pitchFamily="34" charset="-122"/>
                <a:cs typeface="Inter" pitchFamily="34" charset="-120"/>
              </a:rPr>
              <a:t>Adjust: ATT opt-in rates 2025</a:t>
            </a:r>
            <a:endParaRPr lang="en-US" sz="1200" dirty="0"/>
          </a:p>
          <a:p>
            <a:pPr indent="0" marL="0">
              <a:buNone/>
            </a:pPr>
            <a:r>
              <a:rPr lang="en-US" sz="900" dirty="0">
                <a:solidFill>
                  <a:srgbClr val="64748B"/>
                </a:solidFill>
                <a:latin typeface="Inter" pitchFamily="34" charset="0"/>
                <a:ea typeface="Inter" pitchFamily="34" charset="-122"/>
                <a:cs typeface="Inter" pitchFamily="34" charset="-120"/>
              </a:rPr>
              <a:t>35% average opt-in among users shown the prompt, Q2 2025</a:t>
            </a:r>
            <a:endParaRPr lang="en-US" sz="1200" dirty="0"/>
          </a:p>
          <a:p>
            <a:pPr indent="0" marL="0">
              <a:buNone/>
            </a:pPr>
            <a:r>
              <a:rPr lang="en-US" sz="850" u="sng" dirty="0">
                <a:solidFill>
                  <a:srgbClr val="1D4ED8"/>
                </a:solidFill>
                <a:latin typeface="Inter" pitchFamily="34" charset="0"/>
                <a:ea typeface="Inter" pitchFamily="34" charset="-122"/>
                <a:cs typeface="Inter" pitchFamily="34" charset="-120"/>
                <a:hlinkClick r:id="rId6" invalidUrl="" action="" tgtFrame="" tooltip="" history="1" highlightClick="0" endSnd="0">
                  <a:extLst>
                    <a:ext uri="{A12FA001-AC4F-418D-AE19-62706E023703}">
                      <ahyp:hlinkClr xmlns:ahyp="http://schemas.microsoft.com/office/drawing/2018/hyperlinkcolor" val="tx"/>
                    </a:ext>
                  </a:extLst>
                </a:hlinkClick>
              </a:rPr>
              <a:t>adjust.com/blog/att-opt-in-rates-2025</a:t>
            </a:r>
            <a:endParaRPr lang="en-US" sz="1200" dirty="0"/>
          </a:p>
        </p:txBody>
      </p:sp>
      <p:sp>
        <p:nvSpPr>
          <p:cNvPr id="18" name="Text 15"/>
          <p:cNvSpPr txBox="1"/>
          <p:nvPr/>
        </p:nvSpPr>
        <p:spPr>
          <a:xfrm>
            <a:off x="6291072" y="2212848"/>
            <a:ext cx="5394960" cy="621792"/>
          </a:xfrm>
          <a:prstGeom prst="rect">
            <a:avLst/>
          </a:prstGeom>
          <a:noFill/>
          <a:ln/>
        </p:spPr>
        <p:txBody>
          <a:bodyPr wrap="square" lIns="0" tIns="0" rIns="0" bIns="0" rtlCol="0" anchor="t"/>
          <a:lstStyle/>
          <a:p>
            <a:pPr indent="0" marL="0">
              <a:buNone/>
            </a:pPr>
            <a:r>
              <a:rPr lang="en-US" sz="1050" b="1" dirty="0">
                <a:solidFill>
                  <a:srgbClr val="0F172A"/>
                </a:solidFill>
                <a:latin typeface="Inter" pitchFamily="34" charset="0"/>
                <a:ea typeface="Inter" pitchFamily="34" charset="-122"/>
                <a:cs typeface="Inter" pitchFamily="34" charset="-120"/>
              </a:rPr>
              <a:t>AppsFlyer: four years after ATT (Apr 2025)</a:t>
            </a:r>
            <a:endParaRPr lang="en-US" sz="1200" dirty="0"/>
          </a:p>
          <a:p>
            <a:pPr indent="0" marL="0">
              <a:buNone/>
            </a:pPr>
            <a:r>
              <a:rPr lang="en-US" sz="900" dirty="0">
                <a:solidFill>
                  <a:srgbClr val="64748B"/>
                </a:solidFill>
                <a:latin typeface="Inter" pitchFamily="34" charset="0"/>
                <a:ea typeface="Inter" pitchFamily="34" charset="-122"/>
                <a:cs typeface="Inter" pitchFamily="34" charset="-120"/>
              </a:rPr>
              <a:t>About 50% of users consent to tracking globally</a:t>
            </a:r>
            <a:endParaRPr lang="en-US" sz="1200" dirty="0"/>
          </a:p>
          <a:p>
            <a:pPr indent="0" marL="0">
              <a:buNone/>
            </a:pPr>
            <a:r>
              <a:rPr lang="en-US" sz="850" u="sng" dirty="0">
                <a:solidFill>
                  <a:srgbClr val="1D4ED8"/>
                </a:solidFill>
                <a:latin typeface="Inter" pitchFamily="34" charset="0"/>
                <a:ea typeface="Inter" pitchFamily="34" charset="-122"/>
                <a:cs typeface="Inter" pitchFamily="34" charset="-120"/>
                <a:hlinkClick r:id="rId7" invalidUrl="" action="" tgtFrame="" tooltip="" history="1" highlightClick="0" endSnd="0">
                  <a:extLst>
                    <a:ext uri="{A12FA001-AC4F-418D-AE19-62706E023703}">
                      <ahyp:hlinkClr xmlns:ahyp="http://schemas.microsoft.com/office/drawing/2018/hyperlinkcolor" val="tx"/>
                    </a:ext>
                  </a:extLst>
                </a:hlinkClick>
              </a:rPr>
              <a:t>appsflyer.com/company/newsroom/pr/post-att-growth-2/</a:t>
            </a:r>
            <a:endParaRPr lang="en-US" sz="1200" dirty="0"/>
          </a:p>
        </p:txBody>
      </p:sp>
      <p:sp>
        <p:nvSpPr>
          <p:cNvPr id="19" name="Text 16"/>
          <p:cNvSpPr txBox="1"/>
          <p:nvPr/>
        </p:nvSpPr>
        <p:spPr>
          <a:xfrm>
            <a:off x="6291072" y="2852928"/>
            <a:ext cx="5394960" cy="621792"/>
          </a:xfrm>
          <a:prstGeom prst="rect">
            <a:avLst/>
          </a:prstGeom>
          <a:noFill/>
          <a:ln/>
        </p:spPr>
        <p:txBody>
          <a:bodyPr wrap="square" lIns="0" tIns="0" rIns="0" bIns="0" rtlCol="0" anchor="t"/>
          <a:lstStyle/>
          <a:p>
            <a:pPr indent="0" marL="0">
              <a:buNone/>
            </a:pPr>
            <a:r>
              <a:rPr lang="en-US" sz="1050" b="1" dirty="0">
                <a:solidFill>
                  <a:srgbClr val="0F172A"/>
                </a:solidFill>
                <a:latin typeface="Inter" pitchFamily="34" charset="0"/>
                <a:ea typeface="Inter" pitchFamily="34" charset="-122"/>
                <a:cs typeface="Inter" pitchFamily="34" charset="-120"/>
              </a:rPr>
              <a:t>Meta Q2 2026 results (Adweek, Jul 2026)</a:t>
            </a:r>
            <a:endParaRPr lang="en-US" sz="1200" dirty="0"/>
          </a:p>
          <a:p>
            <a:pPr indent="0" marL="0">
              <a:buNone/>
            </a:pPr>
            <a:r>
              <a:rPr lang="en-US" sz="900" dirty="0">
                <a:solidFill>
                  <a:srgbClr val="64748B"/>
                </a:solidFill>
                <a:latin typeface="Inter" pitchFamily="34" charset="0"/>
                <a:ea typeface="Inter" pitchFamily="34" charset="-122"/>
                <a:cs typeface="Inter" pitchFamily="34" charset="-120"/>
              </a:rPr>
              <a:t>Average price per ad +12% and ad impressions +14% year on year</a:t>
            </a:r>
            <a:endParaRPr lang="en-US" sz="1200" dirty="0"/>
          </a:p>
          <a:p>
            <a:pPr indent="0" marL="0">
              <a:buNone/>
            </a:pPr>
            <a:r>
              <a:rPr lang="en-US" sz="850" u="sng" dirty="0">
                <a:solidFill>
                  <a:srgbClr val="1D4ED8"/>
                </a:solidFill>
                <a:latin typeface="Inter" pitchFamily="34" charset="0"/>
                <a:ea typeface="Inter" pitchFamily="34" charset="-122"/>
                <a:cs typeface="Inter" pitchFamily="34" charset="-120"/>
                <a:hlinkClick r:id="rId8" invalidUrl="" action="" tgtFrame="" tooltip="" history="1" highlightClick="0" endSnd="0">
                  <a:extLst>
                    <a:ext uri="{A12FA001-AC4F-418D-AE19-62706E023703}">
                      <ahyp:hlinkClr xmlns:ahyp="http://schemas.microsoft.com/office/drawing/2018/hyperlinkcolor" val="tx"/>
                    </a:ext>
                  </a:extLst>
                </a:hlinkClick>
              </a:rPr>
              <a:t>adweek.com/?p=1954104</a:t>
            </a:r>
            <a:endParaRPr lang="en-US" sz="1200" dirty="0"/>
          </a:p>
        </p:txBody>
      </p:sp>
      <p:sp>
        <p:nvSpPr>
          <p:cNvPr id="20" name="Text 17"/>
          <p:cNvSpPr txBox="1"/>
          <p:nvPr/>
        </p:nvSpPr>
        <p:spPr>
          <a:xfrm>
            <a:off x="6291072" y="3493008"/>
            <a:ext cx="5394960" cy="621792"/>
          </a:xfrm>
          <a:prstGeom prst="rect">
            <a:avLst/>
          </a:prstGeom>
          <a:noFill/>
          <a:ln/>
        </p:spPr>
        <p:txBody>
          <a:bodyPr wrap="square" lIns="0" tIns="0" rIns="0" bIns="0" rtlCol="0" anchor="t"/>
          <a:lstStyle/>
          <a:p>
            <a:pPr indent="0" marL="0">
              <a:buNone/>
            </a:pPr>
            <a:r>
              <a:rPr lang="en-US" sz="1050" b="1" dirty="0">
                <a:solidFill>
                  <a:srgbClr val="0F172A"/>
                </a:solidFill>
                <a:latin typeface="Inter" pitchFamily="34" charset="0"/>
                <a:ea typeface="Inter" pitchFamily="34" charset="-122"/>
                <a:cs typeface="Inter" pitchFamily="34" charset="-120"/>
              </a:rPr>
              <a:t>Meta Advantage+ as the default campaign setup</a:t>
            </a:r>
            <a:endParaRPr lang="en-US" sz="1200" dirty="0"/>
          </a:p>
          <a:p>
            <a:pPr indent="0" marL="0">
              <a:buNone/>
            </a:pPr>
            <a:r>
              <a:rPr lang="en-US" sz="900" dirty="0">
                <a:solidFill>
                  <a:srgbClr val="64748B"/>
                </a:solidFill>
                <a:latin typeface="Inter" pitchFamily="34" charset="0"/>
                <a:ea typeface="Inter" pitchFamily="34" charset="-122"/>
                <a:cs typeface="Inter" pitchFamily="34" charset="-120"/>
              </a:rPr>
              <a:t>Audiences treated as suggestions unless set as limits (Jon Loomer)</a:t>
            </a:r>
            <a:endParaRPr lang="en-US" sz="1200" dirty="0"/>
          </a:p>
          <a:p>
            <a:pPr indent="0" marL="0">
              <a:buNone/>
            </a:pPr>
            <a:r>
              <a:rPr lang="en-US" sz="850" u="sng" dirty="0">
                <a:solidFill>
                  <a:srgbClr val="1D4ED8"/>
                </a:solidFill>
                <a:latin typeface="Inter" pitchFamily="34" charset="0"/>
                <a:ea typeface="Inter" pitchFamily="34" charset="-122"/>
                <a:cs typeface="Inter" pitchFamily="34" charset="-120"/>
                <a:hlinkClick r:id="rId9" invalidUrl="" action="" tgtFrame="" tooltip="" history="1" highlightClick="0" endSnd="0">
                  <a:extLst>
                    <a:ext uri="{A12FA001-AC4F-418D-AE19-62706E023703}">
                      <ahyp:hlinkClr xmlns:ahyp="http://schemas.microsoft.com/office/drawing/2018/hyperlinkcolor" val="tx"/>
                    </a:ext>
                  </a:extLst>
                </a:hlinkClick>
              </a:rPr>
              <a:t>jonloomer.com/advantage-plus-campaign-setup-targeting/</a:t>
            </a:r>
            <a:endParaRPr lang="en-US" sz="1200" dirty="0"/>
          </a:p>
        </p:txBody>
      </p:sp>
      <p:sp>
        <p:nvSpPr>
          <p:cNvPr id="21" name="Text 18"/>
          <p:cNvSpPr txBox="1"/>
          <p:nvPr/>
        </p:nvSpPr>
        <p:spPr>
          <a:xfrm>
            <a:off x="6291072" y="4133088"/>
            <a:ext cx="5394960" cy="621792"/>
          </a:xfrm>
          <a:prstGeom prst="rect">
            <a:avLst/>
          </a:prstGeom>
          <a:noFill/>
          <a:ln/>
        </p:spPr>
        <p:txBody>
          <a:bodyPr wrap="square" lIns="0" tIns="0" rIns="0" bIns="0" rtlCol="0" anchor="t"/>
          <a:lstStyle/>
          <a:p>
            <a:pPr indent="0" marL="0">
              <a:buNone/>
            </a:pPr>
            <a:r>
              <a:rPr lang="en-US" sz="1050" b="1" dirty="0">
                <a:solidFill>
                  <a:srgbClr val="0F172A"/>
                </a:solidFill>
                <a:latin typeface="Inter" pitchFamily="34" charset="0"/>
                <a:ea typeface="Inter" pitchFamily="34" charset="-122"/>
                <a:cs typeface="Inter" pitchFamily="34" charset="-120"/>
              </a:rPr>
              <a:t>TikTok US joint venture (The Register, 23 Jan 2026)</a:t>
            </a:r>
            <a:endParaRPr lang="en-US" sz="1200" dirty="0"/>
          </a:p>
          <a:p>
            <a:pPr indent="0" marL="0">
              <a:buNone/>
            </a:pPr>
            <a:r>
              <a:rPr lang="en-US" sz="900" dirty="0">
                <a:solidFill>
                  <a:srgbClr val="64748B"/>
                </a:solidFill>
                <a:latin typeface="Inter" pitchFamily="34" charset="0"/>
                <a:ea typeface="Inter" pitchFamily="34" charset="-122"/>
                <a:cs typeface="Inter" pitchFamily="34" charset="-120"/>
              </a:rPr>
              <a:t>Oracle, Silver Lake and MGX among investors</a:t>
            </a:r>
            <a:endParaRPr lang="en-US" sz="1200" dirty="0"/>
          </a:p>
          <a:p>
            <a:pPr indent="0" marL="0">
              <a:buNone/>
            </a:pPr>
            <a:r>
              <a:rPr lang="en-US" sz="850" u="sng" dirty="0">
                <a:solidFill>
                  <a:srgbClr val="1D4ED8"/>
                </a:solidFill>
                <a:latin typeface="Inter" pitchFamily="34" charset="0"/>
                <a:ea typeface="Inter" pitchFamily="34" charset="-122"/>
                <a:cs typeface="Inter" pitchFamily="34" charset="-120"/>
                <a:hlinkClick r:id="rId10" invalidUrl="" action="" tgtFrame="" tooltip="" history="1" highlightClick="0" endSnd="0">
                  <a:extLst>
                    <a:ext uri="{A12FA001-AC4F-418D-AE19-62706E023703}">
                      <ahyp:hlinkClr xmlns:ahyp="http://schemas.microsoft.com/office/drawing/2018/hyperlinkcolor" val="tx"/>
                    </a:ext>
                  </a:extLst>
                </a:hlinkClick>
              </a:rPr>
              <a:t>theregister.com/2026/01/23/jv_announces_tiktok_us_acquisition/</a:t>
            </a:r>
            <a:endParaRPr lang="en-US" sz="1200" dirty="0"/>
          </a:p>
        </p:txBody>
      </p:sp>
      <p:sp>
        <p:nvSpPr>
          <p:cNvPr id="22" name="Text 19"/>
          <p:cNvSpPr txBox="1"/>
          <p:nvPr/>
        </p:nvSpPr>
        <p:spPr>
          <a:xfrm>
            <a:off x="6291072" y="4773168"/>
            <a:ext cx="5394960" cy="621792"/>
          </a:xfrm>
          <a:prstGeom prst="rect">
            <a:avLst/>
          </a:prstGeom>
          <a:noFill/>
          <a:ln/>
        </p:spPr>
        <p:txBody>
          <a:bodyPr wrap="square" lIns="0" tIns="0" rIns="0" bIns="0" rtlCol="0" anchor="t"/>
          <a:lstStyle/>
          <a:p>
            <a:pPr indent="0" marL="0">
              <a:buNone/>
            </a:pPr>
            <a:r>
              <a:rPr lang="en-US" sz="1050" b="1" dirty="0">
                <a:solidFill>
                  <a:srgbClr val="0F172A"/>
                </a:solidFill>
                <a:latin typeface="Inter" pitchFamily="34" charset="0"/>
                <a:ea typeface="Inter" pitchFamily="34" charset="-122"/>
                <a:cs typeface="Inter" pitchFamily="34" charset="-120"/>
              </a:rPr>
              <a:t>University of Michigan Surveys of Consumers</a:t>
            </a:r>
            <a:endParaRPr lang="en-US" sz="1200" dirty="0"/>
          </a:p>
          <a:p>
            <a:pPr indent="0" marL="0">
              <a:buNone/>
            </a:pPr>
            <a:r>
              <a:rPr lang="en-US" sz="900" dirty="0">
                <a:solidFill>
                  <a:srgbClr val="64748B"/>
                </a:solidFill>
                <a:latin typeface="Inter" pitchFamily="34" charset="0"/>
                <a:ea typeface="Inter" pitchFamily="34" charset="-122"/>
                <a:cs typeface="Inter" pitchFamily="34" charset="-120"/>
              </a:rPr>
              <a:t>Record low in May 2026; 46.3 preliminary in October 2026</a:t>
            </a:r>
            <a:endParaRPr lang="en-US" sz="1200" dirty="0"/>
          </a:p>
          <a:p>
            <a:pPr indent="0" marL="0">
              <a:buNone/>
            </a:pPr>
            <a:r>
              <a:rPr lang="en-US" sz="850" u="sng" dirty="0">
                <a:solidFill>
                  <a:srgbClr val="1D4ED8"/>
                </a:solidFill>
                <a:latin typeface="Inter" pitchFamily="34" charset="0"/>
                <a:ea typeface="Inter" pitchFamily="34" charset="-122"/>
                <a:cs typeface="Inter" pitchFamily="34" charset="-120"/>
                <a:hlinkClick r:id="rId11" invalidUrl="" action="" tgtFrame="" tooltip="" history="1" highlightClick="0" endSnd="0">
                  <a:extLst>
                    <a:ext uri="{A12FA001-AC4F-418D-AE19-62706E023703}">
                      <ahyp:hlinkClr xmlns:ahyp="http://schemas.microsoft.com/office/drawing/2018/hyperlinkcolor" val="tx"/>
                    </a:ext>
                  </a:extLst>
                </a:hlinkClick>
              </a:rPr>
              <a:t>sca.isr.umich.edu/</a:t>
            </a:r>
            <a:endParaRPr lang="en-US" sz="1200" dirty="0"/>
          </a:p>
        </p:txBody>
      </p:sp>
      <p:sp>
        <p:nvSpPr>
          <p:cNvPr id="23" name="Text 20"/>
          <p:cNvSpPr txBox="1"/>
          <p:nvPr/>
        </p:nvSpPr>
        <p:spPr>
          <a:xfrm>
            <a:off x="6291072" y="5413248"/>
            <a:ext cx="5394960" cy="621792"/>
          </a:xfrm>
          <a:prstGeom prst="rect">
            <a:avLst/>
          </a:prstGeom>
          <a:noFill/>
          <a:ln/>
        </p:spPr>
        <p:txBody>
          <a:bodyPr wrap="square" lIns="0" tIns="0" rIns="0" bIns="0" rtlCol="0" anchor="t"/>
          <a:lstStyle/>
          <a:p>
            <a:pPr indent="0" marL="0">
              <a:buNone/>
            </a:pPr>
            <a:r>
              <a:rPr lang="en-US" sz="1050" b="1" dirty="0">
                <a:solidFill>
                  <a:srgbClr val="0F172A"/>
                </a:solidFill>
                <a:latin typeface="Inter" pitchFamily="34" charset="0"/>
                <a:ea typeface="Inter" pitchFamily="34" charset="-122"/>
                <a:cs typeface="Inter" pitchFamily="34" charset="-120"/>
              </a:rPr>
              <a:t>Cotton Incorporated, Executive Cotton Update (Jun 2026)</a:t>
            </a:r>
            <a:endParaRPr lang="en-US" sz="1200" dirty="0"/>
          </a:p>
          <a:p>
            <a:pPr indent="0" marL="0">
              <a:buNone/>
            </a:pPr>
            <a:r>
              <a:rPr lang="en-US" sz="900" dirty="0">
                <a:solidFill>
                  <a:srgbClr val="64748B"/>
                </a:solidFill>
                <a:latin typeface="Inter" pitchFamily="34" charset="0"/>
                <a:ea typeface="Inter" pitchFamily="34" charset="-122"/>
                <a:cs typeface="Inter" pitchFamily="34" charset="-120"/>
              </a:rPr>
              <a:t>US garment prices rose sharply in early 2026 amid tariffs</a:t>
            </a:r>
            <a:endParaRPr lang="en-US" sz="1200" dirty="0"/>
          </a:p>
          <a:p>
            <a:pPr indent="0" marL="0">
              <a:buNone/>
            </a:pPr>
            <a:r>
              <a:rPr lang="en-US" sz="850" u="sng" dirty="0">
                <a:solidFill>
                  <a:srgbClr val="1D4ED8"/>
                </a:solidFill>
                <a:latin typeface="Inter" pitchFamily="34" charset="0"/>
                <a:ea typeface="Inter" pitchFamily="34" charset="-122"/>
                <a:cs typeface="Inter" pitchFamily="34" charset="-120"/>
                <a:hlinkClick r:id="rId12" invalidUrl="" action="" tgtFrame="" tooltip="" history="1" highlightClick="0" endSnd="0">
                  <a:extLst>
                    <a:ext uri="{A12FA001-AC4F-418D-AE19-62706E023703}">
                      <ahyp:hlinkClr xmlns:ahyp="http://schemas.microsoft.com/office/drawing/2018/hyperlinkcolor" val="tx"/>
                    </a:ext>
                  </a:extLst>
                </a:hlinkClick>
              </a:rPr>
              <a:t>ecotextile.com/?p=63440</a:t>
            </a:r>
            <a:endParaRPr lang="en-US" sz="1200" dirty="0"/>
          </a:p>
        </p:txBody>
      </p:sp>
      <p:sp>
        <p:nvSpPr>
          <p:cNvPr id="24" name="Text 21"/>
          <p:cNvSpPr txBox="1"/>
          <p:nvPr/>
        </p:nvSpPr>
        <p:spPr>
          <a:xfrm>
            <a:off x="502920" y="5989320"/>
            <a:ext cx="11183112" cy="365760"/>
          </a:xfrm>
          <a:prstGeom prst="rect">
            <a:avLst/>
          </a:prstGeom>
          <a:noFill/>
          <a:ln/>
        </p:spPr>
        <p:txBody>
          <a:bodyPr wrap="square" lIns="0" tIns="0" rIns="0" bIns="0" rtlCol="0" anchor="ctr"/>
          <a:lstStyle/>
          <a:p>
            <a:pPr indent="0" marL="0">
              <a:buNone/>
            </a:pPr>
            <a:r>
              <a:rPr lang="en-US" sz="850" b="1" dirty="0">
                <a:solidFill>
                  <a:srgbClr val="0A1F44"/>
                </a:solidFill>
                <a:latin typeface="Inter" pitchFamily="34" charset="0"/>
                <a:ea typeface="Inter" pitchFamily="34" charset="-122"/>
                <a:cs typeface="Inter" pitchFamily="34" charset="-120"/>
              </a:rPr>
              <a:t>Competition and market, added: </a:t>
            </a:r>
            <a:pPr indent="0" marL="0">
              <a:buNone/>
            </a:pPr>
            <a:r>
              <a:rPr lang="en-US" sz="850" u="sng" dirty="0">
                <a:solidFill>
                  <a:srgbClr val="1D4ED8"/>
                </a:solidFill>
                <a:latin typeface="Inter" pitchFamily="34" charset="0"/>
                <a:ea typeface="Inter" pitchFamily="34" charset="-122"/>
                <a:cs typeface="Inter" pitchFamily="34" charset="-120"/>
                <a:hlinkClick r:id="rId13" invalidUrl="" action="" tgtFrame="" tooltip="" history="1" highlightClick="0" endSnd="0">
                  <a:extLst>
                    <a:ext uri="{A12FA001-AC4F-418D-AE19-62706E023703}">
                      <ahyp:hlinkClr xmlns:ahyp="http://schemas.microsoft.com/office/drawing/2018/hyperlinkcolor" val="tx"/>
                    </a:ext>
                  </a:extLst>
                </a:hlinkClick>
              </a:rPr>
              <a:t>Amazon Q2 2026 ads</a:t>
            </a:r>
            <a:pPr indent="0" marL="0">
              <a:buNone/>
            </a:pPr>
            <a:r>
              <a:rPr lang="en-US" sz="850" dirty="0">
                <a:solidFill>
                  <a:srgbClr val="64748B"/>
                </a:solidFill>
                <a:latin typeface="Inter" pitchFamily="34" charset="0"/>
                <a:ea typeface="Inter" pitchFamily="34" charset="-122"/>
                <a:cs typeface="Inter" pitchFamily="34" charset="-120"/>
              </a:rPr>
              <a:t> · </a:t>
            </a:r>
            <a:pPr indent="0" marL="0">
              <a:buNone/>
            </a:pPr>
            <a:r>
              <a:rPr lang="en-US" sz="850" u="sng" dirty="0">
                <a:solidFill>
                  <a:srgbClr val="1D4ED8"/>
                </a:solidFill>
                <a:latin typeface="Inter" pitchFamily="34" charset="0"/>
                <a:ea typeface="Inter" pitchFamily="34" charset="-122"/>
                <a:cs typeface="Inter" pitchFamily="34" charset="-120"/>
                <a:hlinkClick r:id="rId14" invalidUrl="" action="" tgtFrame="" tooltip="" history="1" highlightClick="0" endSnd="0">
                  <a:extLst>
                    <a:ext uri="{A12FA001-AC4F-418D-AE19-62706E023703}">
                      <ahyp:hlinkClr xmlns:ahyp="http://schemas.microsoft.com/office/drawing/2018/hyperlinkcolor" val="tx"/>
                    </a:ext>
                  </a:extLst>
                </a:hlinkClick>
              </a:rPr>
              <a:t>Shein/Temu US (CNBC)</a:t>
            </a:r>
            <a:pPr indent="0" marL="0">
              <a:buNone/>
            </a:pPr>
            <a:r>
              <a:rPr lang="en-US" sz="850" dirty="0">
                <a:solidFill>
                  <a:srgbClr val="64748B"/>
                </a:solidFill>
                <a:latin typeface="Inter" pitchFamily="34" charset="0"/>
                <a:ea typeface="Inter" pitchFamily="34" charset="-122"/>
                <a:cs typeface="Inter" pitchFamily="34" charset="-120"/>
              </a:rPr>
              <a:t> · </a:t>
            </a:r>
            <a:pPr indent="0" marL="0">
              <a:buNone/>
            </a:pPr>
            <a:r>
              <a:rPr lang="en-US" sz="850" u="sng" dirty="0">
                <a:solidFill>
                  <a:srgbClr val="1D4ED8"/>
                </a:solidFill>
                <a:latin typeface="Inter" pitchFamily="34" charset="0"/>
                <a:ea typeface="Inter" pitchFamily="34" charset="-122"/>
                <a:cs typeface="Inter" pitchFamily="34" charset="-120"/>
                <a:hlinkClick r:id="rId15" invalidUrl="" action="" tgtFrame="" tooltip="" history="1" highlightClick="0" endSnd="0">
                  <a:extLst>
                    <a:ext uri="{A12FA001-AC4F-418D-AE19-62706E023703}">
                      <ahyp:hlinkClr xmlns:ahyp="http://schemas.microsoft.com/office/drawing/2018/hyperlinkcolor" val="tx"/>
                    </a:ext>
                  </a:extLst>
                </a:hlinkClick>
              </a:rPr>
              <a:t>Everlane sale (Bloomberg Law)</a:t>
            </a:r>
            <a:pPr indent="0" marL="0">
              <a:buNone/>
            </a:pPr>
            <a:r>
              <a:rPr lang="en-US" sz="850" dirty="0">
                <a:solidFill>
                  <a:srgbClr val="64748B"/>
                </a:solidFill>
                <a:latin typeface="Inter" pitchFamily="34" charset="0"/>
                <a:ea typeface="Inter" pitchFamily="34" charset="-122"/>
                <a:cs typeface="Inter" pitchFamily="34" charset="-120"/>
              </a:rPr>
              <a:t> · </a:t>
            </a:r>
            <a:pPr indent="0" marL="0">
              <a:buNone/>
            </a:pPr>
            <a:r>
              <a:rPr lang="en-US" sz="850" u="sng" dirty="0">
                <a:solidFill>
                  <a:srgbClr val="1D4ED8"/>
                </a:solidFill>
                <a:latin typeface="Inter" pitchFamily="34" charset="0"/>
                <a:ea typeface="Inter" pitchFamily="34" charset="-122"/>
                <a:cs typeface="Inter" pitchFamily="34" charset="-120"/>
                <a:hlinkClick r:id="rId16" invalidUrl="" action="" tgtFrame="" tooltip="" history="1" highlightClick="0" endSnd="0">
                  <a:extLst>
                    <a:ext uri="{A12FA001-AC4F-418D-AE19-62706E023703}">
                      <ahyp:hlinkClr xmlns:ahyp="http://schemas.microsoft.com/office/drawing/2018/hyperlinkcolor" val="tx"/>
                    </a:ext>
                  </a:extLst>
                </a:hlinkClick>
              </a:rPr>
              <a:t>Fast Retailing FY2025</a:t>
            </a:r>
            <a:pPr indent="0" marL="0">
              <a:buNone/>
            </a:pPr>
            <a:r>
              <a:rPr lang="en-US" sz="850" dirty="0">
                <a:solidFill>
                  <a:srgbClr val="64748B"/>
                </a:solidFill>
                <a:latin typeface="Inter" pitchFamily="34" charset="0"/>
                <a:ea typeface="Inter" pitchFamily="34" charset="-122"/>
                <a:cs typeface="Inter" pitchFamily="34" charset="-120"/>
              </a:rPr>
              <a:t> · </a:t>
            </a:r>
            <a:pPr indent="0" marL="0">
              <a:buNone/>
            </a:pPr>
            <a:r>
              <a:rPr lang="en-US" sz="850" u="sng" dirty="0">
                <a:solidFill>
                  <a:srgbClr val="1D4ED8"/>
                </a:solidFill>
                <a:latin typeface="Inter" pitchFamily="34" charset="0"/>
                <a:ea typeface="Inter" pitchFamily="34" charset="-122"/>
                <a:cs typeface="Inter" pitchFamily="34" charset="-120"/>
                <a:hlinkClick r:id="rId17" invalidUrl="" action="" tgtFrame="" tooltip="" history="1" highlightClick="0" endSnd="0">
                  <a:extLst>
                    <a:ext uri="{A12FA001-AC4F-418D-AE19-62706E023703}">
                      <ahyp:hlinkClr xmlns:ahyp="http://schemas.microsoft.com/office/drawing/2018/hyperlinkcolor" val="tx"/>
                    </a:ext>
                  </a:extLst>
                </a:hlinkClick>
              </a:rPr>
              <a:t>Tapestry FY2025</a:t>
            </a:r>
            <a:pPr indent="0" marL="0">
              <a:buNone/>
            </a:pPr>
            <a:r>
              <a:rPr lang="en-US" sz="850" dirty="0">
                <a:solidFill>
                  <a:srgbClr val="64748B"/>
                </a:solidFill>
                <a:latin typeface="Inter" pitchFamily="34" charset="0"/>
                <a:ea typeface="Inter" pitchFamily="34" charset="-122"/>
                <a:cs typeface="Inter" pitchFamily="34" charset="-120"/>
              </a:rPr>
              <a:t> · </a:t>
            </a:r>
            <a:pPr indent="0" marL="0">
              <a:buNone/>
            </a:pPr>
            <a:r>
              <a:rPr lang="en-US" sz="850" u="sng" dirty="0">
                <a:solidFill>
                  <a:srgbClr val="1D4ED8"/>
                </a:solidFill>
                <a:latin typeface="Inter" pitchFamily="34" charset="0"/>
                <a:ea typeface="Inter" pitchFamily="34" charset="-122"/>
                <a:cs typeface="Inter" pitchFamily="34" charset="-120"/>
                <a:hlinkClick r:id="rId18" invalidUrl="" action="" tgtFrame="" tooltip="" history="1" highlightClick="0" endSnd="0">
                  <a:extLst>
                    <a:ext uri="{A12FA001-AC4F-418D-AE19-62706E023703}">
                      <ahyp:hlinkClr xmlns:ahyp="http://schemas.microsoft.com/office/drawing/2018/hyperlinkcolor" val="tx"/>
                    </a:ext>
                  </a:extLst>
                </a:hlinkClick>
              </a:rPr>
              <a:t>WSI v. Quince ruling</a:t>
            </a:r>
            <a:pPr indent="0" marL="0">
              <a:buNone/>
            </a:pPr>
            <a:r>
              <a:rPr lang="en-US" sz="850" dirty="0">
                <a:solidFill>
                  <a:srgbClr val="64748B"/>
                </a:solidFill>
                <a:latin typeface="Inter" pitchFamily="34" charset="0"/>
                <a:ea typeface="Inter" pitchFamily="34" charset="-122"/>
                <a:cs typeface="Inter" pitchFamily="34" charset="-120"/>
              </a:rPr>
              <a:t> · </a:t>
            </a:r>
            <a:pPr indent="0" marL="0">
              <a:buNone/>
            </a:pPr>
            <a:r>
              <a:rPr lang="en-US" sz="850" u="sng" dirty="0">
                <a:solidFill>
                  <a:srgbClr val="1D4ED8"/>
                </a:solidFill>
                <a:latin typeface="Inter" pitchFamily="34" charset="0"/>
                <a:ea typeface="Inter" pitchFamily="34" charset="-122"/>
                <a:cs typeface="Inter" pitchFamily="34" charset="-120"/>
                <a:hlinkClick r:id="rId19" invalidUrl="" action="" tgtFrame="" tooltip="" history="1" highlightClick="0" endSnd="0">
                  <a:extLst>
                    <a:ext uri="{A12FA001-AC4F-418D-AE19-62706E023703}">
                      <ahyp:hlinkClr xmlns:ahyp="http://schemas.microsoft.com/office/drawing/2018/hyperlinkcolor" val="tx"/>
                    </a:ext>
                  </a:extLst>
                </a:hlinkClick>
              </a:rPr>
              <a:t>Census e-commerce</a:t>
            </a:r>
            <a:pPr indent="0" marL="0">
              <a:buNone/>
            </a:pPr>
            <a:r>
              <a:rPr lang="en-US" sz="850" dirty="0">
                <a:solidFill>
                  <a:srgbClr val="64748B"/>
                </a:solidFill>
                <a:latin typeface="Inter" pitchFamily="34" charset="0"/>
                <a:ea typeface="Inter" pitchFamily="34" charset="-122"/>
                <a:cs typeface="Inter" pitchFamily="34" charset="-120"/>
              </a:rPr>
              <a:t> · </a:t>
            </a:r>
            <a:pPr indent="0" marL="0">
              <a:buNone/>
            </a:pPr>
            <a:r>
              <a:rPr lang="en-US" sz="850" u="sng" dirty="0">
                <a:solidFill>
                  <a:srgbClr val="1D4ED8"/>
                </a:solidFill>
                <a:latin typeface="Inter" pitchFamily="34" charset="0"/>
                <a:ea typeface="Inter" pitchFamily="34" charset="-122"/>
                <a:cs typeface="Inter" pitchFamily="34" charset="-120"/>
                <a:hlinkClick r:id="rId20" invalidUrl="" action="" tgtFrame="" tooltip="" history="1" highlightClick="0" endSnd="0">
                  <a:extLst>
                    <a:ext uri="{A12FA001-AC4F-418D-AE19-62706E023703}">
                      <ahyp:hlinkClr xmlns:ahyp="http://schemas.microsoft.com/office/drawing/2018/hyperlinkcolor" val="tx"/>
                    </a:ext>
                  </a:extLst>
                </a:hlinkClick>
              </a:rPr>
              <a:t>McKinsey personalization</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Own the Second Purchase</dc:title>
  <dc:subject>PptxGenJS Presentation</dc:subject>
  <dc:creator>Team G27</dc:creator>
  <cp:lastModifiedBy>Team G27</cp:lastModifiedBy>
  <cp:revision>1</cp:revision>
  <dcterms:created xsi:type="dcterms:W3CDTF">2026-10-17T15:48:37Z</dcterms:created>
  <dcterms:modified xsi:type="dcterms:W3CDTF">2026-10-17T15:48:37Z</dcterms:modified>
</cp:coreProperties>
</file>