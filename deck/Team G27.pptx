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to remember: move $9M of the fixed $120M from rented to owned channels to win the second purchase, lifting 90-day repeat from 24% to about 31% and cutting blended CAC 12 to 14%, with no new budget and no discounts. Each row is the headline of the slide that proves it: market, customer, competition, capabilities, next steps. All three constraints are met.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Market: rented reach costs more every year. CAC is up 29% to $62, 60% of the budget sits on three social platforms whose rules Quince can't set, and only 5% goes to channels Quince owns. A $10 billion valuation needs a brand people come back to, not one that rents every customer.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Customer: traffic is not the problem. 77% of people who add to cart never order, and only one message follows 11,610 cart adds. After order one, engagement decides who comes back: 28.1% vs 4.7%. Week 2 is the peak, so we act in the first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Competition: a 20% discount code can be matched in a day; a triggered lifecycle program with a consented customer base takes 9 to 12 months to copy. Quince moves up the map: same price, owned relationship.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Capabilities: the data is ready, because CJA already stitches one person across web, app, email and SMS. What's missing is the lifecycle muscle: a cross-functional retention pod fed by shipping events. Every gap is costed, $6.0M in total, inside the $7.5M owned-channel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steps: only $4M moves first, out of paid social retargeting, in a South pilot with a 10% holdout. If they push on cutting paid social: we cut retargeting first, not prospecting, because it barely moves under any attribution model (12.9% to 12.4%) and pays for sales that would happen anyway; prospecting moves only in tranche 3 and only if a holdout proves it is over-credited. If they ask what happens if it fails: Gate 1 at month 3, the pilot must beat the holdout by 2 points on 30-day repeat, or the money goes back. Who decides: the holdout data, reviewed by a weekly growth and analytics council, not a budget fight. Close: approve tranche 1 on Monday.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1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287/mksc.2018.1135" TargetMode="External"/><Relationship Id="rId3" Type="http://schemas.openxmlformats.org/officeDocument/2006/relationships/hyperlink" Target="https://doi.org/10.3982/ECTA12423" TargetMode="External"/><Relationship Id="rId4" Type="http://schemas.openxmlformats.org/officeDocument/2006/relationships/hyperlink" Target="https://www.wusf.org/2026-05-22/shein-buys-everlane-which-sold-millennials-the-dream-of-ethical-affordable-luxury" TargetMode="External"/><Relationship Id="rId5" Type="http://schemas.openxmlformats.org/officeDocument/2006/relationships/hyperlink" Target="https://www.thefashionlaw.com/quince-beats-williams-sonoma-false-advertising-claims-over-product-comparisons/" TargetMode="External"/><Relationship Id="rId1" Type="http://schemas.openxmlformats.org/officeDocument/2006/relationships/image" Target="../media/image-26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Quince/7efe80ae-a049-50c2-9886-98bf7ca3a04a/scratchpad/assets/quinc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72434"/>
            <a:ext cx="1188720" cy="35474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875520" y="5669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1488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the Second Purchase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0040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viral first buyers into repeat customers with the same $120M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0080" y="434340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6306A"/>
          </a:solidFill>
          <a:ln w="9525">
            <a:solidFill>
              <a:srgbClr val="3554A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24% → 31%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971800" y="434340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6306A"/>
          </a:solidFill>
          <a:ln w="9525">
            <a:solidFill>
              <a:srgbClr val="3554A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15468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 to −14%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15468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303520" y="434340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6306A"/>
          </a:solidFill>
          <a:ln w="9525">
            <a:solidFill>
              <a:srgbClr val="3554A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budget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Retargeting and lifecycle strategy  ·  Grounded in Adobe Customer Journey Analytics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081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Competition World Cup  ·  Graduate Track  · 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the second purchase: repeat to 31%, same budget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Quince Case Data View, Jan–Apr 2026; case Exhibits D, G, H, J, M; team estimates. Lever effects are gross before haircuts; the base case nets them to 31%.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234440"/>
            <a:ext cx="11183112" cy="896112"/>
          </a:xfrm>
          <a:prstGeom prst="roundRect">
            <a:avLst>
              <a:gd name="adj" fmla="val 8163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1234440"/>
            <a:ext cx="73152" cy="896112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13075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$9M of the fixed $120M from rented to owned channels to win the second purchase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1719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levers: 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every buyer (★ Quince Passport)  ·  Win the Golden Month (★ Material Journeys)  ·  Never pay twice (★ Never Pay Twice Engine)  ·  0 discounts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" y="2423160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92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" y="23682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Rising rented-reach costs put the $10B valuation at risk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" y="2633472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 +29% to $62; 60% of the budget is rented from three social platforms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9491472" y="240487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 CAC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02920" y="2907792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2920" y="3026664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971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 after order one decides who buys twice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3236976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77% of carts never order; engaged buyers repeat 28.1% vs 4.7%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491472" y="3008376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28.1% vs 4.7%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02920" y="3511296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02920" y="3630168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3630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57530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Rivals copy a discount in a day, not trust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84048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 wins paid retargeting; Shein bought Everlane, whose email was no moat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9491472" y="361188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day vs 9–12 mo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02920" y="4114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02920" y="4233672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2920" y="4233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4178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is ready; the lifecycle muscle must be built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051560" y="444398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Identity is ready in CJA; team, app and activation are funded inside the $120M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9491472" y="4215384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$6.0M funded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02920" y="4718304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02920" y="4837176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02920" y="4837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051560" y="478231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in 90 days, then scale by month nine</a:t>
            </a:r>
            <a:endParaRPr lang="en-US" sz="1250" dirty="0"/>
          </a:p>
        </p:txBody>
      </p:sp>
      <p:sp>
        <p:nvSpPr>
          <p:cNvPr id="40" name="Text 37"/>
          <p:cNvSpPr txBox="1"/>
          <p:nvPr/>
        </p:nvSpPr>
        <p:spPr>
          <a:xfrm>
            <a:off x="1051560" y="5047488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pilot with a 10% holdout; fail Gate 1 and the money goes back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9491472" y="481888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$4M moves first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502920" y="5468112"/>
            <a:ext cx="11183112" cy="786384"/>
          </a:xfrm>
          <a:prstGeom prst="roundRect">
            <a:avLst>
              <a:gd name="adj" fmla="val 9302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77240" y="5468112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24% → ~31%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 (target ≥ 30%)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3246120" y="5468112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 to −14%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 (target −10%)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5760720" y="5623560"/>
            <a:ext cx="0" cy="475488"/>
          </a:xfrm>
          <a:prstGeom prst="line">
            <a:avLst/>
          </a:prstGeom>
          <a:noFill/>
          <a:ln w="9525">
            <a:solidFill>
              <a:srgbClr val="3554A0"/>
            </a:solidFill>
            <a:prstDash val="solid"/>
          </a:ln>
        </p:spPr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5751576"/>
            <a:ext cx="219456" cy="219456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6263640" y="5468112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budget increase</a:t>
            </a:r>
            <a:endParaRPr lang="en-US" sz="1050" dirty="0"/>
          </a:p>
        </p:txBody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5751576"/>
            <a:ext cx="219456" cy="219456"/>
          </a:xfrm>
          <a:prstGeom prst="rect">
            <a:avLst/>
          </a:prstGeom>
        </p:spPr>
      </p:pic>
      <p:sp>
        <p:nvSpPr>
          <p:cNvPr id="49" name="Text 44"/>
          <p:cNvSpPr txBox="1"/>
          <p:nvPr/>
        </p:nvSpPr>
        <p:spPr>
          <a:xfrm>
            <a:off x="8165592" y="5468112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price-led retention</a:t>
            </a:r>
            <a:endParaRPr lang="en-US" sz="1050" dirty="0"/>
          </a:p>
        </p:txBody>
      </p:sp>
      <p:pic>
        <p:nvPicPr>
          <p:cNvPr id="5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3224" y="5751576"/>
            <a:ext cx="219456" cy="219456"/>
          </a:xfrm>
          <a:prstGeom prst="rect">
            <a:avLst/>
          </a:prstGeom>
        </p:spPr>
      </p:pic>
      <p:sp>
        <p:nvSpPr>
          <p:cNvPr id="51" name="Text 45"/>
          <p:cNvSpPr txBox="1"/>
          <p:nvPr/>
        </p:nvSpPr>
        <p:spPr>
          <a:xfrm>
            <a:off x="10067544" y="5468112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Grounded in Adobe CJA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Rising rented-reach costs put the $10B valuation at risk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D, G, H (illustrative); Reuters (Mar 2026, $10.1B valuation); Adjust and AppsFlyer ATT opt-in benchmarks.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3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80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FY2026 paid marketing budget, $M (total $120M)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171907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prospecting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77440" y="1755648"/>
            <a:ext cx="3977640" cy="274320"/>
          </a:xfrm>
          <a:prstGeom prst="rect">
            <a:avLst/>
          </a:prstGeom>
          <a:solidFill>
            <a:srgbClr val="93B4F5"/>
          </a:solidFill>
          <a:ln w="6350">
            <a:solidFill>
              <a:srgbClr val="93B4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28232" y="17190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$58M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2249424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retargeting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377440" y="2286000"/>
            <a:ext cx="960120" cy="274320"/>
          </a:xfrm>
          <a:prstGeom prst="rect">
            <a:avLst/>
          </a:prstGeom>
          <a:solidFill>
            <a:srgbClr val="93B4F5"/>
          </a:solidFill>
          <a:ln w="6350">
            <a:solidFill>
              <a:srgbClr val="93B4F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410712" y="224942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$14M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2779776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search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377440" y="2816352"/>
            <a:ext cx="1508760" cy="274320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9352" y="277977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$22M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3310128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Influencer / affiliate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377440" y="3346704"/>
            <a:ext cx="1097280" cy="274320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547872" y="331012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$16M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3840480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Email, SMS, app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377440" y="3877056"/>
            <a:ext cx="411480" cy="27432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62072" y="3840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$6M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437083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/ other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2377440" y="4407408"/>
            <a:ext cx="274320" cy="274320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724912" y="437083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$4M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377440" y="1691640"/>
            <a:ext cx="0" cy="320040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410712" y="384048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← only 5% owned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040880" y="1755648"/>
            <a:ext cx="0" cy="804672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949440" y="1755648"/>
            <a:ext cx="91440" cy="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949440" y="2560320"/>
            <a:ext cx="91440" cy="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32320" y="1874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</a:t>
            </a:r>
            <a:endParaRPr lang="en-US" sz="1200" dirty="0"/>
          </a:p>
          <a:p>
            <a:pPr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50109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Rented from platforms Quince doesn't control:</a:t>
            </a:r>
            <a:endParaRPr lang="en-US" sz="950" dirty="0"/>
          </a:p>
        </p:txBody>
      </p:sp>
      <p:pic>
        <p:nvPicPr>
          <p:cNvPr id="35" name="Image 1" descr="/tmp/claude-0/-home-user-Quince/7efe80ae-a049-50c2-9886-98bf7ca3a04a/scratchpad/assets/me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5056632"/>
            <a:ext cx="182880" cy="182880"/>
          </a:xfrm>
          <a:prstGeom prst="rect">
            <a:avLst/>
          </a:prstGeom>
        </p:spPr>
      </p:pic>
      <p:pic>
        <p:nvPicPr>
          <p:cNvPr id="36" name="Image 2" descr="/tmp/claude-0/-home-user-Quince/7efe80ae-a049-50c2-9886-98bf7ca3a04a/scratchpad/assets/tikt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5056632"/>
            <a:ext cx="182880" cy="182880"/>
          </a:xfrm>
          <a:prstGeom prst="rect">
            <a:avLst/>
          </a:prstGeom>
        </p:spPr>
      </p:pic>
      <p:pic>
        <p:nvPicPr>
          <p:cNvPr id="37" name="Image 3" descr="/tmp/claude-0/-home-user-Quince/7efe80ae-a049-50c2-9886-98bf7ca3a04a/scratchpad/assets/pintere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5056632"/>
            <a:ext cx="182880" cy="182880"/>
          </a:xfrm>
          <a:prstGeom prst="rect">
            <a:avLst/>
          </a:prstGeom>
        </p:spPr>
      </p:pic>
      <p:pic>
        <p:nvPicPr>
          <p:cNvPr id="38" name="Image 4" descr="/tmp/claude-0/-home-user-Quince/7efe80ae-a049-50c2-9886-98bf7ca3a04a/scratchpad/assets/goog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5056632"/>
            <a:ext cx="182880" cy="182880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8275320" y="128930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8275320" y="1289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8732520" y="128016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Signal loss hits retargeting first</a:t>
            </a:r>
            <a:endParaRPr lang="en-US" sz="1150" dirty="0"/>
          </a:p>
        </p:txBody>
      </p:sp>
      <p:sp>
        <p:nvSpPr>
          <p:cNvPr id="42" name="Text 35"/>
          <p:cNvSpPr txBox="1"/>
          <p:nvPr/>
        </p:nvSpPr>
        <p:spPr>
          <a:xfrm>
            <a:off x="8732520" y="158191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iOS opt-in is ~35–50%; Safari and Firefox block cookies. Retargeting's $31 CAC also counts sales that would happen anyway.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8275320" y="261518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8275320" y="2615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45" name="Text 38"/>
          <p:cNvSpPr txBox="1"/>
          <p:nvPr/>
        </p:nvSpPr>
        <p:spPr>
          <a:xfrm>
            <a:off x="8732520" y="260604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Rising CAC threatens the valuation</a:t>
            </a:r>
            <a:endParaRPr 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8732520" y="290779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 is up 29% in two years ($48 → $62). The $10.1B valuation prices in a lifestyle brand, not a dupe that rents every customer.</a:t>
            </a:r>
            <a:endParaRPr lang="en-US" sz="950" dirty="0"/>
          </a:p>
        </p:txBody>
      </p:sp>
      <p:sp>
        <p:nvSpPr>
          <p:cNvPr id="47" name="Shape 40"/>
          <p:cNvSpPr/>
          <p:nvPr/>
        </p:nvSpPr>
        <p:spPr>
          <a:xfrm>
            <a:off x="8275320" y="394106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8275320" y="3941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49" name="Text 42"/>
          <p:cNvSpPr txBox="1"/>
          <p:nvPr/>
        </p:nvSpPr>
        <p:spPr>
          <a:xfrm>
            <a:off x="8732520" y="393192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First-party data compounds</a:t>
            </a:r>
            <a:endParaRPr lang="en-US" sz="1150" dirty="0"/>
          </a:p>
        </p:txBody>
      </p:sp>
      <p:sp>
        <p:nvSpPr>
          <p:cNvPr id="50" name="Text 43"/>
          <p:cNvSpPr txBox="1"/>
          <p:nvPr/>
        </p:nvSpPr>
        <p:spPr>
          <a:xfrm>
            <a:off x="8732520" y="423367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App-installed customers are worth $410 over three years vs $155 for web-only: 2.6×.</a:t>
            </a:r>
            <a:endParaRPr lang="en-US" sz="950" dirty="0"/>
          </a:p>
        </p:txBody>
      </p:sp>
      <p:sp>
        <p:nvSpPr>
          <p:cNvPr id="51" name="Shape 44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2" name="Shape 45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54" name="Text 46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rents 60% of its reach and spends just $1.43 per customer on the reach it owns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 after order one decides who buys twice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Quince Case Data View, 1 Jan–30 Apr 2026, 60,000 people: Fallout, Flow, Cohort Table, segments (appendix). The price-signal mechanism is a hypothesis the pilot tests.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8016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funnel breaks: people at each step (Adobe CJA Fallout)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2148840"/>
            <a:ext cx="777240" cy="2926080"/>
          </a:xfrm>
          <a:prstGeom prst="rect">
            <a:avLst/>
          </a:prstGeom>
          <a:solidFill>
            <a:srgbClr val="93B4F5"/>
          </a:solidFill>
          <a:ln w="6350">
            <a:solidFill>
              <a:srgbClr val="93B4F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" y="192024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60,000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51297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Landing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148840" y="3291840"/>
            <a:ext cx="777240" cy="1783080"/>
          </a:xfrm>
          <a:prstGeom prst="rect">
            <a:avLst/>
          </a:prstGeom>
          <a:solidFill>
            <a:srgbClr val="93B4F5"/>
          </a:solidFill>
          <a:ln w="6350">
            <a:solidFill>
              <a:srgbClr val="93B4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965960" y="306324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36,566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965960" y="51297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view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520440" y="4526280"/>
            <a:ext cx="777240" cy="54864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37560" y="429768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11,339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3337560" y="51297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to cart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892040" y="4791456"/>
            <a:ext cx="777240" cy="283464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09160" y="4562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5,818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709160" y="51297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Checkout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263640" y="4946904"/>
            <a:ext cx="777240" cy="128016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080760" y="47183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2,592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6080760" y="51297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48640" y="5074920"/>
            <a:ext cx="6766560" cy="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537460" y="2880360"/>
            <a:ext cx="1371600" cy="0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537460" y="2880360"/>
            <a:ext cx="0" cy="100584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909060" y="2880360"/>
            <a:ext cx="0" cy="100584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894076" y="2633472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894076" y="2633472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−69%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909060" y="3886200"/>
            <a:ext cx="2743200" cy="0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909060" y="3886200"/>
            <a:ext cx="0" cy="100584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52260" y="3886200"/>
            <a:ext cx="0" cy="100584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51476" y="3639312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951476" y="3639312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−77%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280660" y="3291840"/>
            <a:ext cx="0" cy="347472"/>
          </a:xfrm>
          <a:prstGeom prst="line">
            <a:avLst/>
          </a:prstGeom>
          <a:noFill/>
          <a:ln w="15875">
            <a:solidFill>
              <a:srgbClr val="DC2626"/>
            </a:solidFill>
            <a:prstDash val="dash"/>
          </a:ln>
        </p:spPr>
      </p:sp>
      <p:sp>
        <p:nvSpPr>
          <p:cNvPr id="37" name="Shape 34"/>
          <p:cNvSpPr/>
          <p:nvPr/>
        </p:nvSpPr>
        <p:spPr>
          <a:xfrm>
            <a:off x="4274820" y="20116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DC2626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4402836" y="2130552"/>
            <a:ext cx="310896" cy="310896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233" y="2198949"/>
            <a:ext cx="174102" cy="174102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4786884" y="213055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signals quality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4402836" y="250545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Customers pause, assuming premium cashmere at half price is too good to be true. Proof, not discounts, closes the gap.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8275320" y="128930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275320" y="1289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8732520" y="128016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message follows 11,610 cart adds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8732520" y="158191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 abandoners hear nothing, so recovery is new money (Flow).</a:t>
            </a:r>
            <a:endParaRPr lang="en-US" sz="950" dirty="0"/>
          </a:p>
        </p:txBody>
      </p:sp>
      <p:sp>
        <p:nvSpPr>
          <p:cNvPr id="46" name="Shape 42"/>
          <p:cNvSpPr/>
          <p:nvPr/>
        </p:nvSpPr>
        <p:spPr>
          <a:xfrm>
            <a:off x="8275320" y="261518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8275320" y="2615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8732520" y="260604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buyers repeat 28.1% vs 4.7%</a:t>
            </a:r>
            <a:endParaRPr lang="en-US" sz="1150" dirty="0"/>
          </a:p>
        </p:txBody>
      </p:sp>
      <p:sp>
        <p:nvSpPr>
          <p:cNvPr id="49" name="Text 45"/>
          <p:cNvSpPr txBox="1"/>
          <p:nvPr/>
        </p:nvSpPr>
        <p:spPr>
          <a:xfrm>
            <a:off x="8732520" y="290779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users after order one still repeat 21.5%, 4.6× the non-engaged baseline (segments).</a:t>
            </a:r>
            <a:endParaRPr lang="en-US" sz="950" dirty="0"/>
          </a:p>
        </p:txBody>
      </p:sp>
      <p:sp>
        <p:nvSpPr>
          <p:cNvPr id="50" name="Shape 46"/>
          <p:cNvSpPr/>
          <p:nvPr/>
        </p:nvSpPr>
        <p:spPr>
          <a:xfrm>
            <a:off x="8275320" y="394106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8275320" y="3941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8732520" y="393192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2 is when buyers come back</a:t>
            </a:r>
            <a:endParaRPr lang="en-US" sz="1150" dirty="0"/>
          </a:p>
        </p:txBody>
      </p:sp>
      <p:sp>
        <p:nvSpPr>
          <p:cNvPr id="53" name="Text 49"/>
          <p:cNvSpPr txBox="1"/>
          <p:nvPr/>
        </p:nvSpPr>
        <p:spPr>
          <a:xfrm>
            <a:off x="8732520" y="423367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 of engaged buyers return in week 2 vs 2.1% of all buyers; half return in weeks 1–4 (Cohort Table).</a:t>
            </a:r>
            <a:endParaRPr lang="en-US" sz="950" dirty="0"/>
          </a:p>
        </p:txBody>
      </p:sp>
      <p:sp>
        <p:nvSpPr>
          <p:cNvPr id="54" name="Shape 50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57" name="Text 52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abandoners within hours, every buyer at delivery, engaged buyers in weeks 1–4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Rivals copy a discount in a day, not trust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 M; press on Shein's purchase of Everlane (May 2026); map positions and time-to-copy are team judgment.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5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801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position vs depth of owned customer relationship (team judgment)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97280" y="1783080"/>
            <a:ext cx="0" cy="320040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97280" y="4983480"/>
            <a:ext cx="6720840" cy="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57700" y="1783080"/>
            <a:ext cx="0" cy="3200400"/>
          </a:xfrm>
          <a:prstGeom prst="line">
            <a:avLst/>
          </a:prstGeom>
          <a:noFill/>
          <a:ln w="9525">
            <a:solidFill>
              <a:srgbClr val="D5DCE6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1097280" y="3383280"/>
            <a:ext cx="6720840" cy="0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97280" y="5029200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14700" y="5029200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position →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903720" y="5029200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 rot="16200000">
            <a:off x="-201168" y="32826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relationship →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380744" y="2020824"/>
            <a:ext cx="77724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19" name="Image 1" descr="/tmp/claude-0/-home-user-Quince/7efe80ae-a049-50c2-9886-98bf7ca3a04a/scratchpad/assets/amaz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903" y="2089404"/>
            <a:ext cx="514922" cy="15544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1944014" y="2852928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21" name="Image 2" descr="/tmp/claude-0/-home-user-Quince/7efe80ae-a049-50c2-9886-98bf7ca3a04a/scratchpad/assets/uniql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3742" y="2880360"/>
            <a:ext cx="237744" cy="23774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1380744" y="4069080"/>
            <a:ext cx="77724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23" name="Image 3" descr="/tmp/claude-0/-home-user-Quince/7efe80ae-a049-50c2-9886-98bf7ca3a04a/scratchpad/assets/she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2184" y="4153686"/>
            <a:ext cx="594360" cy="123397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4403750" y="3685032"/>
            <a:ext cx="91440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25" name="Image 4" descr="/tmp/claude-0/-home-user-Quince/7efe80ae-a049-50c2-9886-98bf7ca3a04a/scratchpad/assets/everla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5190" y="3794510"/>
            <a:ext cx="731520" cy="73653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331306" y="3877056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6331306" y="387705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300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CUYANA</a:t>
            </a:r>
            <a:endParaRPr lang="en-US" sz="850" dirty="0"/>
          </a:p>
        </p:txBody>
      </p:sp>
      <p:sp>
        <p:nvSpPr>
          <p:cNvPr id="28" name="Shape 21"/>
          <p:cNvSpPr/>
          <p:nvPr/>
        </p:nvSpPr>
        <p:spPr>
          <a:xfrm>
            <a:off x="6331306" y="2724912"/>
            <a:ext cx="82296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29" name="Image 5" descr="/tmp/claude-0/-home-user-Quince/7efe80ae-a049-50c2-9886-98bf7ca3a04a/scratchpad/assets/tapestr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2746" y="2799632"/>
            <a:ext cx="640080" cy="143168"/>
          </a:xfrm>
          <a:prstGeom prst="rect">
            <a:avLst/>
          </a:prstGeom>
        </p:spPr>
      </p:pic>
      <p:sp>
        <p:nvSpPr>
          <p:cNvPr id="30" name="Shape 22"/>
          <p:cNvSpPr/>
          <p:nvPr/>
        </p:nvSpPr>
        <p:spPr>
          <a:xfrm>
            <a:off x="4892954" y="1956816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31" name="Image 6" descr="/tmp/claude-0/-home-user-Quince/7efe80ae-a049-50c2-9886-98bf7ca3a04a/scratchpad/assets/williams_sonom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4394" y="2064177"/>
            <a:ext cx="1097280" cy="77886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3516782" y="2286000"/>
            <a:ext cx="0" cy="219456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33" name="Shape 24"/>
          <p:cNvSpPr/>
          <p:nvPr/>
        </p:nvSpPr>
        <p:spPr>
          <a:xfrm>
            <a:off x="3059582" y="1938528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  <a:effectLst>
            <a:outerShdw sx="100000" sy="100000" kx="0" ky="0" algn="bl" rotWithShape="0" blurRad="101600" dist="50800" dir="5400000">
              <a:srgbClr val="1D4ED8">
                <a:alpha val="40000"/>
              </a:srgbClr>
            </a:outerShdw>
          </a:effectLst>
        </p:spPr>
      </p:sp>
      <p:pic>
        <p:nvPicPr>
          <p:cNvPr id="34" name="Image 7" descr="/tmp/claude-0/-home-user-Quince/7efe80ae-a049-50c2-9886-98bf7ca3a04a/scratchpad/assets/quince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0378" y="2011680"/>
            <a:ext cx="612808" cy="18288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4028846" y="199339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950" dirty="0"/>
          </a:p>
        </p:txBody>
      </p:sp>
      <p:sp>
        <p:nvSpPr>
          <p:cNvPr id="36" name="Shape 26"/>
          <p:cNvSpPr/>
          <p:nvPr/>
        </p:nvSpPr>
        <p:spPr>
          <a:xfrm>
            <a:off x="3059582" y="4498848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DC2626"/>
            </a:solidFill>
            <a:prstDash val="dash"/>
          </a:ln>
        </p:spPr>
      </p:sp>
      <p:pic>
        <p:nvPicPr>
          <p:cNvPr id="37" name="Image 8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10378" y="4572000"/>
            <a:ext cx="612808" cy="18288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4028846" y="455371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950" dirty="0"/>
          </a:p>
        </p:txBody>
      </p:sp>
      <p:sp>
        <p:nvSpPr>
          <p:cNvPr id="39" name="Text 28"/>
          <p:cNvSpPr txBox="1"/>
          <p:nvPr/>
        </p:nvSpPr>
        <p:spPr>
          <a:xfrm>
            <a:off x="3608222" y="32004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price, owned relationship</a:t>
            </a:r>
            <a:endParaRPr lang="en-US" sz="850" dirty="0"/>
          </a:p>
        </p:txBody>
      </p:sp>
      <p:sp>
        <p:nvSpPr>
          <p:cNvPr id="40" name="Shape 29"/>
          <p:cNvSpPr/>
          <p:nvPr/>
        </p:nvSpPr>
        <p:spPr>
          <a:xfrm>
            <a:off x="8275320" y="128930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8275320" y="1289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42" name="Text 31"/>
          <p:cNvSpPr txBox="1"/>
          <p:nvPr/>
        </p:nvSpPr>
        <p:spPr>
          <a:xfrm>
            <a:off x="8732520" y="128016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 price, rented relationship</a:t>
            </a:r>
            <a:endParaRPr lang="en-US" sz="1150" dirty="0"/>
          </a:p>
        </p:txBody>
      </p:sp>
      <p:sp>
        <p:nvSpPr>
          <p:cNvPr id="43" name="Text 32"/>
          <p:cNvSpPr txBox="1"/>
          <p:nvPr/>
        </p:nvSpPr>
        <p:spPr>
          <a:xfrm>
            <a:off x="8732520" y="158191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prices with Uniqlo and Shein but owns less of its customer than Williams-Sonoma or Tapestry. Amazon wins any paid-retargeting war.</a:t>
            </a:r>
            <a:endParaRPr lang="en-US" sz="950" dirty="0"/>
          </a:p>
        </p:txBody>
      </p:sp>
      <p:sp>
        <p:nvSpPr>
          <p:cNvPr id="44" name="Shape 33"/>
          <p:cNvSpPr/>
          <p:nvPr/>
        </p:nvSpPr>
        <p:spPr>
          <a:xfrm>
            <a:off x="8275320" y="261518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8275320" y="2615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46" name="Text 35"/>
          <p:cNvSpPr txBox="1"/>
          <p:nvPr/>
        </p:nvSpPr>
        <p:spPr>
          <a:xfrm>
            <a:off x="8732520" y="260604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discount copies in a day; trust in a year</a:t>
            </a:r>
            <a:endParaRPr lang="en-US" sz="1150" dirty="0"/>
          </a:p>
        </p:txBody>
      </p:sp>
      <p:sp>
        <p:nvSpPr>
          <p:cNvPr id="47" name="Text 36"/>
          <p:cNvSpPr txBox="1"/>
          <p:nvPr/>
        </p:nvSpPr>
        <p:spPr>
          <a:xfrm>
            <a:off x="8732520" y="290779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20% code is matched in 1 day; a 12-month triggered lifecycle program takes 9–12 months. Everlane's email was no moat: Shein bought it in May 2026.</a:t>
            </a:r>
            <a:endParaRPr lang="en-US" sz="950" dirty="0"/>
          </a:p>
        </p:txBody>
      </p:sp>
      <p:sp>
        <p:nvSpPr>
          <p:cNvPr id="48" name="Shape 37"/>
          <p:cNvSpPr/>
          <p:nvPr/>
        </p:nvSpPr>
        <p:spPr>
          <a:xfrm>
            <a:off x="8275320" y="394106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9" name="Text 38"/>
          <p:cNvSpPr txBox="1"/>
          <p:nvPr/>
        </p:nvSpPr>
        <p:spPr>
          <a:xfrm>
            <a:off x="8275320" y="3941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50" name="Text 39"/>
          <p:cNvSpPr txBox="1"/>
          <p:nvPr/>
        </p:nvSpPr>
        <p:spPr>
          <a:xfrm>
            <a:off x="8732520" y="393192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rivals escalate, hold price</a:t>
            </a:r>
            <a:endParaRPr lang="en-US" sz="1150" dirty="0"/>
          </a:p>
        </p:txBody>
      </p:sp>
      <p:sp>
        <p:nvSpPr>
          <p:cNvPr id="51" name="Text 40"/>
          <p:cNvSpPr txBox="1"/>
          <p:nvPr/>
        </p:nvSpPr>
        <p:spPr>
          <a:xfrm>
            <a:off x="8732520" y="423367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rivals discount or bid up audiences, Quince answers with proof and access, with owned share already 5% → 11%.</a:t>
            </a:r>
            <a:endParaRPr lang="en-US" sz="950" dirty="0"/>
          </a:p>
        </p:txBody>
      </p:sp>
      <p:sp>
        <p:nvSpPr>
          <p:cNvPr id="52" name="Shape 41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Quince's moat is M2C cost plus a known, consented, reachable customer base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is ready; the lifecycle muscle must be built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I and L; team assessment; lifecycle roles at ~$200K loaded cost (team estimate). Costs sit inside the $7.5M owned-channel build.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801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batch-and-blast to logistics-integrated retention pods: $6.0M funds every gap, inside the $7.5M owned build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69164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BFDBF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7512" y="1837944"/>
            <a:ext cx="402336" cy="402336"/>
          </a:xfrm>
          <a:prstGeom prst="ellipse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26" y="1926458"/>
            <a:ext cx="225308" cy="2253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7512" y="22951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factory and fulfillment APIs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" y="26974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· transit · delivered events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4539996" y="169164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0A1F44"/>
          </a:solidFill>
          <a:ln w="15875">
            <a:solidFill>
              <a:srgbClr val="0A1F44"/>
            </a:solidFill>
            <a:prstDash val="solid"/>
          </a:ln>
          <a:effectLst>
            <a:outerShdw sx="100000" sy="100000" kx="0" ky="0" algn="bl" rotWithShape="0" blurRad="177800" dist="50800" dir="5400000">
              <a:srgbClr val="1D4ED8">
                <a:alpha val="5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04588" y="1837944"/>
            <a:ext cx="402336" cy="402336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3102" y="1926458"/>
            <a:ext cx="225308" cy="2253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704588" y="22951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Cross-functional retention pod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704588" y="26974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+ merch + analytics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8577072" y="169164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BFDBFE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741664" y="1837944"/>
            <a:ext cx="402336" cy="402336"/>
          </a:xfrm>
          <a:prstGeom prst="ellipse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178" y="1926458"/>
            <a:ext cx="225308" cy="22530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41664" y="22951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Triggered lifecycle workflows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8741664" y="26974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 · email · app, one frequency cap</a:t>
            </a:r>
            <a:endParaRPr lang="en-US" sz="850" dirty="0"/>
          </a:p>
        </p:txBody>
      </p:sp>
      <p:sp>
        <p:nvSpPr>
          <p:cNvPr id="25" name="Shape 19"/>
          <p:cNvSpPr/>
          <p:nvPr/>
        </p:nvSpPr>
        <p:spPr>
          <a:xfrm>
            <a:off x="6716268" y="1874520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716268" y="1874520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$2.8M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3675888" y="17373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3675888" y="17373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$2.0M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3767328" y="2167128"/>
            <a:ext cx="640080" cy="292608"/>
          </a:xfrm>
          <a:prstGeom prst="rightArrow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  <a:effectLst>
            <a:outerShdw sx="100000" sy="100000" kx="0" ky="0" algn="bl" rotWithShape="0" blurRad="101600" dist="50800" dir="5400000">
              <a:srgbClr val="2563EB">
                <a:alpha val="45000"/>
              </a:srgbClr>
            </a:outerShdw>
          </a:effectLst>
        </p:spPr>
      </p:sp>
      <p:sp>
        <p:nvSpPr>
          <p:cNvPr id="30" name="Text 24"/>
          <p:cNvSpPr txBox="1"/>
          <p:nvPr/>
        </p:nvSpPr>
        <p:spPr>
          <a:xfrm>
            <a:off x="3675888" y="25146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CJA activation + measurement</a:t>
            </a:r>
            <a:endParaRPr lang="en-US" sz="750" dirty="0"/>
          </a:p>
        </p:txBody>
      </p:sp>
      <p:sp>
        <p:nvSpPr>
          <p:cNvPr id="31" name="Shape 25"/>
          <p:cNvSpPr/>
          <p:nvPr/>
        </p:nvSpPr>
        <p:spPr>
          <a:xfrm>
            <a:off x="7712964" y="17373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712964" y="17373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$1.2M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7804404" y="2167128"/>
            <a:ext cx="640080" cy="292608"/>
          </a:xfrm>
          <a:prstGeom prst="rightArrow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  <a:effectLst>
            <a:outerShdw sx="100000" sy="100000" kx="0" ky="0" algn="bl" rotWithShape="0" blurRad="101600" dist="50800" dir="5400000">
              <a:srgbClr val="2563EB">
                <a:alpha val="45000"/>
              </a:srgbClr>
            </a:outerShdw>
          </a:effectLst>
        </p:spPr>
      </p:sp>
      <p:sp>
        <p:nvSpPr>
          <p:cNvPr id="34" name="Text 28"/>
          <p:cNvSpPr txBox="1"/>
          <p:nvPr/>
        </p:nvSpPr>
        <p:spPr>
          <a:xfrm>
            <a:off x="7712964" y="25146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tracking, care, restock</a:t>
            </a:r>
            <a:endParaRPr lang="en-US" sz="750" dirty="0"/>
          </a:p>
        </p:txBody>
      </p:sp>
      <p:sp>
        <p:nvSpPr>
          <p:cNvPr id="35" name="Text 29"/>
          <p:cNvSpPr txBox="1"/>
          <p:nvPr/>
        </p:nvSpPr>
        <p:spPr>
          <a:xfrm>
            <a:off x="502920" y="32004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and identity</a:t>
            </a:r>
            <a:endParaRPr 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502920" y="3456432"/>
            <a:ext cx="31089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502920" y="3611880"/>
            <a:ext cx="109728" cy="109728"/>
          </a:xfrm>
          <a:prstGeom prst="ellipse">
            <a:avLst/>
          </a:prstGeom>
          <a:solidFill>
            <a:srgbClr val="16A34A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85800" y="354787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Identity</a:t>
            </a:r>
            <a:endParaRPr lang="en-US" sz="950" dirty="0"/>
          </a:p>
        </p:txBody>
      </p:sp>
      <p:sp>
        <p:nvSpPr>
          <p:cNvPr id="39" name="Text 33"/>
          <p:cNvSpPr txBox="1"/>
          <p:nvPr/>
        </p:nvSpPr>
        <p:spPr>
          <a:xfrm>
            <a:off x="685800" y="37764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Ready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Head of Analytics · now</a:t>
            </a:r>
            <a:endParaRPr lang="en-US" sz="850" dirty="0"/>
          </a:p>
        </p:txBody>
      </p:sp>
      <p:sp>
        <p:nvSpPr>
          <p:cNvPr id="40" name="Text 34"/>
          <p:cNvSpPr txBox="1"/>
          <p:nvPr/>
        </p:nvSpPr>
        <p:spPr>
          <a:xfrm>
            <a:off x="3017520" y="35478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02920" y="4142232"/>
            <a:ext cx="109728" cy="109728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85800" y="40782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Measurement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685800" y="43068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Analytics + CRM · month 2</a:t>
            </a:r>
            <a:endParaRPr lang="en-US" sz="850" dirty="0"/>
          </a:p>
        </p:txBody>
      </p:sp>
      <p:sp>
        <p:nvSpPr>
          <p:cNvPr id="44" name="Text 38"/>
          <p:cNvSpPr txBox="1"/>
          <p:nvPr/>
        </p:nvSpPr>
        <p:spPr>
          <a:xfrm>
            <a:off x="3017520" y="4078224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$0.5M</a:t>
            </a:r>
            <a:endParaRPr lang="en-US" sz="1000" dirty="0"/>
          </a:p>
        </p:txBody>
      </p:sp>
      <p:sp>
        <p:nvSpPr>
          <p:cNvPr id="45" name="Shape 39"/>
          <p:cNvSpPr/>
          <p:nvPr/>
        </p:nvSpPr>
        <p:spPr>
          <a:xfrm>
            <a:off x="502920" y="4672584"/>
            <a:ext cx="109728" cy="109728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85800" y="460857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Consent split</a:t>
            </a:r>
            <a:endParaRPr lang="en-US" sz="950" dirty="0"/>
          </a:p>
        </p:txBody>
      </p:sp>
      <p:sp>
        <p:nvSpPr>
          <p:cNvPr id="47" name="Text 41"/>
          <p:cNvSpPr txBox="1"/>
          <p:nvPr/>
        </p:nvSpPr>
        <p:spPr>
          <a:xfrm>
            <a:off x="685800" y="483717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Legal + CRM · month 2</a:t>
            </a:r>
            <a:endParaRPr lang="en-US" sz="850" dirty="0"/>
          </a:p>
        </p:txBody>
      </p:sp>
      <p:sp>
        <p:nvSpPr>
          <p:cNvPr id="48" name="Text 42"/>
          <p:cNvSpPr txBox="1"/>
          <p:nvPr/>
        </p:nvSpPr>
        <p:spPr>
          <a:xfrm>
            <a:off x="3017520" y="460857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1000" dirty="0"/>
          </a:p>
        </p:txBody>
      </p:sp>
      <p:sp>
        <p:nvSpPr>
          <p:cNvPr id="49" name="Text 43"/>
          <p:cNvSpPr txBox="1"/>
          <p:nvPr/>
        </p:nvSpPr>
        <p:spPr>
          <a:xfrm>
            <a:off x="4539996" y="32004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capacity</a:t>
            </a:r>
            <a:endParaRPr lang="en-US" sz="1050" dirty="0"/>
          </a:p>
        </p:txBody>
      </p:sp>
      <p:sp>
        <p:nvSpPr>
          <p:cNvPr id="50" name="Shape 44"/>
          <p:cNvSpPr/>
          <p:nvPr/>
        </p:nvSpPr>
        <p:spPr>
          <a:xfrm>
            <a:off x="4539996" y="3456432"/>
            <a:ext cx="31089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4539996" y="3611880"/>
            <a:ext cx="109728" cy="109728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4722876" y="354787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team + creative</a:t>
            </a:r>
            <a:endParaRPr lang="en-US" sz="950" dirty="0"/>
          </a:p>
        </p:txBody>
      </p:sp>
      <p:sp>
        <p:nvSpPr>
          <p:cNvPr id="53" name="Text 47"/>
          <p:cNvSpPr txBox="1"/>
          <p:nvPr/>
        </p:nvSpPr>
        <p:spPr>
          <a:xfrm>
            <a:off x="4722876" y="37764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CMO · month 6</a:t>
            </a:r>
            <a:endParaRPr lang="en-US" sz="850" dirty="0"/>
          </a:p>
        </p:txBody>
      </p:sp>
      <p:sp>
        <p:nvSpPr>
          <p:cNvPr id="54" name="Text 48"/>
          <p:cNvSpPr txBox="1"/>
          <p:nvPr/>
        </p:nvSpPr>
        <p:spPr>
          <a:xfrm>
            <a:off x="7054596" y="35478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$2.8M</a:t>
            </a:r>
            <a:endParaRPr lang="en-US" sz="1000" dirty="0"/>
          </a:p>
        </p:txBody>
      </p:sp>
      <p:sp>
        <p:nvSpPr>
          <p:cNvPr id="55" name="Shape 49"/>
          <p:cNvSpPr/>
          <p:nvPr/>
        </p:nvSpPr>
        <p:spPr>
          <a:xfrm>
            <a:off x="4539996" y="4142232"/>
            <a:ext cx="109728" cy="109728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4722876" y="40782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Incentives off ROAS</a:t>
            </a:r>
            <a:endParaRPr lang="en-US" sz="950" dirty="0"/>
          </a:p>
        </p:txBody>
      </p:sp>
      <p:sp>
        <p:nvSpPr>
          <p:cNvPr id="57" name="Text 51"/>
          <p:cNvSpPr txBox="1"/>
          <p:nvPr/>
        </p:nvSpPr>
        <p:spPr>
          <a:xfrm>
            <a:off x="4722876" y="43068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CMO + CFO · month 3</a:t>
            </a:r>
            <a:endParaRPr lang="en-US" sz="850" dirty="0"/>
          </a:p>
        </p:txBody>
      </p:sp>
      <p:sp>
        <p:nvSpPr>
          <p:cNvPr id="58" name="Text 52"/>
          <p:cNvSpPr txBox="1"/>
          <p:nvPr/>
        </p:nvSpPr>
        <p:spPr>
          <a:xfrm>
            <a:off x="7054596" y="4078224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1000" dirty="0"/>
          </a:p>
        </p:txBody>
      </p:sp>
      <p:sp>
        <p:nvSpPr>
          <p:cNvPr id="59" name="Shape 53"/>
          <p:cNvSpPr/>
          <p:nvPr/>
        </p:nvSpPr>
        <p:spPr>
          <a:xfrm>
            <a:off x="4539996" y="4672584"/>
            <a:ext cx="109728" cy="109728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4722876" y="460857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Growth–analytics council</a:t>
            </a:r>
            <a:endParaRPr lang="en-US" sz="950" dirty="0"/>
          </a:p>
        </p:txBody>
      </p:sp>
      <p:sp>
        <p:nvSpPr>
          <p:cNvPr id="61" name="Text 55"/>
          <p:cNvSpPr txBox="1"/>
          <p:nvPr/>
        </p:nvSpPr>
        <p:spPr>
          <a:xfrm>
            <a:off x="4722876" y="483717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CMO + Analytics · week 1</a:t>
            </a:r>
            <a:endParaRPr lang="en-US" sz="850" dirty="0"/>
          </a:p>
        </p:txBody>
      </p:sp>
      <p:sp>
        <p:nvSpPr>
          <p:cNvPr id="62" name="Text 56"/>
          <p:cNvSpPr txBox="1"/>
          <p:nvPr/>
        </p:nvSpPr>
        <p:spPr>
          <a:xfrm>
            <a:off x="7054596" y="460857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1000" dirty="0"/>
          </a:p>
        </p:txBody>
      </p:sp>
      <p:sp>
        <p:nvSpPr>
          <p:cNvPr id="63" name="Text 57"/>
          <p:cNvSpPr txBox="1"/>
          <p:nvPr/>
        </p:nvSpPr>
        <p:spPr>
          <a:xfrm>
            <a:off x="8577072" y="32004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Activation and product</a:t>
            </a:r>
            <a:endParaRPr lang="en-US" sz="1050" dirty="0"/>
          </a:p>
        </p:txBody>
      </p:sp>
      <p:sp>
        <p:nvSpPr>
          <p:cNvPr id="64" name="Shape 58"/>
          <p:cNvSpPr/>
          <p:nvPr/>
        </p:nvSpPr>
        <p:spPr>
          <a:xfrm>
            <a:off x="8577072" y="3456432"/>
            <a:ext cx="31089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5" name="Shape 59"/>
          <p:cNvSpPr/>
          <p:nvPr/>
        </p:nvSpPr>
        <p:spPr>
          <a:xfrm>
            <a:off x="8577072" y="3611880"/>
            <a:ext cx="109728" cy="109728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8759952" y="354787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CJA audiences into journeys</a:t>
            </a:r>
            <a:endParaRPr lang="en-US" sz="950" dirty="0"/>
          </a:p>
        </p:txBody>
      </p:sp>
      <p:sp>
        <p:nvSpPr>
          <p:cNvPr id="67" name="Text 61"/>
          <p:cNvSpPr txBox="1"/>
          <p:nvPr/>
        </p:nvSpPr>
        <p:spPr>
          <a:xfrm>
            <a:off x="8759952" y="37764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Marketing ops · month 3</a:t>
            </a:r>
            <a:endParaRPr lang="en-US" sz="850" dirty="0"/>
          </a:p>
        </p:txBody>
      </p:sp>
      <p:sp>
        <p:nvSpPr>
          <p:cNvPr id="68" name="Text 62"/>
          <p:cNvSpPr txBox="1"/>
          <p:nvPr/>
        </p:nvSpPr>
        <p:spPr>
          <a:xfrm>
            <a:off x="11091672" y="35478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$1.5M</a:t>
            </a:r>
            <a:endParaRPr lang="en-US" sz="1000" dirty="0"/>
          </a:p>
        </p:txBody>
      </p:sp>
      <p:sp>
        <p:nvSpPr>
          <p:cNvPr id="69" name="Shape 63"/>
          <p:cNvSpPr/>
          <p:nvPr/>
        </p:nvSpPr>
        <p:spPr>
          <a:xfrm>
            <a:off x="8577072" y="4142232"/>
            <a:ext cx="109728" cy="109728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70" name="Text 64"/>
          <p:cNvSpPr txBox="1"/>
          <p:nvPr/>
        </p:nvSpPr>
        <p:spPr>
          <a:xfrm>
            <a:off x="8759952" y="40782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App: tracking + care</a:t>
            </a:r>
            <a:endParaRPr lang="en-US" sz="950" dirty="0"/>
          </a:p>
        </p:txBody>
      </p:sp>
      <p:sp>
        <p:nvSpPr>
          <p:cNvPr id="71" name="Text 65"/>
          <p:cNvSpPr txBox="1"/>
          <p:nvPr/>
        </p:nvSpPr>
        <p:spPr>
          <a:xfrm>
            <a:off x="8759952" y="43068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CPO, app squad · month 6</a:t>
            </a:r>
            <a:endParaRPr lang="en-US" sz="850" dirty="0"/>
          </a:p>
        </p:txBody>
      </p:sp>
      <p:sp>
        <p:nvSpPr>
          <p:cNvPr id="72" name="Text 66"/>
          <p:cNvSpPr txBox="1"/>
          <p:nvPr/>
        </p:nvSpPr>
        <p:spPr>
          <a:xfrm>
            <a:off x="11091672" y="4078224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$1.2M</a:t>
            </a:r>
            <a:endParaRPr lang="en-US" sz="1000" dirty="0"/>
          </a:p>
        </p:txBody>
      </p:sp>
      <p:sp>
        <p:nvSpPr>
          <p:cNvPr id="73" name="Shape 6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7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76" name="Text 6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gap is funded inside the $120M, and a weekly growth–analytics council decides each tranche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in 90 days, then scale by month nine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plan; case Exhibits G, I; CJA A6. Pilot sized to detect 30-day repeat 7% → 9% at 80% power; T3 moves only on holdout proof.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7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280160"/>
            <a:ext cx="3758184" cy="438912"/>
          </a:xfrm>
          <a:prstGeom prst="homePlat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280160"/>
            <a:ext cx="32095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0–3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61104" y="1280160"/>
            <a:ext cx="3758184" cy="438912"/>
          </a:xfrm>
          <a:prstGeom prst="chevron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81144" y="1280160"/>
            <a:ext cx="32095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3–9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19288" y="1280160"/>
            <a:ext cx="3666744" cy="438912"/>
          </a:xfrm>
          <a:prstGeom prst="chevron">
            <a:avLst/>
          </a:prstGeom>
          <a:solidFill>
            <a:srgbClr val="DBEAFE"/>
          </a:solidFill>
          <a:ln w="6350">
            <a:solidFill>
              <a:srgbClr val="DBEAF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339328" y="1280160"/>
            <a:ext cx="32095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  </a:t>
            </a:r>
            <a:pPr indent="0" marL="0">
              <a:buNone/>
            </a:pPr>
            <a:r>
              <a:rPr lang="en-US" sz="1100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9–18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1810512"/>
            <a:ext cx="11183112" cy="27432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81051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Throughout: weekly CJA council of analytics, paid media, CRM and finance · randomized holdout on every tranche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02920" y="2240280"/>
            <a:ext cx="3666744" cy="310896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" y="2240280"/>
            <a:ext cx="3666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T1: only $4M moves, retargeting → owned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76072" y="2825496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2376" y="2743200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pilot: 28.6% of buyers, 10% holdout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76072" y="3154680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2376" y="3072384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Passport card in every box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76072" y="3483864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2376" y="3401568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Saved Cart reminders at 1h and 24h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76072" y="3813048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22376" y="37307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tracking opens in the app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2920" y="4160520"/>
            <a:ext cx="3666744" cy="1261872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0080" y="4279392"/>
            <a:ext cx="219456" cy="219456"/>
          </a:xfrm>
          <a:prstGeom prst="diamond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41832" y="4261104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1 · month 3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457200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beats holdout by ≥ 2 pts on 30-day repeat; new customers fall &lt; 2%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40080" y="5074920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 → release T2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261104" y="2240280"/>
            <a:ext cx="3666744" cy="31089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261104" y="2240280"/>
            <a:ext cx="3666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T2: −$3M search · T3: −$2M if proven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334256" y="2825496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480560" y="2743200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Journeys: cashmere → throw or linen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4334256" y="3154680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80560" y="3072384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 Calendar, Gift Ledger, Quince Insider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4334256" y="3483864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480560" y="3401568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Lookalikes on half of prospecting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334256" y="3813048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480560" y="37307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 Creators on product pages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4261104" y="4160520"/>
            <a:ext cx="3666744" cy="1261872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398264" y="4279392"/>
            <a:ext cx="219456" cy="219456"/>
          </a:xfrm>
          <a:prstGeom prst="diamond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700016" y="4261104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2 · month 9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398264" y="457200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 ≥ 28%; effective CAC ≤ $58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4398264" y="5074920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 → national rollout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8019288" y="2240280"/>
            <a:ext cx="3666744" cy="310896"/>
          </a:xfrm>
          <a:prstGeom prst="roundRect">
            <a:avLst>
              <a:gd name="adj" fmla="val 50000"/>
            </a:avLst>
          </a:prstGeom>
          <a:solidFill>
            <a:srgbClr val="93B4F5"/>
          </a:solidFill>
          <a:ln w="6350">
            <a:solidFill>
              <a:srgbClr val="93B4F5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019288" y="2240280"/>
            <a:ext cx="3666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share 5% → 11% of budget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8092440" y="2825496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38744" y="2743200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National rollout: Midwest, then Canada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8092440" y="3154680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38744" y="3072384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Beauty Refill, Cashmere Second Life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8092440" y="3483864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38744" y="3401568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Restock-First Waitlist on sell-outs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8092440" y="3813048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38744" y="37307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+$1.5M to proof creators, net $0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8019288" y="4160520"/>
            <a:ext cx="3666744" cy="1261872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156448" y="4279392"/>
            <a:ext cx="219456" cy="219456"/>
          </a:xfrm>
          <a:prstGeom prst="diamond">
            <a:avLst/>
          </a:prstGeom>
          <a:solidFill>
            <a:srgbClr val="16A34A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458200" y="4261104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· month 18</a:t>
            </a:r>
            <a:endParaRPr lang="en-US" sz="1100" dirty="0"/>
          </a:p>
        </p:txBody>
      </p:sp>
      <p:sp>
        <p:nvSpPr>
          <p:cNvPr id="60" name="Text 57"/>
          <p:cNvSpPr txBox="1"/>
          <p:nvPr/>
        </p:nvSpPr>
        <p:spPr>
          <a:xfrm>
            <a:off x="8156448" y="457200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 ≥ 30%; effective CAC ≤ $56, from $62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8156448" y="5074920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 any gate → money goes back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65" name="Text 61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Monday: approve tranche 1, the South pilot and the weekly CJA council. Nothing else moves before Gate 1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FB2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ADOBE CJA EVIDENCE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75488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FB2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 ANALYSIS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2402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Adobe CJA panels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243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6243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Fallout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00837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0083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 IQ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9242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39242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Table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77647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7764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1605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416052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24028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224028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a blend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26243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26243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Issue tree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300837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257800" y="300837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moments of the journey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339242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257800" y="33924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to target, and when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754880" y="377647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7800" y="377647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Fourteen programs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41605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57800" y="416052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Repeat-rate bridge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224028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823960" y="224028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Budget reallocation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243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823960" y="26243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 at stake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300837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823960" y="300837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 IQ insight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339242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823960" y="33924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Risks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77647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823960" y="377647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 roadmap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321040" y="41605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8823960" y="416052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Adobe CJA panels sit behind every number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Quince Case Data View, 1 Jan–30 Apr 2026, 60,000 people. Screenshots from the team's project; names and avatars cropped.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9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280160"/>
            <a:ext cx="5513832" cy="2423160"/>
          </a:xfrm>
          <a:prstGeom prst="roundRect">
            <a:avLst>
              <a:gd name="adj" fmla="val 226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3533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Fallout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1609344"/>
            <a:ext cx="5239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60,000 people → 2,592 buyers: 69% of product viewers and 77% of cart adders never order.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001250" y="2011680"/>
            <a:ext cx="2517173" cy="1618488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3" name="Image 1" descr="/tmp/claude-0/-home-user-Quince/7efe80ae-a049-50c2-9886-98bf7ca3a04a/scratchpad/assets/cja_fallo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538" y="2029968"/>
            <a:ext cx="2480597" cy="158191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172200" y="1280160"/>
            <a:ext cx="5513832" cy="2423160"/>
          </a:xfrm>
          <a:prstGeom prst="roundRect">
            <a:avLst>
              <a:gd name="adj" fmla="val 226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13533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Attribution IQ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6309360" y="1609344"/>
            <a:ext cx="5239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channels take part in 15.0% of $337K revenue but get 4.8% on last touch; paid channels barely move.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698951" y="2011680"/>
            <a:ext cx="4460330" cy="1618488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8" name="Image 2" descr="/tmp/claude-0/-home-user-Quince/7efe80ae-a049-50c2-9886-98bf7ca3a04a/scratchpad/assets/cja_attr_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239" y="2029968"/>
            <a:ext cx="4423754" cy="158191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2920" y="3794760"/>
            <a:ext cx="5513832" cy="2423160"/>
          </a:xfrm>
          <a:prstGeom prst="roundRect">
            <a:avLst>
              <a:gd name="adj" fmla="val 226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40080" y="38679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Cohort Table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640080" y="4123944"/>
            <a:ext cx="5239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Week-2 return: 5.6% for engaged buyers (right) vs 2.1% for all buyers (left); half of engaged returns land in weeks 1–4.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709108" y="4526280"/>
            <a:ext cx="2426837" cy="1618488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23" name="Image 3" descr="/tmp/claude-0/-home-user-Quince/7efe80ae-a049-50c2-9886-98bf7ca3a04a/scratchpad/assets/cja_cohort_a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396" y="4544568"/>
            <a:ext cx="2390261" cy="1581912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3383728" y="4526280"/>
            <a:ext cx="2426837" cy="1618488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25" name="Image 4" descr="/tmp/claude-0/-home-user-Quince/7efe80ae-a049-50c2-9886-98bf7ca3a04a/scratchpad/assets/cja_cohort_e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2016" y="4544568"/>
            <a:ext cx="2390261" cy="1581912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172200" y="3794760"/>
            <a:ext cx="5513832" cy="2423160"/>
          </a:xfrm>
          <a:prstGeom prst="roundRect">
            <a:avLst>
              <a:gd name="adj" fmla="val 226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309360" y="38679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Flow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6309360" y="4123944"/>
            <a:ext cx="5239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11,610 add-to-cart paths, 6,088 reach checkout and 1 is followed by an email; the rest get no message.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6880878" y="4526280"/>
            <a:ext cx="4096477" cy="1618488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30" name="Image 5" descr="/tmp/claude-0/-home-user-Quince/7efe80ae-a049-50c2-9886-98bf7ca3a04a/scratchpad/assets/cja_flo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9166" y="4544568"/>
            <a:ext cx="4059901" cy="15819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Fallout: 77% of cart adders never order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Fallout visualization, Quince Case Data View, 1 Jan–30 Apr 2026, 60,000 people.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10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070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asked: "Is the bottleneck the cart or the landing page?"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975077" y="1536192"/>
            <a:ext cx="6238797" cy="4005072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1" name="Image 1" descr="/tmp/claude-0/-home-user-Quince/7efe80ae-a049-50c2-9886-98bf7ca3a04a/scratchpad/assets/cja_fallo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653" y="1572768"/>
            <a:ext cx="6165645" cy="39319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77% of cart adders never order: the cart, not traffic, is the leak, so every recovered cart is new money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 IQ: owned channels assist more than they close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Attribution panel, Order Revenue ($337,044) across Marketing Channel; Last Touch, First Touch, Linear, Participation; 90-day lookback.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11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070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asked: "Why pull $4M from paid social retargeting?"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0171" y="1536192"/>
            <a:ext cx="11068610" cy="4005072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1" name="Image 1" descr="/tmp/claude-0/-home-user-Quince/7efe80ae-a049-50c2-9886-98bf7ca3a04a/scratchpad/assets/cja_attr_ta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747" y="1572768"/>
            <a:ext cx="10995458" cy="39319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channels touch 15.0% of revenue but get 4.8% of last-touch credit; retargeting barely moves across models, so its cut rests on holdouts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Table: engaged buyers' week-2 return is 2.7× higher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Cohort Table, inclusion and return Orders ≥ 1, weekly; right panel uses the Engaged inclusion segment,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12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070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asked: "Why act in the first month?"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" y="1697250"/>
            <a:ext cx="5527548" cy="3682957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1" name="Image 1" descr="/tmp/claude-0/-home-user-Quince/7efe80ae-a049-50c2-9886-98bf7ca3a04a/scratchpad/assets/cja_cohort_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3826"/>
            <a:ext cx="5454396" cy="360980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195060" y="1697250"/>
            <a:ext cx="5527548" cy="3682957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3" name="Image 2" descr="/tmp/claude-0/-home-user-Quince/7efe80ae-a049-50c2-9886-98bf7ca3a04a/scratchpad/assets/cja_cohort_e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733826"/>
            <a:ext cx="5454396" cy="3609805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buyers (right) return 2.7× more in week 2 than all buyers (left), 5.6% vs 2.1%, and half return in weeks 1–4: the first month is when to act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Flow: almost no message follows an abandoned cart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Flow from add_to_cart, Person container,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13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070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asked: "Doesn't Quince already email cart abandoners?"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12359" y="1536192"/>
            <a:ext cx="10164234" cy="4005072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1" name="Image 1" descr="/tmp/claude-0/-home-user-Quince/7efe80ae-a049-50c2-9886-98bf7ca3a04a/scratchpad/assets/cja_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935" y="1572768"/>
            <a:ext cx="10091082" cy="39319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1 of 11,610 cart adds is followed by an email, so a basic cart-recovery journey is the fastest win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Segments: engagement after order one drives repeat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freeform tables with engagement segments (A2) and sequential segments after order one (A5),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070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asked: "Is engagement cause or just a sign of loyal buyers?" (the 10% holdout tests it)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" y="2562921"/>
            <a:ext cx="5527548" cy="1951614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1" name="Image 1" descr="/tmp/claude-0/-home-user-Quince/7efe80ae-a049-50c2-9886-98bf7ca3a04a/scratchpad/assets/cja_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99497"/>
            <a:ext cx="5454396" cy="187846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195060" y="2556065"/>
            <a:ext cx="5527548" cy="1965326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3" name="Image 2" descr="/tmp/claude-0/-home-user-Quince/7efe80ae-a049-50c2-9886-98bf7ca3a04a/scratchpad/assets/cja_a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2592641"/>
            <a:ext cx="5454396" cy="1892174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buyers are 24.5% of buyers but 66% of repeaters (left); after order one, app users repeat 21.5% vs 11.7% for SMS (right): engage buyers, don't buy traffic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option covers another's weakness, so we blend all three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section 4 (Options A, B, C), Exhibit I (cost and timing) and Exhibit K (risk matrix); team analysis.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325880"/>
            <a:ext cx="3648456" cy="2514600"/>
          </a:xfrm>
          <a:prstGeom prst="roundRect">
            <a:avLst>
              <a:gd name="adj" fmla="val 218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463040"/>
            <a:ext cx="548640" cy="54864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7512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344168" y="14630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 B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1344168" y="168249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precision and suppression</a:t>
            </a:r>
            <a:endParaRPr lang="en-US" sz="12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67712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05840" y="2212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 in weeks, $0 incremental</a:t>
            </a:r>
            <a:endParaRPr lang="en-US" sz="10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5292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05840" y="279806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Alone: High signal-loss exposure; builds no lasting relationship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2162556" y="3913632"/>
            <a:ext cx="329184" cy="329184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02920" y="4315968"/>
            <a:ext cx="3648456" cy="868680"/>
          </a:xfrm>
          <a:prstGeom prst="roundRect">
            <a:avLst>
              <a:gd name="adj" fmla="val 6316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5800" y="4315968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Funds it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Suppression frees $4M in months 1–3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4270248" y="1325880"/>
            <a:ext cx="3648456" cy="2514600"/>
          </a:xfrm>
          <a:prstGeom prst="roundRect">
            <a:avLst>
              <a:gd name="adj" fmla="val 218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434840" y="1463040"/>
            <a:ext cx="548640" cy="54864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4348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5111496" y="14630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 A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5111496" y="168249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lifecycle precision</a:t>
            </a:r>
            <a:endParaRPr lang="en-US" sz="12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2267712"/>
            <a:ext cx="237744" cy="23774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4773168" y="2212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Lowest cost per touch; insulated from ATT</a:t>
            </a:r>
            <a:endParaRPr lang="en-US" sz="10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2852928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773168" y="279806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Alone: Reach capped by today's list: 1 in 4 buyers engaged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5929884" y="3913632"/>
            <a:ext cx="329184" cy="329184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4270248" y="4315968"/>
            <a:ext cx="3648456" cy="868680"/>
          </a:xfrm>
          <a:prstGeom prst="roundRect">
            <a:avLst>
              <a:gd name="adj" fmla="val 6316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453128" y="4315968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Builds it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grows the list; journeys earn order two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037576" y="1325880"/>
            <a:ext cx="3648456" cy="2514600"/>
          </a:xfrm>
          <a:prstGeom prst="roundRect">
            <a:avLst>
              <a:gd name="adj" fmla="val 218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202168" y="1463040"/>
            <a:ext cx="548640" cy="54864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202168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000" dirty="0"/>
          </a:p>
        </p:txBody>
      </p:sp>
      <p:sp>
        <p:nvSpPr>
          <p:cNvPr id="36" name="Text 29"/>
          <p:cNvSpPr txBox="1"/>
          <p:nvPr/>
        </p:nvSpPr>
        <p:spPr>
          <a:xfrm>
            <a:off x="8878824" y="14630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 C</a:t>
            </a:r>
            <a:endParaRPr lang="en-US" sz="950" dirty="0"/>
          </a:p>
        </p:txBody>
      </p:sp>
      <p:sp>
        <p:nvSpPr>
          <p:cNvPr id="37" name="Text 30"/>
          <p:cNvSpPr txBox="1"/>
          <p:nvPr/>
        </p:nvSpPr>
        <p:spPr>
          <a:xfrm>
            <a:off x="8878824" y="168249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Attribution-based reallocation</a:t>
            </a:r>
            <a:endParaRPr lang="en-US" sz="12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0456" y="2267712"/>
            <a:ext cx="237744" cy="237744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8540496" y="2212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lasting decision framework</a:t>
            </a:r>
            <a:endParaRPr lang="en-US" sz="1050" dirty="0"/>
          </a:p>
        </p:txBody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0456" y="2852928"/>
            <a:ext cx="237744" cy="237744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540496" y="279806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Alone: 6–12 months to trust; high change risk</a:t>
            </a:r>
            <a:endParaRPr lang="en-US" sz="1050" dirty="0"/>
          </a:p>
        </p:txBody>
      </p:sp>
      <p:sp>
        <p:nvSpPr>
          <p:cNvPr id="42" name="Shape 33"/>
          <p:cNvSpPr/>
          <p:nvPr/>
        </p:nvSpPr>
        <p:spPr>
          <a:xfrm>
            <a:off x="9697212" y="3913632"/>
            <a:ext cx="329184" cy="329184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8037576" y="4315968"/>
            <a:ext cx="3648456" cy="868680"/>
          </a:xfrm>
          <a:prstGeom prst="roundRect">
            <a:avLst>
              <a:gd name="adj" fmla="val 6316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8220456" y="4315968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Proves it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Runs from day 1 and decides every tranche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502920" y="5285232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B's speed pays for A's build, A's owned reach cuts B's signal-loss exposure, and C's holdouts remove the measurement risk of both</a:t>
            </a:r>
            <a:endParaRPr lang="en-US" sz="1100" dirty="0"/>
          </a:p>
        </p:txBody>
      </p:sp>
      <p:sp>
        <p:nvSpPr>
          <p:cNvPr id="46" name="Shape 37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 if the pilot beats the holdout by 2+ pts on 30-day repeat; stop and return the tranche if it doesn't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branches, three levers, one thread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analysis; Adobe CJA panels A1–A6; case Exhibits D and G.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16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2606040"/>
            <a:ext cx="2103120" cy="1463040"/>
          </a:xfrm>
          <a:prstGeom prst="roundRect">
            <a:avLst>
              <a:gd name="adj" fmla="val 625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26517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is 90-day repeat 24% and blended CAC $62 on a fixed $120M?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606040" y="3337560"/>
            <a:ext cx="411480" cy="-1527048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017520" y="1371600"/>
            <a:ext cx="1828800" cy="877824"/>
          </a:xfrm>
          <a:prstGeom prst="roundRect">
            <a:avLst>
              <a:gd name="adj" fmla="val 8333"/>
            </a:avLst>
          </a:prstGeom>
          <a:solidFill>
            <a:srgbClr val="1D4E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27248" y="1371600"/>
            <a:ext cx="1645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Money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846320" y="1810512"/>
            <a:ext cx="320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166360" y="1371600"/>
            <a:ext cx="3886200" cy="877824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03520" y="1463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is over-credited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303520" y="17739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Retargeted buyers repeat like organic: 23.0% vs 23.4%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144000" y="1673352"/>
            <a:ext cx="365760" cy="274320"/>
          </a:xfrm>
          <a:prstGeom prst="right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601200" y="1517904"/>
            <a:ext cx="2084832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601200" y="1517904"/>
            <a:ext cx="20848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pay twice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606040" y="3337560"/>
            <a:ext cx="411480" cy="-4114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017520" y="2487168"/>
            <a:ext cx="1828800" cy="877824"/>
          </a:xfrm>
          <a:prstGeom prst="roundRect">
            <a:avLst>
              <a:gd name="adj" fmla="val 8333"/>
            </a:avLst>
          </a:prstGeom>
          <a:solidFill>
            <a:srgbClr val="1D4ED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127248" y="2487168"/>
            <a:ext cx="1645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mind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846320" y="2926080"/>
            <a:ext cx="320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66360" y="2487168"/>
            <a:ext cx="3886200" cy="877824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03520" y="2578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One-product buyers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303520" y="288950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Cashmere: 40.7% of buyers, 13.7% repeat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144000" y="2788920"/>
            <a:ext cx="365760" cy="274320"/>
          </a:xfrm>
          <a:prstGeom prst="right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601200" y="2633472"/>
            <a:ext cx="2084832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01200" y="2633472"/>
            <a:ext cx="20848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the Golden Month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2606040" y="3337560"/>
            <a:ext cx="411480" cy="704088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017520" y="3602736"/>
            <a:ext cx="1828800" cy="877824"/>
          </a:xfrm>
          <a:prstGeom prst="roundRect">
            <a:avLst>
              <a:gd name="adj" fmla="val 8333"/>
            </a:avLst>
          </a:prstGeom>
          <a:solidFill>
            <a:srgbClr val="1D4ED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3127248" y="3602736"/>
            <a:ext cx="1645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journey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846320" y="4041648"/>
            <a:ext cx="320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166360" y="3602736"/>
            <a:ext cx="3886200" cy="877824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303520" y="36941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purchase leaks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5303520" y="40050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77% of carts never order; 1 message per 11,610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9144000" y="3904488"/>
            <a:ext cx="365760" cy="274320"/>
          </a:xfrm>
          <a:prstGeom prst="right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601200" y="3749040"/>
            <a:ext cx="2084832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601200" y="3749040"/>
            <a:ext cx="20848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every buyer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606040" y="3337560"/>
            <a:ext cx="411480" cy="1819656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017520" y="4718304"/>
            <a:ext cx="1828800" cy="877824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1D4ED8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3127248" y="4718304"/>
            <a:ext cx="1645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trust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4846320" y="5157216"/>
            <a:ext cx="320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166360" y="4718304"/>
            <a:ext cx="3886200" cy="877824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303520" y="48097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Found, not yet trusted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303520" y="5120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25,227 leave after a product view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9144000" y="5020056"/>
            <a:ext cx="365760" cy="274320"/>
          </a:xfrm>
          <a:prstGeom prst="right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601200" y="4864608"/>
            <a:ext cx="2084832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601200" y="4864608"/>
            <a:ext cx="20848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thread, all levers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54" name="Text 50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= engaged share × engaged repeat + non-engaged share × non-engaged repeat; CAC = $120M ÷ new customers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moments decide whether a first buyer returns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panels A1, A2, A4, A5, A6 and Cohort Table; mechanisms are hypotheses the pilot tests.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17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1301714" y="1874520"/>
            <a:ext cx="9585525" cy="0"/>
          </a:xfrm>
          <a:prstGeom prst="line">
            <a:avLst/>
          </a:prstGeom>
          <a:noFill/>
          <a:ln w="38100">
            <a:solidFill>
              <a:srgbClr val="BFDBF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99962" y="1572768"/>
            <a:ext cx="603504" cy="60350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733" y="1705539"/>
            <a:ext cx="337962" cy="33796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76072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2648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45.5% via prospecting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signals quality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1191986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76072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94360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 Creators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2597549" y="1572768"/>
            <a:ext cx="603504" cy="60350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0320" y="1705539"/>
            <a:ext cx="337962" cy="33796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2146227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page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2173659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210235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25,227 leave here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2146227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26" name="Text 21"/>
          <p:cNvSpPr txBox="1"/>
          <p:nvPr/>
        </p:nvSpPr>
        <p:spPr>
          <a:xfrm>
            <a:off x="2146227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Perceived risk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2789573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2173659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2191947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Product-page proof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4195137" y="1572768"/>
            <a:ext cx="603504" cy="60350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7907" y="1705539"/>
            <a:ext cx="337962" cy="337962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3743815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3771247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3807823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77% never order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3743815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36" name="Text 30"/>
          <p:cNvSpPr txBox="1"/>
          <p:nvPr/>
        </p:nvSpPr>
        <p:spPr>
          <a:xfrm>
            <a:off x="3743815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Unfinished task fades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4387161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3771247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3789535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Saved Cart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5792724" y="1572768"/>
            <a:ext cx="603504" cy="60350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495" y="1705539"/>
            <a:ext cx="337962" cy="337962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5341402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Checkout</a:t>
            </a:r>
            <a:endParaRPr lang="en-US" sz="1200" dirty="0"/>
          </a:p>
        </p:txBody>
      </p:sp>
      <p:sp>
        <p:nvSpPr>
          <p:cNvPr id="43" name="Shape 36"/>
          <p:cNvSpPr/>
          <p:nvPr/>
        </p:nvSpPr>
        <p:spPr>
          <a:xfrm>
            <a:off x="5368834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5405410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27.1% vs web 22.7%</a:t>
            </a:r>
            <a:endParaRPr lang="en-US" sz="1050" dirty="0"/>
          </a:p>
        </p:txBody>
      </p:sp>
      <p:sp>
        <p:nvSpPr>
          <p:cNvPr id="45" name="Text 38"/>
          <p:cNvSpPr txBox="1"/>
          <p:nvPr/>
        </p:nvSpPr>
        <p:spPr>
          <a:xfrm>
            <a:off x="5341402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46" name="Text 39"/>
          <p:cNvSpPr txBox="1"/>
          <p:nvPr/>
        </p:nvSpPr>
        <p:spPr>
          <a:xfrm>
            <a:off x="5341402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effect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5984748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5368834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5387122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It in the App</a:t>
            </a:r>
            <a:endParaRPr lang="en-US" sz="1050" dirty="0"/>
          </a:p>
        </p:txBody>
      </p:sp>
      <p:sp>
        <p:nvSpPr>
          <p:cNvPr id="50" name="Shape 43"/>
          <p:cNvSpPr/>
          <p:nvPr/>
        </p:nvSpPr>
        <p:spPr>
          <a:xfrm>
            <a:off x="7390311" y="1572768"/>
            <a:ext cx="603504" cy="60350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3082" y="1705539"/>
            <a:ext cx="337962" cy="337962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6938990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</a:t>
            </a:r>
            <a:endParaRPr lang="en-US" sz="1200" dirty="0"/>
          </a:p>
        </p:txBody>
      </p:sp>
      <p:sp>
        <p:nvSpPr>
          <p:cNvPr id="53" name="Shape 45"/>
          <p:cNvSpPr/>
          <p:nvPr/>
        </p:nvSpPr>
        <p:spPr>
          <a:xfrm>
            <a:off x="6966422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4" name="Text 46"/>
          <p:cNvSpPr txBox="1"/>
          <p:nvPr/>
        </p:nvSpPr>
        <p:spPr>
          <a:xfrm>
            <a:off x="7002998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24.5% engage</a:t>
            </a:r>
            <a:endParaRPr lang="en-US" sz="1050" dirty="0"/>
          </a:p>
        </p:txBody>
      </p:sp>
      <p:sp>
        <p:nvSpPr>
          <p:cNvPr id="55" name="Text 47"/>
          <p:cNvSpPr txBox="1"/>
          <p:nvPr/>
        </p:nvSpPr>
        <p:spPr>
          <a:xfrm>
            <a:off x="6938990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56" name="Text 48"/>
          <p:cNvSpPr txBox="1"/>
          <p:nvPr/>
        </p:nvSpPr>
        <p:spPr>
          <a:xfrm>
            <a:off x="6938990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Peak-end, endowment</a:t>
            </a:r>
            <a:endParaRPr lang="en-US" sz="1050" dirty="0"/>
          </a:p>
        </p:txBody>
      </p:sp>
      <p:sp>
        <p:nvSpPr>
          <p:cNvPr id="57" name="Shape 49"/>
          <p:cNvSpPr/>
          <p:nvPr/>
        </p:nvSpPr>
        <p:spPr>
          <a:xfrm>
            <a:off x="7582335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58" name="Shape 50"/>
          <p:cNvSpPr/>
          <p:nvPr/>
        </p:nvSpPr>
        <p:spPr>
          <a:xfrm>
            <a:off x="6966422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6984710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Passport</a:t>
            </a:r>
            <a:endParaRPr lang="en-US" sz="1050" dirty="0"/>
          </a:p>
        </p:txBody>
      </p:sp>
      <p:sp>
        <p:nvSpPr>
          <p:cNvPr id="60" name="Shape 52"/>
          <p:cNvSpPr/>
          <p:nvPr/>
        </p:nvSpPr>
        <p:spPr>
          <a:xfrm>
            <a:off x="8987899" y="1572768"/>
            <a:ext cx="603504" cy="60350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6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0670" y="1705539"/>
            <a:ext cx="337962" cy="337962"/>
          </a:xfrm>
          <a:prstGeom prst="rect">
            <a:avLst/>
          </a:prstGeom>
        </p:spPr>
      </p:pic>
      <p:sp>
        <p:nvSpPr>
          <p:cNvPr id="62" name="Text 53"/>
          <p:cNvSpPr txBox="1"/>
          <p:nvPr/>
        </p:nvSpPr>
        <p:spPr>
          <a:xfrm>
            <a:off x="8536577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Days 0–30</a:t>
            </a:r>
            <a:endParaRPr lang="en-US" sz="1200" dirty="0"/>
          </a:p>
        </p:txBody>
      </p:sp>
      <p:sp>
        <p:nvSpPr>
          <p:cNvPr id="63" name="Shape 54"/>
          <p:cNvSpPr/>
          <p:nvPr/>
        </p:nvSpPr>
        <p:spPr>
          <a:xfrm>
            <a:off x="8564009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8600585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Week-2 peak 5.6%</a:t>
            </a:r>
            <a:endParaRPr lang="en-US" sz="1050" dirty="0"/>
          </a:p>
        </p:txBody>
      </p:sp>
      <p:sp>
        <p:nvSpPr>
          <p:cNvPr id="65" name="Text 56"/>
          <p:cNvSpPr txBox="1"/>
          <p:nvPr/>
        </p:nvSpPr>
        <p:spPr>
          <a:xfrm>
            <a:off x="8536577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66" name="Text 57"/>
          <p:cNvSpPr txBox="1"/>
          <p:nvPr/>
        </p:nvSpPr>
        <p:spPr>
          <a:xfrm>
            <a:off x="8536577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Habit formation</a:t>
            </a:r>
            <a:endParaRPr lang="en-US" sz="1050" dirty="0"/>
          </a:p>
        </p:txBody>
      </p:sp>
      <p:sp>
        <p:nvSpPr>
          <p:cNvPr id="67" name="Shape 58"/>
          <p:cNvSpPr/>
          <p:nvPr/>
        </p:nvSpPr>
        <p:spPr>
          <a:xfrm>
            <a:off x="9179923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68" name="Shape 59"/>
          <p:cNvSpPr/>
          <p:nvPr/>
        </p:nvSpPr>
        <p:spPr>
          <a:xfrm>
            <a:off x="8564009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69" name="Text 60"/>
          <p:cNvSpPr txBox="1"/>
          <p:nvPr/>
        </p:nvSpPr>
        <p:spPr>
          <a:xfrm>
            <a:off x="8582297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 Calendar</a:t>
            </a:r>
            <a:endParaRPr lang="en-US" sz="1050" dirty="0"/>
          </a:p>
        </p:txBody>
      </p:sp>
      <p:sp>
        <p:nvSpPr>
          <p:cNvPr id="70" name="Shape 61"/>
          <p:cNvSpPr/>
          <p:nvPr/>
        </p:nvSpPr>
        <p:spPr>
          <a:xfrm>
            <a:off x="10585486" y="1572768"/>
            <a:ext cx="603504" cy="60350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7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18257" y="1705539"/>
            <a:ext cx="337962" cy="337962"/>
          </a:xfrm>
          <a:prstGeom prst="rect">
            <a:avLst/>
          </a:prstGeom>
        </p:spPr>
      </p:pic>
      <p:sp>
        <p:nvSpPr>
          <p:cNvPr id="72" name="Text 62"/>
          <p:cNvSpPr txBox="1"/>
          <p:nvPr/>
        </p:nvSpPr>
        <p:spPr>
          <a:xfrm>
            <a:off x="10134165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Days 30–90</a:t>
            </a:r>
            <a:endParaRPr lang="en-US" sz="1200" dirty="0"/>
          </a:p>
        </p:txBody>
      </p:sp>
      <p:sp>
        <p:nvSpPr>
          <p:cNvPr id="73" name="Shape 63"/>
          <p:cNvSpPr/>
          <p:nvPr/>
        </p:nvSpPr>
        <p:spPr>
          <a:xfrm>
            <a:off x="10161597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74" name="Text 64"/>
          <p:cNvSpPr txBox="1"/>
          <p:nvPr/>
        </p:nvSpPr>
        <p:spPr>
          <a:xfrm>
            <a:off x="10198173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13.7%</a:t>
            </a:r>
            <a:endParaRPr lang="en-US" sz="1050" dirty="0"/>
          </a:p>
        </p:txBody>
      </p:sp>
      <p:sp>
        <p:nvSpPr>
          <p:cNvPr id="75" name="Text 65"/>
          <p:cNvSpPr txBox="1"/>
          <p:nvPr/>
        </p:nvSpPr>
        <p:spPr>
          <a:xfrm>
            <a:off x="10134165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76" name="Text 66"/>
          <p:cNvSpPr txBox="1"/>
          <p:nvPr/>
        </p:nvSpPr>
        <p:spPr>
          <a:xfrm>
            <a:off x="10134165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Mental accounting</a:t>
            </a:r>
            <a:endParaRPr lang="en-US" sz="1050" dirty="0"/>
          </a:p>
        </p:txBody>
      </p:sp>
      <p:sp>
        <p:nvSpPr>
          <p:cNvPr id="77" name="Shape 67"/>
          <p:cNvSpPr/>
          <p:nvPr/>
        </p:nvSpPr>
        <p:spPr>
          <a:xfrm>
            <a:off x="10777510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8" name="Shape 68"/>
          <p:cNvSpPr/>
          <p:nvPr/>
        </p:nvSpPr>
        <p:spPr>
          <a:xfrm>
            <a:off x="10161597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79" name="Text 69"/>
          <p:cNvSpPr txBox="1"/>
          <p:nvPr/>
        </p:nvSpPr>
        <p:spPr>
          <a:xfrm>
            <a:off x="10179885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Journeys</a:t>
            </a:r>
            <a:endParaRPr lang="en-US" sz="1050" dirty="0"/>
          </a:p>
        </p:txBody>
      </p:sp>
      <p:sp>
        <p:nvSpPr>
          <p:cNvPr id="80" name="Shape 70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81" name="Shape 71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8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83" name="Text 72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peaks when the parcel opens: Quince asks for the relationship then, and never with a discount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channels first; paid only where owned can't reach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segments (A1, A2, A4, A6, Cohort Table); team targeting plan. Every segment is a saved CJA segment that drives both message and measurement.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18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0" y="1691640"/>
            <a:ext cx="950976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56816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600200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Hour 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668573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11957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380330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3714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7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187184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30568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423453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66837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30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945014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588398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60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1466576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109960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90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" y="2011680"/>
            <a:ext cx="11183112" cy="1051560"/>
          </a:xfrm>
          <a:prstGeom prst="rect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40080" y="2331720"/>
            <a:ext cx="402336" cy="402336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594" y="2420234"/>
            <a:ext cx="225308" cy="2253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97280" y="201168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502920" y="3200400"/>
            <a:ext cx="11183112" cy="1051560"/>
          </a:xfrm>
          <a:prstGeom prst="rect">
            <a:avLst/>
          </a:prstGeom>
          <a:solidFill>
            <a:srgbClr val="F8FAFC"/>
          </a:solidFill>
          <a:ln w="6350">
            <a:solidFill>
              <a:srgbClr val="F8FAF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40080" y="3520440"/>
            <a:ext cx="402336" cy="402336"/>
          </a:xfrm>
          <a:prstGeom prst="ellipse">
            <a:avLst/>
          </a:prstGeom>
          <a:solidFill>
            <a:srgbClr val="64748B"/>
          </a:solidFill>
          <a:ln w="6350">
            <a:solidFill>
              <a:srgbClr val="64748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594" y="3608954"/>
            <a:ext cx="225308" cy="22530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097280" y="320040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02920" y="4389120"/>
            <a:ext cx="11183112" cy="1051560"/>
          </a:xfrm>
          <a:prstGeom prst="rect">
            <a:avLst/>
          </a:prstGeom>
          <a:solidFill>
            <a:srgbClr val="F8FAFC"/>
          </a:solidFill>
          <a:ln w="6350">
            <a:solidFill>
              <a:srgbClr val="F8FAFC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40080" y="4709160"/>
            <a:ext cx="402336" cy="402336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594" y="4797674"/>
            <a:ext cx="225308" cy="225308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1097280" y="438912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Suppress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2011680" y="2075688"/>
            <a:ext cx="1711757" cy="40233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2103120" y="2075688"/>
            <a:ext cx="152887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Checkout + cart abandoners: Saved Cart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2201875" y="2551176"/>
            <a:ext cx="1711757" cy="402336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2293315" y="2551176"/>
            <a:ext cx="152887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buyer: Passport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3913632" y="2551176"/>
            <a:ext cx="3328416" cy="4023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4005072" y="2551176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buyers, weeks 1–4: second category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7242048" y="2075688"/>
            <a:ext cx="2757830" cy="40233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333488" y="2075688"/>
            <a:ext cx="25749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buyers: Material Journeys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999878" y="2551176"/>
            <a:ext cx="1521562" cy="402336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0091318" y="2551176"/>
            <a:ext cx="13386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Lapsed: restock-first</a:t>
            </a:r>
            <a:endParaRPr lang="en-US" sz="950" dirty="0"/>
          </a:p>
        </p:txBody>
      </p:sp>
      <p:sp>
        <p:nvSpPr>
          <p:cNvPr id="46" name="Shape 40"/>
          <p:cNvSpPr/>
          <p:nvPr/>
        </p:nvSpPr>
        <p:spPr>
          <a:xfrm>
            <a:off x="3723437" y="3264408"/>
            <a:ext cx="1711757" cy="402336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3814877" y="3264408"/>
            <a:ext cx="152887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Unreachable cart abandoners</a:t>
            </a:r>
            <a:endParaRPr lang="en-US" sz="950" dirty="0"/>
          </a:p>
        </p:txBody>
      </p:sp>
      <p:sp>
        <p:nvSpPr>
          <p:cNvPr id="48" name="Shape 42"/>
          <p:cNvSpPr/>
          <p:nvPr/>
        </p:nvSpPr>
        <p:spPr>
          <a:xfrm>
            <a:off x="5435194" y="3739896"/>
            <a:ext cx="3043123" cy="402336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5526634" y="3739896"/>
            <a:ext cx="28602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Non-engaged: customer-match ads</a:t>
            </a:r>
            <a:endParaRPr lang="en-US" sz="950" dirty="0"/>
          </a:p>
        </p:txBody>
      </p:sp>
      <p:sp>
        <p:nvSpPr>
          <p:cNvPr id="50" name="Shape 44"/>
          <p:cNvSpPr/>
          <p:nvPr/>
        </p:nvSpPr>
        <p:spPr>
          <a:xfrm>
            <a:off x="2011680" y="4453128"/>
            <a:ext cx="9509760" cy="4023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2103120" y="4453128"/>
            <a:ext cx="9326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Recent buyers and owned-reachable customers removed from paid retargeting from week 1</a:t>
            </a:r>
            <a:endParaRPr lang="en-US" sz="950" dirty="0"/>
          </a:p>
        </p:txBody>
      </p:sp>
      <p:sp>
        <p:nvSpPr>
          <p:cNvPr id="52" name="Shape 46"/>
          <p:cNvSpPr/>
          <p:nvPr/>
        </p:nvSpPr>
        <p:spPr>
          <a:xfrm>
            <a:off x="2011680" y="4928616"/>
            <a:ext cx="3423514" cy="402336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2103120" y="4928616"/>
            <a:ext cx="32406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Single-page bouncers</a:t>
            </a:r>
            <a:endParaRPr lang="en-US" sz="950" dirty="0"/>
          </a:p>
        </p:txBody>
      </p:sp>
      <p:sp>
        <p:nvSpPr>
          <p:cNvPr id="54" name="Shape 48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retargeting keeps one job: reaching high-intent people Quince has no other way to contact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Fourteen programs, three flagships, zero discounts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strategy. Each program sits inside one lever, works on one named behaviour and has a KPI CJA can read.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19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280160"/>
            <a:ext cx="3611880" cy="40233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2801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Capture every buyer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1810512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0A1F44"/>
          </a:solidFill>
          <a:ln w="9525">
            <a:solidFill>
              <a:srgbClr val="0A1F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1810512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Quince Passport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 card: register your piece for care, exchange, restock-first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02920" y="2798064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798064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It in the App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tracking opens in the app by default; SMS fallback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02920" y="3785616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785616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Saved Cart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Reminders within hours with fit and return promise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02920" y="4773168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4773168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Restock-First Waitlist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"Text me when it's back" for real sell-outs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88536" y="1280160"/>
            <a:ext cx="3611880" cy="40233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88536" y="12801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Win the Golden Month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288536" y="1810512"/>
            <a:ext cx="3611880" cy="585216"/>
          </a:xfrm>
          <a:prstGeom prst="roundRect">
            <a:avLst>
              <a:gd name="adj" fmla="val 9375"/>
            </a:avLst>
          </a:prstGeom>
          <a:solidFill>
            <a:srgbClr val="0A1F44"/>
          </a:solidFill>
          <a:ln w="9525">
            <a:solidFill>
              <a:srgbClr val="0A1F4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25696" y="1810512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Material Journeys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buyer → throw or linen sheets, by season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88536" y="2459736"/>
            <a:ext cx="361188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25696" y="2459736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 Calendar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Seasonal care reminders keep cashmere buyers close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288536" y="3108960"/>
            <a:ext cx="361188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25696" y="31089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Gift Ledger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Saved dates trigger picks 14 days before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88536" y="3758184"/>
            <a:ext cx="361188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425696" y="3758184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Insider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 access earned by engagement, not spend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288536" y="4407408"/>
            <a:ext cx="361188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25696" y="4407408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Beauty Refill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Refill reminders timed to each product's use cycle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288536" y="5056632"/>
            <a:ext cx="361188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425696" y="5056632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Second Life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Take-back for recycling, rewarded with early access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074152" y="1280160"/>
            <a:ext cx="3611880" cy="40233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74152" y="12801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Never pay twice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74152" y="1810512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0A1F44"/>
          </a:solidFill>
          <a:ln w="9525">
            <a:solidFill>
              <a:srgbClr val="0A1F44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11312" y="1810512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Never Pay Twice Engine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CJA audiences suppress owned buyers from paid ads daily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074152" y="2798064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11312" y="2798064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Loyalist Lookalikes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Seed half of prospecting on repeat buyers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8074152" y="3785616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11312" y="3785616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 Creators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Wear-tests and fabric close-ups, $1.5M from search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074152" y="4773168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11312" y="4773168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Fitting Room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Members-only holiday pop-up; entry through the app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502920" y="58704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programs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3337560" y="58704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discounts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6172200" y="58704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CJA tests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006840" y="58704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budget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levers lift 90-day repeat from 24% to about 31%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E and J (baseline 24%); Adobe CJA A2/A5 for measured haircuts (app 17%, SMS 37%); new-lever sizes are team estimates.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20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31520" y="4362994"/>
            <a:ext cx="960120" cy="757646"/>
          </a:xfrm>
          <a:prstGeom prst="rect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05209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24.0%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1691640" y="4362994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1965960" y="3908407"/>
            <a:ext cx="960120" cy="454587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783080" y="3597511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85623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 capture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26080" y="3908407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3200400" y="3529584"/>
            <a:ext cx="960120" cy="378823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17520" y="32186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09067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capture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160520" y="3529584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21" name="Shape 18"/>
          <p:cNvSpPr/>
          <p:nvPr/>
        </p:nvSpPr>
        <p:spPr>
          <a:xfrm>
            <a:off x="4434840" y="3169702"/>
            <a:ext cx="960120" cy="359882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51960" y="285880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32511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cross-sell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394960" y="3169702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25" name="Shape 22"/>
          <p:cNvSpPr/>
          <p:nvPr/>
        </p:nvSpPr>
        <p:spPr>
          <a:xfrm>
            <a:off x="5669280" y="2904526"/>
            <a:ext cx="960120" cy="265176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0" y="259363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55955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Triggered journeys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629400" y="2904526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29" name="Shape 26"/>
          <p:cNvSpPr/>
          <p:nvPr/>
        </p:nvSpPr>
        <p:spPr>
          <a:xfrm>
            <a:off x="6903720" y="2828762"/>
            <a:ext cx="960120" cy="75765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20840" y="251786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79399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Passport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863840" y="2828762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33" name="Shape 30"/>
          <p:cNvSpPr/>
          <p:nvPr/>
        </p:nvSpPr>
        <p:spPr>
          <a:xfrm>
            <a:off x="8138160" y="2658291"/>
            <a:ext cx="960120" cy="170470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955280" y="234739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02843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Loyalist Lookalikes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9098280" y="2658291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37" name="Shape 34"/>
          <p:cNvSpPr/>
          <p:nvPr/>
        </p:nvSpPr>
        <p:spPr>
          <a:xfrm>
            <a:off x="9372600" y="2658291"/>
            <a:ext cx="960120" cy="378823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189720" y="234739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926287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Haircuts: selection bias, overlap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10332720" y="3037114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41" name="Shape 38"/>
          <p:cNvSpPr/>
          <p:nvPr/>
        </p:nvSpPr>
        <p:spPr>
          <a:xfrm>
            <a:off x="10607040" y="3037114"/>
            <a:ext cx="960120" cy="2083526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424160" y="272621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31.0%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49731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case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548640" y="5120640"/>
            <a:ext cx="1097280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02920" y="56875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Axis starts at 20%</a:t>
            </a:r>
            <a:endParaRPr lang="en-US" sz="850" dirty="0"/>
          </a:p>
        </p:txBody>
      </p:sp>
      <p:sp>
        <p:nvSpPr>
          <p:cNvPr id="46" name="Shape 43"/>
          <p:cNvSpPr/>
          <p:nvPr/>
        </p:nvSpPr>
        <p:spPr>
          <a:xfrm>
            <a:off x="6492240" y="1371600"/>
            <a:ext cx="1225296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492240" y="1399032"/>
            <a:ext cx="12252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1627632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33.0%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7790688" y="1371600"/>
            <a:ext cx="1225296" cy="640080"/>
          </a:xfrm>
          <a:prstGeom prst="roundRect">
            <a:avLst>
              <a:gd name="adj" fmla="val 11429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90688" y="1399032"/>
            <a:ext cx="12252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7790688" y="1627632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31.0%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9089136" y="1371600"/>
            <a:ext cx="1225296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089136" y="1399032"/>
            <a:ext cx="12252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Downside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9089136" y="1627632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29.5%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10387584" y="1371600"/>
            <a:ext cx="1225296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10387584" y="1399032"/>
            <a:ext cx="12252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Downside + buffers</a:t>
            </a:r>
            <a:endParaRPr lang="en-US" sz="900" dirty="0"/>
          </a:p>
        </p:txBody>
      </p:sp>
      <p:sp>
        <p:nvSpPr>
          <p:cNvPr id="57" name="Text 54"/>
          <p:cNvSpPr txBox="1"/>
          <p:nvPr/>
        </p:nvSpPr>
        <p:spPr>
          <a:xfrm>
            <a:off x="10387584" y="1627632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30.0%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$9M shifts from rented spend to owned channels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 G (today); team plan (tranches T1–T3 gated by CJA holdouts). Brand/other holds $4M, of which $1.0M funds the Fitting Room test.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21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1325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$0M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91840" y="1600200"/>
            <a:ext cx="0" cy="406908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998720" y="1325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$20M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364480" y="1600200"/>
            <a:ext cx="0" cy="406908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7071360" y="1325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$40M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437120" y="1600200"/>
            <a:ext cx="0" cy="406908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9144000" y="1325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$60M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509760" y="1600200"/>
            <a:ext cx="0" cy="406908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02920" y="17830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prospecting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095232" y="1965960"/>
            <a:ext cx="207264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201912" y="1865376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94648" y="1865376"/>
            <a:ext cx="201168" cy="20116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692640" y="17830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−$2M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046988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T3 · only if proven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4414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search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260848" y="2624328"/>
            <a:ext cx="310896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71160" y="2523744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160264" y="2523744"/>
            <a:ext cx="201168" cy="20116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92640" y="244144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−$3M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0469880" y="24414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T2 · after geo holdout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309981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Influencer and creators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949952" y="3282696"/>
            <a:ext cx="155448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849368" y="3182112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004816" y="3182112"/>
            <a:ext cx="201168" cy="201168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692640" y="309981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+$1.5M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10469880" y="309981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+$1.5M from search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02920" y="375818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retargeting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4328160" y="3941064"/>
            <a:ext cx="414528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2104" y="3840480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227576" y="3840480"/>
            <a:ext cx="201168" cy="20116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692640" y="375818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−$4M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10469880" y="375818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T1 · suppress own buyers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44165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Email, SMS, app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3913632" y="4599432"/>
            <a:ext cx="77724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813048" y="4498848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90288" y="4498848"/>
            <a:ext cx="201168" cy="201168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692640" y="441655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+$7.5M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469880" y="44165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+$7.5M owned build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502920" y="50749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and other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3706368" y="5257800"/>
            <a:ext cx="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605784" y="5157216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605784" y="5157216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692640" y="50749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±$0M</a:t>
            </a:r>
            <a:endParaRPr lang="en-US" sz="1150" dirty="0"/>
          </a:p>
        </p:txBody>
      </p:sp>
      <p:sp>
        <p:nvSpPr>
          <p:cNvPr id="52" name="Text 49"/>
          <p:cNvSpPr txBox="1"/>
          <p:nvPr/>
        </p:nvSpPr>
        <p:spPr>
          <a:xfrm>
            <a:off x="10469880" y="50749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incl. $1.0M Fitting Room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3291840" y="5870448"/>
            <a:ext cx="164592" cy="164592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520440" y="58247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4297680" y="5870448"/>
            <a:ext cx="164592" cy="16459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4526280" y="58247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5760720" y="582472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change: $0 inside the fixed $120M  ·  owned share 5% → 11%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$120M earns about $25M more contribution a year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H and J (45% contribution margin, $13.5M per 6 pts of repeat); strict CAC = $120M ÷ new customers; team estimates.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22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325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Contribution added per year, $M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1920240"/>
            <a:ext cx="2658344" cy="82296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1920240"/>
            <a:ext cx="2475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$15.8M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2816352"/>
            <a:ext cx="2658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at +7 pts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161264" y="1920240"/>
            <a:ext cx="1497421" cy="822960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8424" y="1920240"/>
            <a:ext cx="131454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$8.9M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161264" y="2816352"/>
            <a:ext cx="14974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~170K extra new customers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4795845" y="1920240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$25M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3474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Lifetime margin per customer vs CAC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374904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3-year LTV × 45% margin, $; web-only vs prospecting CAC $74, others vs $62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Web-only, not subscribed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2286000" y="4178808"/>
            <a:ext cx="1034261" cy="237744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411701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  ·  0.94× CAC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4645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2286000" y="4709160"/>
            <a:ext cx="1901705" cy="237744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279145" y="46451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  ·  2.1× CAC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51755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App-installed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286000" y="5239512"/>
            <a:ext cx="2735786" cy="237744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113226" y="51755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  ·  3.0× CAC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3258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CAC, measured two ways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400800" y="1828800"/>
            <a:ext cx="5285232" cy="1005840"/>
          </a:xfrm>
          <a:prstGeom prst="roundRect">
            <a:avLst>
              <a:gd name="adj" fmla="val 7273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583680" y="19385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Effective CAC (case's Exhibit J measure)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583680" y="2240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 → ~$54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941832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−12% to −14%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6400800" y="3017520"/>
            <a:ext cx="5285232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31272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Strict new-customer CAC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583680" y="3429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 → ~$57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9418320" y="3429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−8%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6400800" y="4343400"/>
            <a:ext cx="5285232" cy="1051560"/>
          </a:xfrm>
          <a:prstGeom prst="roundRect">
            <a:avLst>
              <a:gd name="adj" fmla="val 6957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583680" y="434340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Converting one web-only buyer into an app user is worth about $115 of margin, almost two new-customer CACs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click undervalues owned channels about three times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Attribution IQ, Order Revenue ($337,044), Marketing Channel, Person container, 90-day lookback,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23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0%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017520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3584448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858768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4425696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20%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700016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266944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30%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541264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6108192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40%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82512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6949440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50%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223760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21" name="Text 18"/>
          <p:cNvSpPr txBox="1"/>
          <p:nvPr/>
        </p:nvSpPr>
        <p:spPr>
          <a:xfrm>
            <a:off x="594360" y="1737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prospecting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508699" y="1920240"/>
            <a:ext cx="353324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17259" y="1828800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70583" y="1828800"/>
            <a:ext cx="182880" cy="18288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26615" y="17373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41.5% → 45.7%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94360" y="224942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Organic, direct, SEO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363517" y="2432304"/>
            <a:ext cx="673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72077" y="2340864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39377" y="2340864"/>
            <a:ext cx="182880" cy="18288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95409" y="224942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 → 16.8%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276148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retargeting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102730" y="2944368"/>
            <a:ext cx="10095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011290" y="2852928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112240" y="2852928"/>
            <a:ext cx="182880" cy="18288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68272" y="276148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12.9% → 14.1%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327355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search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94317" y="3456432"/>
            <a:ext cx="75712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02877" y="3364992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078590" y="3364992"/>
            <a:ext cx="182880" cy="18288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34622" y="327355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→ 13.7%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78561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Influencer, affiliate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4035430" y="3968496"/>
            <a:ext cx="10095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943990" y="3877056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044940" y="3877056"/>
            <a:ext cx="182880" cy="18288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00972" y="378561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 → 13.3%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502920" y="4261104"/>
            <a:ext cx="7726680" cy="438912"/>
          </a:xfrm>
          <a:prstGeom prst="rect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94360" y="4297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3244657" y="4480560"/>
            <a:ext cx="504749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153217" y="4389120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657966" y="4389120"/>
            <a:ext cx="182880" cy="18288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913998" y="42976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 → 8.7%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502920" y="4773168"/>
            <a:ext cx="7726680" cy="438912"/>
          </a:xfrm>
          <a:prstGeom prst="rect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94360" y="480974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3076407" y="4992624"/>
            <a:ext cx="227137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2984967" y="4901184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212104" y="4901184"/>
            <a:ext cx="182880" cy="18288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468136" y="48097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→ 3.4%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02920" y="5285232"/>
            <a:ext cx="7726680" cy="438912"/>
          </a:xfrm>
          <a:prstGeom prst="rect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94360" y="53218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push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3135295" y="5504688"/>
            <a:ext cx="126187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3043855" y="5413248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3170042" y="5413248"/>
            <a:ext cx="182880" cy="18288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3426074" y="532180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1.4% → 2.9%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3017520" y="5943600"/>
            <a:ext cx="146304" cy="146304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3218688" y="58978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touch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4206240" y="5943600"/>
            <a:ext cx="146304" cy="14630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407408" y="5897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Participation</a:t>
            </a:r>
            <a:endParaRPr lang="en-US" sz="950" dirty="0"/>
          </a:p>
        </p:txBody>
      </p:sp>
      <p:sp>
        <p:nvSpPr>
          <p:cNvPr id="68" name="Shape 65"/>
          <p:cNvSpPr/>
          <p:nvPr/>
        </p:nvSpPr>
        <p:spPr>
          <a:xfrm>
            <a:off x="8595360" y="1737360"/>
            <a:ext cx="3090672" cy="1828800"/>
          </a:xfrm>
          <a:prstGeom prst="roundRect">
            <a:avLst>
              <a:gd name="adj" fmla="val 4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8778240" y="182880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4.8% → 15.0%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channels: last-touch credit vs share of revenue they take part in</a:t>
            </a:r>
            <a:endParaRPr lang="en-US" sz="1200" dirty="0"/>
          </a:p>
        </p:txBody>
      </p:sp>
      <p:sp>
        <p:nvSpPr>
          <p:cNvPr id="70" name="Shape 67"/>
          <p:cNvSpPr/>
          <p:nvPr/>
        </p:nvSpPr>
        <p:spPr>
          <a:xfrm>
            <a:off x="8595360" y="3749040"/>
            <a:ext cx="309067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778240" y="384048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12.9% → 12.4%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Retargeting barely moves from last to first touch, so its cut rests on holdouts, not attribution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risks, each with a mitigation and an early warning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analysis; case section 7 risk matrix. Positions are team judgment.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24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1097280" y="1463040"/>
            <a:ext cx="1289304" cy="1289304"/>
          </a:xfrm>
          <a:prstGeom prst="rect">
            <a:avLst/>
          </a:prstGeom>
          <a:solidFill>
            <a:srgbClr val="FEF3C7"/>
          </a:solidFill>
          <a:ln w="6350">
            <a:solidFill>
              <a:srgbClr val="FEF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23160" y="1463040"/>
            <a:ext cx="1289304" cy="1289304"/>
          </a:xfrm>
          <a:prstGeom prst="rect">
            <a:avLst/>
          </a:prstGeom>
          <a:solidFill>
            <a:srgbClr val="FDE2E2"/>
          </a:solidFill>
          <a:ln w="6350">
            <a:solidFill>
              <a:srgbClr val="FDE2E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749040" y="1463040"/>
            <a:ext cx="1289304" cy="1289304"/>
          </a:xfrm>
          <a:prstGeom prst="rect">
            <a:avLst/>
          </a:prstGeom>
          <a:solidFill>
            <a:srgbClr val="FDE2E2"/>
          </a:solidFill>
          <a:ln w="6350">
            <a:solidFill>
              <a:srgbClr val="FDE2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97280" y="2788920"/>
            <a:ext cx="1289304" cy="1289304"/>
          </a:xfrm>
          <a:prstGeom prst="rect">
            <a:avLst/>
          </a:prstGeom>
          <a:solidFill>
            <a:srgbClr val="E8F5EC"/>
          </a:solidFill>
          <a:ln w="6350">
            <a:solidFill>
              <a:srgbClr val="E8F5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423160" y="2788920"/>
            <a:ext cx="1289304" cy="1289304"/>
          </a:xfrm>
          <a:prstGeom prst="rect">
            <a:avLst/>
          </a:prstGeom>
          <a:solidFill>
            <a:srgbClr val="FEF3C7"/>
          </a:solidFill>
          <a:ln w="6350">
            <a:solidFill>
              <a:srgbClr val="FEF3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49040" y="2788920"/>
            <a:ext cx="1289304" cy="1289304"/>
          </a:xfrm>
          <a:prstGeom prst="rect">
            <a:avLst/>
          </a:prstGeom>
          <a:solidFill>
            <a:srgbClr val="FDE2E2"/>
          </a:solidFill>
          <a:ln w="6350">
            <a:solidFill>
              <a:srgbClr val="FDE2E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97280" y="4114800"/>
            <a:ext cx="1289304" cy="1289304"/>
          </a:xfrm>
          <a:prstGeom prst="rect">
            <a:avLst/>
          </a:prstGeom>
          <a:solidFill>
            <a:srgbClr val="E8F5EC"/>
          </a:solidFill>
          <a:ln w="6350">
            <a:solidFill>
              <a:srgbClr val="E8F5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423160" y="4114800"/>
            <a:ext cx="1289304" cy="1289304"/>
          </a:xfrm>
          <a:prstGeom prst="rect">
            <a:avLst/>
          </a:prstGeom>
          <a:solidFill>
            <a:srgbClr val="E8F5EC"/>
          </a:solidFill>
          <a:ln w="6350">
            <a:solidFill>
              <a:srgbClr val="E8F5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749040" y="4114800"/>
            <a:ext cx="1289304" cy="1289304"/>
          </a:xfrm>
          <a:prstGeom prst="rect">
            <a:avLst/>
          </a:prstGeom>
          <a:solidFill>
            <a:srgbClr val="FEF3C7"/>
          </a:solidFill>
          <a:ln w="635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97280" y="548640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Likelihood →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 rot="16200000">
            <a:off x="-731520" y="33238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977640" y="192024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7764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977640" y="324612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977640" y="3246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651760" y="324612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651760" y="3246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651760" y="192024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65176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651760" y="457200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51760" y="4572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977640" y="457200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977640" y="4572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0" y="1572768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669280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6126480" y="1463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Selection bias inflates lift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126480" y="1755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Randomized 10% holdout; A5 haircut built in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669280" y="2240280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669280" y="2240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126480" y="213055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 owners resist cuts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6126480" y="2423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Scorecards move to incremental revenue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669280" y="2907792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0" y="2907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6126480" y="27980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Message fatigue, unsubscribes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6126480" y="3090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Fewer, triggered sends; guardrail pauses tranche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5669280" y="3575304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669280" y="3575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6126480" y="346557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Consent and privacy (TCPA, CCPA)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6126480" y="3758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Transactional and marketing consent split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5669280" y="4242816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669280" y="4242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6126480" y="4133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Fitting Room doesn't pay back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6126480" y="44256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One-season test; stops if it loses to Passport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5669280" y="4910328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0" y="4910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6126480" y="48006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or signal shock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6126480" y="50932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share 5% → 11%; suppression by lists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Journeys runs on shipping events Quince already has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architecture; Adobe CJA and Journey Optimizer as the activation layer (case Exhibit L). Timings are team estimates.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25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070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asked: "How hard is Material Journeys to actually build?"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1600200"/>
            <a:ext cx="7498080" cy="658368"/>
          </a:xfrm>
          <a:prstGeom prst="roundRect">
            <a:avLst>
              <a:gd name="adj" fmla="val 11111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6479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160020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Factories and 3PL partners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160020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 created · customs cleared · out for delivery · delivered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114800" y="2258568"/>
            <a:ext cx="219456" cy="128016"/>
          </a:xfrm>
          <a:prstGeom prst="downArrow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2386584"/>
            <a:ext cx="7498080" cy="658368"/>
          </a:xfrm>
          <a:prstGeom prst="roundRect">
            <a:avLst>
              <a:gd name="adj" fmla="val 11111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51176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88720" y="238658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and fulfillment API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3840480" y="238658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event stream per order, keyed to the order ID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114800" y="3044952"/>
            <a:ext cx="219456" cy="128016"/>
          </a:xfrm>
          <a:prstGeom prst="downArrow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02920" y="3172968"/>
            <a:ext cx="7498080" cy="658368"/>
          </a:xfrm>
          <a:prstGeom prst="roundRect">
            <a:avLst>
              <a:gd name="adj" fmla="val 11111"/>
            </a:avLst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337560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188720" y="317296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Adobe CJA: stitched person ID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3840480" y="317296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ID → person; audiences; holdout assignment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114800" y="3831336"/>
            <a:ext cx="219456" cy="128016"/>
          </a:xfrm>
          <a:prstGeom prst="downArrow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02920" y="3959352"/>
            <a:ext cx="7498080" cy="658368"/>
          </a:xfrm>
          <a:prstGeom prst="roundRect">
            <a:avLst>
              <a:gd name="adj" fmla="val 11111"/>
            </a:avLst>
          </a:prstGeom>
          <a:solidFill>
            <a:srgbClr val="3B82F6"/>
          </a:solidFill>
          <a:ln w="6350">
            <a:solidFill>
              <a:srgbClr val="3B82F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23944"/>
            <a:ext cx="329184" cy="32918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88720" y="3959352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Journey orchestration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3840480" y="395935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Pre-arrival care · delivery-day Passport ask · day-21 cross-sell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4114800" y="4617720"/>
            <a:ext cx="219456" cy="128016"/>
          </a:xfrm>
          <a:prstGeom prst="downArrow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02920" y="4745736"/>
            <a:ext cx="7498080" cy="658368"/>
          </a:xfrm>
          <a:prstGeom prst="roundRect">
            <a:avLst>
              <a:gd name="adj" fmla="val 11111"/>
            </a:avLst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910328"/>
            <a:ext cx="329184" cy="32918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188720" y="4745736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3840480" y="4745736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 · email · app push, under one frequency cap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8321040" y="1600200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sequence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8321040" y="201168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83210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8778240" y="19933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Weeks 1–4</a:t>
            </a:r>
            <a:endParaRPr lang="en-US" sz="1200" dirty="0"/>
          </a:p>
        </p:txBody>
      </p:sp>
      <p:sp>
        <p:nvSpPr>
          <p:cNvPr id="38" name="Text 30"/>
          <p:cNvSpPr txBox="1"/>
          <p:nvPr/>
        </p:nvSpPr>
        <p:spPr>
          <a:xfrm>
            <a:off x="8778240" y="2286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 shipping events; confirm consent split</a:t>
            </a:r>
            <a:endParaRPr lang="en-US" sz="1050" dirty="0"/>
          </a:p>
        </p:txBody>
      </p:sp>
      <p:sp>
        <p:nvSpPr>
          <p:cNvPr id="39" name="Shape 31"/>
          <p:cNvSpPr/>
          <p:nvPr/>
        </p:nvSpPr>
        <p:spPr>
          <a:xfrm>
            <a:off x="8321040" y="310896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832104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8778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Weeks 5–8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8778240" y="33832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 events into CJA; build audiences</a:t>
            </a:r>
            <a:endParaRPr lang="en-US" sz="1050" dirty="0"/>
          </a:p>
        </p:txBody>
      </p:sp>
      <p:sp>
        <p:nvSpPr>
          <p:cNvPr id="43" name="Shape 35"/>
          <p:cNvSpPr/>
          <p:nvPr/>
        </p:nvSpPr>
        <p:spPr>
          <a:xfrm>
            <a:off x="8321040" y="420624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8321040" y="4206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8778240" y="41879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Weeks 9–12</a:t>
            </a:r>
            <a:endParaRPr lang="en-US" sz="1200" dirty="0"/>
          </a:p>
        </p:txBody>
      </p:sp>
      <p:sp>
        <p:nvSpPr>
          <p:cNvPr id="46" name="Text 38"/>
          <p:cNvSpPr txBox="1"/>
          <p:nvPr/>
        </p:nvSpPr>
        <p:spPr>
          <a:xfrm>
            <a:off x="8778240" y="44805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pre-arrival journeys in the South pilot</a:t>
            </a:r>
            <a:endParaRPr lang="en-US" sz="1050" dirty="0"/>
          </a:p>
        </p:txBody>
      </p:sp>
      <p:sp>
        <p:nvSpPr>
          <p:cNvPr id="47" name="Shape 39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 tech lift: the shipping events already exist; the work is routing them to CJA audiences and lifecycle triggers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Sources: case data, our CJA project and public research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figures are the packet's illustrative estimates, never Quince disclosures. Links come from the team's strategy research.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3258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and Adobe CJA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16916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case packet, "Closing the Loop"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Competition World Cup, Graduate Track, 9 Oct 2026. Exhibits B–N; all figures illustrative.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26060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Adobe CJA, Quince Case Data View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project "Quince CJA": 60,000 people, 125,521 events, 1 Jan–30 Apr 2026 (appendix 9–14).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35204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Adjust; AppsFlyer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iOS App Tracking Transparency opt-in benchmarks, about 35–50%.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44348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Reuters, March 2026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valued at $10.1B.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13258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and public facts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6916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Gordon, Zettelmeyer, Bhargava &amp; Chapsky (2019)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Comparison of Approaches to Advertising Measurement. Marketing Science 38(2).</a:t>
            </a:r>
            <a:endParaRPr lang="en-US" sz="1200" dirty="0"/>
          </a:p>
          <a:p>
            <a:pPr indent="0" marL="0">
              <a:buNone/>
            </a:pPr>
            <a:r>
              <a:rPr lang="en-US" sz="950" u="sng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doi.org/10.1287/mksc.2018.1135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355080" y="26060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Blake, Nosko &amp; Tadelis (2015)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Consumer Heterogeneity and Paid Search Effectiveness. Econometrica 83(1).</a:t>
            </a:r>
            <a:endParaRPr lang="en-US" sz="1200" dirty="0"/>
          </a:p>
          <a:p>
            <a:pPr indent="0" marL="0">
              <a:buNone/>
            </a:pPr>
            <a:r>
              <a:rPr lang="en-US" sz="950" u="sng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doi.org/10.3982/ECTA12423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35204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Shein buys Everlane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WUSF, 22 May 2026.</a:t>
            </a:r>
            <a:endParaRPr lang="en-US" sz="1200" dirty="0"/>
          </a:p>
          <a:p>
            <a:pPr indent="0" marL="0">
              <a:buNone/>
            </a:pPr>
            <a:r>
              <a:rPr lang="en-US" sz="950" u="sng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www.wusf.org/2026-05-22/shein-buys-everlane-which-sold-millennials-the-dream-of-ethical-affordable-luxury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355080" y="44348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Williams-Sonoma v. Last Brand dismissed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Sept 2026, with leave to amend. The Fashion Law.</a:t>
            </a:r>
            <a:endParaRPr lang="en-US" sz="1200" dirty="0"/>
          </a:p>
          <a:p>
            <a:pPr indent="0" marL="0">
              <a:buNone/>
            </a:pPr>
            <a:r>
              <a:rPr lang="en-US" sz="950" u="sng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www.thefashionlaw.com/quince-beats-williams-sonoma-false-advertising-claims-over-product-comparisons/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 the Second Purchase</dc:title>
  <dc:subject>PptxGenJS Presentation</dc:subject>
  <dc:creator>Team G27</dc:creator>
  <cp:lastModifiedBy>Team G27</cp:lastModifiedBy>
  <cp:revision>1</cp:revision>
  <dcterms:created xsi:type="dcterms:W3CDTF">2026-10-17T13:58:09Z</dcterms:created>
  <dcterms:modified xsi:type="dcterms:W3CDTF">2026-10-17T13:58:09Z</dcterms:modified>
</cp:coreProperties>
</file>