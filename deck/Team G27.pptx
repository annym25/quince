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1.png"/><Relationship Id="rId9" Type="http://schemas.openxmlformats.org/officeDocument/2006/relationships/image" Target="../media/image-5-9.png"/><Relationship Id="rId10" Type="http://schemas.openxmlformats.org/officeDocument/2006/relationships/image" Target="../media/image-5-3.png"/><Relationship Id="rId11" Type="http://schemas.openxmlformats.org/officeDocument/2006/relationships/image" Target="../media/image-5-5.png"/><Relationship Id="rId12" Type="http://schemas.openxmlformats.org/officeDocument/2006/relationships/image" Target="../media/image-5-2.png"/><Relationship Id="rId13" Type="http://schemas.openxmlformats.org/officeDocument/2006/relationships/image" Target="../media/image-5-6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Quince/7efe80ae-a049-50c2-9886-98bf7ca3a04a/scratchpad/assets/qui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72434"/>
            <a:ext cx="1188720" cy="35474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875520" y="5669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the Second Purchase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2004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7D7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Turning viral first buyers into repeat customers with the same $120M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4343400"/>
            <a:ext cx="2148840" cy="868680"/>
          </a:xfrm>
          <a:prstGeom prst="roundRect">
            <a:avLst>
              <a:gd name="adj" fmla="val 10526"/>
            </a:avLst>
          </a:prstGeom>
          <a:solidFill>
            <a:srgbClr val="16306A"/>
          </a:solidFill>
          <a:ln w="9525">
            <a:solidFill>
              <a:srgbClr val="3554A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24% → 31%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90-day repeat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71800" y="4343400"/>
            <a:ext cx="2148840" cy="868680"/>
          </a:xfrm>
          <a:prstGeom prst="roundRect">
            <a:avLst>
              <a:gd name="adj" fmla="val 10526"/>
            </a:avLst>
          </a:prstGeom>
          <a:solidFill>
            <a:srgbClr val="16306A"/>
          </a:solidFill>
          <a:ln w="9525">
            <a:solidFill>
              <a:srgbClr val="3554A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5468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−12 to −14%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blended CAC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03520" y="4343400"/>
            <a:ext cx="2148840" cy="868680"/>
          </a:xfrm>
          <a:prstGeom prst="roundRect">
            <a:avLst>
              <a:gd name="adj" fmla="val 10526"/>
            </a:avLst>
          </a:prstGeom>
          <a:solidFill>
            <a:srgbClr val="16306A"/>
          </a:solidFill>
          <a:ln w="9525">
            <a:solidFill>
              <a:srgbClr val="3554A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budget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Retargeting and lifecycle strategy  ·  Grounded in Adobe Customer Journey Analytics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108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Competition World Cup  ·  Graduate Track  ·  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programs win the second purchase at $0 new budget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Adobe CJA (Quince case data view, Jan–Apr 2026); case Exhibits D, G, H, J; team analysis. Impact figures are team estimates; repeat contributions are gross before haircuts.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02920" y="1243584"/>
            <a:ext cx="8183880" cy="274320"/>
          </a:xfrm>
          <a:prstGeom prst="triangle">
            <a:avLst/>
          </a:prstGeom>
          <a:solidFill>
            <a:srgbClr val="DBEAFE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1499616"/>
            <a:ext cx="8183880" cy="438912"/>
          </a:xfrm>
          <a:prstGeom prst="roundRect">
            <a:avLst>
              <a:gd name="adj" fmla="val 125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1499616"/>
            <a:ext cx="7818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$9M of the fixed $120M from rented to owned reach; earn the second purchase when trust peaks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2029968"/>
            <a:ext cx="2636520" cy="2706624"/>
          </a:xfrm>
          <a:prstGeom prst="roundRect">
            <a:avLst>
              <a:gd name="adj" fmla="val 20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" y="2029968"/>
            <a:ext cx="2636520" cy="566928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" y="2075688"/>
            <a:ext cx="245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every buyer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30936" y="2350008"/>
            <a:ext cx="2453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E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every order into a relationship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2648" y="2715768"/>
            <a:ext cx="2417064" cy="329184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9525">
            <a:solidFill>
              <a:srgbClr val="0A1F4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2376" y="2715768"/>
            <a:ext cx="2197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 Quince Passport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12648" y="3136392"/>
            <a:ext cx="24170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22376" y="3136392"/>
            <a:ext cx="2197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It in the App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2648" y="3557016"/>
            <a:ext cx="24170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2376" y="3557016"/>
            <a:ext cx="2197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Saved Cart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" y="3977640"/>
            <a:ext cx="24170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2376" y="3977640"/>
            <a:ext cx="2197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Restock-First Waitlist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2648" y="4407408"/>
            <a:ext cx="2417064" cy="256032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12648" y="4407408"/>
            <a:ext cx="2417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+4.8 pts repeat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76600" y="2029968"/>
            <a:ext cx="2636520" cy="2706624"/>
          </a:xfrm>
          <a:prstGeom prst="roundRect">
            <a:avLst>
              <a:gd name="adj" fmla="val 20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76600" y="2029968"/>
            <a:ext cx="2636520" cy="566928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404616" y="2075688"/>
            <a:ext cx="245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the Golden Month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3404616" y="2350008"/>
            <a:ext cx="2453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E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Earn the second order in weeks 1–4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386328" y="2688336"/>
            <a:ext cx="2417064" cy="237744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9525">
            <a:solidFill>
              <a:srgbClr val="0A1F4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496056" y="2688336"/>
            <a:ext cx="2197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 Material Journeys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386328" y="2980944"/>
            <a:ext cx="241706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496056" y="2980944"/>
            <a:ext cx="2197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 Calendar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3386328" y="3273552"/>
            <a:ext cx="241706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496056" y="3273552"/>
            <a:ext cx="2197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Gift Ledger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3386328" y="3566160"/>
            <a:ext cx="241706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496056" y="3566160"/>
            <a:ext cx="2197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Quince Insider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3386328" y="3858768"/>
            <a:ext cx="241706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496056" y="3858768"/>
            <a:ext cx="2197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 Refill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386328" y="4151376"/>
            <a:ext cx="241706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496056" y="4151376"/>
            <a:ext cx="2197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Cashmere Second Life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3386328" y="4407408"/>
            <a:ext cx="2417064" cy="256032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386328" y="4407408"/>
            <a:ext cx="2417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+3.3 pts repeat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050280" y="2029968"/>
            <a:ext cx="2636520" cy="2706624"/>
          </a:xfrm>
          <a:prstGeom prst="roundRect">
            <a:avLst>
              <a:gd name="adj" fmla="val 208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50280" y="2029968"/>
            <a:ext cx="2636520" cy="566928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178296" y="2075688"/>
            <a:ext cx="245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pay twice</a:t>
            </a:r>
            <a:endParaRPr lang="en-US" sz="1250" dirty="0"/>
          </a:p>
        </p:txBody>
      </p:sp>
      <p:sp>
        <p:nvSpPr>
          <p:cNvPr id="47" name="Text 44"/>
          <p:cNvSpPr txBox="1"/>
          <p:nvPr/>
        </p:nvSpPr>
        <p:spPr>
          <a:xfrm>
            <a:off x="6178296" y="2350008"/>
            <a:ext cx="2453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E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 only for customers who are incremental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160008" y="2715768"/>
            <a:ext cx="2417064" cy="329184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9525">
            <a:solidFill>
              <a:srgbClr val="0A1F44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269736" y="2715768"/>
            <a:ext cx="2197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 Never Pay Twice Engine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6160008" y="3136392"/>
            <a:ext cx="24170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269736" y="3136392"/>
            <a:ext cx="2197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Loyalist Lookalikes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6160008" y="3557016"/>
            <a:ext cx="24170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269736" y="3557016"/>
            <a:ext cx="2197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Creators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6160008" y="3977640"/>
            <a:ext cx="24170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269736" y="3977640"/>
            <a:ext cx="2197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Fitting Room (pop-up)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6160008" y="4407408"/>
            <a:ext cx="2417064" cy="256032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6160008" y="4407408"/>
            <a:ext cx="2417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Frees $9M · +0.9 pts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502920" y="4828032"/>
            <a:ext cx="8183880" cy="301752"/>
          </a:xfrm>
          <a:prstGeom prst="roundRect">
            <a:avLst>
              <a:gd name="adj" fmla="val 12121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40080" y="4828032"/>
            <a:ext cx="7909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thread  </a:t>
            </a:r>
            <a:pPr indent="0" marL="0">
              <a:buNone/>
            </a:pPr>
            <a:r>
              <a:rPr lang="en-US" sz="1000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order buys trust; the second spends it. Proof and access, never discounts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502920" y="5184648"/>
            <a:ext cx="8183880" cy="301752"/>
          </a:xfrm>
          <a:prstGeom prst="roundRect">
            <a:avLst>
              <a:gd name="adj" fmla="val 12121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40080" y="5184648"/>
            <a:ext cx="7909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Adobe CJA engine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funds → A builds → C proves. No money moves until a CJA holdout proves it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8915400" y="1243584"/>
            <a:ext cx="277063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9070848" y="13167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90-day repeat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10332720" y="131673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≥ 30%</a:t>
            </a:r>
            <a:endParaRPr lang="en-US" sz="900" dirty="0"/>
          </a:p>
        </p:txBody>
      </p:sp>
      <p:sp>
        <p:nvSpPr>
          <p:cNvPr id="65" name="Text 62"/>
          <p:cNvSpPr txBox="1"/>
          <p:nvPr/>
        </p:nvSpPr>
        <p:spPr>
          <a:xfrm>
            <a:off x="9070848" y="15727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24% → 31%</a:t>
            </a:r>
            <a:endParaRPr lang="en-US" sz="2100" dirty="0"/>
          </a:p>
        </p:txBody>
      </p:sp>
      <p:sp>
        <p:nvSpPr>
          <p:cNvPr id="66" name="Shape 63"/>
          <p:cNvSpPr/>
          <p:nvPr/>
        </p:nvSpPr>
        <p:spPr>
          <a:xfrm>
            <a:off x="8915400" y="2176272"/>
            <a:ext cx="277063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070848" y="22494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Blended CAC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10332720" y="224942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−10%</a:t>
            </a:r>
            <a:endParaRPr lang="en-US" sz="900" dirty="0"/>
          </a:p>
        </p:txBody>
      </p:sp>
      <p:sp>
        <p:nvSpPr>
          <p:cNvPr id="69" name="Text 66"/>
          <p:cNvSpPr txBox="1"/>
          <p:nvPr/>
        </p:nvSpPr>
        <p:spPr>
          <a:xfrm>
            <a:off x="9070848" y="250545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−12 to −14%</a:t>
            </a:r>
            <a:endParaRPr lang="en-US" sz="2100" dirty="0"/>
          </a:p>
        </p:txBody>
      </p:sp>
      <p:sp>
        <p:nvSpPr>
          <p:cNvPr id="70" name="Shape 67"/>
          <p:cNvSpPr/>
          <p:nvPr/>
        </p:nvSpPr>
        <p:spPr>
          <a:xfrm>
            <a:off x="8915400" y="3108960"/>
            <a:ext cx="2770632" cy="841248"/>
          </a:xfrm>
          <a:prstGeom prst="roundRect">
            <a:avLst>
              <a:gd name="adj" fmla="val 6522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9070848" y="31821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10332720" y="318211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$120M</a:t>
            </a:r>
            <a:endParaRPr lang="en-US" sz="900" dirty="0"/>
          </a:p>
        </p:txBody>
      </p:sp>
      <p:sp>
        <p:nvSpPr>
          <p:cNvPr id="73" name="Text 70"/>
          <p:cNvSpPr txBox="1"/>
          <p:nvPr/>
        </p:nvSpPr>
        <p:spPr>
          <a:xfrm>
            <a:off x="9070848" y="343814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+$25M / yr</a:t>
            </a:r>
            <a:endParaRPr lang="en-US" sz="2100" dirty="0"/>
          </a:p>
        </p:txBody>
      </p:sp>
      <p:sp>
        <p:nvSpPr>
          <p:cNvPr id="74" name="Shape 71"/>
          <p:cNvSpPr/>
          <p:nvPr/>
        </p:nvSpPr>
        <p:spPr>
          <a:xfrm>
            <a:off x="8915400" y="4096512"/>
            <a:ext cx="277063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7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272" y="4178808"/>
            <a:ext cx="219456" cy="219456"/>
          </a:xfrm>
          <a:prstGeom prst="rect">
            <a:avLst/>
          </a:prstGeom>
        </p:spPr>
      </p:pic>
      <p:sp>
        <p:nvSpPr>
          <p:cNvPr id="76" name="Text 72"/>
          <p:cNvSpPr txBox="1"/>
          <p:nvPr/>
        </p:nvSpPr>
        <p:spPr>
          <a:xfrm>
            <a:off x="9326880" y="40965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budget increase</a:t>
            </a:r>
            <a:endParaRPr lang="en-US" sz="1000" dirty="0"/>
          </a:p>
        </p:txBody>
      </p:sp>
      <p:sp>
        <p:nvSpPr>
          <p:cNvPr id="77" name="Shape 73"/>
          <p:cNvSpPr/>
          <p:nvPr/>
        </p:nvSpPr>
        <p:spPr>
          <a:xfrm>
            <a:off x="8915400" y="4572000"/>
            <a:ext cx="277063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7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2" y="4654296"/>
            <a:ext cx="219456" cy="219456"/>
          </a:xfrm>
          <a:prstGeom prst="rect">
            <a:avLst/>
          </a:prstGeom>
        </p:spPr>
      </p:pic>
      <p:sp>
        <p:nvSpPr>
          <p:cNvPr id="79" name="Text 74"/>
          <p:cNvSpPr txBox="1"/>
          <p:nvPr/>
        </p:nvSpPr>
        <p:spPr>
          <a:xfrm>
            <a:off x="9326880" y="4572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price-led retention</a:t>
            </a:r>
            <a:endParaRPr lang="en-US" sz="1000" dirty="0"/>
          </a:p>
        </p:txBody>
      </p:sp>
      <p:sp>
        <p:nvSpPr>
          <p:cNvPr id="80" name="Shape 75"/>
          <p:cNvSpPr/>
          <p:nvPr/>
        </p:nvSpPr>
        <p:spPr>
          <a:xfrm>
            <a:off x="8915400" y="5047488"/>
            <a:ext cx="277063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8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272" y="5129784"/>
            <a:ext cx="219456" cy="219456"/>
          </a:xfrm>
          <a:prstGeom prst="rect">
            <a:avLst/>
          </a:prstGeom>
        </p:spPr>
      </p:pic>
      <p:sp>
        <p:nvSpPr>
          <p:cNvPr id="82" name="Text 76"/>
          <p:cNvSpPr txBox="1"/>
          <p:nvPr/>
        </p:nvSpPr>
        <p:spPr>
          <a:xfrm>
            <a:off x="9326880" y="50474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move proven in CJA</a:t>
            </a:r>
            <a:endParaRPr lang="en-US" sz="1000" dirty="0"/>
          </a:p>
        </p:txBody>
      </p:sp>
      <p:sp>
        <p:nvSpPr>
          <p:cNvPr id="83" name="Shape 77"/>
          <p:cNvSpPr/>
          <p:nvPr/>
        </p:nvSpPr>
        <p:spPr>
          <a:xfrm>
            <a:off x="502920" y="5632704"/>
            <a:ext cx="216712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4" name="Text 78"/>
          <p:cNvSpPr txBox="1"/>
          <p:nvPr/>
        </p:nvSpPr>
        <p:spPr>
          <a:xfrm>
            <a:off x="612648" y="5632704"/>
            <a:ext cx="1984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Rented reach costs more every year</a:t>
            </a:r>
            <a:endParaRPr lang="en-US" sz="900" dirty="0"/>
          </a:p>
        </p:txBody>
      </p:sp>
      <p:sp>
        <p:nvSpPr>
          <p:cNvPr id="85" name="Shape 79"/>
          <p:cNvSpPr/>
          <p:nvPr/>
        </p:nvSpPr>
        <p:spPr>
          <a:xfrm>
            <a:off x="2757830" y="5632704"/>
            <a:ext cx="216712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6" name="Text 80"/>
          <p:cNvSpPr txBox="1"/>
          <p:nvPr/>
        </p:nvSpPr>
        <p:spPr>
          <a:xfrm>
            <a:off x="2867558" y="5632704"/>
            <a:ext cx="1984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Buyers leave at three moments</a:t>
            </a:r>
            <a:endParaRPr lang="en-US" sz="900" dirty="0"/>
          </a:p>
        </p:txBody>
      </p:sp>
      <p:sp>
        <p:nvSpPr>
          <p:cNvPr id="87" name="Shape 81"/>
          <p:cNvSpPr/>
          <p:nvPr/>
        </p:nvSpPr>
        <p:spPr>
          <a:xfrm>
            <a:off x="5012741" y="5632704"/>
            <a:ext cx="216712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8" name="Text 82"/>
          <p:cNvSpPr txBox="1"/>
          <p:nvPr/>
        </p:nvSpPr>
        <p:spPr>
          <a:xfrm>
            <a:off x="5122469" y="5632704"/>
            <a:ext cx="1984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and consent take years to copy</a:t>
            </a:r>
            <a:endParaRPr lang="en-US" sz="900" dirty="0"/>
          </a:p>
        </p:txBody>
      </p:sp>
      <p:sp>
        <p:nvSpPr>
          <p:cNvPr id="89" name="Shape 83"/>
          <p:cNvSpPr/>
          <p:nvPr/>
        </p:nvSpPr>
        <p:spPr>
          <a:xfrm>
            <a:off x="7267651" y="5632704"/>
            <a:ext cx="216712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0" name="Text 84"/>
          <p:cNvSpPr txBox="1"/>
          <p:nvPr/>
        </p:nvSpPr>
        <p:spPr>
          <a:xfrm>
            <a:off x="7377379" y="5632704"/>
            <a:ext cx="1984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ready; lifecycle muscle to build</a:t>
            </a:r>
            <a:endParaRPr lang="en-US" sz="900" dirty="0"/>
          </a:p>
        </p:txBody>
      </p:sp>
      <p:sp>
        <p:nvSpPr>
          <p:cNvPr id="91" name="Shape 85"/>
          <p:cNvSpPr/>
          <p:nvPr/>
        </p:nvSpPr>
        <p:spPr>
          <a:xfrm>
            <a:off x="9522562" y="5632704"/>
            <a:ext cx="216712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2" name="Text 86"/>
          <p:cNvSpPr txBox="1"/>
          <p:nvPr/>
        </p:nvSpPr>
        <p:spPr>
          <a:xfrm>
            <a:off x="9632290" y="5632704"/>
            <a:ext cx="1984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in 90 days, scale by month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Rented reach costs more each year; owned reach compounds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case Exhibits B, D, G, H; Adjust and AppsFlyer ATT benchmarks; University of Michigan consumer sentiment (May 2026); Meta and TikTok public announcements.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3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280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 of budget sits on three social platforms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5544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FY2026 paid marketing budget, $120M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2212848"/>
            <a:ext cx="2033016" cy="457200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57784" y="2212848"/>
            <a:ext cx="1978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$58M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35936" y="2212848"/>
            <a:ext cx="490728" cy="457200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590800" y="2212848"/>
            <a:ext cx="435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026664" y="2212848"/>
            <a:ext cx="771144" cy="457200"/>
          </a:xfrm>
          <a:prstGeom prst="rect">
            <a:avLst/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797808" y="2212848"/>
            <a:ext cx="560832" cy="457200"/>
          </a:xfrm>
          <a:prstGeom prst="rect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58640" y="2212848"/>
            <a:ext cx="140208" cy="457200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98848" y="2212848"/>
            <a:ext cx="210312" cy="457200"/>
          </a:xfrm>
          <a:prstGeom prst="rect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2121408"/>
            <a:ext cx="2523744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1865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social $72M = 60%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2715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Prospecting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2444496" y="2916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Retargeting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3026664" y="27157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$22M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3660648" y="29169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Influencer $16M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99432" y="2212848"/>
            <a:ext cx="0" cy="-164592"/>
          </a:xfrm>
          <a:prstGeom prst="line">
            <a:avLst/>
          </a:prstGeom>
          <a:noFill/>
          <a:ln w="12700">
            <a:solidFill>
              <a:srgbClr val="0A1F4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502152" y="186537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$6M</a:t>
            </a:r>
            <a:endParaRPr lang="en-US" sz="950" dirty="0"/>
          </a:p>
        </p:txBody>
      </p:sp>
      <p:pic>
        <p:nvPicPr>
          <p:cNvPr id="27" name="Image 1" descr="/tmp/claude-0/-home-user-Quince/7efe80ae-a049-50c2-9886-98bf7ca3a04a/scratchpad/assets/me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0"/>
            <a:ext cx="219456" cy="219456"/>
          </a:xfrm>
          <a:prstGeom prst="rect">
            <a:avLst/>
          </a:prstGeom>
        </p:spPr>
      </p:pic>
      <p:pic>
        <p:nvPicPr>
          <p:cNvPr id="28" name="Image 2" descr="/tmp/claude-0/-home-user-Quince/7efe80ae-a049-50c2-9886-98bf7ca3a04a/scratchpad/assets/tikt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291840"/>
            <a:ext cx="219456" cy="219456"/>
          </a:xfrm>
          <a:prstGeom prst="rect">
            <a:avLst/>
          </a:prstGeom>
        </p:spPr>
      </p:pic>
      <p:pic>
        <p:nvPicPr>
          <p:cNvPr id="29" name="Image 3" descr="/tmp/claude-0/-home-user-Quince/7efe80ae-a049-50c2-9886-98bf7ca3a04a/scratchpad/assets/pintere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3291840"/>
            <a:ext cx="219456" cy="219456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600200" y="3291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Quince doesn't control</a:t>
            </a:r>
            <a:endParaRPr lang="en-US" sz="950" dirty="0"/>
          </a:p>
        </p:txBody>
      </p:sp>
      <p:sp>
        <p:nvSpPr>
          <p:cNvPr id="31" name="Text 25"/>
          <p:cNvSpPr txBox="1"/>
          <p:nvPr/>
        </p:nvSpPr>
        <p:spPr>
          <a:xfrm>
            <a:off x="512064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Blended CAC is up 29% in two years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5120640" y="15544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Blended customer acquisition cost, $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5440680" y="2706329"/>
            <a:ext cx="777240" cy="814111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257800" y="2432009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$48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5166360" y="35570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years ago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6720840" y="2468880"/>
            <a:ext cx="777240" cy="1051560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537960" y="21945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</a:t>
            </a:r>
            <a:endParaRPr lang="en-US" sz="1300" dirty="0"/>
          </a:p>
        </p:txBody>
      </p:sp>
      <p:sp>
        <p:nvSpPr>
          <p:cNvPr id="38" name="Text 32"/>
          <p:cNvSpPr txBox="1"/>
          <p:nvPr/>
        </p:nvSpPr>
        <p:spPr>
          <a:xfrm>
            <a:off x="6446520" y="35570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5303520" y="3520440"/>
            <a:ext cx="246888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8549640" y="128016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customers are worth 2.6× more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8549640" y="1554480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Estimated 3-year LTV per customer, $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8869680" y="3071046"/>
            <a:ext cx="777240" cy="449394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8686800" y="279672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$155</a:t>
            </a:r>
            <a:endParaRPr lang="en-US" sz="1300" dirty="0"/>
          </a:p>
        </p:txBody>
      </p:sp>
      <p:sp>
        <p:nvSpPr>
          <p:cNvPr id="44" name="Text 38"/>
          <p:cNvSpPr txBox="1"/>
          <p:nvPr/>
        </p:nvSpPr>
        <p:spPr>
          <a:xfrm>
            <a:off x="8595360" y="35570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Web-only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10195560" y="2331720"/>
            <a:ext cx="777240" cy="1188720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10012680" y="20574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$410</a:t>
            </a:r>
            <a:endParaRPr lang="en-US" sz="1300" dirty="0"/>
          </a:p>
        </p:txBody>
      </p:sp>
      <p:sp>
        <p:nvSpPr>
          <p:cNvPr id="47" name="Text 41"/>
          <p:cNvSpPr txBox="1"/>
          <p:nvPr/>
        </p:nvSpPr>
        <p:spPr>
          <a:xfrm>
            <a:off x="9921240" y="35570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App-installed</a:t>
            </a:r>
            <a:endParaRPr lang="en-US" sz="900" dirty="0"/>
          </a:p>
        </p:txBody>
      </p:sp>
      <p:sp>
        <p:nvSpPr>
          <p:cNvPr id="48" name="Shape 42"/>
          <p:cNvSpPr/>
          <p:nvPr/>
        </p:nvSpPr>
        <p:spPr>
          <a:xfrm>
            <a:off x="8732520" y="3520440"/>
            <a:ext cx="274320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502920" y="4023360"/>
            <a:ext cx="3648456" cy="1627632"/>
          </a:xfrm>
          <a:prstGeom prst="roundRect">
            <a:avLst>
              <a:gd name="adj" fmla="val 337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640080" y="4142232"/>
            <a:ext cx="384048" cy="384048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71" y="4226723"/>
            <a:ext cx="215067" cy="215067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1124712" y="41148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loss exposes retargeting</a:t>
            </a:r>
            <a:endParaRPr lang="en-US" sz="1150" dirty="0"/>
          </a:p>
        </p:txBody>
      </p:sp>
      <p:sp>
        <p:nvSpPr>
          <p:cNvPr id="53" name="Text 46"/>
          <p:cNvSpPr txBox="1"/>
          <p:nvPr/>
        </p:nvSpPr>
        <p:spPr>
          <a:xfrm>
            <a:off x="1124712" y="435254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iOS opt-in ~35–50%; Safari and Firefox block third-party cookies</a:t>
            </a:r>
            <a:endParaRPr lang="en-US" sz="850" dirty="0"/>
          </a:p>
        </p:txBody>
      </p:sp>
      <p:sp>
        <p:nvSpPr>
          <p:cNvPr id="54" name="Text 47"/>
          <p:cNvSpPr txBox="1"/>
          <p:nvPr/>
        </p:nvSpPr>
        <p:spPr>
          <a:xfrm>
            <a:off x="640080" y="47548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Retargeting's $31 CAC ignores sales that happen anyway; if half do, it is really $62</a:t>
            </a:r>
            <a:endParaRPr lang="en-US" sz="1000" dirty="0"/>
          </a:p>
        </p:txBody>
      </p:sp>
      <p:sp>
        <p:nvSpPr>
          <p:cNvPr id="55" name="Shape 48"/>
          <p:cNvSpPr/>
          <p:nvPr/>
        </p:nvSpPr>
        <p:spPr>
          <a:xfrm>
            <a:off x="640080" y="5239512"/>
            <a:ext cx="3374136" cy="31089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731520" y="52395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move: Never Pay Twice Engine</a:t>
            </a:r>
            <a:endParaRPr lang="en-US" sz="950" dirty="0"/>
          </a:p>
        </p:txBody>
      </p:sp>
      <p:sp>
        <p:nvSpPr>
          <p:cNvPr id="57" name="Shape 50"/>
          <p:cNvSpPr/>
          <p:nvPr/>
        </p:nvSpPr>
        <p:spPr>
          <a:xfrm>
            <a:off x="4270248" y="4023360"/>
            <a:ext cx="3648456" cy="1627632"/>
          </a:xfrm>
          <a:prstGeom prst="roundRect">
            <a:avLst>
              <a:gd name="adj" fmla="val 337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4407408" y="4142232"/>
            <a:ext cx="384048" cy="384048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1899" y="4226723"/>
            <a:ext cx="215067" cy="215067"/>
          </a:xfrm>
          <a:prstGeom prst="rect">
            <a:avLst/>
          </a:prstGeom>
        </p:spPr>
      </p:pic>
      <p:sp>
        <p:nvSpPr>
          <p:cNvPr id="60" name="Text 52"/>
          <p:cNvSpPr txBox="1"/>
          <p:nvPr/>
        </p:nvSpPr>
        <p:spPr>
          <a:xfrm>
            <a:off x="4892040" y="41148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concentration</a:t>
            </a:r>
            <a:endParaRPr lang="en-US" sz="1150" dirty="0"/>
          </a:p>
        </p:txBody>
      </p:sp>
      <p:sp>
        <p:nvSpPr>
          <p:cNvPr id="61" name="Text 53"/>
          <p:cNvSpPr txBox="1"/>
          <p:nvPr/>
        </p:nvSpPr>
        <p:spPr>
          <a:xfrm>
            <a:off x="4892040" y="435254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 automates targeting by default; TikTok's U.S. ownership changed</a:t>
            </a:r>
            <a:endParaRPr lang="en-US" sz="850" dirty="0"/>
          </a:p>
        </p:txBody>
      </p:sp>
      <p:sp>
        <p:nvSpPr>
          <p:cNvPr id="62" name="Text 54"/>
          <p:cNvSpPr txBox="1"/>
          <p:nvPr/>
        </p:nvSpPr>
        <p:spPr>
          <a:xfrm>
            <a:off x="4407408" y="47548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 of reach follows rules Quince can't set or predict</a:t>
            </a:r>
            <a:endParaRPr lang="en-US" sz="1000" dirty="0"/>
          </a:p>
        </p:txBody>
      </p:sp>
      <p:sp>
        <p:nvSpPr>
          <p:cNvPr id="63" name="Shape 55"/>
          <p:cNvSpPr/>
          <p:nvPr/>
        </p:nvSpPr>
        <p:spPr>
          <a:xfrm>
            <a:off x="4407408" y="5239512"/>
            <a:ext cx="3374136" cy="31089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64" name="Text 56"/>
          <p:cNvSpPr txBox="1"/>
          <p:nvPr/>
        </p:nvSpPr>
        <p:spPr>
          <a:xfrm>
            <a:off x="4498848" y="52395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move: owned share 5% → 11%</a:t>
            </a:r>
            <a:endParaRPr lang="en-US" sz="950" dirty="0"/>
          </a:p>
        </p:txBody>
      </p:sp>
      <p:sp>
        <p:nvSpPr>
          <p:cNvPr id="65" name="Shape 57"/>
          <p:cNvSpPr/>
          <p:nvPr/>
        </p:nvSpPr>
        <p:spPr>
          <a:xfrm>
            <a:off x="8037576" y="4023360"/>
            <a:ext cx="3648456" cy="1627632"/>
          </a:xfrm>
          <a:prstGeom prst="roundRect">
            <a:avLst>
              <a:gd name="adj" fmla="val 337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6" name="Shape 58"/>
          <p:cNvSpPr/>
          <p:nvPr/>
        </p:nvSpPr>
        <p:spPr>
          <a:xfrm>
            <a:off x="8174736" y="4142232"/>
            <a:ext cx="384048" cy="384048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9227" y="4226723"/>
            <a:ext cx="215067" cy="215067"/>
          </a:xfrm>
          <a:prstGeom prst="rect">
            <a:avLst/>
          </a:prstGeom>
        </p:spPr>
      </p:pic>
      <p:sp>
        <p:nvSpPr>
          <p:cNvPr id="68" name="Text 59"/>
          <p:cNvSpPr txBox="1"/>
          <p:nvPr/>
        </p:nvSpPr>
        <p:spPr>
          <a:xfrm>
            <a:off x="8659368" y="41148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demand, rising prices</a:t>
            </a:r>
            <a:endParaRPr lang="en-US" sz="1150" dirty="0"/>
          </a:p>
        </p:txBody>
      </p:sp>
      <p:sp>
        <p:nvSpPr>
          <p:cNvPr id="69" name="Text 60"/>
          <p:cNvSpPr txBox="1"/>
          <p:nvPr/>
        </p:nvSpPr>
        <p:spPr>
          <a:xfrm>
            <a:off x="8659368" y="435254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 sentiment at a record-low 44.8; tariffs lift costs</a:t>
            </a:r>
            <a:endParaRPr lang="en-US" sz="850" dirty="0"/>
          </a:p>
        </p:txBody>
      </p:sp>
      <p:sp>
        <p:nvSpPr>
          <p:cNvPr id="70" name="Text 61"/>
          <p:cNvSpPr txBox="1"/>
          <p:nvPr/>
        </p:nvSpPr>
        <p:spPr>
          <a:xfrm>
            <a:off x="8174736" y="47548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Discounts would buy volume with the M2C margin, and are ruled out</a:t>
            </a:r>
            <a:endParaRPr lang="en-US" sz="1000" dirty="0"/>
          </a:p>
        </p:txBody>
      </p:sp>
      <p:sp>
        <p:nvSpPr>
          <p:cNvPr id="71" name="Shape 62"/>
          <p:cNvSpPr/>
          <p:nvPr/>
        </p:nvSpPr>
        <p:spPr>
          <a:xfrm>
            <a:off x="8174736" y="5239512"/>
            <a:ext cx="3374136" cy="31089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72" name="Text 63"/>
          <p:cNvSpPr txBox="1"/>
          <p:nvPr/>
        </p:nvSpPr>
        <p:spPr>
          <a:xfrm>
            <a:off x="8266176" y="52395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move: Insider and Proof Creators</a:t>
            </a:r>
            <a:endParaRPr lang="en-US" sz="950" dirty="0"/>
          </a:p>
        </p:txBody>
      </p:sp>
      <p:sp>
        <p:nvSpPr>
          <p:cNvPr id="73" name="Shape 64"/>
          <p:cNvSpPr/>
          <p:nvPr/>
        </p:nvSpPr>
        <p:spPr>
          <a:xfrm>
            <a:off x="502920" y="5742432"/>
            <a:ext cx="11183112" cy="512064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74" name="Shape 65"/>
          <p:cNvSpPr/>
          <p:nvPr/>
        </p:nvSpPr>
        <p:spPr>
          <a:xfrm>
            <a:off x="640080" y="5833872"/>
            <a:ext cx="329184" cy="32918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7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500" y="5906292"/>
            <a:ext cx="184343" cy="184343"/>
          </a:xfrm>
          <a:prstGeom prst="rect">
            <a:avLst/>
          </a:prstGeom>
        </p:spPr>
      </p:pic>
      <p:sp>
        <p:nvSpPr>
          <p:cNvPr id="76" name="Text 66"/>
          <p:cNvSpPr txBox="1"/>
          <p:nvPr/>
        </p:nvSpPr>
        <p:spPr>
          <a:xfrm>
            <a:off x="1097280" y="574243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Quince rents 60% of its reach and spends just $1.43 per customer on the reach it owns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Buyers leave at three moments; each needs its own move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Adobe CJA, case data view, Jan–Apr 2026, 60,000 people (A1, A2, A4, A5, A6, Cohort Table); behavioural mechanisms are hypotheses the pilot tests.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4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02920" y="1280160"/>
            <a:ext cx="3557016" cy="420624"/>
          </a:xfrm>
          <a:prstGeom prst="roundRect">
            <a:avLst>
              <a:gd name="adj" fmla="val 13043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280160"/>
            <a:ext cx="3282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of funnel   </a:t>
            </a:r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 → cart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15968" y="1280160"/>
            <a:ext cx="3557016" cy="420624"/>
          </a:xfrm>
          <a:prstGeom prst="roundRect">
            <a:avLst>
              <a:gd name="adj" fmla="val 13043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53128" y="1280160"/>
            <a:ext cx="3282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Bottom of funnel   </a:t>
            </a:r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 → order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29016" y="1280160"/>
            <a:ext cx="3557016" cy="420624"/>
          </a:xfrm>
          <a:prstGeom prst="roundRect">
            <a:avLst>
              <a:gd name="adj" fmla="val 13043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66176" y="1280160"/>
            <a:ext cx="3282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order one   </a:t>
            </a:r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→ second order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1874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508760" y="1901952"/>
            <a:ext cx="1874520" cy="219456"/>
          </a:xfrm>
          <a:prstGeom prst="rect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38144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60,000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22128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view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508760" y="2240280"/>
            <a:ext cx="1142395" cy="219456"/>
          </a:xfrm>
          <a:prstGeom prst="rect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706019" y="22128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36,566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25511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to cart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508760" y="2578608"/>
            <a:ext cx="354253" cy="219456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917877" y="25511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11,339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407408" y="1874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to cart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321808" y="1901952"/>
            <a:ext cx="1874520" cy="219456"/>
          </a:xfrm>
          <a:prstGeom prst="rect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251192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11,339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4407408" y="22128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Checkout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321808" y="2240280"/>
            <a:ext cx="961809" cy="219456"/>
          </a:xfrm>
          <a:prstGeom prst="rect">
            <a:avLst/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38481" y="22128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5,818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4407408" y="25511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321808" y="2578608"/>
            <a:ext cx="428500" cy="219456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805172" y="25511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2,592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8220456" y="18745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engaged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9299448" y="1901952"/>
            <a:ext cx="369800" cy="219456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724112" y="1874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4.7%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8220456" y="22128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SMS after order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9299448" y="2240280"/>
            <a:ext cx="920567" cy="219456"/>
          </a:xfrm>
          <a:prstGeom prst="rect">
            <a:avLst/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74879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11.7%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8220456" y="25511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after order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9299448" y="2578608"/>
            <a:ext cx="1691640" cy="219456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1045952" y="2551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21.5%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502920" y="2926080"/>
            <a:ext cx="3557016" cy="749808"/>
          </a:xfrm>
          <a:prstGeom prst="roundRect">
            <a:avLst>
              <a:gd name="adj" fmla="val 731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0080" y="2926080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69%</a:t>
            </a:r>
            <a:endParaRPr lang="en-US" sz="2400" dirty="0"/>
          </a:p>
        </p:txBody>
      </p:sp>
      <p:sp>
        <p:nvSpPr>
          <p:cNvPr id="44" name="Text 41"/>
          <p:cNvSpPr txBox="1"/>
          <p:nvPr/>
        </p:nvSpPr>
        <p:spPr>
          <a:xfrm>
            <a:off x="1600200" y="2926080"/>
            <a:ext cx="23682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product viewers leave without a cart add (CJA Fallout, Appendix 1)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315968" y="2926080"/>
            <a:ext cx="3557016" cy="749808"/>
          </a:xfrm>
          <a:prstGeom prst="roundRect">
            <a:avLst>
              <a:gd name="adj" fmla="val 731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453128" y="2926080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77%</a:t>
            </a:r>
            <a:endParaRPr lang="en-US" sz="2400" dirty="0"/>
          </a:p>
        </p:txBody>
      </p:sp>
      <p:sp>
        <p:nvSpPr>
          <p:cNvPr id="47" name="Text 44"/>
          <p:cNvSpPr txBox="1"/>
          <p:nvPr/>
        </p:nvSpPr>
        <p:spPr>
          <a:xfrm>
            <a:off x="5413248" y="2926080"/>
            <a:ext cx="23682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carts never order; 1 message follows 11,610 cart adds (CJA Flow, Appendix 4)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8129016" y="2926080"/>
            <a:ext cx="3557016" cy="749808"/>
          </a:xfrm>
          <a:prstGeom prst="roundRect">
            <a:avLst>
              <a:gd name="adj" fmla="val 731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66176" y="2926080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4.6×</a:t>
            </a:r>
            <a:endParaRPr lang="en-US" sz="2400" dirty="0"/>
          </a:p>
        </p:txBody>
      </p:sp>
      <p:sp>
        <p:nvSpPr>
          <p:cNvPr id="50" name="Text 47"/>
          <p:cNvSpPr txBox="1"/>
          <p:nvPr/>
        </p:nvSpPr>
        <p:spPr>
          <a:xfrm>
            <a:off x="9226296" y="2926080"/>
            <a:ext cx="23682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for app users after order one; week-2 return 5.6% vs ~1% (Cohort, Appendix 3)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02920" y="3813048"/>
            <a:ext cx="347472" cy="3474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5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64" y="3889492"/>
            <a:ext cx="194584" cy="194584"/>
          </a:xfrm>
          <a:prstGeom prst="rect">
            <a:avLst/>
          </a:prstGeom>
        </p:spPr>
      </p:pic>
      <p:sp>
        <p:nvSpPr>
          <p:cNvPr id="53" name="Text 49"/>
          <p:cNvSpPr txBox="1"/>
          <p:nvPr/>
        </p:nvSpPr>
        <p:spPr>
          <a:xfrm>
            <a:off x="914400" y="3767328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Price signals quality</a:t>
            </a:r>
            <a:endParaRPr lang="en-US" sz="1050" dirty="0"/>
          </a:p>
        </p:txBody>
      </p:sp>
      <p:sp>
        <p:nvSpPr>
          <p:cNvPr id="54" name="Text 50"/>
          <p:cNvSpPr txBox="1"/>
          <p:nvPr/>
        </p:nvSpPr>
        <p:spPr>
          <a:xfrm>
            <a:off x="914400" y="4005072"/>
            <a:ext cx="3099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Half-price cashmere from a brand with no stores reads as too good to be true</a:t>
            </a:r>
            <a:endParaRPr lang="en-US" sz="950" dirty="0"/>
          </a:p>
        </p:txBody>
      </p:sp>
      <p:sp>
        <p:nvSpPr>
          <p:cNvPr id="55" name="Shape 51"/>
          <p:cNvSpPr/>
          <p:nvPr/>
        </p:nvSpPr>
        <p:spPr>
          <a:xfrm>
            <a:off x="4315968" y="3813048"/>
            <a:ext cx="347472" cy="3474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5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412" y="3889492"/>
            <a:ext cx="194584" cy="194584"/>
          </a:xfrm>
          <a:prstGeom prst="rect">
            <a:avLst/>
          </a:prstGeom>
        </p:spPr>
      </p:pic>
      <p:sp>
        <p:nvSpPr>
          <p:cNvPr id="57" name="Text 52"/>
          <p:cNvSpPr txBox="1"/>
          <p:nvPr/>
        </p:nvSpPr>
        <p:spPr>
          <a:xfrm>
            <a:off x="4727448" y="3767328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Unfinished tasks fade</a:t>
            </a:r>
            <a:endParaRPr lang="en-US" sz="1050" dirty="0"/>
          </a:p>
        </p:txBody>
      </p:sp>
      <p:sp>
        <p:nvSpPr>
          <p:cNvPr id="58" name="Text 53"/>
          <p:cNvSpPr txBox="1"/>
          <p:nvPr/>
        </p:nvSpPr>
        <p:spPr>
          <a:xfrm>
            <a:off x="4727448" y="4005072"/>
            <a:ext cx="3099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saved cart is forgotten within hours if nothing reminds the buyer</a:t>
            </a:r>
            <a:endParaRPr lang="en-US" sz="950" dirty="0"/>
          </a:p>
        </p:txBody>
      </p:sp>
      <p:sp>
        <p:nvSpPr>
          <p:cNvPr id="59" name="Shape 54"/>
          <p:cNvSpPr/>
          <p:nvPr/>
        </p:nvSpPr>
        <p:spPr>
          <a:xfrm>
            <a:off x="8129016" y="3813048"/>
            <a:ext cx="347472" cy="3474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6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5460" y="3889492"/>
            <a:ext cx="194584" cy="194584"/>
          </a:xfrm>
          <a:prstGeom prst="rect">
            <a:avLst/>
          </a:prstGeom>
        </p:spPr>
      </p:pic>
      <p:sp>
        <p:nvSpPr>
          <p:cNvPr id="61" name="Text 55"/>
          <p:cNvSpPr txBox="1"/>
          <p:nvPr/>
        </p:nvSpPr>
        <p:spPr>
          <a:xfrm>
            <a:off x="8540496" y="3767328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Trust peaks at delivery</a:t>
            </a:r>
            <a:endParaRPr lang="en-US" sz="1050" dirty="0"/>
          </a:p>
        </p:txBody>
      </p:sp>
      <p:sp>
        <p:nvSpPr>
          <p:cNvPr id="62" name="Text 56"/>
          <p:cNvSpPr txBox="1"/>
          <p:nvPr/>
        </p:nvSpPr>
        <p:spPr>
          <a:xfrm>
            <a:off x="8540496" y="4005072"/>
            <a:ext cx="3099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Habits form in weeks 1–4, and nobody buys a second sweater in spring</a:t>
            </a:r>
            <a:endParaRPr lang="en-US" sz="950" dirty="0"/>
          </a:p>
        </p:txBody>
      </p:sp>
      <p:sp>
        <p:nvSpPr>
          <p:cNvPr id="63" name="Text 57"/>
          <p:cNvSpPr txBox="1"/>
          <p:nvPr/>
        </p:nvSpPr>
        <p:spPr>
          <a:xfrm>
            <a:off x="502920" y="4526280"/>
            <a:ext cx="3557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move</a:t>
            </a:r>
            <a:endParaRPr lang="en-US" sz="950" dirty="0"/>
          </a:p>
        </p:txBody>
      </p:sp>
      <p:sp>
        <p:nvSpPr>
          <p:cNvPr id="64" name="Shape 58"/>
          <p:cNvSpPr/>
          <p:nvPr/>
        </p:nvSpPr>
        <p:spPr>
          <a:xfrm>
            <a:off x="502920" y="4773168"/>
            <a:ext cx="1723644" cy="38404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502920" y="4773168"/>
            <a:ext cx="1723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Creators</a:t>
            </a:r>
            <a:endParaRPr lang="en-US" sz="1000" dirty="0"/>
          </a:p>
        </p:txBody>
      </p:sp>
      <p:sp>
        <p:nvSpPr>
          <p:cNvPr id="66" name="Shape 60"/>
          <p:cNvSpPr/>
          <p:nvPr/>
        </p:nvSpPr>
        <p:spPr>
          <a:xfrm>
            <a:off x="2336292" y="4773168"/>
            <a:ext cx="172364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7" name="Text 61"/>
          <p:cNvSpPr txBox="1"/>
          <p:nvPr/>
        </p:nvSpPr>
        <p:spPr>
          <a:xfrm>
            <a:off x="2336292" y="4773168"/>
            <a:ext cx="1723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Product-page proof</a:t>
            </a:r>
            <a:endParaRPr lang="en-US" sz="1000" dirty="0"/>
          </a:p>
        </p:txBody>
      </p:sp>
      <p:sp>
        <p:nvSpPr>
          <p:cNvPr id="68" name="Text 62"/>
          <p:cNvSpPr txBox="1"/>
          <p:nvPr/>
        </p:nvSpPr>
        <p:spPr>
          <a:xfrm>
            <a:off x="4315968" y="4526280"/>
            <a:ext cx="3557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move</a:t>
            </a:r>
            <a:endParaRPr lang="en-US" sz="950" dirty="0"/>
          </a:p>
        </p:txBody>
      </p:sp>
      <p:sp>
        <p:nvSpPr>
          <p:cNvPr id="69" name="Shape 63"/>
          <p:cNvSpPr/>
          <p:nvPr/>
        </p:nvSpPr>
        <p:spPr>
          <a:xfrm>
            <a:off x="4315968" y="4773168"/>
            <a:ext cx="1723644" cy="38404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0" name="Text 64"/>
          <p:cNvSpPr txBox="1"/>
          <p:nvPr/>
        </p:nvSpPr>
        <p:spPr>
          <a:xfrm>
            <a:off x="4315968" y="4773168"/>
            <a:ext cx="1723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Saved Cart</a:t>
            </a:r>
            <a:endParaRPr lang="en-US" sz="1000" dirty="0"/>
          </a:p>
        </p:txBody>
      </p:sp>
      <p:sp>
        <p:nvSpPr>
          <p:cNvPr id="71" name="Shape 65"/>
          <p:cNvSpPr/>
          <p:nvPr/>
        </p:nvSpPr>
        <p:spPr>
          <a:xfrm>
            <a:off x="6149340" y="4773168"/>
            <a:ext cx="172364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2" name="Text 66"/>
          <p:cNvSpPr txBox="1"/>
          <p:nvPr/>
        </p:nvSpPr>
        <p:spPr>
          <a:xfrm>
            <a:off x="6149340" y="4773168"/>
            <a:ext cx="1723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It in the App</a:t>
            </a:r>
            <a:endParaRPr lang="en-US" sz="1000" dirty="0"/>
          </a:p>
        </p:txBody>
      </p:sp>
      <p:sp>
        <p:nvSpPr>
          <p:cNvPr id="73" name="Text 67"/>
          <p:cNvSpPr txBox="1"/>
          <p:nvPr/>
        </p:nvSpPr>
        <p:spPr>
          <a:xfrm>
            <a:off x="8129016" y="4526280"/>
            <a:ext cx="3557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move</a:t>
            </a:r>
            <a:endParaRPr lang="en-US" sz="950" dirty="0"/>
          </a:p>
        </p:txBody>
      </p:sp>
      <p:sp>
        <p:nvSpPr>
          <p:cNvPr id="74" name="Shape 68"/>
          <p:cNvSpPr/>
          <p:nvPr/>
        </p:nvSpPr>
        <p:spPr>
          <a:xfrm>
            <a:off x="8129016" y="4773168"/>
            <a:ext cx="1723644" cy="38404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5" name="Text 69"/>
          <p:cNvSpPr txBox="1"/>
          <p:nvPr/>
        </p:nvSpPr>
        <p:spPr>
          <a:xfrm>
            <a:off x="8129016" y="4773168"/>
            <a:ext cx="1723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Quince Passport</a:t>
            </a:r>
            <a:endParaRPr lang="en-US" sz="1000" dirty="0"/>
          </a:p>
        </p:txBody>
      </p:sp>
      <p:sp>
        <p:nvSpPr>
          <p:cNvPr id="76" name="Shape 70"/>
          <p:cNvSpPr/>
          <p:nvPr/>
        </p:nvSpPr>
        <p:spPr>
          <a:xfrm>
            <a:off x="9962388" y="4773168"/>
            <a:ext cx="172364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7" name="Text 71"/>
          <p:cNvSpPr txBox="1"/>
          <p:nvPr/>
        </p:nvSpPr>
        <p:spPr>
          <a:xfrm>
            <a:off x="9962388" y="4773168"/>
            <a:ext cx="1723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Journeys</a:t>
            </a:r>
            <a:endParaRPr lang="en-US" sz="1000" dirty="0"/>
          </a:p>
        </p:txBody>
      </p:sp>
      <p:sp>
        <p:nvSpPr>
          <p:cNvPr id="78" name="Text 72"/>
          <p:cNvSpPr txBox="1"/>
          <p:nvPr/>
        </p:nvSpPr>
        <p:spPr>
          <a:xfrm>
            <a:off x="502920" y="525780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CJA also shows: cashmere buyers repeat at 13.7% vs Home 20.8%; owned channels assist 3× more revenue than last click credits (Appendix 2)</a:t>
            </a:r>
            <a:endParaRPr lang="en-US" sz="950" dirty="0"/>
          </a:p>
        </p:txBody>
      </p:sp>
      <p:sp>
        <p:nvSpPr>
          <p:cNvPr id="79" name="Shape 73"/>
          <p:cNvSpPr/>
          <p:nvPr/>
        </p:nvSpPr>
        <p:spPr>
          <a:xfrm>
            <a:off x="502920" y="5742432"/>
            <a:ext cx="11183112" cy="512064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80" name="Shape 74"/>
          <p:cNvSpPr/>
          <p:nvPr/>
        </p:nvSpPr>
        <p:spPr>
          <a:xfrm>
            <a:off x="640080" y="5833872"/>
            <a:ext cx="329184" cy="32918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8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0" y="5906292"/>
            <a:ext cx="184343" cy="184343"/>
          </a:xfrm>
          <a:prstGeom prst="rect">
            <a:avLst/>
          </a:prstGeom>
        </p:spPr>
      </p:pic>
      <p:sp>
        <p:nvSpPr>
          <p:cNvPr id="82" name="Text 75"/>
          <p:cNvSpPr txBox="1"/>
          <p:nvPr/>
        </p:nvSpPr>
        <p:spPr>
          <a:xfrm>
            <a:off x="1097280" y="574243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 abandoners within hours, every buyer at delivery, engaged buyers in weeks 1–4, and cashmere buyers by day 21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Rivals copy tactics in a quarter; trust and consent take years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case Exhibit M; company filings and press (Shein acquisition of Everlane, May 2026; Williams-Sonoma v. Last Brand, dismissed 30 Sept 2026); positions are team judgment.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68680" y="1371600"/>
            <a:ext cx="5303520" cy="1851660"/>
          </a:xfrm>
          <a:prstGeom prst="rect">
            <a:avLst/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5074920"/>
            <a:ext cx="53035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1371600"/>
            <a:ext cx="0" cy="3703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20440" y="1371600"/>
            <a:ext cx="0" cy="370332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868680" y="51114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5257800" y="51114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2606040" y="51114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position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 rot="16200000">
            <a:off x="-1143000" y="30952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customer relationship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047902" y="1559052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pic>
        <p:nvPicPr>
          <p:cNvPr id="18" name="Image 1" descr="/tmp/claude-0/-home-user-Quince/7efe80ae-a049-50c2-9886-98bf7ca3a04a/scratchpad/assets/amaz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628" y="1632204"/>
            <a:ext cx="726948" cy="219456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033626" y="2299716"/>
            <a:ext cx="6400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pic>
        <p:nvPicPr>
          <p:cNvPr id="20" name="Image 2" descr="/tmp/claude-0/-home-user-Quince/7efe80ae-a049-50c2-9886-98bf7ca3a04a/scratchpad/assets/uniql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938" y="2372868"/>
            <a:ext cx="219456" cy="21945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41832" y="2966314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pic>
        <p:nvPicPr>
          <p:cNvPr id="22" name="Image 3" descr="/tmp/claude-0/-home-user-Quince/7efe80ae-a049-50c2-9886-98bf7ca3a04a/scratchpad/assets/she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073257"/>
            <a:ext cx="731520" cy="151873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3737153" y="2855214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pic>
        <p:nvPicPr>
          <p:cNvPr id="24" name="Image 4" descr="/tmp/claude-0/-home-user-Quince/7efe80ae-a049-50c2-9886-98bf7ca3a04a/scratchpad/assets/everla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8593" y="2994363"/>
            <a:ext cx="868680" cy="87462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220870" y="1522019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pic>
        <p:nvPicPr>
          <p:cNvPr id="26" name="Image 5" descr="/tmp/claude-0/-home-user-Quince/7efe80ae-a049-50c2-9886-98bf7ca3a04a/scratchpad/assets/williams_sonom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2310" y="1659465"/>
            <a:ext cx="1280160" cy="90867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5025542" y="2299716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pic>
        <p:nvPicPr>
          <p:cNvPr id="28" name="Image 6" descr="/tmp/claude-0/-home-user-Quince/7efe80ae-a049-50c2-9886-98bf7ca3a04a/scratchpad/assets/tapestr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6982" y="2400786"/>
            <a:ext cx="731520" cy="163621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4919472" y="3669944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5000"/>
              </a:srgbClr>
            </a:outerShdw>
          </a:effectLst>
        </p:spPr>
      </p:sp>
      <p:sp>
        <p:nvSpPr>
          <p:cNvPr id="30" name="Text 21"/>
          <p:cNvSpPr txBox="1"/>
          <p:nvPr/>
        </p:nvSpPr>
        <p:spPr>
          <a:xfrm>
            <a:off x="4919472" y="36699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CUYANA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2724912" y="4429354"/>
            <a:ext cx="1060704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dash"/>
          </a:ln>
        </p:spPr>
      </p:sp>
      <p:pic>
        <p:nvPicPr>
          <p:cNvPr id="32" name="Image 7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6939" y="4511650"/>
            <a:ext cx="796651" cy="237744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3840480" y="452993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900" dirty="0"/>
          </a:p>
        </p:txBody>
      </p:sp>
      <p:sp>
        <p:nvSpPr>
          <p:cNvPr id="34" name="Shape 24"/>
          <p:cNvSpPr/>
          <p:nvPr/>
        </p:nvSpPr>
        <p:spPr>
          <a:xfrm>
            <a:off x="3255264" y="2072030"/>
            <a:ext cx="0" cy="2320747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  <a:headEnd type="triangle"/>
          </a:ln>
        </p:spPr>
      </p:sp>
      <p:sp>
        <p:nvSpPr>
          <p:cNvPr id="35" name="Shape 25"/>
          <p:cNvSpPr/>
          <p:nvPr/>
        </p:nvSpPr>
        <p:spPr>
          <a:xfrm>
            <a:off x="2724912" y="1614830"/>
            <a:ext cx="1060704" cy="402336"/>
          </a:xfrm>
          <a:prstGeom prst="roundRect">
            <a:avLst>
              <a:gd name="adj" fmla="val 22727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36" name="Image 8" descr="/tmp/claude-0/-home-user-Quince/7efe80ae-a049-50c2-9886-98bf7ca3a04a/scratchpad/assets/quinc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6939" y="1697126"/>
            <a:ext cx="796651" cy="237744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3840480" y="171541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900" dirty="0"/>
          </a:p>
        </p:txBody>
      </p:sp>
      <p:sp>
        <p:nvSpPr>
          <p:cNvPr id="38" name="Text 27"/>
          <p:cNvSpPr txBox="1"/>
          <p:nvPr/>
        </p:nvSpPr>
        <p:spPr>
          <a:xfrm>
            <a:off x="1883664" y="296722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price,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relationship</a:t>
            </a:r>
            <a:endParaRPr lang="en-US" sz="900" dirty="0"/>
          </a:p>
        </p:txBody>
      </p:sp>
      <p:sp>
        <p:nvSpPr>
          <p:cNvPr id="39" name="Text 28"/>
          <p:cNvSpPr txBox="1"/>
          <p:nvPr/>
        </p:nvSpPr>
        <p:spPr>
          <a:xfrm>
            <a:off x="6492240" y="128016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each rival teaches Quince</a:t>
            </a:r>
            <a:endParaRPr lang="en-US" sz="1300" dirty="0"/>
          </a:p>
        </p:txBody>
      </p:sp>
      <p:sp>
        <p:nvSpPr>
          <p:cNvPr id="40" name="Shape 29"/>
          <p:cNvSpPr/>
          <p:nvPr/>
        </p:nvSpPr>
        <p:spPr>
          <a:xfrm>
            <a:off x="6492240" y="1691640"/>
            <a:ext cx="5193792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41" name="Image 9" descr="/tmp/claude-0/-home-user-Quince/7efe80ae-a049-50c2-9886-98bf7ca3a04a/scratchpad/assets/uniqlo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0296" y="1783080"/>
            <a:ext cx="292608" cy="292608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7726680" y="16916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 the app's services (tracking, care, restock), not its app-only prices</a:t>
            </a:r>
            <a:endParaRPr lang="en-US" sz="950" dirty="0"/>
          </a:p>
        </p:txBody>
      </p:sp>
      <p:sp>
        <p:nvSpPr>
          <p:cNvPr id="43" name="Shape 31"/>
          <p:cNvSpPr/>
          <p:nvPr/>
        </p:nvSpPr>
        <p:spPr>
          <a:xfrm>
            <a:off x="6492240" y="2258568"/>
            <a:ext cx="5193792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44" name="Image 10" descr="/tmp/claude-0/-home-user-Quince/7efe80ae-a049-50c2-9886-98bf7ca3a04a/scratchpad/assets/everlan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6540" y="2447978"/>
            <a:ext cx="960120" cy="96669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7726680" y="225856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 email alone is no moat: Everlane was sold to Shein in 2026</a:t>
            </a:r>
            <a:endParaRPr lang="en-US" sz="950" dirty="0"/>
          </a:p>
        </p:txBody>
      </p:sp>
      <p:sp>
        <p:nvSpPr>
          <p:cNvPr id="46" name="Shape 33"/>
          <p:cNvSpPr/>
          <p:nvPr/>
        </p:nvSpPr>
        <p:spPr>
          <a:xfrm>
            <a:off x="6492240" y="2825496"/>
            <a:ext cx="5193792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47" name="Image 11" descr="/tmp/claude-0/-home-user-Quince/7efe80ae-a049-50c2-9886-98bf7ca3a04a/scratchpad/assets/amazo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3126" y="2953512"/>
            <a:ext cx="726948" cy="219456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7726680" y="282549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fight a paid-retargeting war; Amazon wins it on data and scale</a:t>
            </a:r>
            <a:endParaRPr lang="en-US" sz="950" dirty="0"/>
          </a:p>
        </p:txBody>
      </p:sp>
      <p:sp>
        <p:nvSpPr>
          <p:cNvPr id="49" name="Shape 35"/>
          <p:cNvSpPr/>
          <p:nvPr/>
        </p:nvSpPr>
        <p:spPr>
          <a:xfrm>
            <a:off x="6492240" y="3392424"/>
            <a:ext cx="5193792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0" name="Image 12" descr="/tmp/claude-0/-home-user-Quince/7efe80ae-a049-50c2-9886-98bf7ca3a04a/scratchpad/assets/williams_sonom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06540" y="3596093"/>
            <a:ext cx="960120" cy="68150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7726680" y="339242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the customer data layer; never name rivals in messages (lawsuit)</a:t>
            </a:r>
            <a:endParaRPr lang="en-US" sz="950" dirty="0"/>
          </a:p>
        </p:txBody>
      </p:sp>
      <p:sp>
        <p:nvSpPr>
          <p:cNvPr id="52" name="Text 37"/>
          <p:cNvSpPr txBox="1"/>
          <p:nvPr/>
        </p:nvSpPr>
        <p:spPr>
          <a:xfrm>
            <a:off x="6492240" y="402336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Quince's moat: what takes years to copy</a:t>
            </a:r>
            <a:endParaRPr lang="en-US" sz="1300" dirty="0"/>
          </a:p>
        </p:txBody>
      </p:sp>
      <p:sp>
        <p:nvSpPr>
          <p:cNvPr id="53" name="Shape 38"/>
          <p:cNvSpPr/>
          <p:nvPr/>
        </p:nvSpPr>
        <p:spPr>
          <a:xfrm>
            <a:off x="6492240" y="4370832"/>
            <a:ext cx="1645920" cy="969264"/>
          </a:xfrm>
          <a:prstGeom prst="roundRect">
            <a:avLst>
              <a:gd name="adj" fmla="val 566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5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01968" y="4480560"/>
            <a:ext cx="256032" cy="256032"/>
          </a:xfrm>
          <a:prstGeom prst="rect">
            <a:avLst/>
          </a:prstGeom>
        </p:spPr>
      </p:pic>
      <p:sp>
        <p:nvSpPr>
          <p:cNvPr id="55" name="Text 39"/>
          <p:cNvSpPr txBox="1"/>
          <p:nvPr/>
        </p:nvSpPr>
        <p:spPr>
          <a:xfrm>
            <a:off x="6903720" y="4462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M2C cost</a:t>
            </a:r>
            <a:endParaRPr lang="en-US" sz="1050" dirty="0"/>
          </a:p>
        </p:txBody>
      </p:sp>
      <p:sp>
        <p:nvSpPr>
          <p:cNvPr id="56" name="Text 40"/>
          <p:cNvSpPr txBox="1"/>
          <p:nvPr/>
        </p:nvSpPr>
        <p:spPr>
          <a:xfrm>
            <a:off x="6601968" y="47731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CE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factories</a:t>
            </a:r>
            <a:endParaRPr lang="en-US" sz="900" dirty="0"/>
          </a:p>
        </p:txBody>
      </p:sp>
      <p:sp>
        <p:nvSpPr>
          <p:cNvPr id="57" name="Shape 41"/>
          <p:cNvSpPr/>
          <p:nvPr/>
        </p:nvSpPr>
        <p:spPr>
          <a:xfrm>
            <a:off x="8247888" y="4370832"/>
            <a:ext cx="1645920" cy="969264"/>
          </a:xfrm>
          <a:prstGeom prst="roundRect">
            <a:avLst>
              <a:gd name="adj" fmla="val 5660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5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57616" y="4480560"/>
            <a:ext cx="256032" cy="256032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8659368" y="4462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Consented base</a:t>
            </a:r>
            <a:endParaRPr lang="en-US" sz="1050" dirty="0"/>
          </a:p>
        </p:txBody>
      </p:sp>
      <p:sp>
        <p:nvSpPr>
          <p:cNvPr id="60" name="Text 43"/>
          <p:cNvSpPr txBox="1"/>
          <p:nvPr/>
        </p:nvSpPr>
        <p:spPr>
          <a:xfrm>
            <a:off x="8357616" y="47731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CE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~480K newly engaged a year</a:t>
            </a:r>
            <a:endParaRPr lang="en-US" sz="900" dirty="0"/>
          </a:p>
        </p:txBody>
      </p:sp>
      <p:sp>
        <p:nvSpPr>
          <p:cNvPr id="61" name="Shape 44"/>
          <p:cNvSpPr/>
          <p:nvPr/>
        </p:nvSpPr>
        <p:spPr>
          <a:xfrm>
            <a:off x="10003536" y="4370832"/>
            <a:ext cx="1645920" cy="969264"/>
          </a:xfrm>
          <a:prstGeom prst="roundRect">
            <a:avLst>
              <a:gd name="adj" fmla="val 566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6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13264" y="4480560"/>
            <a:ext cx="256032" cy="256032"/>
          </a:xfrm>
          <a:prstGeom prst="rect">
            <a:avLst/>
          </a:prstGeom>
        </p:spPr>
      </p:pic>
      <p:sp>
        <p:nvSpPr>
          <p:cNvPr id="63" name="Text 45"/>
          <p:cNvSpPr txBox="1"/>
          <p:nvPr/>
        </p:nvSpPr>
        <p:spPr>
          <a:xfrm>
            <a:off x="10415016" y="4462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in hand</a:t>
            </a:r>
            <a:endParaRPr lang="en-US" sz="1050" dirty="0"/>
          </a:p>
        </p:txBody>
      </p:sp>
      <p:sp>
        <p:nvSpPr>
          <p:cNvPr id="64" name="Text 46"/>
          <p:cNvSpPr txBox="1"/>
          <p:nvPr/>
        </p:nvSpPr>
        <p:spPr>
          <a:xfrm>
            <a:off x="10113264" y="47731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CE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Passport, Fitting Room</a:t>
            </a:r>
            <a:endParaRPr lang="en-US" sz="900" dirty="0"/>
          </a:p>
        </p:txBody>
      </p:sp>
      <p:sp>
        <p:nvSpPr>
          <p:cNvPr id="65" name="Shape 47"/>
          <p:cNvSpPr/>
          <p:nvPr/>
        </p:nvSpPr>
        <p:spPr>
          <a:xfrm>
            <a:off x="502920" y="5687568"/>
            <a:ext cx="11183112" cy="566928"/>
          </a:xfrm>
          <a:prstGeom prst="roundRect">
            <a:avLst>
              <a:gd name="adj" fmla="val 16129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66" name="Text 48"/>
          <p:cNvSpPr txBox="1"/>
          <p:nvPr/>
        </p:nvSpPr>
        <p:spPr>
          <a:xfrm>
            <a:off x="685800" y="56875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rivals escalate</a:t>
            </a:r>
            <a:endParaRPr lang="en-US" sz="1150" dirty="0"/>
          </a:p>
        </p:txBody>
      </p:sp>
      <p:sp>
        <p:nvSpPr>
          <p:cNvPr id="67" name="Shape 49"/>
          <p:cNvSpPr/>
          <p:nvPr/>
        </p:nvSpPr>
        <p:spPr>
          <a:xfrm>
            <a:off x="2240280" y="5769864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68" name="Text 50"/>
          <p:cNvSpPr txBox="1"/>
          <p:nvPr/>
        </p:nvSpPr>
        <p:spPr>
          <a:xfrm>
            <a:off x="2377440" y="576986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war: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 price, prove quality and access</a:t>
            </a:r>
            <a:endParaRPr lang="en-US" sz="950" dirty="0"/>
          </a:p>
        </p:txBody>
      </p:sp>
      <p:sp>
        <p:nvSpPr>
          <p:cNvPr id="69" name="Shape 51"/>
          <p:cNvSpPr/>
          <p:nvPr/>
        </p:nvSpPr>
        <p:spPr>
          <a:xfrm>
            <a:off x="5367528" y="5769864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70" name="Text 52"/>
          <p:cNvSpPr txBox="1"/>
          <p:nvPr/>
        </p:nvSpPr>
        <p:spPr>
          <a:xfrm>
            <a:off x="5504688" y="576986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Retargeting bid war: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already suppressed; owned share 5% → 11%</a:t>
            </a:r>
            <a:endParaRPr lang="en-US" sz="950" dirty="0"/>
          </a:p>
        </p:txBody>
      </p:sp>
      <p:sp>
        <p:nvSpPr>
          <p:cNvPr id="71" name="Shape 53"/>
          <p:cNvSpPr/>
          <p:nvPr/>
        </p:nvSpPr>
        <p:spPr>
          <a:xfrm>
            <a:off x="8494776" y="5769864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72" name="Text 54"/>
          <p:cNvSpPr txBox="1"/>
          <p:nvPr/>
        </p:nvSpPr>
        <p:spPr>
          <a:xfrm>
            <a:off x="8631936" y="576986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Copycat journeys: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lead is the consented, engaged base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 is ready; the lifecycle muscle must be built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case Exhibits I and L; team assessment of readiness; owned-channel build sized at ~$200K per lifecycle role (team estimate).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6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2801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Readiness today and at month 9, and what each unlocks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120640" y="1353312"/>
            <a:ext cx="137160" cy="137160"/>
          </a:xfrm>
          <a:prstGeom prst="ellipse">
            <a:avLst/>
          </a:prstGeom>
          <a:solidFill>
            <a:srgbClr val="D97706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03520" y="13075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97880" y="1353312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80760" y="13075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9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2920" y="1691640"/>
            <a:ext cx="69494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1792" y="1819656"/>
            <a:ext cx="402336" cy="402336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06" y="1908170"/>
            <a:ext cx="225308" cy="22530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43000" y="17647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and identity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202082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Unlocks: Never Pay Twice Engine, all 14 CJA tests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617720" y="2002536"/>
            <a:ext cx="192024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0" y="1956816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052060" y="1956816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532120" y="1956816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012180" y="1956816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492240" y="1956816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057900" y="2002536"/>
            <a:ext cx="48006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428232" y="1892808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948172" y="1892808"/>
            <a:ext cx="219456" cy="219456"/>
          </a:xfrm>
          <a:prstGeom prst="ellipse">
            <a:avLst/>
          </a:prstGeom>
          <a:solidFill>
            <a:srgbClr val="16A34A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526280" y="21214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502920" y="2459736"/>
            <a:ext cx="69494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21792" y="2587752"/>
            <a:ext cx="402336" cy="402336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06" y="2676266"/>
            <a:ext cx="225308" cy="225308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1143000" y="25328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Activation and app</a:t>
            </a:r>
            <a:endParaRPr lang="en-US" sz="1150" dirty="0"/>
          </a:p>
        </p:txBody>
      </p:sp>
      <p:sp>
        <p:nvSpPr>
          <p:cNvPr id="33" name="Text 28"/>
          <p:cNvSpPr txBox="1"/>
          <p:nvPr/>
        </p:nvSpPr>
        <p:spPr>
          <a:xfrm>
            <a:off x="1143000" y="27889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Unlocks: Passport, Track It in the App, Saved Cart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4617720" y="2770632"/>
            <a:ext cx="192024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572000" y="2724912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5052060" y="2724912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5532120" y="2724912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012180" y="2724912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492240" y="2724912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5097780" y="2770632"/>
            <a:ext cx="96012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5948172" y="2660904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4988052" y="2660904"/>
            <a:ext cx="219456" cy="219456"/>
          </a:xfrm>
          <a:prstGeom prst="ellipse">
            <a:avLst/>
          </a:prstGeom>
          <a:solidFill>
            <a:srgbClr val="D97706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4526280" y="28895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+ CRM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502920" y="3227832"/>
            <a:ext cx="69494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21792" y="3355848"/>
            <a:ext cx="402336" cy="402336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306" y="3444362"/>
            <a:ext cx="225308" cy="225308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1143000" y="33009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 team and creative</a:t>
            </a:r>
            <a:endParaRPr lang="en-US" sz="1150" dirty="0"/>
          </a:p>
        </p:txBody>
      </p:sp>
      <p:sp>
        <p:nvSpPr>
          <p:cNvPr id="48" name="Text 42"/>
          <p:cNvSpPr txBox="1"/>
          <p:nvPr/>
        </p:nvSpPr>
        <p:spPr>
          <a:xfrm>
            <a:off x="1143000" y="35570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Unlocks: Material Journeys, Care Calendar, Proof Creators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4617720" y="3538728"/>
            <a:ext cx="192024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4572000" y="3493008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5052060" y="3493008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5532120" y="3493008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6012180" y="3493008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6492240" y="3493008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4617720" y="3538728"/>
            <a:ext cx="14401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5948172" y="3429000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4507992" y="3429000"/>
            <a:ext cx="219456" cy="219456"/>
          </a:xfrm>
          <a:prstGeom prst="ellipse">
            <a:avLst/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4526280" y="36576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CMO</a:t>
            </a:r>
            <a:endParaRPr lang="en-US" sz="850" dirty="0"/>
          </a:p>
        </p:txBody>
      </p:sp>
      <p:sp>
        <p:nvSpPr>
          <p:cNvPr id="59" name="Shape 53"/>
          <p:cNvSpPr/>
          <p:nvPr/>
        </p:nvSpPr>
        <p:spPr>
          <a:xfrm>
            <a:off x="502920" y="3995928"/>
            <a:ext cx="69494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621792" y="4123944"/>
            <a:ext cx="402336" cy="402336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6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306" y="4212458"/>
            <a:ext cx="225308" cy="225308"/>
          </a:xfrm>
          <a:prstGeom prst="rect">
            <a:avLst/>
          </a:prstGeom>
        </p:spPr>
      </p:pic>
      <p:sp>
        <p:nvSpPr>
          <p:cNvPr id="62" name="Text 55"/>
          <p:cNvSpPr txBox="1"/>
          <p:nvPr/>
        </p:nvSpPr>
        <p:spPr>
          <a:xfrm>
            <a:off x="1143000" y="4069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Measurement</a:t>
            </a:r>
            <a:endParaRPr lang="en-US" sz="1150" dirty="0"/>
          </a:p>
        </p:txBody>
      </p:sp>
      <p:sp>
        <p:nvSpPr>
          <p:cNvPr id="63" name="Text 56"/>
          <p:cNvSpPr txBox="1"/>
          <p:nvPr/>
        </p:nvSpPr>
        <p:spPr>
          <a:xfrm>
            <a:off x="1143000" y="43251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Unlocks: holdouts on every tranche, weekly council</a:t>
            </a:r>
            <a:endParaRPr lang="en-US" sz="900" dirty="0"/>
          </a:p>
        </p:txBody>
      </p:sp>
      <p:sp>
        <p:nvSpPr>
          <p:cNvPr id="64" name="Shape 57"/>
          <p:cNvSpPr/>
          <p:nvPr/>
        </p:nvSpPr>
        <p:spPr>
          <a:xfrm>
            <a:off x="4617720" y="4306824"/>
            <a:ext cx="192024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4572000" y="4261104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5052060" y="4261104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5532120" y="4261104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6012180" y="4261104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6492240" y="4261104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Shape 63"/>
          <p:cNvSpPr/>
          <p:nvPr/>
        </p:nvSpPr>
        <p:spPr>
          <a:xfrm>
            <a:off x="5097780" y="4306824"/>
            <a:ext cx="14401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71" name="Shape 64"/>
          <p:cNvSpPr/>
          <p:nvPr/>
        </p:nvSpPr>
        <p:spPr>
          <a:xfrm>
            <a:off x="6428232" y="4197096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72" name="Shape 65"/>
          <p:cNvSpPr/>
          <p:nvPr/>
        </p:nvSpPr>
        <p:spPr>
          <a:xfrm>
            <a:off x="4988052" y="4197096"/>
            <a:ext cx="219456" cy="219456"/>
          </a:xfrm>
          <a:prstGeom prst="ellipse">
            <a:avLst/>
          </a:prstGeom>
          <a:solidFill>
            <a:srgbClr val="D97706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73" name="Text 66"/>
          <p:cNvSpPr txBox="1"/>
          <p:nvPr/>
        </p:nvSpPr>
        <p:spPr>
          <a:xfrm>
            <a:off x="4526280" y="44256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Analytics</a:t>
            </a:r>
            <a:endParaRPr lang="en-US" sz="850" dirty="0"/>
          </a:p>
        </p:txBody>
      </p:sp>
      <p:sp>
        <p:nvSpPr>
          <p:cNvPr id="74" name="Shape 67"/>
          <p:cNvSpPr/>
          <p:nvPr/>
        </p:nvSpPr>
        <p:spPr>
          <a:xfrm>
            <a:off x="502920" y="4764024"/>
            <a:ext cx="69494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5" name="Shape 68"/>
          <p:cNvSpPr/>
          <p:nvPr/>
        </p:nvSpPr>
        <p:spPr>
          <a:xfrm>
            <a:off x="621792" y="4892040"/>
            <a:ext cx="402336" cy="402336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7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306" y="4980554"/>
            <a:ext cx="225308" cy="225308"/>
          </a:xfrm>
          <a:prstGeom prst="rect">
            <a:avLst/>
          </a:prstGeom>
        </p:spPr>
      </p:pic>
      <p:sp>
        <p:nvSpPr>
          <p:cNvPr id="77" name="Text 69"/>
          <p:cNvSpPr txBox="1"/>
          <p:nvPr/>
        </p:nvSpPr>
        <p:spPr>
          <a:xfrm>
            <a:off x="1143000" y="48371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Incentives</a:t>
            </a:r>
            <a:endParaRPr lang="en-US" sz="1150" dirty="0"/>
          </a:p>
        </p:txBody>
      </p:sp>
      <p:sp>
        <p:nvSpPr>
          <p:cNvPr id="78" name="Text 70"/>
          <p:cNvSpPr txBox="1"/>
          <p:nvPr/>
        </p:nvSpPr>
        <p:spPr>
          <a:xfrm>
            <a:off x="1143000" y="50932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Unlocks: Lever 3, by scoring incremental revenue, not ROAS</a:t>
            </a:r>
            <a:endParaRPr lang="en-US" sz="900" dirty="0"/>
          </a:p>
        </p:txBody>
      </p:sp>
      <p:sp>
        <p:nvSpPr>
          <p:cNvPr id="79" name="Shape 71"/>
          <p:cNvSpPr/>
          <p:nvPr/>
        </p:nvSpPr>
        <p:spPr>
          <a:xfrm>
            <a:off x="4617720" y="5074920"/>
            <a:ext cx="192024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80" name="Shape 72"/>
          <p:cNvSpPr/>
          <p:nvPr/>
        </p:nvSpPr>
        <p:spPr>
          <a:xfrm>
            <a:off x="4572000" y="5029200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Shape 73"/>
          <p:cNvSpPr/>
          <p:nvPr/>
        </p:nvSpPr>
        <p:spPr>
          <a:xfrm>
            <a:off x="5052060" y="5029200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Shape 74"/>
          <p:cNvSpPr/>
          <p:nvPr/>
        </p:nvSpPr>
        <p:spPr>
          <a:xfrm>
            <a:off x="5532120" y="5029200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Shape 75"/>
          <p:cNvSpPr/>
          <p:nvPr/>
        </p:nvSpPr>
        <p:spPr>
          <a:xfrm>
            <a:off x="6012180" y="5029200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Shape 76"/>
          <p:cNvSpPr/>
          <p:nvPr/>
        </p:nvSpPr>
        <p:spPr>
          <a:xfrm>
            <a:off x="6492240" y="5029200"/>
            <a:ext cx="91440" cy="91440"/>
          </a:xfrm>
          <a:prstGeom prst="ellipse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Shape 77"/>
          <p:cNvSpPr/>
          <p:nvPr/>
        </p:nvSpPr>
        <p:spPr>
          <a:xfrm>
            <a:off x="4617720" y="5074920"/>
            <a:ext cx="14401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86" name="Shape 78"/>
          <p:cNvSpPr/>
          <p:nvPr/>
        </p:nvSpPr>
        <p:spPr>
          <a:xfrm>
            <a:off x="5948172" y="4965192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87" name="Shape 79"/>
          <p:cNvSpPr/>
          <p:nvPr/>
        </p:nvSpPr>
        <p:spPr>
          <a:xfrm>
            <a:off x="4507992" y="4965192"/>
            <a:ext cx="219456" cy="219456"/>
          </a:xfrm>
          <a:prstGeom prst="ellipse">
            <a:avLst/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88" name="Text 80"/>
          <p:cNvSpPr txBox="1"/>
          <p:nvPr/>
        </p:nvSpPr>
        <p:spPr>
          <a:xfrm>
            <a:off x="4526280" y="51937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CMO + CFO</a:t>
            </a:r>
            <a:endParaRPr lang="en-US" sz="850" dirty="0"/>
          </a:p>
        </p:txBody>
      </p:sp>
      <p:sp>
        <p:nvSpPr>
          <p:cNvPr id="89" name="Text 81"/>
          <p:cNvSpPr txBox="1"/>
          <p:nvPr/>
        </p:nvSpPr>
        <p:spPr>
          <a:xfrm>
            <a:off x="7772400" y="128016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model</a:t>
            </a:r>
            <a:endParaRPr lang="en-US" sz="1300" dirty="0"/>
          </a:p>
        </p:txBody>
      </p:sp>
      <p:sp>
        <p:nvSpPr>
          <p:cNvPr id="90" name="Shape 82"/>
          <p:cNvSpPr/>
          <p:nvPr/>
        </p:nvSpPr>
        <p:spPr>
          <a:xfrm>
            <a:off x="7772400" y="1691640"/>
            <a:ext cx="3913632" cy="384048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91" name="Text 83"/>
          <p:cNvSpPr txBox="1"/>
          <p:nvPr/>
        </p:nvSpPr>
        <p:spPr>
          <a:xfrm>
            <a:off x="7909560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 1 · Capture</a:t>
            </a:r>
            <a:endParaRPr lang="en-US" sz="950" dirty="0"/>
          </a:p>
        </p:txBody>
      </p:sp>
      <p:sp>
        <p:nvSpPr>
          <p:cNvPr id="92" name="Text 84"/>
          <p:cNvSpPr txBox="1"/>
          <p:nvPr/>
        </p:nvSpPr>
        <p:spPr>
          <a:xfrm>
            <a:off x="9784080" y="1691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and product</a:t>
            </a:r>
            <a:endParaRPr lang="en-US" sz="950" dirty="0"/>
          </a:p>
        </p:txBody>
      </p:sp>
      <p:sp>
        <p:nvSpPr>
          <p:cNvPr id="93" name="Shape 85"/>
          <p:cNvSpPr/>
          <p:nvPr/>
        </p:nvSpPr>
        <p:spPr>
          <a:xfrm>
            <a:off x="7772400" y="2148840"/>
            <a:ext cx="3913632" cy="384048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94" name="Text 86"/>
          <p:cNvSpPr txBox="1"/>
          <p:nvPr/>
        </p:nvSpPr>
        <p:spPr>
          <a:xfrm>
            <a:off x="7909560" y="2148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 2 · Golden Month</a:t>
            </a:r>
            <a:endParaRPr lang="en-US" sz="950" dirty="0"/>
          </a:p>
        </p:txBody>
      </p:sp>
      <p:sp>
        <p:nvSpPr>
          <p:cNvPr id="95" name="Text 87"/>
          <p:cNvSpPr txBox="1"/>
          <p:nvPr/>
        </p:nvSpPr>
        <p:spPr>
          <a:xfrm>
            <a:off x="9784080" y="2148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 marketing</a:t>
            </a:r>
            <a:endParaRPr lang="en-US" sz="950" dirty="0"/>
          </a:p>
        </p:txBody>
      </p:sp>
      <p:sp>
        <p:nvSpPr>
          <p:cNvPr id="96" name="Shape 88"/>
          <p:cNvSpPr/>
          <p:nvPr/>
        </p:nvSpPr>
        <p:spPr>
          <a:xfrm>
            <a:off x="7772400" y="2606040"/>
            <a:ext cx="3913632" cy="384048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97" name="Text 89"/>
          <p:cNvSpPr txBox="1"/>
          <p:nvPr/>
        </p:nvSpPr>
        <p:spPr>
          <a:xfrm>
            <a:off x="7909560" y="2606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 3 · Never pay twice</a:t>
            </a:r>
            <a:endParaRPr lang="en-US" sz="950" dirty="0"/>
          </a:p>
        </p:txBody>
      </p:sp>
      <p:sp>
        <p:nvSpPr>
          <p:cNvPr id="98" name="Text 90"/>
          <p:cNvSpPr txBox="1"/>
          <p:nvPr/>
        </p:nvSpPr>
        <p:spPr>
          <a:xfrm>
            <a:off x="9784080" y="2606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media + analytics</a:t>
            </a:r>
            <a:endParaRPr lang="en-US" sz="950" dirty="0"/>
          </a:p>
        </p:txBody>
      </p:sp>
      <p:sp>
        <p:nvSpPr>
          <p:cNvPr id="99" name="Shape 91"/>
          <p:cNvSpPr/>
          <p:nvPr/>
        </p:nvSpPr>
        <p:spPr>
          <a:xfrm>
            <a:off x="7772400" y="3063240"/>
            <a:ext cx="3913632" cy="384048"/>
          </a:xfrm>
          <a:prstGeom prst="roundRect">
            <a:avLst>
              <a:gd name="adj" fmla="val 14286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00" name="Text 92"/>
          <p:cNvSpPr txBox="1"/>
          <p:nvPr/>
        </p:nvSpPr>
        <p:spPr>
          <a:xfrm>
            <a:off x="7909560" y="3063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CJA engine</a:t>
            </a:r>
            <a:endParaRPr lang="en-US" sz="950" dirty="0"/>
          </a:p>
        </p:txBody>
      </p:sp>
      <p:sp>
        <p:nvSpPr>
          <p:cNvPr id="101" name="Text 93"/>
          <p:cNvSpPr txBox="1"/>
          <p:nvPr/>
        </p:nvSpPr>
        <p:spPr>
          <a:xfrm>
            <a:off x="9784080" y="3063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CE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incrementality council</a:t>
            </a:r>
            <a:endParaRPr lang="en-US" sz="950" dirty="0"/>
          </a:p>
        </p:txBody>
      </p:sp>
      <p:sp>
        <p:nvSpPr>
          <p:cNvPr id="102" name="Text 94"/>
          <p:cNvSpPr txBox="1"/>
          <p:nvPr/>
        </p:nvSpPr>
        <p:spPr>
          <a:xfrm>
            <a:off x="7772400" y="365760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Funded inside the $120M: $7.5M</a:t>
            </a:r>
            <a:endParaRPr lang="en-US" sz="1300" dirty="0"/>
          </a:p>
        </p:txBody>
      </p:sp>
      <p:sp>
        <p:nvSpPr>
          <p:cNvPr id="103" name="Text 95"/>
          <p:cNvSpPr txBox="1"/>
          <p:nvPr/>
        </p:nvSpPr>
        <p:spPr>
          <a:xfrm>
            <a:off x="7772400" y="3931920"/>
            <a:ext cx="3913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Owned-channel build, $M</a:t>
            </a:r>
            <a:endParaRPr lang="en-US" sz="1000" dirty="0"/>
          </a:p>
        </p:txBody>
      </p:sp>
      <p:sp>
        <p:nvSpPr>
          <p:cNvPr id="104" name="Shape 96"/>
          <p:cNvSpPr/>
          <p:nvPr/>
        </p:nvSpPr>
        <p:spPr>
          <a:xfrm>
            <a:off x="7772400" y="4279392"/>
            <a:ext cx="128016" cy="128016"/>
          </a:xfrm>
          <a:prstGeom prst="rect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05" name="Text 97"/>
          <p:cNvSpPr txBox="1"/>
          <p:nvPr/>
        </p:nvSpPr>
        <p:spPr>
          <a:xfrm>
            <a:off x="7973568" y="42245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$1.6M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 team</a:t>
            </a:r>
            <a:endParaRPr lang="en-US" sz="900" dirty="0"/>
          </a:p>
        </p:txBody>
      </p:sp>
      <p:sp>
        <p:nvSpPr>
          <p:cNvPr id="106" name="Shape 98"/>
          <p:cNvSpPr/>
          <p:nvPr/>
        </p:nvSpPr>
        <p:spPr>
          <a:xfrm>
            <a:off x="7772400" y="4526280"/>
            <a:ext cx="128016" cy="128016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07" name="Text 99"/>
          <p:cNvSpPr txBox="1"/>
          <p:nvPr/>
        </p:nvSpPr>
        <p:spPr>
          <a:xfrm>
            <a:off x="7973568" y="447141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$1.5M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Activation and sends</a:t>
            </a:r>
            <a:endParaRPr lang="en-US" sz="900" dirty="0"/>
          </a:p>
        </p:txBody>
      </p:sp>
      <p:sp>
        <p:nvSpPr>
          <p:cNvPr id="108" name="Shape 100"/>
          <p:cNvSpPr/>
          <p:nvPr/>
        </p:nvSpPr>
        <p:spPr>
          <a:xfrm>
            <a:off x="7772400" y="4773168"/>
            <a:ext cx="128016" cy="128016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09" name="Text 101"/>
          <p:cNvSpPr txBox="1"/>
          <p:nvPr/>
        </p:nvSpPr>
        <p:spPr>
          <a:xfrm>
            <a:off x="7973568" y="471830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$1.2M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App: tracking, care</a:t>
            </a:r>
            <a:endParaRPr lang="en-US" sz="900" dirty="0"/>
          </a:p>
        </p:txBody>
      </p:sp>
      <p:sp>
        <p:nvSpPr>
          <p:cNvPr id="110" name="Shape 102"/>
          <p:cNvSpPr/>
          <p:nvPr/>
        </p:nvSpPr>
        <p:spPr>
          <a:xfrm>
            <a:off x="7772400" y="5020056"/>
            <a:ext cx="128016" cy="128016"/>
          </a:xfrm>
          <a:prstGeom prst="rect">
            <a:avLst/>
          </a:prstGeom>
          <a:solidFill>
            <a:srgbClr val="3B82F6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1" name="Text 103"/>
          <p:cNvSpPr txBox="1"/>
          <p:nvPr/>
        </p:nvSpPr>
        <p:spPr>
          <a:xfrm>
            <a:off x="7973568" y="49651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$1.2M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</a:t>
            </a:r>
            <a:endParaRPr lang="en-US" sz="900" dirty="0"/>
          </a:p>
        </p:txBody>
      </p:sp>
      <p:sp>
        <p:nvSpPr>
          <p:cNvPr id="112" name="Shape 104"/>
          <p:cNvSpPr/>
          <p:nvPr/>
        </p:nvSpPr>
        <p:spPr>
          <a:xfrm>
            <a:off x="9784080" y="4279392"/>
            <a:ext cx="128016" cy="128016"/>
          </a:xfrm>
          <a:prstGeom prst="rect">
            <a:avLst/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113" name="Text 105"/>
          <p:cNvSpPr txBox="1"/>
          <p:nvPr/>
        </p:nvSpPr>
        <p:spPr>
          <a:xfrm>
            <a:off x="9985248" y="42245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$1.0M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Recovery, product proof</a:t>
            </a:r>
            <a:endParaRPr lang="en-US" sz="900" dirty="0"/>
          </a:p>
        </p:txBody>
      </p:sp>
      <p:sp>
        <p:nvSpPr>
          <p:cNvPr id="114" name="Shape 106"/>
          <p:cNvSpPr/>
          <p:nvPr/>
        </p:nvSpPr>
        <p:spPr>
          <a:xfrm>
            <a:off x="9784080" y="4526280"/>
            <a:ext cx="128016" cy="128016"/>
          </a:xfrm>
          <a:prstGeom prst="rect">
            <a:avLst/>
          </a:prstGeom>
          <a:solidFill>
            <a:srgbClr val="93C5FD"/>
          </a:solidFill>
          <a:ln w="6350">
            <a:solidFill>
              <a:srgbClr val="93C5FD"/>
            </a:solidFill>
            <a:prstDash val="solid"/>
          </a:ln>
        </p:spPr>
      </p:sp>
      <p:sp>
        <p:nvSpPr>
          <p:cNvPr id="115" name="Text 107"/>
          <p:cNvSpPr txBox="1"/>
          <p:nvPr/>
        </p:nvSpPr>
        <p:spPr>
          <a:xfrm>
            <a:off x="9985248" y="447141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$0.5M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 perks</a:t>
            </a:r>
            <a:endParaRPr lang="en-US" sz="900" dirty="0"/>
          </a:p>
        </p:txBody>
      </p:sp>
      <p:sp>
        <p:nvSpPr>
          <p:cNvPr id="116" name="Shape 108"/>
          <p:cNvSpPr/>
          <p:nvPr/>
        </p:nvSpPr>
        <p:spPr>
          <a:xfrm>
            <a:off x="9784080" y="4773168"/>
            <a:ext cx="128016" cy="128016"/>
          </a:xfrm>
          <a:prstGeom prst="rect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17" name="Text 109"/>
          <p:cNvSpPr txBox="1"/>
          <p:nvPr/>
        </p:nvSpPr>
        <p:spPr>
          <a:xfrm>
            <a:off x="9985248" y="471830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$0.5M 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Measurement</a:t>
            </a:r>
            <a:endParaRPr lang="en-US" sz="900" dirty="0"/>
          </a:p>
        </p:txBody>
      </p:sp>
      <p:sp>
        <p:nvSpPr>
          <p:cNvPr id="118" name="Text 110"/>
          <p:cNvSpPr txBox="1"/>
          <p:nvPr/>
        </p:nvSpPr>
        <p:spPr>
          <a:xfrm>
            <a:off x="7772400" y="528523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Exhibit I prices the core rebuild at $2–3M inside today's $6M line</a:t>
            </a:r>
            <a:endParaRPr lang="en-US" sz="900" dirty="0"/>
          </a:p>
        </p:txBody>
      </p:sp>
      <p:sp>
        <p:nvSpPr>
          <p:cNvPr id="119" name="Shape 111"/>
          <p:cNvSpPr/>
          <p:nvPr/>
        </p:nvSpPr>
        <p:spPr>
          <a:xfrm>
            <a:off x="502920" y="5742432"/>
            <a:ext cx="11183112" cy="512064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120" name="Shape 112"/>
          <p:cNvSpPr/>
          <p:nvPr/>
        </p:nvSpPr>
        <p:spPr>
          <a:xfrm>
            <a:off x="640080" y="5833872"/>
            <a:ext cx="329184" cy="32918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1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500" y="5906292"/>
            <a:ext cx="184343" cy="184343"/>
          </a:xfrm>
          <a:prstGeom prst="rect">
            <a:avLst/>
          </a:prstGeom>
        </p:spPr>
      </p:pic>
      <p:sp>
        <p:nvSpPr>
          <p:cNvPr id="122" name="Text 113"/>
          <p:cNvSpPr txBox="1"/>
          <p:nvPr/>
        </p:nvSpPr>
        <p:spPr>
          <a:xfrm>
            <a:off x="1097280" y="574243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gap closes with money already in the budget; changing the scorecard removes the biggest blocker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in 90 days, scale by month nine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team plan; gate thresholds from the team's strategy; timelines from case Exhibit I. Tranche 3 moves only if a holdout proves prospecting is over-credited.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7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1280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M0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48840" y="1517904"/>
            <a:ext cx="0" cy="2395728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3451860" y="1280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M3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726180" y="1517904"/>
            <a:ext cx="0" cy="2395728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5029200" y="1280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M6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303520" y="1517904"/>
            <a:ext cx="0" cy="2395728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6606540" y="1280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M9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880860" y="1517904"/>
            <a:ext cx="0" cy="2395728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8183880" y="1280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M12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458200" y="1517904"/>
            <a:ext cx="0" cy="2395728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11338560" y="1280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M18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1612880" y="1517904"/>
            <a:ext cx="0" cy="2395728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502920" y="1691640"/>
            <a:ext cx="365760" cy="365760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" y="1772107"/>
            <a:ext cx="204826" cy="20482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41832" y="16367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Reallocate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941832" y="188366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CFO, paid media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502920" y="2468880"/>
            <a:ext cx="365760" cy="365760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" y="2549347"/>
            <a:ext cx="204826" cy="20482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41832" y="24140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programs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941832" y="266090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CMO, CRM, product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02920" y="3246120"/>
            <a:ext cx="365760" cy="365760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" y="3326587"/>
            <a:ext cx="204826" cy="20482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41832" y="31912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in CJA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941832" y="343814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Analytics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2176272" y="1600200"/>
            <a:ext cx="1522476" cy="54864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2240280" y="1600200"/>
            <a:ext cx="14127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T1: −$4M retargeting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3753612" y="1600200"/>
            <a:ext cx="1522476" cy="54864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3817620" y="1600200"/>
            <a:ext cx="14127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T2: −$3M search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5330952" y="1600200"/>
            <a:ext cx="1522476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dash"/>
          </a:ln>
        </p:spPr>
      </p:sp>
      <p:sp>
        <p:nvSpPr>
          <p:cNvPr id="38" name="Text 32"/>
          <p:cNvSpPr txBox="1"/>
          <p:nvPr/>
        </p:nvSpPr>
        <p:spPr>
          <a:xfrm>
            <a:off x="5394960" y="1600200"/>
            <a:ext cx="14127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T3: −$2M, only if proven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6908292" y="1600200"/>
            <a:ext cx="4677156" cy="54864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6972300" y="1600200"/>
            <a:ext cx="4567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+$7.5M owned, +$1.5M creators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2176272" y="2377440"/>
            <a:ext cx="1522476" cy="548640"/>
          </a:xfrm>
          <a:prstGeom prst="roundRect">
            <a:avLst>
              <a:gd name="adj" fmla="val 1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2240280" y="2377440"/>
            <a:ext cx="14127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Pilot: Passport, Track It, Saved Cart, Engine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3753612" y="2377440"/>
            <a:ext cx="3099816" cy="54864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3817620" y="237744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Journeys, Care Calendar, Gift Ledger, Insider, Proof Creators, Lookalikes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6908292" y="2377440"/>
            <a:ext cx="4677156" cy="548640"/>
          </a:xfrm>
          <a:prstGeom prst="roundRect">
            <a:avLst>
              <a:gd name="adj" fmla="val 10000"/>
            </a:avLst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6972300" y="2377440"/>
            <a:ext cx="45674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National rollout + Beauty Refill, Second Life, Waitlist; Midwest, Canada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2176272" y="3154680"/>
            <a:ext cx="9409176" cy="5486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2240280" y="3154680"/>
            <a:ext cx="9299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incrementality council · 10% holdout in the South pilot · holdouts on every tranche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2464308" y="1289304"/>
            <a:ext cx="972693" cy="20116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2464308" y="1289304"/>
            <a:ext cx="9726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Fitting Room test</a:t>
            </a:r>
            <a:endParaRPr lang="en-US" sz="750" dirty="0"/>
          </a:p>
        </p:txBody>
      </p:sp>
      <p:sp>
        <p:nvSpPr>
          <p:cNvPr id="51" name="Shape 45"/>
          <p:cNvSpPr/>
          <p:nvPr/>
        </p:nvSpPr>
        <p:spPr>
          <a:xfrm>
            <a:off x="3579876" y="3931920"/>
            <a:ext cx="292608" cy="292608"/>
          </a:xfrm>
          <a:prstGeom prst="diamond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2674620" y="42611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 1</a:t>
            </a:r>
            <a:endParaRPr lang="en-US" sz="1000" dirty="0"/>
          </a:p>
        </p:txBody>
      </p:sp>
      <p:sp>
        <p:nvSpPr>
          <p:cNvPr id="53" name="Text 47"/>
          <p:cNvSpPr txBox="1"/>
          <p:nvPr/>
        </p:nvSpPr>
        <p:spPr>
          <a:xfrm>
            <a:off x="2674620" y="4462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beats holdout by 2+ pts on 30-day repeat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6734556" y="3931920"/>
            <a:ext cx="292608" cy="292608"/>
          </a:xfrm>
          <a:prstGeom prst="diamond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5829300" y="42611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 2</a:t>
            </a:r>
            <a:endParaRPr lang="en-US" sz="1000" dirty="0"/>
          </a:p>
        </p:txBody>
      </p:sp>
      <p:sp>
        <p:nvSpPr>
          <p:cNvPr id="56" name="Text 50"/>
          <p:cNvSpPr txBox="1"/>
          <p:nvPr/>
        </p:nvSpPr>
        <p:spPr>
          <a:xfrm>
            <a:off x="5829300" y="4462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≥ 28%, effective CAC ≤ $58</a:t>
            </a:r>
            <a:endParaRPr lang="en-US" sz="900" dirty="0"/>
          </a:p>
        </p:txBody>
      </p:sp>
      <p:sp>
        <p:nvSpPr>
          <p:cNvPr id="57" name="Shape 51"/>
          <p:cNvSpPr/>
          <p:nvPr/>
        </p:nvSpPr>
        <p:spPr>
          <a:xfrm>
            <a:off x="11466576" y="3931920"/>
            <a:ext cx="292608" cy="292608"/>
          </a:xfrm>
          <a:prstGeom prst="diamond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9582912" y="42611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1000" dirty="0"/>
          </a:p>
        </p:txBody>
      </p:sp>
      <p:sp>
        <p:nvSpPr>
          <p:cNvPr id="59" name="Text 53"/>
          <p:cNvSpPr txBox="1"/>
          <p:nvPr/>
        </p:nvSpPr>
        <p:spPr>
          <a:xfrm>
            <a:off x="9582912" y="44622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≥ 30%, effective CAC ≤ $56</a:t>
            </a:r>
            <a:endParaRPr lang="en-US" sz="900" dirty="0"/>
          </a:p>
        </p:txBody>
      </p:sp>
      <p:sp>
        <p:nvSpPr>
          <p:cNvPr id="60" name="Text 54"/>
          <p:cNvSpPr txBox="1"/>
          <p:nvPr/>
        </p:nvSpPr>
        <p:spPr>
          <a:xfrm>
            <a:off x="502920" y="39319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Pass: next tranche moves.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Fail: money goes back.</a:t>
            </a:r>
            <a:endParaRPr lang="en-US" sz="950" dirty="0"/>
          </a:p>
        </p:txBody>
      </p:sp>
      <p:sp>
        <p:nvSpPr>
          <p:cNvPr id="61" name="Shape 55"/>
          <p:cNvSpPr/>
          <p:nvPr/>
        </p:nvSpPr>
        <p:spPr>
          <a:xfrm>
            <a:off x="502920" y="4983480"/>
            <a:ext cx="2221992" cy="1207008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640080" y="5102352"/>
            <a:ext cx="347472" cy="347472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6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524" y="5178796"/>
            <a:ext cx="194584" cy="194584"/>
          </a:xfrm>
          <a:prstGeom prst="rect">
            <a:avLst/>
          </a:prstGeom>
        </p:spPr>
      </p:pic>
      <p:sp>
        <p:nvSpPr>
          <p:cNvPr id="64" name="Text 57"/>
          <p:cNvSpPr txBox="1"/>
          <p:nvPr/>
        </p:nvSpPr>
        <p:spPr>
          <a:xfrm>
            <a:off x="1051560" y="5120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90-day repeat</a:t>
            </a:r>
            <a:endParaRPr lang="en-US" sz="950" dirty="0"/>
          </a:p>
        </p:txBody>
      </p:sp>
      <p:sp>
        <p:nvSpPr>
          <p:cNvPr id="65" name="Text 58"/>
          <p:cNvSpPr txBox="1"/>
          <p:nvPr/>
        </p:nvSpPr>
        <p:spPr>
          <a:xfrm>
            <a:off x="640080" y="5532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24% → ≥ 30%</a:t>
            </a:r>
            <a:endParaRPr lang="en-US" sz="1600" dirty="0"/>
          </a:p>
        </p:txBody>
      </p:sp>
      <p:sp>
        <p:nvSpPr>
          <p:cNvPr id="66" name="Shape 59"/>
          <p:cNvSpPr/>
          <p:nvPr/>
        </p:nvSpPr>
        <p:spPr>
          <a:xfrm>
            <a:off x="2834640" y="4983480"/>
            <a:ext cx="2221992" cy="1207008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2971800" y="5102352"/>
            <a:ext cx="347472" cy="347472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6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244" y="5178796"/>
            <a:ext cx="194584" cy="194584"/>
          </a:xfrm>
          <a:prstGeom prst="rect">
            <a:avLst/>
          </a:prstGeom>
        </p:spPr>
      </p:pic>
      <p:sp>
        <p:nvSpPr>
          <p:cNvPr id="69" name="Text 61"/>
          <p:cNvSpPr txBox="1"/>
          <p:nvPr/>
        </p:nvSpPr>
        <p:spPr>
          <a:xfrm>
            <a:off x="3383280" y="5120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Blended CAC</a:t>
            </a:r>
            <a:endParaRPr lang="en-US" sz="950" dirty="0"/>
          </a:p>
        </p:txBody>
      </p:sp>
      <p:sp>
        <p:nvSpPr>
          <p:cNvPr id="70" name="Text 62"/>
          <p:cNvSpPr txBox="1"/>
          <p:nvPr/>
        </p:nvSpPr>
        <p:spPr>
          <a:xfrm>
            <a:off x="2971800" y="5532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 → ≤ $56</a:t>
            </a:r>
            <a:endParaRPr lang="en-US" sz="1600" dirty="0"/>
          </a:p>
        </p:txBody>
      </p:sp>
      <p:sp>
        <p:nvSpPr>
          <p:cNvPr id="71" name="Shape 63"/>
          <p:cNvSpPr/>
          <p:nvPr/>
        </p:nvSpPr>
        <p:spPr>
          <a:xfrm>
            <a:off x="5166360" y="4983480"/>
            <a:ext cx="2221992" cy="1207008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2" name="Shape 64"/>
          <p:cNvSpPr/>
          <p:nvPr/>
        </p:nvSpPr>
        <p:spPr>
          <a:xfrm>
            <a:off x="5303520" y="5102352"/>
            <a:ext cx="347472" cy="347472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7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9964" y="5178796"/>
            <a:ext cx="194584" cy="194584"/>
          </a:xfrm>
          <a:prstGeom prst="rect">
            <a:avLst/>
          </a:prstGeom>
        </p:spPr>
      </p:pic>
      <p:sp>
        <p:nvSpPr>
          <p:cNvPr id="74" name="Text 65"/>
          <p:cNvSpPr txBox="1"/>
          <p:nvPr/>
        </p:nvSpPr>
        <p:spPr>
          <a:xfrm>
            <a:off x="5715000" y="5120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Retargeting efficiency</a:t>
            </a:r>
            <a:endParaRPr lang="en-US" sz="950" dirty="0"/>
          </a:p>
        </p:txBody>
      </p:sp>
      <p:sp>
        <p:nvSpPr>
          <p:cNvPr id="75" name="Text 66"/>
          <p:cNvSpPr txBox="1"/>
          <p:nvPr/>
        </p:nvSpPr>
        <p:spPr>
          <a:xfrm>
            <a:off x="5303520" y="5532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Incremental orders per $</a:t>
            </a:r>
            <a:endParaRPr lang="en-US" sz="1150" dirty="0"/>
          </a:p>
        </p:txBody>
      </p:sp>
      <p:sp>
        <p:nvSpPr>
          <p:cNvPr id="76" name="Shape 67"/>
          <p:cNvSpPr/>
          <p:nvPr/>
        </p:nvSpPr>
        <p:spPr>
          <a:xfrm>
            <a:off x="7562088" y="4983480"/>
            <a:ext cx="4123944" cy="1207008"/>
          </a:xfrm>
          <a:prstGeom prst="roundRect">
            <a:avLst>
              <a:gd name="adj" fmla="val 4545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77" name="Text 68"/>
          <p:cNvSpPr txBox="1"/>
          <p:nvPr/>
        </p:nvSpPr>
        <p:spPr>
          <a:xfrm>
            <a:off x="7744968" y="5029200"/>
            <a:ext cx="3794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Monday: approve three things</a:t>
            </a:r>
            <a:endParaRPr lang="en-US" sz="12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Tranche 1, the South pilot, the weekly CJA council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C7D7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will not discount, add budget or cut prospecting without proof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Appendix: four Adobe CJA panels behind every number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Adobe CJA, Quince Case Data View, 1 Jan–30 Apr 2026, 60,000 people. Screenshots from the team's project; names and avatars cropped.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8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02920" y="1280160"/>
            <a:ext cx="5513832" cy="2423160"/>
          </a:xfrm>
          <a:prstGeom prst="roundRect">
            <a:avLst>
              <a:gd name="adj" fmla="val 226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353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 Fallout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609344"/>
            <a:ext cx="523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60,000 people → 2,592 buyers: 69% of product viewers and 77% of cart adders never order.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001250" y="2011680"/>
            <a:ext cx="2517173" cy="161848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3" name="Image 1" descr="/tmp/claude-0/-home-user-Quince/7efe80ae-a049-50c2-9886-98bf7ca3a04a/scratchpad/assets/cja_fall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538" y="2029968"/>
            <a:ext cx="2480597" cy="15819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72200" y="1280160"/>
            <a:ext cx="5513832" cy="2423160"/>
          </a:xfrm>
          <a:prstGeom prst="roundRect">
            <a:avLst>
              <a:gd name="adj" fmla="val 226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309360" y="1353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 Attribution IQ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309360" y="1609344"/>
            <a:ext cx="523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channels take part in 15.0% of $337K revenue but get 4.8% on last touch; paid channels barely move.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698951" y="2011680"/>
            <a:ext cx="4460330" cy="161848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8" name="Image 2" descr="/tmp/claude-0/-home-user-Quince/7efe80ae-a049-50c2-9886-98bf7ca3a04a/scratchpad/assets/cja_attr_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239" y="2029968"/>
            <a:ext cx="4423754" cy="158191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02920" y="3794760"/>
            <a:ext cx="5513832" cy="2423160"/>
          </a:xfrm>
          <a:prstGeom prst="roundRect">
            <a:avLst>
              <a:gd name="adj" fmla="val 226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40080" y="3867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 Cohort Table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4123944"/>
            <a:ext cx="523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Week-2 return: 5.6% for engaged buyers (right) vs 2.1% for all buyers (left); half of engaged returns land in weeks 1–4.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09108" y="4526280"/>
            <a:ext cx="2426837" cy="161848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3" name="Image 3" descr="/tmp/claude-0/-home-user-Quince/7efe80ae-a049-50c2-9886-98bf7ca3a04a/scratchpad/assets/cja_cohort_a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396" y="4544568"/>
            <a:ext cx="2390261" cy="158191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3383728" y="4526280"/>
            <a:ext cx="2426837" cy="161848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5" name="Image 4" descr="/tmp/claude-0/-home-user-Quince/7efe80ae-a049-50c2-9886-98bf7ca3a04a/scratchpad/assets/cja_cohort_e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016" y="4544568"/>
            <a:ext cx="2390261" cy="158191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172200" y="3794760"/>
            <a:ext cx="5513832" cy="2423160"/>
          </a:xfrm>
          <a:prstGeom prst="roundRect">
            <a:avLst>
              <a:gd name="adj" fmla="val 226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309360" y="3867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 Flow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6309360" y="4123944"/>
            <a:ext cx="523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11,610 add-to-cart paths, 6,088 reach checkout and 1 is followed by an email; the rest get no message.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880878" y="4526280"/>
            <a:ext cx="4096477" cy="1618488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30" name="Image 5" descr="/tmp/claude-0/-home-user-Quince/7efe80ae-a049-50c2-9886-98bf7ca3a04a/scratchpad/assets/cja_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9166" y="4544568"/>
            <a:ext cx="4059901" cy="15819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 the Second Purchase</dc:title>
  <dc:subject>PptxGenJS Presentation</dc:subject>
  <dc:creator>Team G27</dc:creator>
  <cp:lastModifiedBy>Team G27</cp:lastModifiedBy>
  <cp:revision>1</cp:revision>
  <dcterms:created xsi:type="dcterms:W3CDTF">2026-10-17T11:30:17Z</dcterms:created>
  <dcterms:modified xsi:type="dcterms:W3CDTF">2026-10-17T11:30:17Z</dcterms:modified>
</cp:coreProperties>
</file>