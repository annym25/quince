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Quince sells premium basics far below branded prices, straight from its factories, and grew on viral social moments. The problem: those first buyers don't come back. Repeat is 24% against 30 to 35% for peers, and CAC rose from $48 to $62 while 60% of the budget rents reach from social platforms. The question: with the same $120M, no price cuts and CJA as evidence, lift repeat 6 points and cut CAC 10%. Our answer blends the three options. Lever 1 captures every buyer into a channel Quince owns; lever 2 wins the first month with care and a second category; lever 3 stops paying for ads that reach buyers Quince can already message. It needs no new money and meets all three constraints. The next slides prove it: the market, the customer data in CJA, the competition, Quince's capabilities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the category is big and moving online, and customers expect to be recognised. Four forces raise the cost of renting reach. Signal loss: only 35 to 50% of iOS users allow tracking, so retargeting sees and proves less. Platforms automate targeting and TikTok's US ownership changed. Reach costs more: Meta's price per ad rose 12% year on year in Q2 2026. Consumers are cautious, with sentiment at a record low. The industry's answer is first-party data, experiments and personalization. Quince is exposed: 60% of its budget is rented social reach, its retargeting is templated, CAC rose 29% and repeat is below peers.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all from CJA. 69% of product viewers never add to cart, and 77% of cart adders never order; only one of 11,610 cart paths is followed next by an email. Buyers who engage with email, SMS or the app repeat at 28.1% versus 4.7%; after order one, app users still repeat 21.5%. Repeat orders peak in week 2, and cashmere, touched by 41% of buyers, repeats least. Yet the budget points the other way: 60% is rented from social platforms and 5% goes to channels Quince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with outside evidence. Amazon's ad business grew 26% to $19.8 billion last quarter: Quince can't win a paid-retargeting auction against it. Shein is the number-two shopping app worldwide, cut US ad spend after the de minimis loophole closed, and is buying Everlane. Everlane shows owned email alone is no moat. Uniqlo and Tapestry use data at scale to win and keep young buyers. Williams-Sonoma both runs a cross-brand loyalty program and sued Quince over dupe comparisons; the case was dismissed but can be refiled, so Quince must earn trust through proof, not comparisons. Cuyana is the closest model. Quince's move: keep its M2C price and build an owned relationship, straight up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the data is ready, because CJA already stitches one person across channels. Three gaps decide execution. Activation: CJA analyses audiences, but pushing them to ad platforms and journeys needs an activation layer. Lifecycle and creative capacity: email is built for batch-and-blast, so Option A's $2 to 3M from inside the owned line funds the team and creative. Coordination: CJA is new, so growth and analytics meet weekly around one holdout rule. The app and shipping-event feeds are partly there and need confirming.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prove the model in 90 days before scaling anything. Four leaks flow into one process. Set up, weeks 1 to 4: an abandoner segment in CJA, the consent split and Passport cards, delivery events linked to each person, and CJA audiences published through Real-Time CDP. Launch, weeks 5 to 8, in the South: cart reminders at one hour and 24 hours, Passport and SMS in every box, care content then a second category by day 21, and suppression with frequency caps. Measure, weeks 9 to 12, against the 10% randomized holdout: cart recovery, opt-ins, 30-day repeat and incremental orders per retargeting dollar. On day 90 we decide: scale what beats the holdout, adjust what is mixed, stop what doesn't. No new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3.png"/><Relationship Id="rId14" Type="http://schemas.openxmlformats.org/officeDocument/2006/relationships/image" Target="../media/image-5-6.png"/><Relationship Id="rId15" Type="http://schemas.openxmlformats.org/officeDocument/2006/relationships/image" Target="../media/image-5-7.png"/><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experienceleague.adobe.com/en/docs/analytics-platform/using/cja-components/audiences/audiences-overview" TargetMode="External"/><Relationship Id="rId3" Type="http://schemas.openxmlformats.org/officeDocument/2006/relationships/hyperlink" Target="https://www.michiganpublic.org/2026-05-22/shein-buys-everlane-which-sold-millennials-the-dream-of-ethical-affordable-luxury" TargetMode="External"/><Relationship Id="rId4" Type="http://schemas.openxmlformats.org/officeDocument/2006/relationships/hyperlink" Target="https://doi.org/10.1287/mksc.2018.1135" TargetMode="External"/><Relationship Id="rId5" Type="http://schemas.openxmlformats.org/officeDocument/2006/relationships/hyperlink" Target="https://doi.org/10.3982/ECTA12423" TargetMode="External"/><Relationship Id="rId6" Type="http://schemas.openxmlformats.org/officeDocument/2006/relationships/hyperlink" Target="https://www.adjust.com/blog/att-opt-in-rates-2025" TargetMode="External"/><Relationship Id="rId7" Type="http://schemas.openxmlformats.org/officeDocument/2006/relationships/hyperlink" Target="https://www.appsflyer.com/company/newsroom/pr/post-att-growth-2/" TargetMode="External"/><Relationship Id="rId8" Type="http://schemas.openxmlformats.org/officeDocument/2006/relationships/hyperlink" Target="https://www.adweek.com/?p=1954104" TargetMode="External"/><Relationship Id="rId9" Type="http://schemas.openxmlformats.org/officeDocument/2006/relationships/hyperlink" Target="https://www.jonloomer.com/advantage-plus-campaign-setup-targeting/" TargetMode="External"/><Relationship Id="rId10" Type="http://schemas.openxmlformats.org/officeDocument/2006/relationships/hyperlink" Target="https://www.theregister.com/2026/01/23/jv_announces_tiktok_us_acquisition/" TargetMode="External"/><Relationship Id="rId11" Type="http://schemas.openxmlformats.org/officeDocument/2006/relationships/hyperlink" Target="https://www.sca.isr.umich.edu/" TargetMode="External"/><Relationship Id="rId12" Type="http://schemas.openxmlformats.org/officeDocument/2006/relationships/hyperlink" Target="https://www.ecotextile.com/?p=63440" TargetMode="External"/><Relationship Id="rId13" Type="http://schemas.openxmlformats.org/officeDocument/2006/relationships/hyperlink" Target="https://ppc.land/amazon-advertising-gains-26-to-19-8-billion-as-sports-inventory-sells-out/" TargetMode="External"/><Relationship Id="rId14" Type="http://schemas.openxmlformats.org/officeDocument/2006/relationships/hyperlink" Target="https://www.nbcnews.com/business/business-news/shein-temu-see-us-demand-plunge-loophole-cheap-goods-closes-rcna211130" TargetMode="External"/><Relationship Id="rId15" Type="http://schemas.openxmlformats.org/officeDocument/2006/relationships/hyperlink" Target="https://news.bloomberglaw.com/mergers-and-acquisitions/e-commerce-giant-shein-buys-apparel-brand-everlane-reports-say" TargetMode="External"/><Relationship Id="rId16" Type="http://schemas.openxmlformats.org/officeDocument/2006/relationships/hyperlink" Target="https://fashionunited.com/news/business/uniqlos-global-expansion-drives-strong-financial-results-for-fast-retailing/2025100968631" TargetMode="External"/><Relationship Id="rId17" Type="http://schemas.openxmlformats.org/officeDocument/2006/relationships/hyperlink" Target="https://www.businesswire.com/news/home/20250814893486/en" TargetMode="External"/><Relationship Id="rId18" Type="http://schemas.openxmlformats.org/officeDocument/2006/relationships/hyperlink" Target="https://www.thefashionlaw.com/quince-beats-williams-sonoma-false-advertising-claims-over-product-comparisons/" TargetMode="External"/><Relationship Id="rId19" Type="http://schemas.openxmlformats.org/officeDocument/2006/relationships/hyperlink" Target="https://fred.stlouisfed.org/series/ECOMPCTSA" TargetMode="External"/><Relationship Id="rId20" Type="http://schemas.openxmlformats.org/officeDocument/2006/relationships/hyperlink" Target="https://www.mckinsey.com/business-functions/growth-marketing-and-sales/our-insights/the-value-of-getting-personalization-right-or-wrong-is-multiplying" TargetMode="External"/><Relationship Id="rId1" Type="http://schemas.openxmlformats.org/officeDocument/2006/relationships/image" Target="../media/image-27-1.png"/><Relationship Id="rId21" Type="http://schemas.openxmlformats.org/officeDocument/2006/relationships/slideLayout" Target="../slideLayouts/slideLayout1.xml"/><Relationship Id="rId2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Quince/7efe80ae-a049-50c2-9886-98bf7ca3a04a/scratchpad/assets/quince_white.png">    </p:cNvPr>
          <p:cNvPicPr>
            <a:picLocks noChangeAspect="1"/>
          </p:cNvPicPr>
          <p:nvPr/>
        </p:nvPicPr>
        <p:blipFill>
          <a:blip r:embed="rId2"/>
          <a:stretch>
            <a:fillRect/>
          </a:stretch>
        </p:blipFill>
        <p:spPr>
          <a:xfrm>
            <a:off x="548640" y="572434"/>
            <a:ext cx="1188720" cy="354749"/>
          </a:xfrm>
          <a:prstGeom prst="rect">
            <a:avLst/>
          </a:prstGeom>
        </p:spPr>
      </p:pic>
      <p:sp>
        <p:nvSpPr>
          <p:cNvPr id="3" name="Text 0"/>
          <p:cNvSpPr txBox="1"/>
          <p:nvPr/>
        </p:nvSpPr>
        <p:spPr>
          <a:xfrm>
            <a:off x="9875520" y="566928"/>
            <a:ext cx="1828800"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Inter" pitchFamily="34" charset="0"/>
                <a:ea typeface="Inter" pitchFamily="34" charset="-122"/>
                <a:cs typeface="Inter" pitchFamily="34" charset="-120"/>
              </a:rPr>
              <a:t>Team G27</a:t>
            </a:r>
            <a:endParaRPr lang="en-US" sz="1300" dirty="0"/>
          </a:p>
        </p:txBody>
      </p:sp>
      <p:sp>
        <p:nvSpPr>
          <p:cNvPr id="4" name="Text 1"/>
          <p:cNvSpPr txBox="1"/>
          <p:nvPr/>
        </p:nvSpPr>
        <p:spPr>
          <a:xfrm>
            <a:off x="640080" y="2331720"/>
            <a:ext cx="10515600" cy="1005840"/>
          </a:xfrm>
          <a:prstGeom prst="rect">
            <a:avLst/>
          </a:prstGeom>
          <a:noFill/>
          <a:ln/>
        </p:spPr>
        <p:txBody>
          <a:bodyPr wrap="square" lIns="0" tIns="0" rIns="0" bIns="0" rtlCol="0" anchor="ctr"/>
          <a:lstStyle/>
          <a:p>
            <a:pPr indent="0" marL="0">
              <a:buNone/>
            </a:pPr>
            <a:r>
              <a:rPr lang="en-US" sz="5000" b="1" dirty="0">
                <a:solidFill>
                  <a:srgbClr val="FFFFFF"/>
                </a:solidFill>
                <a:latin typeface="Inter" pitchFamily="34" charset="0"/>
                <a:ea typeface="Inter" pitchFamily="34" charset="-122"/>
                <a:cs typeface="Inter" pitchFamily="34" charset="-120"/>
              </a:rPr>
              <a:t>Own the Second Purchase</a:t>
            </a:r>
            <a:endParaRPr lang="en-US" sz="5000" dirty="0"/>
          </a:p>
        </p:txBody>
      </p:sp>
      <p:sp>
        <p:nvSpPr>
          <p:cNvPr id="5" name="Text 2"/>
          <p:cNvSpPr txBox="1"/>
          <p:nvPr/>
        </p:nvSpPr>
        <p:spPr>
          <a:xfrm>
            <a:off x="640080" y="3429000"/>
            <a:ext cx="10058400" cy="868680"/>
          </a:xfrm>
          <a:prstGeom prst="rect">
            <a:avLst/>
          </a:prstGeom>
          <a:noFill/>
          <a:ln/>
        </p:spPr>
        <p:txBody>
          <a:bodyPr wrap="square" lIns="0" tIns="0" rIns="0" bIns="0" rtlCol="0" anchor="t"/>
          <a:lstStyle/>
          <a:p>
            <a:pPr indent="0" marL="0">
              <a:buNone/>
            </a:pPr>
            <a:r>
              <a:rPr lang="en-US" sz="2000" dirty="0">
                <a:solidFill>
                  <a:srgbClr val="C7D7F5"/>
                </a:solidFill>
                <a:latin typeface="Inter" pitchFamily="34" charset="0"/>
                <a:ea typeface="Inter" pitchFamily="34" charset="-122"/>
                <a:cs typeface="Inter" pitchFamily="34" charset="-120"/>
              </a:rPr>
              <a:t>Turning viral first buyers into repeat customers, inside the same $120M</a:t>
            </a:r>
            <a:endParaRPr lang="en-US" sz="2000" dirty="0"/>
          </a:p>
        </p:txBody>
      </p:sp>
      <p:sp>
        <p:nvSpPr>
          <p:cNvPr id="6" name="Text 3"/>
          <p:cNvSpPr txBox="1"/>
          <p:nvPr/>
        </p:nvSpPr>
        <p:spPr>
          <a:xfrm>
            <a:off x="640080" y="5806440"/>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Retargeting and lifecycle strategy  ·  Grounded in Adobe Customer Journey Analytics</a:t>
            </a:r>
            <a:endParaRPr lang="en-US" sz="1100" dirty="0"/>
          </a:p>
        </p:txBody>
      </p:sp>
      <p:sp>
        <p:nvSpPr>
          <p:cNvPr id="7" name="Text 4"/>
          <p:cNvSpPr txBox="1"/>
          <p:nvPr/>
        </p:nvSpPr>
        <p:spPr>
          <a:xfrm>
            <a:off x="640080" y="6108192"/>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Case Competition World Cup  ·  Graduate Track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Win the second purchase inside the same $120M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and Exhibits G, I, J; Adobe CJA (A2, A3b, A6, Cohort Table), appendix 9–13.</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a:t>
            </a:r>
            <a:endParaRPr lang="en-US" sz="800" dirty="0"/>
          </a:p>
        </p:txBody>
      </p:sp>
      <p:sp>
        <p:nvSpPr>
          <p:cNvPr id="9" name="Shape 6"/>
          <p:cNvSpPr/>
          <p:nvPr/>
        </p:nvSpPr>
        <p:spPr>
          <a:xfrm>
            <a:off x="502920" y="1207008"/>
            <a:ext cx="3630168" cy="1024128"/>
          </a:xfrm>
          <a:prstGeom prst="roundRect">
            <a:avLst>
              <a:gd name="adj" fmla="val 5357"/>
            </a:avLst>
          </a:prstGeom>
          <a:solidFill>
            <a:srgbClr val="F8FAFC"/>
          </a:solidFill>
          <a:ln w="9525">
            <a:solidFill>
              <a:srgbClr val="E2E8F0"/>
            </a:solidFill>
            <a:prstDash val="solid"/>
          </a:ln>
        </p:spPr>
      </p:sp>
      <p:sp>
        <p:nvSpPr>
          <p:cNvPr id="10" name="Text 7"/>
          <p:cNvSpPr txBox="1"/>
          <p:nvPr/>
        </p:nvSpPr>
        <p:spPr>
          <a:xfrm>
            <a:off x="649224"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company</a:t>
            </a:r>
            <a:endParaRPr lang="en-US" sz="1100" dirty="0"/>
          </a:p>
        </p:txBody>
      </p:sp>
      <p:sp>
        <p:nvSpPr>
          <p:cNvPr id="11" name="Text 8"/>
          <p:cNvSpPr txBox="1"/>
          <p:nvPr/>
        </p:nvSpPr>
        <p:spPr>
          <a:xfrm>
            <a:off x="649224"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Quince sells premium basics 50%+ below branded prices, shipped direct from its factories (M2C). Viral TikTok and Instagram moments made it one of the fastest-growing US apparel brands.</a:t>
            </a:r>
            <a:endParaRPr lang="en-US" sz="950" dirty="0"/>
          </a:p>
        </p:txBody>
      </p:sp>
      <p:sp>
        <p:nvSpPr>
          <p:cNvPr id="12" name="Shape 9"/>
          <p:cNvSpPr/>
          <p:nvPr/>
        </p:nvSpPr>
        <p:spPr>
          <a:xfrm>
            <a:off x="4279392" y="1207008"/>
            <a:ext cx="3630168" cy="1024128"/>
          </a:xfrm>
          <a:prstGeom prst="roundRect">
            <a:avLst>
              <a:gd name="adj" fmla="val 5357"/>
            </a:avLst>
          </a:prstGeom>
          <a:solidFill>
            <a:srgbClr val="F8FAFC"/>
          </a:solidFill>
          <a:ln w="9525">
            <a:solidFill>
              <a:srgbClr val="E2E8F0"/>
            </a:solidFill>
            <a:prstDash val="solid"/>
          </a:ln>
        </p:spPr>
      </p:sp>
      <p:sp>
        <p:nvSpPr>
          <p:cNvPr id="13" name="Text 10"/>
          <p:cNvSpPr txBox="1"/>
          <p:nvPr/>
        </p:nvSpPr>
        <p:spPr>
          <a:xfrm>
            <a:off x="4425696"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problem</a:t>
            </a:r>
            <a:endParaRPr lang="en-US" sz="1100" dirty="0"/>
          </a:p>
        </p:txBody>
      </p:sp>
      <p:sp>
        <p:nvSpPr>
          <p:cNvPr id="14" name="Text 11"/>
          <p:cNvSpPr txBox="1"/>
          <p:nvPr/>
        </p:nvSpPr>
        <p:spPr>
          <a:xfrm>
            <a:off x="4425696"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First buyers don't come back: 90-day repeat is 24% vs 30–35% for peers, while blended CAC rose $48 → $62. 60% of the $120M budget rents reach from social platforms.</a:t>
            </a:r>
            <a:endParaRPr lang="en-US" sz="950" dirty="0"/>
          </a:p>
        </p:txBody>
      </p:sp>
      <p:sp>
        <p:nvSpPr>
          <p:cNvPr id="15" name="Shape 12"/>
          <p:cNvSpPr/>
          <p:nvPr/>
        </p:nvSpPr>
        <p:spPr>
          <a:xfrm>
            <a:off x="8055864" y="1207008"/>
            <a:ext cx="3630168" cy="1024128"/>
          </a:xfrm>
          <a:prstGeom prst="roundRect">
            <a:avLst>
              <a:gd name="adj" fmla="val 5357"/>
            </a:avLst>
          </a:prstGeom>
          <a:solidFill>
            <a:srgbClr val="F8FAFC"/>
          </a:solidFill>
          <a:ln w="9525">
            <a:solidFill>
              <a:srgbClr val="E2E8F0"/>
            </a:solidFill>
            <a:prstDash val="solid"/>
          </a:ln>
        </p:spPr>
      </p:sp>
      <p:sp>
        <p:nvSpPr>
          <p:cNvPr id="16" name="Text 13"/>
          <p:cNvSpPr txBox="1"/>
          <p:nvPr/>
        </p:nvSpPr>
        <p:spPr>
          <a:xfrm>
            <a:off x="8202168"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question</a:t>
            </a:r>
            <a:endParaRPr lang="en-US" sz="1100" dirty="0"/>
          </a:p>
        </p:txBody>
      </p:sp>
      <p:sp>
        <p:nvSpPr>
          <p:cNvPr id="17" name="Text 14"/>
          <p:cNvSpPr txBox="1"/>
          <p:nvPr/>
        </p:nvSpPr>
        <p:spPr>
          <a:xfrm>
            <a:off x="8202168"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With a fixed $120M, no price cuts and Adobe CJA as the evidence base, how does Quince lift repeat by 6+ points and cut CAC by 10%+ in 12–18 months?</a:t>
            </a:r>
            <a:endParaRPr lang="en-US" sz="950" dirty="0"/>
          </a:p>
        </p:txBody>
      </p:sp>
      <p:sp>
        <p:nvSpPr>
          <p:cNvPr id="18" name="Shape 15"/>
          <p:cNvSpPr/>
          <p:nvPr/>
        </p:nvSpPr>
        <p:spPr>
          <a:xfrm>
            <a:off x="502920" y="2322576"/>
            <a:ext cx="11183112" cy="566928"/>
          </a:xfrm>
          <a:prstGeom prst="roundRect">
            <a:avLst>
              <a:gd name="adj" fmla="val 9677"/>
            </a:avLst>
          </a:prstGeom>
          <a:solidFill>
            <a:srgbClr val="EFF6FF"/>
          </a:solidFill>
          <a:ln w="6350">
            <a:solidFill>
              <a:srgbClr val="EFF6FF"/>
            </a:solidFill>
            <a:prstDash val="solid"/>
          </a:ln>
        </p:spPr>
      </p:sp>
      <p:sp>
        <p:nvSpPr>
          <p:cNvPr id="19" name="Shape 16"/>
          <p:cNvSpPr/>
          <p:nvPr/>
        </p:nvSpPr>
        <p:spPr>
          <a:xfrm>
            <a:off x="502920" y="2322576"/>
            <a:ext cx="73152" cy="566928"/>
          </a:xfrm>
          <a:prstGeom prst="rect">
            <a:avLst/>
          </a:prstGeom>
          <a:solidFill>
            <a:srgbClr val="1D4ED8"/>
          </a:solidFill>
          <a:ln w="6350">
            <a:solidFill>
              <a:srgbClr val="1D4ED8"/>
            </a:solidFill>
            <a:prstDash val="solid"/>
          </a:ln>
        </p:spPr>
      </p:sp>
      <p:sp>
        <p:nvSpPr>
          <p:cNvPr id="20" name="Text 17"/>
          <p:cNvSpPr txBox="1"/>
          <p:nvPr/>
        </p:nvSpPr>
        <p:spPr>
          <a:xfrm>
            <a:off x="731520" y="2322576"/>
            <a:ext cx="10881360" cy="566928"/>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We believe in blending the three options: precise paid retargeting (B) starts it, owned lifecycle (A) builds repeat, CJA holdouts (C) decide every budget move</a:t>
            </a:r>
            <a:endParaRPr lang="en-US" sz="1300" dirty="0"/>
          </a:p>
        </p:txBody>
      </p:sp>
      <p:sp>
        <p:nvSpPr>
          <p:cNvPr id="21" name="Shape 18"/>
          <p:cNvSpPr/>
          <p:nvPr/>
        </p:nvSpPr>
        <p:spPr>
          <a:xfrm>
            <a:off x="502920" y="2980944"/>
            <a:ext cx="3630168" cy="1956816"/>
          </a:xfrm>
          <a:prstGeom prst="roundRect">
            <a:avLst>
              <a:gd name="adj" fmla="val 3738"/>
            </a:avLst>
          </a:prstGeom>
          <a:solidFill>
            <a:srgbClr val="FFFFFF"/>
          </a:solidFill>
          <a:ln w="9525">
            <a:solidFill>
              <a:srgbClr val="E2E8F0"/>
            </a:solidFill>
            <a:prstDash val="solid"/>
          </a:ln>
        </p:spPr>
      </p:sp>
      <p:sp>
        <p:nvSpPr>
          <p:cNvPr id="22" name="Shape 19"/>
          <p:cNvSpPr/>
          <p:nvPr/>
        </p:nvSpPr>
        <p:spPr>
          <a:xfrm>
            <a:off x="502920" y="2980944"/>
            <a:ext cx="3630168" cy="384048"/>
          </a:xfrm>
          <a:prstGeom prst="roundRect">
            <a:avLst>
              <a:gd name="adj" fmla="val 19048"/>
            </a:avLst>
          </a:prstGeom>
          <a:solidFill>
            <a:srgbClr val="0A1F44"/>
          </a:solidFill>
          <a:ln w="6350">
            <a:solidFill>
              <a:srgbClr val="0A1F44"/>
            </a:solidFill>
            <a:prstDash val="solid"/>
          </a:ln>
        </p:spPr>
      </p:sp>
      <p:sp>
        <p:nvSpPr>
          <p:cNvPr id="23" name="Shape 20"/>
          <p:cNvSpPr/>
          <p:nvPr/>
        </p:nvSpPr>
        <p:spPr>
          <a:xfrm>
            <a:off x="502920" y="3218688"/>
            <a:ext cx="3630168" cy="146304"/>
          </a:xfrm>
          <a:prstGeom prst="rect">
            <a:avLst/>
          </a:prstGeom>
          <a:solidFill>
            <a:srgbClr val="0A1F44"/>
          </a:solidFill>
          <a:ln w="6350">
            <a:solidFill>
              <a:srgbClr val="0A1F44"/>
            </a:solidFill>
            <a:prstDash val="solid"/>
          </a:ln>
        </p:spPr>
      </p:sp>
      <p:sp>
        <p:nvSpPr>
          <p:cNvPr id="24" name="Text 21"/>
          <p:cNvSpPr txBox="1"/>
          <p:nvPr/>
        </p:nvSpPr>
        <p:spPr>
          <a:xfrm>
            <a:off x="649224"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1  </a:t>
            </a:r>
            <a:pPr indent="0" marL="0">
              <a:buNone/>
            </a:pPr>
            <a:r>
              <a:rPr lang="en-US" sz="1200" b="1" dirty="0">
                <a:solidFill>
                  <a:srgbClr val="FFFFFF"/>
                </a:solidFill>
                <a:latin typeface="Inter" pitchFamily="34" charset="0"/>
                <a:ea typeface="Inter" pitchFamily="34" charset="-122"/>
                <a:cs typeface="Inter" pitchFamily="34" charset="-120"/>
              </a:rPr>
              <a:t>Capture every buyer</a:t>
            </a:r>
            <a:endParaRPr lang="en-US" sz="1200" dirty="0"/>
          </a:p>
        </p:txBody>
      </p:sp>
      <p:sp>
        <p:nvSpPr>
          <p:cNvPr id="25" name="Text 22"/>
          <p:cNvSpPr txBox="1"/>
          <p:nvPr/>
        </p:nvSpPr>
        <p:spPr>
          <a:xfrm>
            <a:off x="649224"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Every buyer into email, SMS or the app</a:t>
            </a:r>
            <a:endParaRPr lang="en-US" sz="1000" dirty="0"/>
          </a:p>
        </p:txBody>
      </p:sp>
      <p:sp>
        <p:nvSpPr>
          <p:cNvPr id="26" name="Shape 23"/>
          <p:cNvSpPr/>
          <p:nvPr/>
        </p:nvSpPr>
        <p:spPr>
          <a:xfrm>
            <a:off x="612648" y="3730752"/>
            <a:ext cx="3410712" cy="512064"/>
          </a:xfrm>
          <a:prstGeom prst="roundRect">
            <a:avLst>
              <a:gd name="adj" fmla="val 10714"/>
            </a:avLst>
          </a:prstGeom>
          <a:solidFill>
            <a:srgbClr val="EFF6FF"/>
          </a:solidFill>
          <a:ln w="6350">
            <a:solidFill>
              <a:srgbClr val="EFF6FF"/>
            </a:solidFill>
            <a:prstDash val="solid"/>
          </a:ln>
        </p:spPr>
      </p:sp>
      <p:sp>
        <p:nvSpPr>
          <p:cNvPr id="27" name="Text 24"/>
          <p:cNvSpPr txBox="1"/>
          <p:nvPr/>
        </p:nvSpPr>
        <p:spPr>
          <a:xfrm>
            <a:off x="704088"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Quince Passport: </a:t>
            </a:r>
            <a:pPr indent="0" marL="0">
              <a:buNone/>
            </a:pPr>
            <a:r>
              <a:rPr lang="en-US" sz="950" dirty="0">
                <a:solidFill>
                  <a:srgbClr val="334155"/>
                </a:solidFill>
                <a:latin typeface="Inter" pitchFamily="34" charset="0"/>
                <a:ea typeface="Inter" pitchFamily="34" charset="-122"/>
                <a:cs typeface="Inter" pitchFamily="34" charset="-120"/>
              </a:rPr>
              <a:t>box card registering each piece for care and restock alerts</a:t>
            </a:r>
            <a:endParaRPr lang="en-US" sz="950" dirty="0"/>
          </a:p>
        </p:txBody>
      </p:sp>
      <p:sp>
        <p:nvSpPr>
          <p:cNvPr id="28" name="Text 25"/>
          <p:cNvSpPr txBox="1"/>
          <p:nvPr/>
        </p:nvSpPr>
        <p:spPr>
          <a:xfrm>
            <a:off x="649224"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Only 24.5% of buyers engage, yet they are 66% of repeaters (A2)</a:t>
            </a:r>
            <a:endParaRPr lang="en-US" sz="950" dirty="0"/>
          </a:p>
        </p:txBody>
      </p:sp>
      <p:sp>
        <p:nvSpPr>
          <p:cNvPr id="29" name="Shape 26"/>
          <p:cNvSpPr/>
          <p:nvPr/>
        </p:nvSpPr>
        <p:spPr>
          <a:xfrm>
            <a:off x="4279392" y="2980944"/>
            <a:ext cx="3630168" cy="1956816"/>
          </a:xfrm>
          <a:prstGeom prst="roundRect">
            <a:avLst>
              <a:gd name="adj" fmla="val 3738"/>
            </a:avLst>
          </a:prstGeom>
          <a:solidFill>
            <a:srgbClr val="FFFFFF"/>
          </a:solidFill>
          <a:ln w="9525">
            <a:solidFill>
              <a:srgbClr val="E2E8F0"/>
            </a:solidFill>
            <a:prstDash val="solid"/>
          </a:ln>
        </p:spPr>
      </p:sp>
      <p:sp>
        <p:nvSpPr>
          <p:cNvPr id="30" name="Shape 27"/>
          <p:cNvSpPr/>
          <p:nvPr/>
        </p:nvSpPr>
        <p:spPr>
          <a:xfrm>
            <a:off x="4279392" y="2980944"/>
            <a:ext cx="3630168" cy="384048"/>
          </a:xfrm>
          <a:prstGeom prst="roundRect">
            <a:avLst>
              <a:gd name="adj" fmla="val 19048"/>
            </a:avLst>
          </a:prstGeom>
          <a:solidFill>
            <a:srgbClr val="0A1F44"/>
          </a:solidFill>
          <a:ln w="6350">
            <a:solidFill>
              <a:srgbClr val="0A1F44"/>
            </a:solidFill>
            <a:prstDash val="solid"/>
          </a:ln>
        </p:spPr>
      </p:sp>
      <p:sp>
        <p:nvSpPr>
          <p:cNvPr id="31" name="Shape 28"/>
          <p:cNvSpPr/>
          <p:nvPr/>
        </p:nvSpPr>
        <p:spPr>
          <a:xfrm>
            <a:off x="4279392" y="3218688"/>
            <a:ext cx="3630168" cy="146304"/>
          </a:xfrm>
          <a:prstGeom prst="rect">
            <a:avLst/>
          </a:prstGeom>
          <a:solidFill>
            <a:srgbClr val="0A1F44"/>
          </a:solidFill>
          <a:ln w="6350">
            <a:solidFill>
              <a:srgbClr val="0A1F44"/>
            </a:solidFill>
            <a:prstDash val="solid"/>
          </a:ln>
        </p:spPr>
      </p:sp>
      <p:sp>
        <p:nvSpPr>
          <p:cNvPr id="32" name="Text 29"/>
          <p:cNvSpPr txBox="1"/>
          <p:nvPr/>
        </p:nvSpPr>
        <p:spPr>
          <a:xfrm>
            <a:off x="4425696"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2  </a:t>
            </a:r>
            <a:pPr indent="0" marL="0">
              <a:buNone/>
            </a:pPr>
            <a:r>
              <a:rPr lang="en-US" sz="1200" b="1" dirty="0">
                <a:solidFill>
                  <a:srgbClr val="FFFFFF"/>
                </a:solidFill>
                <a:latin typeface="Inter" pitchFamily="34" charset="0"/>
                <a:ea typeface="Inter" pitchFamily="34" charset="-122"/>
                <a:cs typeface="Inter" pitchFamily="34" charset="-120"/>
              </a:rPr>
              <a:t>Win the Golden Month</a:t>
            </a:r>
            <a:endParaRPr lang="en-US" sz="1200" dirty="0"/>
          </a:p>
        </p:txBody>
      </p:sp>
      <p:sp>
        <p:nvSpPr>
          <p:cNvPr id="33" name="Text 30"/>
          <p:cNvSpPr txBox="1"/>
          <p:nvPr/>
        </p:nvSpPr>
        <p:spPr>
          <a:xfrm>
            <a:off x="4425696"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Care first, then a second category, weeks 1–4</a:t>
            </a:r>
            <a:endParaRPr lang="en-US" sz="1000" dirty="0"/>
          </a:p>
        </p:txBody>
      </p:sp>
      <p:sp>
        <p:nvSpPr>
          <p:cNvPr id="34" name="Shape 31"/>
          <p:cNvSpPr/>
          <p:nvPr/>
        </p:nvSpPr>
        <p:spPr>
          <a:xfrm>
            <a:off x="4389120" y="3730752"/>
            <a:ext cx="3410712" cy="512064"/>
          </a:xfrm>
          <a:prstGeom prst="roundRect">
            <a:avLst>
              <a:gd name="adj" fmla="val 10714"/>
            </a:avLst>
          </a:prstGeom>
          <a:solidFill>
            <a:srgbClr val="EFF6FF"/>
          </a:solidFill>
          <a:ln w="6350">
            <a:solidFill>
              <a:srgbClr val="EFF6FF"/>
            </a:solidFill>
            <a:prstDash val="solid"/>
          </a:ln>
        </p:spPr>
      </p:sp>
      <p:sp>
        <p:nvSpPr>
          <p:cNvPr id="35" name="Text 32"/>
          <p:cNvSpPr txBox="1"/>
          <p:nvPr/>
        </p:nvSpPr>
        <p:spPr>
          <a:xfrm>
            <a:off x="4480560"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Material Journeys: </a:t>
            </a:r>
            <a:pPr indent="0" marL="0">
              <a:buNone/>
            </a:pPr>
            <a:r>
              <a:rPr lang="en-US" sz="950" dirty="0">
                <a:solidFill>
                  <a:srgbClr val="334155"/>
                </a:solidFill>
                <a:latin typeface="Inter" pitchFamily="34" charset="0"/>
                <a:ea typeface="Inter" pitchFamily="34" charset="-122"/>
                <a:cs typeface="Inter" pitchFamily="34" charset="-120"/>
              </a:rPr>
              <a:t>how the material is made and cared for, then cashmere → home</a:t>
            </a:r>
            <a:endParaRPr lang="en-US" sz="950" dirty="0"/>
          </a:p>
        </p:txBody>
      </p:sp>
      <p:sp>
        <p:nvSpPr>
          <p:cNvPr id="36" name="Text 33"/>
          <p:cNvSpPr txBox="1"/>
          <p:nvPr/>
        </p:nvSpPr>
        <p:spPr>
          <a:xfrm>
            <a:off x="4425696"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Week-2 repeat 5.6% engaged vs 2.1% all; cashmere repeats least, 13.7% (Cohort, A6)</a:t>
            </a:r>
            <a:endParaRPr lang="en-US" sz="950" dirty="0"/>
          </a:p>
        </p:txBody>
      </p:sp>
      <p:sp>
        <p:nvSpPr>
          <p:cNvPr id="37" name="Shape 34"/>
          <p:cNvSpPr/>
          <p:nvPr/>
        </p:nvSpPr>
        <p:spPr>
          <a:xfrm>
            <a:off x="8055864" y="2980944"/>
            <a:ext cx="3630168" cy="1956816"/>
          </a:xfrm>
          <a:prstGeom prst="roundRect">
            <a:avLst>
              <a:gd name="adj" fmla="val 3738"/>
            </a:avLst>
          </a:prstGeom>
          <a:solidFill>
            <a:srgbClr val="FFFFFF"/>
          </a:solidFill>
          <a:ln w="9525">
            <a:solidFill>
              <a:srgbClr val="E2E8F0"/>
            </a:solidFill>
            <a:prstDash val="solid"/>
          </a:ln>
        </p:spPr>
      </p:sp>
      <p:sp>
        <p:nvSpPr>
          <p:cNvPr id="38" name="Shape 35"/>
          <p:cNvSpPr/>
          <p:nvPr/>
        </p:nvSpPr>
        <p:spPr>
          <a:xfrm>
            <a:off x="8055864" y="2980944"/>
            <a:ext cx="3630168" cy="384048"/>
          </a:xfrm>
          <a:prstGeom prst="roundRect">
            <a:avLst>
              <a:gd name="adj" fmla="val 19048"/>
            </a:avLst>
          </a:prstGeom>
          <a:solidFill>
            <a:srgbClr val="0A1F44"/>
          </a:solidFill>
          <a:ln w="6350">
            <a:solidFill>
              <a:srgbClr val="0A1F44"/>
            </a:solidFill>
            <a:prstDash val="solid"/>
          </a:ln>
        </p:spPr>
      </p:sp>
      <p:sp>
        <p:nvSpPr>
          <p:cNvPr id="39" name="Shape 36"/>
          <p:cNvSpPr/>
          <p:nvPr/>
        </p:nvSpPr>
        <p:spPr>
          <a:xfrm>
            <a:off x="8055864" y="3218688"/>
            <a:ext cx="3630168" cy="146304"/>
          </a:xfrm>
          <a:prstGeom prst="rect">
            <a:avLst/>
          </a:prstGeom>
          <a:solidFill>
            <a:srgbClr val="0A1F44"/>
          </a:solidFill>
          <a:ln w="6350">
            <a:solidFill>
              <a:srgbClr val="0A1F44"/>
            </a:solidFill>
            <a:prstDash val="solid"/>
          </a:ln>
        </p:spPr>
      </p:sp>
      <p:sp>
        <p:nvSpPr>
          <p:cNvPr id="40" name="Text 37"/>
          <p:cNvSpPr txBox="1"/>
          <p:nvPr/>
        </p:nvSpPr>
        <p:spPr>
          <a:xfrm>
            <a:off x="8202168"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3  </a:t>
            </a:r>
            <a:pPr indent="0" marL="0">
              <a:buNone/>
            </a:pPr>
            <a:r>
              <a:rPr lang="en-US" sz="1200" b="1" dirty="0">
                <a:solidFill>
                  <a:srgbClr val="FFFFFF"/>
                </a:solidFill>
                <a:latin typeface="Inter" pitchFamily="34" charset="0"/>
                <a:ea typeface="Inter" pitchFamily="34" charset="-122"/>
                <a:cs typeface="Inter" pitchFamily="34" charset="-120"/>
              </a:rPr>
              <a:t>Never pay twice</a:t>
            </a:r>
            <a:endParaRPr lang="en-US" sz="1200" dirty="0"/>
          </a:p>
        </p:txBody>
      </p:sp>
      <p:sp>
        <p:nvSpPr>
          <p:cNvPr id="41" name="Text 38"/>
          <p:cNvSpPr txBox="1"/>
          <p:nvPr/>
        </p:nvSpPr>
        <p:spPr>
          <a:xfrm>
            <a:off x="8202168"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Stop paying for ads that reach buyers Quince can message</a:t>
            </a:r>
            <a:endParaRPr lang="en-US" sz="1000" dirty="0"/>
          </a:p>
        </p:txBody>
      </p:sp>
      <p:sp>
        <p:nvSpPr>
          <p:cNvPr id="42" name="Shape 39"/>
          <p:cNvSpPr/>
          <p:nvPr/>
        </p:nvSpPr>
        <p:spPr>
          <a:xfrm>
            <a:off x="8165592" y="3730752"/>
            <a:ext cx="3410712" cy="512064"/>
          </a:xfrm>
          <a:prstGeom prst="roundRect">
            <a:avLst>
              <a:gd name="adj" fmla="val 10714"/>
            </a:avLst>
          </a:prstGeom>
          <a:solidFill>
            <a:srgbClr val="EFF6FF"/>
          </a:solidFill>
          <a:ln w="6350">
            <a:solidFill>
              <a:srgbClr val="EFF6FF"/>
            </a:solidFill>
            <a:prstDash val="solid"/>
          </a:ln>
        </p:spPr>
      </p:sp>
      <p:sp>
        <p:nvSpPr>
          <p:cNvPr id="43" name="Text 40"/>
          <p:cNvSpPr txBox="1"/>
          <p:nvPr/>
        </p:nvSpPr>
        <p:spPr>
          <a:xfrm>
            <a:off x="8257032"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Never Pay Twice Engine: </a:t>
            </a:r>
            <a:pPr indent="0" marL="0">
              <a:buNone/>
            </a:pPr>
            <a:r>
              <a:rPr lang="en-US" sz="950" dirty="0">
                <a:solidFill>
                  <a:srgbClr val="334155"/>
                </a:solidFill>
                <a:latin typeface="Inter" pitchFamily="34" charset="0"/>
                <a:ea typeface="Inter" pitchFamily="34" charset="-122"/>
                <a:cs typeface="Inter" pitchFamily="34" charset="-120"/>
              </a:rPr>
              <a:t>CJA audiences become daily ad suppression lists</a:t>
            </a:r>
            <a:endParaRPr lang="en-US" sz="950" dirty="0"/>
          </a:p>
        </p:txBody>
      </p:sp>
      <p:sp>
        <p:nvSpPr>
          <p:cNvPr id="44" name="Text 41"/>
          <p:cNvSpPr txBox="1"/>
          <p:nvPr/>
        </p:nvSpPr>
        <p:spPr>
          <a:xfrm>
            <a:off x="8202168"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Retargeted buyers repeat no better than organic: 23.0% vs 23.4% (A3b)</a:t>
            </a:r>
            <a:endParaRPr lang="en-US" sz="950" dirty="0"/>
          </a:p>
        </p:txBody>
      </p:sp>
      <p:sp>
        <p:nvSpPr>
          <p:cNvPr id="45" name="Shape 42"/>
          <p:cNvSpPr/>
          <p:nvPr/>
        </p:nvSpPr>
        <p:spPr>
          <a:xfrm>
            <a:off x="502920" y="5029200"/>
            <a:ext cx="3630168" cy="1261872"/>
          </a:xfrm>
          <a:prstGeom prst="roundRect">
            <a:avLst>
              <a:gd name="adj" fmla="val 5797"/>
            </a:avLst>
          </a:prstGeom>
          <a:solidFill>
            <a:srgbClr val="F8FAFC"/>
          </a:solidFill>
          <a:ln w="9525">
            <a:solidFill>
              <a:srgbClr val="E2E8F0"/>
            </a:solidFill>
            <a:prstDash val="solid"/>
          </a:ln>
        </p:spPr>
      </p:sp>
      <p:sp>
        <p:nvSpPr>
          <p:cNvPr id="46" name="Text 43"/>
          <p:cNvSpPr txBox="1"/>
          <p:nvPr/>
        </p:nvSpPr>
        <p:spPr>
          <a:xfrm>
            <a:off x="649224"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No new money</a:t>
            </a:r>
            <a:endParaRPr lang="en-US" sz="1100" dirty="0"/>
          </a:p>
        </p:txBody>
      </p:sp>
      <p:sp>
        <p:nvSpPr>
          <p:cNvPr id="47" name="Text 44"/>
          <p:cNvSpPr txBox="1"/>
          <p:nvPr/>
        </p:nvSpPr>
        <p:spPr>
          <a:xfrm>
            <a:off x="649224" y="5321808"/>
            <a:ext cx="3355848" cy="914400"/>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A: </a:t>
            </a:r>
            <a:pPr indent="0" marL="0">
              <a:buNone/>
            </a:pPr>
            <a:r>
              <a:rPr lang="en-US" sz="1050" dirty="0">
                <a:solidFill>
                  <a:srgbClr val="0F172A"/>
                </a:solidFill>
                <a:latin typeface="Inter" pitchFamily="34" charset="0"/>
                <a:ea typeface="Inter" pitchFamily="34" charset="-122"/>
                <a:cs typeface="Inter" pitchFamily="34" charset="-120"/>
              </a:rPr>
              <a:t>$2–3M from the $6M owned line</a:t>
            </a:r>
            <a:endParaRPr lang="en-US" sz="1050" dirty="0"/>
          </a:p>
          <a:p>
            <a:pPr indent="0" marL="0">
              <a:buNone/>
            </a:pPr>
            <a:r>
              <a:rPr lang="en-US" sz="1050" b="1" dirty="0">
                <a:solidFill>
                  <a:srgbClr val="1D4ED8"/>
                </a:solidFill>
                <a:latin typeface="Inter" pitchFamily="34" charset="0"/>
                <a:ea typeface="Inter" pitchFamily="34" charset="-122"/>
                <a:cs typeface="Inter" pitchFamily="34" charset="-120"/>
              </a:rPr>
              <a:t>B: </a:t>
            </a:r>
            <a:pPr indent="0" marL="0">
              <a:buNone/>
            </a:pPr>
            <a:r>
              <a:rPr lang="en-US" sz="1050" dirty="0">
                <a:solidFill>
                  <a:srgbClr val="0F172A"/>
                </a:solidFill>
                <a:latin typeface="Inter" pitchFamily="34" charset="0"/>
                <a:ea typeface="Inter" pitchFamily="34" charset="-122"/>
                <a:cs typeface="Inter" pitchFamily="34" charset="-120"/>
              </a:rPr>
              <a:t>inside the $14M retargeting line</a:t>
            </a:r>
            <a:endParaRPr lang="en-US" sz="1050" dirty="0"/>
          </a:p>
          <a:p>
            <a:pPr indent="0" marL="0">
              <a:buNone/>
            </a:pPr>
            <a:r>
              <a:rPr lang="en-US" sz="1050" b="1" dirty="0">
                <a:solidFill>
                  <a:srgbClr val="0F172A"/>
                </a:solidFill>
                <a:latin typeface="Inter" pitchFamily="34" charset="0"/>
                <a:ea typeface="Inter" pitchFamily="34" charset="-122"/>
                <a:cs typeface="Inter" pitchFamily="34" charset="-120"/>
              </a:rPr>
              <a:t>Nothing else moves without a holdout</a:t>
            </a:r>
            <a:endParaRPr lang="en-US" sz="1050" dirty="0"/>
          </a:p>
        </p:txBody>
      </p:sp>
      <p:sp>
        <p:nvSpPr>
          <p:cNvPr id="48" name="Shape 45"/>
          <p:cNvSpPr/>
          <p:nvPr/>
        </p:nvSpPr>
        <p:spPr>
          <a:xfrm>
            <a:off x="4279392" y="5029200"/>
            <a:ext cx="3630168" cy="1261872"/>
          </a:xfrm>
          <a:prstGeom prst="roundRect">
            <a:avLst>
              <a:gd name="adj" fmla="val 5797"/>
            </a:avLst>
          </a:prstGeom>
          <a:solidFill>
            <a:srgbClr val="F8FAFC"/>
          </a:solidFill>
          <a:ln w="9525">
            <a:solidFill>
              <a:srgbClr val="E2E8F0"/>
            </a:solidFill>
            <a:prstDash val="solid"/>
          </a:ln>
        </p:spPr>
      </p:sp>
      <p:sp>
        <p:nvSpPr>
          <p:cNvPr id="49" name="Text 46"/>
          <p:cNvSpPr txBox="1"/>
          <p:nvPr/>
        </p:nvSpPr>
        <p:spPr>
          <a:xfrm>
            <a:off x="4425696"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Impact on the case's targets</a:t>
            </a:r>
            <a:endParaRPr lang="en-US" sz="1100" dirty="0"/>
          </a:p>
        </p:txBody>
      </p:sp>
      <p:sp>
        <p:nvSpPr>
          <p:cNvPr id="50" name="Text 47"/>
          <p:cNvSpPr txBox="1"/>
          <p:nvPr/>
        </p:nvSpPr>
        <p:spPr>
          <a:xfrm>
            <a:off x="4425696" y="5303520"/>
            <a:ext cx="3355848" cy="950976"/>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90-day repeat 24% → 30%+</a:t>
            </a:r>
            <a:endParaRPr lang="en-US" sz="1200" dirty="0"/>
          </a:p>
          <a:p>
            <a:pPr indent="0" marL="0">
              <a:buNone/>
            </a:pPr>
            <a:r>
              <a:rPr lang="en-US" sz="1300" b="1" dirty="0">
                <a:solidFill>
                  <a:srgbClr val="0A1F44"/>
                </a:solidFill>
                <a:latin typeface="Inter" pitchFamily="34" charset="0"/>
                <a:ea typeface="Inter" pitchFamily="34" charset="-122"/>
                <a:cs typeface="Inter" pitchFamily="34" charset="-120"/>
              </a:rPr>
              <a:t>Blended CAC −10% or better</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Needs ~29% of buyers moved into the app, plus category and cart lift (appendix 22)</a:t>
            </a:r>
            <a:endParaRPr lang="en-US" sz="1200" dirty="0"/>
          </a:p>
        </p:txBody>
      </p:sp>
      <p:sp>
        <p:nvSpPr>
          <p:cNvPr id="51" name="Shape 48"/>
          <p:cNvSpPr/>
          <p:nvPr/>
        </p:nvSpPr>
        <p:spPr>
          <a:xfrm>
            <a:off x="8055864" y="5029200"/>
            <a:ext cx="3630168" cy="1261872"/>
          </a:xfrm>
          <a:prstGeom prst="roundRect">
            <a:avLst>
              <a:gd name="adj" fmla="val 5797"/>
            </a:avLst>
          </a:prstGeom>
          <a:solidFill>
            <a:srgbClr val="0A1F44"/>
          </a:solidFill>
          <a:ln w="9525">
            <a:solidFill>
              <a:srgbClr val="0A1F44"/>
            </a:solidFill>
            <a:prstDash val="solid"/>
          </a:ln>
        </p:spPr>
      </p:sp>
      <p:sp>
        <p:nvSpPr>
          <p:cNvPr id="52" name="Text 49"/>
          <p:cNvSpPr txBox="1"/>
          <p:nvPr/>
        </p:nvSpPr>
        <p:spPr>
          <a:xfrm>
            <a:off x="8202168" y="5102352"/>
            <a:ext cx="3355848" cy="201168"/>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All three constraints met</a:t>
            </a:r>
            <a:endParaRPr lang="en-US" sz="1100" dirty="0"/>
          </a:p>
        </p:txBody>
      </p:sp>
      <p:pic>
        <p:nvPicPr>
          <p:cNvPr id="53" name="Image 1" descr="preencoded.png">    </p:cNvPr>
          <p:cNvPicPr>
            <a:picLocks noChangeAspect="1"/>
          </p:cNvPicPr>
          <p:nvPr/>
        </p:nvPicPr>
        <p:blipFill>
          <a:blip r:embed="rId2"/>
          <a:stretch>
            <a:fillRect/>
          </a:stretch>
        </p:blipFill>
        <p:spPr>
          <a:xfrm>
            <a:off x="8202168" y="5413248"/>
            <a:ext cx="201168" cy="201168"/>
          </a:xfrm>
          <a:prstGeom prst="rect">
            <a:avLst/>
          </a:prstGeom>
        </p:spPr>
      </p:pic>
      <p:sp>
        <p:nvSpPr>
          <p:cNvPr id="54" name="Text 50"/>
          <p:cNvSpPr txBox="1"/>
          <p:nvPr/>
        </p:nvSpPr>
        <p:spPr>
          <a:xfrm>
            <a:off x="8476488" y="5367528"/>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budget increase</a:t>
            </a:r>
            <a:endParaRPr lang="en-US" sz="1100" dirty="0"/>
          </a:p>
        </p:txBody>
      </p:sp>
      <p:pic>
        <p:nvPicPr>
          <p:cNvPr id="55" name="Image 2" descr="preencoded.png">    </p:cNvPr>
          <p:cNvPicPr>
            <a:picLocks noChangeAspect="1"/>
          </p:cNvPicPr>
          <p:nvPr/>
        </p:nvPicPr>
        <p:blipFill>
          <a:blip r:embed="rId3"/>
          <a:stretch>
            <a:fillRect/>
          </a:stretch>
        </p:blipFill>
        <p:spPr>
          <a:xfrm>
            <a:off x="8202168" y="5696712"/>
            <a:ext cx="201168" cy="201168"/>
          </a:xfrm>
          <a:prstGeom prst="rect">
            <a:avLst/>
          </a:prstGeom>
        </p:spPr>
      </p:pic>
      <p:sp>
        <p:nvSpPr>
          <p:cNvPr id="56" name="Text 51"/>
          <p:cNvSpPr txBox="1"/>
          <p:nvPr/>
        </p:nvSpPr>
        <p:spPr>
          <a:xfrm>
            <a:off x="8476488" y="5650992"/>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price-led retention</a:t>
            </a:r>
            <a:endParaRPr lang="en-US" sz="1100" dirty="0"/>
          </a:p>
        </p:txBody>
      </p:sp>
      <p:pic>
        <p:nvPicPr>
          <p:cNvPr id="57" name="Image 3" descr="preencoded.png">    </p:cNvPr>
          <p:cNvPicPr>
            <a:picLocks noChangeAspect="1"/>
          </p:cNvPicPr>
          <p:nvPr/>
        </p:nvPicPr>
        <p:blipFill>
          <a:blip r:embed="rId4"/>
          <a:stretch>
            <a:fillRect/>
          </a:stretch>
        </p:blipFill>
        <p:spPr>
          <a:xfrm>
            <a:off x="8202168" y="5980176"/>
            <a:ext cx="201168" cy="201168"/>
          </a:xfrm>
          <a:prstGeom prst="rect">
            <a:avLst/>
          </a:prstGeom>
        </p:spPr>
      </p:pic>
      <p:sp>
        <p:nvSpPr>
          <p:cNvPr id="58" name="Text 52"/>
          <p:cNvSpPr txBox="1"/>
          <p:nvPr/>
        </p:nvSpPr>
        <p:spPr>
          <a:xfrm>
            <a:off x="8476488" y="5934456"/>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Grounded in Adobe CJA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Rented ad platforms get costlier as demand weakens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2, Exhibit B; US Census Bureau (Q2 2026); Adjust (Q2 2025); AppsFlyer (Apr 2025); Google (Apr 2025); Meta Q2 2026 results; TikTok USDS JV (Jan 2026); UMich Surveys of Consumers (2026); Cotton Inc. (Jun 2026); McKinsey (2021); Gordon et al. (2019). Links in appendix 27.</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3</a:t>
            </a:r>
            <a:endParaRPr lang="en-US" sz="800" dirty="0"/>
          </a:p>
        </p:txBody>
      </p:sp>
      <p:sp>
        <p:nvSpPr>
          <p:cNvPr id="9" name="Shape 6"/>
          <p:cNvSpPr/>
          <p:nvPr/>
        </p:nvSpPr>
        <p:spPr>
          <a:xfrm>
            <a:off x="502920" y="1207008"/>
            <a:ext cx="2487168" cy="841248"/>
          </a:xfrm>
          <a:prstGeom prst="roundRect">
            <a:avLst>
              <a:gd name="adj" fmla="val 6522"/>
            </a:avLst>
          </a:prstGeom>
          <a:solidFill>
            <a:srgbClr val="F8FAFC"/>
          </a:solidFill>
          <a:ln w="9525">
            <a:solidFill>
              <a:srgbClr val="E2E8F0"/>
            </a:solidFill>
            <a:prstDash val="solid"/>
          </a:ln>
        </p:spPr>
      </p:sp>
      <p:sp>
        <p:nvSpPr>
          <p:cNvPr id="10" name="Text 7"/>
          <p:cNvSpPr txBox="1"/>
          <p:nvPr/>
        </p:nvSpPr>
        <p:spPr>
          <a:xfrm>
            <a:off x="63093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~$180B</a:t>
            </a:r>
            <a:endParaRPr lang="en-US" sz="1800" dirty="0"/>
          </a:p>
        </p:txBody>
      </p:sp>
      <p:sp>
        <p:nvSpPr>
          <p:cNvPr id="11" name="Text 8"/>
          <p:cNvSpPr txBox="1"/>
          <p:nvPr/>
        </p:nvSpPr>
        <p:spPr>
          <a:xfrm>
            <a:off x="63093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US online apparel, accessories and home; growing mid-single digits (case, illustrative)</a:t>
            </a:r>
            <a:endParaRPr lang="en-US" sz="850" dirty="0"/>
          </a:p>
        </p:txBody>
      </p:sp>
      <p:sp>
        <p:nvSpPr>
          <p:cNvPr id="12" name="Shape 9"/>
          <p:cNvSpPr/>
          <p:nvPr/>
        </p:nvSpPr>
        <p:spPr>
          <a:xfrm>
            <a:off x="3108960" y="1207008"/>
            <a:ext cx="2487168" cy="841248"/>
          </a:xfrm>
          <a:prstGeom prst="roundRect">
            <a:avLst>
              <a:gd name="adj" fmla="val 6522"/>
            </a:avLst>
          </a:prstGeom>
          <a:solidFill>
            <a:srgbClr val="F8FAFC"/>
          </a:solidFill>
          <a:ln w="9525">
            <a:solidFill>
              <a:srgbClr val="E2E8F0"/>
            </a:solidFill>
            <a:prstDash val="solid"/>
          </a:ln>
        </p:spPr>
      </p:sp>
      <p:sp>
        <p:nvSpPr>
          <p:cNvPr id="13" name="Text 10"/>
          <p:cNvSpPr txBox="1"/>
          <p:nvPr/>
        </p:nvSpPr>
        <p:spPr>
          <a:xfrm>
            <a:off x="323697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17.1%</a:t>
            </a:r>
            <a:endParaRPr lang="en-US" sz="1800" dirty="0"/>
          </a:p>
        </p:txBody>
      </p:sp>
      <p:sp>
        <p:nvSpPr>
          <p:cNvPr id="14" name="Text 11"/>
          <p:cNvSpPr txBox="1"/>
          <p:nvPr/>
        </p:nvSpPr>
        <p:spPr>
          <a:xfrm>
            <a:off x="323697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US retail sales were online in Q2 2026; e-commerce grew 12.2% vs 6.7% for all retail (Census)</a:t>
            </a:r>
            <a:endParaRPr lang="en-US" sz="850" dirty="0"/>
          </a:p>
        </p:txBody>
      </p:sp>
      <p:sp>
        <p:nvSpPr>
          <p:cNvPr id="15" name="Shape 12"/>
          <p:cNvSpPr/>
          <p:nvPr/>
        </p:nvSpPr>
        <p:spPr>
          <a:xfrm>
            <a:off x="5715000" y="1207008"/>
            <a:ext cx="2487168" cy="841248"/>
          </a:xfrm>
          <a:prstGeom prst="roundRect">
            <a:avLst>
              <a:gd name="adj" fmla="val 6522"/>
            </a:avLst>
          </a:prstGeom>
          <a:solidFill>
            <a:srgbClr val="F8FAFC"/>
          </a:solidFill>
          <a:ln w="9525">
            <a:solidFill>
              <a:srgbClr val="E2E8F0"/>
            </a:solidFill>
            <a:prstDash val="solid"/>
          </a:ln>
        </p:spPr>
      </p:sp>
      <p:sp>
        <p:nvSpPr>
          <p:cNvPr id="16" name="Text 13"/>
          <p:cNvSpPr txBox="1"/>
          <p:nvPr/>
        </p:nvSpPr>
        <p:spPr>
          <a:xfrm>
            <a:off x="584301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71%</a:t>
            </a:r>
            <a:endParaRPr lang="en-US" sz="1800" dirty="0"/>
          </a:p>
        </p:txBody>
      </p:sp>
      <p:sp>
        <p:nvSpPr>
          <p:cNvPr id="17" name="Text 14"/>
          <p:cNvSpPr txBox="1"/>
          <p:nvPr/>
        </p:nvSpPr>
        <p:spPr>
          <a:xfrm>
            <a:off x="584301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consumers expect personalized interactions; 76% are frustrated without them (McKinsey)</a:t>
            </a:r>
            <a:endParaRPr lang="en-US" sz="850" dirty="0"/>
          </a:p>
        </p:txBody>
      </p:sp>
      <p:sp>
        <p:nvSpPr>
          <p:cNvPr id="18" name="Text 15"/>
          <p:cNvSpPr txBox="1"/>
          <p:nvPr/>
        </p:nvSpPr>
        <p:spPr>
          <a:xfrm>
            <a:off x="502920" y="2157984"/>
            <a:ext cx="7498080" cy="256032"/>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Four forces reshaping how DTC brands reach customers</a:t>
            </a:r>
            <a:endParaRPr lang="en-US" sz="1200" dirty="0"/>
          </a:p>
        </p:txBody>
      </p:sp>
      <p:sp>
        <p:nvSpPr>
          <p:cNvPr id="19" name="Shape 16"/>
          <p:cNvSpPr/>
          <p:nvPr/>
        </p:nvSpPr>
        <p:spPr>
          <a:xfrm>
            <a:off x="502920" y="2487168"/>
            <a:ext cx="3685032" cy="1828800"/>
          </a:xfrm>
          <a:prstGeom prst="roundRect">
            <a:avLst>
              <a:gd name="adj" fmla="val 4000"/>
            </a:avLst>
          </a:prstGeom>
          <a:solidFill>
            <a:srgbClr val="FFFFFF"/>
          </a:solidFill>
          <a:ln w="9525">
            <a:solidFill>
              <a:srgbClr val="E2E8F0"/>
            </a:solidFill>
            <a:prstDash val="solid"/>
          </a:ln>
        </p:spPr>
      </p:sp>
      <p:sp>
        <p:nvSpPr>
          <p:cNvPr id="20" name="Shape 17"/>
          <p:cNvSpPr/>
          <p:nvPr/>
        </p:nvSpPr>
        <p:spPr>
          <a:xfrm>
            <a:off x="630936" y="2596896"/>
            <a:ext cx="365760" cy="365760"/>
          </a:xfrm>
          <a:prstGeom prst="ellipse">
            <a:avLst/>
          </a:prstGeom>
          <a:solidFill>
            <a:srgbClr val="EFF6FF"/>
          </a:solidFill>
          <a:ln w="6350">
            <a:solidFill>
              <a:srgbClr val="EFF6FF"/>
            </a:solidFill>
            <a:prstDash val="solid"/>
          </a:ln>
        </p:spPr>
      </p:sp>
      <p:pic>
        <p:nvPicPr>
          <p:cNvPr id="21" name="Image 1" descr="preencoded.png">    </p:cNvPr>
          <p:cNvPicPr>
            <a:picLocks noChangeAspect="1"/>
          </p:cNvPicPr>
          <p:nvPr/>
        </p:nvPicPr>
        <p:blipFill>
          <a:blip r:embed="rId2"/>
          <a:stretch>
            <a:fillRect/>
          </a:stretch>
        </p:blipFill>
        <p:spPr>
          <a:xfrm>
            <a:off x="711403" y="2677363"/>
            <a:ext cx="204826" cy="204826"/>
          </a:xfrm>
          <a:prstGeom prst="rect">
            <a:avLst/>
          </a:prstGeom>
        </p:spPr>
      </p:pic>
      <p:sp>
        <p:nvSpPr>
          <p:cNvPr id="22" name="Text 18"/>
          <p:cNvSpPr txBox="1"/>
          <p:nvPr/>
        </p:nvSpPr>
        <p:spPr>
          <a:xfrm>
            <a:off x="1088136"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Signal loss</a:t>
            </a:r>
            <a:endParaRPr lang="en-US" sz="1250" dirty="0"/>
          </a:p>
        </p:txBody>
      </p:sp>
      <p:sp>
        <p:nvSpPr>
          <p:cNvPr id="23" name="Text 19"/>
          <p:cNvSpPr txBox="1"/>
          <p:nvPr/>
        </p:nvSpPr>
        <p:spPr>
          <a:xfrm>
            <a:off x="649224"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Only 35–50% of iOS users allow tracking (Adjust; AppsFlyer)</a:t>
            </a:r>
            <a:endParaRPr lang="en-US" sz="1100" dirty="0"/>
          </a:p>
        </p:txBody>
      </p:sp>
      <p:sp>
        <p:nvSpPr>
          <p:cNvPr id="24" name="Shape 20"/>
          <p:cNvSpPr/>
          <p:nvPr/>
        </p:nvSpPr>
        <p:spPr>
          <a:xfrm>
            <a:off x="612648" y="3858768"/>
            <a:ext cx="3465576" cy="347472"/>
          </a:xfrm>
          <a:prstGeom prst="roundRect">
            <a:avLst>
              <a:gd name="adj" fmla="val 15789"/>
            </a:avLst>
          </a:prstGeom>
          <a:solidFill>
            <a:srgbClr val="EFF6FF"/>
          </a:solidFill>
          <a:ln w="6350">
            <a:solidFill>
              <a:srgbClr val="EFF6FF"/>
            </a:solidFill>
            <a:prstDash val="solid"/>
          </a:ln>
        </p:spPr>
      </p:sp>
      <p:sp>
        <p:nvSpPr>
          <p:cNvPr id="25" name="Text 21"/>
          <p:cNvSpPr txBox="1"/>
          <p:nvPr/>
        </p:nvSpPr>
        <p:spPr>
          <a:xfrm>
            <a:off x="704088"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Retargeting sees, and proves, less</a:t>
            </a:r>
            <a:endParaRPr lang="en-US" sz="1000" dirty="0"/>
          </a:p>
        </p:txBody>
      </p:sp>
      <p:sp>
        <p:nvSpPr>
          <p:cNvPr id="26" name="Shape 22"/>
          <p:cNvSpPr/>
          <p:nvPr/>
        </p:nvSpPr>
        <p:spPr>
          <a:xfrm>
            <a:off x="4315968" y="2487168"/>
            <a:ext cx="3685032" cy="1828800"/>
          </a:xfrm>
          <a:prstGeom prst="roundRect">
            <a:avLst>
              <a:gd name="adj" fmla="val 4000"/>
            </a:avLst>
          </a:prstGeom>
          <a:solidFill>
            <a:srgbClr val="FFFFFF"/>
          </a:solidFill>
          <a:ln w="9525">
            <a:solidFill>
              <a:srgbClr val="E2E8F0"/>
            </a:solidFill>
            <a:prstDash val="solid"/>
          </a:ln>
        </p:spPr>
      </p:sp>
      <p:sp>
        <p:nvSpPr>
          <p:cNvPr id="27" name="Shape 23"/>
          <p:cNvSpPr/>
          <p:nvPr/>
        </p:nvSpPr>
        <p:spPr>
          <a:xfrm>
            <a:off x="4443984" y="2596896"/>
            <a:ext cx="365760" cy="365760"/>
          </a:xfrm>
          <a:prstGeom prst="ellipse">
            <a:avLst/>
          </a:prstGeom>
          <a:solidFill>
            <a:srgbClr val="EFF6FF"/>
          </a:solidFill>
          <a:ln w="6350">
            <a:solidFill>
              <a:srgbClr val="EFF6FF"/>
            </a:solidFill>
            <a:prstDash val="solid"/>
          </a:ln>
        </p:spPr>
      </p:sp>
      <p:pic>
        <p:nvPicPr>
          <p:cNvPr id="28" name="Image 2" descr="preencoded.png">    </p:cNvPr>
          <p:cNvPicPr>
            <a:picLocks noChangeAspect="1"/>
          </p:cNvPicPr>
          <p:nvPr/>
        </p:nvPicPr>
        <p:blipFill>
          <a:blip r:embed="rId3"/>
          <a:stretch>
            <a:fillRect/>
          </a:stretch>
        </p:blipFill>
        <p:spPr>
          <a:xfrm>
            <a:off x="4524451" y="2677363"/>
            <a:ext cx="204826" cy="204826"/>
          </a:xfrm>
          <a:prstGeom prst="rect">
            <a:avLst/>
          </a:prstGeom>
        </p:spPr>
      </p:pic>
      <p:sp>
        <p:nvSpPr>
          <p:cNvPr id="29" name="Text 24"/>
          <p:cNvSpPr txBox="1"/>
          <p:nvPr/>
        </p:nvSpPr>
        <p:spPr>
          <a:xfrm>
            <a:off x="4901184"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Platforms automate</a:t>
            </a:r>
            <a:endParaRPr lang="en-US" sz="1250" dirty="0"/>
          </a:p>
        </p:txBody>
      </p:sp>
      <p:sp>
        <p:nvSpPr>
          <p:cNvPr id="30" name="Text 25"/>
          <p:cNvSpPr txBox="1"/>
          <p:nvPr/>
        </p:nvSpPr>
        <p:spPr>
          <a:xfrm>
            <a:off x="4462272"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defaults to Advantage+; TikTok US has new owners (2026)</a:t>
            </a:r>
            <a:endParaRPr lang="en-US" sz="1100" dirty="0"/>
          </a:p>
        </p:txBody>
      </p:sp>
      <p:sp>
        <p:nvSpPr>
          <p:cNvPr id="31" name="Shape 26"/>
          <p:cNvSpPr/>
          <p:nvPr/>
        </p:nvSpPr>
        <p:spPr>
          <a:xfrm>
            <a:off x="4425696" y="3858768"/>
            <a:ext cx="3465576" cy="347472"/>
          </a:xfrm>
          <a:prstGeom prst="roundRect">
            <a:avLst>
              <a:gd name="adj" fmla="val 15789"/>
            </a:avLst>
          </a:prstGeom>
          <a:solidFill>
            <a:srgbClr val="EFF6FF"/>
          </a:solidFill>
          <a:ln w="6350">
            <a:solidFill>
              <a:srgbClr val="EFF6FF"/>
            </a:solidFill>
            <a:prstDash val="solid"/>
          </a:ln>
        </p:spPr>
      </p:sp>
      <p:sp>
        <p:nvSpPr>
          <p:cNvPr id="32" name="Text 27"/>
          <p:cNvSpPr txBox="1"/>
          <p:nvPr/>
        </p:nvSpPr>
        <p:spPr>
          <a:xfrm>
            <a:off x="4517136"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Less control, more platform risk</a:t>
            </a:r>
            <a:endParaRPr lang="en-US" sz="1000" dirty="0"/>
          </a:p>
        </p:txBody>
      </p:sp>
      <p:sp>
        <p:nvSpPr>
          <p:cNvPr id="33" name="Shape 28"/>
          <p:cNvSpPr/>
          <p:nvPr/>
        </p:nvSpPr>
        <p:spPr>
          <a:xfrm>
            <a:off x="502920" y="4425696"/>
            <a:ext cx="3685032" cy="1828800"/>
          </a:xfrm>
          <a:prstGeom prst="roundRect">
            <a:avLst>
              <a:gd name="adj" fmla="val 4000"/>
            </a:avLst>
          </a:prstGeom>
          <a:solidFill>
            <a:srgbClr val="FFFFFF"/>
          </a:solidFill>
          <a:ln w="9525">
            <a:solidFill>
              <a:srgbClr val="E2E8F0"/>
            </a:solidFill>
            <a:prstDash val="solid"/>
          </a:ln>
        </p:spPr>
      </p:sp>
      <p:sp>
        <p:nvSpPr>
          <p:cNvPr id="34" name="Shape 29"/>
          <p:cNvSpPr/>
          <p:nvPr/>
        </p:nvSpPr>
        <p:spPr>
          <a:xfrm>
            <a:off x="630936" y="4535424"/>
            <a:ext cx="365760" cy="365760"/>
          </a:xfrm>
          <a:prstGeom prst="ellipse">
            <a:avLst/>
          </a:prstGeom>
          <a:solidFill>
            <a:srgbClr val="EFF6FF"/>
          </a:solidFill>
          <a:ln w="6350">
            <a:solidFill>
              <a:srgbClr val="EFF6FF"/>
            </a:solidFill>
            <a:prstDash val="solid"/>
          </a:ln>
        </p:spPr>
      </p:sp>
      <p:pic>
        <p:nvPicPr>
          <p:cNvPr id="35" name="Image 3" descr="preencoded.png">    </p:cNvPr>
          <p:cNvPicPr>
            <a:picLocks noChangeAspect="1"/>
          </p:cNvPicPr>
          <p:nvPr/>
        </p:nvPicPr>
        <p:blipFill>
          <a:blip r:embed="rId4"/>
          <a:stretch>
            <a:fillRect/>
          </a:stretch>
        </p:blipFill>
        <p:spPr>
          <a:xfrm>
            <a:off x="711403" y="4615891"/>
            <a:ext cx="204826" cy="204826"/>
          </a:xfrm>
          <a:prstGeom prst="rect">
            <a:avLst/>
          </a:prstGeom>
        </p:spPr>
      </p:pic>
      <p:sp>
        <p:nvSpPr>
          <p:cNvPr id="36" name="Text 30"/>
          <p:cNvSpPr txBox="1"/>
          <p:nvPr/>
        </p:nvSpPr>
        <p:spPr>
          <a:xfrm>
            <a:off x="1088136"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Reach costs more</a:t>
            </a:r>
            <a:endParaRPr lang="en-US" sz="1250" dirty="0"/>
          </a:p>
        </p:txBody>
      </p:sp>
      <p:sp>
        <p:nvSpPr>
          <p:cNvPr id="37" name="Text 31"/>
          <p:cNvSpPr txBox="1"/>
          <p:nvPr/>
        </p:nvSpPr>
        <p:spPr>
          <a:xfrm>
            <a:off x="649224"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price per ad +12% year on year (Q2 2026)</a:t>
            </a:r>
            <a:endParaRPr lang="en-US" sz="1100" dirty="0"/>
          </a:p>
        </p:txBody>
      </p:sp>
      <p:sp>
        <p:nvSpPr>
          <p:cNvPr id="38" name="Shape 32"/>
          <p:cNvSpPr/>
          <p:nvPr/>
        </p:nvSpPr>
        <p:spPr>
          <a:xfrm>
            <a:off x="612648" y="5797296"/>
            <a:ext cx="3465576" cy="347472"/>
          </a:xfrm>
          <a:prstGeom prst="roundRect">
            <a:avLst>
              <a:gd name="adj" fmla="val 15789"/>
            </a:avLst>
          </a:prstGeom>
          <a:solidFill>
            <a:srgbClr val="EFF6FF"/>
          </a:solidFill>
          <a:ln w="6350">
            <a:solidFill>
              <a:srgbClr val="EFF6FF"/>
            </a:solidFill>
            <a:prstDash val="solid"/>
          </a:ln>
        </p:spPr>
      </p:sp>
      <p:sp>
        <p:nvSpPr>
          <p:cNvPr id="39" name="Text 33"/>
          <p:cNvSpPr txBox="1"/>
          <p:nvPr/>
        </p:nvSpPr>
        <p:spPr>
          <a:xfrm>
            <a:off x="704088"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new customer is dearer</a:t>
            </a:r>
            <a:endParaRPr lang="en-US" sz="1000" dirty="0"/>
          </a:p>
        </p:txBody>
      </p:sp>
      <p:sp>
        <p:nvSpPr>
          <p:cNvPr id="40" name="Shape 34"/>
          <p:cNvSpPr/>
          <p:nvPr/>
        </p:nvSpPr>
        <p:spPr>
          <a:xfrm>
            <a:off x="4315968" y="4425696"/>
            <a:ext cx="3685032" cy="1828800"/>
          </a:xfrm>
          <a:prstGeom prst="roundRect">
            <a:avLst>
              <a:gd name="adj" fmla="val 4000"/>
            </a:avLst>
          </a:prstGeom>
          <a:solidFill>
            <a:srgbClr val="FFFFFF"/>
          </a:solidFill>
          <a:ln w="9525">
            <a:solidFill>
              <a:srgbClr val="E2E8F0"/>
            </a:solidFill>
            <a:prstDash val="solid"/>
          </a:ln>
        </p:spPr>
      </p:sp>
      <p:sp>
        <p:nvSpPr>
          <p:cNvPr id="41" name="Shape 35"/>
          <p:cNvSpPr/>
          <p:nvPr/>
        </p:nvSpPr>
        <p:spPr>
          <a:xfrm>
            <a:off x="4443984" y="4535424"/>
            <a:ext cx="365760" cy="365760"/>
          </a:xfrm>
          <a:prstGeom prst="ellipse">
            <a:avLst/>
          </a:prstGeom>
          <a:solidFill>
            <a:srgbClr val="EFF6FF"/>
          </a:solidFill>
          <a:ln w="6350">
            <a:solidFill>
              <a:srgbClr val="EFF6FF"/>
            </a:solidFill>
            <a:prstDash val="solid"/>
          </a:ln>
        </p:spPr>
      </p:sp>
      <p:pic>
        <p:nvPicPr>
          <p:cNvPr id="42" name="Image 4" descr="preencoded.png">    </p:cNvPr>
          <p:cNvPicPr>
            <a:picLocks noChangeAspect="1"/>
          </p:cNvPicPr>
          <p:nvPr/>
        </p:nvPicPr>
        <p:blipFill>
          <a:blip r:embed="rId5"/>
          <a:stretch>
            <a:fillRect/>
          </a:stretch>
        </p:blipFill>
        <p:spPr>
          <a:xfrm>
            <a:off x="4524451" y="4615891"/>
            <a:ext cx="204826" cy="204826"/>
          </a:xfrm>
          <a:prstGeom prst="rect">
            <a:avLst/>
          </a:prstGeom>
        </p:spPr>
      </p:pic>
      <p:sp>
        <p:nvSpPr>
          <p:cNvPr id="43" name="Text 36"/>
          <p:cNvSpPr txBox="1"/>
          <p:nvPr/>
        </p:nvSpPr>
        <p:spPr>
          <a:xfrm>
            <a:off x="4901184"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Cautious consumer</a:t>
            </a:r>
            <a:endParaRPr lang="en-US" sz="1250" dirty="0"/>
          </a:p>
        </p:txBody>
      </p:sp>
      <p:sp>
        <p:nvSpPr>
          <p:cNvPr id="44" name="Text 37"/>
          <p:cNvSpPr txBox="1"/>
          <p:nvPr/>
        </p:nvSpPr>
        <p:spPr>
          <a:xfrm>
            <a:off x="4462272"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Sentiment at a record low in 2026 (UMich); tariffs lift prices</a:t>
            </a:r>
            <a:endParaRPr lang="en-US" sz="1100" dirty="0"/>
          </a:p>
        </p:txBody>
      </p:sp>
      <p:sp>
        <p:nvSpPr>
          <p:cNvPr id="45" name="Shape 38"/>
          <p:cNvSpPr/>
          <p:nvPr/>
        </p:nvSpPr>
        <p:spPr>
          <a:xfrm>
            <a:off x="4425696" y="5797296"/>
            <a:ext cx="3465576" cy="347472"/>
          </a:xfrm>
          <a:prstGeom prst="roundRect">
            <a:avLst>
              <a:gd name="adj" fmla="val 15789"/>
            </a:avLst>
          </a:prstGeom>
          <a:solidFill>
            <a:srgbClr val="EFF6FF"/>
          </a:solidFill>
          <a:ln w="6350">
            <a:solidFill>
              <a:srgbClr val="EFF6FF"/>
            </a:solidFill>
            <a:prstDash val="solid"/>
          </a:ln>
        </p:spPr>
      </p:sp>
      <p:sp>
        <p:nvSpPr>
          <p:cNvPr id="46" name="Text 39"/>
          <p:cNvSpPr txBox="1"/>
          <p:nvPr/>
        </p:nvSpPr>
        <p:spPr>
          <a:xfrm>
            <a:off x="4517136"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buyer kept matters more</a:t>
            </a:r>
            <a:endParaRPr lang="en-US" sz="1000" dirty="0"/>
          </a:p>
        </p:txBody>
      </p:sp>
      <p:sp>
        <p:nvSpPr>
          <p:cNvPr id="47" name="Text 40"/>
          <p:cNvSpPr txBox="1"/>
          <p:nvPr/>
        </p:nvSpPr>
        <p:spPr>
          <a:xfrm>
            <a:off x="8275320" y="1207008"/>
            <a:ext cx="34107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The industry's answer</a:t>
            </a:r>
            <a:endParaRPr lang="en-US" sz="1250" dirty="0"/>
          </a:p>
        </p:txBody>
      </p:sp>
      <p:sp>
        <p:nvSpPr>
          <p:cNvPr id="48" name="Text 41"/>
          <p:cNvSpPr txBox="1"/>
          <p:nvPr/>
        </p:nvSpPr>
        <p:spPr>
          <a:xfrm>
            <a:off x="8275320" y="1481328"/>
            <a:ext cx="34107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Case Exhibit B; McKinsey; Gordon et al.</a:t>
            </a:r>
            <a:endParaRPr lang="en-US" sz="950" dirty="0"/>
          </a:p>
        </p:txBody>
      </p:sp>
      <p:sp>
        <p:nvSpPr>
          <p:cNvPr id="49" name="Shape 42"/>
          <p:cNvSpPr/>
          <p:nvPr/>
        </p:nvSpPr>
        <p:spPr>
          <a:xfrm>
            <a:off x="8275320" y="1819656"/>
            <a:ext cx="329184" cy="329184"/>
          </a:xfrm>
          <a:prstGeom prst="ellipse">
            <a:avLst/>
          </a:prstGeom>
          <a:solidFill>
            <a:srgbClr val="EFF6FF"/>
          </a:solidFill>
          <a:ln w="6350">
            <a:solidFill>
              <a:srgbClr val="EFF6FF"/>
            </a:solidFill>
            <a:prstDash val="solid"/>
          </a:ln>
        </p:spPr>
      </p:sp>
      <p:pic>
        <p:nvPicPr>
          <p:cNvPr id="50" name="Image 5" descr="preencoded.png">    </p:cNvPr>
          <p:cNvPicPr>
            <a:picLocks noChangeAspect="1"/>
          </p:cNvPicPr>
          <p:nvPr/>
        </p:nvPicPr>
        <p:blipFill>
          <a:blip r:embed="rId6"/>
          <a:stretch>
            <a:fillRect/>
          </a:stretch>
        </p:blipFill>
        <p:spPr>
          <a:xfrm>
            <a:off x="8347740" y="1892076"/>
            <a:ext cx="184343" cy="184343"/>
          </a:xfrm>
          <a:prstGeom prst="rect">
            <a:avLst/>
          </a:prstGeom>
        </p:spPr>
      </p:pic>
      <p:sp>
        <p:nvSpPr>
          <p:cNvPr id="51" name="Text 43"/>
          <p:cNvSpPr txBox="1"/>
          <p:nvPr/>
        </p:nvSpPr>
        <p:spPr>
          <a:xfrm>
            <a:off x="8695944" y="1783080"/>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First-party data wins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Own the customer, escape signal loss</a:t>
            </a:r>
            <a:endParaRPr lang="en-US" sz="1050" dirty="0"/>
          </a:p>
        </p:txBody>
      </p:sp>
      <p:sp>
        <p:nvSpPr>
          <p:cNvPr id="52" name="Shape 44"/>
          <p:cNvSpPr/>
          <p:nvPr/>
        </p:nvSpPr>
        <p:spPr>
          <a:xfrm>
            <a:off x="8275320" y="2496312"/>
            <a:ext cx="329184" cy="329184"/>
          </a:xfrm>
          <a:prstGeom prst="ellipse">
            <a:avLst/>
          </a:prstGeom>
          <a:solidFill>
            <a:srgbClr val="EFF6FF"/>
          </a:solidFill>
          <a:ln w="6350">
            <a:solidFill>
              <a:srgbClr val="EFF6FF"/>
            </a:solidFill>
            <a:prstDash val="solid"/>
          </a:ln>
        </p:spPr>
      </p:sp>
      <p:pic>
        <p:nvPicPr>
          <p:cNvPr id="53" name="Image 6" descr="preencoded.png">    </p:cNvPr>
          <p:cNvPicPr>
            <a:picLocks noChangeAspect="1"/>
          </p:cNvPicPr>
          <p:nvPr/>
        </p:nvPicPr>
        <p:blipFill>
          <a:blip r:embed="rId7"/>
          <a:stretch>
            <a:fillRect/>
          </a:stretch>
        </p:blipFill>
        <p:spPr>
          <a:xfrm>
            <a:off x="8347740" y="2568732"/>
            <a:ext cx="184343" cy="184343"/>
          </a:xfrm>
          <a:prstGeom prst="rect">
            <a:avLst/>
          </a:prstGeom>
        </p:spPr>
      </p:pic>
      <p:sp>
        <p:nvSpPr>
          <p:cNvPr id="54" name="Text 45"/>
          <p:cNvSpPr txBox="1"/>
          <p:nvPr/>
        </p:nvSpPr>
        <p:spPr>
          <a:xfrm>
            <a:off x="8695944" y="2459736"/>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Measure by experiment</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Attribution can miss true lift (Gordon)</a:t>
            </a:r>
            <a:endParaRPr lang="en-US" sz="1050" dirty="0"/>
          </a:p>
        </p:txBody>
      </p:sp>
      <p:sp>
        <p:nvSpPr>
          <p:cNvPr id="55" name="Shape 46"/>
          <p:cNvSpPr/>
          <p:nvPr/>
        </p:nvSpPr>
        <p:spPr>
          <a:xfrm>
            <a:off x="8275320" y="3172968"/>
            <a:ext cx="329184" cy="329184"/>
          </a:xfrm>
          <a:prstGeom prst="ellipse">
            <a:avLst/>
          </a:prstGeom>
          <a:solidFill>
            <a:srgbClr val="EFF6FF"/>
          </a:solidFill>
          <a:ln w="6350">
            <a:solidFill>
              <a:srgbClr val="EFF6FF"/>
            </a:solidFill>
            <a:prstDash val="solid"/>
          </a:ln>
        </p:spPr>
      </p:sp>
      <p:pic>
        <p:nvPicPr>
          <p:cNvPr id="56" name="Image 7" descr="preencoded.png">    </p:cNvPr>
          <p:cNvPicPr>
            <a:picLocks noChangeAspect="1"/>
          </p:cNvPicPr>
          <p:nvPr/>
        </p:nvPicPr>
        <p:blipFill>
          <a:blip r:embed="rId8"/>
          <a:stretch>
            <a:fillRect/>
          </a:stretch>
        </p:blipFill>
        <p:spPr>
          <a:xfrm>
            <a:off x="8347740" y="3245388"/>
            <a:ext cx="184343" cy="184343"/>
          </a:xfrm>
          <a:prstGeom prst="rect">
            <a:avLst/>
          </a:prstGeom>
        </p:spPr>
      </p:pic>
      <p:sp>
        <p:nvSpPr>
          <p:cNvPr id="57" name="Text 47"/>
          <p:cNvSpPr txBox="1"/>
          <p:nvPr/>
        </p:nvSpPr>
        <p:spPr>
          <a:xfrm>
            <a:off x="8695944" y="3136392"/>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Personalize the journey</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Leaders earn 40% more from it (McKinsey)</a:t>
            </a:r>
            <a:endParaRPr lang="en-US" sz="1050" dirty="0"/>
          </a:p>
        </p:txBody>
      </p:sp>
      <p:sp>
        <p:nvSpPr>
          <p:cNvPr id="58" name="Shape 48"/>
          <p:cNvSpPr/>
          <p:nvPr/>
        </p:nvSpPr>
        <p:spPr>
          <a:xfrm>
            <a:off x="8275320" y="3849624"/>
            <a:ext cx="329184" cy="329184"/>
          </a:xfrm>
          <a:prstGeom prst="ellipse">
            <a:avLst/>
          </a:prstGeom>
          <a:solidFill>
            <a:srgbClr val="EFF6FF"/>
          </a:solidFill>
          <a:ln w="6350">
            <a:solidFill>
              <a:srgbClr val="EFF6FF"/>
            </a:solidFill>
            <a:prstDash val="solid"/>
          </a:ln>
        </p:spPr>
      </p:sp>
      <p:pic>
        <p:nvPicPr>
          <p:cNvPr id="59" name="Image 8" descr="preencoded.png">    </p:cNvPr>
          <p:cNvPicPr>
            <a:picLocks noChangeAspect="1"/>
          </p:cNvPicPr>
          <p:nvPr/>
        </p:nvPicPr>
        <p:blipFill>
          <a:blip r:embed="rId9"/>
          <a:stretch>
            <a:fillRect/>
          </a:stretch>
        </p:blipFill>
        <p:spPr>
          <a:xfrm>
            <a:off x="8347740" y="3922044"/>
            <a:ext cx="184343" cy="184343"/>
          </a:xfrm>
          <a:prstGeom prst="rect">
            <a:avLst/>
          </a:prstGeom>
        </p:spPr>
      </p:pic>
      <p:sp>
        <p:nvSpPr>
          <p:cNvPr id="60" name="Text 49"/>
          <p:cNvSpPr txBox="1"/>
          <p:nvPr/>
        </p:nvSpPr>
        <p:spPr>
          <a:xfrm>
            <a:off x="8695944" y="3813048"/>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Privacy tightens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CCPA limits how identity is unified</a:t>
            </a:r>
            <a:endParaRPr lang="en-US" sz="1050" dirty="0"/>
          </a:p>
        </p:txBody>
      </p:sp>
      <p:sp>
        <p:nvSpPr>
          <p:cNvPr id="61" name="Shape 50"/>
          <p:cNvSpPr/>
          <p:nvPr/>
        </p:nvSpPr>
        <p:spPr>
          <a:xfrm>
            <a:off x="8275320" y="4553712"/>
            <a:ext cx="3410712" cy="1700784"/>
          </a:xfrm>
          <a:prstGeom prst="roundRect">
            <a:avLst>
              <a:gd name="adj" fmla="val 3226"/>
            </a:avLst>
          </a:prstGeom>
          <a:solidFill>
            <a:srgbClr val="0A1F44"/>
          </a:solidFill>
          <a:ln w="6350">
            <a:solidFill>
              <a:srgbClr val="0A1F44"/>
            </a:solidFill>
            <a:prstDash val="solid"/>
          </a:ln>
        </p:spPr>
      </p:sp>
      <p:sp>
        <p:nvSpPr>
          <p:cNvPr id="62" name="Text 51"/>
          <p:cNvSpPr txBox="1"/>
          <p:nvPr/>
        </p:nvSpPr>
        <p:spPr>
          <a:xfrm>
            <a:off x="8403336" y="4553712"/>
            <a:ext cx="3191256" cy="1700784"/>
          </a:xfrm>
          <a:prstGeom prst="rect">
            <a:avLst/>
          </a:prstGeom>
          <a:noFill/>
          <a:ln/>
        </p:spPr>
        <p:txBody>
          <a:bodyPr wrap="square" lIns="0" tIns="0" rIns="0" bIns="0" rtlCol="0" anchor="ctr"/>
          <a:lstStyle/>
          <a:p>
            <a:pPr indent="0" marL="0">
              <a:spcAft>
                <a:spcPts val="300"/>
              </a:spcAft>
              <a:buNone/>
            </a:pPr>
            <a:r>
              <a:rPr lang="en-US" sz="1150" b="1" dirty="0">
                <a:solidFill>
                  <a:srgbClr val="FFFFFF"/>
                </a:solidFill>
                <a:latin typeface="Inter" pitchFamily="34" charset="0"/>
                <a:ea typeface="Inter" pitchFamily="34" charset="-122"/>
                <a:cs typeface="Inter" pitchFamily="34" charset="-120"/>
              </a:rPr>
              <a:t>Where Quince is exposed</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60% of the $120M sits on Meta, TikTok and Pinterest (Exhibit G)</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Retargeting is templated ads; email is batch-and-blast (case s. 1)</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CAC $48 → $62 (+29%); repeat 24% vs 30–35% (case s.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rents reach, then loses most shoppers at the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 Jan–30 Apr 2026 (Fallout A1, segments A2/A5, Flow A4, Cohort Table, A6), appendix 9–13; case Exhibits A, D, G. CJA repeat covers ~3 months, so it is used for relative gaps, not vs the case's 24%.</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4</a:t>
            </a:r>
            <a:endParaRPr lang="en-US" sz="800" dirty="0"/>
          </a:p>
        </p:txBody>
      </p:sp>
      <p:sp>
        <p:nvSpPr>
          <p:cNvPr id="9" name="Text 6"/>
          <p:cNvSpPr txBox="1"/>
          <p:nvPr/>
        </p:nvSpPr>
        <p:spPr>
          <a:xfrm>
            <a:off x="502920" y="1234440"/>
            <a:ext cx="42062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Where the funnel breaks</a:t>
            </a:r>
            <a:endParaRPr lang="en-US" sz="1250" dirty="0"/>
          </a:p>
        </p:txBody>
      </p:sp>
      <p:sp>
        <p:nvSpPr>
          <p:cNvPr id="10" name="Text 7"/>
          <p:cNvSpPr txBox="1"/>
          <p:nvPr/>
        </p:nvSpPr>
        <p:spPr>
          <a:xfrm>
            <a:off x="502920" y="1508760"/>
            <a:ext cx="42062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People at each step (Fallout)</a:t>
            </a:r>
            <a:endParaRPr lang="en-US" sz="950" dirty="0"/>
          </a:p>
        </p:txBody>
      </p:sp>
      <p:sp>
        <p:nvSpPr>
          <p:cNvPr id="11" name="Shape 8"/>
          <p:cNvSpPr/>
          <p:nvPr/>
        </p:nvSpPr>
        <p:spPr>
          <a:xfrm>
            <a:off x="594360" y="2103120"/>
            <a:ext cx="566928" cy="1965960"/>
          </a:xfrm>
          <a:prstGeom prst="rect">
            <a:avLst/>
          </a:prstGeom>
          <a:solidFill>
            <a:srgbClr val="93B4F5"/>
          </a:solidFill>
          <a:ln w="6350">
            <a:solidFill>
              <a:srgbClr val="93B4F5"/>
            </a:solidFill>
            <a:prstDash val="solid"/>
          </a:ln>
        </p:spPr>
      </p:sp>
      <p:sp>
        <p:nvSpPr>
          <p:cNvPr id="12" name="Text 9"/>
          <p:cNvSpPr txBox="1"/>
          <p:nvPr/>
        </p:nvSpPr>
        <p:spPr>
          <a:xfrm>
            <a:off x="411480" y="188366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60,000</a:t>
            </a:r>
            <a:endParaRPr lang="en-US" sz="900" dirty="0"/>
          </a:p>
        </p:txBody>
      </p:sp>
      <p:sp>
        <p:nvSpPr>
          <p:cNvPr id="13" name="Text 10"/>
          <p:cNvSpPr txBox="1"/>
          <p:nvPr/>
        </p:nvSpPr>
        <p:spPr>
          <a:xfrm>
            <a:off x="41148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Landing</a:t>
            </a:r>
            <a:endParaRPr lang="en-US" sz="900" dirty="0"/>
          </a:p>
        </p:txBody>
      </p:sp>
      <p:sp>
        <p:nvSpPr>
          <p:cNvPr id="14" name="Shape 11"/>
          <p:cNvSpPr/>
          <p:nvPr/>
        </p:nvSpPr>
        <p:spPr>
          <a:xfrm>
            <a:off x="1417320" y="2871216"/>
            <a:ext cx="566928" cy="1197864"/>
          </a:xfrm>
          <a:prstGeom prst="rect">
            <a:avLst/>
          </a:prstGeom>
          <a:solidFill>
            <a:srgbClr val="93B4F5"/>
          </a:solidFill>
          <a:ln w="6350">
            <a:solidFill>
              <a:srgbClr val="93B4F5"/>
            </a:solidFill>
            <a:prstDash val="solid"/>
          </a:ln>
        </p:spPr>
      </p:sp>
      <p:sp>
        <p:nvSpPr>
          <p:cNvPr id="15" name="Text 12"/>
          <p:cNvSpPr txBox="1"/>
          <p:nvPr/>
        </p:nvSpPr>
        <p:spPr>
          <a:xfrm>
            <a:off x="1234440" y="265176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36,566</a:t>
            </a:r>
            <a:endParaRPr lang="en-US" sz="900" dirty="0"/>
          </a:p>
        </p:txBody>
      </p:sp>
      <p:sp>
        <p:nvSpPr>
          <p:cNvPr id="16" name="Text 13"/>
          <p:cNvSpPr txBox="1"/>
          <p:nvPr/>
        </p:nvSpPr>
        <p:spPr>
          <a:xfrm>
            <a:off x="123444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Product</a:t>
            </a:r>
            <a:endParaRPr lang="en-US" sz="900" dirty="0"/>
          </a:p>
        </p:txBody>
      </p:sp>
      <p:sp>
        <p:nvSpPr>
          <p:cNvPr id="17" name="Shape 14"/>
          <p:cNvSpPr/>
          <p:nvPr/>
        </p:nvSpPr>
        <p:spPr>
          <a:xfrm>
            <a:off x="2240280" y="3694176"/>
            <a:ext cx="566928" cy="374904"/>
          </a:xfrm>
          <a:prstGeom prst="rect">
            <a:avLst/>
          </a:prstGeom>
          <a:solidFill>
            <a:srgbClr val="1D4ED8"/>
          </a:solidFill>
          <a:ln w="6350">
            <a:solidFill>
              <a:srgbClr val="1D4ED8"/>
            </a:solidFill>
            <a:prstDash val="solid"/>
          </a:ln>
        </p:spPr>
      </p:sp>
      <p:sp>
        <p:nvSpPr>
          <p:cNvPr id="18" name="Text 15"/>
          <p:cNvSpPr txBox="1"/>
          <p:nvPr/>
        </p:nvSpPr>
        <p:spPr>
          <a:xfrm>
            <a:off x="2057400" y="347472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11,339</a:t>
            </a:r>
            <a:endParaRPr lang="en-US" sz="900" dirty="0"/>
          </a:p>
        </p:txBody>
      </p:sp>
      <p:sp>
        <p:nvSpPr>
          <p:cNvPr id="19" name="Text 16"/>
          <p:cNvSpPr txBox="1"/>
          <p:nvPr/>
        </p:nvSpPr>
        <p:spPr>
          <a:xfrm>
            <a:off x="205740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Cart</a:t>
            </a:r>
            <a:endParaRPr lang="en-US" sz="900" dirty="0"/>
          </a:p>
        </p:txBody>
      </p:sp>
      <p:sp>
        <p:nvSpPr>
          <p:cNvPr id="20" name="Shape 17"/>
          <p:cNvSpPr/>
          <p:nvPr/>
        </p:nvSpPr>
        <p:spPr>
          <a:xfrm>
            <a:off x="3063240" y="3877056"/>
            <a:ext cx="566928" cy="192024"/>
          </a:xfrm>
          <a:prstGeom prst="rect">
            <a:avLst/>
          </a:prstGeom>
          <a:solidFill>
            <a:srgbClr val="1D4ED8"/>
          </a:solidFill>
          <a:ln w="6350">
            <a:solidFill>
              <a:srgbClr val="1D4ED8"/>
            </a:solidFill>
            <a:prstDash val="solid"/>
          </a:ln>
        </p:spPr>
      </p:sp>
      <p:sp>
        <p:nvSpPr>
          <p:cNvPr id="21" name="Text 18"/>
          <p:cNvSpPr txBox="1"/>
          <p:nvPr/>
        </p:nvSpPr>
        <p:spPr>
          <a:xfrm>
            <a:off x="2880360" y="365760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5,818</a:t>
            </a:r>
            <a:endParaRPr lang="en-US" sz="900" dirty="0"/>
          </a:p>
        </p:txBody>
      </p:sp>
      <p:sp>
        <p:nvSpPr>
          <p:cNvPr id="22" name="Text 19"/>
          <p:cNvSpPr txBox="1"/>
          <p:nvPr/>
        </p:nvSpPr>
        <p:spPr>
          <a:xfrm>
            <a:off x="288036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Checkout</a:t>
            </a:r>
            <a:endParaRPr lang="en-US" sz="900" dirty="0"/>
          </a:p>
        </p:txBody>
      </p:sp>
      <p:sp>
        <p:nvSpPr>
          <p:cNvPr id="23" name="Shape 20"/>
          <p:cNvSpPr/>
          <p:nvPr/>
        </p:nvSpPr>
        <p:spPr>
          <a:xfrm>
            <a:off x="3886200" y="3977640"/>
            <a:ext cx="566928" cy="91440"/>
          </a:xfrm>
          <a:prstGeom prst="rect">
            <a:avLst/>
          </a:prstGeom>
          <a:solidFill>
            <a:srgbClr val="1D4ED8"/>
          </a:solidFill>
          <a:ln w="6350">
            <a:solidFill>
              <a:srgbClr val="1D4ED8"/>
            </a:solidFill>
            <a:prstDash val="solid"/>
          </a:ln>
        </p:spPr>
      </p:sp>
      <p:sp>
        <p:nvSpPr>
          <p:cNvPr id="24" name="Text 21"/>
          <p:cNvSpPr txBox="1"/>
          <p:nvPr/>
        </p:nvSpPr>
        <p:spPr>
          <a:xfrm>
            <a:off x="3703320" y="375818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2,592</a:t>
            </a:r>
            <a:endParaRPr lang="en-US" sz="900" dirty="0"/>
          </a:p>
        </p:txBody>
      </p:sp>
      <p:sp>
        <p:nvSpPr>
          <p:cNvPr id="25" name="Text 22"/>
          <p:cNvSpPr txBox="1"/>
          <p:nvPr/>
        </p:nvSpPr>
        <p:spPr>
          <a:xfrm>
            <a:off x="370332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Order</a:t>
            </a:r>
            <a:endParaRPr lang="en-US" sz="900" dirty="0"/>
          </a:p>
        </p:txBody>
      </p:sp>
      <p:sp>
        <p:nvSpPr>
          <p:cNvPr id="26" name="Shape 23"/>
          <p:cNvSpPr/>
          <p:nvPr/>
        </p:nvSpPr>
        <p:spPr>
          <a:xfrm>
            <a:off x="502920" y="4069080"/>
            <a:ext cx="4206240" cy="0"/>
          </a:xfrm>
          <a:prstGeom prst="line">
            <a:avLst/>
          </a:prstGeom>
          <a:noFill/>
          <a:ln w="12700">
            <a:solidFill>
              <a:srgbClr val="0F172A"/>
            </a:solidFill>
            <a:prstDash val="solid"/>
          </a:ln>
        </p:spPr>
      </p:sp>
      <p:sp>
        <p:nvSpPr>
          <p:cNvPr id="27" name="Shape 24"/>
          <p:cNvSpPr/>
          <p:nvPr/>
        </p:nvSpPr>
        <p:spPr>
          <a:xfrm>
            <a:off x="2020824" y="2560320"/>
            <a:ext cx="502920" cy="0"/>
          </a:xfrm>
          <a:prstGeom prst="line">
            <a:avLst/>
          </a:prstGeom>
          <a:noFill/>
          <a:ln w="15875">
            <a:solidFill>
              <a:srgbClr val="DC2626"/>
            </a:solidFill>
            <a:prstDash val="solid"/>
          </a:ln>
        </p:spPr>
      </p:sp>
      <p:sp>
        <p:nvSpPr>
          <p:cNvPr id="28" name="Shape 25"/>
          <p:cNvSpPr/>
          <p:nvPr/>
        </p:nvSpPr>
        <p:spPr>
          <a:xfrm>
            <a:off x="2020824" y="2560320"/>
            <a:ext cx="0" cy="91440"/>
          </a:xfrm>
          <a:prstGeom prst="line">
            <a:avLst/>
          </a:prstGeom>
          <a:noFill/>
          <a:ln w="15875">
            <a:solidFill>
              <a:srgbClr val="DC2626"/>
            </a:solidFill>
            <a:prstDash val="solid"/>
          </a:ln>
        </p:spPr>
      </p:sp>
      <p:sp>
        <p:nvSpPr>
          <p:cNvPr id="29" name="Shape 26"/>
          <p:cNvSpPr/>
          <p:nvPr/>
        </p:nvSpPr>
        <p:spPr>
          <a:xfrm>
            <a:off x="2523744" y="2560320"/>
            <a:ext cx="0" cy="91440"/>
          </a:xfrm>
          <a:prstGeom prst="line">
            <a:avLst/>
          </a:prstGeom>
          <a:noFill/>
          <a:ln w="15875">
            <a:solidFill>
              <a:srgbClr val="DC2626"/>
            </a:solidFill>
            <a:prstDash val="solid"/>
          </a:ln>
        </p:spPr>
      </p:sp>
      <p:sp>
        <p:nvSpPr>
          <p:cNvPr id="30" name="Shape 27"/>
          <p:cNvSpPr/>
          <p:nvPr/>
        </p:nvSpPr>
        <p:spPr>
          <a:xfrm>
            <a:off x="1979676" y="2331720"/>
            <a:ext cx="585216" cy="228600"/>
          </a:xfrm>
          <a:prstGeom prst="roundRect">
            <a:avLst>
              <a:gd name="adj" fmla="val 48000"/>
            </a:avLst>
          </a:prstGeom>
          <a:solidFill>
            <a:srgbClr val="DC2626"/>
          </a:solidFill>
          <a:ln w="6350">
            <a:solidFill>
              <a:srgbClr val="DC2626"/>
            </a:solidFill>
            <a:prstDash val="solid"/>
          </a:ln>
        </p:spPr>
      </p:sp>
      <p:sp>
        <p:nvSpPr>
          <p:cNvPr id="31" name="Text 28"/>
          <p:cNvSpPr txBox="1"/>
          <p:nvPr/>
        </p:nvSpPr>
        <p:spPr>
          <a:xfrm>
            <a:off x="1979676" y="233172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−69%</a:t>
            </a:r>
            <a:endParaRPr lang="en-US" sz="950" dirty="0"/>
          </a:p>
        </p:txBody>
      </p:sp>
      <p:sp>
        <p:nvSpPr>
          <p:cNvPr id="32" name="Shape 29"/>
          <p:cNvSpPr/>
          <p:nvPr/>
        </p:nvSpPr>
        <p:spPr>
          <a:xfrm>
            <a:off x="2523744" y="3337560"/>
            <a:ext cx="1645920" cy="0"/>
          </a:xfrm>
          <a:prstGeom prst="line">
            <a:avLst/>
          </a:prstGeom>
          <a:noFill/>
          <a:ln w="15875">
            <a:solidFill>
              <a:srgbClr val="DC2626"/>
            </a:solidFill>
            <a:prstDash val="solid"/>
          </a:ln>
        </p:spPr>
      </p:sp>
      <p:sp>
        <p:nvSpPr>
          <p:cNvPr id="33" name="Shape 30"/>
          <p:cNvSpPr/>
          <p:nvPr/>
        </p:nvSpPr>
        <p:spPr>
          <a:xfrm>
            <a:off x="2523744" y="3337560"/>
            <a:ext cx="0" cy="91440"/>
          </a:xfrm>
          <a:prstGeom prst="line">
            <a:avLst/>
          </a:prstGeom>
          <a:noFill/>
          <a:ln w="15875">
            <a:solidFill>
              <a:srgbClr val="DC2626"/>
            </a:solidFill>
            <a:prstDash val="solid"/>
          </a:ln>
        </p:spPr>
      </p:sp>
      <p:sp>
        <p:nvSpPr>
          <p:cNvPr id="34" name="Shape 31"/>
          <p:cNvSpPr/>
          <p:nvPr/>
        </p:nvSpPr>
        <p:spPr>
          <a:xfrm>
            <a:off x="4169664" y="3337560"/>
            <a:ext cx="0" cy="91440"/>
          </a:xfrm>
          <a:prstGeom prst="line">
            <a:avLst/>
          </a:prstGeom>
          <a:noFill/>
          <a:ln w="15875">
            <a:solidFill>
              <a:srgbClr val="DC2626"/>
            </a:solidFill>
            <a:prstDash val="solid"/>
          </a:ln>
        </p:spPr>
      </p:sp>
      <p:sp>
        <p:nvSpPr>
          <p:cNvPr id="35" name="Shape 32"/>
          <p:cNvSpPr/>
          <p:nvPr/>
        </p:nvSpPr>
        <p:spPr>
          <a:xfrm>
            <a:off x="3054096" y="3108960"/>
            <a:ext cx="585216" cy="228600"/>
          </a:xfrm>
          <a:prstGeom prst="roundRect">
            <a:avLst>
              <a:gd name="adj" fmla="val 48000"/>
            </a:avLst>
          </a:prstGeom>
          <a:solidFill>
            <a:srgbClr val="DC2626"/>
          </a:solidFill>
          <a:ln w="6350">
            <a:solidFill>
              <a:srgbClr val="DC2626"/>
            </a:solidFill>
            <a:prstDash val="solid"/>
          </a:ln>
        </p:spPr>
      </p:sp>
      <p:sp>
        <p:nvSpPr>
          <p:cNvPr id="36" name="Text 33"/>
          <p:cNvSpPr txBox="1"/>
          <p:nvPr/>
        </p:nvSpPr>
        <p:spPr>
          <a:xfrm>
            <a:off x="3054096" y="310896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−77%</a:t>
            </a:r>
            <a:endParaRPr lang="en-US" sz="950" dirty="0"/>
          </a:p>
        </p:txBody>
      </p:sp>
      <p:sp>
        <p:nvSpPr>
          <p:cNvPr id="37" name="Shape 34"/>
          <p:cNvSpPr/>
          <p:nvPr/>
        </p:nvSpPr>
        <p:spPr>
          <a:xfrm>
            <a:off x="1481328" y="1755648"/>
            <a:ext cx="3227832" cy="566928"/>
          </a:xfrm>
          <a:prstGeom prst="roundRect">
            <a:avLst>
              <a:gd name="adj" fmla="val 9677"/>
            </a:avLst>
          </a:prstGeom>
          <a:solidFill>
            <a:srgbClr val="FFFFFF"/>
          </a:solidFill>
          <a:ln w="12700">
            <a:solidFill>
              <a:srgbClr val="94A3B8"/>
            </a:solidFill>
            <a:prstDash val="solid"/>
          </a:ln>
        </p:spPr>
      </p:sp>
      <p:sp>
        <p:nvSpPr>
          <p:cNvPr id="38" name="Text 35"/>
          <p:cNvSpPr txBox="1"/>
          <p:nvPr/>
        </p:nvSpPr>
        <p:spPr>
          <a:xfrm>
            <a:off x="1572768" y="1755648"/>
            <a:ext cx="3090672"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Price signals quality: </a:t>
            </a:r>
            <a:pPr indent="0" marL="0">
              <a:buNone/>
            </a:pPr>
            <a:r>
              <a:rPr lang="en-US" sz="900" dirty="0">
                <a:solidFill>
                  <a:srgbClr val="0F172A"/>
                </a:solidFill>
                <a:latin typeface="Inter" pitchFamily="34" charset="0"/>
                <a:ea typeface="Inter" pitchFamily="34" charset="-122"/>
                <a:cs typeface="Inter" pitchFamily="34" charset="-120"/>
              </a:rPr>
              <a:t>cashmere at half price can feel too good to be true (hypothesis)</a:t>
            </a:r>
            <a:endParaRPr lang="en-US" sz="900" dirty="0"/>
          </a:p>
        </p:txBody>
      </p:sp>
      <p:sp>
        <p:nvSpPr>
          <p:cNvPr id="39" name="Shape 36"/>
          <p:cNvSpPr/>
          <p:nvPr/>
        </p:nvSpPr>
        <p:spPr>
          <a:xfrm>
            <a:off x="502920" y="4343400"/>
            <a:ext cx="4206240" cy="411480"/>
          </a:xfrm>
          <a:prstGeom prst="roundRect">
            <a:avLst>
              <a:gd name="adj" fmla="val 13333"/>
            </a:avLst>
          </a:prstGeom>
          <a:solidFill>
            <a:srgbClr val="EFF6FF"/>
          </a:solidFill>
          <a:ln w="6350">
            <a:solidFill>
              <a:srgbClr val="EFF6FF"/>
            </a:solidFill>
            <a:prstDash val="solid"/>
          </a:ln>
        </p:spPr>
      </p:sp>
      <p:sp>
        <p:nvSpPr>
          <p:cNvPr id="40" name="Text 37"/>
          <p:cNvSpPr txBox="1"/>
          <p:nvPr/>
        </p:nvSpPr>
        <p:spPr>
          <a:xfrm>
            <a:off x="621792" y="4343400"/>
            <a:ext cx="4023360" cy="41148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Only 1 </a:t>
            </a:r>
            <a:pPr indent="0" marL="0">
              <a:buNone/>
            </a:pPr>
            <a:r>
              <a:rPr lang="en-US" sz="950" dirty="0">
                <a:solidFill>
                  <a:srgbClr val="0A1F44"/>
                </a:solidFill>
                <a:latin typeface="Inter" pitchFamily="34" charset="0"/>
                <a:ea typeface="Inter" pitchFamily="34" charset="-122"/>
                <a:cs typeface="Inter" pitchFamily="34" charset="-120"/>
              </a:rPr>
              <a:t>of ~5,500 cart paths that stop before checkout gets an email next (Flow)</a:t>
            </a:r>
            <a:endParaRPr lang="en-US" sz="950" dirty="0"/>
          </a:p>
        </p:txBody>
      </p:sp>
      <p:sp>
        <p:nvSpPr>
          <p:cNvPr id="41" name="Shape 38"/>
          <p:cNvSpPr/>
          <p:nvPr/>
        </p:nvSpPr>
        <p:spPr>
          <a:xfrm>
            <a:off x="4892040" y="1280160"/>
            <a:ext cx="0" cy="3474720"/>
          </a:xfrm>
          <a:prstGeom prst="line">
            <a:avLst/>
          </a:prstGeom>
          <a:noFill/>
          <a:ln w="9525">
            <a:solidFill>
              <a:srgbClr val="E2E8F0"/>
            </a:solidFill>
            <a:prstDash val="solid"/>
          </a:ln>
        </p:spPr>
      </p:sp>
      <p:sp>
        <p:nvSpPr>
          <p:cNvPr id="42" name="Text 39"/>
          <p:cNvSpPr txBox="1"/>
          <p:nvPr/>
        </p:nvSpPr>
        <p:spPr>
          <a:xfrm>
            <a:off x="5074920" y="1234440"/>
            <a:ext cx="32918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Who comes back</a:t>
            </a:r>
            <a:endParaRPr lang="en-US" sz="1250" dirty="0"/>
          </a:p>
        </p:txBody>
      </p:sp>
      <p:sp>
        <p:nvSpPr>
          <p:cNvPr id="43" name="Text 40"/>
          <p:cNvSpPr txBox="1"/>
          <p:nvPr/>
        </p:nvSpPr>
        <p:spPr>
          <a:xfrm>
            <a:off x="5074920" y="1508760"/>
            <a:ext cx="32918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rate in the CJA window</a:t>
            </a:r>
            <a:endParaRPr lang="en-US" sz="950" dirty="0"/>
          </a:p>
        </p:txBody>
      </p:sp>
      <p:sp>
        <p:nvSpPr>
          <p:cNvPr id="44" name="Text 41"/>
          <p:cNvSpPr txBox="1"/>
          <p:nvPr/>
        </p:nvSpPr>
        <p:spPr>
          <a:xfrm>
            <a:off x="5074920" y="1783080"/>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Engaged with email, SMS or app (A2)</a:t>
            </a:r>
            <a:endParaRPr lang="en-US" sz="900" dirty="0"/>
          </a:p>
        </p:txBody>
      </p:sp>
      <p:sp>
        <p:nvSpPr>
          <p:cNvPr id="45" name="Shape 42"/>
          <p:cNvSpPr/>
          <p:nvPr/>
        </p:nvSpPr>
        <p:spPr>
          <a:xfrm>
            <a:off x="5074920" y="1993392"/>
            <a:ext cx="2331720" cy="201168"/>
          </a:xfrm>
          <a:prstGeom prst="rect">
            <a:avLst/>
          </a:prstGeom>
          <a:solidFill>
            <a:srgbClr val="1D4ED8"/>
          </a:solidFill>
          <a:ln w="6350">
            <a:solidFill>
              <a:srgbClr val="1D4ED8"/>
            </a:solidFill>
            <a:prstDash val="solid"/>
          </a:ln>
        </p:spPr>
      </p:sp>
      <p:sp>
        <p:nvSpPr>
          <p:cNvPr id="46" name="Text 43"/>
          <p:cNvSpPr txBox="1"/>
          <p:nvPr/>
        </p:nvSpPr>
        <p:spPr>
          <a:xfrm>
            <a:off x="7479792" y="1947672"/>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28.1%</a:t>
            </a:r>
            <a:endParaRPr lang="en-US" sz="1000" dirty="0"/>
          </a:p>
        </p:txBody>
      </p:sp>
      <p:sp>
        <p:nvSpPr>
          <p:cNvPr id="47" name="Text 44"/>
          <p:cNvSpPr txBox="1"/>
          <p:nvPr/>
        </p:nvSpPr>
        <p:spPr>
          <a:xfrm>
            <a:off x="5074920" y="2258568"/>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App after order one (A5, n=265)</a:t>
            </a:r>
            <a:endParaRPr lang="en-US" sz="900" dirty="0"/>
          </a:p>
        </p:txBody>
      </p:sp>
      <p:sp>
        <p:nvSpPr>
          <p:cNvPr id="48" name="Shape 45"/>
          <p:cNvSpPr/>
          <p:nvPr/>
        </p:nvSpPr>
        <p:spPr>
          <a:xfrm>
            <a:off x="5074920" y="2468880"/>
            <a:ext cx="1784056" cy="201168"/>
          </a:xfrm>
          <a:prstGeom prst="rect">
            <a:avLst/>
          </a:prstGeom>
          <a:solidFill>
            <a:srgbClr val="2563EB"/>
          </a:solidFill>
          <a:ln w="6350">
            <a:solidFill>
              <a:srgbClr val="2563EB"/>
            </a:solidFill>
            <a:prstDash val="solid"/>
          </a:ln>
        </p:spPr>
      </p:sp>
      <p:sp>
        <p:nvSpPr>
          <p:cNvPr id="49" name="Text 46"/>
          <p:cNvSpPr txBox="1"/>
          <p:nvPr/>
        </p:nvSpPr>
        <p:spPr>
          <a:xfrm>
            <a:off x="6932128" y="2423160"/>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21.5%</a:t>
            </a:r>
            <a:endParaRPr lang="en-US" sz="1000" dirty="0"/>
          </a:p>
        </p:txBody>
      </p:sp>
      <p:sp>
        <p:nvSpPr>
          <p:cNvPr id="50" name="Text 47"/>
          <p:cNvSpPr txBox="1"/>
          <p:nvPr/>
        </p:nvSpPr>
        <p:spPr>
          <a:xfrm>
            <a:off x="5074920" y="2734056"/>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SMS after order one (A5, n=315)</a:t>
            </a:r>
            <a:endParaRPr lang="en-US" sz="900" dirty="0"/>
          </a:p>
        </p:txBody>
      </p:sp>
      <p:sp>
        <p:nvSpPr>
          <p:cNvPr id="51" name="Shape 48"/>
          <p:cNvSpPr/>
          <p:nvPr/>
        </p:nvSpPr>
        <p:spPr>
          <a:xfrm>
            <a:off x="5074920" y="2944368"/>
            <a:ext cx="970859" cy="201168"/>
          </a:xfrm>
          <a:prstGeom prst="rect">
            <a:avLst/>
          </a:prstGeom>
          <a:solidFill>
            <a:srgbClr val="60A5FA"/>
          </a:solidFill>
          <a:ln w="6350">
            <a:solidFill>
              <a:srgbClr val="60A5FA"/>
            </a:solidFill>
            <a:prstDash val="solid"/>
          </a:ln>
        </p:spPr>
      </p:sp>
      <p:sp>
        <p:nvSpPr>
          <p:cNvPr id="52" name="Text 49"/>
          <p:cNvSpPr txBox="1"/>
          <p:nvPr/>
        </p:nvSpPr>
        <p:spPr>
          <a:xfrm>
            <a:off x="6118931" y="2898648"/>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11.7%</a:t>
            </a:r>
            <a:endParaRPr lang="en-US" sz="1000" dirty="0"/>
          </a:p>
        </p:txBody>
      </p:sp>
      <p:sp>
        <p:nvSpPr>
          <p:cNvPr id="53" name="Text 50"/>
          <p:cNvSpPr txBox="1"/>
          <p:nvPr/>
        </p:nvSpPr>
        <p:spPr>
          <a:xfrm>
            <a:off x="5074920" y="3209544"/>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Not engaged (A2)</a:t>
            </a:r>
            <a:endParaRPr lang="en-US" sz="900" dirty="0"/>
          </a:p>
        </p:txBody>
      </p:sp>
      <p:sp>
        <p:nvSpPr>
          <p:cNvPr id="54" name="Shape 51"/>
          <p:cNvSpPr/>
          <p:nvPr/>
        </p:nvSpPr>
        <p:spPr>
          <a:xfrm>
            <a:off x="5074920" y="3419856"/>
            <a:ext cx="390003" cy="201168"/>
          </a:xfrm>
          <a:prstGeom prst="rect">
            <a:avLst/>
          </a:prstGeom>
          <a:solidFill>
            <a:srgbClr val="94A3B8"/>
          </a:solidFill>
          <a:ln w="6350">
            <a:solidFill>
              <a:srgbClr val="94A3B8"/>
            </a:solidFill>
            <a:prstDash val="solid"/>
          </a:ln>
        </p:spPr>
      </p:sp>
      <p:sp>
        <p:nvSpPr>
          <p:cNvPr id="55" name="Text 52"/>
          <p:cNvSpPr txBox="1"/>
          <p:nvPr/>
        </p:nvSpPr>
        <p:spPr>
          <a:xfrm>
            <a:off x="5538075" y="3374136"/>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4.7%</a:t>
            </a:r>
            <a:endParaRPr lang="en-US" sz="1000" dirty="0"/>
          </a:p>
        </p:txBody>
      </p:sp>
      <p:sp>
        <p:nvSpPr>
          <p:cNvPr id="56" name="Shape 53"/>
          <p:cNvSpPr/>
          <p:nvPr/>
        </p:nvSpPr>
        <p:spPr>
          <a:xfrm>
            <a:off x="5074920" y="3794760"/>
            <a:ext cx="3291840" cy="960120"/>
          </a:xfrm>
          <a:prstGeom prst="roundRect">
            <a:avLst>
              <a:gd name="adj" fmla="val 5714"/>
            </a:avLst>
          </a:prstGeom>
          <a:solidFill>
            <a:srgbClr val="EFF6FF"/>
          </a:solidFill>
          <a:ln w="6350">
            <a:solidFill>
              <a:srgbClr val="EFF6FF"/>
            </a:solidFill>
            <a:prstDash val="solid"/>
          </a:ln>
        </p:spPr>
      </p:sp>
      <p:sp>
        <p:nvSpPr>
          <p:cNvPr id="57" name="Text 54"/>
          <p:cNvSpPr txBox="1"/>
          <p:nvPr/>
        </p:nvSpPr>
        <p:spPr>
          <a:xfrm>
            <a:off x="5175504" y="3794760"/>
            <a:ext cx="3127248" cy="960120"/>
          </a:xfrm>
          <a:prstGeom prst="rect">
            <a:avLst/>
          </a:prstGeom>
          <a:noFill/>
          <a:ln/>
        </p:spPr>
        <p:txBody>
          <a:bodyPr wrap="square" lIns="0" tIns="0" rIns="0" bIns="0" rtlCol="0" anchor="ctr"/>
          <a:lstStyle/>
          <a:p>
            <a:pPr indent="0" marL="0">
              <a:buNone/>
            </a:pPr>
            <a:r>
              <a:rPr lang="en-US" sz="1500" b="1" dirty="0">
                <a:solidFill>
                  <a:srgbClr val="1D4ED8"/>
                </a:solidFill>
                <a:latin typeface="Inter" pitchFamily="34" charset="0"/>
                <a:ea typeface="Inter" pitchFamily="34" charset="-122"/>
                <a:cs typeface="Inter" pitchFamily="34" charset="-120"/>
              </a:rPr>
              <a:t>24.5% </a:t>
            </a:r>
            <a:pPr indent="0" marL="0">
              <a:buNone/>
            </a:pPr>
            <a:r>
              <a:rPr lang="en-US" sz="1000" dirty="0">
                <a:solidFill>
                  <a:srgbClr val="0A1F44"/>
                </a:solidFill>
                <a:latin typeface="Inter" pitchFamily="34" charset="0"/>
                <a:ea typeface="Inter" pitchFamily="34" charset="-122"/>
                <a:cs typeface="Inter" pitchFamily="34" charset="-120"/>
              </a:rPr>
              <a:t>of buyers engage, yet they are </a:t>
            </a:r>
            <a:pPr indent="0" marL="0">
              <a:buNone/>
            </a:pPr>
            <a:r>
              <a:rPr lang="en-US" sz="1500" b="1" dirty="0">
                <a:solidFill>
                  <a:srgbClr val="1D4ED8"/>
                </a:solidFill>
                <a:latin typeface="Inter" pitchFamily="34" charset="0"/>
                <a:ea typeface="Inter" pitchFamily="34" charset="-122"/>
                <a:cs typeface="Inter" pitchFamily="34" charset="-120"/>
              </a:rPr>
              <a:t>66% </a:t>
            </a:r>
            <a:pPr indent="0" marL="0">
              <a:buNone/>
            </a:pPr>
            <a:r>
              <a:rPr lang="en-US" sz="1000" dirty="0">
                <a:solidFill>
                  <a:srgbClr val="0A1F44"/>
                </a:solidFill>
                <a:latin typeface="Inter" pitchFamily="34" charset="0"/>
                <a:ea typeface="Inter" pitchFamily="34" charset="-122"/>
                <a:cs typeface="Inter" pitchFamily="34" charset="-120"/>
              </a:rPr>
              <a:t>of repeat buyers (A2)</a:t>
            </a:r>
            <a:endParaRPr lang="en-US" sz="1000" dirty="0"/>
          </a:p>
        </p:txBody>
      </p:sp>
      <p:sp>
        <p:nvSpPr>
          <p:cNvPr id="58" name="Shape 55"/>
          <p:cNvSpPr/>
          <p:nvPr/>
        </p:nvSpPr>
        <p:spPr>
          <a:xfrm>
            <a:off x="8549640" y="1280160"/>
            <a:ext cx="0" cy="3474720"/>
          </a:xfrm>
          <a:prstGeom prst="line">
            <a:avLst/>
          </a:prstGeom>
          <a:noFill/>
          <a:ln w="9525">
            <a:solidFill>
              <a:srgbClr val="E2E8F0"/>
            </a:solidFill>
            <a:prstDash val="solid"/>
          </a:ln>
        </p:spPr>
      </p:sp>
      <p:sp>
        <p:nvSpPr>
          <p:cNvPr id="59" name="Text 56"/>
          <p:cNvSpPr txBox="1"/>
          <p:nvPr/>
        </p:nvSpPr>
        <p:spPr>
          <a:xfrm>
            <a:off x="8732520" y="1234440"/>
            <a:ext cx="29535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When, and what next</a:t>
            </a:r>
            <a:endParaRPr lang="en-US" sz="1250" dirty="0"/>
          </a:p>
        </p:txBody>
      </p:sp>
      <p:sp>
        <p:nvSpPr>
          <p:cNvPr id="60" name="Text 57"/>
          <p:cNvSpPr txBox="1"/>
          <p:nvPr/>
        </p:nvSpPr>
        <p:spPr>
          <a:xfrm>
            <a:off x="8732520" y="1508760"/>
            <a:ext cx="29535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orders in week 2 (Cohort)</a:t>
            </a:r>
            <a:endParaRPr lang="en-US" sz="950" dirty="0"/>
          </a:p>
        </p:txBody>
      </p:sp>
      <p:sp>
        <p:nvSpPr>
          <p:cNvPr id="61" name="Text 58"/>
          <p:cNvSpPr txBox="1"/>
          <p:nvPr/>
        </p:nvSpPr>
        <p:spPr>
          <a:xfrm>
            <a:off x="8732520" y="178308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Engaged</a:t>
            </a:r>
            <a:endParaRPr lang="en-US" sz="950" dirty="0"/>
          </a:p>
        </p:txBody>
      </p:sp>
      <p:sp>
        <p:nvSpPr>
          <p:cNvPr id="62" name="Shape 59"/>
          <p:cNvSpPr/>
          <p:nvPr/>
        </p:nvSpPr>
        <p:spPr>
          <a:xfrm>
            <a:off x="9738360" y="1847088"/>
            <a:ext cx="1325880" cy="182880"/>
          </a:xfrm>
          <a:prstGeom prst="rect">
            <a:avLst/>
          </a:prstGeom>
          <a:solidFill>
            <a:srgbClr val="1D4ED8"/>
          </a:solidFill>
          <a:ln w="6350">
            <a:solidFill>
              <a:srgbClr val="1D4ED8"/>
            </a:solidFill>
            <a:prstDash val="solid"/>
          </a:ln>
        </p:spPr>
      </p:sp>
      <p:sp>
        <p:nvSpPr>
          <p:cNvPr id="63" name="Text 60"/>
          <p:cNvSpPr txBox="1"/>
          <p:nvPr/>
        </p:nvSpPr>
        <p:spPr>
          <a:xfrm>
            <a:off x="11119104" y="178308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5.6%</a:t>
            </a:r>
            <a:endParaRPr lang="en-US" sz="1000" dirty="0"/>
          </a:p>
        </p:txBody>
      </p:sp>
      <p:sp>
        <p:nvSpPr>
          <p:cNvPr id="64" name="Text 61"/>
          <p:cNvSpPr txBox="1"/>
          <p:nvPr/>
        </p:nvSpPr>
        <p:spPr>
          <a:xfrm>
            <a:off x="8732520" y="214884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All buyers</a:t>
            </a:r>
            <a:endParaRPr lang="en-US" sz="950" dirty="0"/>
          </a:p>
        </p:txBody>
      </p:sp>
      <p:sp>
        <p:nvSpPr>
          <p:cNvPr id="65" name="Shape 62"/>
          <p:cNvSpPr/>
          <p:nvPr/>
        </p:nvSpPr>
        <p:spPr>
          <a:xfrm>
            <a:off x="9738360" y="2212848"/>
            <a:ext cx="497205" cy="182880"/>
          </a:xfrm>
          <a:prstGeom prst="rect">
            <a:avLst/>
          </a:prstGeom>
          <a:solidFill>
            <a:srgbClr val="94A3B8"/>
          </a:solidFill>
          <a:ln w="6350">
            <a:solidFill>
              <a:srgbClr val="94A3B8"/>
            </a:solidFill>
            <a:prstDash val="solid"/>
          </a:ln>
        </p:spPr>
      </p:sp>
      <p:sp>
        <p:nvSpPr>
          <p:cNvPr id="66" name="Text 63"/>
          <p:cNvSpPr txBox="1"/>
          <p:nvPr/>
        </p:nvSpPr>
        <p:spPr>
          <a:xfrm>
            <a:off x="10290429" y="214884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a:t>
            </a:r>
            <a:endParaRPr lang="en-US" sz="1000" dirty="0"/>
          </a:p>
        </p:txBody>
      </p:sp>
      <p:sp>
        <p:nvSpPr>
          <p:cNvPr id="67" name="Text 64"/>
          <p:cNvSpPr txBox="1"/>
          <p:nvPr/>
        </p:nvSpPr>
        <p:spPr>
          <a:xfrm>
            <a:off x="8732520" y="2523744"/>
            <a:ext cx="292608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Half of engaged repeats land in weeks 1–4</a:t>
            </a:r>
            <a:endParaRPr lang="en-US" sz="850" dirty="0"/>
          </a:p>
        </p:txBody>
      </p:sp>
      <p:sp>
        <p:nvSpPr>
          <p:cNvPr id="68" name="Text 65"/>
          <p:cNvSpPr txBox="1"/>
          <p:nvPr/>
        </p:nvSpPr>
        <p:spPr>
          <a:xfrm>
            <a:off x="8732520" y="2816352"/>
            <a:ext cx="2953512" cy="219456"/>
          </a:xfrm>
          <a:prstGeom prst="rect">
            <a:avLst/>
          </a:prstGeom>
          <a:noFill/>
          <a:ln/>
        </p:spPr>
        <p:txBody>
          <a:bodyPr wrap="square" lIns="0" tIns="0" rIns="0" bIns="0" rtlCol="0" anchor="t"/>
          <a:lstStyle/>
          <a:p>
            <a:pPr indent="0" marL="0">
              <a:buNone/>
            </a:pPr>
            <a:r>
              <a:rPr lang="en-US" sz="950" b="1" dirty="0">
                <a:solidFill>
                  <a:srgbClr val="0A1F44"/>
                </a:solidFill>
                <a:latin typeface="Inter" pitchFamily="34" charset="0"/>
                <a:ea typeface="Inter" pitchFamily="34" charset="-122"/>
                <a:cs typeface="Inter" pitchFamily="34" charset="-120"/>
              </a:rPr>
              <a:t>Repeat by category touched (A6)</a:t>
            </a:r>
            <a:endParaRPr lang="en-US" sz="950" dirty="0"/>
          </a:p>
        </p:txBody>
      </p:sp>
      <p:sp>
        <p:nvSpPr>
          <p:cNvPr id="69" name="Text 66"/>
          <p:cNvSpPr txBox="1"/>
          <p:nvPr/>
        </p:nvSpPr>
        <p:spPr>
          <a:xfrm>
            <a:off x="8732520" y="307238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Home</a:t>
            </a:r>
            <a:endParaRPr lang="en-US" sz="900" dirty="0"/>
          </a:p>
        </p:txBody>
      </p:sp>
      <p:sp>
        <p:nvSpPr>
          <p:cNvPr id="70" name="Shape 67"/>
          <p:cNvSpPr/>
          <p:nvPr/>
        </p:nvSpPr>
        <p:spPr>
          <a:xfrm>
            <a:off x="9646920" y="3118104"/>
            <a:ext cx="1463040" cy="146304"/>
          </a:xfrm>
          <a:prstGeom prst="rect">
            <a:avLst/>
          </a:prstGeom>
          <a:solidFill>
            <a:srgbClr val="1D4ED8"/>
          </a:solidFill>
          <a:ln w="6350">
            <a:solidFill>
              <a:srgbClr val="1D4ED8"/>
            </a:solidFill>
            <a:prstDash val="solid"/>
          </a:ln>
        </p:spPr>
      </p:sp>
      <p:sp>
        <p:nvSpPr>
          <p:cNvPr id="71" name="Text 68"/>
          <p:cNvSpPr txBox="1"/>
          <p:nvPr/>
        </p:nvSpPr>
        <p:spPr>
          <a:xfrm>
            <a:off x="11164824" y="307238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20.8%</a:t>
            </a:r>
            <a:endParaRPr lang="en-US" sz="900" dirty="0"/>
          </a:p>
        </p:txBody>
      </p:sp>
      <p:sp>
        <p:nvSpPr>
          <p:cNvPr id="72" name="Text 69"/>
          <p:cNvSpPr txBox="1"/>
          <p:nvPr/>
        </p:nvSpPr>
        <p:spPr>
          <a:xfrm>
            <a:off x="8732520" y="334670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Jewelry</a:t>
            </a:r>
            <a:endParaRPr lang="en-US" sz="900" dirty="0"/>
          </a:p>
        </p:txBody>
      </p:sp>
      <p:sp>
        <p:nvSpPr>
          <p:cNvPr id="73" name="Shape 70"/>
          <p:cNvSpPr/>
          <p:nvPr/>
        </p:nvSpPr>
        <p:spPr>
          <a:xfrm>
            <a:off x="9646920" y="3392424"/>
            <a:ext cx="1371600" cy="146304"/>
          </a:xfrm>
          <a:prstGeom prst="rect">
            <a:avLst/>
          </a:prstGeom>
          <a:solidFill>
            <a:srgbClr val="1D4ED8"/>
          </a:solidFill>
          <a:ln w="6350">
            <a:solidFill>
              <a:srgbClr val="1D4ED8"/>
            </a:solidFill>
            <a:prstDash val="solid"/>
          </a:ln>
        </p:spPr>
      </p:sp>
      <p:sp>
        <p:nvSpPr>
          <p:cNvPr id="74" name="Text 71"/>
          <p:cNvSpPr txBox="1"/>
          <p:nvPr/>
        </p:nvSpPr>
        <p:spPr>
          <a:xfrm>
            <a:off x="11073384" y="334670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19.5%</a:t>
            </a:r>
            <a:endParaRPr lang="en-US" sz="900" dirty="0"/>
          </a:p>
        </p:txBody>
      </p:sp>
      <p:sp>
        <p:nvSpPr>
          <p:cNvPr id="75" name="Text 72"/>
          <p:cNvSpPr txBox="1"/>
          <p:nvPr/>
        </p:nvSpPr>
        <p:spPr>
          <a:xfrm>
            <a:off x="8732520" y="362102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Beauty</a:t>
            </a:r>
            <a:endParaRPr lang="en-US" sz="900" dirty="0"/>
          </a:p>
        </p:txBody>
      </p:sp>
      <p:sp>
        <p:nvSpPr>
          <p:cNvPr id="76" name="Shape 73"/>
          <p:cNvSpPr/>
          <p:nvPr/>
        </p:nvSpPr>
        <p:spPr>
          <a:xfrm>
            <a:off x="9646920" y="3666744"/>
            <a:ext cx="1301262" cy="146304"/>
          </a:xfrm>
          <a:prstGeom prst="rect">
            <a:avLst/>
          </a:prstGeom>
          <a:solidFill>
            <a:srgbClr val="1D4ED8"/>
          </a:solidFill>
          <a:ln w="6350">
            <a:solidFill>
              <a:srgbClr val="1D4ED8"/>
            </a:solidFill>
            <a:prstDash val="solid"/>
          </a:ln>
        </p:spPr>
      </p:sp>
      <p:sp>
        <p:nvSpPr>
          <p:cNvPr id="77" name="Text 74"/>
          <p:cNvSpPr txBox="1"/>
          <p:nvPr/>
        </p:nvSpPr>
        <p:spPr>
          <a:xfrm>
            <a:off x="11003046" y="362102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18.5%</a:t>
            </a:r>
            <a:endParaRPr lang="en-US" sz="900" dirty="0"/>
          </a:p>
        </p:txBody>
      </p:sp>
      <p:sp>
        <p:nvSpPr>
          <p:cNvPr id="78" name="Text 75"/>
          <p:cNvSpPr txBox="1"/>
          <p:nvPr/>
        </p:nvSpPr>
        <p:spPr>
          <a:xfrm>
            <a:off x="8732520" y="389534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Cashmere</a:t>
            </a:r>
            <a:endParaRPr lang="en-US" sz="900" dirty="0"/>
          </a:p>
        </p:txBody>
      </p:sp>
      <p:sp>
        <p:nvSpPr>
          <p:cNvPr id="79" name="Shape 76"/>
          <p:cNvSpPr/>
          <p:nvPr/>
        </p:nvSpPr>
        <p:spPr>
          <a:xfrm>
            <a:off x="9646920" y="3941064"/>
            <a:ext cx="963637" cy="146304"/>
          </a:xfrm>
          <a:prstGeom prst="rect">
            <a:avLst/>
          </a:prstGeom>
          <a:solidFill>
            <a:srgbClr val="94A3B8"/>
          </a:solidFill>
          <a:ln w="6350">
            <a:solidFill>
              <a:srgbClr val="94A3B8"/>
            </a:solidFill>
            <a:prstDash val="solid"/>
          </a:ln>
        </p:spPr>
      </p:sp>
      <p:sp>
        <p:nvSpPr>
          <p:cNvPr id="80" name="Text 77"/>
          <p:cNvSpPr txBox="1"/>
          <p:nvPr/>
        </p:nvSpPr>
        <p:spPr>
          <a:xfrm>
            <a:off x="10665421" y="389534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13.7%</a:t>
            </a:r>
            <a:endParaRPr lang="en-US" sz="900" dirty="0"/>
          </a:p>
        </p:txBody>
      </p:sp>
      <p:sp>
        <p:nvSpPr>
          <p:cNvPr id="81" name="Shape 78"/>
          <p:cNvSpPr/>
          <p:nvPr/>
        </p:nvSpPr>
        <p:spPr>
          <a:xfrm>
            <a:off x="8732520" y="4251960"/>
            <a:ext cx="2953512" cy="502920"/>
          </a:xfrm>
          <a:prstGeom prst="roundRect">
            <a:avLst>
              <a:gd name="adj" fmla="val 10909"/>
            </a:avLst>
          </a:prstGeom>
          <a:solidFill>
            <a:srgbClr val="EFF6FF"/>
          </a:solidFill>
          <a:ln w="6350">
            <a:solidFill>
              <a:srgbClr val="EFF6FF"/>
            </a:solidFill>
            <a:prstDash val="solid"/>
          </a:ln>
        </p:spPr>
      </p:sp>
      <p:sp>
        <p:nvSpPr>
          <p:cNvPr id="82" name="Text 79"/>
          <p:cNvSpPr txBox="1"/>
          <p:nvPr/>
        </p:nvSpPr>
        <p:spPr>
          <a:xfrm>
            <a:off x="8805672" y="4251960"/>
            <a:ext cx="2816352" cy="502920"/>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Cashmere: touched by 40.7% of buyers, repeats least</a:t>
            </a:r>
            <a:endParaRPr lang="en-US" sz="950" dirty="0"/>
          </a:p>
        </p:txBody>
      </p:sp>
      <p:sp>
        <p:nvSpPr>
          <p:cNvPr id="83" name="Shape 80"/>
          <p:cNvSpPr/>
          <p:nvPr/>
        </p:nvSpPr>
        <p:spPr>
          <a:xfrm>
            <a:off x="502920" y="5029200"/>
            <a:ext cx="11183112" cy="1188720"/>
          </a:xfrm>
          <a:prstGeom prst="roundRect">
            <a:avLst>
              <a:gd name="adj" fmla="val 4615"/>
            </a:avLst>
          </a:prstGeom>
          <a:solidFill>
            <a:srgbClr val="F8FAFC"/>
          </a:solidFill>
          <a:ln w="9525">
            <a:solidFill>
              <a:srgbClr val="E2E8F0"/>
            </a:solidFill>
            <a:prstDash val="solid"/>
          </a:ln>
        </p:spPr>
      </p:sp>
      <p:sp>
        <p:nvSpPr>
          <p:cNvPr id="84" name="Text 81"/>
          <p:cNvSpPr txBox="1"/>
          <p:nvPr/>
        </p:nvSpPr>
        <p:spPr>
          <a:xfrm>
            <a:off x="640080" y="5029200"/>
            <a:ext cx="1737360" cy="11887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Where the $120M goes</a:t>
            </a:r>
            <a:endParaRPr lang="en-US" sz="1000" dirty="0"/>
          </a:p>
          <a:p>
            <a:pPr indent="0" marL="0">
              <a:buNone/>
            </a:pPr>
            <a:r>
              <a:rPr lang="en-US" sz="850" dirty="0">
                <a:solidFill>
                  <a:srgbClr val="64748B"/>
                </a:solidFill>
                <a:latin typeface="Inter" pitchFamily="34" charset="0"/>
                <a:ea typeface="Inter" pitchFamily="34" charset="-122"/>
                <a:cs typeface="Inter" pitchFamily="34" charset="-120"/>
              </a:rPr>
              <a:t>FY2026 (Exhibit G)</a:t>
            </a:r>
            <a:endParaRPr lang="en-US" sz="1000" dirty="0"/>
          </a:p>
        </p:txBody>
      </p:sp>
      <p:sp>
        <p:nvSpPr>
          <p:cNvPr id="85" name="Shape 82"/>
          <p:cNvSpPr/>
          <p:nvPr/>
        </p:nvSpPr>
        <p:spPr>
          <a:xfrm>
            <a:off x="2423160" y="5303520"/>
            <a:ext cx="2368296" cy="384048"/>
          </a:xfrm>
          <a:prstGeom prst="rect">
            <a:avLst/>
          </a:prstGeom>
          <a:solidFill>
            <a:srgbClr val="93B4F5"/>
          </a:solidFill>
          <a:ln w="6350">
            <a:solidFill>
              <a:srgbClr val="93B4F5"/>
            </a:solidFill>
            <a:prstDash val="solid"/>
          </a:ln>
        </p:spPr>
      </p:sp>
      <p:sp>
        <p:nvSpPr>
          <p:cNvPr id="86" name="Text 83"/>
          <p:cNvSpPr txBox="1"/>
          <p:nvPr/>
        </p:nvSpPr>
        <p:spPr>
          <a:xfrm>
            <a:off x="2450592" y="5303520"/>
            <a:ext cx="2331720"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Prospecting $58M</a:t>
            </a:r>
            <a:endParaRPr lang="en-US" sz="850" dirty="0"/>
          </a:p>
        </p:txBody>
      </p:sp>
      <p:sp>
        <p:nvSpPr>
          <p:cNvPr id="87" name="Shape 84"/>
          <p:cNvSpPr/>
          <p:nvPr/>
        </p:nvSpPr>
        <p:spPr>
          <a:xfrm>
            <a:off x="4809744" y="5303520"/>
            <a:ext cx="557784" cy="384048"/>
          </a:xfrm>
          <a:prstGeom prst="rect">
            <a:avLst/>
          </a:prstGeom>
          <a:solidFill>
            <a:srgbClr val="93B4F5"/>
          </a:solidFill>
          <a:ln w="6350">
            <a:solidFill>
              <a:srgbClr val="93B4F5"/>
            </a:solidFill>
            <a:prstDash val="solid"/>
          </a:ln>
        </p:spPr>
      </p:sp>
      <p:sp>
        <p:nvSpPr>
          <p:cNvPr id="88" name="Text 85"/>
          <p:cNvSpPr txBox="1"/>
          <p:nvPr/>
        </p:nvSpPr>
        <p:spPr>
          <a:xfrm>
            <a:off x="4837176" y="5303520"/>
            <a:ext cx="521208"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Retarg. $14M</a:t>
            </a:r>
            <a:endParaRPr lang="en-US" sz="850" dirty="0"/>
          </a:p>
        </p:txBody>
      </p:sp>
      <p:sp>
        <p:nvSpPr>
          <p:cNvPr id="89" name="Shape 86"/>
          <p:cNvSpPr/>
          <p:nvPr/>
        </p:nvSpPr>
        <p:spPr>
          <a:xfrm>
            <a:off x="5385816" y="5303520"/>
            <a:ext cx="886968" cy="384048"/>
          </a:xfrm>
          <a:prstGeom prst="rect">
            <a:avLst/>
          </a:prstGeom>
          <a:solidFill>
            <a:srgbClr val="CBD5E1"/>
          </a:solidFill>
          <a:ln w="6350">
            <a:solidFill>
              <a:srgbClr val="CBD5E1"/>
            </a:solidFill>
            <a:prstDash val="solid"/>
          </a:ln>
        </p:spPr>
      </p:sp>
      <p:sp>
        <p:nvSpPr>
          <p:cNvPr id="90" name="Text 87"/>
          <p:cNvSpPr txBox="1"/>
          <p:nvPr/>
        </p:nvSpPr>
        <p:spPr>
          <a:xfrm>
            <a:off x="5413248" y="5303520"/>
            <a:ext cx="850392"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Search $22M</a:t>
            </a:r>
            <a:endParaRPr lang="en-US" sz="850" dirty="0"/>
          </a:p>
        </p:txBody>
      </p:sp>
      <p:sp>
        <p:nvSpPr>
          <p:cNvPr id="91" name="Shape 88"/>
          <p:cNvSpPr/>
          <p:nvPr/>
        </p:nvSpPr>
        <p:spPr>
          <a:xfrm>
            <a:off x="6291072" y="5303520"/>
            <a:ext cx="640080" cy="384048"/>
          </a:xfrm>
          <a:prstGeom prst="rect">
            <a:avLst/>
          </a:prstGeom>
          <a:solidFill>
            <a:srgbClr val="CBD5E1"/>
          </a:solidFill>
          <a:ln w="6350">
            <a:solidFill>
              <a:srgbClr val="CBD5E1"/>
            </a:solidFill>
            <a:prstDash val="solid"/>
          </a:ln>
        </p:spPr>
      </p:sp>
      <p:sp>
        <p:nvSpPr>
          <p:cNvPr id="92" name="Text 89"/>
          <p:cNvSpPr txBox="1"/>
          <p:nvPr/>
        </p:nvSpPr>
        <p:spPr>
          <a:xfrm>
            <a:off x="6318504" y="5303520"/>
            <a:ext cx="603504"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Influencer $16M</a:t>
            </a:r>
            <a:endParaRPr lang="en-US" sz="850" dirty="0"/>
          </a:p>
        </p:txBody>
      </p:sp>
      <p:sp>
        <p:nvSpPr>
          <p:cNvPr id="93" name="Shape 90"/>
          <p:cNvSpPr/>
          <p:nvPr/>
        </p:nvSpPr>
        <p:spPr>
          <a:xfrm>
            <a:off x="6949440" y="5303520"/>
            <a:ext cx="228600" cy="384048"/>
          </a:xfrm>
          <a:prstGeom prst="rect">
            <a:avLst/>
          </a:prstGeom>
          <a:solidFill>
            <a:srgbClr val="1D4ED8"/>
          </a:solidFill>
          <a:ln w="6350">
            <a:solidFill>
              <a:srgbClr val="1D4ED8"/>
            </a:solidFill>
            <a:prstDash val="solid"/>
          </a:ln>
        </p:spPr>
      </p:sp>
      <p:sp>
        <p:nvSpPr>
          <p:cNvPr id="94" name="Shape 91"/>
          <p:cNvSpPr/>
          <p:nvPr/>
        </p:nvSpPr>
        <p:spPr>
          <a:xfrm>
            <a:off x="7196328" y="5303520"/>
            <a:ext cx="146304" cy="384048"/>
          </a:xfrm>
          <a:prstGeom prst="rect">
            <a:avLst/>
          </a:prstGeom>
          <a:solidFill>
            <a:srgbClr val="E2E8F0"/>
          </a:solidFill>
          <a:ln w="6350">
            <a:solidFill>
              <a:srgbClr val="E2E8F0"/>
            </a:solidFill>
            <a:prstDash val="solid"/>
          </a:ln>
        </p:spPr>
      </p:sp>
      <p:sp>
        <p:nvSpPr>
          <p:cNvPr id="95" name="Shape 92"/>
          <p:cNvSpPr/>
          <p:nvPr/>
        </p:nvSpPr>
        <p:spPr>
          <a:xfrm>
            <a:off x="2423160" y="5733288"/>
            <a:ext cx="2962656" cy="0"/>
          </a:xfrm>
          <a:prstGeom prst="line">
            <a:avLst/>
          </a:prstGeom>
          <a:noFill/>
          <a:ln w="15875">
            <a:solidFill>
              <a:srgbClr val="1D4ED8"/>
            </a:solidFill>
            <a:prstDash val="solid"/>
          </a:ln>
        </p:spPr>
      </p:sp>
      <p:sp>
        <p:nvSpPr>
          <p:cNvPr id="96" name="Text 93"/>
          <p:cNvSpPr txBox="1"/>
          <p:nvPr/>
        </p:nvSpPr>
        <p:spPr>
          <a:xfrm>
            <a:off x="2423160" y="5760720"/>
            <a:ext cx="2103120" cy="201168"/>
          </a:xfrm>
          <a:prstGeom prst="rect">
            <a:avLst/>
          </a:prstGeom>
          <a:noFill/>
          <a:ln/>
        </p:spPr>
        <p:txBody>
          <a:bodyPr wrap="square" lIns="0" tIns="0" rIns="0" bIns="0" rtlCol="0" anchor="t"/>
          <a:lstStyle/>
          <a:p>
            <a:pPr indent="0" marL="0">
              <a:buNone/>
            </a:pPr>
            <a:r>
              <a:rPr lang="en-US" sz="800" b="1" dirty="0">
                <a:solidFill>
                  <a:srgbClr val="1D4ED8"/>
                </a:solidFill>
                <a:latin typeface="Inter" pitchFamily="34" charset="0"/>
                <a:ea typeface="Inter" pitchFamily="34" charset="-122"/>
                <a:cs typeface="Inter" pitchFamily="34" charset="-120"/>
              </a:rPr>
              <a:t>60% rented from social platforms</a:t>
            </a:r>
            <a:endParaRPr lang="en-US" sz="800" dirty="0"/>
          </a:p>
        </p:txBody>
      </p:sp>
      <p:pic>
        <p:nvPicPr>
          <p:cNvPr id="97" name="Image 1" descr="/tmp/claude-0/-home-user-Quince/7efe80ae-a049-50c2-9886-98bf7ca3a04a/scratchpad/assets/meta.png">    </p:cNvPr>
          <p:cNvPicPr>
            <a:picLocks noChangeAspect="1"/>
          </p:cNvPicPr>
          <p:nvPr/>
        </p:nvPicPr>
        <p:blipFill>
          <a:blip r:embed="rId2"/>
          <a:stretch>
            <a:fillRect/>
          </a:stretch>
        </p:blipFill>
        <p:spPr>
          <a:xfrm>
            <a:off x="4553712" y="5833872"/>
            <a:ext cx="128016" cy="128016"/>
          </a:xfrm>
          <a:prstGeom prst="rect">
            <a:avLst/>
          </a:prstGeom>
        </p:spPr>
      </p:pic>
      <p:pic>
        <p:nvPicPr>
          <p:cNvPr id="98" name="Image 2" descr="/tmp/claude-0/-home-user-Quince/7efe80ae-a049-50c2-9886-98bf7ca3a04a/scratchpad/assets/tiktok.png">    </p:cNvPr>
          <p:cNvPicPr>
            <a:picLocks noChangeAspect="1"/>
          </p:cNvPicPr>
          <p:nvPr/>
        </p:nvPicPr>
        <p:blipFill>
          <a:blip r:embed="rId3"/>
          <a:stretch>
            <a:fillRect/>
          </a:stretch>
        </p:blipFill>
        <p:spPr>
          <a:xfrm>
            <a:off x="4919472" y="5833872"/>
            <a:ext cx="128016" cy="128016"/>
          </a:xfrm>
          <a:prstGeom prst="rect">
            <a:avLst/>
          </a:prstGeom>
        </p:spPr>
      </p:pic>
      <p:pic>
        <p:nvPicPr>
          <p:cNvPr id="99" name="Image 3" descr="/tmp/claude-0/-home-user-Quince/7efe80ae-a049-50c2-9886-98bf7ca3a04a/scratchpad/assets/pinterest.png">    </p:cNvPr>
          <p:cNvPicPr>
            <a:picLocks noChangeAspect="1"/>
          </p:cNvPicPr>
          <p:nvPr/>
        </p:nvPicPr>
        <p:blipFill>
          <a:blip r:embed="rId4"/>
          <a:stretch>
            <a:fillRect/>
          </a:stretch>
        </p:blipFill>
        <p:spPr>
          <a:xfrm>
            <a:off x="5285232" y="5833872"/>
            <a:ext cx="128016" cy="128016"/>
          </a:xfrm>
          <a:prstGeom prst="rect">
            <a:avLst/>
          </a:prstGeom>
        </p:spPr>
      </p:pic>
      <p:pic>
        <p:nvPicPr>
          <p:cNvPr id="100" name="Image 4" descr="/tmp/claude-0/-home-user-Quince/7efe80ae-a049-50c2-9886-98bf7ca3a04a/scratchpad/assets/google.png">    </p:cNvPr>
          <p:cNvPicPr>
            <a:picLocks noChangeAspect="1"/>
          </p:cNvPicPr>
          <p:nvPr/>
        </p:nvPicPr>
        <p:blipFill>
          <a:blip r:embed="rId5"/>
          <a:stretch>
            <a:fillRect/>
          </a:stretch>
        </p:blipFill>
        <p:spPr>
          <a:xfrm>
            <a:off x="5774436" y="5833872"/>
            <a:ext cx="128016" cy="128016"/>
          </a:xfrm>
          <a:prstGeom prst="rect">
            <a:avLst/>
          </a:prstGeom>
        </p:spPr>
      </p:pic>
      <p:sp>
        <p:nvSpPr>
          <p:cNvPr id="101" name="Text 94"/>
          <p:cNvSpPr txBox="1"/>
          <p:nvPr/>
        </p:nvSpPr>
        <p:spPr>
          <a:xfrm>
            <a:off x="5897880" y="5760720"/>
            <a:ext cx="1463040" cy="201168"/>
          </a:xfrm>
          <a:prstGeom prst="rect">
            <a:avLst/>
          </a:prstGeom>
          <a:noFill/>
          <a:ln/>
        </p:spPr>
        <p:txBody>
          <a:bodyPr wrap="square" lIns="0" tIns="0" rIns="0" bIns="0" rtlCol="0" anchor="t"/>
          <a:lstStyle/>
          <a:p>
            <a:pPr algn="r" indent="0" marL="0">
              <a:buNone/>
            </a:pPr>
            <a:r>
              <a:rPr lang="en-US" sz="850" b="1" dirty="0">
                <a:solidFill>
                  <a:srgbClr val="1D4ED8"/>
                </a:solidFill>
                <a:latin typeface="Inter" pitchFamily="34" charset="0"/>
                <a:ea typeface="Inter" pitchFamily="34" charset="-122"/>
                <a:cs typeface="Inter" pitchFamily="34" charset="-120"/>
              </a:rPr>
              <a:t>Owned $6M · Brand $4M</a:t>
            </a:r>
            <a:endParaRPr lang="en-US" sz="850" dirty="0"/>
          </a:p>
        </p:txBody>
      </p:sp>
      <p:sp>
        <p:nvSpPr>
          <p:cNvPr id="102" name="Text 95"/>
          <p:cNvSpPr txBox="1"/>
          <p:nvPr/>
        </p:nvSpPr>
        <p:spPr>
          <a:xfrm>
            <a:off x="7543800" y="5029200"/>
            <a:ext cx="4069080" cy="1188720"/>
          </a:xfrm>
          <a:prstGeom prst="rect">
            <a:avLst/>
          </a:prstGeom>
          <a:noFill/>
          <a:ln/>
        </p:spPr>
        <p:txBody>
          <a:bodyPr wrap="square" lIns="0" tIns="0" rIns="0" bIns="0" rtlCol="0" anchor="ctr"/>
          <a:lstStyle/>
          <a:p>
            <a:pPr indent="0" marL="0">
              <a:buNone/>
            </a:pPr>
            <a:r>
              <a:rPr lang="en-US" sz="1400" b="1" dirty="0">
                <a:solidFill>
                  <a:srgbClr val="1D4ED8"/>
                </a:solidFill>
                <a:latin typeface="Inter" pitchFamily="34" charset="0"/>
                <a:ea typeface="Inter" pitchFamily="34" charset="-122"/>
                <a:cs typeface="Inter" pitchFamily="34" charset="-120"/>
              </a:rPr>
              <a:t>5% </a:t>
            </a:r>
            <a:pPr indent="0" marL="0">
              <a:buNone/>
            </a:pPr>
            <a:r>
              <a:rPr lang="en-US" sz="950" dirty="0">
                <a:solidFill>
                  <a:srgbClr val="0A1F44"/>
                </a:solidFill>
                <a:latin typeface="Inter" pitchFamily="34" charset="0"/>
                <a:ea typeface="Inter" pitchFamily="34" charset="-122"/>
                <a:cs typeface="Inter" pitchFamily="34" charset="-120"/>
              </a:rPr>
              <a:t>owned: $1.43 per active customer (A, G). </a:t>
            </a:r>
            <a:pPr indent="0" marL="0">
              <a:buNone/>
            </a:pPr>
            <a:r>
              <a:rPr lang="en-US" sz="1400" b="1" dirty="0">
                <a:solidFill>
                  <a:srgbClr val="1D4ED8"/>
                </a:solidFill>
                <a:latin typeface="Inter" pitchFamily="34" charset="0"/>
                <a:ea typeface="Inter" pitchFamily="34" charset="-122"/>
                <a:cs typeface="Inter" pitchFamily="34" charset="-120"/>
              </a:rPr>
              <a:t>$31 </a:t>
            </a:r>
            <a:pPr indent="0" marL="0">
              <a:buNone/>
            </a:pPr>
            <a:r>
              <a:rPr lang="en-US" sz="950" dirty="0">
                <a:solidFill>
                  <a:srgbClr val="0A1F44"/>
                </a:solidFill>
                <a:latin typeface="Inter" pitchFamily="34" charset="0"/>
                <a:ea typeface="Inter" pitchFamily="34" charset="-122"/>
                <a:cs typeface="Inter" pitchFamily="34" charset="-120"/>
              </a:rPr>
              <a:t>retargeting CAC counts sales that would happen anyway (D)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Rivals can copy discounts, not M2C cost plus owned reach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 M, section 7; Amazon Q2 2026 results; Sensor Tower via CNBC (2025) and State of Mobile 2026; Bloomberg Law, NPR (May 2026); Fast Retailing FY2025; Tapestry FY2025 results; Williams-Sonoma 10-K; The Fashion Law (30 Sep 2026). Map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5</a:t>
            </a:r>
            <a:endParaRPr lang="en-US" sz="800" dirty="0"/>
          </a:p>
        </p:txBody>
      </p:sp>
      <p:sp>
        <p:nvSpPr>
          <p:cNvPr id="9" name="Text 6"/>
          <p:cNvSpPr txBox="1"/>
          <p:nvPr/>
        </p:nvSpPr>
        <p:spPr>
          <a:xfrm>
            <a:off x="502920" y="1188720"/>
            <a:ext cx="429768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Price vs depth of owned relationship (team judgment)</a:t>
            </a:r>
            <a:endParaRPr lang="en-US" sz="1100" dirty="0"/>
          </a:p>
        </p:txBody>
      </p:sp>
      <p:sp>
        <p:nvSpPr>
          <p:cNvPr id="10" name="Shape 7"/>
          <p:cNvSpPr/>
          <p:nvPr/>
        </p:nvSpPr>
        <p:spPr>
          <a:xfrm>
            <a:off x="868680" y="1572768"/>
            <a:ext cx="0" cy="2587752"/>
          </a:xfrm>
          <a:prstGeom prst="line">
            <a:avLst/>
          </a:prstGeom>
          <a:noFill/>
          <a:ln w="12700">
            <a:solidFill>
              <a:srgbClr val="0F172A"/>
            </a:solidFill>
            <a:prstDash val="solid"/>
          </a:ln>
        </p:spPr>
      </p:sp>
      <p:sp>
        <p:nvSpPr>
          <p:cNvPr id="11" name="Shape 8"/>
          <p:cNvSpPr/>
          <p:nvPr/>
        </p:nvSpPr>
        <p:spPr>
          <a:xfrm>
            <a:off x="868680" y="4160520"/>
            <a:ext cx="3657600" cy="0"/>
          </a:xfrm>
          <a:prstGeom prst="line">
            <a:avLst/>
          </a:prstGeom>
          <a:noFill/>
          <a:ln w="12700">
            <a:solidFill>
              <a:srgbClr val="0F172A"/>
            </a:solidFill>
            <a:prstDash val="solid"/>
          </a:ln>
        </p:spPr>
      </p:sp>
      <p:sp>
        <p:nvSpPr>
          <p:cNvPr id="12" name="Shape 9"/>
          <p:cNvSpPr/>
          <p:nvPr/>
        </p:nvSpPr>
        <p:spPr>
          <a:xfrm>
            <a:off x="2697480" y="1572768"/>
            <a:ext cx="0" cy="2587752"/>
          </a:xfrm>
          <a:prstGeom prst="line">
            <a:avLst/>
          </a:prstGeom>
          <a:noFill/>
          <a:ln w="9525">
            <a:solidFill>
              <a:srgbClr val="D5DCE6"/>
            </a:solidFill>
            <a:prstDash val="dash"/>
          </a:ln>
        </p:spPr>
      </p:sp>
      <p:sp>
        <p:nvSpPr>
          <p:cNvPr id="13" name="Shape 10"/>
          <p:cNvSpPr/>
          <p:nvPr/>
        </p:nvSpPr>
        <p:spPr>
          <a:xfrm>
            <a:off x="868680" y="2866644"/>
            <a:ext cx="3657600" cy="0"/>
          </a:xfrm>
          <a:prstGeom prst="line">
            <a:avLst/>
          </a:prstGeom>
          <a:noFill/>
          <a:ln w="9525">
            <a:solidFill>
              <a:srgbClr val="D5DCE6"/>
            </a:solidFill>
            <a:prstDash val="solid"/>
          </a:ln>
        </p:spPr>
      </p:sp>
      <p:sp>
        <p:nvSpPr>
          <p:cNvPr id="14" name="Text 11"/>
          <p:cNvSpPr txBox="1"/>
          <p:nvPr/>
        </p:nvSpPr>
        <p:spPr>
          <a:xfrm>
            <a:off x="868680" y="4197096"/>
            <a:ext cx="731520" cy="182880"/>
          </a:xfrm>
          <a:prstGeom prst="rect">
            <a:avLst/>
          </a:prstGeom>
          <a:noFill/>
          <a:ln/>
        </p:spPr>
        <p:txBody>
          <a:bodyPr wrap="square" lIns="0" tIns="0" rIns="0" bIns="0" rtlCol="0" anchor="t"/>
          <a:lstStyle/>
          <a:p>
            <a:pPr indent="0" marL="0">
              <a:buNone/>
            </a:pPr>
            <a:r>
              <a:rPr lang="en-US" sz="850" dirty="0">
                <a:solidFill>
                  <a:srgbClr val="64748B"/>
                </a:solidFill>
                <a:latin typeface="Inter" pitchFamily="34" charset="0"/>
                <a:ea typeface="Inter" pitchFamily="34" charset="-122"/>
                <a:cs typeface="Inter" pitchFamily="34" charset="-120"/>
              </a:rPr>
              <a:t>Value</a:t>
            </a:r>
            <a:endParaRPr lang="en-US" sz="850" dirty="0"/>
          </a:p>
        </p:txBody>
      </p:sp>
      <p:sp>
        <p:nvSpPr>
          <p:cNvPr id="15" name="Text 12"/>
          <p:cNvSpPr txBox="1"/>
          <p:nvPr/>
        </p:nvSpPr>
        <p:spPr>
          <a:xfrm>
            <a:off x="2148840" y="4197096"/>
            <a:ext cx="10972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Price →</a:t>
            </a:r>
            <a:endParaRPr lang="en-US" sz="850" dirty="0"/>
          </a:p>
        </p:txBody>
      </p:sp>
      <p:sp>
        <p:nvSpPr>
          <p:cNvPr id="16" name="Text 13"/>
          <p:cNvSpPr txBox="1"/>
          <p:nvPr/>
        </p:nvSpPr>
        <p:spPr>
          <a:xfrm>
            <a:off x="3794760" y="4197096"/>
            <a:ext cx="731520"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Premium</a:t>
            </a:r>
            <a:endParaRPr lang="en-US" sz="850" dirty="0"/>
          </a:p>
        </p:txBody>
      </p:sp>
      <p:sp>
        <p:nvSpPr>
          <p:cNvPr id="17" name="Text 14"/>
          <p:cNvSpPr txBox="1"/>
          <p:nvPr/>
        </p:nvSpPr>
        <p:spPr>
          <a:xfrm rot="16200000">
            <a:off x="-320040" y="2775204"/>
            <a:ext cx="20116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Owned relationship →</a:t>
            </a:r>
            <a:endParaRPr lang="en-US" sz="850" dirty="0"/>
          </a:p>
        </p:txBody>
      </p:sp>
      <p:sp>
        <p:nvSpPr>
          <p:cNvPr id="18" name="Shape 15"/>
          <p:cNvSpPr/>
          <p:nvPr/>
        </p:nvSpPr>
        <p:spPr>
          <a:xfrm>
            <a:off x="978408" y="1712671"/>
            <a:ext cx="658368" cy="237744"/>
          </a:xfrm>
          <a:prstGeom prst="roundRect">
            <a:avLst>
              <a:gd name="adj" fmla="val 23077"/>
            </a:avLst>
          </a:prstGeom>
          <a:solidFill>
            <a:srgbClr val="FFFFFF"/>
          </a:solidFill>
          <a:ln w="9525">
            <a:solidFill>
              <a:srgbClr val="E2E8F0"/>
            </a:solidFill>
            <a:prstDash val="solid"/>
          </a:ln>
        </p:spPr>
      </p:sp>
      <p:pic>
        <p:nvPicPr>
          <p:cNvPr id="19" name="Image 1" descr="/tmp/claude-0/-home-user-Quince/7efe80ae-a049-50c2-9886-98bf7ca3a04a/scratchpad/assets/amazon.png">    </p:cNvPr>
          <p:cNvPicPr>
            <a:picLocks noChangeAspect="1"/>
          </p:cNvPicPr>
          <p:nvPr/>
        </p:nvPicPr>
        <p:blipFill>
          <a:blip r:embed="rId2"/>
          <a:stretch>
            <a:fillRect/>
          </a:stretch>
        </p:blipFill>
        <p:spPr>
          <a:xfrm>
            <a:off x="1095566" y="1767535"/>
            <a:ext cx="424053" cy="128016"/>
          </a:xfrm>
          <a:prstGeom prst="rect">
            <a:avLst/>
          </a:prstGeom>
        </p:spPr>
      </p:pic>
      <p:sp>
        <p:nvSpPr>
          <p:cNvPr id="20" name="Shape 16"/>
          <p:cNvSpPr/>
          <p:nvPr/>
        </p:nvSpPr>
        <p:spPr>
          <a:xfrm>
            <a:off x="1197864" y="2385487"/>
            <a:ext cx="365760" cy="237744"/>
          </a:xfrm>
          <a:prstGeom prst="roundRect">
            <a:avLst>
              <a:gd name="adj" fmla="val 23077"/>
            </a:avLst>
          </a:prstGeom>
          <a:solidFill>
            <a:srgbClr val="FFFFFF"/>
          </a:solidFill>
          <a:ln w="9525">
            <a:solidFill>
              <a:srgbClr val="E2E8F0"/>
            </a:solidFill>
            <a:prstDash val="solid"/>
          </a:ln>
        </p:spPr>
      </p:sp>
      <p:pic>
        <p:nvPicPr>
          <p:cNvPr id="21" name="Image 2" descr="/tmp/claude-0/-home-user-Quince/7efe80ae-a049-50c2-9886-98bf7ca3a04a/scratchpad/assets/uniqlo.png">    </p:cNvPr>
          <p:cNvPicPr>
            <a:picLocks noChangeAspect="1"/>
          </p:cNvPicPr>
          <p:nvPr/>
        </p:nvPicPr>
        <p:blipFill>
          <a:blip r:embed="rId3"/>
          <a:stretch>
            <a:fillRect/>
          </a:stretch>
        </p:blipFill>
        <p:spPr>
          <a:xfrm>
            <a:off x="1280160" y="2403775"/>
            <a:ext cx="201168" cy="201168"/>
          </a:xfrm>
          <a:prstGeom prst="rect">
            <a:avLst/>
          </a:prstGeom>
        </p:spPr>
      </p:pic>
      <p:sp>
        <p:nvSpPr>
          <p:cNvPr id="22" name="Shape 17"/>
          <p:cNvSpPr/>
          <p:nvPr/>
        </p:nvSpPr>
        <p:spPr>
          <a:xfrm>
            <a:off x="978408" y="2954792"/>
            <a:ext cx="658368" cy="237744"/>
          </a:xfrm>
          <a:prstGeom prst="roundRect">
            <a:avLst>
              <a:gd name="adj" fmla="val 23077"/>
            </a:avLst>
          </a:prstGeom>
          <a:solidFill>
            <a:srgbClr val="FFFFFF"/>
          </a:solidFill>
          <a:ln w="9525">
            <a:solidFill>
              <a:srgbClr val="E2E8F0"/>
            </a:solidFill>
            <a:prstDash val="solid"/>
          </a:ln>
        </p:spPr>
      </p:sp>
      <p:pic>
        <p:nvPicPr>
          <p:cNvPr id="23" name="Image 3" descr="/tmp/claude-0/-home-user-Quince/7efe80ae-a049-50c2-9886-98bf7ca3a04a/scratchpad/assets/shein.png">    </p:cNvPr>
          <p:cNvPicPr>
            <a:picLocks noChangeAspect="1"/>
          </p:cNvPicPr>
          <p:nvPr/>
        </p:nvPicPr>
        <p:blipFill>
          <a:blip r:embed="rId4"/>
          <a:stretch>
            <a:fillRect/>
          </a:stretch>
        </p:blipFill>
        <p:spPr>
          <a:xfrm>
            <a:off x="1042416" y="3018610"/>
            <a:ext cx="530352" cy="110108"/>
          </a:xfrm>
          <a:prstGeom prst="rect">
            <a:avLst/>
          </a:prstGeom>
        </p:spPr>
      </p:pic>
      <p:sp>
        <p:nvSpPr>
          <p:cNvPr id="24" name="Shape 18"/>
          <p:cNvSpPr/>
          <p:nvPr/>
        </p:nvSpPr>
        <p:spPr>
          <a:xfrm>
            <a:off x="2743200" y="3110057"/>
            <a:ext cx="786384" cy="237744"/>
          </a:xfrm>
          <a:prstGeom prst="roundRect">
            <a:avLst>
              <a:gd name="adj" fmla="val 23077"/>
            </a:avLst>
          </a:prstGeom>
          <a:solidFill>
            <a:srgbClr val="FFFFFF"/>
          </a:solidFill>
          <a:ln w="9525">
            <a:solidFill>
              <a:srgbClr val="E2E8F0"/>
            </a:solidFill>
            <a:prstDash val="solid"/>
          </a:ln>
        </p:spPr>
      </p:sp>
      <p:pic>
        <p:nvPicPr>
          <p:cNvPr id="25" name="Image 4" descr="/tmp/claude-0/-home-user-Quince/7efe80ae-a049-50c2-9886-98bf7ca3a04a/scratchpad/assets/everlane.png">    </p:cNvPr>
          <p:cNvPicPr>
            <a:picLocks noChangeAspect="1"/>
          </p:cNvPicPr>
          <p:nvPr/>
        </p:nvPicPr>
        <p:blipFill>
          <a:blip r:embed="rId5"/>
          <a:stretch>
            <a:fillRect/>
          </a:stretch>
        </p:blipFill>
        <p:spPr>
          <a:xfrm>
            <a:off x="2807208" y="3195786"/>
            <a:ext cx="658368" cy="66287"/>
          </a:xfrm>
          <a:prstGeom prst="rect">
            <a:avLst/>
          </a:prstGeom>
        </p:spPr>
      </p:pic>
      <p:sp>
        <p:nvSpPr>
          <p:cNvPr id="26" name="Shape 19"/>
          <p:cNvSpPr/>
          <p:nvPr/>
        </p:nvSpPr>
        <p:spPr>
          <a:xfrm>
            <a:off x="3630168" y="3368832"/>
            <a:ext cx="694944" cy="237744"/>
          </a:xfrm>
          <a:prstGeom prst="roundRect">
            <a:avLst>
              <a:gd name="adj" fmla="val 23077"/>
            </a:avLst>
          </a:prstGeom>
          <a:solidFill>
            <a:srgbClr val="FFFFFF"/>
          </a:solidFill>
          <a:ln w="9525">
            <a:solidFill>
              <a:srgbClr val="E2E8F0"/>
            </a:solidFill>
            <a:prstDash val="solid"/>
          </a:ln>
        </p:spPr>
      </p:sp>
      <p:sp>
        <p:nvSpPr>
          <p:cNvPr id="27" name="Text 20"/>
          <p:cNvSpPr txBox="1"/>
          <p:nvPr/>
        </p:nvSpPr>
        <p:spPr>
          <a:xfrm>
            <a:off x="3630168" y="3368832"/>
            <a:ext cx="694944" cy="237744"/>
          </a:xfrm>
          <a:prstGeom prst="rect">
            <a:avLst/>
          </a:prstGeom>
          <a:noFill/>
          <a:ln/>
        </p:spPr>
        <p:txBody>
          <a:bodyPr wrap="square" lIns="0" tIns="0" rIns="0" bIns="0" rtlCol="0" anchor="ctr"/>
          <a:lstStyle/>
          <a:p>
            <a:pPr algn="ctr" indent="0" marL="0">
              <a:buNone/>
            </a:pPr>
            <a:r>
              <a:rPr lang="en-US" sz="750" b="1" spc="200" kern="0" dirty="0">
                <a:solidFill>
                  <a:srgbClr val="0F172A"/>
                </a:solidFill>
                <a:latin typeface="Inter" pitchFamily="34" charset="0"/>
                <a:ea typeface="Inter" pitchFamily="34" charset="-122"/>
                <a:cs typeface="Inter" pitchFamily="34" charset="-120"/>
              </a:rPr>
              <a:t>CUYANA</a:t>
            </a:r>
            <a:endParaRPr lang="en-US" sz="750" dirty="0"/>
          </a:p>
        </p:txBody>
      </p:sp>
      <p:sp>
        <p:nvSpPr>
          <p:cNvPr id="28" name="Shape 21"/>
          <p:cNvSpPr/>
          <p:nvPr/>
        </p:nvSpPr>
        <p:spPr>
          <a:xfrm>
            <a:off x="3666744" y="2230222"/>
            <a:ext cx="694944" cy="237744"/>
          </a:xfrm>
          <a:prstGeom prst="roundRect">
            <a:avLst>
              <a:gd name="adj" fmla="val 23077"/>
            </a:avLst>
          </a:prstGeom>
          <a:solidFill>
            <a:srgbClr val="FFFFFF"/>
          </a:solidFill>
          <a:ln w="9525">
            <a:solidFill>
              <a:srgbClr val="E2E8F0"/>
            </a:solidFill>
            <a:prstDash val="solid"/>
          </a:ln>
        </p:spPr>
      </p:sp>
      <p:pic>
        <p:nvPicPr>
          <p:cNvPr id="29" name="Image 5" descr="/tmp/claude-0/-home-user-Quince/7efe80ae-a049-50c2-9886-98bf7ca3a04a/scratchpad/assets/tapestry.png">    </p:cNvPr>
          <p:cNvPicPr>
            <a:picLocks noChangeAspect="1"/>
          </p:cNvPicPr>
          <p:nvPr/>
        </p:nvPicPr>
        <p:blipFill>
          <a:blip r:embed="rId6"/>
          <a:stretch>
            <a:fillRect/>
          </a:stretch>
        </p:blipFill>
        <p:spPr>
          <a:xfrm>
            <a:off x="3730752" y="2285691"/>
            <a:ext cx="566928" cy="126806"/>
          </a:xfrm>
          <a:prstGeom prst="rect">
            <a:avLst/>
          </a:prstGeom>
        </p:spPr>
      </p:pic>
      <p:sp>
        <p:nvSpPr>
          <p:cNvPr id="30" name="Shape 22"/>
          <p:cNvSpPr/>
          <p:nvPr/>
        </p:nvSpPr>
        <p:spPr>
          <a:xfrm>
            <a:off x="2807208" y="1660916"/>
            <a:ext cx="1097280" cy="237744"/>
          </a:xfrm>
          <a:prstGeom prst="roundRect">
            <a:avLst>
              <a:gd name="adj" fmla="val 23077"/>
            </a:avLst>
          </a:prstGeom>
          <a:solidFill>
            <a:srgbClr val="FFFFFF"/>
          </a:solidFill>
          <a:ln w="9525">
            <a:solidFill>
              <a:srgbClr val="E2E8F0"/>
            </a:solidFill>
            <a:prstDash val="solid"/>
          </a:ln>
        </p:spPr>
      </p:sp>
      <p:pic>
        <p:nvPicPr>
          <p:cNvPr id="31" name="Image 6" descr="/tmp/claude-0/-home-user-Quince/7efe80ae-a049-50c2-9886-98bf7ca3a04a/scratchpad/assets/williams_sonoma.png">    </p:cNvPr>
          <p:cNvPicPr>
            <a:picLocks noChangeAspect="1"/>
          </p:cNvPicPr>
          <p:nvPr/>
        </p:nvPicPr>
        <p:blipFill>
          <a:blip r:embed="rId7"/>
          <a:stretch>
            <a:fillRect/>
          </a:stretch>
        </p:blipFill>
        <p:spPr>
          <a:xfrm>
            <a:off x="2871216" y="1745388"/>
            <a:ext cx="969264" cy="68800"/>
          </a:xfrm>
          <a:prstGeom prst="rect">
            <a:avLst/>
          </a:prstGeom>
        </p:spPr>
      </p:pic>
      <p:sp>
        <p:nvSpPr>
          <p:cNvPr id="32" name="Shape 23"/>
          <p:cNvSpPr/>
          <p:nvPr/>
        </p:nvSpPr>
        <p:spPr>
          <a:xfrm>
            <a:off x="2258568" y="2598908"/>
            <a:ext cx="0" cy="1156533"/>
          </a:xfrm>
          <a:prstGeom prst="line">
            <a:avLst/>
          </a:prstGeom>
          <a:noFill/>
          <a:ln w="25400">
            <a:solidFill>
              <a:srgbClr val="1D4ED8"/>
            </a:solidFill>
            <a:prstDash val="solid"/>
            <a:headEnd type="triangle"/>
          </a:ln>
        </p:spPr>
      </p:sp>
      <p:sp>
        <p:nvSpPr>
          <p:cNvPr id="33" name="Shape 24"/>
          <p:cNvSpPr/>
          <p:nvPr/>
        </p:nvSpPr>
        <p:spPr>
          <a:xfrm>
            <a:off x="1874520" y="2315444"/>
            <a:ext cx="768096" cy="274320"/>
          </a:xfrm>
          <a:prstGeom prst="roundRect">
            <a:avLst>
              <a:gd name="adj" fmla="val 20000"/>
            </a:avLst>
          </a:prstGeom>
          <a:solidFill>
            <a:srgbClr val="1D4ED8"/>
          </a:solidFill>
          <a:ln w="6350">
            <a:solidFill>
              <a:srgbClr val="1D4ED8"/>
            </a:solidFill>
            <a:prstDash val="solid"/>
          </a:ln>
        </p:spPr>
      </p:sp>
      <p:pic>
        <p:nvPicPr>
          <p:cNvPr id="34" name="Image 7" descr="/tmp/claude-0/-home-user-Quince/7efe80ae-a049-50c2-9886-98bf7ca3a04a/scratchpad/assets/quince_white.png">    </p:cNvPr>
          <p:cNvPicPr>
            <a:picLocks noChangeAspect="1"/>
          </p:cNvPicPr>
          <p:nvPr/>
        </p:nvPicPr>
        <p:blipFill>
          <a:blip r:embed="rId8"/>
          <a:stretch>
            <a:fillRect/>
          </a:stretch>
        </p:blipFill>
        <p:spPr>
          <a:xfrm>
            <a:off x="1998124" y="2374880"/>
            <a:ext cx="520887" cy="155448"/>
          </a:xfrm>
          <a:prstGeom prst="rect">
            <a:avLst/>
          </a:prstGeom>
        </p:spPr>
      </p:pic>
      <p:sp>
        <p:nvSpPr>
          <p:cNvPr id="35" name="Shape 25"/>
          <p:cNvSpPr/>
          <p:nvPr/>
        </p:nvSpPr>
        <p:spPr>
          <a:xfrm>
            <a:off x="1874520" y="3764585"/>
            <a:ext cx="768096" cy="274320"/>
          </a:xfrm>
          <a:prstGeom prst="roundRect">
            <a:avLst>
              <a:gd name="adj" fmla="val 20000"/>
            </a:avLst>
          </a:prstGeom>
          <a:solidFill>
            <a:srgbClr val="FFFFFF"/>
          </a:solidFill>
          <a:ln w="12700">
            <a:solidFill>
              <a:srgbClr val="94A3B8"/>
            </a:solidFill>
            <a:prstDash val="dash"/>
          </a:ln>
        </p:spPr>
      </p:sp>
      <p:pic>
        <p:nvPicPr>
          <p:cNvPr id="36" name="Image 8" descr="/tmp/claude-0/-home-user-Quince/7efe80ae-a049-50c2-9886-98bf7ca3a04a/scratchpad/assets/quince.png">    </p:cNvPr>
          <p:cNvPicPr>
            <a:picLocks noChangeAspect="1"/>
          </p:cNvPicPr>
          <p:nvPr/>
        </p:nvPicPr>
        <p:blipFill>
          <a:blip r:embed="rId9"/>
          <a:stretch>
            <a:fillRect/>
          </a:stretch>
        </p:blipFill>
        <p:spPr>
          <a:xfrm>
            <a:off x="1998124" y="3824021"/>
            <a:ext cx="520887" cy="155448"/>
          </a:xfrm>
          <a:prstGeom prst="rect">
            <a:avLst/>
          </a:prstGeom>
        </p:spPr>
      </p:pic>
      <p:sp>
        <p:nvSpPr>
          <p:cNvPr id="37" name="Text 26"/>
          <p:cNvSpPr txBox="1"/>
          <p:nvPr/>
        </p:nvSpPr>
        <p:spPr>
          <a:xfrm>
            <a:off x="2670048" y="2361164"/>
            <a:ext cx="548640" cy="182880"/>
          </a:xfrm>
          <a:prstGeom prst="rect">
            <a:avLst/>
          </a:prstGeom>
          <a:noFill/>
          <a:ln/>
        </p:spPr>
        <p:txBody>
          <a:bodyPr wrap="square" lIns="0" tIns="0" rIns="0" bIns="0" rtlCol="0" anchor="ctr"/>
          <a:lstStyle/>
          <a:p>
            <a:pPr indent="0" marL="0">
              <a:buNone/>
            </a:pPr>
            <a:r>
              <a:rPr lang="en-US" sz="850" b="1" dirty="0">
                <a:solidFill>
                  <a:srgbClr val="1D4ED8"/>
                </a:solidFill>
                <a:latin typeface="Inter" pitchFamily="34" charset="0"/>
                <a:ea typeface="Inter" pitchFamily="34" charset="-122"/>
                <a:cs typeface="Inter" pitchFamily="34" charset="-120"/>
              </a:rPr>
              <a:t>target</a:t>
            </a:r>
            <a:endParaRPr lang="en-US" sz="850" dirty="0"/>
          </a:p>
        </p:txBody>
      </p:sp>
      <p:sp>
        <p:nvSpPr>
          <p:cNvPr id="38" name="Text 27"/>
          <p:cNvSpPr txBox="1"/>
          <p:nvPr/>
        </p:nvSpPr>
        <p:spPr>
          <a:xfrm>
            <a:off x="2670048" y="3810305"/>
            <a:ext cx="548640" cy="182880"/>
          </a:xfrm>
          <a:prstGeom prst="rect">
            <a:avLst/>
          </a:prstGeom>
          <a:noFill/>
          <a:ln/>
        </p:spPr>
        <p:txBody>
          <a:bodyPr wrap="square" lIns="0" tIns="0" rIns="0" bIns="0" rtlCol="0" anchor="ctr"/>
          <a:lstStyle/>
          <a:p>
            <a:pPr indent="0" marL="0">
              <a:buNone/>
            </a:pPr>
            <a:r>
              <a:rPr lang="en-US" sz="850" b="1" dirty="0">
                <a:solidFill>
                  <a:srgbClr val="64748B"/>
                </a:solidFill>
                <a:latin typeface="Inter" pitchFamily="34" charset="0"/>
                <a:ea typeface="Inter" pitchFamily="34" charset="-122"/>
                <a:cs typeface="Inter" pitchFamily="34" charset="-120"/>
              </a:rPr>
              <a:t>today</a:t>
            </a:r>
            <a:endParaRPr lang="en-US" sz="850" dirty="0"/>
          </a:p>
        </p:txBody>
      </p:sp>
      <p:sp>
        <p:nvSpPr>
          <p:cNvPr id="39" name="Shape 28"/>
          <p:cNvSpPr/>
          <p:nvPr/>
        </p:nvSpPr>
        <p:spPr>
          <a:xfrm>
            <a:off x="502920" y="4462272"/>
            <a:ext cx="4206240" cy="1801368"/>
          </a:xfrm>
          <a:prstGeom prst="roundRect">
            <a:avLst>
              <a:gd name="adj" fmla="val 3046"/>
            </a:avLst>
          </a:prstGeom>
          <a:solidFill>
            <a:srgbClr val="EFF6FF"/>
          </a:solidFill>
          <a:ln w="6350">
            <a:solidFill>
              <a:srgbClr val="EFF6FF"/>
            </a:solidFill>
            <a:prstDash val="solid"/>
          </a:ln>
        </p:spPr>
      </p:sp>
      <p:sp>
        <p:nvSpPr>
          <p:cNvPr id="40" name="Text 29"/>
          <p:cNvSpPr txBox="1"/>
          <p:nvPr/>
        </p:nvSpPr>
        <p:spPr>
          <a:xfrm>
            <a:off x="640080" y="4526280"/>
            <a:ext cx="3931920" cy="219456"/>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a rival can copy, and how fast</a:t>
            </a:r>
            <a:endParaRPr lang="en-US" sz="1100" dirty="0"/>
          </a:p>
        </p:txBody>
      </p:sp>
      <p:sp>
        <p:nvSpPr>
          <p:cNvPr id="41" name="Text 30"/>
          <p:cNvSpPr txBox="1"/>
          <p:nvPr/>
        </p:nvSpPr>
        <p:spPr>
          <a:xfrm>
            <a:off x="640080" y="4791456"/>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A 20% discount</a:t>
            </a:r>
            <a:endParaRPr lang="en-US" sz="950" dirty="0"/>
          </a:p>
        </p:txBody>
      </p:sp>
      <p:sp>
        <p:nvSpPr>
          <p:cNvPr id="42" name="Shape 31"/>
          <p:cNvSpPr/>
          <p:nvPr/>
        </p:nvSpPr>
        <p:spPr>
          <a:xfrm>
            <a:off x="2286000" y="4864608"/>
            <a:ext cx="2286000" cy="109728"/>
          </a:xfrm>
          <a:prstGeom prst="rect">
            <a:avLst/>
          </a:prstGeom>
          <a:solidFill>
            <a:srgbClr val="DCE5F2"/>
          </a:solidFill>
          <a:ln w="6350">
            <a:solidFill>
              <a:srgbClr val="DCE5F2"/>
            </a:solidFill>
            <a:prstDash val="solid"/>
          </a:ln>
        </p:spPr>
      </p:sp>
      <p:sp>
        <p:nvSpPr>
          <p:cNvPr id="43" name="Shape 32"/>
          <p:cNvSpPr/>
          <p:nvPr/>
        </p:nvSpPr>
        <p:spPr>
          <a:xfrm>
            <a:off x="2286000" y="4864608"/>
            <a:ext cx="274320" cy="109728"/>
          </a:xfrm>
          <a:prstGeom prst="rect">
            <a:avLst/>
          </a:prstGeom>
          <a:solidFill>
            <a:srgbClr val="60A5FA"/>
          </a:solidFill>
          <a:ln w="6350">
            <a:solidFill>
              <a:srgbClr val="60A5FA"/>
            </a:solidFill>
            <a:prstDash val="solid"/>
          </a:ln>
        </p:spPr>
      </p:sp>
      <p:sp>
        <p:nvSpPr>
          <p:cNvPr id="44" name="Text 33"/>
          <p:cNvSpPr txBox="1"/>
          <p:nvPr/>
        </p:nvSpPr>
        <p:spPr>
          <a:xfrm>
            <a:off x="2286000" y="4992624"/>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Overnight: any rival, any day</a:t>
            </a:r>
            <a:endParaRPr lang="en-US" sz="800" dirty="0"/>
          </a:p>
        </p:txBody>
      </p:sp>
      <p:sp>
        <p:nvSpPr>
          <p:cNvPr id="45" name="Text 34"/>
          <p:cNvSpPr txBox="1"/>
          <p:nvPr/>
        </p:nvSpPr>
        <p:spPr>
          <a:xfrm>
            <a:off x="640080" y="5266944"/>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Journeys and suppression lists</a:t>
            </a:r>
            <a:endParaRPr lang="en-US" sz="950" dirty="0"/>
          </a:p>
        </p:txBody>
      </p:sp>
      <p:sp>
        <p:nvSpPr>
          <p:cNvPr id="46" name="Shape 35"/>
          <p:cNvSpPr/>
          <p:nvPr/>
        </p:nvSpPr>
        <p:spPr>
          <a:xfrm>
            <a:off x="2286000" y="5340096"/>
            <a:ext cx="2286000" cy="109728"/>
          </a:xfrm>
          <a:prstGeom prst="rect">
            <a:avLst/>
          </a:prstGeom>
          <a:solidFill>
            <a:srgbClr val="DCE5F2"/>
          </a:solidFill>
          <a:ln w="6350">
            <a:solidFill>
              <a:srgbClr val="DCE5F2"/>
            </a:solidFill>
            <a:prstDash val="solid"/>
          </a:ln>
        </p:spPr>
      </p:sp>
      <p:sp>
        <p:nvSpPr>
          <p:cNvPr id="47" name="Shape 36"/>
          <p:cNvSpPr/>
          <p:nvPr/>
        </p:nvSpPr>
        <p:spPr>
          <a:xfrm>
            <a:off x="2286000" y="5340096"/>
            <a:ext cx="1028700" cy="109728"/>
          </a:xfrm>
          <a:prstGeom prst="rect">
            <a:avLst/>
          </a:prstGeom>
          <a:solidFill>
            <a:srgbClr val="2563EB"/>
          </a:solidFill>
          <a:ln w="6350">
            <a:solidFill>
              <a:srgbClr val="2563EB"/>
            </a:solidFill>
            <a:prstDash val="solid"/>
          </a:ln>
        </p:spPr>
      </p:sp>
      <p:sp>
        <p:nvSpPr>
          <p:cNvPr id="48" name="Text 37"/>
          <p:cNvSpPr txBox="1"/>
          <p:nvPr/>
        </p:nvSpPr>
        <p:spPr>
          <a:xfrm>
            <a:off x="2286000" y="5468112"/>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A quarter or two: Everlane ran them and still sold</a:t>
            </a:r>
            <a:endParaRPr lang="en-US" sz="800" dirty="0"/>
          </a:p>
        </p:txBody>
      </p:sp>
      <p:sp>
        <p:nvSpPr>
          <p:cNvPr id="49" name="Text 38"/>
          <p:cNvSpPr txBox="1"/>
          <p:nvPr/>
        </p:nvSpPr>
        <p:spPr>
          <a:xfrm>
            <a:off x="640080" y="5742432"/>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M2C cost + consented audience</a:t>
            </a:r>
            <a:endParaRPr lang="en-US" sz="950" dirty="0"/>
          </a:p>
        </p:txBody>
      </p:sp>
      <p:sp>
        <p:nvSpPr>
          <p:cNvPr id="50" name="Shape 39"/>
          <p:cNvSpPr/>
          <p:nvPr/>
        </p:nvSpPr>
        <p:spPr>
          <a:xfrm>
            <a:off x="2286000" y="5815584"/>
            <a:ext cx="2286000" cy="109728"/>
          </a:xfrm>
          <a:prstGeom prst="rect">
            <a:avLst/>
          </a:prstGeom>
          <a:solidFill>
            <a:srgbClr val="DCE5F2"/>
          </a:solidFill>
          <a:ln w="6350">
            <a:solidFill>
              <a:srgbClr val="DCE5F2"/>
            </a:solidFill>
            <a:prstDash val="solid"/>
          </a:ln>
        </p:spPr>
      </p:sp>
      <p:sp>
        <p:nvSpPr>
          <p:cNvPr id="51" name="Shape 40"/>
          <p:cNvSpPr/>
          <p:nvPr/>
        </p:nvSpPr>
        <p:spPr>
          <a:xfrm>
            <a:off x="2286000" y="5815584"/>
            <a:ext cx="2286000" cy="109728"/>
          </a:xfrm>
          <a:prstGeom prst="rect">
            <a:avLst/>
          </a:prstGeom>
          <a:solidFill>
            <a:srgbClr val="0A1F44"/>
          </a:solidFill>
          <a:ln w="6350">
            <a:solidFill>
              <a:srgbClr val="0A1F44"/>
            </a:solidFill>
            <a:prstDash val="solid"/>
          </a:ln>
        </p:spPr>
      </p:sp>
      <p:sp>
        <p:nvSpPr>
          <p:cNvPr id="52" name="Text 41"/>
          <p:cNvSpPr txBox="1"/>
          <p:nvPr/>
        </p:nvSpPr>
        <p:spPr>
          <a:xfrm>
            <a:off x="2286000" y="5943600"/>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Years: own factories plus buyers who opted in</a:t>
            </a:r>
            <a:endParaRPr lang="en-US" sz="800" dirty="0"/>
          </a:p>
        </p:txBody>
      </p:sp>
      <p:sp>
        <p:nvSpPr>
          <p:cNvPr id="53" name="Text 42"/>
          <p:cNvSpPr txBox="1"/>
          <p:nvPr/>
        </p:nvSpPr>
        <p:spPr>
          <a:xfrm>
            <a:off x="4937760" y="1170432"/>
            <a:ext cx="12344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Rival</a:t>
            </a:r>
            <a:endParaRPr lang="en-US" sz="1100" dirty="0"/>
          </a:p>
        </p:txBody>
      </p:sp>
      <p:sp>
        <p:nvSpPr>
          <p:cNvPr id="54" name="Text 43"/>
          <p:cNvSpPr txBox="1"/>
          <p:nvPr/>
        </p:nvSpPr>
        <p:spPr>
          <a:xfrm>
            <a:off x="6172200" y="1170432"/>
            <a:ext cx="30632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they do (evidence)</a:t>
            </a:r>
            <a:endParaRPr lang="en-US" sz="1100" dirty="0"/>
          </a:p>
        </p:txBody>
      </p:sp>
      <p:sp>
        <p:nvSpPr>
          <p:cNvPr id="55" name="Text 44"/>
          <p:cNvSpPr txBox="1"/>
          <p:nvPr/>
        </p:nvSpPr>
        <p:spPr>
          <a:xfrm>
            <a:off x="9326880" y="1170432"/>
            <a:ext cx="2359152"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it means for Quince</a:t>
            </a:r>
            <a:endParaRPr lang="en-US" sz="1100" dirty="0"/>
          </a:p>
        </p:txBody>
      </p:sp>
      <p:sp>
        <p:nvSpPr>
          <p:cNvPr id="56" name="Shape 45"/>
          <p:cNvSpPr/>
          <p:nvPr/>
        </p:nvSpPr>
        <p:spPr>
          <a:xfrm>
            <a:off x="4937760" y="1444752"/>
            <a:ext cx="6748272" cy="658368"/>
          </a:xfrm>
          <a:prstGeom prst="roundRect">
            <a:avLst>
              <a:gd name="adj" fmla="val 5556"/>
            </a:avLst>
          </a:prstGeom>
          <a:solidFill>
            <a:srgbClr val="F8FAFC"/>
          </a:solidFill>
          <a:ln w="6350">
            <a:solidFill>
              <a:srgbClr val="F8FAFC"/>
            </a:solidFill>
            <a:prstDash val="solid"/>
          </a:ln>
        </p:spPr>
      </p:sp>
      <p:pic>
        <p:nvPicPr>
          <p:cNvPr id="57" name="Image 9" descr="/tmp/claude-0/-home-user-Quince/7efe80ae-a049-50c2-9886-98bf7ca3a04a/scratchpad/assets/amazon.png">    </p:cNvPr>
          <p:cNvPicPr>
            <a:picLocks noChangeAspect="1"/>
          </p:cNvPicPr>
          <p:nvPr/>
        </p:nvPicPr>
        <p:blipFill>
          <a:blip r:embed="rId10"/>
          <a:stretch>
            <a:fillRect/>
          </a:stretch>
        </p:blipFill>
        <p:spPr>
          <a:xfrm>
            <a:off x="5201793" y="1682496"/>
            <a:ext cx="605790" cy="182880"/>
          </a:xfrm>
          <a:prstGeom prst="rect">
            <a:avLst/>
          </a:prstGeom>
        </p:spPr>
      </p:pic>
      <p:sp>
        <p:nvSpPr>
          <p:cNvPr id="58" name="Text 46"/>
          <p:cNvSpPr txBox="1"/>
          <p:nvPr/>
        </p:nvSpPr>
        <p:spPr>
          <a:xfrm>
            <a:off x="6172200" y="144475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Ads revenue $19.8B in Q2 2026, +26%</a:t>
            </a:r>
            <a:endParaRPr lang="en-US" sz="1000" dirty="0"/>
          </a:p>
        </p:txBody>
      </p:sp>
      <p:sp>
        <p:nvSpPr>
          <p:cNvPr id="59" name="Shape 47"/>
          <p:cNvSpPr/>
          <p:nvPr/>
        </p:nvSpPr>
        <p:spPr>
          <a:xfrm>
            <a:off x="9326880" y="1554480"/>
            <a:ext cx="45720" cy="438912"/>
          </a:xfrm>
          <a:prstGeom prst="rect">
            <a:avLst/>
          </a:prstGeom>
          <a:solidFill>
            <a:srgbClr val="1D4ED8"/>
          </a:solidFill>
          <a:ln w="6350">
            <a:solidFill>
              <a:srgbClr val="1D4ED8"/>
            </a:solidFill>
            <a:prstDash val="solid"/>
          </a:ln>
        </p:spPr>
      </p:sp>
      <p:sp>
        <p:nvSpPr>
          <p:cNvPr id="60" name="Text 48"/>
          <p:cNvSpPr txBox="1"/>
          <p:nvPr/>
        </p:nvSpPr>
        <p:spPr>
          <a:xfrm>
            <a:off x="9436608" y="144475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Wins any retargeting auction</a:t>
            </a:r>
            <a:endParaRPr lang="en-US" sz="1000" dirty="0"/>
          </a:p>
        </p:txBody>
      </p:sp>
      <p:sp>
        <p:nvSpPr>
          <p:cNvPr id="61" name="Shape 49"/>
          <p:cNvSpPr/>
          <p:nvPr/>
        </p:nvSpPr>
        <p:spPr>
          <a:xfrm>
            <a:off x="4937760" y="2157984"/>
            <a:ext cx="6748272" cy="658368"/>
          </a:xfrm>
          <a:prstGeom prst="roundRect">
            <a:avLst>
              <a:gd name="adj" fmla="val 5556"/>
            </a:avLst>
          </a:prstGeom>
          <a:solidFill>
            <a:srgbClr val="FFFFFF"/>
          </a:solidFill>
          <a:ln w="6350">
            <a:solidFill>
              <a:srgbClr val="FFFFFF"/>
            </a:solidFill>
            <a:prstDash val="solid"/>
          </a:ln>
        </p:spPr>
      </p:sp>
      <p:pic>
        <p:nvPicPr>
          <p:cNvPr id="62" name="Image 10" descr="/tmp/claude-0/-home-user-Quince/7efe80ae-a049-50c2-9886-98bf7ca3a04a/scratchpad/assets/shein.png">    </p:cNvPr>
          <p:cNvPicPr>
            <a:picLocks noChangeAspect="1"/>
          </p:cNvPicPr>
          <p:nvPr/>
        </p:nvPicPr>
        <p:blipFill>
          <a:blip r:embed="rId11"/>
          <a:stretch>
            <a:fillRect/>
          </a:stretch>
        </p:blipFill>
        <p:spPr>
          <a:xfrm>
            <a:off x="5064252" y="2395728"/>
            <a:ext cx="880872" cy="182880"/>
          </a:xfrm>
          <a:prstGeom prst="rect">
            <a:avLst/>
          </a:prstGeom>
        </p:spPr>
      </p:pic>
      <p:sp>
        <p:nvSpPr>
          <p:cNvPr id="63" name="Text 50"/>
          <p:cNvSpPr txBox="1"/>
          <p:nvPr/>
        </p:nvSpPr>
        <p:spPr>
          <a:xfrm>
            <a:off x="6172200" y="215798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#2 shopping app worldwide; buying Everlane</a:t>
            </a:r>
            <a:endParaRPr lang="en-US" sz="1000" dirty="0"/>
          </a:p>
        </p:txBody>
      </p:sp>
      <p:sp>
        <p:nvSpPr>
          <p:cNvPr id="64" name="Shape 51"/>
          <p:cNvSpPr/>
          <p:nvPr/>
        </p:nvSpPr>
        <p:spPr>
          <a:xfrm>
            <a:off x="9326880" y="2267712"/>
            <a:ext cx="45720" cy="438912"/>
          </a:xfrm>
          <a:prstGeom prst="rect">
            <a:avLst/>
          </a:prstGeom>
          <a:solidFill>
            <a:srgbClr val="1D4ED8"/>
          </a:solidFill>
          <a:ln w="6350">
            <a:solidFill>
              <a:srgbClr val="1D4ED8"/>
            </a:solidFill>
            <a:prstDash val="solid"/>
          </a:ln>
        </p:spPr>
      </p:sp>
      <p:sp>
        <p:nvSpPr>
          <p:cNvPr id="65" name="Text 52"/>
          <p:cNvSpPr txBox="1"/>
          <p:nvPr/>
        </p:nvSpPr>
        <p:spPr>
          <a:xfrm>
            <a:off x="9436608" y="215798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The price end is crowded</a:t>
            </a:r>
            <a:endParaRPr lang="en-US" sz="1000" dirty="0"/>
          </a:p>
        </p:txBody>
      </p:sp>
      <p:sp>
        <p:nvSpPr>
          <p:cNvPr id="66" name="Shape 53"/>
          <p:cNvSpPr/>
          <p:nvPr/>
        </p:nvSpPr>
        <p:spPr>
          <a:xfrm>
            <a:off x="4937760" y="2871216"/>
            <a:ext cx="6748272" cy="658368"/>
          </a:xfrm>
          <a:prstGeom prst="roundRect">
            <a:avLst>
              <a:gd name="adj" fmla="val 5556"/>
            </a:avLst>
          </a:prstGeom>
          <a:solidFill>
            <a:srgbClr val="F8FAFC"/>
          </a:solidFill>
          <a:ln w="6350">
            <a:solidFill>
              <a:srgbClr val="F8FAFC"/>
            </a:solidFill>
            <a:prstDash val="solid"/>
          </a:ln>
        </p:spPr>
      </p:sp>
      <p:pic>
        <p:nvPicPr>
          <p:cNvPr id="67" name="Image 11" descr="/tmp/claude-0/-home-user-Quince/7efe80ae-a049-50c2-9886-98bf7ca3a04a/scratchpad/assets/everlane.png">    </p:cNvPr>
          <p:cNvPicPr>
            <a:picLocks noChangeAspect="1"/>
          </p:cNvPicPr>
          <p:nvPr/>
        </p:nvPicPr>
        <p:blipFill>
          <a:blip r:embed="rId12"/>
          <a:stretch>
            <a:fillRect/>
          </a:stretch>
        </p:blipFill>
        <p:spPr>
          <a:xfrm>
            <a:off x="5024628" y="3152066"/>
            <a:ext cx="960120" cy="96669"/>
          </a:xfrm>
          <a:prstGeom prst="rect">
            <a:avLst/>
          </a:prstGeom>
        </p:spPr>
      </p:pic>
      <p:sp>
        <p:nvSpPr>
          <p:cNvPr id="68" name="Text 54"/>
          <p:cNvSpPr txBox="1"/>
          <p:nvPr/>
        </p:nvSpPr>
        <p:spPr>
          <a:xfrm>
            <a:off x="6172200" y="2871216"/>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Mature email and SMS, still sold to Shein</a:t>
            </a:r>
            <a:endParaRPr lang="en-US" sz="1000" dirty="0"/>
          </a:p>
        </p:txBody>
      </p:sp>
      <p:sp>
        <p:nvSpPr>
          <p:cNvPr id="69" name="Shape 55"/>
          <p:cNvSpPr/>
          <p:nvPr/>
        </p:nvSpPr>
        <p:spPr>
          <a:xfrm>
            <a:off x="9326880" y="2980944"/>
            <a:ext cx="45720" cy="438912"/>
          </a:xfrm>
          <a:prstGeom prst="rect">
            <a:avLst/>
          </a:prstGeom>
          <a:solidFill>
            <a:srgbClr val="1D4ED8"/>
          </a:solidFill>
          <a:ln w="6350">
            <a:solidFill>
              <a:srgbClr val="1D4ED8"/>
            </a:solidFill>
            <a:prstDash val="solid"/>
          </a:ln>
        </p:spPr>
      </p:sp>
      <p:sp>
        <p:nvSpPr>
          <p:cNvPr id="70" name="Text 56"/>
          <p:cNvSpPr txBox="1"/>
          <p:nvPr/>
        </p:nvSpPr>
        <p:spPr>
          <a:xfrm>
            <a:off x="9436608" y="2871216"/>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Owned channels alone aren't a moat</a:t>
            </a:r>
            <a:endParaRPr lang="en-US" sz="1000" dirty="0"/>
          </a:p>
        </p:txBody>
      </p:sp>
      <p:sp>
        <p:nvSpPr>
          <p:cNvPr id="71" name="Shape 57"/>
          <p:cNvSpPr/>
          <p:nvPr/>
        </p:nvSpPr>
        <p:spPr>
          <a:xfrm>
            <a:off x="4937760" y="3584448"/>
            <a:ext cx="6748272" cy="658368"/>
          </a:xfrm>
          <a:prstGeom prst="roundRect">
            <a:avLst>
              <a:gd name="adj" fmla="val 5556"/>
            </a:avLst>
          </a:prstGeom>
          <a:solidFill>
            <a:srgbClr val="FFFFFF"/>
          </a:solidFill>
          <a:ln w="6350">
            <a:solidFill>
              <a:srgbClr val="FFFFFF"/>
            </a:solidFill>
            <a:prstDash val="solid"/>
          </a:ln>
        </p:spPr>
      </p:sp>
      <p:pic>
        <p:nvPicPr>
          <p:cNvPr id="72" name="Image 12" descr="/tmp/claude-0/-home-user-Quince/7efe80ae-a049-50c2-9886-98bf7ca3a04a/scratchpad/assets/uniqlo.png">    </p:cNvPr>
          <p:cNvPicPr>
            <a:picLocks noChangeAspect="1"/>
          </p:cNvPicPr>
          <p:nvPr/>
        </p:nvPicPr>
        <p:blipFill>
          <a:blip r:embed="rId13"/>
          <a:stretch>
            <a:fillRect/>
          </a:stretch>
        </p:blipFill>
        <p:spPr>
          <a:xfrm>
            <a:off x="5358384" y="3767328"/>
            <a:ext cx="292608" cy="292608"/>
          </a:xfrm>
          <a:prstGeom prst="rect">
            <a:avLst/>
          </a:prstGeom>
        </p:spPr>
      </p:pic>
      <p:sp>
        <p:nvSpPr>
          <p:cNvPr id="73" name="Text 58"/>
          <p:cNvSpPr txBox="1"/>
          <p:nvPr/>
        </p:nvSpPr>
        <p:spPr>
          <a:xfrm>
            <a:off x="6172200" y="3584448"/>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App loyalty; 13.5M members in China</a:t>
            </a:r>
            <a:endParaRPr lang="en-US" sz="1000" dirty="0"/>
          </a:p>
        </p:txBody>
      </p:sp>
      <p:sp>
        <p:nvSpPr>
          <p:cNvPr id="74" name="Shape 59"/>
          <p:cNvSpPr/>
          <p:nvPr/>
        </p:nvSpPr>
        <p:spPr>
          <a:xfrm>
            <a:off x="9326880" y="3694176"/>
            <a:ext cx="45720" cy="438912"/>
          </a:xfrm>
          <a:prstGeom prst="rect">
            <a:avLst/>
          </a:prstGeom>
          <a:solidFill>
            <a:srgbClr val="1D4ED8"/>
          </a:solidFill>
          <a:ln w="6350">
            <a:solidFill>
              <a:srgbClr val="1D4ED8"/>
            </a:solidFill>
            <a:prstDash val="solid"/>
          </a:ln>
        </p:spPr>
      </p:sp>
      <p:sp>
        <p:nvSpPr>
          <p:cNvPr id="75" name="Text 60"/>
          <p:cNvSpPr txBox="1"/>
          <p:nvPr/>
        </p:nvSpPr>
        <p:spPr>
          <a:xfrm>
            <a:off x="9436608" y="3584448"/>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scale Quince can't copy</a:t>
            </a:r>
            <a:endParaRPr lang="en-US" sz="1000" dirty="0"/>
          </a:p>
        </p:txBody>
      </p:sp>
      <p:sp>
        <p:nvSpPr>
          <p:cNvPr id="76" name="Shape 61"/>
          <p:cNvSpPr/>
          <p:nvPr/>
        </p:nvSpPr>
        <p:spPr>
          <a:xfrm>
            <a:off x="4937760" y="4297680"/>
            <a:ext cx="6748272" cy="658368"/>
          </a:xfrm>
          <a:prstGeom prst="roundRect">
            <a:avLst>
              <a:gd name="adj" fmla="val 5556"/>
            </a:avLst>
          </a:prstGeom>
          <a:solidFill>
            <a:srgbClr val="F8FAFC"/>
          </a:solidFill>
          <a:ln w="6350">
            <a:solidFill>
              <a:srgbClr val="F8FAFC"/>
            </a:solidFill>
            <a:prstDash val="solid"/>
          </a:ln>
        </p:spPr>
      </p:sp>
      <p:pic>
        <p:nvPicPr>
          <p:cNvPr id="77" name="Image 13" descr="/tmp/claude-0/-home-user-Quince/7efe80ae-a049-50c2-9886-98bf7ca3a04a/scratchpad/assets/tapestry.png">    </p:cNvPr>
          <p:cNvPicPr>
            <a:picLocks noChangeAspect="1"/>
          </p:cNvPicPr>
          <p:nvPr/>
        </p:nvPicPr>
        <p:blipFill>
          <a:blip r:embed="rId14"/>
          <a:stretch>
            <a:fillRect/>
          </a:stretch>
        </p:blipFill>
        <p:spPr>
          <a:xfrm>
            <a:off x="5095875" y="4535424"/>
            <a:ext cx="817626" cy="182880"/>
          </a:xfrm>
          <a:prstGeom prst="rect">
            <a:avLst/>
          </a:prstGeom>
        </p:spPr>
      </p:pic>
      <p:sp>
        <p:nvSpPr>
          <p:cNvPr id="78" name="Text 62"/>
          <p:cNvSpPr txBox="1"/>
          <p:nvPr/>
        </p:nvSpPr>
        <p:spPr>
          <a:xfrm>
            <a:off x="6172200" y="4297680"/>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6.8M new US customers, ~60% Gen Z/Millennial</a:t>
            </a:r>
            <a:endParaRPr lang="en-US" sz="1000" dirty="0"/>
          </a:p>
        </p:txBody>
      </p:sp>
      <p:sp>
        <p:nvSpPr>
          <p:cNvPr id="79" name="Shape 63"/>
          <p:cNvSpPr/>
          <p:nvPr/>
        </p:nvSpPr>
        <p:spPr>
          <a:xfrm>
            <a:off x="9326880" y="4407408"/>
            <a:ext cx="45720" cy="438912"/>
          </a:xfrm>
          <a:prstGeom prst="rect">
            <a:avLst/>
          </a:prstGeom>
          <a:solidFill>
            <a:srgbClr val="1D4ED8"/>
          </a:solidFill>
          <a:ln w="6350">
            <a:solidFill>
              <a:srgbClr val="1D4ED8"/>
            </a:solidFill>
            <a:prstDash val="solid"/>
          </a:ln>
        </p:spPr>
      </p:sp>
      <p:sp>
        <p:nvSpPr>
          <p:cNvPr id="80" name="Text 64"/>
          <p:cNvSpPr txBox="1"/>
          <p:nvPr/>
        </p:nvSpPr>
        <p:spPr>
          <a:xfrm>
            <a:off x="9436608" y="4297680"/>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wins young buyers</a:t>
            </a:r>
            <a:endParaRPr lang="en-US" sz="1000" dirty="0"/>
          </a:p>
        </p:txBody>
      </p:sp>
      <p:sp>
        <p:nvSpPr>
          <p:cNvPr id="81" name="Shape 65"/>
          <p:cNvSpPr/>
          <p:nvPr/>
        </p:nvSpPr>
        <p:spPr>
          <a:xfrm>
            <a:off x="4937760" y="5010912"/>
            <a:ext cx="6748272" cy="658368"/>
          </a:xfrm>
          <a:prstGeom prst="roundRect">
            <a:avLst>
              <a:gd name="adj" fmla="val 5556"/>
            </a:avLst>
          </a:prstGeom>
          <a:solidFill>
            <a:srgbClr val="FFFFFF"/>
          </a:solidFill>
          <a:ln w="6350">
            <a:solidFill>
              <a:srgbClr val="FFFFFF"/>
            </a:solidFill>
            <a:prstDash val="solid"/>
          </a:ln>
        </p:spPr>
      </p:sp>
      <p:pic>
        <p:nvPicPr>
          <p:cNvPr id="82" name="Image 14" descr="/tmp/claude-0/-home-user-Quince/7efe80ae-a049-50c2-9886-98bf7ca3a04a/scratchpad/assets/williams_sonoma.png">    </p:cNvPr>
          <p:cNvPicPr>
            <a:picLocks noChangeAspect="1"/>
          </p:cNvPicPr>
          <p:nvPr/>
        </p:nvPicPr>
        <p:blipFill>
          <a:blip r:embed="rId15"/>
          <a:stretch>
            <a:fillRect/>
          </a:stretch>
        </p:blipFill>
        <p:spPr>
          <a:xfrm>
            <a:off x="5024628" y="5306021"/>
            <a:ext cx="960120" cy="68150"/>
          </a:xfrm>
          <a:prstGeom prst="rect">
            <a:avLst/>
          </a:prstGeom>
        </p:spPr>
      </p:pic>
      <p:sp>
        <p:nvSpPr>
          <p:cNvPr id="83" name="Text 66"/>
          <p:cNvSpPr txBox="1"/>
          <p:nvPr/>
        </p:nvSpPr>
        <p:spPr>
          <a:xfrm>
            <a:off x="6172200" y="501091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The Key loyalty; sued Quince over "dupes"</a:t>
            </a:r>
            <a:endParaRPr lang="en-US" sz="1000" dirty="0"/>
          </a:p>
        </p:txBody>
      </p:sp>
      <p:sp>
        <p:nvSpPr>
          <p:cNvPr id="84" name="Shape 67"/>
          <p:cNvSpPr/>
          <p:nvPr/>
        </p:nvSpPr>
        <p:spPr>
          <a:xfrm>
            <a:off x="9326880" y="5120640"/>
            <a:ext cx="45720" cy="438912"/>
          </a:xfrm>
          <a:prstGeom prst="rect">
            <a:avLst/>
          </a:prstGeom>
          <a:solidFill>
            <a:srgbClr val="1D4ED8"/>
          </a:solidFill>
          <a:ln w="6350">
            <a:solidFill>
              <a:srgbClr val="1D4ED8"/>
            </a:solidFill>
            <a:prstDash val="solid"/>
          </a:ln>
        </p:spPr>
      </p:sp>
      <p:sp>
        <p:nvSpPr>
          <p:cNvPr id="85" name="Text 68"/>
          <p:cNvSpPr txBox="1"/>
          <p:nvPr/>
        </p:nvSpPr>
        <p:spPr>
          <a:xfrm>
            <a:off x="9436608" y="501091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Trust must come from proof</a:t>
            </a:r>
            <a:endParaRPr lang="en-US" sz="1000" dirty="0"/>
          </a:p>
        </p:txBody>
      </p:sp>
      <p:sp>
        <p:nvSpPr>
          <p:cNvPr id="86" name="Shape 69"/>
          <p:cNvSpPr/>
          <p:nvPr/>
        </p:nvSpPr>
        <p:spPr>
          <a:xfrm>
            <a:off x="4937760" y="5724144"/>
            <a:ext cx="6748272" cy="658368"/>
          </a:xfrm>
          <a:prstGeom prst="roundRect">
            <a:avLst>
              <a:gd name="adj" fmla="val 5556"/>
            </a:avLst>
          </a:prstGeom>
          <a:solidFill>
            <a:srgbClr val="F8FAFC"/>
          </a:solidFill>
          <a:ln w="6350">
            <a:solidFill>
              <a:srgbClr val="F8FAFC"/>
            </a:solidFill>
            <a:prstDash val="solid"/>
          </a:ln>
        </p:spPr>
      </p:sp>
      <p:sp>
        <p:nvSpPr>
          <p:cNvPr id="87" name="Text 70"/>
          <p:cNvSpPr txBox="1"/>
          <p:nvPr/>
        </p:nvSpPr>
        <p:spPr>
          <a:xfrm>
            <a:off x="4937760" y="5724144"/>
            <a:ext cx="1143000" cy="658368"/>
          </a:xfrm>
          <a:prstGeom prst="rect">
            <a:avLst/>
          </a:prstGeom>
          <a:noFill/>
          <a:ln/>
        </p:spPr>
        <p:txBody>
          <a:bodyPr wrap="square" lIns="0" tIns="0" rIns="0" bIns="0" rtlCol="0" anchor="ctr"/>
          <a:lstStyle/>
          <a:p>
            <a:pPr algn="ctr" indent="0" marL="0">
              <a:buNone/>
            </a:pPr>
            <a:r>
              <a:rPr lang="en-US" sz="950" b="1" spc="300" kern="0" dirty="0">
                <a:solidFill>
                  <a:srgbClr val="0F172A"/>
                </a:solidFill>
                <a:latin typeface="Inter" pitchFamily="34" charset="0"/>
                <a:ea typeface="Inter" pitchFamily="34" charset="-122"/>
                <a:cs typeface="Inter" pitchFamily="34" charset="-120"/>
              </a:rPr>
              <a:t>CUYANA</a:t>
            </a:r>
            <a:endParaRPr lang="en-US" sz="950" dirty="0"/>
          </a:p>
        </p:txBody>
      </p:sp>
      <p:sp>
        <p:nvSpPr>
          <p:cNvPr id="88" name="Text 71"/>
          <p:cNvSpPr txBox="1"/>
          <p:nvPr/>
        </p:nvSpPr>
        <p:spPr>
          <a:xfrm>
            <a:off x="6172200" y="572414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Owned-channel loyalty, little paid (Exh. M)</a:t>
            </a:r>
            <a:endParaRPr lang="en-US" sz="1000" dirty="0"/>
          </a:p>
        </p:txBody>
      </p:sp>
      <p:sp>
        <p:nvSpPr>
          <p:cNvPr id="89" name="Shape 72"/>
          <p:cNvSpPr/>
          <p:nvPr/>
        </p:nvSpPr>
        <p:spPr>
          <a:xfrm>
            <a:off x="9326880" y="5833872"/>
            <a:ext cx="45720" cy="438912"/>
          </a:xfrm>
          <a:prstGeom prst="rect">
            <a:avLst/>
          </a:prstGeom>
          <a:solidFill>
            <a:srgbClr val="1D4ED8"/>
          </a:solidFill>
          <a:ln w="6350">
            <a:solidFill>
              <a:srgbClr val="1D4ED8"/>
            </a:solidFill>
            <a:prstDash val="solid"/>
          </a:ln>
        </p:spPr>
      </p:sp>
      <p:sp>
        <p:nvSpPr>
          <p:cNvPr id="90" name="Text 73"/>
          <p:cNvSpPr txBox="1"/>
          <p:nvPr/>
        </p:nvSpPr>
        <p:spPr>
          <a:xfrm>
            <a:off x="9436608" y="572414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Closest to our target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has the CJA identity data; now it must activate it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4, 7; Exhibits A, I, K, L. Status is team assessment against the case. Adobe CJA analyses audiences; activation runs through Real-Time CDP or Journey Optimizer (Adobe Experience League).</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6</a:t>
            </a:r>
            <a:endParaRPr lang="en-US" sz="800" dirty="0"/>
          </a:p>
        </p:txBody>
      </p:sp>
      <p:sp>
        <p:nvSpPr>
          <p:cNvPr id="9" name="Text 6"/>
          <p:cNvSpPr txBox="1"/>
          <p:nvPr/>
        </p:nvSpPr>
        <p:spPr>
          <a:xfrm>
            <a:off x="502920" y="1234440"/>
            <a:ext cx="640080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Readiness against what the plan needs</a:t>
            </a:r>
            <a:endParaRPr lang="en-US" sz="1250" dirty="0"/>
          </a:p>
        </p:txBody>
      </p:sp>
      <p:sp>
        <p:nvSpPr>
          <p:cNvPr id="10" name="Shape 7"/>
          <p:cNvSpPr/>
          <p:nvPr/>
        </p:nvSpPr>
        <p:spPr>
          <a:xfrm>
            <a:off x="502920" y="1645920"/>
            <a:ext cx="6400800" cy="548640"/>
          </a:xfrm>
          <a:prstGeom prst="roundRect">
            <a:avLst>
              <a:gd name="adj" fmla="val 10000"/>
            </a:avLst>
          </a:prstGeom>
          <a:solidFill>
            <a:srgbClr val="FFFFFF"/>
          </a:solidFill>
          <a:ln w="9525">
            <a:solidFill>
              <a:srgbClr val="E2E8F0"/>
            </a:solidFill>
            <a:prstDash val="solid"/>
          </a:ln>
        </p:spPr>
      </p:sp>
      <p:sp>
        <p:nvSpPr>
          <p:cNvPr id="11" name="Shape 8"/>
          <p:cNvSpPr/>
          <p:nvPr/>
        </p:nvSpPr>
        <p:spPr>
          <a:xfrm>
            <a:off x="502920" y="1645920"/>
            <a:ext cx="64008" cy="548640"/>
          </a:xfrm>
          <a:prstGeom prst="rect">
            <a:avLst/>
          </a:prstGeom>
          <a:solidFill>
            <a:srgbClr val="60A5FA"/>
          </a:solidFill>
          <a:ln w="6350">
            <a:solidFill>
              <a:srgbClr val="60A5FA"/>
            </a:solidFill>
            <a:prstDash val="solid"/>
          </a:ln>
        </p:spPr>
      </p:sp>
      <p:sp>
        <p:nvSpPr>
          <p:cNvPr id="12" name="Text 9"/>
          <p:cNvSpPr txBox="1"/>
          <p:nvPr/>
        </p:nvSpPr>
        <p:spPr>
          <a:xfrm>
            <a:off x="685800" y="16459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Data and identity</a:t>
            </a:r>
            <a:endParaRPr lang="en-US" sz="1050" dirty="0"/>
          </a:p>
        </p:txBody>
      </p:sp>
      <p:sp>
        <p:nvSpPr>
          <p:cNvPr id="13" name="Shape 10"/>
          <p:cNvSpPr/>
          <p:nvPr/>
        </p:nvSpPr>
        <p:spPr>
          <a:xfrm>
            <a:off x="2395728" y="1810512"/>
            <a:ext cx="658368" cy="219456"/>
          </a:xfrm>
          <a:prstGeom prst="roundRect">
            <a:avLst>
              <a:gd name="adj" fmla="val 50000"/>
            </a:avLst>
          </a:prstGeom>
          <a:solidFill>
            <a:srgbClr val="60A5FA"/>
          </a:solidFill>
          <a:ln w="6350">
            <a:solidFill>
              <a:srgbClr val="60A5FA"/>
            </a:solidFill>
            <a:prstDash val="solid"/>
          </a:ln>
        </p:spPr>
      </p:sp>
      <p:sp>
        <p:nvSpPr>
          <p:cNvPr id="14" name="Text 11"/>
          <p:cNvSpPr txBox="1"/>
          <p:nvPr/>
        </p:nvSpPr>
        <p:spPr>
          <a:xfrm>
            <a:off x="2395728" y="18105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15" name="Text 12"/>
          <p:cNvSpPr txBox="1"/>
          <p:nvPr/>
        </p:nvSpPr>
        <p:spPr>
          <a:xfrm>
            <a:off x="3182112" y="16459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Person ID is stitched (Exhibit L); fix owned-event logging and attribution set-up in month 1</a:t>
            </a:r>
            <a:endParaRPr lang="en-US" sz="950" dirty="0"/>
          </a:p>
        </p:txBody>
      </p:sp>
      <p:sp>
        <p:nvSpPr>
          <p:cNvPr id="16" name="Shape 13"/>
          <p:cNvSpPr/>
          <p:nvPr/>
        </p:nvSpPr>
        <p:spPr>
          <a:xfrm>
            <a:off x="502920" y="2286000"/>
            <a:ext cx="6400800" cy="548640"/>
          </a:xfrm>
          <a:prstGeom prst="roundRect">
            <a:avLst>
              <a:gd name="adj" fmla="val 10000"/>
            </a:avLst>
          </a:prstGeom>
          <a:solidFill>
            <a:srgbClr val="FFFFFF"/>
          </a:solidFill>
          <a:ln w="9525">
            <a:solidFill>
              <a:srgbClr val="E2E8F0"/>
            </a:solidFill>
            <a:prstDash val="solid"/>
          </a:ln>
        </p:spPr>
      </p:sp>
      <p:sp>
        <p:nvSpPr>
          <p:cNvPr id="17" name="Shape 14"/>
          <p:cNvSpPr/>
          <p:nvPr/>
        </p:nvSpPr>
        <p:spPr>
          <a:xfrm>
            <a:off x="502920" y="2286000"/>
            <a:ext cx="64008" cy="548640"/>
          </a:xfrm>
          <a:prstGeom prst="rect">
            <a:avLst/>
          </a:prstGeom>
          <a:solidFill>
            <a:srgbClr val="0A1F44"/>
          </a:solidFill>
          <a:ln w="6350">
            <a:solidFill>
              <a:srgbClr val="0A1F44"/>
            </a:solidFill>
            <a:prstDash val="solid"/>
          </a:ln>
        </p:spPr>
      </p:sp>
      <p:sp>
        <p:nvSpPr>
          <p:cNvPr id="18" name="Text 15"/>
          <p:cNvSpPr txBox="1"/>
          <p:nvPr/>
        </p:nvSpPr>
        <p:spPr>
          <a:xfrm>
            <a:off x="685800" y="22860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Activation</a:t>
            </a:r>
            <a:endParaRPr lang="en-US" sz="1050" dirty="0"/>
          </a:p>
        </p:txBody>
      </p:sp>
      <p:sp>
        <p:nvSpPr>
          <p:cNvPr id="19" name="Shape 16"/>
          <p:cNvSpPr/>
          <p:nvPr/>
        </p:nvSpPr>
        <p:spPr>
          <a:xfrm>
            <a:off x="2395728" y="2450592"/>
            <a:ext cx="658368" cy="219456"/>
          </a:xfrm>
          <a:prstGeom prst="roundRect">
            <a:avLst>
              <a:gd name="adj" fmla="val 50000"/>
            </a:avLst>
          </a:prstGeom>
          <a:solidFill>
            <a:srgbClr val="0A1F44"/>
          </a:solidFill>
          <a:ln w="6350">
            <a:solidFill>
              <a:srgbClr val="0A1F44"/>
            </a:solidFill>
            <a:prstDash val="solid"/>
          </a:ln>
        </p:spPr>
      </p:sp>
      <p:sp>
        <p:nvSpPr>
          <p:cNvPr id="20" name="Text 17"/>
          <p:cNvSpPr txBox="1"/>
          <p:nvPr/>
        </p:nvSpPr>
        <p:spPr>
          <a:xfrm>
            <a:off x="2395728" y="24505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1" name="Text 18"/>
          <p:cNvSpPr txBox="1"/>
          <p:nvPr/>
        </p:nvSpPr>
        <p:spPr>
          <a:xfrm>
            <a:off x="3182112" y="22860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Real-Time CDP (ads) and Journey Optimizer (messages), from Option A's $2–3M</a:t>
            </a:r>
            <a:endParaRPr lang="en-US" sz="950" dirty="0"/>
          </a:p>
        </p:txBody>
      </p:sp>
      <p:sp>
        <p:nvSpPr>
          <p:cNvPr id="22" name="Shape 19"/>
          <p:cNvSpPr/>
          <p:nvPr/>
        </p:nvSpPr>
        <p:spPr>
          <a:xfrm>
            <a:off x="502920" y="2926080"/>
            <a:ext cx="6400800" cy="548640"/>
          </a:xfrm>
          <a:prstGeom prst="roundRect">
            <a:avLst>
              <a:gd name="adj" fmla="val 10000"/>
            </a:avLst>
          </a:prstGeom>
          <a:solidFill>
            <a:srgbClr val="FFFFFF"/>
          </a:solidFill>
          <a:ln w="9525">
            <a:solidFill>
              <a:srgbClr val="E2E8F0"/>
            </a:solidFill>
            <a:prstDash val="solid"/>
          </a:ln>
        </p:spPr>
      </p:sp>
      <p:sp>
        <p:nvSpPr>
          <p:cNvPr id="23" name="Shape 20"/>
          <p:cNvSpPr/>
          <p:nvPr/>
        </p:nvSpPr>
        <p:spPr>
          <a:xfrm>
            <a:off x="502920" y="2926080"/>
            <a:ext cx="64008" cy="548640"/>
          </a:xfrm>
          <a:prstGeom prst="rect">
            <a:avLst/>
          </a:prstGeom>
          <a:solidFill>
            <a:srgbClr val="0A1F44"/>
          </a:solidFill>
          <a:ln w="6350">
            <a:solidFill>
              <a:srgbClr val="0A1F44"/>
            </a:solidFill>
            <a:prstDash val="solid"/>
          </a:ln>
        </p:spPr>
      </p:sp>
      <p:sp>
        <p:nvSpPr>
          <p:cNvPr id="24" name="Text 21"/>
          <p:cNvSpPr txBox="1"/>
          <p:nvPr/>
        </p:nvSpPr>
        <p:spPr>
          <a:xfrm>
            <a:off x="685800" y="292608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Lifecycle and creative</a:t>
            </a:r>
            <a:endParaRPr lang="en-US" sz="1050" dirty="0"/>
          </a:p>
        </p:txBody>
      </p:sp>
      <p:sp>
        <p:nvSpPr>
          <p:cNvPr id="25" name="Shape 22"/>
          <p:cNvSpPr/>
          <p:nvPr/>
        </p:nvSpPr>
        <p:spPr>
          <a:xfrm>
            <a:off x="2395728" y="3090672"/>
            <a:ext cx="658368" cy="219456"/>
          </a:xfrm>
          <a:prstGeom prst="roundRect">
            <a:avLst>
              <a:gd name="adj" fmla="val 50000"/>
            </a:avLst>
          </a:prstGeom>
          <a:solidFill>
            <a:srgbClr val="0A1F44"/>
          </a:solidFill>
          <a:ln w="6350">
            <a:solidFill>
              <a:srgbClr val="0A1F44"/>
            </a:solidFill>
            <a:prstDash val="solid"/>
          </a:ln>
        </p:spPr>
      </p:sp>
      <p:sp>
        <p:nvSpPr>
          <p:cNvPr id="26" name="Text 23"/>
          <p:cNvSpPr txBox="1"/>
          <p:nvPr/>
        </p:nvSpPr>
        <p:spPr>
          <a:xfrm>
            <a:off x="2395728" y="309067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7" name="Text 24"/>
          <p:cNvSpPr txBox="1"/>
          <p:nvPr/>
        </p:nvSpPr>
        <p:spPr>
          <a:xfrm>
            <a:off x="3182112" y="292608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Email is batch-and-blast: lifecycle team and creative, same budget</a:t>
            </a:r>
            <a:endParaRPr lang="en-US" sz="950" dirty="0"/>
          </a:p>
        </p:txBody>
      </p:sp>
      <p:sp>
        <p:nvSpPr>
          <p:cNvPr id="28" name="Shape 25"/>
          <p:cNvSpPr/>
          <p:nvPr/>
        </p:nvSpPr>
        <p:spPr>
          <a:xfrm>
            <a:off x="502920" y="3566160"/>
            <a:ext cx="6400800" cy="548640"/>
          </a:xfrm>
          <a:prstGeom prst="roundRect">
            <a:avLst>
              <a:gd name="adj" fmla="val 10000"/>
            </a:avLst>
          </a:prstGeom>
          <a:solidFill>
            <a:srgbClr val="FFFFFF"/>
          </a:solidFill>
          <a:ln w="9525">
            <a:solidFill>
              <a:srgbClr val="E2E8F0"/>
            </a:solidFill>
            <a:prstDash val="solid"/>
          </a:ln>
        </p:spPr>
      </p:sp>
      <p:sp>
        <p:nvSpPr>
          <p:cNvPr id="29" name="Shape 26"/>
          <p:cNvSpPr/>
          <p:nvPr/>
        </p:nvSpPr>
        <p:spPr>
          <a:xfrm>
            <a:off x="502920" y="3566160"/>
            <a:ext cx="64008" cy="548640"/>
          </a:xfrm>
          <a:prstGeom prst="rect">
            <a:avLst/>
          </a:prstGeom>
          <a:solidFill>
            <a:srgbClr val="0A1F44"/>
          </a:solidFill>
          <a:ln w="6350">
            <a:solidFill>
              <a:srgbClr val="0A1F44"/>
            </a:solidFill>
            <a:prstDash val="solid"/>
          </a:ln>
        </p:spPr>
      </p:sp>
      <p:sp>
        <p:nvSpPr>
          <p:cNvPr id="30" name="Text 27"/>
          <p:cNvSpPr txBox="1"/>
          <p:nvPr/>
        </p:nvSpPr>
        <p:spPr>
          <a:xfrm>
            <a:off x="685800" y="356616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Growth–analytics</a:t>
            </a:r>
            <a:endParaRPr lang="en-US" sz="1050" dirty="0"/>
          </a:p>
        </p:txBody>
      </p:sp>
      <p:sp>
        <p:nvSpPr>
          <p:cNvPr id="31" name="Shape 28"/>
          <p:cNvSpPr/>
          <p:nvPr/>
        </p:nvSpPr>
        <p:spPr>
          <a:xfrm>
            <a:off x="2395728" y="3730752"/>
            <a:ext cx="658368" cy="219456"/>
          </a:xfrm>
          <a:prstGeom prst="roundRect">
            <a:avLst>
              <a:gd name="adj" fmla="val 50000"/>
            </a:avLst>
          </a:prstGeom>
          <a:solidFill>
            <a:srgbClr val="0A1F44"/>
          </a:solidFill>
          <a:ln w="6350">
            <a:solidFill>
              <a:srgbClr val="0A1F44"/>
            </a:solidFill>
            <a:prstDash val="solid"/>
          </a:ln>
        </p:spPr>
      </p:sp>
      <p:sp>
        <p:nvSpPr>
          <p:cNvPr id="32" name="Text 29"/>
          <p:cNvSpPr txBox="1"/>
          <p:nvPr/>
        </p:nvSpPr>
        <p:spPr>
          <a:xfrm>
            <a:off x="2395728" y="373075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33" name="Text 30"/>
          <p:cNvSpPr txBox="1"/>
          <p:nvPr/>
        </p:nvSpPr>
        <p:spPr>
          <a:xfrm>
            <a:off x="3182112" y="356616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CJA is new: one weekly council, one holdout rule</a:t>
            </a:r>
            <a:endParaRPr lang="en-US" sz="950" dirty="0"/>
          </a:p>
        </p:txBody>
      </p:sp>
      <p:sp>
        <p:nvSpPr>
          <p:cNvPr id="34" name="Shape 31"/>
          <p:cNvSpPr/>
          <p:nvPr/>
        </p:nvSpPr>
        <p:spPr>
          <a:xfrm>
            <a:off x="502920" y="4206240"/>
            <a:ext cx="6400800" cy="548640"/>
          </a:xfrm>
          <a:prstGeom prst="roundRect">
            <a:avLst>
              <a:gd name="adj" fmla="val 10000"/>
            </a:avLst>
          </a:prstGeom>
          <a:solidFill>
            <a:srgbClr val="FFFFFF"/>
          </a:solidFill>
          <a:ln w="9525">
            <a:solidFill>
              <a:srgbClr val="E2E8F0"/>
            </a:solidFill>
            <a:prstDash val="solid"/>
          </a:ln>
        </p:spPr>
      </p:sp>
      <p:sp>
        <p:nvSpPr>
          <p:cNvPr id="35" name="Shape 32"/>
          <p:cNvSpPr/>
          <p:nvPr/>
        </p:nvSpPr>
        <p:spPr>
          <a:xfrm>
            <a:off x="502920" y="4206240"/>
            <a:ext cx="64008" cy="548640"/>
          </a:xfrm>
          <a:prstGeom prst="rect">
            <a:avLst/>
          </a:prstGeom>
          <a:solidFill>
            <a:srgbClr val="60A5FA"/>
          </a:solidFill>
          <a:ln w="6350">
            <a:solidFill>
              <a:srgbClr val="60A5FA"/>
            </a:solidFill>
            <a:prstDash val="solid"/>
          </a:ln>
        </p:spPr>
      </p:sp>
      <p:sp>
        <p:nvSpPr>
          <p:cNvPr id="36" name="Text 33"/>
          <p:cNvSpPr txBox="1"/>
          <p:nvPr/>
        </p:nvSpPr>
        <p:spPr>
          <a:xfrm>
            <a:off x="685800" y="420624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App</a:t>
            </a:r>
            <a:endParaRPr lang="en-US" sz="1050" dirty="0"/>
          </a:p>
        </p:txBody>
      </p:sp>
      <p:sp>
        <p:nvSpPr>
          <p:cNvPr id="37" name="Shape 34"/>
          <p:cNvSpPr/>
          <p:nvPr/>
        </p:nvSpPr>
        <p:spPr>
          <a:xfrm>
            <a:off x="2395728" y="4370832"/>
            <a:ext cx="658368" cy="219456"/>
          </a:xfrm>
          <a:prstGeom prst="roundRect">
            <a:avLst>
              <a:gd name="adj" fmla="val 50000"/>
            </a:avLst>
          </a:prstGeom>
          <a:solidFill>
            <a:srgbClr val="60A5FA"/>
          </a:solidFill>
          <a:ln w="6350">
            <a:solidFill>
              <a:srgbClr val="60A5FA"/>
            </a:solidFill>
            <a:prstDash val="solid"/>
          </a:ln>
        </p:spPr>
      </p:sp>
      <p:sp>
        <p:nvSpPr>
          <p:cNvPr id="38" name="Text 35"/>
          <p:cNvSpPr txBox="1"/>
          <p:nvPr/>
        </p:nvSpPr>
        <p:spPr>
          <a:xfrm>
            <a:off x="2395728" y="437083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39" name="Text 36"/>
          <p:cNvSpPr txBox="1"/>
          <p:nvPr/>
        </p:nvSpPr>
        <p:spPr>
          <a:xfrm>
            <a:off x="3182112" y="420624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22% of sessions (Exhibit A): add tracking and restock alerts</a:t>
            </a:r>
            <a:endParaRPr lang="en-US" sz="950" dirty="0"/>
          </a:p>
        </p:txBody>
      </p:sp>
      <p:sp>
        <p:nvSpPr>
          <p:cNvPr id="40" name="Shape 37"/>
          <p:cNvSpPr/>
          <p:nvPr/>
        </p:nvSpPr>
        <p:spPr>
          <a:xfrm>
            <a:off x="502920" y="4846320"/>
            <a:ext cx="6400800" cy="548640"/>
          </a:xfrm>
          <a:prstGeom prst="roundRect">
            <a:avLst>
              <a:gd name="adj" fmla="val 10000"/>
            </a:avLst>
          </a:prstGeom>
          <a:solidFill>
            <a:srgbClr val="FFFFFF"/>
          </a:solidFill>
          <a:ln w="9525">
            <a:solidFill>
              <a:srgbClr val="E2E8F0"/>
            </a:solidFill>
            <a:prstDash val="solid"/>
          </a:ln>
        </p:spPr>
      </p:sp>
      <p:sp>
        <p:nvSpPr>
          <p:cNvPr id="41" name="Shape 38"/>
          <p:cNvSpPr/>
          <p:nvPr/>
        </p:nvSpPr>
        <p:spPr>
          <a:xfrm>
            <a:off x="502920" y="4846320"/>
            <a:ext cx="64008" cy="548640"/>
          </a:xfrm>
          <a:prstGeom prst="rect">
            <a:avLst/>
          </a:prstGeom>
          <a:solidFill>
            <a:srgbClr val="60A5FA"/>
          </a:solidFill>
          <a:ln w="6350">
            <a:solidFill>
              <a:srgbClr val="60A5FA"/>
            </a:solidFill>
            <a:prstDash val="solid"/>
          </a:ln>
        </p:spPr>
      </p:sp>
      <p:sp>
        <p:nvSpPr>
          <p:cNvPr id="42" name="Text 39"/>
          <p:cNvSpPr txBox="1"/>
          <p:nvPr/>
        </p:nvSpPr>
        <p:spPr>
          <a:xfrm>
            <a:off x="685800" y="48463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Shipping events</a:t>
            </a:r>
            <a:endParaRPr lang="en-US" sz="1050" dirty="0"/>
          </a:p>
        </p:txBody>
      </p:sp>
      <p:sp>
        <p:nvSpPr>
          <p:cNvPr id="43" name="Shape 40"/>
          <p:cNvSpPr/>
          <p:nvPr/>
        </p:nvSpPr>
        <p:spPr>
          <a:xfrm>
            <a:off x="2395728" y="5010912"/>
            <a:ext cx="658368" cy="219456"/>
          </a:xfrm>
          <a:prstGeom prst="roundRect">
            <a:avLst>
              <a:gd name="adj" fmla="val 50000"/>
            </a:avLst>
          </a:prstGeom>
          <a:solidFill>
            <a:srgbClr val="60A5FA"/>
          </a:solidFill>
          <a:ln w="6350">
            <a:solidFill>
              <a:srgbClr val="60A5FA"/>
            </a:solidFill>
            <a:prstDash val="solid"/>
          </a:ln>
        </p:spPr>
      </p:sp>
      <p:sp>
        <p:nvSpPr>
          <p:cNvPr id="44" name="Text 41"/>
          <p:cNvSpPr txBox="1"/>
          <p:nvPr/>
        </p:nvSpPr>
        <p:spPr>
          <a:xfrm>
            <a:off x="2395728" y="50109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45" name="Text 42"/>
          <p:cNvSpPr txBox="1"/>
          <p:nvPr/>
        </p:nvSpPr>
        <p:spPr>
          <a:xfrm>
            <a:off x="3182112" y="48463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Quince ships direct: confirm 3PL events carry the order ID</a:t>
            </a:r>
            <a:endParaRPr lang="en-US" sz="950" dirty="0"/>
          </a:p>
        </p:txBody>
      </p:sp>
      <p:sp>
        <p:nvSpPr>
          <p:cNvPr id="46" name="Shape 43"/>
          <p:cNvSpPr/>
          <p:nvPr/>
        </p:nvSpPr>
        <p:spPr>
          <a:xfrm>
            <a:off x="502920" y="5486400"/>
            <a:ext cx="6400800" cy="548640"/>
          </a:xfrm>
          <a:prstGeom prst="roundRect">
            <a:avLst>
              <a:gd name="adj" fmla="val 10000"/>
            </a:avLst>
          </a:prstGeom>
          <a:solidFill>
            <a:srgbClr val="FFFFFF"/>
          </a:solidFill>
          <a:ln w="9525">
            <a:solidFill>
              <a:srgbClr val="E2E8F0"/>
            </a:solidFill>
            <a:prstDash val="solid"/>
          </a:ln>
        </p:spPr>
      </p:sp>
      <p:sp>
        <p:nvSpPr>
          <p:cNvPr id="47" name="Shape 44"/>
          <p:cNvSpPr/>
          <p:nvPr/>
        </p:nvSpPr>
        <p:spPr>
          <a:xfrm>
            <a:off x="502920" y="5486400"/>
            <a:ext cx="64008" cy="548640"/>
          </a:xfrm>
          <a:prstGeom prst="rect">
            <a:avLst/>
          </a:prstGeom>
          <a:solidFill>
            <a:srgbClr val="60A5FA"/>
          </a:solidFill>
          <a:ln w="6350">
            <a:solidFill>
              <a:srgbClr val="60A5FA"/>
            </a:solidFill>
            <a:prstDash val="solid"/>
          </a:ln>
        </p:spPr>
      </p:sp>
      <p:sp>
        <p:nvSpPr>
          <p:cNvPr id="48" name="Text 45"/>
          <p:cNvSpPr txBox="1"/>
          <p:nvPr/>
        </p:nvSpPr>
        <p:spPr>
          <a:xfrm>
            <a:off x="685800" y="54864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Privacy and consent</a:t>
            </a:r>
            <a:endParaRPr lang="en-US" sz="1050" dirty="0"/>
          </a:p>
        </p:txBody>
      </p:sp>
      <p:sp>
        <p:nvSpPr>
          <p:cNvPr id="49" name="Shape 46"/>
          <p:cNvSpPr/>
          <p:nvPr/>
        </p:nvSpPr>
        <p:spPr>
          <a:xfrm>
            <a:off x="2395728" y="5650992"/>
            <a:ext cx="658368" cy="219456"/>
          </a:xfrm>
          <a:prstGeom prst="roundRect">
            <a:avLst>
              <a:gd name="adj" fmla="val 50000"/>
            </a:avLst>
          </a:prstGeom>
          <a:solidFill>
            <a:srgbClr val="60A5FA"/>
          </a:solidFill>
          <a:ln w="6350">
            <a:solidFill>
              <a:srgbClr val="60A5FA"/>
            </a:solidFill>
            <a:prstDash val="solid"/>
          </a:ln>
        </p:spPr>
      </p:sp>
      <p:sp>
        <p:nvSpPr>
          <p:cNvPr id="50" name="Text 47"/>
          <p:cNvSpPr txBox="1"/>
          <p:nvPr/>
        </p:nvSpPr>
        <p:spPr>
          <a:xfrm>
            <a:off x="2395728" y="56509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51" name="Text 48"/>
          <p:cNvSpPr txBox="1"/>
          <p:nvPr/>
        </p:nvSpPr>
        <p:spPr>
          <a:xfrm>
            <a:off x="3182112" y="54864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CCPA: split transactional and marketing SMS consent</a:t>
            </a:r>
            <a:endParaRPr lang="en-US" sz="950" dirty="0"/>
          </a:p>
        </p:txBody>
      </p:sp>
      <p:sp>
        <p:nvSpPr>
          <p:cNvPr id="52" name="Text 49"/>
          <p:cNvSpPr txBox="1"/>
          <p:nvPr/>
        </p:nvSpPr>
        <p:spPr>
          <a:xfrm>
            <a:off x="7178040" y="1234440"/>
            <a:ext cx="450799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How shipping events become journeys</a:t>
            </a:r>
            <a:endParaRPr lang="en-US" sz="1250" dirty="0"/>
          </a:p>
        </p:txBody>
      </p:sp>
      <p:sp>
        <p:nvSpPr>
          <p:cNvPr id="53" name="Text 50"/>
          <p:cNvSpPr txBox="1"/>
          <p:nvPr/>
        </p:nvSpPr>
        <p:spPr>
          <a:xfrm>
            <a:off x="7178040" y="1508760"/>
            <a:ext cx="450799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Material Journeys, end to end (appendix 24)</a:t>
            </a:r>
            <a:endParaRPr lang="en-US" sz="950" dirty="0"/>
          </a:p>
        </p:txBody>
      </p:sp>
      <p:sp>
        <p:nvSpPr>
          <p:cNvPr id="54" name="Shape 51"/>
          <p:cNvSpPr/>
          <p:nvPr/>
        </p:nvSpPr>
        <p:spPr>
          <a:xfrm>
            <a:off x="7178040" y="1810512"/>
            <a:ext cx="4507992" cy="658368"/>
          </a:xfrm>
          <a:prstGeom prst="roundRect">
            <a:avLst>
              <a:gd name="adj" fmla="val 8333"/>
            </a:avLst>
          </a:prstGeom>
          <a:solidFill>
            <a:srgbClr val="0A1F44"/>
          </a:solidFill>
          <a:ln w="6350">
            <a:solidFill>
              <a:srgbClr val="0A1F44"/>
            </a:solidFill>
            <a:prstDash val="solid"/>
          </a:ln>
        </p:spPr>
      </p:sp>
      <p:pic>
        <p:nvPicPr>
          <p:cNvPr id="55" name="Image 1" descr="preencoded.png">    </p:cNvPr>
          <p:cNvPicPr>
            <a:picLocks noChangeAspect="1"/>
          </p:cNvPicPr>
          <p:nvPr/>
        </p:nvPicPr>
        <p:blipFill>
          <a:blip r:embed="rId2"/>
          <a:stretch>
            <a:fillRect/>
          </a:stretch>
        </p:blipFill>
        <p:spPr>
          <a:xfrm>
            <a:off x="7315200" y="1947672"/>
            <a:ext cx="292608" cy="292608"/>
          </a:xfrm>
          <a:prstGeom prst="rect">
            <a:avLst/>
          </a:prstGeom>
        </p:spPr>
      </p:pic>
      <p:sp>
        <p:nvSpPr>
          <p:cNvPr id="56" name="Text 52"/>
          <p:cNvSpPr txBox="1"/>
          <p:nvPr/>
        </p:nvSpPr>
        <p:spPr>
          <a:xfrm>
            <a:off x="7726680" y="181051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Factories and 3PL</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shipped · in transit · delivered</a:t>
            </a:r>
            <a:endParaRPr lang="en-US" sz="1200" dirty="0"/>
          </a:p>
        </p:txBody>
      </p:sp>
      <p:sp>
        <p:nvSpPr>
          <p:cNvPr id="57" name="Shape 53"/>
          <p:cNvSpPr/>
          <p:nvPr/>
        </p:nvSpPr>
        <p:spPr>
          <a:xfrm>
            <a:off x="9340596" y="2487168"/>
            <a:ext cx="182880" cy="173736"/>
          </a:xfrm>
          <a:prstGeom prst="downArrow">
            <a:avLst/>
          </a:prstGeom>
          <a:solidFill>
            <a:srgbClr val="94A3B8"/>
          </a:solidFill>
          <a:ln w="6350">
            <a:solidFill>
              <a:srgbClr val="94A3B8"/>
            </a:solidFill>
            <a:prstDash val="solid"/>
          </a:ln>
        </p:spPr>
      </p:sp>
      <p:sp>
        <p:nvSpPr>
          <p:cNvPr id="58" name="Shape 54"/>
          <p:cNvSpPr/>
          <p:nvPr/>
        </p:nvSpPr>
        <p:spPr>
          <a:xfrm>
            <a:off x="7178040" y="2679192"/>
            <a:ext cx="4507992" cy="658368"/>
          </a:xfrm>
          <a:prstGeom prst="roundRect">
            <a:avLst>
              <a:gd name="adj" fmla="val 8333"/>
            </a:avLst>
          </a:prstGeom>
          <a:solidFill>
            <a:srgbClr val="1D4ED8"/>
          </a:solidFill>
          <a:ln w="6350">
            <a:solidFill>
              <a:srgbClr val="1D4ED8"/>
            </a:solidFill>
            <a:prstDash val="solid"/>
          </a:ln>
        </p:spPr>
      </p:sp>
      <p:pic>
        <p:nvPicPr>
          <p:cNvPr id="59" name="Image 2" descr="preencoded.png">    </p:cNvPr>
          <p:cNvPicPr>
            <a:picLocks noChangeAspect="1"/>
          </p:cNvPicPr>
          <p:nvPr/>
        </p:nvPicPr>
        <p:blipFill>
          <a:blip r:embed="rId3"/>
          <a:stretch>
            <a:fillRect/>
          </a:stretch>
        </p:blipFill>
        <p:spPr>
          <a:xfrm>
            <a:off x="7315200" y="2816352"/>
            <a:ext cx="292608" cy="292608"/>
          </a:xfrm>
          <a:prstGeom prst="rect">
            <a:avLst/>
          </a:prstGeom>
        </p:spPr>
      </p:pic>
      <p:sp>
        <p:nvSpPr>
          <p:cNvPr id="60" name="Text 55"/>
          <p:cNvSpPr txBox="1"/>
          <p:nvPr/>
        </p:nvSpPr>
        <p:spPr>
          <a:xfrm>
            <a:off x="7726680" y="267919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keyed to the order ID</a:t>
            </a:r>
            <a:endParaRPr lang="en-US" sz="1200" dirty="0"/>
          </a:p>
        </p:txBody>
      </p:sp>
      <p:sp>
        <p:nvSpPr>
          <p:cNvPr id="61" name="Shape 56"/>
          <p:cNvSpPr/>
          <p:nvPr/>
        </p:nvSpPr>
        <p:spPr>
          <a:xfrm>
            <a:off x="9340596" y="3355848"/>
            <a:ext cx="182880" cy="173736"/>
          </a:xfrm>
          <a:prstGeom prst="downArrow">
            <a:avLst/>
          </a:prstGeom>
          <a:solidFill>
            <a:srgbClr val="94A3B8"/>
          </a:solidFill>
          <a:ln w="6350">
            <a:solidFill>
              <a:srgbClr val="94A3B8"/>
            </a:solidFill>
            <a:prstDash val="solid"/>
          </a:ln>
        </p:spPr>
      </p:sp>
      <p:sp>
        <p:nvSpPr>
          <p:cNvPr id="62" name="Shape 57"/>
          <p:cNvSpPr/>
          <p:nvPr/>
        </p:nvSpPr>
        <p:spPr>
          <a:xfrm>
            <a:off x="7178040" y="3547872"/>
            <a:ext cx="4507992" cy="658368"/>
          </a:xfrm>
          <a:prstGeom prst="roundRect">
            <a:avLst>
              <a:gd name="adj" fmla="val 8333"/>
            </a:avLst>
          </a:prstGeom>
          <a:solidFill>
            <a:srgbClr val="2563EB"/>
          </a:solidFill>
          <a:ln w="6350">
            <a:solidFill>
              <a:srgbClr val="2563EB"/>
            </a:solidFill>
            <a:prstDash val="solid"/>
          </a:ln>
        </p:spPr>
      </p:sp>
      <p:pic>
        <p:nvPicPr>
          <p:cNvPr id="63" name="Image 3" descr="preencoded.png">    </p:cNvPr>
          <p:cNvPicPr>
            <a:picLocks noChangeAspect="1"/>
          </p:cNvPicPr>
          <p:nvPr/>
        </p:nvPicPr>
        <p:blipFill>
          <a:blip r:embed="rId4"/>
          <a:stretch>
            <a:fillRect/>
          </a:stretch>
        </p:blipFill>
        <p:spPr>
          <a:xfrm>
            <a:off x="7315200" y="3685032"/>
            <a:ext cx="292608" cy="292608"/>
          </a:xfrm>
          <a:prstGeom prst="rect">
            <a:avLst/>
          </a:prstGeom>
        </p:spPr>
      </p:pic>
      <p:sp>
        <p:nvSpPr>
          <p:cNvPr id="64" name="Text 58"/>
          <p:cNvSpPr txBox="1"/>
          <p:nvPr/>
        </p:nvSpPr>
        <p:spPr>
          <a:xfrm>
            <a:off x="7726680" y="354787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Adobe CJA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 person → audience</a:t>
            </a:r>
            <a:endParaRPr lang="en-US" sz="1200" dirty="0"/>
          </a:p>
        </p:txBody>
      </p:sp>
      <p:sp>
        <p:nvSpPr>
          <p:cNvPr id="65" name="Shape 59"/>
          <p:cNvSpPr/>
          <p:nvPr/>
        </p:nvSpPr>
        <p:spPr>
          <a:xfrm>
            <a:off x="9340596" y="4224528"/>
            <a:ext cx="182880" cy="173736"/>
          </a:xfrm>
          <a:prstGeom prst="downArrow">
            <a:avLst/>
          </a:prstGeom>
          <a:solidFill>
            <a:srgbClr val="94A3B8"/>
          </a:solidFill>
          <a:ln w="6350">
            <a:solidFill>
              <a:srgbClr val="94A3B8"/>
            </a:solidFill>
            <a:prstDash val="solid"/>
          </a:ln>
        </p:spPr>
      </p:sp>
      <p:sp>
        <p:nvSpPr>
          <p:cNvPr id="66" name="Shape 60"/>
          <p:cNvSpPr/>
          <p:nvPr/>
        </p:nvSpPr>
        <p:spPr>
          <a:xfrm>
            <a:off x="7178040" y="4416552"/>
            <a:ext cx="4507992" cy="658368"/>
          </a:xfrm>
          <a:prstGeom prst="roundRect">
            <a:avLst>
              <a:gd name="adj" fmla="val 8333"/>
            </a:avLst>
          </a:prstGeom>
          <a:solidFill>
            <a:srgbClr val="3B82F6"/>
          </a:solidFill>
          <a:ln w="6350">
            <a:solidFill>
              <a:srgbClr val="3B82F6"/>
            </a:solidFill>
            <a:prstDash val="solid"/>
          </a:ln>
        </p:spPr>
      </p:sp>
      <p:pic>
        <p:nvPicPr>
          <p:cNvPr id="67" name="Image 4" descr="preencoded.png">    </p:cNvPr>
          <p:cNvPicPr>
            <a:picLocks noChangeAspect="1"/>
          </p:cNvPicPr>
          <p:nvPr/>
        </p:nvPicPr>
        <p:blipFill>
          <a:blip r:embed="rId5"/>
          <a:stretch>
            <a:fillRect/>
          </a:stretch>
        </p:blipFill>
        <p:spPr>
          <a:xfrm>
            <a:off x="7315200" y="4553712"/>
            <a:ext cx="292608" cy="292608"/>
          </a:xfrm>
          <a:prstGeom prst="rect">
            <a:avLst/>
          </a:prstGeom>
        </p:spPr>
      </p:pic>
      <p:sp>
        <p:nvSpPr>
          <p:cNvPr id="68" name="Text 61"/>
          <p:cNvSpPr txBox="1"/>
          <p:nvPr/>
        </p:nvSpPr>
        <p:spPr>
          <a:xfrm>
            <a:off x="7726680" y="441655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Journey Optimizer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care · delivery ask · day 21</a:t>
            </a:r>
            <a:endParaRPr lang="en-US" sz="1200" dirty="0"/>
          </a:p>
        </p:txBody>
      </p:sp>
      <p:sp>
        <p:nvSpPr>
          <p:cNvPr id="69" name="Shape 62"/>
          <p:cNvSpPr/>
          <p:nvPr/>
        </p:nvSpPr>
        <p:spPr>
          <a:xfrm>
            <a:off x="9340596" y="5093208"/>
            <a:ext cx="182880" cy="173736"/>
          </a:xfrm>
          <a:prstGeom prst="downArrow">
            <a:avLst/>
          </a:prstGeom>
          <a:solidFill>
            <a:srgbClr val="94A3B8"/>
          </a:solidFill>
          <a:ln w="6350">
            <a:solidFill>
              <a:srgbClr val="94A3B8"/>
            </a:solidFill>
            <a:prstDash val="solid"/>
          </a:ln>
        </p:spPr>
      </p:sp>
      <p:sp>
        <p:nvSpPr>
          <p:cNvPr id="70" name="Shape 63"/>
          <p:cNvSpPr/>
          <p:nvPr/>
        </p:nvSpPr>
        <p:spPr>
          <a:xfrm>
            <a:off x="7178040" y="5285232"/>
            <a:ext cx="4507992" cy="658368"/>
          </a:xfrm>
          <a:prstGeom prst="roundRect">
            <a:avLst>
              <a:gd name="adj" fmla="val 8333"/>
            </a:avLst>
          </a:prstGeom>
          <a:solidFill>
            <a:srgbClr val="60A5FA"/>
          </a:solidFill>
          <a:ln w="6350">
            <a:solidFill>
              <a:srgbClr val="60A5FA"/>
            </a:solidFill>
            <a:prstDash val="solid"/>
          </a:ln>
        </p:spPr>
      </p:sp>
      <p:pic>
        <p:nvPicPr>
          <p:cNvPr id="71" name="Image 5" descr="preencoded.png">    </p:cNvPr>
          <p:cNvPicPr>
            <a:picLocks noChangeAspect="1"/>
          </p:cNvPicPr>
          <p:nvPr/>
        </p:nvPicPr>
        <p:blipFill>
          <a:blip r:embed="rId6"/>
          <a:stretch>
            <a:fillRect/>
          </a:stretch>
        </p:blipFill>
        <p:spPr>
          <a:xfrm>
            <a:off x="7315200" y="5422392"/>
            <a:ext cx="292608" cy="292608"/>
          </a:xfrm>
          <a:prstGeom prst="rect">
            <a:avLst/>
          </a:prstGeom>
        </p:spPr>
      </p:pic>
      <p:sp>
        <p:nvSpPr>
          <p:cNvPr id="72" name="Text 64"/>
          <p:cNvSpPr txBox="1"/>
          <p:nvPr/>
        </p:nvSpPr>
        <p:spPr>
          <a:xfrm>
            <a:off x="7726680" y="528523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We will prove the model in a 90-day pilot before scaling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leaks from slides 3–6 (Adobe CJA A1, A2, A3b, A6; case Exhibits G, I, N). Pilot design and timing are the team's. No new budget: spend stays inside the $14M retargeting and $6M owned lines (Exhibit I).</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7</a:t>
            </a:r>
            <a:endParaRPr lang="en-US" sz="800" dirty="0"/>
          </a:p>
        </p:txBody>
      </p:sp>
      <p:sp>
        <p:nvSpPr>
          <p:cNvPr id="9" name="Text 6"/>
          <p:cNvSpPr txBox="1"/>
          <p:nvPr/>
        </p:nvSpPr>
        <p:spPr>
          <a:xfrm>
            <a:off x="502920" y="1261872"/>
            <a:ext cx="2057400" cy="365760"/>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Four leaks</a:t>
            </a:r>
            <a:endParaRPr lang="en-US" sz="1300" dirty="0"/>
          </a:p>
        </p:txBody>
      </p:sp>
      <p:sp>
        <p:nvSpPr>
          <p:cNvPr id="10" name="Shape 7"/>
          <p:cNvSpPr/>
          <p:nvPr/>
        </p:nvSpPr>
        <p:spPr>
          <a:xfrm>
            <a:off x="502920" y="1828800"/>
            <a:ext cx="2057400" cy="758952"/>
          </a:xfrm>
          <a:prstGeom prst="roundRect">
            <a:avLst>
              <a:gd name="adj" fmla="val 9639"/>
            </a:avLst>
          </a:prstGeom>
          <a:solidFill>
            <a:srgbClr val="F8FAFC"/>
          </a:solidFill>
          <a:ln w="9525">
            <a:solidFill>
              <a:srgbClr val="E2E8F0"/>
            </a:solidFill>
            <a:prstDash val="solid"/>
          </a:ln>
        </p:spPr>
      </p:sp>
      <p:sp>
        <p:nvSpPr>
          <p:cNvPr id="11" name="Shape 8"/>
          <p:cNvSpPr/>
          <p:nvPr/>
        </p:nvSpPr>
        <p:spPr>
          <a:xfrm>
            <a:off x="594360" y="2043684"/>
            <a:ext cx="329184" cy="329184"/>
          </a:xfrm>
          <a:prstGeom prst="ellipse">
            <a:avLst/>
          </a:prstGeom>
          <a:solidFill>
            <a:srgbClr val="0A1F44"/>
          </a:solidFill>
          <a:ln w="6350">
            <a:solidFill>
              <a:srgbClr val="0A1F44"/>
            </a:solidFill>
            <a:prstDash val="solid"/>
          </a:ln>
        </p:spPr>
      </p:sp>
      <p:pic>
        <p:nvPicPr>
          <p:cNvPr id="12" name="Image 1" descr="preencoded.png">    </p:cNvPr>
          <p:cNvPicPr>
            <a:picLocks noChangeAspect="1"/>
          </p:cNvPicPr>
          <p:nvPr/>
        </p:nvPicPr>
        <p:blipFill>
          <a:blip r:embed="rId2"/>
          <a:stretch>
            <a:fillRect/>
          </a:stretch>
        </p:blipFill>
        <p:spPr>
          <a:xfrm>
            <a:off x="666780" y="2116104"/>
            <a:ext cx="184343" cy="184343"/>
          </a:xfrm>
          <a:prstGeom prst="rect">
            <a:avLst/>
          </a:prstGeom>
        </p:spPr>
      </p:pic>
      <p:sp>
        <p:nvSpPr>
          <p:cNvPr id="13" name="Text 9"/>
          <p:cNvSpPr txBox="1"/>
          <p:nvPr/>
        </p:nvSpPr>
        <p:spPr>
          <a:xfrm>
            <a:off x="978408" y="1828800"/>
            <a:ext cx="1527048" cy="758952"/>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77%  </a:t>
            </a:r>
            <a:pPr indent="0" marL="0">
              <a:buNone/>
            </a:pPr>
            <a:r>
              <a:rPr lang="en-US" sz="1000" b="1" dirty="0">
                <a:solidFill>
                  <a:srgbClr val="0A1F44"/>
                </a:solidFill>
                <a:latin typeface="Inter" pitchFamily="34" charset="0"/>
                <a:ea typeface="Inter" pitchFamily="34" charset="-122"/>
                <a:cs typeface="Inter" pitchFamily="34" charset="-120"/>
              </a:rPr>
              <a:t>Cart leak</a:t>
            </a:r>
            <a:endParaRPr lang="en-US" sz="1200" dirty="0"/>
          </a:p>
          <a:p>
            <a:pPr indent="0" marL="0">
              <a:buNone/>
            </a:pPr>
            <a:r>
              <a:rPr lang="en-US" sz="800" dirty="0">
                <a:solidFill>
                  <a:srgbClr val="334155"/>
                </a:solidFill>
                <a:latin typeface="Inter" pitchFamily="34" charset="0"/>
                <a:ea typeface="Inter" pitchFamily="34" charset="-122"/>
                <a:cs typeface="Inter" pitchFamily="34" charset="-120"/>
              </a:rPr>
              <a:t>of cart adders never order</a:t>
            </a:r>
            <a:endParaRPr lang="en-US" sz="1200" dirty="0"/>
          </a:p>
        </p:txBody>
      </p:sp>
      <p:sp>
        <p:nvSpPr>
          <p:cNvPr id="14" name="Shape 10"/>
          <p:cNvSpPr/>
          <p:nvPr/>
        </p:nvSpPr>
        <p:spPr>
          <a:xfrm>
            <a:off x="502920" y="2697480"/>
            <a:ext cx="2057400" cy="758952"/>
          </a:xfrm>
          <a:prstGeom prst="roundRect">
            <a:avLst>
              <a:gd name="adj" fmla="val 9639"/>
            </a:avLst>
          </a:prstGeom>
          <a:solidFill>
            <a:srgbClr val="F8FAFC"/>
          </a:solidFill>
          <a:ln w="9525">
            <a:solidFill>
              <a:srgbClr val="E2E8F0"/>
            </a:solidFill>
            <a:prstDash val="solid"/>
          </a:ln>
        </p:spPr>
      </p:sp>
      <p:sp>
        <p:nvSpPr>
          <p:cNvPr id="15" name="Shape 11"/>
          <p:cNvSpPr/>
          <p:nvPr/>
        </p:nvSpPr>
        <p:spPr>
          <a:xfrm>
            <a:off x="594360" y="2912364"/>
            <a:ext cx="329184" cy="329184"/>
          </a:xfrm>
          <a:prstGeom prst="ellipse">
            <a:avLst/>
          </a:prstGeom>
          <a:solidFill>
            <a:srgbClr val="0A1F44"/>
          </a:solidFill>
          <a:ln w="6350">
            <a:solidFill>
              <a:srgbClr val="0A1F44"/>
            </a:solidFill>
            <a:prstDash val="solid"/>
          </a:ln>
        </p:spPr>
      </p:sp>
      <p:pic>
        <p:nvPicPr>
          <p:cNvPr id="16" name="Image 2" descr="preencoded.png">    </p:cNvPr>
          <p:cNvPicPr>
            <a:picLocks noChangeAspect="1"/>
          </p:cNvPicPr>
          <p:nvPr/>
        </p:nvPicPr>
        <p:blipFill>
          <a:blip r:embed="rId3"/>
          <a:stretch>
            <a:fillRect/>
          </a:stretch>
        </p:blipFill>
        <p:spPr>
          <a:xfrm>
            <a:off x="666780" y="2984784"/>
            <a:ext cx="184343" cy="184343"/>
          </a:xfrm>
          <a:prstGeom prst="rect">
            <a:avLst/>
          </a:prstGeom>
        </p:spPr>
      </p:pic>
      <p:sp>
        <p:nvSpPr>
          <p:cNvPr id="17" name="Text 12"/>
          <p:cNvSpPr txBox="1"/>
          <p:nvPr/>
        </p:nvSpPr>
        <p:spPr>
          <a:xfrm>
            <a:off x="978408" y="2697480"/>
            <a:ext cx="1527048" cy="758952"/>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24.5%  </a:t>
            </a:r>
            <a:pPr indent="0" marL="0">
              <a:buNone/>
            </a:pPr>
            <a:r>
              <a:rPr lang="en-US" sz="1000" b="1" dirty="0">
                <a:solidFill>
                  <a:srgbClr val="0A1F44"/>
                </a:solidFill>
                <a:latin typeface="Inter" pitchFamily="34" charset="0"/>
                <a:ea typeface="Inter" pitchFamily="34" charset="-122"/>
                <a:cs typeface="Inter" pitchFamily="34" charset="-120"/>
              </a:rPr>
              <a:t>Unreachable</a:t>
            </a:r>
            <a:endParaRPr lang="en-US" sz="1200" dirty="0"/>
          </a:p>
          <a:p>
            <a:pPr indent="0" marL="0">
              <a:buNone/>
            </a:pPr>
            <a:r>
              <a:rPr lang="en-US" sz="800" dirty="0">
                <a:solidFill>
                  <a:srgbClr val="334155"/>
                </a:solidFill>
                <a:latin typeface="Inter" pitchFamily="34" charset="0"/>
                <a:ea typeface="Inter" pitchFamily="34" charset="-122"/>
                <a:cs typeface="Inter" pitchFamily="34" charset="-120"/>
              </a:rPr>
              <a:t>of buyers engage with owned channels</a:t>
            </a:r>
            <a:endParaRPr lang="en-US" sz="1200" dirty="0"/>
          </a:p>
        </p:txBody>
      </p:sp>
      <p:sp>
        <p:nvSpPr>
          <p:cNvPr id="18" name="Shape 13"/>
          <p:cNvSpPr/>
          <p:nvPr/>
        </p:nvSpPr>
        <p:spPr>
          <a:xfrm>
            <a:off x="502920" y="3566160"/>
            <a:ext cx="2057400" cy="758952"/>
          </a:xfrm>
          <a:prstGeom prst="roundRect">
            <a:avLst>
              <a:gd name="adj" fmla="val 9639"/>
            </a:avLst>
          </a:prstGeom>
          <a:solidFill>
            <a:srgbClr val="F8FAFC"/>
          </a:solidFill>
          <a:ln w="9525">
            <a:solidFill>
              <a:srgbClr val="E2E8F0"/>
            </a:solidFill>
            <a:prstDash val="solid"/>
          </a:ln>
        </p:spPr>
      </p:sp>
      <p:sp>
        <p:nvSpPr>
          <p:cNvPr id="19" name="Shape 14"/>
          <p:cNvSpPr/>
          <p:nvPr/>
        </p:nvSpPr>
        <p:spPr>
          <a:xfrm>
            <a:off x="594360" y="3781044"/>
            <a:ext cx="329184" cy="329184"/>
          </a:xfrm>
          <a:prstGeom prst="ellipse">
            <a:avLst/>
          </a:prstGeom>
          <a:solidFill>
            <a:srgbClr val="0A1F44"/>
          </a:solidFill>
          <a:ln w="6350">
            <a:solidFill>
              <a:srgbClr val="0A1F44"/>
            </a:solidFill>
            <a:prstDash val="solid"/>
          </a:ln>
        </p:spPr>
      </p:sp>
      <p:pic>
        <p:nvPicPr>
          <p:cNvPr id="20" name="Image 3" descr="preencoded.png">    </p:cNvPr>
          <p:cNvPicPr>
            <a:picLocks noChangeAspect="1"/>
          </p:cNvPicPr>
          <p:nvPr/>
        </p:nvPicPr>
        <p:blipFill>
          <a:blip r:embed="rId4"/>
          <a:stretch>
            <a:fillRect/>
          </a:stretch>
        </p:blipFill>
        <p:spPr>
          <a:xfrm>
            <a:off x="666780" y="3853464"/>
            <a:ext cx="184343" cy="184343"/>
          </a:xfrm>
          <a:prstGeom prst="rect">
            <a:avLst/>
          </a:prstGeom>
        </p:spPr>
      </p:pic>
      <p:sp>
        <p:nvSpPr>
          <p:cNvPr id="21" name="Text 15"/>
          <p:cNvSpPr txBox="1"/>
          <p:nvPr/>
        </p:nvSpPr>
        <p:spPr>
          <a:xfrm>
            <a:off x="978408" y="3566160"/>
            <a:ext cx="1527048" cy="758952"/>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13.7%  </a:t>
            </a:r>
            <a:pPr indent="0" marL="0">
              <a:buNone/>
            </a:pPr>
            <a:r>
              <a:rPr lang="en-US" sz="1000" b="1" dirty="0">
                <a:solidFill>
                  <a:srgbClr val="0A1F44"/>
                </a:solidFill>
                <a:latin typeface="Inter" pitchFamily="34" charset="0"/>
                <a:ea typeface="Inter" pitchFamily="34" charset="-122"/>
                <a:cs typeface="Inter" pitchFamily="34" charset="-120"/>
              </a:rPr>
              <a:t>One-timers</a:t>
            </a:r>
            <a:endParaRPr lang="en-US" sz="1200" dirty="0"/>
          </a:p>
          <a:p>
            <a:pPr indent="0" marL="0">
              <a:buNone/>
            </a:pPr>
            <a:r>
              <a:rPr lang="en-US" sz="800" dirty="0">
                <a:solidFill>
                  <a:srgbClr val="334155"/>
                </a:solidFill>
                <a:latin typeface="Inter" pitchFamily="34" charset="0"/>
                <a:ea typeface="Inter" pitchFamily="34" charset="-122"/>
                <a:cs typeface="Inter" pitchFamily="34" charset="-120"/>
              </a:rPr>
              <a:t>cashmere repeat; week 2 is the peak</a:t>
            </a:r>
            <a:endParaRPr lang="en-US" sz="1200" dirty="0"/>
          </a:p>
        </p:txBody>
      </p:sp>
      <p:sp>
        <p:nvSpPr>
          <p:cNvPr id="22" name="Shape 16"/>
          <p:cNvSpPr/>
          <p:nvPr/>
        </p:nvSpPr>
        <p:spPr>
          <a:xfrm>
            <a:off x="502920" y="4434840"/>
            <a:ext cx="2057400" cy="758952"/>
          </a:xfrm>
          <a:prstGeom prst="roundRect">
            <a:avLst>
              <a:gd name="adj" fmla="val 9639"/>
            </a:avLst>
          </a:prstGeom>
          <a:solidFill>
            <a:srgbClr val="F8FAFC"/>
          </a:solidFill>
          <a:ln w="9525">
            <a:solidFill>
              <a:srgbClr val="E2E8F0"/>
            </a:solidFill>
            <a:prstDash val="solid"/>
          </a:ln>
        </p:spPr>
      </p:sp>
      <p:sp>
        <p:nvSpPr>
          <p:cNvPr id="23" name="Shape 17"/>
          <p:cNvSpPr/>
          <p:nvPr/>
        </p:nvSpPr>
        <p:spPr>
          <a:xfrm>
            <a:off x="594360" y="4649724"/>
            <a:ext cx="329184" cy="329184"/>
          </a:xfrm>
          <a:prstGeom prst="ellipse">
            <a:avLst/>
          </a:prstGeom>
          <a:solidFill>
            <a:srgbClr val="0A1F44"/>
          </a:solidFill>
          <a:ln w="6350">
            <a:solidFill>
              <a:srgbClr val="0A1F44"/>
            </a:solidFill>
            <a:prstDash val="solid"/>
          </a:ln>
        </p:spPr>
      </p:sp>
      <p:pic>
        <p:nvPicPr>
          <p:cNvPr id="24" name="Image 4" descr="preencoded.png">    </p:cNvPr>
          <p:cNvPicPr>
            <a:picLocks noChangeAspect="1"/>
          </p:cNvPicPr>
          <p:nvPr/>
        </p:nvPicPr>
        <p:blipFill>
          <a:blip r:embed="rId5"/>
          <a:stretch>
            <a:fillRect/>
          </a:stretch>
        </p:blipFill>
        <p:spPr>
          <a:xfrm>
            <a:off x="666780" y="4722144"/>
            <a:ext cx="184343" cy="184343"/>
          </a:xfrm>
          <a:prstGeom prst="rect">
            <a:avLst/>
          </a:prstGeom>
        </p:spPr>
      </p:pic>
      <p:sp>
        <p:nvSpPr>
          <p:cNvPr id="25" name="Text 18"/>
          <p:cNvSpPr txBox="1"/>
          <p:nvPr/>
        </p:nvSpPr>
        <p:spPr>
          <a:xfrm>
            <a:off x="978408" y="4434840"/>
            <a:ext cx="1527048" cy="758952"/>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23.0%  </a:t>
            </a:r>
            <a:pPr indent="0" marL="0">
              <a:buNone/>
            </a:pPr>
            <a:r>
              <a:rPr lang="en-US" sz="1000" b="1" dirty="0">
                <a:solidFill>
                  <a:srgbClr val="0A1F44"/>
                </a:solidFill>
                <a:latin typeface="Inter" pitchFamily="34" charset="0"/>
                <a:ea typeface="Inter" pitchFamily="34" charset="-122"/>
                <a:cs typeface="Inter" pitchFamily="34" charset="-120"/>
              </a:rPr>
              <a:t>Wasted ads</a:t>
            </a:r>
            <a:endParaRPr lang="en-US" sz="1200" dirty="0"/>
          </a:p>
          <a:p>
            <a:pPr indent="0" marL="0">
              <a:buNone/>
            </a:pPr>
            <a:r>
              <a:rPr lang="en-US" sz="800" dirty="0">
                <a:solidFill>
                  <a:srgbClr val="334155"/>
                </a:solidFill>
                <a:latin typeface="Inter" pitchFamily="34" charset="0"/>
                <a:ea typeface="Inter" pitchFamily="34" charset="-122"/>
                <a:cs typeface="Inter" pitchFamily="34" charset="-120"/>
              </a:rPr>
              <a:t>retargeted repeat = organic 23.4%</a:t>
            </a:r>
            <a:endParaRPr lang="en-US" sz="1200" dirty="0"/>
          </a:p>
        </p:txBody>
      </p:sp>
      <p:sp>
        <p:nvSpPr>
          <p:cNvPr id="26" name="Shape 19"/>
          <p:cNvSpPr/>
          <p:nvPr/>
        </p:nvSpPr>
        <p:spPr>
          <a:xfrm>
            <a:off x="2788920" y="1234440"/>
            <a:ext cx="2286000" cy="420624"/>
          </a:xfrm>
          <a:prstGeom prst="homePlate">
            <a:avLst/>
          </a:prstGeom>
          <a:solidFill>
            <a:srgbClr val="0A1F44"/>
          </a:solidFill>
          <a:ln w="6350">
            <a:solidFill>
              <a:srgbClr val="0A1F44"/>
            </a:solidFill>
            <a:prstDash val="solid"/>
          </a:ln>
        </p:spPr>
      </p:sp>
      <p:sp>
        <p:nvSpPr>
          <p:cNvPr id="27" name="Text 20"/>
          <p:cNvSpPr txBox="1"/>
          <p:nvPr/>
        </p:nvSpPr>
        <p:spPr>
          <a:xfrm>
            <a:off x="2898648" y="1234440"/>
            <a:ext cx="1901952" cy="420624"/>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Set up  </a:t>
            </a:r>
            <a:pPr indent="0" marL="0">
              <a:buNone/>
            </a:pPr>
            <a:r>
              <a:rPr lang="en-US" sz="850" dirty="0">
                <a:solidFill>
                  <a:srgbClr val="FFFFFF"/>
                </a:solidFill>
                <a:latin typeface="Inter" pitchFamily="34" charset="0"/>
                <a:ea typeface="Inter" pitchFamily="34" charset="-122"/>
                <a:cs typeface="Inter" pitchFamily="34" charset="-120"/>
              </a:rPr>
              <a:t>Weeks 1–4</a:t>
            </a:r>
            <a:endParaRPr lang="en-US" sz="1200" dirty="0"/>
          </a:p>
        </p:txBody>
      </p:sp>
      <p:sp>
        <p:nvSpPr>
          <p:cNvPr id="28" name="Shape 21"/>
          <p:cNvSpPr/>
          <p:nvPr/>
        </p:nvSpPr>
        <p:spPr>
          <a:xfrm>
            <a:off x="2788920" y="1773936"/>
            <a:ext cx="2176272" cy="3474720"/>
          </a:xfrm>
          <a:prstGeom prst="roundRect">
            <a:avLst>
              <a:gd name="adj" fmla="val 4202"/>
            </a:avLst>
          </a:prstGeom>
          <a:solidFill>
            <a:srgbClr val="F8FAFC"/>
          </a:solidFill>
          <a:ln w="9525">
            <a:solidFill>
              <a:srgbClr val="E2E8F0"/>
            </a:solidFill>
            <a:prstDash val="solid"/>
          </a:ln>
        </p:spPr>
      </p:sp>
      <p:sp>
        <p:nvSpPr>
          <p:cNvPr id="29" name="Shape 22"/>
          <p:cNvSpPr/>
          <p:nvPr/>
        </p:nvSpPr>
        <p:spPr>
          <a:xfrm>
            <a:off x="2916936" y="2153412"/>
            <a:ext cx="109728" cy="109728"/>
          </a:xfrm>
          <a:prstGeom prst="ellipse">
            <a:avLst/>
          </a:prstGeom>
          <a:solidFill>
            <a:srgbClr val="1D4ED8"/>
          </a:solidFill>
          <a:ln w="6350">
            <a:solidFill>
              <a:srgbClr val="1D4ED8"/>
            </a:solidFill>
            <a:prstDash val="solid"/>
          </a:ln>
        </p:spPr>
      </p:sp>
      <p:sp>
        <p:nvSpPr>
          <p:cNvPr id="30" name="Text 23"/>
          <p:cNvSpPr txBox="1"/>
          <p:nvPr/>
        </p:nvSpPr>
        <p:spPr>
          <a:xfrm>
            <a:off x="3099816" y="182880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Abandoner segment in CJA</a:t>
            </a:r>
            <a:endParaRPr lang="en-US" sz="950" dirty="0"/>
          </a:p>
        </p:txBody>
      </p:sp>
      <p:sp>
        <p:nvSpPr>
          <p:cNvPr id="31" name="Shape 24"/>
          <p:cNvSpPr/>
          <p:nvPr/>
        </p:nvSpPr>
        <p:spPr>
          <a:xfrm>
            <a:off x="2971800" y="2633472"/>
            <a:ext cx="1810512" cy="0"/>
          </a:xfrm>
          <a:prstGeom prst="line">
            <a:avLst/>
          </a:prstGeom>
          <a:noFill/>
          <a:ln w="6350">
            <a:solidFill>
              <a:srgbClr val="E2E8F0"/>
            </a:solidFill>
            <a:prstDash val="solid"/>
          </a:ln>
        </p:spPr>
      </p:sp>
      <p:sp>
        <p:nvSpPr>
          <p:cNvPr id="32" name="Shape 25"/>
          <p:cNvSpPr/>
          <p:nvPr/>
        </p:nvSpPr>
        <p:spPr>
          <a:xfrm>
            <a:off x="2916936" y="3022092"/>
            <a:ext cx="109728" cy="109728"/>
          </a:xfrm>
          <a:prstGeom prst="ellipse">
            <a:avLst/>
          </a:prstGeom>
          <a:solidFill>
            <a:srgbClr val="1D4ED8"/>
          </a:solidFill>
          <a:ln w="6350">
            <a:solidFill>
              <a:srgbClr val="1D4ED8"/>
            </a:solidFill>
            <a:prstDash val="solid"/>
          </a:ln>
        </p:spPr>
      </p:sp>
      <p:sp>
        <p:nvSpPr>
          <p:cNvPr id="33" name="Text 26"/>
          <p:cNvSpPr txBox="1"/>
          <p:nvPr/>
        </p:nvSpPr>
        <p:spPr>
          <a:xfrm>
            <a:off x="3099816" y="269748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Consent split; Passport print</a:t>
            </a:r>
            <a:endParaRPr lang="en-US" sz="950" dirty="0"/>
          </a:p>
        </p:txBody>
      </p:sp>
      <p:sp>
        <p:nvSpPr>
          <p:cNvPr id="34" name="Shape 27"/>
          <p:cNvSpPr/>
          <p:nvPr/>
        </p:nvSpPr>
        <p:spPr>
          <a:xfrm>
            <a:off x="2971800" y="3502152"/>
            <a:ext cx="1810512" cy="0"/>
          </a:xfrm>
          <a:prstGeom prst="line">
            <a:avLst/>
          </a:prstGeom>
          <a:noFill/>
          <a:ln w="6350">
            <a:solidFill>
              <a:srgbClr val="E2E8F0"/>
            </a:solidFill>
            <a:prstDash val="solid"/>
          </a:ln>
        </p:spPr>
      </p:sp>
      <p:sp>
        <p:nvSpPr>
          <p:cNvPr id="35" name="Shape 28"/>
          <p:cNvSpPr/>
          <p:nvPr/>
        </p:nvSpPr>
        <p:spPr>
          <a:xfrm>
            <a:off x="2916936" y="3890772"/>
            <a:ext cx="109728" cy="109728"/>
          </a:xfrm>
          <a:prstGeom prst="ellipse">
            <a:avLst/>
          </a:prstGeom>
          <a:solidFill>
            <a:srgbClr val="1D4ED8"/>
          </a:solidFill>
          <a:ln w="6350">
            <a:solidFill>
              <a:srgbClr val="1D4ED8"/>
            </a:solidFill>
            <a:prstDash val="solid"/>
          </a:ln>
        </p:spPr>
      </p:sp>
      <p:sp>
        <p:nvSpPr>
          <p:cNvPr id="36" name="Text 29"/>
          <p:cNvSpPr txBox="1"/>
          <p:nvPr/>
        </p:nvSpPr>
        <p:spPr>
          <a:xfrm>
            <a:off x="3099816" y="356616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Delivery events → person ID</a:t>
            </a:r>
            <a:endParaRPr lang="en-US" sz="950" dirty="0"/>
          </a:p>
        </p:txBody>
      </p:sp>
      <p:sp>
        <p:nvSpPr>
          <p:cNvPr id="37" name="Shape 30"/>
          <p:cNvSpPr/>
          <p:nvPr/>
        </p:nvSpPr>
        <p:spPr>
          <a:xfrm>
            <a:off x="2971800" y="4370832"/>
            <a:ext cx="1810512" cy="0"/>
          </a:xfrm>
          <a:prstGeom prst="line">
            <a:avLst/>
          </a:prstGeom>
          <a:noFill/>
          <a:ln w="6350">
            <a:solidFill>
              <a:srgbClr val="E2E8F0"/>
            </a:solidFill>
            <a:prstDash val="solid"/>
          </a:ln>
        </p:spPr>
      </p:sp>
      <p:sp>
        <p:nvSpPr>
          <p:cNvPr id="38" name="Shape 31"/>
          <p:cNvSpPr/>
          <p:nvPr/>
        </p:nvSpPr>
        <p:spPr>
          <a:xfrm>
            <a:off x="2916936" y="4759452"/>
            <a:ext cx="109728" cy="109728"/>
          </a:xfrm>
          <a:prstGeom prst="ellipse">
            <a:avLst/>
          </a:prstGeom>
          <a:solidFill>
            <a:srgbClr val="1D4ED8"/>
          </a:solidFill>
          <a:ln w="6350">
            <a:solidFill>
              <a:srgbClr val="1D4ED8"/>
            </a:solidFill>
            <a:prstDash val="solid"/>
          </a:ln>
        </p:spPr>
      </p:sp>
      <p:sp>
        <p:nvSpPr>
          <p:cNvPr id="39" name="Text 32"/>
          <p:cNvSpPr txBox="1"/>
          <p:nvPr/>
        </p:nvSpPr>
        <p:spPr>
          <a:xfrm>
            <a:off x="3099816" y="443484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Audiences into Real-Time CDP</a:t>
            </a:r>
            <a:endParaRPr lang="en-US" sz="950" dirty="0"/>
          </a:p>
        </p:txBody>
      </p:sp>
      <p:sp>
        <p:nvSpPr>
          <p:cNvPr id="40" name="Shape 33"/>
          <p:cNvSpPr/>
          <p:nvPr/>
        </p:nvSpPr>
        <p:spPr>
          <a:xfrm>
            <a:off x="5129784" y="1234440"/>
            <a:ext cx="2286000" cy="420624"/>
          </a:xfrm>
          <a:prstGeom prst="chevron">
            <a:avLst/>
          </a:prstGeom>
          <a:solidFill>
            <a:srgbClr val="1D4ED8"/>
          </a:solidFill>
          <a:ln w="6350">
            <a:solidFill>
              <a:srgbClr val="1D4ED8"/>
            </a:solidFill>
            <a:prstDash val="solid"/>
          </a:ln>
        </p:spPr>
      </p:sp>
      <p:sp>
        <p:nvSpPr>
          <p:cNvPr id="41" name="Text 34"/>
          <p:cNvSpPr txBox="1"/>
          <p:nvPr/>
        </p:nvSpPr>
        <p:spPr>
          <a:xfrm>
            <a:off x="5404104" y="1234440"/>
            <a:ext cx="1901952" cy="420624"/>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Launch  </a:t>
            </a:r>
            <a:pPr indent="0" marL="0">
              <a:buNone/>
            </a:pPr>
            <a:r>
              <a:rPr lang="en-US" sz="850" dirty="0">
                <a:solidFill>
                  <a:srgbClr val="FFFFFF"/>
                </a:solidFill>
                <a:latin typeface="Inter" pitchFamily="34" charset="0"/>
                <a:ea typeface="Inter" pitchFamily="34" charset="-122"/>
                <a:cs typeface="Inter" pitchFamily="34" charset="-120"/>
              </a:rPr>
              <a:t>Weeks 5–8 · South</a:t>
            </a:r>
            <a:endParaRPr lang="en-US" sz="1200" dirty="0"/>
          </a:p>
        </p:txBody>
      </p:sp>
      <p:sp>
        <p:nvSpPr>
          <p:cNvPr id="42" name="Shape 35"/>
          <p:cNvSpPr/>
          <p:nvPr/>
        </p:nvSpPr>
        <p:spPr>
          <a:xfrm>
            <a:off x="5129784" y="1773936"/>
            <a:ext cx="2176272" cy="3474720"/>
          </a:xfrm>
          <a:prstGeom prst="roundRect">
            <a:avLst>
              <a:gd name="adj" fmla="val 4202"/>
            </a:avLst>
          </a:prstGeom>
          <a:solidFill>
            <a:srgbClr val="F8FAFC"/>
          </a:solidFill>
          <a:ln w="9525">
            <a:solidFill>
              <a:srgbClr val="E2E8F0"/>
            </a:solidFill>
            <a:prstDash val="solid"/>
          </a:ln>
        </p:spPr>
      </p:sp>
      <p:sp>
        <p:nvSpPr>
          <p:cNvPr id="43" name="Shape 36"/>
          <p:cNvSpPr/>
          <p:nvPr/>
        </p:nvSpPr>
        <p:spPr>
          <a:xfrm>
            <a:off x="5257800" y="2153412"/>
            <a:ext cx="109728" cy="109728"/>
          </a:xfrm>
          <a:prstGeom prst="ellipse">
            <a:avLst/>
          </a:prstGeom>
          <a:solidFill>
            <a:srgbClr val="1D4ED8"/>
          </a:solidFill>
          <a:ln w="6350">
            <a:solidFill>
              <a:srgbClr val="1D4ED8"/>
            </a:solidFill>
            <a:prstDash val="solid"/>
          </a:ln>
        </p:spPr>
      </p:sp>
      <p:sp>
        <p:nvSpPr>
          <p:cNvPr id="44" name="Text 37"/>
          <p:cNvSpPr txBox="1"/>
          <p:nvPr/>
        </p:nvSpPr>
        <p:spPr>
          <a:xfrm>
            <a:off x="5440680" y="182880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Cart reminders live · wk 5</a:t>
            </a:r>
            <a:endParaRPr lang="en-US" sz="950" dirty="0"/>
          </a:p>
        </p:txBody>
      </p:sp>
      <p:sp>
        <p:nvSpPr>
          <p:cNvPr id="45" name="Shape 38"/>
          <p:cNvSpPr/>
          <p:nvPr/>
        </p:nvSpPr>
        <p:spPr>
          <a:xfrm>
            <a:off x="5312664" y="2633472"/>
            <a:ext cx="1810512" cy="0"/>
          </a:xfrm>
          <a:prstGeom prst="line">
            <a:avLst/>
          </a:prstGeom>
          <a:noFill/>
          <a:ln w="6350">
            <a:solidFill>
              <a:srgbClr val="E2E8F0"/>
            </a:solidFill>
            <a:prstDash val="solid"/>
          </a:ln>
        </p:spPr>
      </p:sp>
      <p:sp>
        <p:nvSpPr>
          <p:cNvPr id="46" name="Shape 39"/>
          <p:cNvSpPr/>
          <p:nvPr/>
        </p:nvSpPr>
        <p:spPr>
          <a:xfrm>
            <a:off x="5257800" y="3022092"/>
            <a:ext cx="109728" cy="109728"/>
          </a:xfrm>
          <a:prstGeom prst="ellipse">
            <a:avLst/>
          </a:prstGeom>
          <a:solidFill>
            <a:srgbClr val="1D4ED8"/>
          </a:solidFill>
          <a:ln w="6350">
            <a:solidFill>
              <a:srgbClr val="1D4ED8"/>
            </a:solidFill>
            <a:prstDash val="solid"/>
          </a:ln>
        </p:spPr>
      </p:sp>
      <p:sp>
        <p:nvSpPr>
          <p:cNvPr id="47" name="Text 40"/>
          <p:cNvSpPr txBox="1"/>
          <p:nvPr/>
        </p:nvSpPr>
        <p:spPr>
          <a:xfrm>
            <a:off x="5440680" y="269748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Passport + SMS ask · wk 6</a:t>
            </a:r>
            <a:endParaRPr lang="en-US" sz="950" dirty="0"/>
          </a:p>
        </p:txBody>
      </p:sp>
      <p:sp>
        <p:nvSpPr>
          <p:cNvPr id="48" name="Shape 41"/>
          <p:cNvSpPr/>
          <p:nvPr/>
        </p:nvSpPr>
        <p:spPr>
          <a:xfrm>
            <a:off x="5312664" y="3502152"/>
            <a:ext cx="1810512" cy="0"/>
          </a:xfrm>
          <a:prstGeom prst="line">
            <a:avLst/>
          </a:prstGeom>
          <a:noFill/>
          <a:ln w="6350">
            <a:solidFill>
              <a:srgbClr val="E2E8F0"/>
            </a:solidFill>
            <a:prstDash val="solid"/>
          </a:ln>
        </p:spPr>
      </p:sp>
      <p:sp>
        <p:nvSpPr>
          <p:cNvPr id="49" name="Shape 42"/>
          <p:cNvSpPr/>
          <p:nvPr/>
        </p:nvSpPr>
        <p:spPr>
          <a:xfrm>
            <a:off x="5257800" y="3890772"/>
            <a:ext cx="109728" cy="109728"/>
          </a:xfrm>
          <a:prstGeom prst="ellipse">
            <a:avLst/>
          </a:prstGeom>
          <a:solidFill>
            <a:srgbClr val="1D4ED8"/>
          </a:solidFill>
          <a:ln w="6350">
            <a:solidFill>
              <a:srgbClr val="1D4ED8"/>
            </a:solidFill>
            <a:prstDash val="solid"/>
          </a:ln>
        </p:spPr>
      </p:sp>
      <p:sp>
        <p:nvSpPr>
          <p:cNvPr id="50" name="Text 43"/>
          <p:cNvSpPr txBox="1"/>
          <p:nvPr/>
        </p:nvSpPr>
        <p:spPr>
          <a:xfrm>
            <a:off x="5440680" y="356616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Care → day-21 category · wk 7</a:t>
            </a:r>
            <a:endParaRPr lang="en-US" sz="950" dirty="0"/>
          </a:p>
        </p:txBody>
      </p:sp>
      <p:sp>
        <p:nvSpPr>
          <p:cNvPr id="51" name="Shape 44"/>
          <p:cNvSpPr/>
          <p:nvPr/>
        </p:nvSpPr>
        <p:spPr>
          <a:xfrm>
            <a:off x="5312664" y="4370832"/>
            <a:ext cx="1810512" cy="0"/>
          </a:xfrm>
          <a:prstGeom prst="line">
            <a:avLst/>
          </a:prstGeom>
          <a:noFill/>
          <a:ln w="6350">
            <a:solidFill>
              <a:srgbClr val="E2E8F0"/>
            </a:solidFill>
            <a:prstDash val="solid"/>
          </a:ln>
        </p:spPr>
      </p:sp>
      <p:sp>
        <p:nvSpPr>
          <p:cNvPr id="52" name="Shape 45"/>
          <p:cNvSpPr/>
          <p:nvPr/>
        </p:nvSpPr>
        <p:spPr>
          <a:xfrm>
            <a:off x="5257800" y="4759452"/>
            <a:ext cx="109728" cy="109728"/>
          </a:xfrm>
          <a:prstGeom prst="ellipse">
            <a:avLst/>
          </a:prstGeom>
          <a:solidFill>
            <a:srgbClr val="1D4ED8"/>
          </a:solidFill>
          <a:ln w="6350">
            <a:solidFill>
              <a:srgbClr val="1D4ED8"/>
            </a:solidFill>
            <a:prstDash val="solid"/>
          </a:ln>
        </p:spPr>
      </p:sp>
      <p:sp>
        <p:nvSpPr>
          <p:cNvPr id="53" name="Text 46"/>
          <p:cNvSpPr txBox="1"/>
          <p:nvPr/>
        </p:nvSpPr>
        <p:spPr>
          <a:xfrm>
            <a:off x="5440680" y="4434840"/>
            <a:ext cx="1792224" cy="758952"/>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Suppression + caps · wk 5</a:t>
            </a:r>
            <a:endParaRPr lang="en-US" sz="950" dirty="0"/>
          </a:p>
        </p:txBody>
      </p:sp>
      <p:sp>
        <p:nvSpPr>
          <p:cNvPr id="54" name="Shape 47"/>
          <p:cNvSpPr/>
          <p:nvPr/>
        </p:nvSpPr>
        <p:spPr>
          <a:xfrm>
            <a:off x="7470648" y="1234440"/>
            <a:ext cx="2286000" cy="420624"/>
          </a:xfrm>
          <a:prstGeom prst="chevron">
            <a:avLst/>
          </a:prstGeom>
          <a:solidFill>
            <a:srgbClr val="2563EB"/>
          </a:solidFill>
          <a:ln w="6350">
            <a:solidFill>
              <a:srgbClr val="2563EB"/>
            </a:solidFill>
            <a:prstDash val="solid"/>
          </a:ln>
        </p:spPr>
      </p:sp>
      <p:sp>
        <p:nvSpPr>
          <p:cNvPr id="55" name="Text 48"/>
          <p:cNvSpPr txBox="1"/>
          <p:nvPr/>
        </p:nvSpPr>
        <p:spPr>
          <a:xfrm>
            <a:off x="7744968" y="1234440"/>
            <a:ext cx="1901952" cy="420624"/>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Measure  </a:t>
            </a:r>
            <a:pPr indent="0" marL="0">
              <a:buNone/>
            </a:pPr>
            <a:r>
              <a:rPr lang="en-US" sz="850" dirty="0">
                <a:solidFill>
                  <a:srgbClr val="FFFFFF"/>
                </a:solidFill>
                <a:latin typeface="Inter" pitchFamily="34" charset="0"/>
                <a:ea typeface="Inter" pitchFamily="34" charset="-122"/>
                <a:cs typeface="Inter" pitchFamily="34" charset="-120"/>
              </a:rPr>
              <a:t>Weeks 9–12</a:t>
            </a:r>
            <a:endParaRPr lang="en-US" sz="1200" dirty="0"/>
          </a:p>
        </p:txBody>
      </p:sp>
      <p:sp>
        <p:nvSpPr>
          <p:cNvPr id="56" name="Shape 49"/>
          <p:cNvSpPr/>
          <p:nvPr/>
        </p:nvSpPr>
        <p:spPr>
          <a:xfrm>
            <a:off x="7470648" y="1773936"/>
            <a:ext cx="2176272" cy="3474720"/>
          </a:xfrm>
          <a:prstGeom prst="roundRect">
            <a:avLst>
              <a:gd name="adj" fmla="val 4202"/>
            </a:avLst>
          </a:prstGeom>
          <a:solidFill>
            <a:srgbClr val="EFF6FF"/>
          </a:solidFill>
          <a:ln w="9525">
            <a:solidFill>
              <a:srgbClr val="E2E8F0"/>
            </a:solidFill>
            <a:prstDash val="solid"/>
          </a:ln>
        </p:spPr>
      </p:sp>
      <p:sp>
        <p:nvSpPr>
          <p:cNvPr id="57" name="Shape 50"/>
          <p:cNvSpPr/>
          <p:nvPr/>
        </p:nvSpPr>
        <p:spPr>
          <a:xfrm>
            <a:off x="7598664" y="2153412"/>
            <a:ext cx="109728" cy="109728"/>
          </a:xfrm>
          <a:prstGeom prst="ellipse">
            <a:avLst/>
          </a:prstGeom>
          <a:solidFill>
            <a:srgbClr val="0A1F44"/>
          </a:solidFill>
          <a:ln w="6350">
            <a:solidFill>
              <a:srgbClr val="0A1F44"/>
            </a:solidFill>
            <a:prstDash val="solid"/>
          </a:ln>
        </p:spPr>
      </p:sp>
      <p:sp>
        <p:nvSpPr>
          <p:cNvPr id="58" name="Text 51"/>
          <p:cNvSpPr txBox="1"/>
          <p:nvPr/>
        </p:nvSpPr>
        <p:spPr>
          <a:xfrm>
            <a:off x="7781544" y="1828800"/>
            <a:ext cx="1792224" cy="758952"/>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Cart recovery vs holdout</a:t>
            </a:r>
            <a:endParaRPr lang="en-US" sz="950" dirty="0"/>
          </a:p>
        </p:txBody>
      </p:sp>
      <p:sp>
        <p:nvSpPr>
          <p:cNvPr id="59" name="Shape 52"/>
          <p:cNvSpPr/>
          <p:nvPr/>
        </p:nvSpPr>
        <p:spPr>
          <a:xfrm>
            <a:off x="7653528" y="2633472"/>
            <a:ext cx="1810512" cy="0"/>
          </a:xfrm>
          <a:prstGeom prst="line">
            <a:avLst/>
          </a:prstGeom>
          <a:noFill/>
          <a:ln w="6350">
            <a:solidFill>
              <a:srgbClr val="E2E8F0"/>
            </a:solidFill>
            <a:prstDash val="solid"/>
          </a:ln>
        </p:spPr>
      </p:sp>
      <p:sp>
        <p:nvSpPr>
          <p:cNvPr id="60" name="Shape 53"/>
          <p:cNvSpPr/>
          <p:nvPr/>
        </p:nvSpPr>
        <p:spPr>
          <a:xfrm>
            <a:off x="7598664" y="3022092"/>
            <a:ext cx="109728" cy="109728"/>
          </a:xfrm>
          <a:prstGeom prst="ellipse">
            <a:avLst/>
          </a:prstGeom>
          <a:solidFill>
            <a:srgbClr val="0A1F44"/>
          </a:solidFill>
          <a:ln w="6350">
            <a:solidFill>
              <a:srgbClr val="0A1F44"/>
            </a:solidFill>
            <a:prstDash val="solid"/>
          </a:ln>
        </p:spPr>
      </p:sp>
      <p:sp>
        <p:nvSpPr>
          <p:cNvPr id="61" name="Text 54"/>
          <p:cNvSpPr txBox="1"/>
          <p:nvPr/>
        </p:nvSpPr>
        <p:spPr>
          <a:xfrm>
            <a:off x="7781544" y="2697480"/>
            <a:ext cx="1792224" cy="758952"/>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Opt-ins per 100 orders</a:t>
            </a:r>
            <a:endParaRPr lang="en-US" sz="950" dirty="0"/>
          </a:p>
        </p:txBody>
      </p:sp>
      <p:sp>
        <p:nvSpPr>
          <p:cNvPr id="62" name="Shape 55"/>
          <p:cNvSpPr/>
          <p:nvPr/>
        </p:nvSpPr>
        <p:spPr>
          <a:xfrm>
            <a:off x="7653528" y="3502152"/>
            <a:ext cx="1810512" cy="0"/>
          </a:xfrm>
          <a:prstGeom prst="line">
            <a:avLst/>
          </a:prstGeom>
          <a:noFill/>
          <a:ln w="6350">
            <a:solidFill>
              <a:srgbClr val="E2E8F0"/>
            </a:solidFill>
            <a:prstDash val="solid"/>
          </a:ln>
        </p:spPr>
      </p:sp>
      <p:sp>
        <p:nvSpPr>
          <p:cNvPr id="63" name="Shape 56"/>
          <p:cNvSpPr/>
          <p:nvPr/>
        </p:nvSpPr>
        <p:spPr>
          <a:xfrm>
            <a:off x="7598664" y="3890772"/>
            <a:ext cx="109728" cy="109728"/>
          </a:xfrm>
          <a:prstGeom prst="ellipse">
            <a:avLst/>
          </a:prstGeom>
          <a:solidFill>
            <a:srgbClr val="0A1F44"/>
          </a:solidFill>
          <a:ln w="6350">
            <a:solidFill>
              <a:srgbClr val="0A1F44"/>
            </a:solidFill>
            <a:prstDash val="solid"/>
          </a:ln>
        </p:spPr>
      </p:sp>
      <p:sp>
        <p:nvSpPr>
          <p:cNvPr id="64" name="Text 57"/>
          <p:cNvSpPr txBox="1"/>
          <p:nvPr/>
        </p:nvSpPr>
        <p:spPr>
          <a:xfrm>
            <a:off x="7781544" y="3566160"/>
            <a:ext cx="1792224" cy="758952"/>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30-day repeat lift</a:t>
            </a:r>
            <a:endParaRPr lang="en-US" sz="950" dirty="0"/>
          </a:p>
        </p:txBody>
      </p:sp>
      <p:sp>
        <p:nvSpPr>
          <p:cNvPr id="65" name="Shape 58"/>
          <p:cNvSpPr/>
          <p:nvPr/>
        </p:nvSpPr>
        <p:spPr>
          <a:xfrm>
            <a:off x="7653528" y="4370832"/>
            <a:ext cx="1810512" cy="0"/>
          </a:xfrm>
          <a:prstGeom prst="line">
            <a:avLst/>
          </a:prstGeom>
          <a:noFill/>
          <a:ln w="6350">
            <a:solidFill>
              <a:srgbClr val="E2E8F0"/>
            </a:solidFill>
            <a:prstDash val="solid"/>
          </a:ln>
        </p:spPr>
      </p:sp>
      <p:sp>
        <p:nvSpPr>
          <p:cNvPr id="66" name="Shape 59"/>
          <p:cNvSpPr/>
          <p:nvPr/>
        </p:nvSpPr>
        <p:spPr>
          <a:xfrm>
            <a:off x="7598664" y="4759452"/>
            <a:ext cx="109728" cy="109728"/>
          </a:xfrm>
          <a:prstGeom prst="ellipse">
            <a:avLst/>
          </a:prstGeom>
          <a:solidFill>
            <a:srgbClr val="0A1F44"/>
          </a:solidFill>
          <a:ln w="6350">
            <a:solidFill>
              <a:srgbClr val="0A1F44"/>
            </a:solidFill>
            <a:prstDash val="solid"/>
          </a:ln>
        </p:spPr>
      </p:sp>
      <p:sp>
        <p:nvSpPr>
          <p:cNvPr id="67" name="Text 60"/>
          <p:cNvSpPr txBox="1"/>
          <p:nvPr/>
        </p:nvSpPr>
        <p:spPr>
          <a:xfrm>
            <a:off x="7781544" y="4434840"/>
            <a:ext cx="1792224" cy="758952"/>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Incremental orders per $</a:t>
            </a:r>
            <a:endParaRPr lang="en-US" sz="950" dirty="0"/>
          </a:p>
        </p:txBody>
      </p:sp>
      <p:sp>
        <p:nvSpPr>
          <p:cNvPr id="68" name="Shape 61"/>
          <p:cNvSpPr/>
          <p:nvPr/>
        </p:nvSpPr>
        <p:spPr>
          <a:xfrm>
            <a:off x="2596896" y="2135124"/>
            <a:ext cx="164592" cy="146304"/>
          </a:xfrm>
          <a:prstGeom prst="rightArrow">
            <a:avLst/>
          </a:prstGeom>
          <a:solidFill>
            <a:srgbClr val="BFDBFE"/>
          </a:solidFill>
          <a:ln w="6350">
            <a:solidFill>
              <a:srgbClr val="BFDBFE"/>
            </a:solidFill>
            <a:prstDash val="solid"/>
          </a:ln>
        </p:spPr>
      </p:sp>
      <p:sp>
        <p:nvSpPr>
          <p:cNvPr id="69" name="Shape 62"/>
          <p:cNvSpPr/>
          <p:nvPr/>
        </p:nvSpPr>
        <p:spPr>
          <a:xfrm>
            <a:off x="2596896" y="3003804"/>
            <a:ext cx="164592" cy="146304"/>
          </a:xfrm>
          <a:prstGeom prst="rightArrow">
            <a:avLst/>
          </a:prstGeom>
          <a:solidFill>
            <a:srgbClr val="BFDBFE"/>
          </a:solidFill>
          <a:ln w="6350">
            <a:solidFill>
              <a:srgbClr val="BFDBFE"/>
            </a:solidFill>
            <a:prstDash val="solid"/>
          </a:ln>
        </p:spPr>
      </p:sp>
      <p:sp>
        <p:nvSpPr>
          <p:cNvPr id="70" name="Shape 63"/>
          <p:cNvSpPr/>
          <p:nvPr/>
        </p:nvSpPr>
        <p:spPr>
          <a:xfrm>
            <a:off x="2596896" y="3872484"/>
            <a:ext cx="164592" cy="146304"/>
          </a:xfrm>
          <a:prstGeom prst="rightArrow">
            <a:avLst/>
          </a:prstGeom>
          <a:solidFill>
            <a:srgbClr val="BFDBFE"/>
          </a:solidFill>
          <a:ln w="6350">
            <a:solidFill>
              <a:srgbClr val="BFDBFE"/>
            </a:solidFill>
            <a:prstDash val="solid"/>
          </a:ln>
        </p:spPr>
      </p:sp>
      <p:sp>
        <p:nvSpPr>
          <p:cNvPr id="71" name="Shape 64"/>
          <p:cNvSpPr/>
          <p:nvPr/>
        </p:nvSpPr>
        <p:spPr>
          <a:xfrm>
            <a:off x="2596896" y="4741164"/>
            <a:ext cx="164592" cy="146304"/>
          </a:xfrm>
          <a:prstGeom prst="rightArrow">
            <a:avLst/>
          </a:prstGeom>
          <a:solidFill>
            <a:srgbClr val="BFDBFE"/>
          </a:solidFill>
          <a:ln w="6350">
            <a:solidFill>
              <a:srgbClr val="BFDBFE"/>
            </a:solidFill>
            <a:prstDash val="solid"/>
          </a:ln>
        </p:spPr>
      </p:sp>
      <p:sp>
        <p:nvSpPr>
          <p:cNvPr id="72" name="Shape 65"/>
          <p:cNvSpPr/>
          <p:nvPr/>
        </p:nvSpPr>
        <p:spPr>
          <a:xfrm>
            <a:off x="9683496" y="3017520"/>
            <a:ext cx="201168" cy="274320"/>
          </a:xfrm>
          <a:prstGeom prst="rightArrow">
            <a:avLst/>
          </a:prstGeom>
          <a:solidFill>
            <a:srgbClr val="1D4ED8"/>
          </a:solidFill>
          <a:ln w="6350">
            <a:solidFill>
              <a:srgbClr val="1D4ED8"/>
            </a:solidFill>
            <a:prstDash val="solid"/>
          </a:ln>
        </p:spPr>
      </p:sp>
      <p:sp>
        <p:nvSpPr>
          <p:cNvPr id="73" name="Shape 66"/>
          <p:cNvSpPr/>
          <p:nvPr/>
        </p:nvSpPr>
        <p:spPr>
          <a:xfrm>
            <a:off x="10177272" y="1234440"/>
            <a:ext cx="1133856" cy="1005840"/>
          </a:xfrm>
          <a:prstGeom prst="diamond">
            <a:avLst/>
          </a:prstGeom>
          <a:solidFill>
            <a:srgbClr val="0A1F44"/>
          </a:solidFill>
          <a:ln w="6350">
            <a:solidFill>
              <a:srgbClr val="0A1F44"/>
            </a:solidFill>
            <a:prstDash val="solid"/>
          </a:ln>
        </p:spPr>
      </p:sp>
      <p:sp>
        <p:nvSpPr>
          <p:cNvPr id="74" name="Text 67"/>
          <p:cNvSpPr txBox="1"/>
          <p:nvPr/>
        </p:nvSpPr>
        <p:spPr>
          <a:xfrm>
            <a:off x="10177272" y="1234440"/>
            <a:ext cx="1133856" cy="1005840"/>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Day 90</a:t>
            </a:r>
            <a:endParaRPr lang="en-US" sz="1200" dirty="0"/>
          </a:p>
          <a:p>
            <a:pPr algn="ctr" indent="0" marL="0">
              <a:buNone/>
            </a:pPr>
            <a:r>
              <a:rPr lang="en-US" sz="900" dirty="0">
                <a:solidFill>
                  <a:srgbClr val="FFFFFF"/>
                </a:solidFill>
                <a:latin typeface="Inter" pitchFamily="34" charset="0"/>
                <a:ea typeface="Inter" pitchFamily="34" charset="-122"/>
                <a:cs typeface="Inter" pitchFamily="34" charset="-120"/>
              </a:rPr>
              <a:t>decide</a:t>
            </a:r>
            <a:endParaRPr lang="en-US" sz="1200" dirty="0"/>
          </a:p>
        </p:txBody>
      </p:sp>
      <p:sp>
        <p:nvSpPr>
          <p:cNvPr id="75" name="Shape 68"/>
          <p:cNvSpPr/>
          <p:nvPr/>
        </p:nvSpPr>
        <p:spPr>
          <a:xfrm>
            <a:off x="10744200" y="2240280"/>
            <a:ext cx="0" cy="182880"/>
          </a:xfrm>
          <a:prstGeom prst="line">
            <a:avLst/>
          </a:prstGeom>
          <a:noFill/>
          <a:ln w="15875">
            <a:solidFill>
              <a:srgbClr val="0A1F44"/>
            </a:solidFill>
            <a:prstDash val="solid"/>
          </a:ln>
        </p:spPr>
      </p:sp>
      <p:sp>
        <p:nvSpPr>
          <p:cNvPr id="76" name="Shape 69"/>
          <p:cNvSpPr/>
          <p:nvPr/>
        </p:nvSpPr>
        <p:spPr>
          <a:xfrm>
            <a:off x="9912096" y="2423160"/>
            <a:ext cx="0" cy="2423160"/>
          </a:xfrm>
          <a:prstGeom prst="line">
            <a:avLst/>
          </a:prstGeom>
          <a:noFill/>
          <a:ln w="15875">
            <a:solidFill>
              <a:srgbClr val="0A1F44"/>
            </a:solidFill>
            <a:prstDash val="solid"/>
          </a:ln>
        </p:spPr>
      </p:sp>
      <p:sp>
        <p:nvSpPr>
          <p:cNvPr id="77" name="Shape 70"/>
          <p:cNvSpPr/>
          <p:nvPr/>
        </p:nvSpPr>
        <p:spPr>
          <a:xfrm>
            <a:off x="9912096" y="2423160"/>
            <a:ext cx="832104" cy="0"/>
          </a:xfrm>
          <a:prstGeom prst="line">
            <a:avLst/>
          </a:prstGeom>
          <a:noFill/>
          <a:ln w="15875">
            <a:solidFill>
              <a:srgbClr val="0A1F44"/>
            </a:solidFill>
            <a:prstDash val="solid"/>
          </a:ln>
        </p:spPr>
      </p:sp>
      <p:sp>
        <p:nvSpPr>
          <p:cNvPr id="78" name="Shape 71"/>
          <p:cNvSpPr/>
          <p:nvPr/>
        </p:nvSpPr>
        <p:spPr>
          <a:xfrm>
            <a:off x="9912096" y="3017520"/>
            <a:ext cx="146304" cy="0"/>
          </a:xfrm>
          <a:prstGeom prst="line">
            <a:avLst/>
          </a:prstGeom>
          <a:noFill/>
          <a:ln w="15875">
            <a:solidFill>
              <a:srgbClr val="0A1F44"/>
            </a:solidFill>
            <a:prstDash val="solid"/>
            <a:tailEnd type="triangle"/>
          </a:ln>
        </p:spPr>
      </p:sp>
      <p:sp>
        <p:nvSpPr>
          <p:cNvPr id="79" name="Shape 72"/>
          <p:cNvSpPr/>
          <p:nvPr/>
        </p:nvSpPr>
        <p:spPr>
          <a:xfrm>
            <a:off x="10076688" y="2651760"/>
            <a:ext cx="1609344" cy="804672"/>
          </a:xfrm>
          <a:prstGeom prst="roundRect">
            <a:avLst>
              <a:gd name="adj" fmla="val 9091"/>
            </a:avLst>
          </a:prstGeom>
          <a:solidFill>
            <a:srgbClr val="FFFFFF"/>
          </a:solidFill>
          <a:ln w="19050">
            <a:solidFill>
              <a:srgbClr val="1D4ED8"/>
            </a:solidFill>
            <a:prstDash val="solid"/>
          </a:ln>
        </p:spPr>
      </p:sp>
      <p:sp>
        <p:nvSpPr>
          <p:cNvPr id="80" name="Shape 73"/>
          <p:cNvSpPr/>
          <p:nvPr/>
        </p:nvSpPr>
        <p:spPr>
          <a:xfrm>
            <a:off x="10168128" y="2706624"/>
            <a:ext cx="256032" cy="256032"/>
          </a:xfrm>
          <a:prstGeom prst="ellipse">
            <a:avLst/>
          </a:prstGeom>
          <a:solidFill>
            <a:srgbClr val="1D4ED8"/>
          </a:solidFill>
          <a:ln w="6350">
            <a:solidFill>
              <a:srgbClr val="1D4ED8"/>
            </a:solidFill>
            <a:prstDash val="solid"/>
          </a:ln>
        </p:spPr>
      </p:sp>
      <p:pic>
        <p:nvPicPr>
          <p:cNvPr id="81" name="Image 5" descr="preencoded.png">    </p:cNvPr>
          <p:cNvPicPr>
            <a:picLocks noChangeAspect="1"/>
          </p:cNvPicPr>
          <p:nvPr/>
        </p:nvPicPr>
        <p:blipFill>
          <a:blip r:embed="rId6"/>
          <a:stretch>
            <a:fillRect/>
          </a:stretch>
        </p:blipFill>
        <p:spPr>
          <a:xfrm>
            <a:off x="10224455" y="2762951"/>
            <a:ext cx="143378" cy="143378"/>
          </a:xfrm>
          <a:prstGeom prst="rect">
            <a:avLst/>
          </a:prstGeom>
        </p:spPr>
      </p:pic>
      <p:sp>
        <p:nvSpPr>
          <p:cNvPr id="82" name="Text 74"/>
          <p:cNvSpPr txBox="1"/>
          <p:nvPr/>
        </p:nvSpPr>
        <p:spPr>
          <a:xfrm>
            <a:off x="10479024" y="2688336"/>
            <a:ext cx="1152144" cy="292608"/>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Scale</a:t>
            </a:r>
            <a:endParaRPr lang="en-US" sz="1050" dirty="0"/>
          </a:p>
        </p:txBody>
      </p:sp>
      <p:sp>
        <p:nvSpPr>
          <p:cNvPr id="83" name="Text 75"/>
          <p:cNvSpPr txBox="1"/>
          <p:nvPr/>
        </p:nvSpPr>
        <p:spPr>
          <a:xfrm>
            <a:off x="10168128" y="2999232"/>
            <a:ext cx="1426464" cy="42062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Beats holdout: roll out region by region</a:t>
            </a:r>
            <a:endParaRPr lang="en-US" sz="900" dirty="0"/>
          </a:p>
        </p:txBody>
      </p:sp>
      <p:sp>
        <p:nvSpPr>
          <p:cNvPr id="84" name="Shape 76"/>
          <p:cNvSpPr/>
          <p:nvPr/>
        </p:nvSpPr>
        <p:spPr>
          <a:xfrm>
            <a:off x="9912096" y="3950208"/>
            <a:ext cx="146304" cy="0"/>
          </a:xfrm>
          <a:prstGeom prst="line">
            <a:avLst/>
          </a:prstGeom>
          <a:noFill/>
          <a:ln w="15875">
            <a:solidFill>
              <a:srgbClr val="0A1F44"/>
            </a:solidFill>
            <a:prstDash val="solid"/>
            <a:tailEnd type="triangle"/>
          </a:ln>
        </p:spPr>
      </p:sp>
      <p:sp>
        <p:nvSpPr>
          <p:cNvPr id="85" name="Shape 77"/>
          <p:cNvSpPr/>
          <p:nvPr/>
        </p:nvSpPr>
        <p:spPr>
          <a:xfrm>
            <a:off x="10076688" y="3584448"/>
            <a:ext cx="1609344" cy="804672"/>
          </a:xfrm>
          <a:prstGeom prst="roundRect">
            <a:avLst>
              <a:gd name="adj" fmla="val 9091"/>
            </a:avLst>
          </a:prstGeom>
          <a:solidFill>
            <a:srgbClr val="FFFFFF"/>
          </a:solidFill>
          <a:ln w="19050">
            <a:solidFill>
              <a:srgbClr val="0A1F44"/>
            </a:solidFill>
            <a:prstDash val="solid"/>
          </a:ln>
        </p:spPr>
      </p:sp>
      <p:sp>
        <p:nvSpPr>
          <p:cNvPr id="86" name="Shape 78"/>
          <p:cNvSpPr/>
          <p:nvPr/>
        </p:nvSpPr>
        <p:spPr>
          <a:xfrm>
            <a:off x="10168128" y="3639312"/>
            <a:ext cx="256032" cy="256032"/>
          </a:xfrm>
          <a:prstGeom prst="ellipse">
            <a:avLst/>
          </a:prstGeom>
          <a:solidFill>
            <a:srgbClr val="0A1F44"/>
          </a:solidFill>
          <a:ln w="6350">
            <a:solidFill>
              <a:srgbClr val="0A1F44"/>
            </a:solidFill>
            <a:prstDash val="solid"/>
          </a:ln>
        </p:spPr>
      </p:sp>
      <p:pic>
        <p:nvPicPr>
          <p:cNvPr id="87" name="Image 6" descr="preencoded.png">    </p:cNvPr>
          <p:cNvPicPr>
            <a:picLocks noChangeAspect="1"/>
          </p:cNvPicPr>
          <p:nvPr/>
        </p:nvPicPr>
        <p:blipFill>
          <a:blip r:embed="rId7"/>
          <a:stretch>
            <a:fillRect/>
          </a:stretch>
        </p:blipFill>
        <p:spPr>
          <a:xfrm>
            <a:off x="10224455" y="3695639"/>
            <a:ext cx="143378" cy="143378"/>
          </a:xfrm>
          <a:prstGeom prst="rect">
            <a:avLst/>
          </a:prstGeom>
        </p:spPr>
      </p:pic>
      <p:sp>
        <p:nvSpPr>
          <p:cNvPr id="88" name="Text 79"/>
          <p:cNvSpPr txBox="1"/>
          <p:nvPr/>
        </p:nvSpPr>
        <p:spPr>
          <a:xfrm>
            <a:off x="10479024" y="3621024"/>
            <a:ext cx="1152144" cy="292608"/>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Adjust</a:t>
            </a:r>
            <a:endParaRPr lang="en-US" sz="1050" dirty="0"/>
          </a:p>
        </p:txBody>
      </p:sp>
      <p:sp>
        <p:nvSpPr>
          <p:cNvPr id="89" name="Text 80"/>
          <p:cNvSpPr txBox="1"/>
          <p:nvPr/>
        </p:nvSpPr>
        <p:spPr>
          <a:xfrm>
            <a:off x="10168128" y="3931920"/>
            <a:ext cx="1426464" cy="42062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Mixed: keep winners, re-test the rest</a:t>
            </a:r>
            <a:endParaRPr lang="en-US" sz="900" dirty="0"/>
          </a:p>
        </p:txBody>
      </p:sp>
      <p:sp>
        <p:nvSpPr>
          <p:cNvPr id="90" name="Shape 81"/>
          <p:cNvSpPr/>
          <p:nvPr/>
        </p:nvSpPr>
        <p:spPr>
          <a:xfrm>
            <a:off x="9912096" y="4882896"/>
            <a:ext cx="146304" cy="0"/>
          </a:xfrm>
          <a:prstGeom prst="line">
            <a:avLst/>
          </a:prstGeom>
          <a:noFill/>
          <a:ln w="15875">
            <a:solidFill>
              <a:srgbClr val="0A1F44"/>
            </a:solidFill>
            <a:prstDash val="solid"/>
            <a:tailEnd type="triangle"/>
          </a:ln>
        </p:spPr>
      </p:sp>
      <p:sp>
        <p:nvSpPr>
          <p:cNvPr id="91" name="Shape 82"/>
          <p:cNvSpPr/>
          <p:nvPr/>
        </p:nvSpPr>
        <p:spPr>
          <a:xfrm>
            <a:off x="10076688" y="4517136"/>
            <a:ext cx="1609344" cy="804672"/>
          </a:xfrm>
          <a:prstGeom prst="roundRect">
            <a:avLst>
              <a:gd name="adj" fmla="val 9091"/>
            </a:avLst>
          </a:prstGeom>
          <a:solidFill>
            <a:srgbClr val="FFFFFF"/>
          </a:solidFill>
          <a:ln w="19050">
            <a:solidFill>
              <a:srgbClr val="64748B"/>
            </a:solidFill>
            <a:prstDash val="solid"/>
          </a:ln>
        </p:spPr>
      </p:sp>
      <p:sp>
        <p:nvSpPr>
          <p:cNvPr id="92" name="Shape 83"/>
          <p:cNvSpPr/>
          <p:nvPr/>
        </p:nvSpPr>
        <p:spPr>
          <a:xfrm>
            <a:off x="10168128" y="4572000"/>
            <a:ext cx="256032" cy="256032"/>
          </a:xfrm>
          <a:prstGeom prst="ellipse">
            <a:avLst/>
          </a:prstGeom>
          <a:solidFill>
            <a:srgbClr val="64748B"/>
          </a:solidFill>
          <a:ln w="6350">
            <a:solidFill>
              <a:srgbClr val="64748B"/>
            </a:solidFill>
            <a:prstDash val="solid"/>
          </a:ln>
        </p:spPr>
      </p:sp>
      <p:pic>
        <p:nvPicPr>
          <p:cNvPr id="93" name="Image 7" descr="preencoded.png">    </p:cNvPr>
          <p:cNvPicPr>
            <a:picLocks noChangeAspect="1"/>
          </p:cNvPicPr>
          <p:nvPr/>
        </p:nvPicPr>
        <p:blipFill>
          <a:blip r:embed="rId8"/>
          <a:stretch>
            <a:fillRect/>
          </a:stretch>
        </p:blipFill>
        <p:spPr>
          <a:xfrm>
            <a:off x="10224455" y="4628327"/>
            <a:ext cx="143378" cy="143378"/>
          </a:xfrm>
          <a:prstGeom prst="rect">
            <a:avLst/>
          </a:prstGeom>
        </p:spPr>
      </p:pic>
      <p:sp>
        <p:nvSpPr>
          <p:cNvPr id="94" name="Text 84"/>
          <p:cNvSpPr txBox="1"/>
          <p:nvPr/>
        </p:nvSpPr>
        <p:spPr>
          <a:xfrm>
            <a:off x="10479024" y="4553712"/>
            <a:ext cx="1152144" cy="292608"/>
          </a:xfrm>
          <a:prstGeom prst="rect">
            <a:avLst/>
          </a:prstGeom>
          <a:noFill/>
          <a:ln/>
        </p:spPr>
        <p:txBody>
          <a:bodyPr wrap="square" lIns="0" tIns="0" rIns="0" bIns="0" rtlCol="0" anchor="ctr"/>
          <a:lstStyle/>
          <a:p>
            <a:pPr indent="0" marL="0">
              <a:buNone/>
            </a:pPr>
            <a:r>
              <a:rPr lang="en-US" sz="1050" b="1" dirty="0">
                <a:solidFill>
                  <a:srgbClr val="64748B"/>
                </a:solidFill>
                <a:latin typeface="Inter" pitchFamily="34" charset="0"/>
                <a:ea typeface="Inter" pitchFamily="34" charset="-122"/>
                <a:cs typeface="Inter" pitchFamily="34" charset="-120"/>
              </a:rPr>
              <a:t>Stop</a:t>
            </a:r>
            <a:endParaRPr lang="en-US" sz="1050" dirty="0"/>
          </a:p>
        </p:txBody>
      </p:sp>
      <p:sp>
        <p:nvSpPr>
          <p:cNvPr id="95" name="Text 85"/>
          <p:cNvSpPr txBox="1"/>
          <p:nvPr/>
        </p:nvSpPr>
        <p:spPr>
          <a:xfrm>
            <a:off x="10168128" y="4864608"/>
            <a:ext cx="1426464" cy="42062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No lift: money stays where it is</a:t>
            </a:r>
            <a:endParaRPr lang="en-US" sz="900" dirty="0"/>
          </a:p>
        </p:txBody>
      </p:sp>
      <p:sp>
        <p:nvSpPr>
          <p:cNvPr id="96" name="Shape 86"/>
          <p:cNvSpPr/>
          <p:nvPr/>
        </p:nvSpPr>
        <p:spPr>
          <a:xfrm>
            <a:off x="2788920" y="5413248"/>
            <a:ext cx="6858000" cy="457200"/>
          </a:xfrm>
          <a:prstGeom prst="roundRect">
            <a:avLst>
              <a:gd name="adj" fmla="val 16000"/>
            </a:avLst>
          </a:prstGeom>
          <a:solidFill>
            <a:srgbClr val="0A1F44"/>
          </a:solidFill>
          <a:ln w="6350">
            <a:solidFill>
              <a:srgbClr val="0A1F44"/>
            </a:solidFill>
            <a:prstDash val="solid"/>
          </a:ln>
        </p:spPr>
      </p:sp>
      <p:sp>
        <p:nvSpPr>
          <p:cNvPr id="97" name="Text 87"/>
          <p:cNvSpPr txBox="1"/>
          <p:nvPr/>
        </p:nvSpPr>
        <p:spPr>
          <a:xfrm>
            <a:off x="2953512" y="5413248"/>
            <a:ext cx="6583680" cy="457200"/>
          </a:xfrm>
          <a:prstGeom prst="rect">
            <a:avLst/>
          </a:prstGeom>
          <a:noFill/>
          <a:ln/>
        </p:spPr>
        <p:txBody>
          <a:bodyPr wrap="square" lIns="0" tIns="0" rIns="0" bIns="0" rtlCol="0" anchor="ctr"/>
          <a:lstStyle/>
          <a:p>
            <a:pPr indent="0" marL="0">
              <a:buNone/>
            </a:pPr>
            <a:r>
              <a:rPr lang="en-US" sz="1000" b="1" dirty="0">
                <a:solidFill>
                  <a:srgbClr val="8FB2EE"/>
                </a:solidFill>
                <a:latin typeface="Inter" pitchFamily="34" charset="0"/>
                <a:ea typeface="Inter" pitchFamily="34" charset="-122"/>
                <a:cs typeface="Inter" pitchFamily="34" charset="-120"/>
              </a:rPr>
              <a:t>Every stage:  </a:t>
            </a:r>
            <a:pPr indent="0" marL="0">
              <a:buNone/>
            </a:pPr>
            <a:r>
              <a:rPr lang="en-US" sz="1000" b="1" dirty="0">
                <a:solidFill>
                  <a:srgbClr val="FFFFFF"/>
                </a:solidFill>
                <a:latin typeface="Inter" pitchFamily="34" charset="0"/>
                <a:ea typeface="Inter" pitchFamily="34" charset="-122"/>
                <a:cs typeface="Inter" pitchFamily="34" charset="-120"/>
              </a:rPr>
              <a:t>10% randomized South holdout · weekly CJA council · gates pre-registered</a:t>
            </a:r>
            <a:endParaRPr lang="en-US" sz="1000" dirty="0"/>
          </a:p>
        </p:txBody>
      </p:sp>
      <p:sp>
        <p:nvSpPr>
          <p:cNvPr id="98" name="Shape 88"/>
          <p:cNvSpPr/>
          <p:nvPr/>
        </p:nvSpPr>
        <p:spPr>
          <a:xfrm>
            <a:off x="502920" y="5413248"/>
            <a:ext cx="2057400" cy="457200"/>
          </a:xfrm>
          <a:prstGeom prst="roundRect">
            <a:avLst>
              <a:gd name="adj" fmla="val 16000"/>
            </a:avLst>
          </a:prstGeom>
          <a:solidFill>
            <a:srgbClr val="EFF6FF"/>
          </a:solidFill>
          <a:ln w="6350">
            <a:solidFill>
              <a:srgbClr val="EFF6FF"/>
            </a:solidFill>
            <a:prstDash val="solid"/>
          </a:ln>
        </p:spPr>
      </p:sp>
      <p:sp>
        <p:nvSpPr>
          <p:cNvPr id="99" name="Text 89"/>
          <p:cNvSpPr txBox="1"/>
          <p:nvPr/>
        </p:nvSpPr>
        <p:spPr>
          <a:xfrm>
            <a:off x="630936" y="5413248"/>
            <a:ext cx="1874520" cy="457200"/>
          </a:xfrm>
          <a:prstGeom prst="rect">
            <a:avLst/>
          </a:prstGeom>
          <a:noFill/>
          <a:ln/>
        </p:spPr>
        <p:txBody>
          <a:bodyPr wrap="square" lIns="0" tIns="0" rIns="0" bIns="0" rtlCol="0" anchor="ctr"/>
          <a:lstStyle/>
          <a:p>
            <a:pPr indent="0" marL="0">
              <a:buNone/>
            </a:pPr>
            <a:r>
              <a:rPr lang="en-US" sz="1400" b="1" dirty="0">
                <a:solidFill>
                  <a:srgbClr val="1D4ED8"/>
                </a:solidFill>
                <a:latin typeface="Inter" pitchFamily="34" charset="0"/>
                <a:ea typeface="Inter" pitchFamily="34" charset="-122"/>
                <a:cs typeface="Inter" pitchFamily="34" charset="-120"/>
              </a:rPr>
              <a:t>$0 </a:t>
            </a:r>
            <a:pPr indent="0" marL="0">
              <a:buNone/>
            </a:pPr>
            <a:r>
              <a:rPr lang="en-US" sz="1000" b="1" dirty="0">
                <a:solidFill>
                  <a:srgbClr val="0A1F44"/>
                </a:solidFill>
                <a:latin typeface="Inter" pitchFamily="34" charset="0"/>
                <a:ea typeface="Inter" pitchFamily="34" charset="-122"/>
                <a:cs typeface="Inter" pitchFamily="34" charset="-120"/>
              </a:rPr>
              <a:t>new budget</a:t>
            </a:r>
            <a:endParaRPr lang="en-US" sz="1000" dirty="0"/>
          </a:p>
        </p:txBody>
      </p:sp>
      <p:sp>
        <p:nvSpPr>
          <p:cNvPr id="100" name="Shape 90"/>
          <p:cNvSpPr/>
          <p:nvPr/>
        </p:nvSpPr>
        <p:spPr>
          <a:xfrm>
            <a:off x="9802368" y="5413248"/>
            <a:ext cx="1883664" cy="457200"/>
          </a:xfrm>
          <a:prstGeom prst="roundRect">
            <a:avLst>
              <a:gd name="adj" fmla="val 16000"/>
            </a:avLst>
          </a:prstGeom>
          <a:solidFill>
            <a:srgbClr val="EFF6FF"/>
          </a:solidFill>
          <a:ln w="6350">
            <a:solidFill>
              <a:srgbClr val="EFF6FF"/>
            </a:solidFill>
            <a:prstDash val="solid"/>
          </a:ln>
        </p:spPr>
      </p:sp>
      <p:sp>
        <p:nvSpPr>
          <p:cNvPr id="101" name="Text 91"/>
          <p:cNvSpPr txBox="1"/>
          <p:nvPr/>
        </p:nvSpPr>
        <p:spPr>
          <a:xfrm>
            <a:off x="9893808" y="5413248"/>
            <a:ext cx="1746504" cy="457200"/>
          </a:xfrm>
          <a:prstGeom prst="rect">
            <a:avLst/>
          </a:prstGeom>
          <a:noFill/>
          <a:ln/>
        </p:spPr>
        <p:txBody>
          <a:bodyPr wrap="square" lIns="0" tIns="0" rIns="0" bIns="0" rtlCol="0" anchor="ctr"/>
          <a:lstStyle/>
          <a:p>
            <a:pPr indent="0" marL="0">
              <a:buNone/>
            </a:pPr>
            <a:r>
              <a:rPr lang="en-US" sz="850" dirty="0">
                <a:solidFill>
                  <a:srgbClr val="0A1F44"/>
                </a:solidFill>
                <a:latin typeface="Inter" pitchFamily="34" charset="0"/>
                <a:ea typeface="Inter" pitchFamily="34" charset="-122"/>
                <a:cs typeface="Inter" pitchFamily="34" charset="-120"/>
              </a:rPr>
              <a:t>Then: build months 3–9, scale 9–18 (appendix)</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Appendix</a:t>
            </a:r>
            <a:endParaRPr lang="en-US" sz="4000" dirty="0"/>
          </a:p>
        </p:txBody>
      </p:sp>
      <p:sp>
        <p:nvSpPr>
          <p:cNvPr id="3" name="Text 1"/>
          <p:cNvSpPr txBox="1"/>
          <p:nvPr/>
        </p:nvSpPr>
        <p:spPr>
          <a:xfrm>
            <a:off x="64008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ADOBE CJA EVIDENCE</a:t>
            </a:r>
            <a:endParaRPr lang="en-US" sz="1000" dirty="0"/>
          </a:p>
        </p:txBody>
      </p:sp>
      <p:sp>
        <p:nvSpPr>
          <p:cNvPr id="4" name="Text 2"/>
          <p:cNvSpPr txBox="1"/>
          <p:nvPr/>
        </p:nvSpPr>
        <p:spPr>
          <a:xfrm>
            <a:off x="457200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BACKUP ANALYSIS</a:t>
            </a:r>
            <a:endParaRPr lang="en-US" sz="1000" dirty="0"/>
          </a:p>
        </p:txBody>
      </p:sp>
      <p:sp>
        <p:nvSpPr>
          <p:cNvPr id="5" name="Text 3"/>
          <p:cNvSpPr txBox="1"/>
          <p:nvPr/>
        </p:nvSpPr>
        <p:spPr>
          <a:xfrm>
            <a:off x="64008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9</a:t>
            </a:r>
            <a:endParaRPr lang="en-US" sz="1300" dirty="0"/>
          </a:p>
        </p:txBody>
      </p:sp>
      <p:sp>
        <p:nvSpPr>
          <p:cNvPr id="6" name="Text 4"/>
          <p:cNvSpPr txBox="1"/>
          <p:nvPr/>
        </p:nvSpPr>
        <p:spPr>
          <a:xfrm>
            <a:off x="1143000" y="2240280"/>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Fallout</a:t>
            </a:r>
            <a:endParaRPr lang="en-US" sz="1300" dirty="0"/>
          </a:p>
        </p:txBody>
      </p:sp>
      <p:sp>
        <p:nvSpPr>
          <p:cNvPr id="7" name="Text 5"/>
          <p:cNvSpPr txBox="1"/>
          <p:nvPr/>
        </p:nvSpPr>
        <p:spPr>
          <a:xfrm>
            <a:off x="64008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10</a:t>
            </a:r>
            <a:endParaRPr lang="en-US" sz="1300" dirty="0"/>
          </a:p>
        </p:txBody>
      </p:sp>
      <p:sp>
        <p:nvSpPr>
          <p:cNvPr id="8" name="Text 6"/>
          <p:cNvSpPr txBox="1"/>
          <p:nvPr/>
        </p:nvSpPr>
        <p:spPr>
          <a:xfrm>
            <a:off x="1143000" y="2624328"/>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a:t>
            </a:r>
            <a:endParaRPr lang="en-US" sz="1300" dirty="0"/>
          </a:p>
        </p:txBody>
      </p:sp>
      <p:sp>
        <p:nvSpPr>
          <p:cNvPr id="9" name="Text 7"/>
          <p:cNvSpPr txBox="1"/>
          <p:nvPr/>
        </p:nvSpPr>
        <p:spPr>
          <a:xfrm>
            <a:off x="64008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11</a:t>
            </a:r>
            <a:endParaRPr lang="en-US" sz="1300" dirty="0"/>
          </a:p>
        </p:txBody>
      </p:sp>
      <p:sp>
        <p:nvSpPr>
          <p:cNvPr id="10" name="Text 8"/>
          <p:cNvSpPr txBox="1"/>
          <p:nvPr/>
        </p:nvSpPr>
        <p:spPr>
          <a:xfrm>
            <a:off x="1143000" y="3008376"/>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Cohort Table</a:t>
            </a:r>
            <a:endParaRPr lang="en-US" sz="1300" dirty="0"/>
          </a:p>
        </p:txBody>
      </p:sp>
      <p:sp>
        <p:nvSpPr>
          <p:cNvPr id="11" name="Text 9"/>
          <p:cNvSpPr txBox="1"/>
          <p:nvPr/>
        </p:nvSpPr>
        <p:spPr>
          <a:xfrm>
            <a:off x="64008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12</a:t>
            </a:r>
            <a:endParaRPr lang="en-US" sz="1300" dirty="0"/>
          </a:p>
        </p:txBody>
      </p:sp>
      <p:sp>
        <p:nvSpPr>
          <p:cNvPr id="12" name="Text 10"/>
          <p:cNvSpPr txBox="1"/>
          <p:nvPr/>
        </p:nvSpPr>
        <p:spPr>
          <a:xfrm>
            <a:off x="1143000" y="3392424"/>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Flow</a:t>
            </a:r>
            <a:endParaRPr lang="en-US" sz="1300" dirty="0"/>
          </a:p>
        </p:txBody>
      </p:sp>
      <p:sp>
        <p:nvSpPr>
          <p:cNvPr id="13" name="Text 11"/>
          <p:cNvSpPr txBox="1"/>
          <p:nvPr/>
        </p:nvSpPr>
        <p:spPr>
          <a:xfrm>
            <a:off x="64008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13</a:t>
            </a:r>
            <a:endParaRPr lang="en-US" sz="1300" dirty="0"/>
          </a:p>
        </p:txBody>
      </p:sp>
      <p:sp>
        <p:nvSpPr>
          <p:cNvPr id="14" name="Text 12"/>
          <p:cNvSpPr txBox="1"/>
          <p:nvPr/>
        </p:nvSpPr>
        <p:spPr>
          <a:xfrm>
            <a:off x="1143000" y="3776472"/>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Segments</a:t>
            </a:r>
            <a:endParaRPr lang="en-US" sz="1300" dirty="0"/>
          </a:p>
        </p:txBody>
      </p:sp>
      <p:sp>
        <p:nvSpPr>
          <p:cNvPr id="15" name="Text 13"/>
          <p:cNvSpPr txBox="1"/>
          <p:nvPr/>
        </p:nvSpPr>
        <p:spPr>
          <a:xfrm>
            <a:off x="45720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14</a:t>
            </a:r>
            <a:endParaRPr lang="en-US" sz="1300" dirty="0"/>
          </a:p>
        </p:txBody>
      </p:sp>
      <p:sp>
        <p:nvSpPr>
          <p:cNvPr id="16" name="Text 14"/>
          <p:cNvSpPr txBox="1"/>
          <p:nvPr/>
        </p:nvSpPr>
        <p:spPr>
          <a:xfrm>
            <a:off x="50749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Why a blend</a:t>
            </a:r>
            <a:endParaRPr lang="en-US" sz="1300" dirty="0"/>
          </a:p>
        </p:txBody>
      </p:sp>
      <p:sp>
        <p:nvSpPr>
          <p:cNvPr id="17" name="Text 15"/>
          <p:cNvSpPr txBox="1"/>
          <p:nvPr/>
        </p:nvSpPr>
        <p:spPr>
          <a:xfrm>
            <a:off x="45720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15</a:t>
            </a:r>
            <a:endParaRPr lang="en-US" sz="1300" dirty="0"/>
          </a:p>
        </p:txBody>
      </p:sp>
      <p:sp>
        <p:nvSpPr>
          <p:cNvPr id="18" name="Text 16"/>
          <p:cNvSpPr txBox="1"/>
          <p:nvPr/>
        </p:nvSpPr>
        <p:spPr>
          <a:xfrm>
            <a:off x="50749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Issue tree</a:t>
            </a:r>
            <a:endParaRPr lang="en-US" sz="1300" dirty="0"/>
          </a:p>
        </p:txBody>
      </p:sp>
      <p:sp>
        <p:nvSpPr>
          <p:cNvPr id="19" name="Text 17"/>
          <p:cNvSpPr txBox="1"/>
          <p:nvPr/>
        </p:nvSpPr>
        <p:spPr>
          <a:xfrm>
            <a:off x="45720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16</a:t>
            </a:r>
            <a:endParaRPr lang="en-US" sz="1300" dirty="0"/>
          </a:p>
        </p:txBody>
      </p:sp>
      <p:sp>
        <p:nvSpPr>
          <p:cNvPr id="20" name="Text 18"/>
          <p:cNvSpPr txBox="1"/>
          <p:nvPr/>
        </p:nvSpPr>
        <p:spPr>
          <a:xfrm>
            <a:off x="50749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Seven moments of the journey</a:t>
            </a:r>
            <a:endParaRPr lang="en-US" sz="1300" dirty="0"/>
          </a:p>
        </p:txBody>
      </p:sp>
      <p:sp>
        <p:nvSpPr>
          <p:cNvPr id="21" name="Text 19"/>
          <p:cNvSpPr txBox="1"/>
          <p:nvPr/>
        </p:nvSpPr>
        <p:spPr>
          <a:xfrm>
            <a:off x="45720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17</a:t>
            </a:r>
            <a:endParaRPr lang="en-US" sz="1300" dirty="0"/>
          </a:p>
        </p:txBody>
      </p:sp>
      <p:sp>
        <p:nvSpPr>
          <p:cNvPr id="22" name="Text 20"/>
          <p:cNvSpPr txBox="1"/>
          <p:nvPr/>
        </p:nvSpPr>
        <p:spPr>
          <a:xfrm>
            <a:off x="50749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cart adder's path (flowchart)</a:t>
            </a:r>
            <a:endParaRPr lang="en-US" sz="1300" dirty="0"/>
          </a:p>
        </p:txBody>
      </p:sp>
      <p:sp>
        <p:nvSpPr>
          <p:cNvPr id="23" name="Text 21"/>
          <p:cNvSpPr txBox="1"/>
          <p:nvPr/>
        </p:nvSpPr>
        <p:spPr>
          <a:xfrm>
            <a:off x="45720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18</a:t>
            </a:r>
            <a:endParaRPr lang="en-US" sz="1300" dirty="0"/>
          </a:p>
        </p:txBody>
      </p:sp>
      <p:sp>
        <p:nvSpPr>
          <p:cNvPr id="24" name="Text 22"/>
          <p:cNvSpPr txBox="1"/>
          <p:nvPr/>
        </p:nvSpPr>
        <p:spPr>
          <a:xfrm>
            <a:off x="50749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Never Pay Twice engine</a:t>
            </a:r>
            <a:endParaRPr lang="en-US" sz="1300" dirty="0"/>
          </a:p>
        </p:txBody>
      </p:sp>
      <p:sp>
        <p:nvSpPr>
          <p:cNvPr id="25" name="Text 23"/>
          <p:cNvSpPr txBox="1"/>
          <p:nvPr/>
        </p:nvSpPr>
        <p:spPr>
          <a:xfrm>
            <a:off x="45720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50749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The weekly CJA loop</a:t>
            </a:r>
            <a:endParaRPr lang="en-US" sz="1300" dirty="0"/>
          </a:p>
        </p:txBody>
      </p:sp>
      <p:sp>
        <p:nvSpPr>
          <p:cNvPr id="27" name="Text 25"/>
          <p:cNvSpPr txBox="1"/>
          <p:nvPr/>
        </p:nvSpPr>
        <p:spPr>
          <a:xfrm>
            <a:off x="45720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20</a:t>
            </a:r>
            <a:endParaRPr lang="en-US" sz="1300" dirty="0"/>
          </a:p>
        </p:txBody>
      </p:sp>
      <p:sp>
        <p:nvSpPr>
          <p:cNvPr id="28" name="Text 26"/>
          <p:cNvSpPr txBox="1"/>
          <p:nvPr/>
        </p:nvSpPr>
        <p:spPr>
          <a:xfrm>
            <a:off x="50749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Fourteen programs, explained</a:t>
            </a:r>
            <a:endParaRPr lang="en-US" sz="1300" dirty="0"/>
          </a:p>
        </p:txBody>
      </p:sp>
      <p:sp>
        <p:nvSpPr>
          <p:cNvPr id="29" name="Text 27"/>
          <p:cNvSpPr txBox="1"/>
          <p:nvPr/>
        </p:nvSpPr>
        <p:spPr>
          <a:xfrm>
            <a:off x="82296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21</a:t>
            </a:r>
            <a:endParaRPr lang="en-US" sz="1300" dirty="0"/>
          </a:p>
        </p:txBody>
      </p:sp>
      <p:sp>
        <p:nvSpPr>
          <p:cNvPr id="30" name="Text 28"/>
          <p:cNvSpPr txBox="1"/>
          <p:nvPr/>
        </p:nvSpPr>
        <p:spPr>
          <a:xfrm>
            <a:off x="87325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How the $120M moves, line by line</a:t>
            </a:r>
            <a:endParaRPr lang="en-US" sz="1300" dirty="0"/>
          </a:p>
        </p:txBody>
      </p:sp>
      <p:sp>
        <p:nvSpPr>
          <p:cNvPr id="31" name="Text 29"/>
          <p:cNvSpPr txBox="1"/>
          <p:nvPr/>
        </p:nvSpPr>
        <p:spPr>
          <a:xfrm>
            <a:off x="82296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22</a:t>
            </a:r>
            <a:endParaRPr lang="en-US" sz="1300" dirty="0"/>
          </a:p>
        </p:txBody>
      </p:sp>
      <p:sp>
        <p:nvSpPr>
          <p:cNvPr id="32" name="Text 30"/>
          <p:cNvSpPr txBox="1"/>
          <p:nvPr/>
        </p:nvSpPr>
        <p:spPr>
          <a:xfrm>
            <a:off x="87325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What +6 points takes</a:t>
            </a:r>
            <a:endParaRPr lang="en-US" sz="1300" dirty="0"/>
          </a:p>
        </p:txBody>
      </p:sp>
      <p:sp>
        <p:nvSpPr>
          <p:cNvPr id="33" name="Text 31"/>
          <p:cNvSpPr txBox="1"/>
          <p:nvPr/>
        </p:nvSpPr>
        <p:spPr>
          <a:xfrm>
            <a:off x="82296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23</a:t>
            </a:r>
            <a:endParaRPr lang="en-US" sz="1300" dirty="0"/>
          </a:p>
        </p:txBody>
      </p:sp>
      <p:sp>
        <p:nvSpPr>
          <p:cNvPr id="34" name="Text 32"/>
          <p:cNvSpPr txBox="1"/>
          <p:nvPr/>
        </p:nvSpPr>
        <p:spPr>
          <a:xfrm>
            <a:off x="87325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 insight</a:t>
            </a:r>
            <a:endParaRPr lang="en-US" sz="1300" dirty="0"/>
          </a:p>
        </p:txBody>
      </p:sp>
      <p:sp>
        <p:nvSpPr>
          <p:cNvPr id="35" name="Text 33"/>
          <p:cNvSpPr txBox="1"/>
          <p:nvPr/>
        </p:nvSpPr>
        <p:spPr>
          <a:xfrm>
            <a:off x="82296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24</a:t>
            </a:r>
            <a:endParaRPr lang="en-US" sz="1300" dirty="0"/>
          </a:p>
        </p:txBody>
      </p:sp>
      <p:sp>
        <p:nvSpPr>
          <p:cNvPr id="36" name="Text 34"/>
          <p:cNvSpPr txBox="1"/>
          <p:nvPr/>
        </p:nvSpPr>
        <p:spPr>
          <a:xfrm>
            <a:off x="87325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Material Journeys build plan</a:t>
            </a:r>
            <a:endParaRPr lang="en-US" sz="1300" dirty="0"/>
          </a:p>
        </p:txBody>
      </p:sp>
      <p:sp>
        <p:nvSpPr>
          <p:cNvPr id="37" name="Text 35"/>
          <p:cNvSpPr txBox="1"/>
          <p:nvPr/>
        </p:nvSpPr>
        <p:spPr>
          <a:xfrm>
            <a:off x="82296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25</a:t>
            </a:r>
            <a:endParaRPr lang="en-US" sz="1300" dirty="0"/>
          </a:p>
        </p:txBody>
      </p:sp>
      <p:sp>
        <p:nvSpPr>
          <p:cNvPr id="38" name="Text 36"/>
          <p:cNvSpPr txBox="1"/>
          <p:nvPr/>
        </p:nvSpPr>
        <p:spPr>
          <a:xfrm>
            <a:off x="87325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Risks</a:t>
            </a:r>
            <a:endParaRPr lang="en-US" sz="1300" dirty="0"/>
          </a:p>
        </p:txBody>
      </p:sp>
      <p:sp>
        <p:nvSpPr>
          <p:cNvPr id="39" name="Text 37"/>
          <p:cNvSpPr txBox="1"/>
          <p:nvPr/>
        </p:nvSpPr>
        <p:spPr>
          <a:xfrm>
            <a:off x="82296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26</a:t>
            </a:r>
            <a:endParaRPr lang="en-US" sz="1300" dirty="0"/>
          </a:p>
        </p:txBody>
      </p:sp>
      <p:sp>
        <p:nvSpPr>
          <p:cNvPr id="40" name="Text 38"/>
          <p:cNvSpPr txBox="1"/>
          <p:nvPr/>
        </p:nvSpPr>
        <p:spPr>
          <a:xfrm>
            <a:off x="87325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number and its source</a:t>
            </a:r>
            <a:endParaRPr lang="en-US" sz="1300" dirty="0"/>
          </a:p>
        </p:txBody>
      </p:sp>
      <p:sp>
        <p:nvSpPr>
          <p:cNvPr id="41" name="Text 39"/>
          <p:cNvSpPr txBox="1"/>
          <p:nvPr/>
        </p:nvSpPr>
        <p:spPr>
          <a:xfrm>
            <a:off x="82296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27</a:t>
            </a:r>
            <a:endParaRPr lang="en-US" sz="1300" dirty="0"/>
          </a:p>
        </p:txBody>
      </p:sp>
      <p:sp>
        <p:nvSpPr>
          <p:cNvPr id="42" name="Text 40"/>
          <p:cNvSpPr txBox="1"/>
          <p:nvPr/>
        </p:nvSpPr>
        <p:spPr>
          <a:xfrm>
            <a:off x="87325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Sources</a:t>
            </a:r>
            <a:endParaRPr lang="en-US" sz="1300" dirty="0"/>
          </a:p>
        </p:txBody>
      </p:sp>
      <p:sp>
        <p:nvSpPr>
          <p:cNvPr id="43" name="Text 41"/>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AFC4EE"/>
                </a:solidFill>
                <a:latin typeface="Inter" pitchFamily="34" charset="0"/>
                <a:ea typeface="Inter" pitchFamily="34" charset="-122"/>
                <a:cs typeface="Inter" pitchFamily="34" charset="-120"/>
              </a:rPr>
              <a:t>Team G27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Fallout: 77% of cart adders never order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Fallout, Quince Case Data View, 1 Jan–30 Apr 2026, 60,000 people. 69% of product viewers never add to cart.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9</a:t>
            </a:r>
            <a:endParaRPr lang="en-US" sz="800" dirty="0"/>
          </a:p>
        </p:txBody>
      </p:sp>
      <p:sp>
        <p:nvSpPr>
          <p:cNvPr id="9" name="Shape 6"/>
          <p:cNvSpPr/>
          <p:nvPr/>
        </p:nvSpPr>
        <p:spPr>
          <a:xfrm>
            <a:off x="2724150" y="1152144"/>
            <a:ext cx="674065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allout.png">    </p:cNvPr>
          <p:cNvPicPr>
            <a:picLocks noChangeAspect="1"/>
          </p:cNvPicPr>
          <p:nvPr/>
        </p:nvPicPr>
        <p:blipFill>
          <a:blip r:embed="rId2"/>
          <a:stretch>
            <a:fillRect/>
          </a:stretch>
        </p:blipFill>
        <p:spPr>
          <a:xfrm>
            <a:off x="2760726" y="1188720"/>
            <a:ext cx="666750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77% of cart adders never order, against a ~70% category benchmark (Exhibit C): the cart is where Quince underperforms, so every recovered cart is new money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Attribution IQ: owned channels assist more than they close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by Marketing Channel; Last Touch, First Touch, Linear, Participation; 90-day lookback. Algorithmic model unavailable on this view.</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10</a:t>
            </a:r>
            <a:endParaRPr lang="en-US" sz="800" dirty="0"/>
          </a:p>
        </p:txBody>
      </p:sp>
      <p:sp>
        <p:nvSpPr>
          <p:cNvPr id="9" name="Shape 6"/>
          <p:cNvSpPr/>
          <p:nvPr/>
        </p:nvSpPr>
        <p:spPr>
          <a:xfrm>
            <a:off x="466344" y="1278612"/>
            <a:ext cx="11256264" cy="4072176"/>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attr_table.png">    </p:cNvPr>
          <p:cNvPicPr>
            <a:picLocks noChangeAspect="1"/>
          </p:cNvPicPr>
          <p:nvPr/>
        </p:nvPicPr>
        <p:blipFill>
          <a:blip r:embed="rId2"/>
          <a:stretch>
            <a:fillRect/>
          </a:stretch>
        </p:blipFill>
        <p:spPr>
          <a:xfrm>
            <a:off x="502920" y="1315188"/>
            <a:ext cx="11183112" cy="3999024"/>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Owned channels appear in up to 15.0% of revenue (participation, not additive) but get 4.8% of last-touch credit; retargeting barely moves across models, so only a holdout can prove its value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Cohort Table: engaged buyers' week-2 repeat is 2.7× higher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Cohort Table, inclusion and return Orders ≥ 1, weekly, 1 Jan–30 Apr 2026; right panel uses the Engaged inclusion segment.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11</a:t>
            </a:r>
            <a:endParaRPr lang="en-US" sz="800" dirty="0"/>
          </a:p>
        </p:txBody>
      </p:sp>
      <p:sp>
        <p:nvSpPr>
          <p:cNvPr id="9" name="Shape 6"/>
          <p:cNvSpPr/>
          <p:nvPr/>
        </p:nvSpPr>
        <p:spPr>
          <a:xfrm>
            <a:off x="466344" y="1336062"/>
            <a:ext cx="5527548" cy="3682957"/>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cohort_all.png">    </p:cNvPr>
          <p:cNvPicPr>
            <a:picLocks noChangeAspect="1"/>
          </p:cNvPicPr>
          <p:nvPr/>
        </p:nvPicPr>
        <p:blipFill>
          <a:blip r:embed="rId2"/>
          <a:stretch>
            <a:fillRect/>
          </a:stretch>
        </p:blipFill>
        <p:spPr>
          <a:xfrm>
            <a:off x="502920" y="1372638"/>
            <a:ext cx="5454396" cy="3609805"/>
          </a:xfrm>
          <a:prstGeom prst="rect">
            <a:avLst/>
          </a:prstGeom>
        </p:spPr>
      </p:pic>
      <p:sp>
        <p:nvSpPr>
          <p:cNvPr id="11" name="Text 7"/>
          <p:cNvSpPr txBox="1"/>
          <p:nvPr/>
        </p:nvSpPr>
        <p:spPr>
          <a:xfrm>
            <a:off x="502920"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All buyers</a:t>
            </a:r>
            <a:endParaRPr lang="en-US" sz="1050" dirty="0"/>
          </a:p>
        </p:txBody>
      </p:sp>
      <p:sp>
        <p:nvSpPr>
          <p:cNvPr id="12" name="Shape 8"/>
          <p:cNvSpPr/>
          <p:nvPr/>
        </p:nvSpPr>
        <p:spPr>
          <a:xfrm>
            <a:off x="6195060" y="1336062"/>
            <a:ext cx="5527548" cy="3682957"/>
          </a:xfrm>
          <a:prstGeom prst="rect">
            <a:avLst/>
          </a:prstGeom>
          <a:solidFill>
            <a:srgbClr val="E2E8F0"/>
          </a:solidFill>
          <a:ln w="6350">
            <a:solidFill>
              <a:srgbClr val="E2E8F0"/>
            </a:solidFill>
            <a:prstDash val="solid"/>
          </a:ln>
        </p:spPr>
      </p:sp>
      <p:pic>
        <p:nvPicPr>
          <p:cNvPr id="13" name="Image 2" descr="/tmp/claude-0/-home-user-Quince/7efe80ae-a049-50c2-9886-98bf7ca3a04a/scratchpad/assets/cja_cohort_eng.png">    </p:cNvPr>
          <p:cNvPicPr>
            <a:picLocks noChangeAspect="1"/>
          </p:cNvPicPr>
          <p:nvPr/>
        </p:nvPicPr>
        <p:blipFill>
          <a:blip r:embed="rId3"/>
          <a:stretch>
            <a:fillRect/>
          </a:stretch>
        </p:blipFill>
        <p:spPr>
          <a:xfrm>
            <a:off x="6231636" y="1372638"/>
            <a:ext cx="5454396" cy="3609805"/>
          </a:xfrm>
          <a:prstGeom prst="rect">
            <a:avLst/>
          </a:prstGeom>
        </p:spPr>
      </p:pic>
      <p:sp>
        <p:nvSpPr>
          <p:cNvPr id="14" name="Text 9"/>
          <p:cNvSpPr txBox="1"/>
          <p:nvPr/>
        </p:nvSpPr>
        <p:spPr>
          <a:xfrm>
            <a:off x="6231636"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Engaged buyers (inclusion segment)</a:t>
            </a:r>
            <a:endParaRPr lang="en-US" sz="1050" dirty="0"/>
          </a:p>
        </p:txBody>
      </p:sp>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repeat 2.7× more in week 2 than all buyers (5.6% vs 2.1%), and half their repeats land in weeks 1–4; cohorts are small (~48 engaged buyers a week), so read as directional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Flow: almost no message follows an abandoned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Flow from add_to_cart (next step), Person container, 1 Jan–30 Apr 2026. 11,610 = path views; 11,339 = people (Fallout).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12</a:t>
            </a:r>
            <a:endParaRPr lang="en-US" sz="800" dirty="0"/>
          </a:p>
        </p:txBody>
      </p:sp>
      <p:sp>
        <p:nvSpPr>
          <p:cNvPr id="9" name="Shape 6"/>
          <p:cNvSpPr/>
          <p:nvPr/>
        </p:nvSpPr>
        <p:spPr>
          <a:xfrm>
            <a:off x="601675" y="1152144"/>
            <a:ext cx="1098560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low.png">    </p:cNvPr>
          <p:cNvPicPr>
            <a:picLocks noChangeAspect="1"/>
          </p:cNvPicPr>
          <p:nvPr/>
        </p:nvPicPr>
        <p:blipFill>
          <a:blip r:embed="rId2"/>
          <a:stretch>
            <a:fillRect/>
          </a:stretch>
        </p:blipFill>
        <p:spPr>
          <a:xfrm>
            <a:off x="638251" y="1188720"/>
            <a:ext cx="1091245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Of 11,610 cart paths, 6,088 continue to checkout and only 1 is followed next by an email: a basic cart-recovery journey is the fastest win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Segments: engagement after order one is linked to repeat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freeform tables with engagement segments (A2) and sequential segments after order one (A5, n = 265 app, 315 SMS),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13</a:t>
            </a:r>
            <a:endParaRPr lang="en-US" sz="800" dirty="0"/>
          </a:p>
        </p:txBody>
      </p:sp>
      <p:sp>
        <p:nvSpPr>
          <p:cNvPr id="9" name="Text 6"/>
          <p:cNvSpPr txBox="1"/>
          <p:nvPr/>
        </p:nvSpPr>
        <p:spPr>
          <a:xfrm>
            <a:off x="502920" y="1948536"/>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A2 · Repeat by engagement (any time)</a:t>
            </a:r>
            <a:endParaRPr lang="en-US" sz="1150" dirty="0"/>
          </a:p>
        </p:txBody>
      </p:sp>
      <p:sp>
        <p:nvSpPr>
          <p:cNvPr id="10" name="Shape 7"/>
          <p:cNvSpPr/>
          <p:nvPr/>
        </p:nvSpPr>
        <p:spPr>
          <a:xfrm>
            <a:off x="3785616" y="1197864"/>
            <a:ext cx="7936992" cy="2049985"/>
          </a:xfrm>
          <a:prstGeom prst="rect">
            <a:avLst/>
          </a:prstGeom>
          <a:solidFill>
            <a:srgbClr val="E2E8F0"/>
          </a:solidFill>
          <a:ln w="6350">
            <a:solidFill>
              <a:srgbClr val="E2E8F0"/>
            </a:solidFill>
            <a:prstDash val="solid"/>
          </a:ln>
        </p:spPr>
      </p:sp>
      <p:pic>
        <p:nvPicPr>
          <p:cNvPr id="11" name="Image 1" descr="/tmp/claude-0/-home-user-Quince/7efe80ae-a049-50c2-9886-98bf7ca3a04a/scratchpad/assets/cja_a2c.png">    </p:cNvPr>
          <p:cNvPicPr>
            <a:picLocks noChangeAspect="1"/>
          </p:cNvPicPr>
          <p:nvPr/>
        </p:nvPicPr>
        <p:blipFill>
          <a:blip r:embed="rId2"/>
          <a:stretch>
            <a:fillRect/>
          </a:stretch>
        </p:blipFill>
        <p:spPr>
          <a:xfrm>
            <a:off x="3822192" y="1234440"/>
            <a:ext cx="7863840" cy="1976833"/>
          </a:xfrm>
          <a:prstGeom prst="rect">
            <a:avLst/>
          </a:prstGeom>
        </p:spPr>
      </p:pic>
      <p:sp>
        <p:nvSpPr>
          <p:cNvPr id="12" name="Text 8"/>
          <p:cNvSpPr txBox="1"/>
          <p:nvPr/>
        </p:nvSpPr>
        <p:spPr>
          <a:xfrm>
            <a:off x="502920" y="4060322"/>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A5 · Engaged after order one</a:t>
            </a:r>
            <a:endParaRPr lang="en-US" sz="1150" dirty="0"/>
          </a:p>
        </p:txBody>
      </p:sp>
      <p:sp>
        <p:nvSpPr>
          <p:cNvPr id="13" name="Shape 9"/>
          <p:cNvSpPr/>
          <p:nvPr/>
        </p:nvSpPr>
        <p:spPr>
          <a:xfrm>
            <a:off x="3785616" y="3438144"/>
            <a:ext cx="7936992" cy="1792996"/>
          </a:xfrm>
          <a:prstGeom prst="rect">
            <a:avLst/>
          </a:prstGeom>
          <a:solidFill>
            <a:srgbClr val="E2E8F0"/>
          </a:solidFill>
          <a:ln w="6350">
            <a:solidFill>
              <a:srgbClr val="E2E8F0"/>
            </a:solidFill>
            <a:prstDash val="solid"/>
          </a:ln>
        </p:spPr>
      </p:sp>
      <p:pic>
        <p:nvPicPr>
          <p:cNvPr id="14" name="Image 2" descr="/tmp/claude-0/-home-user-Quince/7efe80ae-a049-50c2-9886-98bf7ca3a04a/scratchpad/assets/cja_a5c.png">    </p:cNvPr>
          <p:cNvPicPr>
            <a:picLocks noChangeAspect="1"/>
          </p:cNvPicPr>
          <p:nvPr/>
        </p:nvPicPr>
        <p:blipFill>
          <a:blip r:embed="rId3"/>
          <a:stretch>
            <a:fillRect/>
          </a:stretch>
        </p:blipFill>
        <p:spPr>
          <a:xfrm>
            <a:off x="3822192" y="3474720"/>
            <a:ext cx="7863840" cy="1719844"/>
          </a:xfrm>
          <a:prstGeom prst="rect">
            <a:avLst/>
          </a:prstGeom>
        </p:spPr>
      </p:pic>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are 24.5% of buyers but 66% of repeaters (A2 overstates: owned visits log only at purchase); after order one, app users still repeat 21.5% vs 11.7% for SMS (A5, the cleaner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Each option covers another's weakness, so we blend all three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 I (cost and timing) and Exhibit K (risk matrix); team analysis.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14</a:t>
            </a:r>
            <a:endParaRPr lang="en-US" sz="800" dirty="0"/>
          </a:p>
        </p:txBody>
      </p:sp>
      <p:sp>
        <p:nvSpPr>
          <p:cNvPr id="9" name="Shape 6"/>
          <p:cNvSpPr/>
          <p:nvPr/>
        </p:nvSpPr>
        <p:spPr>
          <a:xfrm>
            <a:off x="502920" y="1325880"/>
            <a:ext cx="3648456" cy="2514600"/>
          </a:xfrm>
          <a:prstGeom prst="roundRect">
            <a:avLst>
              <a:gd name="adj" fmla="val 2182"/>
            </a:avLst>
          </a:prstGeom>
          <a:solidFill>
            <a:srgbClr val="F8FAFC"/>
          </a:solidFill>
          <a:ln w="9525">
            <a:solidFill>
              <a:srgbClr val="E2E8F0"/>
            </a:solidFill>
            <a:prstDash val="solid"/>
          </a:ln>
        </p:spPr>
      </p:sp>
      <p:sp>
        <p:nvSpPr>
          <p:cNvPr id="10" name="Shape 7"/>
          <p:cNvSpPr/>
          <p:nvPr/>
        </p:nvSpPr>
        <p:spPr>
          <a:xfrm>
            <a:off x="667512" y="1463040"/>
            <a:ext cx="548640" cy="548640"/>
          </a:xfrm>
          <a:prstGeom prst="ellipse">
            <a:avLst/>
          </a:prstGeom>
          <a:solidFill>
            <a:srgbClr val="0A1F44"/>
          </a:solidFill>
          <a:ln w="6350">
            <a:solidFill>
              <a:srgbClr val="0A1F44"/>
            </a:solidFill>
            <a:prstDash val="solid"/>
          </a:ln>
        </p:spPr>
      </p:sp>
      <p:sp>
        <p:nvSpPr>
          <p:cNvPr id="11" name="Text 8"/>
          <p:cNvSpPr txBox="1"/>
          <p:nvPr/>
        </p:nvSpPr>
        <p:spPr>
          <a:xfrm>
            <a:off x="667512"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B</a:t>
            </a:r>
            <a:endParaRPr lang="en-US" sz="2000" dirty="0"/>
          </a:p>
        </p:txBody>
      </p:sp>
      <p:sp>
        <p:nvSpPr>
          <p:cNvPr id="12" name="Text 9"/>
          <p:cNvSpPr txBox="1"/>
          <p:nvPr/>
        </p:nvSpPr>
        <p:spPr>
          <a:xfrm>
            <a:off x="1344168"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B</a:t>
            </a:r>
            <a:endParaRPr lang="en-US" sz="950" dirty="0"/>
          </a:p>
        </p:txBody>
      </p:sp>
      <p:sp>
        <p:nvSpPr>
          <p:cNvPr id="13" name="Text 10"/>
          <p:cNvSpPr txBox="1"/>
          <p:nvPr/>
        </p:nvSpPr>
        <p:spPr>
          <a:xfrm>
            <a:off x="1344168"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Paid precision and suppression</a:t>
            </a:r>
            <a:endParaRPr lang="en-US" sz="1200" dirty="0"/>
          </a:p>
        </p:txBody>
      </p:sp>
      <p:pic>
        <p:nvPicPr>
          <p:cNvPr id="14" name="Image 1" descr="preencoded.png">    </p:cNvPr>
          <p:cNvPicPr>
            <a:picLocks noChangeAspect="1"/>
          </p:cNvPicPr>
          <p:nvPr/>
        </p:nvPicPr>
        <p:blipFill>
          <a:blip r:embed="rId2"/>
          <a:stretch>
            <a:fillRect/>
          </a:stretch>
        </p:blipFill>
        <p:spPr>
          <a:xfrm>
            <a:off x="685800" y="2267712"/>
            <a:ext cx="237744" cy="237744"/>
          </a:xfrm>
          <a:prstGeom prst="rect">
            <a:avLst/>
          </a:prstGeom>
        </p:spPr>
      </p:pic>
      <p:sp>
        <p:nvSpPr>
          <p:cNvPr id="15" name="Text 11"/>
          <p:cNvSpPr txBox="1"/>
          <p:nvPr/>
        </p:nvSpPr>
        <p:spPr>
          <a:xfrm>
            <a:off x="1005840"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Results in weeks, $0 incremental</a:t>
            </a:r>
            <a:endParaRPr lang="en-US" sz="1050" dirty="0"/>
          </a:p>
        </p:txBody>
      </p:sp>
      <p:pic>
        <p:nvPicPr>
          <p:cNvPr id="16" name="Image 2" descr="preencoded.png">    </p:cNvPr>
          <p:cNvPicPr>
            <a:picLocks noChangeAspect="1"/>
          </p:cNvPicPr>
          <p:nvPr/>
        </p:nvPicPr>
        <p:blipFill>
          <a:blip r:embed="rId3"/>
          <a:stretch>
            <a:fillRect/>
          </a:stretch>
        </p:blipFill>
        <p:spPr>
          <a:xfrm>
            <a:off x="685800" y="2852928"/>
            <a:ext cx="237744" cy="237744"/>
          </a:xfrm>
          <a:prstGeom prst="rect">
            <a:avLst/>
          </a:prstGeom>
        </p:spPr>
      </p:pic>
      <p:sp>
        <p:nvSpPr>
          <p:cNvPr id="17" name="Text 12"/>
          <p:cNvSpPr txBox="1"/>
          <p:nvPr/>
        </p:nvSpPr>
        <p:spPr>
          <a:xfrm>
            <a:off x="1005840"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High signal-loss exposure; builds no lasting relationship</a:t>
            </a:r>
            <a:endParaRPr lang="en-US" sz="1050" dirty="0"/>
          </a:p>
        </p:txBody>
      </p:sp>
      <p:sp>
        <p:nvSpPr>
          <p:cNvPr id="18" name="Shape 13"/>
          <p:cNvSpPr/>
          <p:nvPr/>
        </p:nvSpPr>
        <p:spPr>
          <a:xfrm>
            <a:off x="2162556" y="3913632"/>
            <a:ext cx="329184" cy="329184"/>
          </a:xfrm>
          <a:prstGeom prst="downArrow">
            <a:avLst/>
          </a:prstGeom>
          <a:solidFill>
            <a:srgbClr val="BFDBFE"/>
          </a:solidFill>
          <a:ln w="6350">
            <a:solidFill>
              <a:srgbClr val="BFDBFE"/>
            </a:solidFill>
            <a:prstDash val="solid"/>
          </a:ln>
        </p:spPr>
      </p:sp>
      <p:sp>
        <p:nvSpPr>
          <p:cNvPr id="19" name="Shape 14"/>
          <p:cNvSpPr/>
          <p:nvPr/>
        </p:nvSpPr>
        <p:spPr>
          <a:xfrm>
            <a:off x="502920" y="4315968"/>
            <a:ext cx="3648456" cy="868680"/>
          </a:xfrm>
          <a:prstGeom prst="roundRect">
            <a:avLst>
              <a:gd name="adj" fmla="val 6316"/>
            </a:avLst>
          </a:prstGeom>
          <a:solidFill>
            <a:srgbClr val="0A1F44"/>
          </a:solidFill>
          <a:ln w="6350">
            <a:solidFill>
              <a:srgbClr val="0A1F44"/>
            </a:solidFill>
            <a:prstDash val="solid"/>
          </a:ln>
        </p:spPr>
      </p:sp>
      <p:sp>
        <p:nvSpPr>
          <p:cNvPr id="20" name="Text 15"/>
          <p:cNvSpPr txBox="1"/>
          <p:nvPr/>
        </p:nvSpPr>
        <p:spPr>
          <a:xfrm>
            <a:off x="685800"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fast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Savings held in the $14M line until a holdout proves them</a:t>
            </a:r>
            <a:endParaRPr lang="en-US" sz="1200" dirty="0"/>
          </a:p>
        </p:txBody>
      </p:sp>
      <p:sp>
        <p:nvSpPr>
          <p:cNvPr id="21" name="Shape 16"/>
          <p:cNvSpPr/>
          <p:nvPr/>
        </p:nvSpPr>
        <p:spPr>
          <a:xfrm>
            <a:off x="4270248" y="1325880"/>
            <a:ext cx="3648456" cy="2514600"/>
          </a:xfrm>
          <a:prstGeom prst="roundRect">
            <a:avLst>
              <a:gd name="adj" fmla="val 2182"/>
            </a:avLst>
          </a:prstGeom>
          <a:solidFill>
            <a:srgbClr val="F8FAFC"/>
          </a:solidFill>
          <a:ln w="9525">
            <a:solidFill>
              <a:srgbClr val="E2E8F0"/>
            </a:solidFill>
            <a:prstDash val="solid"/>
          </a:ln>
        </p:spPr>
      </p:sp>
      <p:sp>
        <p:nvSpPr>
          <p:cNvPr id="22" name="Shape 17"/>
          <p:cNvSpPr/>
          <p:nvPr/>
        </p:nvSpPr>
        <p:spPr>
          <a:xfrm>
            <a:off x="4434840" y="1463040"/>
            <a:ext cx="548640" cy="548640"/>
          </a:xfrm>
          <a:prstGeom prst="ellipse">
            <a:avLst/>
          </a:prstGeom>
          <a:solidFill>
            <a:srgbClr val="0A1F44"/>
          </a:solidFill>
          <a:ln w="6350">
            <a:solidFill>
              <a:srgbClr val="0A1F44"/>
            </a:solidFill>
            <a:prstDash val="solid"/>
          </a:ln>
        </p:spPr>
      </p:sp>
      <p:sp>
        <p:nvSpPr>
          <p:cNvPr id="23" name="Text 18"/>
          <p:cNvSpPr txBox="1"/>
          <p:nvPr/>
        </p:nvSpPr>
        <p:spPr>
          <a:xfrm>
            <a:off x="44348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A</a:t>
            </a:r>
            <a:endParaRPr lang="en-US" sz="2000" dirty="0"/>
          </a:p>
        </p:txBody>
      </p:sp>
      <p:sp>
        <p:nvSpPr>
          <p:cNvPr id="24" name="Text 19"/>
          <p:cNvSpPr txBox="1"/>
          <p:nvPr/>
        </p:nvSpPr>
        <p:spPr>
          <a:xfrm>
            <a:off x="5111496"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A</a:t>
            </a:r>
            <a:endParaRPr lang="en-US" sz="950" dirty="0"/>
          </a:p>
        </p:txBody>
      </p:sp>
      <p:sp>
        <p:nvSpPr>
          <p:cNvPr id="25" name="Text 20"/>
          <p:cNvSpPr txBox="1"/>
          <p:nvPr/>
        </p:nvSpPr>
        <p:spPr>
          <a:xfrm>
            <a:off x="5111496"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Owned lifecycle precision</a:t>
            </a:r>
            <a:endParaRPr lang="en-US" sz="1200" dirty="0"/>
          </a:p>
        </p:txBody>
      </p:sp>
      <p:pic>
        <p:nvPicPr>
          <p:cNvPr id="26" name="Image 3" descr="preencoded.png">    </p:cNvPr>
          <p:cNvPicPr>
            <a:picLocks noChangeAspect="1"/>
          </p:cNvPicPr>
          <p:nvPr/>
        </p:nvPicPr>
        <p:blipFill>
          <a:blip r:embed="rId4"/>
          <a:stretch>
            <a:fillRect/>
          </a:stretch>
        </p:blipFill>
        <p:spPr>
          <a:xfrm>
            <a:off x="4453128" y="2267712"/>
            <a:ext cx="237744" cy="237744"/>
          </a:xfrm>
          <a:prstGeom prst="rect">
            <a:avLst/>
          </a:prstGeom>
        </p:spPr>
      </p:pic>
      <p:sp>
        <p:nvSpPr>
          <p:cNvPr id="27" name="Text 21"/>
          <p:cNvSpPr txBox="1"/>
          <p:nvPr/>
        </p:nvSpPr>
        <p:spPr>
          <a:xfrm>
            <a:off x="4773168"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Lowest cost per touch; insulated from ATT</a:t>
            </a:r>
            <a:endParaRPr lang="en-US" sz="1050" dirty="0"/>
          </a:p>
        </p:txBody>
      </p:sp>
      <p:pic>
        <p:nvPicPr>
          <p:cNvPr id="28" name="Image 4" descr="preencoded.png">    </p:cNvPr>
          <p:cNvPicPr>
            <a:picLocks noChangeAspect="1"/>
          </p:cNvPicPr>
          <p:nvPr/>
        </p:nvPicPr>
        <p:blipFill>
          <a:blip r:embed="rId5"/>
          <a:stretch>
            <a:fillRect/>
          </a:stretch>
        </p:blipFill>
        <p:spPr>
          <a:xfrm>
            <a:off x="4453128" y="2852928"/>
            <a:ext cx="237744" cy="237744"/>
          </a:xfrm>
          <a:prstGeom prst="rect">
            <a:avLst/>
          </a:prstGeom>
        </p:spPr>
      </p:pic>
      <p:sp>
        <p:nvSpPr>
          <p:cNvPr id="29" name="Text 22"/>
          <p:cNvSpPr txBox="1"/>
          <p:nvPr/>
        </p:nvSpPr>
        <p:spPr>
          <a:xfrm>
            <a:off x="4773168"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Reach capped by today's list: 1 in 4 buyers engaged</a:t>
            </a:r>
            <a:endParaRPr lang="en-US" sz="1050" dirty="0"/>
          </a:p>
        </p:txBody>
      </p:sp>
      <p:sp>
        <p:nvSpPr>
          <p:cNvPr id="30" name="Shape 23"/>
          <p:cNvSpPr/>
          <p:nvPr/>
        </p:nvSpPr>
        <p:spPr>
          <a:xfrm>
            <a:off x="5929884" y="3913632"/>
            <a:ext cx="329184" cy="329184"/>
          </a:xfrm>
          <a:prstGeom prst="downArrow">
            <a:avLst/>
          </a:prstGeom>
          <a:solidFill>
            <a:srgbClr val="BFDBFE"/>
          </a:solidFill>
          <a:ln w="6350">
            <a:solidFill>
              <a:srgbClr val="BFDBFE"/>
            </a:solidFill>
            <a:prstDash val="solid"/>
          </a:ln>
        </p:spPr>
      </p:sp>
      <p:sp>
        <p:nvSpPr>
          <p:cNvPr id="31" name="Shape 24"/>
          <p:cNvSpPr/>
          <p:nvPr/>
        </p:nvSpPr>
        <p:spPr>
          <a:xfrm>
            <a:off x="4270248" y="4315968"/>
            <a:ext cx="3648456" cy="868680"/>
          </a:xfrm>
          <a:prstGeom prst="roundRect">
            <a:avLst>
              <a:gd name="adj" fmla="val 6316"/>
            </a:avLst>
          </a:prstGeom>
          <a:solidFill>
            <a:srgbClr val="1D4ED8"/>
          </a:solidFill>
          <a:ln w="6350">
            <a:solidFill>
              <a:srgbClr val="1D4ED8"/>
            </a:solidFill>
            <a:prstDash val="solid"/>
          </a:ln>
        </p:spPr>
      </p:sp>
      <p:sp>
        <p:nvSpPr>
          <p:cNvPr id="32" name="Text 25"/>
          <p:cNvSpPr txBox="1"/>
          <p:nvPr/>
        </p:nvSpPr>
        <p:spPr>
          <a:xfrm>
            <a:off x="4453128"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Builds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Capture grows the list; journeys earn order two</a:t>
            </a:r>
            <a:endParaRPr lang="en-US" sz="1200" dirty="0"/>
          </a:p>
        </p:txBody>
      </p:sp>
      <p:sp>
        <p:nvSpPr>
          <p:cNvPr id="33" name="Shape 26"/>
          <p:cNvSpPr/>
          <p:nvPr/>
        </p:nvSpPr>
        <p:spPr>
          <a:xfrm>
            <a:off x="8037576" y="1325880"/>
            <a:ext cx="3648456" cy="2514600"/>
          </a:xfrm>
          <a:prstGeom prst="roundRect">
            <a:avLst>
              <a:gd name="adj" fmla="val 2182"/>
            </a:avLst>
          </a:prstGeom>
          <a:solidFill>
            <a:srgbClr val="F8FAFC"/>
          </a:solidFill>
          <a:ln w="9525">
            <a:solidFill>
              <a:srgbClr val="E2E8F0"/>
            </a:solidFill>
            <a:prstDash val="solid"/>
          </a:ln>
        </p:spPr>
      </p:sp>
      <p:sp>
        <p:nvSpPr>
          <p:cNvPr id="34" name="Shape 27"/>
          <p:cNvSpPr/>
          <p:nvPr/>
        </p:nvSpPr>
        <p:spPr>
          <a:xfrm>
            <a:off x="8202168" y="1463040"/>
            <a:ext cx="548640" cy="548640"/>
          </a:xfrm>
          <a:prstGeom prst="ellipse">
            <a:avLst/>
          </a:prstGeom>
          <a:solidFill>
            <a:srgbClr val="0A1F44"/>
          </a:solidFill>
          <a:ln w="6350">
            <a:solidFill>
              <a:srgbClr val="0A1F44"/>
            </a:solidFill>
            <a:prstDash val="solid"/>
          </a:ln>
        </p:spPr>
      </p:sp>
      <p:sp>
        <p:nvSpPr>
          <p:cNvPr id="35" name="Text 28"/>
          <p:cNvSpPr txBox="1"/>
          <p:nvPr/>
        </p:nvSpPr>
        <p:spPr>
          <a:xfrm>
            <a:off x="820216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C</a:t>
            </a:r>
            <a:endParaRPr lang="en-US" sz="2000" dirty="0"/>
          </a:p>
        </p:txBody>
      </p:sp>
      <p:sp>
        <p:nvSpPr>
          <p:cNvPr id="36" name="Text 29"/>
          <p:cNvSpPr txBox="1"/>
          <p:nvPr/>
        </p:nvSpPr>
        <p:spPr>
          <a:xfrm>
            <a:off x="8878824"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C</a:t>
            </a:r>
            <a:endParaRPr lang="en-US" sz="950" dirty="0"/>
          </a:p>
        </p:txBody>
      </p:sp>
      <p:sp>
        <p:nvSpPr>
          <p:cNvPr id="37" name="Text 30"/>
          <p:cNvSpPr txBox="1"/>
          <p:nvPr/>
        </p:nvSpPr>
        <p:spPr>
          <a:xfrm>
            <a:off x="8878824"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Attribution-based reallocation</a:t>
            </a:r>
            <a:endParaRPr lang="en-US" sz="1200" dirty="0"/>
          </a:p>
        </p:txBody>
      </p:sp>
      <p:pic>
        <p:nvPicPr>
          <p:cNvPr id="38" name="Image 5" descr="preencoded.png">    </p:cNvPr>
          <p:cNvPicPr>
            <a:picLocks noChangeAspect="1"/>
          </p:cNvPicPr>
          <p:nvPr/>
        </p:nvPicPr>
        <p:blipFill>
          <a:blip r:embed="rId6"/>
          <a:stretch>
            <a:fillRect/>
          </a:stretch>
        </p:blipFill>
        <p:spPr>
          <a:xfrm>
            <a:off x="8220456" y="2267712"/>
            <a:ext cx="237744" cy="237744"/>
          </a:xfrm>
          <a:prstGeom prst="rect">
            <a:avLst/>
          </a:prstGeom>
        </p:spPr>
      </p:pic>
      <p:sp>
        <p:nvSpPr>
          <p:cNvPr id="39" name="Text 31"/>
          <p:cNvSpPr txBox="1"/>
          <p:nvPr/>
        </p:nvSpPr>
        <p:spPr>
          <a:xfrm>
            <a:off x="8540496"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lasting decision framework</a:t>
            </a:r>
            <a:endParaRPr lang="en-US" sz="1050" dirty="0"/>
          </a:p>
        </p:txBody>
      </p:sp>
      <p:pic>
        <p:nvPicPr>
          <p:cNvPr id="40" name="Image 6" descr="preencoded.png">    </p:cNvPr>
          <p:cNvPicPr>
            <a:picLocks noChangeAspect="1"/>
          </p:cNvPicPr>
          <p:nvPr/>
        </p:nvPicPr>
        <p:blipFill>
          <a:blip r:embed="rId7"/>
          <a:stretch>
            <a:fillRect/>
          </a:stretch>
        </p:blipFill>
        <p:spPr>
          <a:xfrm>
            <a:off x="8220456" y="2852928"/>
            <a:ext cx="237744" cy="237744"/>
          </a:xfrm>
          <a:prstGeom prst="rect">
            <a:avLst/>
          </a:prstGeom>
        </p:spPr>
      </p:pic>
      <p:sp>
        <p:nvSpPr>
          <p:cNvPr id="41" name="Text 32"/>
          <p:cNvSpPr txBox="1"/>
          <p:nvPr/>
        </p:nvSpPr>
        <p:spPr>
          <a:xfrm>
            <a:off x="8540496"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6–12 months to trust; high change risk</a:t>
            </a:r>
            <a:endParaRPr lang="en-US" sz="1050" dirty="0"/>
          </a:p>
        </p:txBody>
      </p:sp>
      <p:sp>
        <p:nvSpPr>
          <p:cNvPr id="42" name="Shape 33"/>
          <p:cNvSpPr/>
          <p:nvPr/>
        </p:nvSpPr>
        <p:spPr>
          <a:xfrm>
            <a:off x="9697212" y="3913632"/>
            <a:ext cx="329184" cy="329184"/>
          </a:xfrm>
          <a:prstGeom prst="downArrow">
            <a:avLst/>
          </a:prstGeom>
          <a:solidFill>
            <a:srgbClr val="BFDBFE"/>
          </a:solidFill>
          <a:ln w="6350">
            <a:solidFill>
              <a:srgbClr val="BFDBFE"/>
            </a:solidFill>
            <a:prstDash val="solid"/>
          </a:ln>
        </p:spPr>
      </p:sp>
      <p:sp>
        <p:nvSpPr>
          <p:cNvPr id="43" name="Shape 34"/>
          <p:cNvSpPr/>
          <p:nvPr/>
        </p:nvSpPr>
        <p:spPr>
          <a:xfrm>
            <a:off x="8037576" y="4315968"/>
            <a:ext cx="3648456" cy="868680"/>
          </a:xfrm>
          <a:prstGeom prst="roundRect">
            <a:avLst>
              <a:gd name="adj" fmla="val 6316"/>
            </a:avLst>
          </a:prstGeom>
          <a:solidFill>
            <a:srgbClr val="0A1F44"/>
          </a:solidFill>
          <a:ln w="6350">
            <a:solidFill>
              <a:srgbClr val="0A1F44"/>
            </a:solidFill>
            <a:prstDash val="solid"/>
          </a:ln>
        </p:spPr>
      </p:sp>
      <p:sp>
        <p:nvSpPr>
          <p:cNvPr id="44" name="Text 35"/>
          <p:cNvSpPr txBox="1"/>
          <p:nvPr/>
        </p:nvSpPr>
        <p:spPr>
          <a:xfrm>
            <a:off x="8220456"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Runs from day 1 and decides every tranche</a:t>
            </a:r>
            <a:endParaRPr lang="en-US" sz="1200" dirty="0"/>
          </a:p>
        </p:txBody>
      </p:sp>
      <p:sp>
        <p:nvSpPr>
          <p:cNvPr id="45" name="Text 36"/>
          <p:cNvSpPr txBox="1"/>
          <p:nvPr/>
        </p:nvSpPr>
        <p:spPr>
          <a:xfrm>
            <a:off x="502920" y="5285232"/>
            <a:ext cx="11183112" cy="329184"/>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B gives fast proof, A's owned reach cuts B's signal-loss exposure, and C's holdouts remove the measurement risk of both</a:t>
            </a:r>
            <a:endParaRPr lang="en-US" sz="1100" dirty="0"/>
          </a:p>
        </p:txBody>
      </p:sp>
      <p:sp>
        <p:nvSpPr>
          <p:cNvPr id="46" name="Shape 3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7" name="Shape 38"/>
          <p:cNvSpPr/>
          <p:nvPr/>
        </p:nvSpPr>
        <p:spPr>
          <a:xfrm>
            <a:off x="640080" y="5806440"/>
            <a:ext cx="329184" cy="329184"/>
          </a:xfrm>
          <a:prstGeom prst="ellipse">
            <a:avLst/>
          </a:prstGeom>
          <a:solidFill>
            <a:srgbClr val="1D4ED8"/>
          </a:solidFill>
          <a:ln w="6350">
            <a:solidFill>
              <a:srgbClr val="1D4ED8"/>
            </a:solidFill>
            <a:prstDash val="solid"/>
          </a:ln>
        </p:spPr>
      </p:sp>
      <p:pic>
        <p:nvPicPr>
          <p:cNvPr id="48" name="Image 7" descr="preencoded.png">    </p:cNvPr>
          <p:cNvPicPr>
            <a:picLocks noChangeAspect="1"/>
          </p:cNvPicPr>
          <p:nvPr/>
        </p:nvPicPr>
        <p:blipFill>
          <a:blip r:embed="rId8"/>
          <a:stretch>
            <a:fillRect/>
          </a:stretch>
        </p:blipFill>
        <p:spPr>
          <a:xfrm>
            <a:off x="712500" y="5878860"/>
            <a:ext cx="184343" cy="184343"/>
          </a:xfrm>
          <a:prstGeom prst="rect">
            <a:avLst/>
          </a:prstGeom>
        </p:spPr>
      </p:pic>
      <p:sp>
        <p:nvSpPr>
          <p:cNvPr id="49" name="Text 3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Scale only what beats the CJA holdout; stop anything that doesn't and return to plan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 branches, three levers, one thread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analysis; Adobe CJA panels A1–A6 and A3b; case Exhibits D and G.</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15</a:t>
            </a:r>
            <a:endParaRPr lang="en-US" sz="800" dirty="0"/>
          </a:p>
        </p:txBody>
      </p:sp>
      <p:sp>
        <p:nvSpPr>
          <p:cNvPr id="9" name="Shape 6"/>
          <p:cNvSpPr/>
          <p:nvPr/>
        </p:nvSpPr>
        <p:spPr>
          <a:xfrm>
            <a:off x="502920" y="2606040"/>
            <a:ext cx="2103120" cy="1463040"/>
          </a:xfrm>
          <a:prstGeom prst="roundRect">
            <a:avLst>
              <a:gd name="adj" fmla="val 6250"/>
            </a:avLst>
          </a:prstGeom>
          <a:solidFill>
            <a:srgbClr val="0A1F44"/>
          </a:solidFill>
          <a:ln w="6350">
            <a:solidFill>
              <a:srgbClr val="0A1F44"/>
            </a:solidFill>
            <a:prstDash val="solid"/>
          </a:ln>
        </p:spPr>
      </p:sp>
      <p:sp>
        <p:nvSpPr>
          <p:cNvPr id="10" name="Text 7"/>
          <p:cNvSpPr txBox="1"/>
          <p:nvPr/>
        </p:nvSpPr>
        <p:spPr>
          <a:xfrm>
            <a:off x="640080" y="2651760"/>
            <a:ext cx="1828800" cy="137160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Why is 90-day repeat 24% and blended CAC $62 on a fixed $120M?</a:t>
            </a:r>
            <a:endParaRPr lang="en-US" sz="1200" dirty="0"/>
          </a:p>
        </p:txBody>
      </p:sp>
      <p:sp>
        <p:nvSpPr>
          <p:cNvPr id="11" name="Shape 8"/>
          <p:cNvSpPr/>
          <p:nvPr/>
        </p:nvSpPr>
        <p:spPr>
          <a:xfrm>
            <a:off x="2606040" y="3337560"/>
            <a:ext cx="182880" cy="0"/>
          </a:xfrm>
          <a:prstGeom prst="line">
            <a:avLst/>
          </a:prstGeom>
          <a:noFill/>
          <a:ln w="15875">
            <a:solidFill>
              <a:srgbClr val="94A3B8"/>
            </a:solidFill>
            <a:prstDash val="solid"/>
          </a:ln>
        </p:spPr>
      </p:sp>
      <p:sp>
        <p:nvSpPr>
          <p:cNvPr id="12" name="Shape 9"/>
          <p:cNvSpPr/>
          <p:nvPr/>
        </p:nvSpPr>
        <p:spPr>
          <a:xfrm>
            <a:off x="2788920" y="1810512"/>
            <a:ext cx="0" cy="3346704"/>
          </a:xfrm>
          <a:prstGeom prst="line">
            <a:avLst/>
          </a:prstGeom>
          <a:noFill/>
          <a:ln w="15875">
            <a:solidFill>
              <a:srgbClr val="94A3B8"/>
            </a:solidFill>
            <a:prstDash val="solid"/>
          </a:ln>
        </p:spPr>
      </p:sp>
      <p:sp>
        <p:nvSpPr>
          <p:cNvPr id="13" name="Shape 10"/>
          <p:cNvSpPr/>
          <p:nvPr/>
        </p:nvSpPr>
        <p:spPr>
          <a:xfrm>
            <a:off x="2788920" y="1810512"/>
            <a:ext cx="228600" cy="0"/>
          </a:xfrm>
          <a:prstGeom prst="line">
            <a:avLst/>
          </a:prstGeom>
          <a:noFill/>
          <a:ln w="15875">
            <a:solidFill>
              <a:srgbClr val="94A3B8"/>
            </a:solidFill>
            <a:prstDash val="solid"/>
            <a:tailEnd type="triangle"/>
          </a:ln>
        </p:spPr>
      </p:sp>
      <p:sp>
        <p:nvSpPr>
          <p:cNvPr id="14" name="Shape 11"/>
          <p:cNvSpPr/>
          <p:nvPr/>
        </p:nvSpPr>
        <p:spPr>
          <a:xfrm>
            <a:off x="3017520" y="1371600"/>
            <a:ext cx="1828800" cy="877824"/>
          </a:xfrm>
          <a:prstGeom prst="roundRect">
            <a:avLst>
              <a:gd name="adj" fmla="val 8333"/>
            </a:avLst>
          </a:prstGeom>
          <a:solidFill>
            <a:srgbClr val="1D4ED8"/>
          </a:solidFill>
          <a:ln/>
        </p:spPr>
      </p:sp>
      <p:sp>
        <p:nvSpPr>
          <p:cNvPr id="15" name="Text 12"/>
          <p:cNvSpPr txBox="1"/>
          <p:nvPr/>
        </p:nvSpPr>
        <p:spPr>
          <a:xfrm>
            <a:off x="3127248" y="1371600"/>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Money</a:t>
            </a:r>
            <a:endParaRPr lang="en-US" sz="1300" dirty="0"/>
          </a:p>
        </p:txBody>
      </p:sp>
      <p:sp>
        <p:nvSpPr>
          <p:cNvPr id="16" name="Shape 13"/>
          <p:cNvSpPr/>
          <p:nvPr/>
        </p:nvSpPr>
        <p:spPr>
          <a:xfrm>
            <a:off x="4846320" y="1810512"/>
            <a:ext cx="320040" cy="0"/>
          </a:xfrm>
          <a:prstGeom prst="line">
            <a:avLst/>
          </a:prstGeom>
          <a:noFill/>
          <a:ln w="15875">
            <a:solidFill>
              <a:srgbClr val="94A3B8"/>
            </a:solidFill>
            <a:prstDash val="solid"/>
            <a:tailEnd type="triangle"/>
          </a:ln>
        </p:spPr>
      </p:sp>
      <p:sp>
        <p:nvSpPr>
          <p:cNvPr id="17" name="Shape 14"/>
          <p:cNvSpPr/>
          <p:nvPr/>
        </p:nvSpPr>
        <p:spPr>
          <a:xfrm>
            <a:off x="5166360" y="1371600"/>
            <a:ext cx="3886200" cy="877824"/>
          </a:xfrm>
          <a:prstGeom prst="roundRect">
            <a:avLst>
              <a:gd name="adj" fmla="val 8333"/>
            </a:avLst>
          </a:prstGeom>
          <a:solidFill>
            <a:srgbClr val="F8FAFC"/>
          </a:solidFill>
          <a:ln w="9525">
            <a:solidFill>
              <a:srgbClr val="E2E8F0"/>
            </a:solidFill>
            <a:prstDash val="solid"/>
          </a:ln>
        </p:spPr>
      </p:sp>
      <p:sp>
        <p:nvSpPr>
          <p:cNvPr id="18" name="Text 15"/>
          <p:cNvSpPr txBox="1"/>
          <p:nvPr/>
        </p:nvSpPr>
        <p:spPr>
          <a:xfrm>
            <a:off x="5303520" y="1463040"/>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Spend may pay for demand that comes anyway</a:t>
            </a:r>
            <a:endParaRPr lang="en-US" sz="1200" dirty="0"/>
          </a:p>
        </p:txBody>
      </p:sp>
      <p:sp>
        <p:nvSpPr>
          <p:cNvPr id="19" name="Text 16"/>
          <p:cNvSpPr txBox="1"/>
          <p:nvPr/>
        </p:nvSpPr>
        <p:spPr>
          <a:xfrm>
            <a:off x="5303520" y="1773936"/>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 holdout will tell</a:t>
            </a:r>
            <a:endParaRPr lang="en-US" sz="1000" dirty="0"/>
          </a:p>
        </p:txBody>
      </p:sp>
      <p:sp>
        <p:nvSpPr>
          <p:cNvPr id="20" name="Shape 17"/>
          <p:cNvSpPr/>
          <p:nvPr/>
        </p:nvSpPr>
        <p:spPr>
          <a:xfrm>
            <a:off x="9144000" y="1673352"/>
            <a:ext cx="365760" cy="274320"/>
          </a:xfrm>
          <a:prstGeom prst="rightArrow">
            <a:avLst/>
          </a:prstGeom>
          <a:solidFill>
            <a:srgbClr val="BFDBFE"/>
          </a:solidFill>
          <a:ln w="6350">
            <a:solidFill>
              <a:srgbClr val="BFDBFE"/>
            </a:solidFill>
            <a:prstDash val="solid"/>
          </a:ln>
        </p:spPr>
      </p:sp>
      <p:sp>
        <p:nvSpPr>
          <p:cNvPr id="21" name="Shape 18"/>
          <p:cNvSpPr/>
          <p:nvPr/>
        </p:nvSpPr>
        <p:spPr>
          <a:xfrm>
            <a:off x="9601200" y="1517904"/>
            <a:ext cx="2084832" cy="585216"/>
          </a:xfrm>
          <a:prstGeom prst="roundRect">
            <a:avLst>
              <a:gd name="adj" fmla="val 50000"/>
            </a:avLst>
          </a:prstGeom>
          <a:solidFill>
            <a:srgbClr val="FFFFFF"/>
          </a:solidFill>
          <a:ln w="15875">
            <a:solidFill>
              <a:srgbClr val="1D4ED8"/>
            </a:solidFill>
            <a:prstDash val="solid"/>
          </a:ln>
        </p:spPr>
      </p:sp>
      <p:sp>
        <p:nvSpPr>
          <p:cNvPr id="22" name="Text 19"/>
          <p:cNvSpPr txBox="1"/>
          <p:nvPr/>
        </p:nvSpPr>
        <p:spPr>
          <a:xfrm>
            <a:off x="9601200" y="1517904"/>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Never pay twice</a:t>
            </a:r>
            <a:endParaRPr lang="en-US" sz="1100" dirty="0"/>
          </a:p>
        </p:txBody>
      </p:sp>
      <p:sp>
        <p:nvSpPr>
          <p:cNvPr id="23" name="Shape 20"/>
          <p:cNvSpPr/>
          <p:nvPr/>
        </p:nvSpPr>
        <p:spPr>
          <a:xfrm>
            <a:off x="2788920" y="2926080"/>
            <a:ext cx="228600" cy="0"/>
          </a:xfrm>
          <a:prstGeom prst="line">
            <a:avLst/>
          </a:prstGeom>
          <a:noFill/>
          <a:ln w="15875">
            <a:solidFill>
              <a:srgbClr val="94A3B8"/>
            </a:solidFill>
            <a:prstDash val="solid"/>
            <a:tailEnd type="triangle"/>
          </a:ln>
        </p:spPr>
      </p:sp>
      <p:sp>
        <p:nvSpPr>
          <p:cNvPr id="24" name="Shape 21"/>
          <p:cNvSpPr/>
          <p:nvPr/>
        </p:nvSpPr>
        <p:spPr>
          <a:xfrm>
            <a:off x="3017520" y="2487168"/>
            <a:ext cx="1828800" cy="877824"/>
          </a:xfrm>
          <a:prstGeom prst="roundRect">
            <a:avLst>
              <a:gd name="adj" fmla="val 8333"/>
            </a:avLst>
          </a:prstGeom>
          <a:solidFill>
            <a:srgbClr val="1D4ED8"/>
          </a:solidFill>
          <a:ln/>
        </p:spPr>
      </p:sp>
      <p:sp>
        <p:nvSpPr>
          <p:cNvPr id="25" name="Text 22"/>
          <p:cNvSpPr txBox="1"/>
          <p:nvPr/>
        </p:nvSpPr>
        <p:spPr>
          <a:xfrm>
            <a:off x="3127248" y="2487168"/>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mind</a:t>
            </a:r>
            <a:endParaRPr lang="en-US" sz="1300" dirty="0"/>
          </a:p>
        </p:txBody>
      </p:sp>
      <p:sp>
        <p:nvSpPr>
          <p:cNvPr id="26" name="Shape 23"/>
          <p:cNvSpPr/>
          <p:nvPr/>
        </p:nvSpPr>
        <p:spPr>
          <a:xfrm>
            <a:off x="4846320" y="2926080"/>
            <a:ext cx="320040" cy="0"/>
          </a:xfrm>
          <a:prstGeom prst="line">
            <a:avLst/>
          </a:prstGeom>
          <a:noFill/>
          <a:ln w="15875">
            <a:solidFill>
              <a:srgbClr val="94A3B8"/>
            </a:solidFill>
            <a:prstDash val="solid"/>
            <a:tailEnd type="triangle"/>
          </a:ln>
        </p:spPr>
      </p:sp>
      <p:sp>
        <p:nvSpPr>
          <p:cNvPr id="27" name="Shape 24"/>
          <p:cNvSpPr/>
          <p:nvPr/>
        </p:nvSpPr>
        <p:spPr>
          <a:xfrm>
            <a:off x="5166360" y="2487168"/>
            <a:ext cx="3886200" cy="877824"/>
          </a:xfrm>
          <a:prstGeom prst="roundRect">
            <a:avLst>
              <a:gd name="adj" fmla="val 8333"/>
            </a:avLst>
          </a:prstGeom>
          <a:solidFill>
            <a:srgbClr val="F8FAFC"/>
          </a:solidFill>
          <a:ln w="9525">
            <a:solidFill>
              <a:srgbClr val="E2E8F0"/>
            </a:solidFill>
            <a:prstDash val="solid"/>
          </a:ln>
        </p:spPr>
      </p:sp>
      <p:sp>
        <p:nvSpPr>
          <p:cNvPr id="28" name="Text 25"/>
          <p:cNvSpPr txBox="1"/>
          <p:nvPr/>
        </p:nvSpPr>
        <p:spPr>
          <a:xfrm>
            <a:off x="5303520" y="2578608"/>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One-product buyers</a:t>
            </a:r>
            <a:endParaRPr lang="en-US" sz="1200" dirty="0"/>
          </a:p>
        </p:txBody>
      </p:sp>
      <p:sp>
        <p:nvSpPr>
          <p:cNvPr id="29" name="Text 26"/>
          <p:cNvSpPr txBox="1"/>
          <p:nvPr/>
        </p:nvSpPr>
        <p:spPr>
          <a:xfrm>
            <a:off x="5303520" y="2889504"/>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Cashmere is touched by 40.7% of buyers but repeats 13.7% (A6)</a:t>
            </a:r>
            <a:endParaRPr lang="en-US" sz="1000" dirty="0"/>
          </a:p>
        </p:txBody>
      </p:sp>
      <p:sp>
        <p:nvSpPr>
          <p:cNvPr id="30" name="Shape 27"/>
          <p:cNvSpPr/>
          <p:nvPr/>
        </p:nvSpPr>
        <p:spPr>
          <a:xfrm>
            <a:off x="9144000" y="2788920"/>
            <a:ext cx="365760" cy="274320"/>
          </a:xfrm>
          <a:prstGeom prst="rightArrow">
            <a:avLst/>
          </a:prstGeom>
          <a:solidFill>
            <a:srgbClr val="BFDBFE"/>
          </a:solidFill>
          <a:ln w="6350">
            <a:solidFill>
              <a:srgbClr val="BFDBFE"/>
            </a:solidFill>
            <a:prstDash val="solid"/>
          </a:ln>
        </p:spPr>
      </p:sp>
      <p:sp>
        <p:nvSpPr>
          <p:cNvPr id="31" name="Shape 28"/>
          <p:cNvSpPr/>
          <p:nvPr/>
        </p:nvSpPr>
        <p:spPr>
          <a:xfrm>
            <a:off x="9601200" y="2633472"/>
            <a:ext cx="2084832" cy="585216"/>
          </a:xfrm>
          <a:prstGeom prst="roundRect">
            <a:avLst>
              <a:gd name="adj" fmla="val 50000"/>
            </a:avLst>
          </a:prstGeom>
          <a:solidFill>
            <a:srgbClr val="FFFFFF"/>
          </a:solidFill>
          <a:ln w="15875">
            <a:solidFill>
              <a:srgbClr val="1D4ED8"/>
            </a:solidFill>
            <a:prstDash val="solid"/>
          </a:ln>
        </p:spPr>
      </p:sp>
      <p:sp>
        <p:nvSpPr>
          <p:cNvPr id="32" name="Text 29"/>
          <p:cNvSpPr txBox="1"/>
          <p:nvPr/>
        </p:nvSpPr>
        <p:spPr>
          <a:xfrm>
            <a:off x="9601200" y="2633472"/>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Win the Golden Month</a:t>
            </a:r>
            <a:endParaRPr lang="en-US" sz="1100" dirty="0"/>
          </a:p>
        </p:txBody>
      </p:sp>
      <p:sp>
        <p:nvSpPr>
          <p:cNvPr id="33" name="Shape 30"/>
          <p:cNvSpPr/>
          <p:nvPr/>
        </p:nvSpPr>
        <p:spPr>
          <a:xfrm>
            <a:off x="2788920" y="4041648"/>
            <a:ext cx="228600" cy="0"/>
          </a:xfrm>
          <a:prstGeom prst="line">
            <a:avLst/>
          </a:prstGeom>
          <a:noFill/>
          <a:ln w="15875">
            <a:solidFill>
              <a:srgbClr val="94A3B8"/>
            </a:solidFill>
            <a:prstDash val="solid"/>
            <a:tailEnd type="triangle"/>
          </a:ln>
        </p:spPr>
      </p:sp>
      <p:sp>
        <p:nvSpPr>
          <p:cNvPr id="34" name="Shape 31"/>
          <p:cNvSpPr/>
          <p:nvPr/>
        </p:nvSpPr>
        <p:spPr>
          <a:xfrm>
            <a:off x="3017520" y="3602736"/>
            <a:ext cx="1828800" cy="877824"/>
          </a:xfrm>
          <a:prstGeom prst="roundRect">
            <a:avLst>
              <a:gd name="adj" fmla="val 8333"/>
            </a:avLst>
          </a:prstGeom>
          <a:solidFill>
            <a:srgbClr val="1D4ED8"/>
          </a:solidFill>
          <a:ln/>
        </p:spPr>
      </p:sp>
      <p:sp>
        <p:nvSpPr>
          <p:cNvPr id="35" name="Text 32"/>
          <p:cNvSpPr txBox="1"/>
          <p:nvPr/>
        </p:nvSpPr>
        <p:spPr>
          <a:xfrm>
            <a:off x="3127248" y="3602736"/>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journey</a:t>
            </a:r>
            <a:endParaRPr lang="en-US" sz="1300" dirty="0"/>
          </a:p>
        </p:txBody>
      </p:sp>
      <p:sp>
        <p:nvSpPr>
          <p:cNvPr id="36" name="Shape 33"/>
          <p:cNvSpPr/>
          <p:nvPr/>
        </p:nvSpPr>
        <p:spPr>
          <a:xfrm>
            <a:off x="4846320" y="4041648"/>
            <a:ext cx="320040" cy="0"/>
          </a:xfrm>
          <a:prstGeom prst="line">
            <a:avLst/>
          </a:prstGeom>
          <a:noFill/>
          <a:ln w="15875">
            <a:solidFill>
              <a:srgbClr val="94A3B8"/>
            </a:solidFill>
            <a:prstDash val="solid"/>
            <a:tailEnd type="triangle"/>
          </a:ln>
        </p:spPr>
      </p:sp>
      <p:sp>
        <p:nvSpPr>
          <p:cNvPr id="37" name="Shape 34"/>
          <p:cNvSpPr/>
          <p:nvPr/>
        </p:nvSpPr>
        <p:spPr>
          <a:xfrm>
            <a:off x="5166360" y="3602736"/>
            <a:ext cx="3886200" cy="877824"/>
          </a:xfrm>
          <a:prstGeom prst="roundRect">
            <a:avLst>
              <a:gd name="adj" fmla="val 8333"/>
            </a:avLst>
          </a:prstGeom>
          <a:solidFill>
            <a:srgbClr val="F8FAFC"/>
          </a:solidFill>
          <a:ln w="9525">
            <a:solidFill>
              <a:srgbClr val="E2E8F0"/>
            </a:solidFill>
            <a:prstDash val="solid"/>
          </a:ln>
        </p:spPr>
      </p:sp>
      <p:sp>
        <p:nvSpPr>
          <p:cNvPr id="38" name="Text 35"/>
          <p:cNvSpPr txBox="1"/>
          <p:nvPr/>
        </p:nvSpPr>
        <p:spPr>
          <a:xfrm>
            <a:off x="5303520" y="3694176"/>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The purchase leaks</a:t>
            </a:r>
            <a:endParaRPr lang="en-US" sz="1200" dirty="0"/>
          </a:p>
        </p:txBody>
      </p:sp>
      <p:sp>
        <p:nvSpPr>
          <p:cNvPr id="39" name="Text 36"/>
          <p:cNvSpPr txBox="1"/>
          <p:nvPr/>
        </p:nvSpPr>
        <p:spPr>
          <a:xfrm>
            <a:off x="5303520" y="4005072"/>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77% of cart adders never order; 1 of ~5,500 cart paths stopping before checkout gets an email (A1, A4)</a:t>
            </a:r>
            <a:endParaRPr lang="en-US" sz="1000" dirty="0"/>
          </a:p>
        </p:txBody>
      </p:sp>
      <p:sp>
        <p:nvSpPr>
          <p:cNvPr id="40" name="Shape 37"/>
          <p:cNvSpPr/>
          <p:nvPr/>
        </p:nvSpPr>
        <p:spPr>
          <a:xfrm>
            <a:off x="9144000" y="3904488"/>
            <a:ext cx="365760" cy="274320"/>
          </a:xfrm>
          <a:prstGeom prst="rightArrow">
            <a:avLst/>
          </a:prstGeom>
          <a:solidFill>
            <a:srgbClr val="BFDBFE"/>
          </a:solidFill>
          <a:ln w="6350">
            <a:solidFill>
              <a:srgbClr val="BFDBFE"/>
            </a:solidFill>
            <a:prstDash val="solid"/>
          </a:ln>
        </p:spPr>
      </p:sp>
      <p:sp>
        <p:nvSpPr>
          <p:cNvPr id="41" name="Shape 38"/>
          <p:cNvSpPr/>
          <p:nvPr/>
        </p:nvSpPr>
        <p:spPr>
          <a:xfrm>
            <a:off x="9601200" y="3749040"/>
            <a:ext cx="2084832" cy="585216"/>
          </a:xfrm>
          <a:prstGeom prst="roundRect">
            <a:avLst>
              <a:gd name="adj" fmla="val 50000"/>
            </a:avLst>
          </a:prstGeom>
          <a:solidFill>
            <a:srgbClr val="FFFFFF"/>
          </a:solidFill>
          <a:ln w="15875">
            <a:solidFill>
              <a:srgbClr val="1D4ED8"/>
            </a:solidFill>
            <a:prstDash val="solid"/>
          </a:ln>
        </p:spPr>
      </p:sp>
      <p:sp>
        <p:nvSpPr>
          <p:cNvPr id="42" name="Text 39"/>
          <p:cNvSpPr txBox="1"/>
          <p:nvPr/>
        </p:nvSpPr>
        <p:spPr>
          <a:xfrm>
            <a:off x="9601200" y="3749040"/>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Capture every buyer</a:t>
            </a:r>
            <a:endParaRPr lang="en-US" sz="1100" dirty="0"/>
          </a:p>
        </p:txBody>
      </p:sp>
      <p:sp>
        <p:nvSpPr>
          <p:cNvPr id="43" name="Shape 40"/>
          <p:cNvSpPr/>
          <p:nvPr/>
        </p:nvSpPr>
        <p:spPr>
          <a:xfrm>
            <a:off x="2788920" y="5157216"/>
            <a:ext cx="228600" cy="0"/>
          </a:xfrm>
          <a:prstGeom prst="line">
            <a:avLst/>
          </a:prstGeom>
          <a:noFill/>
          <a:ln w="15875">
            <a:solidFill>
              <a:srgbClr val="94A3B8"/>
            </a:solidFill>
            <a:prstDash val="solid"/>
            <a:tailEnd type="triangle"/>
          </a:ln>
        </p:spPr>
      </p:sp>
      <p:sp>
        <p:nvSpPr>
          <p:cNvPr id="44" name="Shape 41"/>
          <p:cNvSpPr/>
          <p:nvPr/>
        </p:nvSpPr>
        <p:spPr>
          <a:xfrm>
            <a:off x="3017520" y="4718304"/>
            <a:ext cx="1828800" cy="877824"/>
          </a:xfrm>
          <a:prstGeom prst="roundRect">
            <a:avLst>
              <a:gd name="adj" fmla="val 8333"/>
            </a:avLst>
          </a:prstGeom>
          <a:solidFill>
            <a:srgbClr val="EFF6FF"/>
          </a:solidFill>
          <a:ln w="12700">
            <a:solidFill>
              <a:srgbClr val="1D4ED8"/>
            </a:solidFill>
            <a:prstDash val="dash"/>
          </a:ln>
        </p:spPr>
      </p:sp>
      <p:sp>
        <p:nvSpPr>
          <p:cNvPr id="45" name="Text 42"/>
          <p:cNvSpPr txBox="1"/>
          <p:nvPr/>
        </p:nvSpPr>
        <p:spPr>
          <a:xfrm>
            <a:off x="3127248" y="4718304"/>
            <a:ext cx="1645920" cy="877824"/>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Brand trust</a:t>
            </a:r>
            <a:endParaRPr lang="en-US" sz="1300" dirty="0"/>
          </a:p>
        </p:txBody>
      </p:sp>
      <p:sp>
        <p:nvSpPr>
          <p:cNvPr id="46" name="Shape 43"/>
          <p:cNvSpPr/>
          <p:nvPr/>
        </p:nvSpPr>
        <p:spPr>
          <a:xfrm>
            <a:off x="4846320" y="5157216"/>
            <a:ext cx="320040" cy="0"/>
          </a:xfrm>
          <a:prstGeom prst="line">
            <a:avLst/>
          </a:prstGeom>
          <a:noFill/>
          <a:ln w="15875">
            <a:solidFill>
              <a:srgbClr val="94A3B8"/>
            </a:solidFill>
            <a:prstDash val="solid"/>
            <a:tailEnd type="triangle"/>
          </a:ln>
        </p:spPr>
      </p:sp>
      <p:sp>
        <p:nvSpPr>
          <p:cNvPr id="47" name="Shape 44"/>
          <p:cNvSpPr/>
          <p:nvPr/>
        </p:nvSpPr>
        <p:spPr>
          <a:xfrm>
            <a:off x="5166360" y="4718304"/>
            <a:ext cx="3886200" cy="877824"/>
          </a:xfrm>
          <a:prstGeom prst="roundRect">
            <a:avLst>
              <a:gd name="adj" fmla="val 8333"/>
            </a:avLst>
          </a:prstGeom>
          <a:solidFill>
            <a:srgbClr val="F8FAFC"/>
          </a:solidFill>
          <a:ln w="9525">
            <a:solidFill>
              <a:srgbClr val="E2E8F0"/>
            </a:solidFill>
            <a:prstDash val="solid"/>
          </a:ln>
        </p:spPr>
      </p:sp>
      <p:sp>
        <p:nvSpPr>
          <p:cNvPr id="48" name="Text 45"/>
          <p:cNvSpPr txBox="1"/>
          <p:nvPr/>
        </p:nvSpPr>
        <p:spPr>
          <a:xfrm>
            <a:off x="5303520" y="4809744"/>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Found, not yet trusted</a:t>
            </a:r>
            <a:endParaRPr lang="en-US" sz="1200" dirty="0"/>
          </a:p>
        </p:txBody>
      </p:sp>
      <p:sp>
        <p:nvSpPr>
          <p:cNvPr id="49" name="Text 46"/>
          <p:cNvSpPr txBox="1"/>
          <p:nvPr/>
        </p:nvSpPr>
        <p:spPr>
          <a:xfrm>
            <a:off x="5303520" y="5120640"/>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25,227 people leave after a product view (A1)</a:t>
            </a:r>
            <a:endParaRPr lang="en-US" sz="1000" dirty="0"/>
          </a:p>
        </p:txBody>
      </p:sp>
      <p:sp>
        <p:nvSpPr>
          <p:cNvPr id="50" name="Shape 47"/>
          <p:cNvSpPr/>
          <p:nvPr/>
        </p:nvSpPr>
        <p:spPr>
          <a:xfrm>
            <a:off x="9144000" y="5020056"/>
            <a:ext cx="365760" cy="274320"/>
          </a:xfrm>
          <a:prstGeom prst="rightArrow">
            <a:avLst/>
          </a:prstGeom>
          <a:solidFill>
            <a:srgbClr val="BFDBFE"/>
          </a:solidFill>
          <a:ln w="6350">
            <a:solidFill>
              <a:srgbClr val="BFDBFE"/>
            </a:solidFill>
            <a:prstDash val="solid"/>
          </a:ln>
        </p:spPr>
      </p:sp>
      <p:sp>
        <p:nvSpPr>
          <p:cNvPr id="51" name="Shape 48"/>
          <p:cNvSpPr/>
          <p:nvPr/>
        </p:nvSpPr>
        <p:spPr>
          <a:xfrm>
            <a:off x="9601200" y="4864608"/>
            <a:ext cx="2084832" cy="585216"/>
          </a:xfrm>
          <a:prstGeom prst="roundRect">
            <a:avLst>
              <a:gd name="adj" fmla="val 50000"/>
            </a:avLst>
          </a:prstGeom>
          <a:solidFill>
            <a:srgbClr val="FFFFFF"/>
          </a:solidFill>
          <a:ln w="15875">
            <a:solidFill>
              <a:srgbClr val="1D4ED8"/>
            </a:solidFill>
            <a:prstDash val="solid"/>
          </a:ln>
        </p:spPr>
      </p:sp>
      <p:sp>
        <p:nvSpPr>
          <p:cNvPr id="52" name="Text 49"/>
          <p:cNvSpPr txBox="1"/>
          <p:nvPr/>
        </p:nvSpPr>
        <p:spPr>
          <a:xfrm>
            <a:off x="9601200" y="4864608"/>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Trust thread, all levers</a:t>
            </a:r>
            <a:endParaRPr lang="en-US" sz="1100" dirty="0"/>
          </a:p>
        </p:txBody>
      </p:sp>
      <p:sp>
        <p:nvSpPr>
          <p:cNvPr id="53" name="Shape 50"/>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4" name="Shape 51"/>
          <p:cNvSpPr/>
          <p:nvPr/>
        </p:nvSpPr>
        <p:spPr>
          <a:xfrm>
            <a:off x="640080" y="5806440"/>
            <a:ext cx="329184" cy="329184"/>
          </a:xfrm>
          <a:prstGeom prst="ellipse">
            <a:avLst/>
          </a:prstGeom>
          <a:solidFill>
            <a:srgbClr val="1D4ED8"/>
          </a:solidFill>
          <a:ln w="6350">
            <a:solidFill>
              <a:srgbClr val="1D4ED8"/>
            </a:solidFill>
            <a:prstDash val="solid"/>
          </a:ln>
        </p:spPr>
      </p:sp>
      <p:pic>
        <p:nvPicPr>
          <p:cNvPr id="55"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56" name="Text 52"/>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Repeat = engaged share × engaged repeat + non-engaged share × non-engaged repeat; CAC = $120M ÷ new customers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Seven moments decide whether a first buyer returns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panels A1, A2, A4, A5, A6 and Cohort Table; mechanisms are hypotheses the pilot tests.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16</a:t>
            </a:r>
            <a:endParaRPr lang="en-US" sz="800" dirty="0"/>
          </a:p>
        </p:txBody>
      </p:sp>
      <p:sp>
        <p:nvSpPr>
          <p:cNvPr id="9" name="Shape 6"/>
          <p:cNvSpPr/>
          <p:nvPr/>
        </p:nvSpPr>
        <p:spPr>
          <a:xfrm>
            <a:off x="1301714" y="1874520"/>
            <a:ext cx="9585525" cy="0"/>
          </a:xfrm>
          <a:prstGeom prst="line">
            <a:avLst/>
          </a:prstGeom>
          <a:noFill/>
          <a:ln w="38100">
            <a:solidFill>
              <a:srgbClr val="BFDBFE"/>
            </a:solidFill>
            <a:prstDash val="solid"/>
          </a:ln>
        </p:spPr>
      </p:sp>
      <p:sp>
        <p:nvSpPr>
          <p:cNvPr id="10" name="Shape 7"/>
          <p:cNvSpPr/>
          <p:nvPr/>
        </p:nvSpPr>
        <p:spPr>
          <a:xfrm>
            <a:off x="999962" y="1572768"/>
            <a:ext cx="603504" cy="603504"/>
          </a:xfrm>
          <a:prstGeom prst="ellipse">
            <a:avLst/>
          </a:prstGeom>
          <a:solidFill>
            <a:srgbClr val="0A1F44"/>
          </a:solidFill>
          <a:ln w="6350">
            <a:solidFill>
              <a:srgbClr val="0A1F44"/>
            </a:solidFill>
            <a:prstDash val="solid"/>
          </a:ln>
        </p:spPr>
      </p:sp>
      <p:pic>
        <p:nvPicPr>
          <p:cNvPr id="11" name="Image 1" descr="preencoded.png">    </p:cNvPr>
          <p:cNvPicPr>
            <a:picLocks noChangeAspect="1"/>
          </p:cNvPicPr>
          <p:nvPr/>
        </p:nvPicPr>
        <p:blipFill>
          <a:blip r:embed="rId2"/>
          <a:stretch>
            <a:fillRect/>
          </a:stretch>
        </p:blipFill>
        <p:spPr>
          <a:xfrm>
            <a:off x="1132733" y="1705539"/>
            <a:ext cx="337962" cy="337962"/>
          </a:xfrm>
          <a:prstGeom prst="rect">
            <a:avLst/>
          </a:prstGeom>
        </p:spPr>
      </p:pic>
      <p:sp>
        <p:nvSpPr>
          <p:cNvPr id="12" name="Text 8"/>
          <p:cNvSpPr txBox="1"/>
          <p:nvPr/>
        </p:nvSpPr>
        <p:spPr>
          <a:xfrm>
            <a:off x="54864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Discovery</a:t>
            </a:r>
            <a:endParaRPr lang="en-US" sz="1200" dirty="0"/>
          </a:p>
        </p:txBody>
      </p:sp>
      <p:sp>
        <p:nvSpPr>
          <p:cNvPr id="13" name="Shape 9"/>
          <p:cNvSpPr/>
          <p:nvPr/>
        </p:nvSpPr>
        <p:spPr>
          <a:xfrm>
            <a:off x="576072" y="2697480"/>
            <a:ext cx="1451283" cy="685800"/>
          </a:xfrm>
          <a:prstGeom prst="roundRect">
            <a:avLst>
              <a:gd name="adj" fmla="val 10667"/>
            </a:avLst>
          </a:prstGeom>
          <a:solidFill>
            <a:srgbClr val="EFF6FF"/>
          </a:solidFill>
          <a:ln w="6350">
            <a:solidFill>
              <a:srgbClr val="EFF6FF"/>
            </a:solidFill>
            <a:prstDash val="solid"/>
          </a:ln>
        </p:spPr>
      </p:sp>
      <p:sp>
        <p:nvSpPr>
          <p:cNvPr id="14" name="Text 10"/>
          <p:cNvSpPr txBox="1"/>
          <p:nvPr/>
        </p:nvSpPr>
        <p:spPr>
          <a:xfrm>
            <a:off x="61264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45.5% via prospecting</a:t>
            </a:r>
            <a:endParaRPr lang="en-US" sz="1050" dirty="0"/>
          </a:p>
        </p:txBody>
      </p:sp>
      <p:sp>
        <p:nvSpPr>
          <p:cNvPr id="15" name="Text 11"/>
          <p:cNvSpPr txBox="1"/>
          <p:nvPr/>
        </p:nvSpPr>
        <p:spPr>
          <a:xfrm>
            <a:off x="54864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16" name="Text 12"/>
          <p:cNvSpPr txBox="1"/>
          <p:nvPr/>
        </p:nvSpPr>
        <p:spPr>
          <a:xfrm>
            <a:off x="54864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Social proof</a:t>
            </a:r>
            <a:endParaRPr lang="en-US" sz="1050" dirty="0"/>
          </a:p>
        </p:txBody>
      </p:sp>
      <p:sp>
        <p:nvSpPr>
          <p:cNvPr id="17" name="Shape 13"/>
          <p:cNvSpPr/>
          <p:nvPr/>
        </p:nvSpPr>
        <p:spPr>
          <a:xfrm>
            <a:off x="1191986" y="4297680"/>
            <a:ext cx="219456" cy="274320"/>
          </a:xfrm>
          <a:prstGeom prst="downArrow">
            <a:avLst/>
          </a:prstGeom>
          <a:solidFill>
            <a:srgbClr val="BFDBFE"/>
          </a:solidFill>
          <a:ln w="6350">
            <a:solidFill>
              <a:srgbClr val="BFDBFE"/>
            </a:solidFill>
            <a:prstDash val="solid"/>
          </a:ln>
        </p:spPr>
      </p:sp>
      <p:sp>
        <p:nvSpPr>
          <p:cNvPr id="18" name="Shape 14"/>
          <p:cNvSpPr/>
          <p:nvPr/>
        </p:nvSpPr>
        <p:spPr>
          <a:xfrm>
            <a:off x="576072" y="4663440"/>
            <a:ext cx="1451283" cy="566928"/>
          </a:xfrm>
          <a:prstGeom prst="roundRect">
            <a:avLst>
              <a:gd name="adj" fmla="val 12903"/>
            </a:avLst>
          </a:prstGeom>
          <a:solidFill>
            <a:srgbClr val="0A1F44"/>
          </a:solidFill>
          <a:ln w="6350">
            <a:solidFill>
              <a:srgbClr val="0A1F44"/>
            </a:solidFill>
            <a:prstDash val="solid"/>
          </a:ln>
        </p:spPr>
      </p:sp>
      <p:sp>
        <p:nvSpPr>
          <p:cNvPr id="19" name="Text 15"/>
          <p:cNvSpPr txBox="1"/>
          <p:nvPr/>
        </p:nvSpPr>
        <p:spPr>
          <a:xfrm>
            <a:off x="59436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Loyalist Lookalikes</a:t>
            </a:r>
            <a:endParaRPr lang="en-US" sz="1050" dirty="0"/>
          </a:p>
        </p:txBody>
      </p:sp>
      <p:sp>
        <p:nvSpPr>
          <p:cNvPr id="20" name="Shape 16"/>
          <p:cNvSpPr/>
          <p:nvPr/>
        </p:nvSpPr>
        <p:spPr>
          <a:xfrm>
            <a:off x="2597549" y="1572768"/>
            <a:ext cx="603504" cy="603504"/>
          </a:xfrm>
          <a:prstGeom prst="ellipse">
            <a:avLst/>
          </a:prstGeom>
          <a:solidFill>
            <a:srgbClr val="0A1F44"/>
          </a:solidFill>
          <a:ln w="6350">
            <a:solidFill>
              <a:srgbClr val="0A1F44"/>
            </a:solidFill>
            <a:prstDash val="solid"/>
          </a:ln>
        </p:spPr>
      </p:sp>
      <p:pic>
        <p:nvPicPr>
          <p:cNvPr id="21" name="Image 2" descr="preencoded.png">    </p:cNvPr>
          <p:cNvPicPr>
            <a:picLocks noChangeAspect="1"/>
          </p:cNvPicPr>
          <p:nvPr/>
        </p:nvPicPr>
        <p:blipFill>
          <a:blip r:embed="rId3"/>
          <a:stretch>
            <a:fillRect/>
          </a:stretch>
        </p:blipFill>
        <p:spPr>
          <a:xfrm>
            <a:off x="2730320" y="1705539"/>
            <a:ext cx="337962" cy="337962"/>
          </a:xfrm>
          <a:prstGeom prst="rect">
            <a:avLst/>
          </a:prstGeom>
        </p:spPr>
      </p:pic>
      <p:sp>
        <p:nvSpPr>
          <p:cNvPr id="22" name="Text 17"/>
          <p:cNvSpPr txBox="1"/>
          <p:nvPr/>
        </p:nvSpPr>
        <p:spPr>
          <a:xfrm>
            <a:off x="214622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Product page</a:t>
            </a:r>
            <a:endParaRPr lang="en-US" sz="1200" dirty="0"/>
          </a:p>
        </p:txBody>
      </p:sp>
      <p:sp>
        <p:nvSpPr>
          <p:cNvPr id="23" name="Shape 18"/>
          <p:cNvSpPr/>
          <p:nvPr/>
        </p:nvSpPr>
        <p:spPr>
          <a:xfrm>
            <a:off x="2173659" y="2697480"/>
            <a:ext cx="1451283" cy="685800"/>
          </a:xfrm>
          <a:prstGeom prst="roundRect">
            <a:avLst>
              <a:gd name="adj" fmla="val 10667"/>
            </a:avLst>
          </a:prstGeom>
          <a:solidFill>
            <a:srgbClr val="EFF6FF"/>
          </a:solidFill>
          <a:ln w="6350">
            <a:solidFill>
              <a:srgbClr val="EFF6FF"/>
            </a:solidFill>
            <a:prstDash val="solid"/>
          </a:ln>
        </p:spPr>
      </p:sp>
      <p:sp>
        <p:nvSpPr>
          <p:cNvPr id="24" name="Text 19"/>
          <p:cNvSpPr txBox="1"/>
          <p:nvPr/>
        </p:nvSpPr>
        <p:spPr>
          <a:xfrm>
            <a:off x="221023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25,227 leave here</a:t>
            </a:r>
            <a:endParaRPr lang="en-US" sz="1050" dirty="0"/>
          </a:p>
        </p:txBody>
      </p:sp>
      <p:sp>
        <p:nvSpPr>
          <p:cNvPr id="25" name="Text 20"/>
          <p:cNvSpPr txBox="1"/>
          <p:nvPr/>
        </p:nvSpPr>
        <p:spPr>
          <a:xfrm>
            <a:off x="214622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26" name="Text 21"/>
          <p:cNvSpPr txBox="1"/>
          <p:nvPr/>
        </p:nvSpPr>
        <p:spPr>
          <a:xfrm>
            <a:off x="214622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Price signals quality</a:t>
            </a:r>
            <a:endParaRPr lang="en-US" sz="1050" dirty="0"/>
          </a:p>
        </p:txBody>
      </p:sp>
      <p:sp>
        <p:nvSpPr>
          <p:cNvPr id="27" name="Shape 22"/>
          <p:cNvSpPr/>
          <p:nvPr/>
        </p:nvSpPr>
        <p:spPr>
          <a:xfrm>
            <a:off x="2789573" y="4297680"/>
            <a:ext cx="219456" cy="274320"/>
          </a:xfrm>
          <a:prstGeom prst="downArrow">
            <a:avLst/>
          </a:prstGeom>
          <a:solidFill>
            <a:srgbClr val="BFDBFE"/>
          </a:solidFill>
          <a:ln w="6350">
            <a:solidFill>
              <a:srgbClr val="BFDBFE"/>
            </a:solidFill>
            <a:prstDash val="solid"/>
          </a:ln>
        </p:spPr>
      </p:sp>
      <p:sp>
        <p:nvSpPr>
          <p:cNvPr id="28" name="Shape 23"/>
          <p:cNvSpPr/>
          <p:nvPr/>
        </p:nvSpPr>
        <p:spPr>
          <a:xfrm>
            <a:off x="2173659" y="4663440"/>
            <a:ext cx="1451283" cy="566928"/>
          </a:xfrm>
          <a:prstGeom prst="roundRect">
            <a:avLst>
              <a:gd name="adj" fmla="val 12903"/>
            </a:avLst>
          </a:prstGeom>
          <a:solidFill>
            <a:srgbClr val="0A1F44"/>
          </a:solidFill>
          <a:ln w="6350">
            <a:solidFill>
              <a:srgbClr val="0A1F44"/>
            </a:solidFill>
            <a:prstDash val="solid"/>
          </a:ln>
        </p:spPr>
      </p:sp>
      <p:sp>
        <p:nvSpPr>
          <p:cNvPr id="29" name="Text 24"/>
          <p:cNvSpPr txBox="1"/>
          <p:nvPr/>
        </p:nvSpPr>
        <p:spPr>
          <a:xfrm>
            <a:off x="219194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Proof Creators</a:t>
            </a:r>
            <a:endParaRPr lang="en-US" sz="1050" dirty="0"/>
          </a:p>
        </p:txBody>
      </p:sp>
      <p:sp>
        <p:nvSpPr>
          <p:cNvPr id="30" name="Shape 25"/>
          <p:cNvSpPr/>
          <p:nvPr/>
        </p:nvSpPr>
        <p:spPr>
          <a:xfrm>
            <a:off x="4195137" y="1572768"/>
            <a:ext cx="603504" cy="603504"/>
          </a:xfrm>
          <a:prstGeom prst="ellipse">
            <a:avLst/>
          </a:prstGeom>
          <a:solidFill>
            <a:srgbClr val="0A1F44"/>
          </a:solidFill>
          <a:ln w="6350">
            <a:solidFill>
              <a:srgbClr val="0A1F44"/>
            </a:solidFill>
            <a:prstDash val="solid"/>
          </a:ln>
        </p:spPr>
      </p:sp>
      <p:pic>
        <p:nvPicPr>
          <p:cNvPr id="31" name="Image 3" descr="preencoded.png">    </p:cNvPr>
          <p:cNvPicPr>
            <a:picLocks noChangeAspect="1"/>
          </p:cNvPicPr>
          <p:nvPr/>
        </p:nvPicPr>
        <p:blipFill>
          <a:blip r:embed="rId4"/>
          <a:stretch>
            <a:fillRect/>
          </a:stretch>
        </p:blipFill>
        <p:spPr>
          <a:xfrm>
            <a:off x="4327907" y="1705539"/>
            <a:ext cx="337962" cy="337962"/>
          </a:xfrm>
          <a:prstGeom prst="rect">
            <a:avLst/>
          </a:prstGeom>
        </p:spPr>
      </p:pic>
      <p:sp>
        <p:nvSpPr>
          <p:cNvPr id="32" name="Text 26"/>
          <p:cNvSpPr txBox="1"/>
          <p:nvPr/>
        </p:nvSpPr>
        <p:spPr>
          <a:xfrm>
            <a:off x="374381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Cart</a:t>
            </a:r>
            <a:endParaRPr lang="en-US" sz="1200" dirty="0"/>
          </a:p>
        </p:txBody>
      </p:sp>
      <p:sp>
        <p:nvSpPr>
          <p:cNvPr id="33" name="Shape 27"/>
          <p:cNvSpPr/>
          <p:nvPr/>
        </p:nvSpPr>
        <p:spPr>
          <a:xfrm>
            <a:off x="3771247" y="2697480"/>
            <a:ext cx="1451283" cy="685800"/>
          </a:xfrm>
          <a:prstGeom prst="roundRect">
            <a:avLst>
              <a:gd name="adj" fmla="val 10667"/>
            </a:avLst>
          </a:prstGeom>
          <a:solidFill>
            <a:srgbClr val="EFF6FF"/>
          </a:solidFill>
          <a:ln w="6350">
            <a:solidFill>
              <a:srgbClr val="EFF6FF"/>
            </a:solidFill>
            <a:prstDash val="solid"/>
          </a:ln>
        </p:spPr>
      </p:sp>
      <p:sp>
        <p:nvSpPr>
          <p:cNvPr id="34" name="Text 28"/>
          <p:cNvSpPr txBox="1"/>
          <p:nvPr/>
        </p:nvSpPr>
        <p:spPr>
          <a:xfrm>
            <a:off x="380782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77% never order</a:t>
            </a:r>
            <a:endParaRPr lang="en-US" sz="1050" dirty="0"/>
          </a:p>
        </p:txBody>
      </p:sp>
      <p:sp>
        <p:nvSpPr>
          <p:cNvPr id="35" name="Text 29"/>
          <p:cNvSpPr txBox="1"/>
          <p:nvPr/>
        </p:nvSpPr>
        <p:spPr>
          <a:xfrm>
            <a:off x="374381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36" name="Text 30"/>
          <p:cNvSpPr txBox="1"/>
          <p:nvPr/>
        </p:nvSpPr>
        <p:spPr>
          <a:xfrm>
            <a:off x="374381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Unfinished task fades</a:t>
            </a:r>
            <a:endParaRPr lang="en-US" sz="1050" dirty="0"/>
          </a:p>
        </p:txBody>
      </p:sp>
      <p:sp>
        <p:nvSpPr>
          <p:cNvPr id="37" name="Shape 31"/>
          <p:cNvSpPr/>
          <p:nvPr/>
        </p:nvSpPr>
        <p:spPr>
          <a:xfrm>
            <a:off x="4387161" y="4297680"/>
            <a:ext cx="219456" cy="274320"/>
          </a:xfrm>
          <a:prstGeom prst="downArrow">
            <a:avLst/>
          </a:prstGeom>
          <a:solidFill>
            <a:srgbClr val="BFDBFE"/>
          </a:solidFill>
          <a:ln w="6350">
            <a:solidFill>
              <a:srgbClr val="BFDBFE"/>
            </a:solidFill>
            <a:prstDash val="solid"/>
          </a:ln>
        </p:spPr>
      </p:sp>
      <p:sp>
        <p:nvSpPr>
          <p:cNvPr id="38" name="Shape 32"/>
          <p:cNvSpPr/>
          <p:nvPr/>
        </p:nvSpPr>
        <p:spPr>
          <a:xfrm>
            <a:off x="3771247" y="4663440"/>
            <a:ext cx="1451283" cy="566928"/>
          </a:xfrm>
          <a:prstGeom prst="roundRect">
            <a:avLst>
              <a:gd name="adj" fmla="val 12903"/>
            </a:avLst>
          </a:prstGeom>
          <a:solidFill>
            <a:srgbClr val="0A1F44"/>
          </a:solidFill>
          <a:ln w="6350">
            <a:solidFill>
              <a:srgbClr val="0A1F44"/>
            </a:solidFill>
            <a:prstDash val="solid"/>
          </a:ln>
        </p:spPr>
      </p:sp>
      <p:sp>
        <p:nvSpPr>
          <p:cNvPr id="39" name="Text 33"/>
          <p:cNvSpPr txBox="1"/>
          <p:nvPr/>
        </p:nvSpPr>
        <p:spPr>
          <a:xfrm>
            <a:off x="378953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Saved Cart</a:t>
            </a:r>
            <a:endParaRPr lang="en-US" sz="1050" dirty="0"/>
          </a:p>
        </p:txBody>
      </p:sp>
      <p:sp>
        <p:nvSpPr>
          <p:cNvPr id="40" name="Shape 34"/>
          <p:cNvSpPr/>
          <p:nvPr/>
        </p:nvSpPr>
        <p:spPr>
          <a:xfrm>
            <a:off x="5792724" y="1572768"/>
            <a:ext cx="603504" cy="603504"/>
          </a:xfrm>
          <a:prstGeom prst="ellipse">
            <a:avLst/>
          </a:prstGeom>
          <a:solidFill>
            <a:srgbClr val="0A1F44"/>
          </a:solidFill>
          <a:ln w="6350">
            <a:solidFill>
              <a:srgbClr val="0A1F44"/>
            </a:solidFill>
            <a:prstDash val="solid"/>
          </a:ln>
        </p:spPr>
      </p:sp>
      <p:pic>
        <p:nvPicPr>
          <p:cNvPr id="41" name="Image 4" descr="preencoded.png">    </p:cNvPr>
          <p:cNvPicPr>
            <a:picLocks noChangeAspect="1"/>
          </p:cNvPicPr>
          <p:nvPr/>
        </p:nvPicPr>
        <p:blipFill>
          <a:blip r:embed="rId5"/>
          <a:stretch>
            <a:fillRect/>
          </a:stretch>
        </p:blipFill>
        <p:spPr>
          <a:xfrm>
            <a:off x="5925495" y="1705539"/>
            <a:ext cx="337962" cy="337962"/>
          </a:xfrm>
          <a:prstGeom prst="rect">
            <a:avLst/>
          </a:prstGeom>
        </p:spPr>
      </p:pic>
      <p:sp>
        <p:nvSpPr>
          <p:cNvPr id="42" name="Text 35"/>
          <p:cNvSpPr txBox="1"/>
          <p:nvPr/>
        </p:nvSpPr>
        <p:spPr>
          <a:xfrm>
            <a:off x="5341402"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Checkout</a:t>
            </a:r>
            <a:endParaRPr lang="en-US" sz="1200" dirty="0"/>
          </a:p>
        </p:txBody>
      </p:sp>
      <p:sp>
        <p:nvSpPr>
          <p:cNvPr id="43" name="Shape 36"/>
          <p:cNvSpPr/>
          <p:nvPr/>
        </p:nvSpPr>
        <p:spPr>
          <a:xfrm>
            <a:off x="5368834" y="2697480"/>
            <a:ext cx="1451283" cy="685800"/>
          </a:xfrm>
          <a:prstGeom prst="roundRect">
            <a:avLst>
              <a:gd name="adj" fmla="val 10667"/>
            </a:avLst>
          </a:prstGeom>
          <a:solidFill>
            <a:srgbClr val="EFF6FF"/>
          </a:solidFill>
          <a:ln w="6350">
            <a:solidFill>
              <a:srgbClr val="EFF6FF"/>
            </a:solidFill>
            <a:prstDash val="solid"/>
          </a:ln>
        </p:spPr>
      </p:sp>
      <p:sp>
        <p:nvSpPr>
          <p:cNvPr id="44" name="Text 37"/>
          <p:cNvSpPr txBox="1"/>
          <p:nvPr/>
        </p:nvSpPr>
        <p:spPr>
          <a:xfrm>
            <a:off x="5405410"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App 27.1% vs web 22.7%</a:t>
            </a:r>
            <a:endParaRPr lang="en-US" sz="1050" dirty="0"/>
          </a:p>
        </p:txBody>
      </p:sp>
      <p:sp>
        <p:nvSpPr>
          <p:cNvPr id="45" name="Text 38"/>
          <p:cNvSpPr txBox="1"/>
          <p:nvPr/>
        </p:nvSpPr>
        <p:spPr>
          <a:xfrm>
            <a:off x="5341402"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46" name="Text 39"/>
          <p:cNvSpPr txBox="1"/>
          <p:nvPr/>
        </p:nvSpPr>
        <p:spPr>
          <a:xfrm>
            <a:off x="5341402"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Default effect</a:t>
            </a:r>
            <a:endParaRPr lang="en-US" sz="1050" dirty="0"/>
          </a:p>
        </p:txBody>
      </p:sp>
      <p:sp>
        <p:nvSpPr>
          <p:cNvPr id="47" name="Shape 40"/>
          <p:cNvSpPr/>
          <p:nvPr/>
        </p:nvSpPr>
        <p:spPr>
          <a:xfrm>
            <a:off x="5984748" y="4297680"/>
            <a:ext cx="219456" cy="274320"/>
          </a:xfrm>
          <a:prstGeom prst="downArrow">
            <a:avLst/>
          </a:prstGeom>
          <a:solidFill>
            <a:srgbClr val="BFDBFE"/>
          </a:solidFill>
          <a:ln w="6350">
            <a:solidFill>
              <a:srgbClr val="BFDBFE"/>
            </a:solidFill>
            <a:prstDash val="solid"/>
          </a:ln>
        </p:spPr>
      </p:sp>
      <p:sp>
        <p:nvSpPr>
          <p:cNvPr id="48" name="Shape 41"/>
          <p:cNvSpPr/>
          <p:nvPr/>
        </p:nvSpPr>
        <p:spPr>
          <a:xfrm>
            <a:off x="5368834" y="4663440"/>
            <a:ext cx="1451283" cy="566928"/>
          </a:xfrm>
          <a:prstGeom prst="roundRect">
            <a:avLst>
              <a:gd name="adj" fmla="val 12903"/>
            </a:avLst>
          </a:prstGeom>
          <a:solidFill>
            <a:srgbClr val="0A1F44"/>
          </a:solidFill>
          <a:ln w="6350">
            <a:solidFill>
              <a:srgbClr val="0A1F44"/>
            </a:solidFill>
            <a:prstDash val="solid"/>
          </a:ln>
        </p:spPr>
      </p:sp>
      <p:sp>
        <p:nvSpPr>
          <p:cNvPr id="49" name="Text 42"/>
          <p:cNvSpPr txBox="1"/>
          <p:nvPr/>
        </p:nvSpPr>
        <p:spPr>
          <a:xfrm>
            <a:off x="5387122"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Track It in the App</a:t>
            </a:r>
            <a:endParaRPr lang="en-US" sz="1050" dirty="0"/>
          </a:p>
        </p:txBody>
      </p:sp>
      <p:sp>
        <p:nvSpPr>
          <p:cNvPr id="50" name="Shape 43"/>
          <p:cNvSpPr/>
          <p:nvPr/>
        </p:nvSpPr>
        <p:spPr>
          <a:xfrm>
            <a:off x="7390311" y="1572768"/>
            <a:ext cx="603504" cy="603504"/>
          </a:xfrm>
          <a:prstGeom prst="ellipse">
            <a:avLst/>
          </a:prstGeom>
          <a:solidFill>
            <a:srgbClr val="1D4ED8"/>
          </a:solidFill>
          <a:ln w="6350">
            <a:solidFill>
              <a:srgbClr val="1D4ED8"/>
            </a:solidFill>
            <a:prstDash val="solid"/>
          </a:ln>
        </p:spPr>
      </p:sp>
      <p:pic>
        <p:nvPicPr>
          <p:cNvPr id="51" name="Image 5" descr="preencoded.png">    </p:cNvPr>
          <p:cNvPicPr>
            <a:picLocks noChangeAspect="1"/>
          </p:cNvPicPr>
          <p:nvPr/>
        </p:nvPicPr>
        <p:blipFill>
          <a:blip r:embed="rId6"/>
          <a:stretch>
            <a:fillRect/>
          </a:stretch>
        </p:blipFill>
        <p:spPr>
          <a:xfrm>
            <a:off x="7523082" y="1705539"/>
            <a:ext cx="337962" cy="337962"/>
          </a:xfrm>
          <a:prstGeom prst="rect">
            <a:avLst/>
          </a:prstGeom>
        </p:spPr>
      </p:pic>
      <p:sp>
        <p:nvSpPr>
          <p:cNvPr id="52" name="Text 44"/>
          <p:cNvSpPr txBox="1"/>
          <p:nvPr/>
        </p:nvSpPr>
        <p:spPr>
          <a:xfrm>
            <a:off x="693899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Delivery</a:t>
            </a:r>
            <a:endParaRPr lang="en-US" sz="1200" dirty="0"/>
          </a:p>
        </p:txBody>
      </p:sp>
      <p:sp>
        <p:nvSpPr>
          <p:cNvPr id="53" name="Shape 45"/>
          <p:cNvSpPr/>
          <p:nvPr/>
        </p:nvSpPr>
        <p:spPr>
          <a:xfrm>
            <a:off x="6966422" y="2697480"/>
            <a:ext cx="1451283" cy="685800"/>
          </a:xfrm>
          <a:prstGeom prst="roundRect">
            <a:avLst>
              <a:gd name="adj" fmla="val 10667"/>
            </a:avLst>
          </a:prstGeom>
          <a:solidFill>
            <a:srgbClr val="EFF6FF"/>
          </a:solidFill>
          <a:ln w="6350">
            <a:solidFill>
              <a:srgbClr val="EFF6FF"/>
            </a:solidFill>
            <a:prstDash val="solid"/>
          </a:ln>
        </p:spPr>
      </p:sp>
      <p:sp>
        <p:nvSpPr>
          <p:cNvPr id="54" name="Text 46"/>
          <p:cNvSpPr txBox="1"/>
          <p:nvPr/>
        </p:nvSpPr>
        <p:spPr>
          <a:xfrm>
            <a:off x="700299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24.5% engage (A2)</a:t>
            </a:r>
            <a:endParaRPr lang="en-US" sz="1050" dirty="0"/>
          </a:p>
        </p:txBody>
      </p:sp>
      <p:sp>
        <p:nvSpPr>
          <p:cNvPr id="55" name="Text 47"/>
          <p:cNvSpPr txBox="1"/>
          <p:nvPr/>
        </p:nvSpPr>
        <p:spPr>
          <a:xfrm>
            <a:off x="693899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56" name="Text 48"/>
          <p:cNvSpPr txBox="1"/>
          <p:nvPr/>
        </p:nvSpPr>
        <p:spPr>
          <a:xfrm>
            <a:off x="693899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Peak-end, endowment</a:t>
            </a:r>
            <a:endParaRPr lang="en-US" sz="1050" dirty="0"/>
          </a:p>
        </p:txBody>
      </p:sp>
      <p:sp>
        <p:nvSpPr>
          <p:cNvPr id="57" name="Shape 49"/>
          <p:cNvSpPr/>
          <p:nvPr/>
        </p:nvSpPr>
        <p:spPr>
          <a:xfrm>
            <a:off x="7582335" y="4297680"/>
            <a:ext cx="219456" cy="274320"/>
          </a:xfrm>
          <a:prstGeom prst="downArrow">
            <a:avLst/>
          </a:prstGeom>
          <a:solidFill>
            <a:srgbClr val="BFDBFE"/>
          </a:solidFill>
          <a:ln w="6350">
            <a:solidFill>
              <a:srgbClr val="BFDBFE"/>
            </a:solidFill>
            <a:prstDash val="solid"/>
          </a:ln>
        </p:spPr>
      </p:sp>
      <p:sp>
        <p:nvSpPr>
          <p:cNvPr id="58" name="Shape 50"/>
          <p:cNvSpPr/>
          <p:nvPr/>
        </p:nvSpPr>
        <p:spPr>
          <a:xfrm>
            <a:off x="6966422" y="4663440"/>
            <a:ext cx="1451283" cy="566928"/>
          </a:xfrm>
          <a:prstGeom prst="roundRect">
            <a:avLst>
              <a:gd name="adj" fmla="val 12903"/>
            </a:avLst>
          </a:prstGeom>
          <a:solidFill>
            <a:srgbClr val="0A1F44"/>
          </a:solidFill>
          <a:ln w="6350">
            <a:solidFill>
              <a:srgbClr val="0A1F44"/>
            </a:solidFill>
            <a:prstDash val="solid"/>
          </a:ln>
        </p:spPr>
      </p:sp>
      <p:sp>
        <p:nvSpPr>
          <p:cNvPr id="59" name="Text 51"/>
          <p:cNvSpPr txBox="1"/>
          <p:nvPr/>
        </p:nvSpPr>
        <p:spPr>
          <a:xfrm>
            <a:off x="698471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Quince Passport</a:t>
            </a:r>
            <a:endParaRPr lang="en-US" sz="1050" dirty="0"/>
          </a:p>
        </p:txBody>
      </p:sp>
      <p:sp>
        <p:nvSpPr>
          <p:cNvPr id="60" name="Shape 52"/>
          <p:cNvSpPr/>
          <p:nvPr/>
        </p:nvSpPr>
        <p:spPr>
          <a:xfrm>
            <a:off x="8987899" y="1572768"/>
            <a:ext cx="603504" cy="60350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9120670" y="1705539"/>
            <a:ext cx="337962" cy="337962"/>
          </a:xfrm>
          <a:prstGeom prst="rect">
            <a:avLst/>
          </a:prstGeom>
        </p:spPr>
      </p:pic>
      <p:sp>
        <p:nvSpPr>
          <p:cNvPr id="62" name="Text 53"/>
          <p:cNvSpPr txBox="1"/>
          <p:nvPr/>
        </p:nvSpPr>
        <p:spPr>
          <a:xfrm>
            <a:off x="853657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0–30</a:t>
            </a:r>
            <a:endParaRPr lang="en-US" sz="1200" dirty="0"/>
          </a:p>
        </p:txBody>
      </p:sp>
      <p:sp>
        <p:nvSpPr>
          <p:cNvPr id="63" name="Shape 54"/>
          <p:cNvSpPr/>
          <p:nvPr/>
        </p:nvSpPr>
        <p:spPr>
          <a:xfrm>
            <a:off x="8564009" y="2697480"/>
            <a:ext cx="1451283" cy="685800"/>
          </a:xfrm>
          <a:prstGeom prst="roundRect">
            <a:avLst>
              <a:gd name="adj" fmla="val 10667"/>
            </a:avLst>
          </a:prstGeom>
          <a:solidFill>
            <a:srgbClr val="EFF6FF"/>
          </a:solidFill>
          <a:ln w="6350">
            <a:solidFill>
              <a:srgbClr val="EFF6FF"/>
            </a:solidFill>
            <a:prstDash val="solid"/>
          </a:ln>
        </p:spPr>
      </p:sp>
      <p:sp>
        <p:nvSpPr>
          <p:cNvPr id="64" name="Text 55"/>
          <p:cNvSpPr txBox="1"/>
          <p:nvPr/>
        </p:nvSpPr>
        <p:spPr>
          <a:xfrm>
            <a:off x="860058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Week-2 peak 5.6%</a:t>
            </a:r>
            <a:endParaRPr lang="en-US" sz="1050" dirty="0"/>
          </a:p>
        </p:txBody>
      </p:sp>
      <p:sp>
        <p:nvSpPr>
          <p:cNvPr id="65" name="Text 56"/>
          <p:cNvSpPr txBox="1"/>
          <p:nvPr/>
        </p:nvSpPr>
        <p:spPr>
          <a:xfrm>
            <a:off x="853657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66" name="Text 57"/>
          <p:cNvSpPr txBox="1"/>
          <p:nvPr/>
        </p:nvSpPr>
        <p:spPr>
          <a:xfrm>
            <a:off x="853657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Habit formation</a:t>
            </a:r>
            <a:endParaRPr lang="en-US" sz="1050" dirty="0"/>
          </a:p>
        </p:txBody>
      </p:sp>
      <p:sp>
        <p:nvSpPr>
          <p:cNvPr id="67" name="Shape 58"/>
          <p:cNvSpPr/>
          <p:nvPr/>
        </p:nvSpPr>
        <p:spPr>
          <a:xfrm>
            <a:off x="9179923" y="4297680"/>
            <a:ext cx="219456" cy="274320"/>
          </a:xfrm>
          <a:prstGeom prst="downArrow">
            <a:avLst/>
          </a:prstGeom>
          <a:solidFill>
            <a:srgbClr val="BFDBFE"/>
          </a:solidFill>
          <a:ln w="6350">
            <a:solidFill>
              <a:srgbClr val="BFDBFE"/>
            </a:solidFill>
            <a:prstDash val="solid"/>
          </a:ln>
        </p:spPr>
      </p:sp>
      <p:sp>
        <p:nvSpPr>
          <p:cNvPr id="68" name="Shape 59"/>
          <p:cNvSpPr/>
          <p:nvPr/>
        </p:nvSpPr>
        <p:spPr>
          <a:xfrm>
            <a:off x="8564009" y="4663440"/>
            <a:ext cx="1451283" cy="566928"/>
          </a:xfrm>
          <a:prstGeom prst="roundRect">
            <a:avLst>
              <a:gd name="adj" fmla="val 12903"/>
            </a:avLst>
          </a:prstGeom>
          <a:solidFill>
            <a:srgbClr val="0A1F44"/>
          </a:solidFill>
          <a:ln w="6350">
            <a:solidFill>
              <a:srgbClr val="0A1F44"/>
            </a:solidFill>
            <a:prstDash val="solid"/>
          </a:ln>
        </p:spPr>
      </p:sp>
      <p:sp>
        <p:nvSpPr>
          <p:cNvPr id="69" name="Text 60"/>
          <p:cNvSpPr txBox="1"/>
          <p:nvPr/>
        </p:nvSpPr>
        <p:spPr>
          <a:xfrm>
            <a:off x="858229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Care Calendar</a:t>
            </a:r>
            <a:endParaRPr lang="en-US" sz="1050" dirty="0"/>
          </a:p>
        </p:txBody>
      </p:sp>
      <p:sp>
        <p:nvSpPr>
          <p:cNvPr id="70" name="Shape 61"/>
          <p:cNvSpPr/>
          <p:nvPr/>
        </p:nvSpPr>
        <p:spPr>
          <a:xfrm>
            <a:off x="10585486" y="1572768"/>
            <a:ext cx="603504" cy="603504"/>
          </a:xfrm>
          <a:prstGeom prst="ellipse">
            <a:avLst/>
          </a:prstGeom>
          <a:solidFill>
            <a:srgbClr val="1D4ED8"/>
          </a:solidFill>
          <a:ln w="6350">
            <a:solidFill>
              <a:srgbClr val="1D4ED8"/>
            </a:solidFill>
            <a:prstDash val="solid"/>
          </a:ln>
        </p:spPr>
      </p:sp>
      <p:pic>
        <p:nvPicPr>
          <p:cNvPr id="71" name="Image 7" descr="preencoded.png">    </p:cNvPr>
          <p:cNvPicPr>
            <a:picLocks noChangeAspect="1"/>
          </p:cNvPicPr>
          <p:nvPr/>
        </p:nvPicPr>
        <p:blipFill>
          <a:blip r:embed="rId8"/>
          <a:stretch>
            <a:fillRect/>
          </a:stretch>
        </p:blipFill>
        <p:spPr>
          <a:xfrm>
            <a:off x="10718257" y="1705539"/>
            <a:ext cx="337962" cy="337962"/>
          </a:xfrm>
          <a:prstGeom prst="rect">
            <a:avLst/>
          </a:prstGeom>
        </p:spPr>
      </p:pic>
      <p:sp>
        <p:nvSpPr>
          <p:cNvPr id="72" name="Text 62"/>
          <p:cNvSpPr txBox="1"/>
          <p:nvPr/>
        </p:nvSpPr>
        <p:spPr>
          <a:xfrm>
            <a:off x="1013416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30–90</a:t>
            </a:r>
            <a:endParaRPr lang="en-US" sz="1200" dirty="0"/>
          </a:p>
        </p:txBody>
      </p:sp>
      <p:sp>
        <p:nvSpPr>
          <p:cNvPr id="73" name="Shape 63"/>
          <p:cNvSpPr/>
          <p:nvPr/>
        </p:nvSpPr>
        <p:spPr>
          <a:xfrm>
            <a:off x="10161597" y="2697480"/>
            <a:ext cx="1451283" cy="685800"/>
          </a:xfrm>
          <a:prstGeom prst="roundRect">
            <a:avLst>
              <a:gd name="adj" fmla="val 10667"/>
            </a:avLst>
          </a:prstGeom>
          <a:solidFill>
            <a:srgbClr val="EFF6FF"/>
          </a:solidFill>
          <a:ln w="6350">
            <a:solidFill>
              <a:srgbClr val="EFF6FF"/>
            </a:solidFill>
            <a:prstDash val="solid"/>
          </a:ln>
        </p:spPr>
      </p:sp>
      <p:sp>
        <p:nvSpPr>
          <p:cNvPr id="74" name="Text 64"/>
          <p:cNvSpPr txBox="1"/>
          <p:nvPr/>
        </p:nvSpPr>
        <p:spPr>
          <a:xfrm>
            <a:off x="1019817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Cashmere 13.7%</a:t>
            </a:r>
            <a:endParaRPr lang="en-US" sz="1050" dirty="0"/>
          </a:p>
        </p:txBody>
      </p:sp>
      <p:sp>
        <p:nvSpPr>
          <p:cNvPr id="75" name="Text 65"/>
          <p:cNvSpPr txBox="1"/>
          <p:nvPr/>
        </p:nvSpPr>
        <p:spPr>
          <a:xfrm>
            <a:off x="1013416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76" name="Text 66"/>
          <p:cNvSpPr txBox="1"/>
          <p:nvPr/>
        </p:nvSpPr>
        <p:spPr>
          <a:xfrm>
            <a:off x="1013416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Mental accounting</a:t>
            </a:r>
            <a:endParaRPr lang="en-US" sz="1050" dirty="0"/>
          </a:p>
        </p:txBody>
      </p:sp>
      <p:sp>
        <p:nvSpPr>
          <p:cNvPr id="77" name="Shape 67"/>
          <p:cNvSpPr/>
          <p:nvPr/>
        </p:nvSpPr>
        <p:spPr>
          <a:xfrm>
            <a:off x="10777510" y="4297680"/>
            <a:ext cx="219456" cy="274320"/>
          </a:xfrm>
          <a:prstGeom prst="downArrow">
            <a:avLst/>
          </a:prstGeom>
          <a:solidFill>
            <a:srgbClr val="BFDBFE"/>
          </a:solidFill>
          <a:ln w="6350">
            <a:solidFill>
              <a:srgbClr val="BFDBFE"/>
            </a:solidFill>
            <a:prstDash val="solid"/>
          </a:ln>
        </p:spPr>
      </p:sp>
      <p:sp>
        <p:nvSpPr>
          <p:cNvPr id="78" name="Shape 68"/>
          <p:cNvSpPr/>
          <p:nvPr/>
        </p:nvSpPr>
        <p:spPr>
          <a:xfrm>
            <a:off x="10161597" y="4663440"/>
            <a:ext cx="1451283" cy="566928"/>
          </a:xfrm>
          <a:prstGeom prst="roundRect">
            <a:avLst>
              <a:gd name="adj" fmla="val 12903"/>
            </a:avLst>
          </a:prstGeom>
          <a:solidFill>
            <a:srgbClr val="0A1F44"/>
          </a:solidFill>
          <a:ln w="6350">
            <a:solidFill>
              <a:srgbClr val="0A1F44"/>
            </a:solidFill>
            <a:prstDash val="solid"/>
          </a:ln>
        </p:spPr>
      </p:sp>
      <p:sp>
        <p:nvSpPr>
          <p:cNvPr id="79" name="Text 69"/>
          <p:cNvSpPr txBox="1"/>
          <p:nvPr/>
        </p:nvSpPr>
        <p:spPr>
          <a:xfrm>
            <a:off x="1017988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Material Journeys</a:t>
            </a:r>
            <a:endParaRPr lang="en-US" sz="1050" dirty="0"/>
          </a:p>
        </p:txBody>
      </p:sp>
      <p:sp>
        <p:nvSpPr>
          <p:cNvPr id="80" name="Shape 70"/>
          <p:cNvSpPr/>
          <p:nvPr/>
        </p:nvSpPr>
        <p:spPr>
          <a:xfrm>
            <a:off x="502920" y="5742432"/>
            <a:ext cx="11183112" cy="512064"/>
          </a:xfrm>
          <a:prstGeom prst="roundRect">
            <a:avLst>
              <a:gd name="adj" fmla="val 17857"/>
            </a:avLst>
          </a:prstGeom>
          <a:solidFill>
            <a:srgbClr val="EFF6FF"/>
          </a:solidFill>
          <a:ln w="6350">
            <a:solidFill>
              <a:srgbClr val="EFF6FF"/>
            </a:solidFill>
            <a:prstDash val="solid"/>
          </a:ln>
        </p:spPr>
      </p:sp>
      <p:sp>
        <p:nvSpPr>
          <p:cNvPr id="81" name="Shape 71"/>
          <p:cNvSpPr/>
          <p:nvPr/>
        </p:nvSpPr>
        <p:spPr>
          <a:xfrm>
            <a:off x="640080" y="5833872"/>
            <a:ext cx="329184" cy="329184"/>
          </a:xfrm>
          <a:prstGeom prst="ellipse">
            <a:avLst/>
          </a:prstGeom>
          <a:solidFill>
            <a:srgbClr val="1D4ED8"/>
          </a:solidFill>
          <a:ln w="6350">
            <a:solidFill>
              <a:srgbClr val="1D4ED8"/>
            </a:solidFill>
            <a:prstDash val="solid"/>
          </a:ln>
        </p:spPr>
      </p:sp>
      <p:pic>
        <p:nvPicPr>
          <p:cNvPr id="82" name="Image 8" descr="preencoded.png">    </p:cNvPr>
          <p:cNvPicPr>
            <a:picLocks noChangeAspect="1"/>
          </p:cNvPicPr>
          <p:nvPr/>
        </p:nvPicPr>
        <p:blipFill>
          <a:blip r:embed="rId9"/>
          <a:stretch>
            <a:fillRect/>
          </a:stretch>
        </p:blipFill>
        <p:spPr>
          <a:xfrm>
            <a:off x="712500" y="5906292"/>
            <a:ext cx="184343" cy="184343"/>
          </a:xfrm>
          <a:prstGeom prst="rect">
            <a:avLst/>
          </a:prstGeom>
        </p:spPr>
      </p:pic>
      <p:sp>
        <p:nvSpPr>
          <p:cNvPr id="83" name="Text 72"/>
          <p:cNvSpPr txBox="1"/>
          <p:nvPr/>
        </p:nvSpPr>
        <p:spPr>
          <a:xfrm>
            <a:off x="1097280" y="5742432"/>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Trust peaks when the parcel opens: Quince asks for the relationship then, and never with a discount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cart adder follows exactly one path, owned first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segments (A1, A2, A4, A6, Cohort Table); team targeting design. Message timings are pilot design choices, tested against the holdout.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17</a:t>
            </a:r>
            <a:endParaRPr lang="en-US" sz="800" dirty="0"/>
          </a:p>
        </p:txBody>
      </p:sp>
      <p:sp>
        <p:nvSpPr>
          <p:cNvPr id="9" name="Shape 6"/>
          <p:cNvSpPr/>
          <p:nvPr/>
        </p:nvSpPr>
        <p:spPr>
          <a:xfrm>
            <a:off x="502920" y="2816352"/>
            <a:ext cx="1280160" cy="594360"/>
          </a:xfrm>
          <a:prstGeom prst="roundRect">
            <a:avLst>
              <a:gd name="adj" fmla="val 12308"/>
            </a:avLst>
          </a:prstGeom>
          <a:solidFill>
            <a:srgbClr val="0A1F44"/>
          </a:solidFill>
          <a:ln w="15875">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12648" y="2985516"/>
            <a:ext cx="256032" cy="256032"/>
          </a:xfrm>
          <a:prstGeom prst="rect">
            <a:avLst/>
          </a:prstGeom>
        </p:spPr>
      </p:pic>
      <p:sp>
        <p:nvSpPr>
          <p:cNvPr id="11" name="Text 7"/>
          <p:cNvSpPr txBox="1"/>
          <p:nvPr/>
        </p:nvSpPr>
        <p:spPr>
          <a:xfrm>
            <a:off x="960120" y="2816352"/>
            <a:ext cx="749808" cy="594360"/>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Shopper adds to cart</a:t>
            </a:r>
            <a:endParaRPr lang="en-US" sz="1050" dirty="0"/>
          </a:p>
        </p:txBody>
      </p:sp>
      <p:sp>
        <p:nvSpPr>
          <p:cNvPr id="12" name="Shape 8"/>
          <p:cNvSpPr/>
          <p:nvPr/>
        </p:nvSpPr>
        <p:spPr>
          <a:xfrm>
            <a:off x="1874520" y="2743200"/>
            <a:ext cx="1005840" cy="731520"/>
          </a:xfrm>
          <a:prstGeom prst="diamond">
            <a:avLst/>
          </a:prstGeom>
          <a:solidFill>
            <a:srgbClr val="FFFFFF"/>
          </a:solidFill>
          <a:ln w="15875">
            <a:solidFill>
              <a:srgbClr val="0A1F44"/>
            </a:solidFill>
            <a:prstDash val="solid"/>
          </a:ln>
        </p:spPr>
      </p:sp>
      <p:sp>
        <p:nvSpPr>
          <p:cNvPr id="13" name="Text 9"/>
          <p:cNvSpPr txBox="1"/>
          <p:nvPr/>
        </p:nvSpPr>
        <p:spPr>
          <a:xfrm>
            <a:off x="1984248" y="2743200"/>
            <a:ext cx="786384" cy="73152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Orders?</a:t>
            </a:r>
            <a:endParaRPr lang="en-US" sz="900" dirty="0"/>
          </a:p>
        </p:txBody>
      </p:sp>
      <p:sp>
        <p:nvSpPr>
          <p:cNvPr id="14" name="Shape 10"/>
          <p:cNvSpPr/>
          <p:nvPr/>
        </p:nvSpPr>
        <p:spPr>
          <a:xfrm>
            <a:off x="1783080" y="3108960"/>
            <a:ext cx="91440" cy="0"/>
          </a:xfrm>
          <a:prstGeom prst="line">
            <a:avLst/>
          </a:prstGeom>
          <a:noFill/>
          <a:ln w="15875">
            <a:solidFill>
              <a:srgbClr val="0A1F44"/>
            </a:solidFill>
            <a:prstDash val="solid"/>
            <a:tailEnd type="triangle"/>
          </a:ln>
        </p:spPr>
      </p:sp>
      <p:sp>
        <p:nvSpPr>
          <p:cNvPr id="15" name="Shape 11"/>
          <p:cNvSpPr/>
          <p:nvPr/>
        </p:nvSpPr>
        <p:spPr>
          <a:xfrm>
            <a:off x="2377440" y="1901952"/>
            <a:ext cx="0" cy="841248"/>
          </a:xfrm>
          <a:prstGeom prst="line">
            <a:avLst/>
          </a:prstGeom>
          <a:noFill/>
          <a:ln w="15875">
            <a:solidFill>
              <a:srgbClr val="0A1F44"/>
            </a:solidFill>
            <a:prstDash val="solid"/>
          </a:ln>
        </p:spPr>
      </p:sp>
      <p:sp>
        <p:nvSpPr>
          <p:cNvPr id="16" name="Shape 12"/>
          <p:cNvSpPr/>
          <p:nvPr/>
        </p:nvSpPr>
        <p:spPr>
          <a:xfrm>
            <a:off x="2377440" y="1901952"/>
            <a:ext cx="667512" cy="0"/>
          </a:xfrm>
          <a:prstGeom prst="line">
            <a:avLst/>
          </a:prstGeom>
          <a:noFill/>
          <a:ln w="15875">
            <a:solidFill>
              <a:srgbClr val="0A1F44"/>
            </a:solidFill>
            <a:prstDash val="solid"/>
            <a:tailEnd type="triangle"/>
          </a:ln>
        </p:spPr>
      </p:sp>
      <p:sp>
        <p:nvSpPr>
          <p:cNvPr id="17" name="Text 13"/>
          <p:cNvSpPr txBox="1"/>
          <p:nvPr/>
        </p:nvSpPr>
        <p:spPr>
          <a:xfrm>
            <a:off x="2450592" y="2240280"/>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18" name="Shape 14"/>
          <p:cNvSpPr/>
          <p:nvPr/>
        </p:nvSpPr>
        <p:spPr>
          <a:xfrm>
            <a:off x="3044952" y="1517904"/>
            <a:ext cx="2167128" cy="768096"/>
          </a:xfrm>
          <a:prstGeom prst="roundRect">
            <a:avLst>
              <a:gd name="adj" fmla="val 9524"/>
            </a:avLst>
          </a:prstGeom>
          <a:solidFill>
            <a:srgbClr val="EFF6FF"/>
          </a:solidFill>
          <a:ln w="15875">
            <a:solidFill>
              <a:srgbClr val="1D4ED8"/>
            </a:solidFill>
            <a:prstDash val="solid"/>
          </a:ln>
        </p:spPr>
      </p:sp>
      <p:pic>
        <p:nvPicPr>
          <p:cNvPr id="19" name="Image 2" descr="preencoded.png">    </p:cNvPr>
          <p:cNvPicPr>
            <a:picLocks noChangeAspect="1"/>
          </p:cNvPicPr>
          <p:nvPr/>
        </p:nvPicPr>
        <p:blipFill>
          <a:blip r:embed="rId3"/>
          <a:stretch>
            <a:fillRect/>
          </a:stretch>
        </p:blipFill>
        <p:spPr>
          <a:xfrm>
            <a:off x="3154680" y="1773936"/>
            <a:ext cx="256032" cy="256032"/>
          </a:xfrm>
          <a:prstGeom prst="rect">
            <a:avLst/>
          </a:prstGeom>
        </p:spPr>
      </p:pic>
      <p:sp>
        <p:nvSpPr>
          <p:cNvPr id="20" name="Text 15"/>
          <p:cNvSpPr txBox="1"/>
          <p:nvPr/>
        </p:nvSpPr>
        <p:spPr>
          <a:xfrm>
            <a:off x="3502152" y="1517904"/>
            <a:ext cx="1636776"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Order ships</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Passport card in the box; tracking opens in the app</a:t>
            </a:r>
            <a:endParaRPr lang="en-US" sz="1050" dirty="0"/>
          </a:p>
        </p:txBody>
      </p:sp>
      <p:sp>
        <p:nvSpPr>
          <p:cNvPr id="21" name="Shape 16"/>
          <p:cNvSpPr/>
          <p:nvPr/>
        </p:nvSpPr>
        <p:spPr>
          <a:xfrm>
            <a:off x="4114800" y="2286000"/>
            <a:ext cx="0" cy="118872"/>
          </a:xfrm>
          <a:prstGeom prst="line">
            <a:avLst/>
          </a:prstGeom>
          <a:noFill/>
          <a:ln w="15875">
            <a:solidFill>
              <a:srgbClr val="DC2626"/>
            </a:solidFill>
            <a:prstDash val="solid"/>
            <a:tailEnd type="triangle"/>
          </a:ln>
        </p:spPr>
      </p:sp>
      <p:sp>
        <p:nvSpPr>
          <p:cNvPr id="22" name="Shape 17"/>
          <p:cNvSpPr/>
          <p:nvPr/>
        </p:nvSpPr>
        <p:spPr>
          <a:xfrm>
            <a:off x="3044952" y="2395728"/>
            <a:ext cx="2167128" cy="457200"/>
          </a:xfrm>
          <a:prstGeom prst="roundRect">
            <a:avLst>
              <a:gd name="adj" fmla="val 16000"/>
            </a:avLst>
          </a:prstGeom>
          <a:solidFill>
            <a:srgbClr val="FEF2F2"/>
          </a:solidFill>
          <a:ln w="15875">
            <a:solidFill>
              <a:srgbClr val="DC2626"/>
            </a:solidFill>
            <a:prstDash val="solid"/>
          </a:ln>
        </p:spPr>
      </p:sp>
      <p:pic>
        <p:nvPicPr>
          <p:cNvPr id="23" name="Image 3" descr="preencoded.png">    </p:cNvPr>
          <p:cNvPicPr>
            <a:picLocks noChangeAspect="1"/>
          </p:cNvPicPr>
          <p:nvPr/>
        </p:nvPicPr>
        <p:blipFill>
          <a:blip r:embed="rId4"/>
          <a:stretch>
            <a:fillRect/>
          </a:stretch>
        </p:blipFill>
        <p:spPr>
          <a:xfrm>
            <a:off x="3154680" y="2496312"/>
            <a:ext cx="256032" cy="256032"/>
          </a:xfrm>
          <a:prstGeom prst="rect">
            <a:avLst/>
          </a:prstGeom>
        </p:spPr>
      </p:pic>
      <p:sp>
        <p:nvSpPr>
          <p:cNvPr id="24" name="Text 18"/>
          <p:cNvSpPr txBox="1"/>
          <p:nvPr/>
        </p:nvSpPr>
        <p:spPr>
          <a:xfrm>
            <a:off x="3502152" y="2395728"/>
            <a:ext cx="1636776" cy="457200"/>
          </a:xfrm>
          <a:prstGeom prst="rect">
            <a:avLst/>
          </a:prstGeom>
          <a:noFill/>
          <a:ln/>
        </p:spPr>
        <p:txBody>
          <a:bodyPr wrap="square" lIns="0" tIns="0" rIns="0" bIns="0" rtlCol="0" anchor="ctr"/>
          <a:lstStyle/>
          <a:p>
            <a:pPr indent="0" marL="0">
              <a:buNone/>
            </a:pPr>
            <a:r>
              <a:rPr lang="en-US" sz="1050" b="1" dirty="0">
                <a:solidFill>
                  <a:srgbClr val="DC2626"/>
                </a:solidFill>
                <a:latin typeface="Inter" pitchFamily="34" charset="0"/>
                <a:ea typeface="Inter" pitchFamily="34" charset="-122"/>
                <a:cs typeface="Inter" pitchFamily="34" charset="-120"/>
              </a:rPr>
              <a:t>Off retargeting; max one reminder</a:t>
            </a:r>
            <a:endParaRPr lang="en-US" sz="1050" dirty="0"/>
          </a:p>
        </p:txBody>
      </p:sp>
      <p:sp>
        <p:nvSpPr>
          <p:cNvPr id="25" name="Shape 19"/>
          <p:cNvSpPr/>
          <p:nvPr/>
        </p:nvSpPr>
        <p:spPr>
          <a:xfrm>
            <a:off x="5445252" y="1490472"/>
            <a:ext cx="1325880" cy="822960"/>
          </a:xfrm>
          <a:prstGeom prst="diamond">
            <a:avLst/>
          </a:prstGeom>
          <a:solidFill>
            <a:srgbClr val="FFFFFF"/>
          </a:solidFill>
          <a:ln w="15875">
            <a:solidFill>
              <a:srgbClr val="0A1F44"/>
            </a:solidFill>
            <a:prstDash val="solid"/>
          </a:ln>
        </p:spPr>
      </p:sp>
      <p:sp>
        <p:nvSpPr>
          <p:cNvPr id="26" name="Text 20"/>
          <p:cNvSpPr txBox="1"/>
          <p:nvPr/>
        </p:nvSpPr>
        <p:spPr>
          <a:xfrm>
            <a:off x="5554980" y="1490472"/>
            <a:ext cx="1106424" cy="82296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Engaged after order one?</a:t>
            </a:r>
            <a:endParaRPr lang="en-US" sz="900" dirty="0"/>
          </a:p>
        </p:txBody>
      </p:sp>
      <p:sp>
        <p:nvSpPr>
          <p:cNvPr id="27" name="Shape 21"/>
          <p:cNvSpPr/>
          <p:nvPr/>
        </p:nvSpPr>
        <p:spPr>
          <a:xfrm>
            <a:off x="5212080" y="1901952"/>
            <a:ext cx="228600" cy="0"/>
          </a:xfrm>
          <a:prstGeom prst="line">
            <a:avLst/>
          </a:prstGeom>
          <a:noFill/>
          <a:ln w="15875">
            <a:solidFill>
              <a:srgbClr val="0A1F44"/>
            </a:solidFill>
            <a:prstDash val="solid"/>
            <a:tailEnd type="triangle"/>
          </a:ln>
        </p:spPr>
      </p:sp>
      <p:sp>
        <p:nvSpPr>
          <p:cNvPr id="28" name="Shape 22"/>
          <p:cNvSpPr/>
          <p:nvPr/>
        </p:nvSpPr>
        <p:spPr>
          <a:xfrm>
            <a:off x="6775704" y="1901952"/>
            <a:ext cx="283464" cy="0"/>
          </a:xfrm>
          <a:prstGeom prst="line">
            <a:avLst/>
          </a:prstGeom>
          <a:noFill/>
          <a:ln w="15875">
            <a:solidFill>
              <a:srgbClr val="0A1F44"/>
            </a:solidFill>
            <a:prstDash val="solid"/>
            <a:tailEnd type="triangle"/>
          </a:ln>
        </p:spPr>
      </p:sp>
      <p:sp>
        <p:nvSpPr>
          <p:cNvPr id="29" name="Text 23"/>
          <p:cNvSpPr txBox="1"/>
          <p:nvPr/>
        </p:nvSpPr>
        <p:spPr>
          <a:xfrm>
            <a:off x="6784848" y="166420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30" name="Shape 24"/>
          <p:cNvSpPr/>
          <p:nvPr/>
        </p:nvSpPr>
        <p:spPr>
          <a:xfrm>
            <a:off x="7059168" y="1517904"/>
            <a:ext cx="2377440" cy="768096"/>
          </a:xfrm>
          <a:prstGeom prst="roundRect">
            <a:avLst>
              <a:gd name="adj" fmla="val 9524"/>
            </a:avLst>
          </a:prstGeom>
          <a:solidFill>
            <a:srgbClr val="EFF6FF"/>
          </a:solidFill>
          <a:ln w="15875">
            <a:solidFill>
              <a:srgbClr val="1D4ED8"/>
            </a:solidFill>
            <a:prstDash val="solid"/>
          </a:ln>
        </p:spPr>
      </p:sp>
      <p:pic>
        <p:nvPicPr>
          <p:cNvPr id="31" name="Image 4" descr="preencoded.png">    </p:cNvPr>
          <p:cNvPicPr>
            <a:picLocks noChangeAspect="1"/>
          </p:cNvPicPr>
          <p:nvPr/>
        </p:nvPicPr>
        <p:blipFill>
          <a:blip r:embed="rId5"/>
          <a:stretch>
            <a:fillRect/>
          </a:stretch>
        </p:blipFill>
        <p:spPr>
          <a:xfrm>
            <a:off x="7168896" y="1773936"/>
            <a:ext cx="256032" cy="256032"/>
          </a:xfrm>
          <a:prstGeom prst="rect">
            <a:avLst/>
          </a:prstGeom>
        </p:spPr>
      </p:pic>
      <p:sp>
        <p:nvSpPr>
          <p:cNvPr id="32" name="Text 25"/>
          <p:cNvSpPr txBox="1"/>
          <p:nvPr/>
        </p:nvSpPr>
        <p:spPr>
          <a:xfrm>
            <a:off x="7516368" y="1517904"/>
            <a:ext cx="184708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Golden Month, weeks 1–4</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Care and fit, then a second category; cashmere → Material Journeys by day 21</a:t>
            </a:r>
            <a:endParaRPr lang="en-US" sz="1050" dirty="0"/>
          </a:p>
        </p:txBody>
      </p:sp>
      <p:sp>
        <p:nvSpPr>
          <p:cNvPr id="33" name="Shape 26"/>
          <p:cNvSpPr/>
          <p:nvPr/>
        </p:nvSpPr>
        <p:spPr>
          <a:xfrm>
            <a:off x="6108192" y="2313432"/>
            <a:ext cx="0" cy="402336"/>
          </a:xfrm>
          <a:prstGeom prst="line">
            <a:avLst/>
          </a:prstGeom>
          <a:noFill/>
          <a:ln w="15875">
            <a:solidFill>
              <a:srgbClr val="0A1F44"/>
            </a:solidFill>
            <a:prstDash val="solid"/>
            <a:tailEnd type="triangle"/>
          </a:ln>
        </p:spPr>
      </p:sp>
      <p:sp>
        <p:nvSpPr>
          <p:cNvPr id="34" name="Text 27"/>
          <p:cNvSpPr txBox="1"/>
          <p:nvPr/>
        </p:nvSpPr>
        <p:spPr>
          <a:xfrm>
            <a:off x="6172200" y="23774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35" name="Shape 28"/>
          <p:cNvSpPr/>
          <p:nvPr/>
        </p:nvSpPr>
        <p:spPr>
          <a:xfrm>
            <a:off x="5394960" y="2715768"/>
            <a:ext cx="2286000" cy="768096"/>
          </a:xfrm>
          <a:prstGeom prst="roundRect">
            <a:avLst>
              <a:gd name="adj" fmla="val 9524"/>
            </a:avLst>
          </a:prstGeom>
          <a:solidFill>
            <a:srgbClr val="EFF6FF"/>
          </a:solidFill>
          <a:ln w="15875">
            <a:solidFill>
              <a:srgbClr val="1D4ED8"/>
            </a:solidFill>
            <a:prstDash val="solid"/>
          </a:ln>
        </p:spPr>
      </p:sp>
      <p:pic>
        <p:nvPicPr>
          <p:cNvPr id="36" name="Image 5" descr="preencoded.png">    </p:cNvPr>
          <p:cNvPicPr>
            <a:picLocks noChangeAspect="1"/>
          </p:cNvPicPr>
          <p:nvPr/>
        </p:nvPicPr>
        <p:blipFill>
          <a:blip r:embed="rId6"/>
          <a:stretch>
            <a:fillRect/>
          </a:stretch>
        </p:blipFill>
        <p:spPr>
          <a:xfrm>
            <a:off x="5504688" y="2971800"/>
            <a:ext cx="256032" cy="256032"/>
          </a:xfrm>
          <a:prstGeom prst="rect">
            <a:avLst/>
          </a:prstGeom>
        </p:spPr>
      </p:pic>
      <p:sp>
        <p:nvSpPr>
          <p:cNvPr id="37" name="Text 29"/>
          <p:cNvSpPr txBox="1"/>
          <p:nvPr/>
        </p:nvSpPr>
        <p:spPr>
          <a:xfrm>
            <a:off x="5852160" y="2715768"/>
            <a:ext cx="175564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Not engaged yet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One ask at delivery, day 7, day 21; without marketing consent, one capped paid reminder</a:t>
            </a:r>
            <a:endParaRPr lang="en-US" sz="1050" dirty="0"/>
          </a:p>
        </p:txBody>
      </p:sp>
      <p:sp>
        <p:nvSpPr>
          <p:cNvPr id="38" name="Shape 30"/>
          <p:cNvSpPr/>
          <p:nvPr/>
        </p:nvSpPr>
        <p:spPr>
          <a:xfrm>
            <a:off x="9436608" y="1901952"/>
            <a:ext cx="256032" cy="0"/>
          </a:xfrm>
          <a:prstGeom prst="line">
            <a:avLst/>
          </a:prstGeom>
          <a:noFill/>
          <a:ln w="15875">
            <a:solidFill>
              <a:srgbClr val="0A1F44"/>
            </a:solidFill>
            <a:prstDash val="solid"/>
          </a:ln>
        </p:spPr>
      </p:sp>
      <p:sp>
        <p:nvSpPr>
          <p:cNvPr id="39" name="Shape 31"/>
          <p:cNvSpPr/>
          <p:nvPr/>
        </p:nvSpPr>
        <p:spPr>
          <a:xfrm>
            <a:off x="9692640" y="1901952"/>
            <a:ext cx="0" cy="1197864"/>
          </a:xfrm>
          <a:prstGeom prst="line">
            <a:avLst/>
          </a:prstGeom>
          <a:noFill/>
          <a:ln w="15875">
            <a:solidFill>
              <a:srgbClr val="0A1F44"/>
            </a:solidFill>
            <a:prstDash val="solid"/>
          </a:ln>
        </p:spPr>
      </p:sp>
      <p:sp>
        <p:nvSpPr>
          <p:cNvPr id="40" name="Shape 32"/>
          <p:cNvSpPr/>
          <p:nvPr/>
        </p:nvSpPr>
        <p:spPr>
          <a:xfrm>
            <a:off x="7680960" y="3099816"/>
            <a:ext cx="2011680" cy="0"/>
          </a:xfrm>
          <a:prstGeom prst="line">
            <a:avLst/>
          </a:prstGeom>
          <a:noFill/>
          <a:ln w="15875">
            <a:solidFill>
              <a:srgbClr val="0A1F44"/>
            </a:solidFill>
            <a:prstDash val="solid"/>
          </a:ln>
        </p:spPr>
      </p:sp>
      <p:sp>
        <p:nvSpPr>
          <p:cNvPr id="41" name="Shape 33"/>
          <p:cNvSpPr/>
          <p:nvPr/>
        </p:nvSpPr>
        <p:spPr>
          <a:xfrm>
            <a:off x="9692640" y="2487168"/>
            <a:ext cx="201168" cy="0"/>
          </a:xfrm>
          <a:prstGeom prst="line">
            <a:avLst/>
          </a:prstGeom>
          <a:noFill/>
          <a:ln w="15875">
            <a:solidFill>
              <a:srgbClr val="0A1F44"/>
            </a:solidFill>
            <a:prstDash val="solid"/>
            <a:tailEnd type="triangle"/>
          </a:ln>
        </p:spPr>
      </p:sp>
      <p:sp>
        <p:nvSpPr>
          <p:cNvPr id="42" name="Shape 34"/>
          <p:cNvSpPr/>
          <p:nvPr/>
        </p:nvSpPr>
        <p:spPr>
          <a:xfrm>
            <a:off x="9898380" y="2084832"/>
            <a:ext cx="1325880" cy="804672"/>
          </a:xfrm>
          <a:prstGeom prst="diamond">
            <a:avLst/>
          </a:prstGeom>
          <a:solidFill>
            <a:srgbClr val="FFFFFF"/>
          </a:solidFill>
          <a:ln w="15875">
            <a:solidFill>
              <a:srgbClr val="0A1F44"/>
            </a:solidFill>
            <a:prstDash val="solid"/>
          </a:ln>
        </p:spPr>
      </p:sp>
      <p:sp>
        <p:nvSpPr>
          <p:cNvPr id="43" name="Text 35"/>
          <p:cNvSpPr txBox="1"/>
          <p:nvPr/>
        </p:nvSpPr>
        <p:spPr>
          <a:xfrm>
            <a:off x="10008108" y="2084832"/>
            <a:ext cx="1106424" cy="804672"/>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Second order by day 60?</a:t>
            </a:r>
            <a:endParaRPr lang="en-US" sz="900" dirty="0"/>
          </a:p>
        </p:txBody>
      </p:sp>
      <p:sp>
        <p:nvSpPr>
          <p:cNvPr id="44" name="Shape 36"/>
          <p:cNvSpPr/>
          <p:nvPr/>
        </p:nvSpPr>
        <p:spPr>
          <a:xfrm>
            <a:off x="10561320" y="1828800"/>
            <a:ext cx="0" cy="256032"/>
          </a:xfrm>
          <a:prstGeom prst="line">
            <a:avLst/>
          </a:prstGeom>
          <a:noFill/>
          <a:ln w="15875">
            <a:solidFill>
              <a:srgbClr val="0A1F44"/>
            </a:solidFill>
            <a:prstDash val="solid"/>
            <a:headEnd type="triangle"/>
          </a:ln>
        </p:spPr>
      </p:sp>
      <p:sp>
        <p:nvSpPr>
          <p:cNvPr id="45" name="Text 37"/>
          <p:cNvSpPr txBox="1"/>
          <p:nvPr/>
        </p:nvSpPr>
        <p:spPr>
          <a:xfrm>
            <a:off x="10625328" y="1856232"/>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46" name="Shape 38"/>
          <p:cNvSpPr/>
          <p:nvPr/>
        </p:nvSpPr>
        <p:spPr>
          <a:xfrm>
            <a:off x="9930384" y="1261872"/>
            <a:ext cx="1755648" cy="566928"/>
          </a:xfrm>
          <a:prstGeom prst="roundRect">
            <a:avLst>
              <a:gd name="adj" fmla="val 12903"/>
            </a:avLst>
          </a:prstGeom>
          <a:solidFill>
            <a:srgbClr val="1D4ED8"/>
          </a:solidFill>
          <a:ln w="15875">
            <a:solidFill>
              <a:srgbClr val="1D4ED8"/>
            </a:solidFill>
            <a:prstDash val="solid"/>
          </a:ln>
        </p:spPr>
      </p:sp>
      <p:pic>
        <p:nvPicPr>
          <p:cNvPr id="47" name="Image 6" descr="preencoded.png">    </p:cNvPr>
          <p:cNvPicPr>
            <a:picLocks noChangeAspect="1"/>
          </p:cNvPicPr>
          <p:nvPr/>
        </p:nvPicPr>
        <p:blipFill>
          <a:blip r:embed="rId7"/>
          <a:stretch>
            <a:fillRect/>
          </a:stretch>
        </p:blipFill>
        <p:spPr>
          <a:xfrm>
            <a:off x="10040112" y="1417320"/>
            <a:ext cx="256032" cy="256032"/>
          </a:xfrm>
          <a:prstGeom prst="rect">
            <a:avLst/>
          </a:prstGeom>
        </p:spPr>
      </p:pic>
      <p:sp>
        <p:nvSpPr>
          <p:cNvPr id="48" name="Text 39"/>
          <p:cNvSpPr txBox="1"/>
          <p:nvPr/>
        </p:nvSpPr>
        <p:spPr>
          <a:xfrm>
            <a:off x="10387584" y="1261872"/>
            <a:ext cx="1225296" cy="566928"/>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Repeat buyer</a:t>
            </a:r>
            <a:endParaRPr lang="en-US" sz="1050" dirty="0"/>
          </a:p>
          <a:p>
            <a:pPr indent="0" marL="0">
              <a:buNone/>
            </a:pPr>
            <a:r>
              <a:rPr lang="en-US" sz="850" dirty="0">
                <a:solidFill>
                  <a:srgbClr val="DCE7FB"/>
                </a:solidFill>
                <a:latin typeface="Inter" pitchFamily="34" charset="0"/>
                <a:ea typeface="Inter" pitchFamily="34" charset="-122"/>
                <a:cs typeface="Inter" pitchFamily="34" charset="-120"/>
              </a:rPr>
              <a:t>Quince Insider early access</a:t>
            </a:r>
            <a:endParaRPr lang="en-US" sz="1050" dirty="0"/>
          </a:p>
        </p:txBody>
      </p:sp>
      <p:sp>
        <p:nvSpPr>
          <p:cNvPr id="49" name="Shape 40"/>
          <p:cNvSpPr/>
          <p:nvPr/>
        </p:nvSpPr>
        <p:spPr>
          <a:xfrm>
            <a:off x="10561320" y="2889504"/>
            <a:ext cx="0" cy="256032"/>
          </a:xfrm>
          <a:prstGeom prst="line">
            <a:avLst/>
          </a:prstGeom>
          <a:noFill/>
          <a:ln w="15875">
            <a:solidFill>
              <a:srgbClr val="0A1F44"/>
            </a:solidFill>
            <a:prstDash val="solid"/>
            <a:tailEnd type="triangle"/>
          </a:ln>
        </p:spPr>
      </p:sp>
      <p:sp>
        <p:nvSpPr>
          <p:cNvPr id="50" name="Text 41"/>
          <p:cNvSpPr txBox="1"/>
          <p:nvPr/>
        </p:nvSpPr>
        <p:spPr>
          <a:xfrm>
            <a:off x="10625328" y="2898648"/>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1" name="Shape 42"/>
          <p:cNvSpPr/>
          <p:nvPr/>
        </p:nvSpPr>
        <p:spPr>
          <a:xfrm>
            <a:off x="9930384" y="3145536"/>
            <a:ext cx="1755648" cy="566928"/>
          </a:xfrm>
          <a:prstGeom prst="roundRect">
            <a:avLst>
              <a:gd name="adj" fmla="val 12903"/>
            </a:avLst>
          </a:prstGeom>
          <a:solidFill>
            <a:srgbClr val="EFF6FF"/>
          </a:solidFill>
          <a:ln w="15875">
            <a:solidFill>
              <a:srgbClr val="1D4ED8"/>
            </a:solidFill>
            <a:prstDash val="solid"/>
          </a:ln>
        </p:spPr>
      </p:sp>
      <p:pic>
        <p:nvPicPr>
          <p:cNvPr id="52" name="Image 7" descr="preencoded.png">    </p:cNvPr>
          <p:cNvPicPr>
            <a:picLocks noChangeAspect="1"/>
          </p:cNvPicPr>
          <p:nvPr/>
        </p:nvPicPr>
        <p:blipFill>
          <a:blip r:embed="rId8"/>
          <a:stretch>
            <a:fillRect/>
          </a:stretch>
        </p:blipFill>
        <p:spPr>
          <a:xfrm>
            <a:off x="10040112" y="3300984"/>
            <a:ext cx="256032" cy="256032"/>
          </a:xfrm>
          <a:prstGeom prst="rect">
            <a:avLst/>
          </a:prstGeom>
        </p:spPr>
      </p:pic>
      <p:sp>
        <p:nvSpPr>
          <p:cNvPr id="53" name="Text 43"/>
          <p:cNvSpPr txBox="1"/>
          <p:nvPr/>
        </p:nvSpPr>
        <p:spPr>
          <a:xfrm>
            <a:off x="10387584" y="3145536"/>
            <a:ext cx="1225296" cy="566928"/>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Day 60</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Restock-first access</a:t>
            </a:r>
            <a:endParaRPr lang="en-US" sz="1050" dirty="0"/>
          </a:p>
        </p:txBody>
      </p:sp>
      <p:sp>
        <p:nvSpPr>
          <p:cNvPr id="54" name="Shape 44"/>
          <p:cNvSpPr/>
          <p:nvPr/>
        </p:nvSpPr>
        <p:spPr>
          <a:xfrm>
            <a:off x="2377440" y="3474720"/>
            <a:ext cx="0" cy="1115568"/>
          </a:xfrm>
          <a:prstGeom prst="line">
            <a:avLst/>
          </a:prstGeom>
          <a:noFill/>
          <a:ln w="15875">
            <a:solidFill>
              <a:srgbClr val="0A1F44"/>
            </a:solidFill>
            <a:prstDash val="solid"/>
          </a:ln>
        </p:spPr>
      </p:sp>
      <p:sp>
        <p:nvSpPr>
          <p:cNvPr id="55" name="Shape 45"/>
          <p:cNvSpPr/>
          <p:nvPr/>
        </p:nvSpPr>
        <p:spPr>
          <a:xfrm>
            <a:off x="2377440" y="4590288"/>
            <a:ext cx="685800" cy="0"/>
          </a:xfrm>
          <a:prstGeom prst="line">
            <a:avLst/>
          </a:prstGeom>
          <a:noFill/>
          <a:ln w="15875">
            <a:solidFill>
              <a:srgbClr val="0A1F44"/>
            </a:solidFill>
            <a:prstDash val="solid"/>
            <a:tailEnd type="triangle"/>
          </a:ln>
        </p:spPr>
      </p:sp>
      <p:sp>
        <p:nvSpPr>
          <p:cNvPr id="56" name="Text 46"/>
          <p:cNvSpPr txBox="1"/>
          <p:nvPr/>
        </p:nvSpPr>
        <p:spPr>
          <a:xfrm>
            <a:off x="2450592" y="379476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7" name="Shape 47"/>
          <p:cNvSpPr/>
          <p:nvPr/>
        </p:nvSpPr>
        <p:spPr>
          <a:xfrm>
            <a:off x="3063240" y="4133088"/>
            <a:ext cx="1463040" cy="914400"/>
          </a:xfrm>
          <a:prstGeom prst="diamond">
            <a:avLst/>
          </a:prstGeom>
          <a:solidFill>
            <a:srgbClr val="FFFFFF"/>
          </a:solidFill>
          <a:ln w="15875">
            <a:solidFill>
              <a:srgbClr val="0A1F44"/>
            </a:solidFill>
            <a:prstDash val="solid"/>
          </a:ln>
        </p:spPr>
      </p:sp>
      <p:sp>
        <p:nvSpPr>
          <p:cNvPr id="58" name="Text 48"/>
          <p:cNvSpPr txBox="1"/>
          <p:nvPr/>
        </p:nvSpPr>
        <p:spPr>
          <a:xfrm>
            <a:off x="3172968" y="4133088"/>
            <a:ext cx="1243584" cy="91440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Reachable by email, SMS or app?</a:t>
            </a:r>
            <a:endParaRPr lang="en-US" sz="900" dirty="0"/>
          </a:p>
        </p:txBody>
      </p:sp>
      <p:sp>
        <p:nvSpPr>
          <p:cNvPr id="59" name="Shape 49"/>
          <p:cNvSpPr/>
          <p:nvPr/>
        </p:nvSpPr>
        <p:spPr>
          <a:xfrm>
            <a:off x="4526280" y="4590288"/>
            <a:ext cx="137160" cy="0"/>
          </a:xfrm>
          <a:prstGeom prst="line">
            <a:avLst/>
          </a:prstGeom>
          <a:noFill/>
          <a:ln w="15875">
            <a:solidFill>
              <a:srgbClr val="0A1F44"/>
            </a:solidFill>
            <a:prstDash val="solid"/>
          </a:ln>
        </p:spPr>
      </p:sp>
      <p:sp>
        <p:nvSpPr>
          <p:cNvPr id="60" name="Shape 50"/>
          <p:cNvSpPr/>
          <p:nvPr/>
        </p:nvSpPr>
        <p:spPr>
          <a:xfrm>
            <a:off x="4663440" y="4389120"/>
            <a:ext cx="0" cy="685800"/>
          </a:xfrm>
          <a:prstGeom prst="line">
            <a:avLst/>
          </a:prstGeom>
          <a:noFill/>
          <a:ln w="15875">
            <a:solidFill>
              <a:srgbClr val="0A1F44"/>
            </a:solidFill>
            <a:prstDash val="solid"/>
          </a:ln>
        </p:spPr>
      </p:sp>
      <p:sp>
        <p:nvSpPr>
          <p:cNvPr id="61" name="Shape 51"/>
          <p:cNvSpPr/>
          <p:nvPr/>
        </p:nvSpPr>
        <p:spPr>
          <a:xfrm>
            <a:off x="4663440" y="4389120"/>
            <a:ext cx="164592" cy="0"/>
          </a:xfrm>
          <a:prstGeom prst="line">
            <a:avLst/>
          </a:prstGeom>
          <a:noFill/>
          <a:ln w="15875">
            <a:solidFill>
              <a:srgbClr val="0A1F44"/>
            </a:solidFill>
            <a:prstDash val="solid"/>
            <a:tailEnd type="triangle"/>
          </a:ln>
        </p:spPr>
      </p:sp>
      <p:sp>
        <p:nvSpPr>
          <p:cNvPr id="62" name="Text 52"/>
          <p:cNvSpPr txBox="1"/>
          <p:nvPr/>
        </p:nvSpPr>
        <p:spPr>
          <a:xfrm>
            <a:off x="4572000" y="413308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63" name="Shape 53"/>
          <p:cNvSpPr/>
          <p:nvPr/>
        </p:nvSpPr>
        <p:spPr>
          <a:xfrm>
            <a:off x="4663440" y="5074920"/>
            <a:ext cx="164592" cy="0"/>
          </a:xfrm>
          <a:prstGeom prst="line">
            <a:avLst/>
          </a:prstGeom>
          <a:noFill/>
          <a:ln w="15875">
            <a:solidFill>
              <a:srgbClr val="0A1F44"/>
            </a:solidFill>
            <a:prstDash val="solid"/>
            <a:tailEnd type="triangle"/>
          </a:ln>
        </p:spPr>
      </p:sp>
      <p:sp>
        <p:nvSpPr>
          <p:cNvPr id="64" name="Text 54"/>
          <p:cNvSpPr txBox="1"/>
          <p:nvPr/>
        </p:nvSpPr>
        <p:spPr>
          <a:xfrm>
            <a:off x="4572000" y="51206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65" name="Shape 55"/>
          <p:cNvSpPr/>
          <p:nvPr/>
        </p:nvSpPr>
        <p:spPr>
          <a:xfrm>
            <a:off x="4828032" y="4133088"/>
            <a:ext cx="2670048" cy="512064"/>
          </a:xfrm>
          <a:prstGeom prst="roundRect">
            <a:avLst>
              <a:gd name="adj" fmla="val 14286"/>
            </a:avLst>
          </a:prstGeom>
          <a:solidFill>
            <a:srgbClr val="EFF6FF"/>
          </a:solidFill>
          <a:ln w="15875">
            <a:solidFill>
              <a:srgbClr val="1D4ED8"/>
            </a:solidFill>
            <a:prstDash val="solid"/>
          </a:ln>
        </p:spPr>
      </p:sp>
      <p:pic>
        <p:nvPicPr>
          <p:cNvPr id="66" name="Image 8" descr="preencoded.png">    </p:cNvPr>
          <p:cNvPicPr>
            <a:picLocks noChangeAspect="1"/>
          </p:cNvPicPr>
          <p:nvPr/>
        </p:nvPicPr>
        <p:blipFill>
          <a:blip r:embed="rId9"/>
          <a:stretch>
            <a:fillRect/>
          </a:stretch>
        </p:blipFill>
        <p:spPr>
          <a:xfrm>
            <a:off x="4937760" y="4261104"/>
            <a:ext cx="256032" cy="256032"/>
          </a:xfrm>
          <a:prstGeom prst="rect">
            <a:avLst/>
          </a:prstGeom>
        </p:spPr>
      </p:pic>
      <p:sp>
        <p:nvSpPr>
          <p:cNvPr id="67" name="Text 56"/>
          <p:cNvSpPr txBox="1"/>
          <p:nvPr/>
        </p:nvSpPr>
        <p:spPr>
          <a:xfrm>
            <a:off x="5285232" y="4133088"/>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Saved Cart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Reminder at 1h and again at 24h; never a discount</a:t>
            </a:r>
            <a:endParaRPr lang="en-US" sz="1050" dirty="0"/>
          </a:p>
        </p:txBody>
      </p:sp>
      <p:sp>
        <p:nvSpPr>
          <p:cNvPr id="68" name="Shape 57"/>
          <p:cNvSpPr/>
          <p:nvPr/>
        </p:nvSpPr>
        <p:spPr>
          <a:xfrm>
            <a:off x="4828032" y="4828032"/>
            <a:ext cx="2670048" cy="512064"/>
          </a:xfrm>
          <a:prstGeom prst="roundRect">
            <a:avLst>
              <a:gd name="adj" fmla="val 14286"/>
            </a:avLst>
          </a:prstGeom>
          <a:solidFill>
            <a:srgbClr val="F1F5F9"/>
          </a:solidFill>
          <a:ln w="15875">
            <a:solidFill>
              <a:srgbClr val="94A3B8"/>
            </a:solidFill>
            <a:prstDash val="solid"/>
          </a:ln>
        </p:spPr>
      </p:sp>
      <p:pic>
        <p:nvPicPr>
          <p:cNvPr id="69" name="Image 9" descr="preencoded.png">    </p:cNvPr>
          <p:cNvPicPr>
            <a:picLocks noChangeAspect="1"/>
          </p:cNvPicPr>
          <p:nvPr/>
        </p:nvPicPr>
        <p:blipFill>
          <a:blip r:embed="rId10"/>
          <a:stretch>
            <a:fillRect/>
          </a:stretch>
        </p:blipFill>
        <p:spPr>
          <a:xfrm>
            <a:off x="4937760" y="4956048"/>
            <a:ext cx="256032" cy="256032"/>
          </a:xfrm>
          <a:prstGeom prst="rect">
            <a:avLst/>
          </a:prstGeom>
        </p:spPr>
      </p:pic>
      <p:sp>
        <p:nvSpPr>
          <p:cNvPr id="70" name="Text 58"/>
          <p:cNvSpPr txBox="1"/>
          <p:nvPr/>
        </p:nvSpPr>
        <p:spPr>
          <a:xfrm>
            <a:off x="5285232" y="4828032"/>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Paid retargeting, days 1–7</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Frequency-capped: the one job left for retargeting</a:t>
            </a:r>
            <a:endParaRPr lang="en-US" sz="1050" dirty="0"/>
          </a:p>
        </p:txBody>
      </p:sp>
      <p:sp>
        <p:nvSpPr>
          <p:cNvPr id="71" name="Shape 59"/>
          <p:cNvSpPr/>
          <p:nvPr/>
        </p:nvSpPr>
        <p:spPr>
          <a:xfrm>
            <a:off x="6949440" y="3840480"/>
            <a:ext cx="0" cy="292608"/>
          </a:xfrm>
          <a:prstGeom prst="line">
            <a:avLst/>
          </a:prstGeom>
          <a:noFill/>
          <a:ln w="15875">
            <a:solidFill>
              <a:srgbClr val="1D4ED8"/>
            </a:solidFill>
            <a:prstDash val="dash"/>
          </a:ln>
        </p:spPr>
      </p:sp>
      <p:sp>
        <p:nvSpPr>
          <p:cNvPr id="72" name="Shape 60"/>
          <p:cNvSpPr/>
          <p:nvPr/>
        </p:nvSpPr>
        <p:spPr>
          <a:xfrm>
            <a:off x="3108960" y="3840480"/>
            <a:ext cx="3840480" cy="0"/>
          </a:xfrm>
          <a:prstGeom prst="line">
            <a:avLst/>
          </a:prstGeom>
          <a:noFill/>
          <a:ln w="15875">
            <a:solidFill>
              <a:srgbClr val="1D4ED8"/>
            </a:solidFill>
            <a:prstDash val="dash"/>
          </a:ln>
        </p:spPr>
      </p:sp>
      <p:sp>
        <p:nvSpPr>
          <p:cNvPr id="73" name="Shape 61"/>
          <p:cNvSpPr/>
          <p:nvPr/>
        </p:nvSpPr>
        <p:spPr>
          <a:xfrm>
            <a:off x="3108960" y="3108960"/>
            <a:ext cx="0" cy="731520"/>
          </a:xfrm>
          <a:prstGeom prst="line">
            <a:avLst/>
          </a:prstGeom>
          <a:noFill/>
          <a:ln w="15875">
            <a:solidFill>
              <a:srgbClr val="1D4ED8"/>
            </a:solidFill>
            <a:prstDash val="dash"/>
          </a:ln>
        </p:spPr>
      </p:sp>
      <p:sp>
        <p:nvSpPr>
          <p:cNvPr id="74" name="Shape 62"/>
          <p:cNvSpPr/>
          <p:nvPr/>
        </p:nvSpPr>
        <p:spPr>
          <a:xfrm>
            <a:off x="3108960" y="3108960"/>
            <a:ext cx="-228600" cy="0"/>
          </a:xfrm>
          <a:prstGeom prst="line">
            <a:avLst/>
          </a:prstGeom>
          <a:noFill/>
          <a:ln w="15875">
            <a:solidFill>
              <a:srgbClr val="1D4ED8"/>
            </a:solidFill>
            <a:prstDash val="dash"/>
            <a:tailEnd type="triangle"/>
          </a:ln>
        </p:spPr>
      </p:sp>
      <p:sp>
        <p:nvSpPr>
          <p:cNvPr id="75" name="Text 63"/>
          <p:cNvSpPr txBox="1"/>
          <p:nvPr/>
        </p:nvSpPr>
        <p:spPr>
          <a:xfrm>
            <a:off x="4206240" y="3621024"/>
            <a:ext cx="2377440" cy="201168"/>
          </a:xfrm>
          <a:prstGeom prst="rect">
            <a:avLst/>
          </a:prstGeom>
          <a:noFill/>
          <a:ln/>
        </p:spPr>
        <p:txBody>
          <a:bodyPr wrap="square" lIns="0" tIns="0" rIns="0" bIns="0" rtlCol="0" anchor="t"/>
          <a:lstStyle/>
          <a:p>
            <a:pPr indent="0" marL="0">
              <a:buNone/>
            </a:pPr>
            <a:r>
              <a:rPr lang="en-US" sz="850" b="1" i="1" dirty="0">
                <a:solidFill>
                  <a:srgbClr val="1D4ED8"/>
                </a:solidFill>
                <a:latin typeface="Inter" pitchFamily="34" charset="0"/>
                <a:ea typeface="Inter" pitchFamily="34" charset="-122"/>
                <a:cs typeface="Inter" pitchFamily="34" charset="-120"/>
              </a:rPr>
              <a:t>orders later → joins the top path</a:t>
            </a:r>
            <a:endParaRPr lang="en-US" sz="850" dirty="0"/>
          </a:p>
        </p:txBody>
      </p:sp>
      <p:sp>
        <p:nvSpPr>
          <p:cNvPr id="76" name="Shape 64"/>
          <p:cNvSpPr/>
          <p:nvPr/>
        </p:nvSpPr>
        <p:spPr>
          <a:xfrm>
            <a:off x="7498080" y="5084064"/>
            <a:ext cx="228600" cy="0"/>
          </a:xfrm>
          <a:prstGeom prst="line">
            <a:avLst/>
          </a:prstGeom>
          <a:noFill/>
          <a:ln w="15875">
            <a:solidFill>
              <a:srgbClr val="94A3B8"/>
            </a:solidFill>
            <a:prstDash val="solid"/>
            <a:tailEnd type="triangle"/>
          </a:ln>
        </p:spPr>
      </p:sp>
      <p:sp>
        <p:nvSpPr>
          <p:cNvPr id="77" name="Text 65"/>
          <p:cNvSpPr txBox="1"/>
          <p:nvPr/>
        </p:nvSpPr>
        <p:spPr>
          <a:xfrm>
            <a:off x="7772400" y="4974336"/>
            <a:ext cx="1280160" cy="219456"/>
          </a:xfrm>
          <a:prstGeom prst="rect">
            <a:avLst/>
          </a:prstGeom>
          <a:noFill/>
          <a:ln/>
        </p:spPr>
        <p:txBody>
          <a:bodyPr wrap="square" lIns="0" tIns="0" rIns="0" bIns="0" rtlCol="0" anchor="ctr"/>
          <a:lstStyle/>
          <a:p>
            <a:pPr indent="0" marL="0">
              <a:buNone/>
            </a:pPr>
            <a:r>
              <a:rPr lang="en-US" sz="900" b="1" dirty="0">
                <a:solidFill>
                  <a:srgbClr val="64748B"/>
                </a:solidFill>
                <a:latin typeface="Inter" pitchFamily="34" charset="0"/>
                <a:ea typeface="Inter" pitchFamily="34" charset="-122"/>
                <a:cs typeface="Inter" pitchFamily="34" charset="-120"/>
              </a:rPr>
              <a:t>After day 7: stop</a:t>
            </a:r>
            <a:endParaRPr lang="en-US" sz="900" dirty="0"/>
          </a:p>
        </p:txBody>
      </p:sp>
      <p:sp>
        <p:nvSpPr>
          <p:cNvPr id="78" name="Text 66"/>
          <p:cNvSpPr txBox="1"/>
          <p:nvPr/>
        </p:nvSpPr>
        <p:spPr>
          <a:xfrm>
            <a:off x="9235440" y="4069080"/>
            <a:ext cx="1828800" cy="182880"/>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LEGEND</a:t>
            </a:r>
            <a:endParaRPr lang="en-US" sz="850" dirty="0"/>
          </a:p>
        </p:txBody>
      </p:sp>
      <p:sp>
        <p:nvSpPr>
          <p:cNvPr id="79" name="Shape 67"/>
          <p:cNvSpPr/>
          <p:nvPr/>
        </p:nvSpPr>
        <p:spPr>
          <a:xfrm>
            <a:off x="9235440" y="4297680"/>
            <a:ext cx="237744" cy="164592"/>
          </a:xfrm>
          <a:prstGeom prst="diamond">
            <a:avLst/>
          </a:prstGeom>
          <a:solidFill>
            <a:srgbClr val="FFFFFF"/>
          </a:solidFill>
          <a:ln w="12700">
            <a:solidFill>
              <a:srgbClr val="0A1F44"/>
            </a:solidFill>
            <a:prstDash val="solid"/>
          </a:ln>
        </p:spPr>
      </p:sp>
      <p:sp>
        <p:nvSpPr>
          <p:cNvPr id="80" name="Text 68"/>
          <p:cNvSpPr txBox="1"/>
          <p:nvPr/>
        </p:nvSpPr>
        <p:spPr>
          <a:xfrm>
            <a:off x="9555480" y="4279392"/>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Saved CJA segment test</a:t>
            </a:r>
            <a:endParaRPr lang="en-US" sz="850" dirty="0"/>
          </a:p>
        </p:txBody>
      </p:sp>
      <p:sp>
        <p:nvSpPr>
          <p:cNvPr id="81" name="Shape 69"/>
          <p:cNvSpPr/>
          <p:nvPr/>
        </p:nvSpPr>
        <p:spPr>
          <a:xfrm>
            <a:off x="9235440" y="4544568"/>
            <a:ext cx="237744" cy="164592"/>
          </a:xfrm>
          <a:prstGeom prst="roundRect">
            <a:avLst>
              <a:gd name="adj" fmla="val 22222"/>
            </a:avLst>
          </a:prstGeom>
          <a:solidFill>
            <a:srgbClr val="0A1F44"/>
          </a:solidFill>
          <a:ln w="6350">
            <a:solidFill>
              <a:srgbClr val="0A1F44"/>
            </a:solidFill>
            <a:prstDash val="solid"/>
          </a:ln>
        </p:spPr>
      </p:sp>
      <p:sp>
        <p:nvSpPr>
          <p:cNvPr id="82" name="Text 70"/>
          <p:cNvSpPr txBox="1"/>
          <p:nvPr/>
        </p:nvSpPr>
        <p:spPr>
          <a:xfrm>
            <a:off x="9555480" y="4526280"/>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Start and outcome</a:t>
            </a:r>
            <a:endParaRPr lang="en-US" sz="850" dirty="0"/>
          </a:p>
        </p:txBody>
      </p:sp>
      <p:sp>
        <p:nvSpPr>
          <p:cNvPr id="83" name="Shape 71"/>
          <p:cNvSpPr/>
          <p:nvPr/>
        </p:nvSpPr>
        <p:spPr>
          <a:xfrm>
            <a:off x="9235440" y="4791456"/>
            <a:ext cx="237744" cy="164592"/>
          </a:xfrm>
          <a:prstGeom prst="roundRect">
            <a:avLst>
              <a:gd name="adj" fmla="val 22222"/>
            </a:avLst>
          </a:prstGeom>
          <a:solidFill>
            <a:srgbClr val="FFFFFF"/>
          </a:solidFill>
          <a:ln w="15875">
            <a:solidFill>
              <a:srgbClr val="1D4ED8"/>
            </a:solidFill>
            <a:prstDash val="solid"/>
          </a:ln>
        </p:spPr>
      </p:sp>
      <p:sp>
        <p:nvSpPr>
          <p:cNvPr id="84" name="Text 72"/>
          <p:cNvSpPr txBox="1"/>
          <p:nvPr/>
        </p:nvSpPr>
        <p:spPr>
          <a:xfrm>
            <a:off x="9555480" y="4773168"/>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Owned channel: app, email, SMS, box</a:t>
            </a:r>
            <a:endParaRPr lang="en-US" sz="850" dirty="0"/>
          </a:p>
        </p:txBody>
      </p:sp>
      <p:sp>
        <p:nvSpPr>
          <p:cNvPr id="85" name="Shape 73"/>
          <p:cNvSpPr/>
          <p:nvPr/>
        </p:nvSpPr>
        <p:spPr>
          <a:xfrm>
            <a:off x="9235440" y="5038344"/>
            <a:ext cx="237744" cy="164592"/>
          </a:xfrm>
          <a:prstGeom prst="roundRect">
            <a:avLst>
              <a:gd name="adj" fmla="val 22222"/>
            </a:avLst>
          </a:prstGeom>
          <a:solidFill>
            <a:srgbClr val="FFFFFF"/>
          </a:solidFill>
          <a:ln w="15875">
            <a:solidFill>
              <a:srgbClr val="94A3B8"/>
            </a:solidFill>
            <a:prstDash val="solid"/>
          </a:ln>
        </p:spPr>
      </p:sp>
      <p:sp>
        <p:nvSpPr>
          <p:cNvPr id="86" name="Text 74"/>
          <p:cNvSpPr txBox="1"/>
          <p:nvPr/>
        </p:nvSpPr>
        <p:spPr>
          <a:xfrm>
            <a:off x="9555480" y="5020056"/>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Paid media</a:t>
            </a:r>
            <a:endParaRPr lang="en-US" sz="850" dirty="0"/>
          </a:p>
        </p:txBody>
      </p:sp>
      <p:sp>
        <p:nvSpPr>
          <p:cNvPr id="87" name="Shape 75"/>
          <p:cNvSpPr/>
          <p:nvPr/>
        </p:nvSpPr>
        <p:spPr>
          <a:xfrm>
            <a:off x="9235440" y="5285232"/>
            <a:ext cx="237744" cy="164592"/>
          </a:xfrm>
          <a:prstGeom prst="roundRect">
            <a:avLst>
              <a:gd name="adj" fmla="val 22222"/>
            </a:avLst>
          </a:prstGeom>
          <a:solidFill>
            <a:srgbClr val="FFFFFF"/>
          </a:solidFill>
          <a:ln w="15875">
            <a:solidFill>
              <a:srgbClr val="DC2626"/>
            </a:solidFill>
            <a:prstDash val="solid"/>
          </a:ln>
        </p:spPr>
      </p:sp>
      <p:sp>
        <p:nvSpPr>
          <p:cNvPr id="88" name="Text 76"/>
          <p:cNvSpPr txBox="1"/>
          <p:nvPr/>
        </p:nvSpPr>
        <p:spPr>
          <a:xfrm>
            <a:off x="9555480" y="5266944"/>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Removed from paid media</a:t>
            </a:r>
            <a:endParaRPr lang="en-US" sz="850" dirty="0"/>
          </a:p>
        </p:txBody>
      </p:sp>
      <p:sp>
        <p:nvSpPr>
          <p:cNvPr id="89" name="Shape 7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90" name="Shape 78"/>
          <p:cNvSpPr/>
          <p:nvPr/>
        </p:nvSpPr>
        <p:spPr>
          <a:xfrm>
            <a:off x="640080" y="5806440"/>
            <a:ext cx="329184" cy="329184"/>
          </a:xfrm>
          <a:prstGeom prst="ellipse">
            <a:avLst/>
          </a:prstGeom>
          <a:solidFill>
            <a:srgbClr val="1D4ED8"/>
          </a:solidFill>
          <a:ln w="6350">
            <a:solidFill>
              <a:srgbClr val="1D4ED8"/>
            </a:solidFill>
            <a:prstDash val="solid"/>
          </a:ln>
        </p:spPr>
      </p:sp>
      <p:pic>
        <p:nvPicPr>
          <p:cNvPr id="91" name="Image 10" descr="preencoded.png">    </p:cNvPr>
          <p:cNvPicPr>
            <a:picLocks noChangeAspect="1"/>
          </p:cNvPicPr>
          <p:nvPr/>
        </p:nvPicPr>
        <p:blipFill>
          <a:blip r:embed="rId11"/>
          <a:stretch>
            <a:fillRect/>
          </a:stretch>
        </p:blipFill>
        <p:spPr>
          <a:xfrm>
            <a:off x="712500" y="5878860"/>
            <a:ext cx="184343" cy="184343"/>
          </a:xfrm>
          <a:prstGeom prst="rect">
            <a:avLst/>
          </a:prstGeom>
        </p:spPr>
      </p:pic>
      <p:sp>
        <p:nvSpPr>
          <p:cNvPr id="92" name="Text 7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Each diamond is a saved CJA segment, so one rule drives both the message and its measurement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Never Pay Twice: stop buying customers Quince already has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(125,521 events, 1 Jan–30 Apr 2026), segments A3b and A1; case Exhibits D, I, L; team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18</a:t>
            </a:r>
            <a:endParaRPr lang="en-US" sz="800" dirty="0"/>
          </a:p>
        </p:txBody>
      </p:sp>
      <p:sp>
        <p:nvSpPr>
          <p:cNvPr id="9" name="Text 6"/>
          <p:cNvSpPr txBox="1"/>
          <p:nvPr/>
        </p:nvSpPr>
        <p:spPr>
          <a:xfrm>
            <a:off x="502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DATA IN</a:t>
            </a:r>
            <a:endParaRPr lang="en-US" sz="850" dirty="0"/>
          </a:p>
        </p:txBody>
      </p:sp>
      <p:sp>
        <p:nvSpPr>
          <p:cNvPr id="10" name="Text 7"/>
          <p:cNvSpPr txBox="1"/>
          <p:nvPr/>
        </p:nvSpPr>
        <p:spPr>
          <a:xfrm>
            <a:off x="2743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IDENTITY</a:t>
            </a:r>
            <a:endParaRPr lang="en-US" sz="850" dirty="0"/>
          </a:p>
        </p:txBody>
      </p:sp>
      <p:sp>
        <p:nvSpPr>
          <p:cNvPr id="11" name="Text 8"/>
          <p:cNvSpPr txBox="1"/>
          <p:nvPr/>
        </p:nvSpPr>
        <p:spPr>
          <a:xfrm>
            <a:off x="498348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AUDIENCES IN CJA</a:t>
            </a:r>
            <a:endParaRPr lang="en-US" sz="850" dirty="0"/>
          </a:p>
        </p:txBody>
      </p:sp>
      <p:sp>
        <p:nvSpPr>
          <p:cNvPr id="12" name="Text 9"/>
          <p:cNvSpPr txBox="1"/>
          <p:nvPr/>
        </p:nvSpPr>
        <p:spPr>
          <a:xfrm>
            <a:off x="7315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ACTIVATION, DAILY</a:t>
            </a:r>
            <a:endParaRPr lang="en-US" sz="850" dirty="0"/>
          </a:p>
        </p:txBody>
      </p:sp>
      <p:sp>
        <p:nvSpPr>
          <p:cNvPr id="13" name="Text 10"/>
          <p:cNvSpPr txBox="1"/>
          <p:nvPr/>
        </p:nvSpPr>
        <p:spPr>
          <a:xfrm>
            <a:off x="9646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OUTCOME</a:t>
            </a:r>
            <a:endParaRPr lang="en-US" sz="850" dirty="0"/>
          </a:p>
        </p:txBody>
      </p:sp>
      <p:sp>
        <p:nvSpPr>
          <p:cNvPr id="14" name="Shape 11"/>
          <p:cNvSpPr/>
          <p:nvPr/>
        </p:nvSpPr>
        <p:spPr>
          <a:xfrm>
            <a:off x="502920" y="1554480"/>
            <a:ext cx="2039112" cy="2743200"/>
          </a:xfrm>
          <a:prstGeom prst="roundRect">
            <a:avLst>
              <a:gd name="adj" fmla="val 5381"/>
            </a:avLst>
          </a:prstGeom>
          <a:solidFill>
            <a:srgbClr val="F8FAFC"/>
          </a:solidFill>
          <a:ln w="9525">
            <a:solidFill>
              <a:srgbClr val="E2E8F0"/>
            </a:solidFill>
            <a:prstDash val="solid"/>
          </a:ln>
        </p:spPr>
      </p:sp>
      <p:sp>
        <p:nvSpPr>
          <p:cNvPr id="15" name="Shape 12"/>
          <p:cNvSpPr/>
          <p:nvPr/>
        </p:nvSpPr>
        <p:spPr>
          <a:xfrm>
            <a:off x="640080" y="1737360"/>
            <a:ext cx="384048" cy="384048"/>
          </a:xfrm>
          <a:prstGeom prst="ellipse">
            <a:avLst/>
          </a:prstGeom>
          <a:solidFill>
            <a:srgbClr val="EFF6FF"/>
          </a:solidFill>
          <a:ln w="6350">
            <a:solidFill>
              <a:srgbClr val="EFF6FF"/>
            </a:solidFill>
            <a:prstDash val="solid"/>
          </a:ln>
        </p:spPr>
      </p:sp>
      <p:pic>
        <p:nvPicPr>
          <p:cNvPr id="16" name="Image 1" descr="preencoded.png">    </p:cNvPr>
          <p:cNvPicPr>
            <a:picLocks noChangeAspect="1"/>
          </p:cNvPicPr>
          <p:nvPr/>
        </p:nvPicPr>
        <p:blipFill>
          <a:blip r:embed="rId2"/>
          <a:stretch>
            <a:fillRect/>
          </a:stretch>
        </p:blipFill>
        <p:spPr>
          <a:xfrm>
            <a:off x="724571" y="1821851"/>
            <a:ext cx="215067" cy="215067"/>
          </a:xfrm>
          <a:prstGeom prst="rect">
            <a:avLst/>
          </a:prstGeom>
        </p:spPr>
      </p:pic>
      <p:sp>
        <p:nvSpPr>
          <p:cNvPr id="17" name="Text 13"/>
          <p:cNvSpPr txBox="1"/>
          <p:nvPr/>
        </p:nvSpPr>
        <p:spPr>
          <a:xfrm>
            <a:off x="640080" y="2286000"/>
            <a:ext cx="1764792" cy="146304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Every touchpoint</a:t>
            </a:r>
            <a:endParaRPr lang="en-US" sz="1100" dirty="0"/>
          </a:p>
          <a:p>
            <a:pPr indent="0" marL="0">
              <a:buNone/>
            </a:pPr>
            <a:r>
              <a:rPr lang="en-US" sz="900" dirty="0">
                <a:solidFill>
                  <a:srgbClr val="334155"/>
                </a:solidFill>
                <a:latin typeface="Inter" pitchFamily="34" charset="0"/>
                <a:ea typeface="Inter" pitchFamily="34" charset="-122"/>
                <a:cs typeface="Inter" pitchFamily="34" charset="-120"/>
              </a:rPr>
              <a:t>Web and app events, email, SMS and paid-media touches: 125,521 events in the CJA view</a:t>
            </a:r>
            <a:endParaRPr lang="en-US" sz="1100" dirty="0"/>
          </a:p>
        </p:txBody>
      </p:sp>
      <p:sp>
        <p:nvSpPr>
          <p:cNvPr id="18" name="Shape 14"/>
          <p:cNvSpPr/>
          <p:nvPr/>
        </p:nvSpPr>
        <p:spPr>
          <a:xfrm>
            <a:off x="2743200" y="1554480"/>
            <a:ext cx="2039112" cy="2743200"/>
          </a:xfrm>
          <a:prstGeom prst="roundRect">
            <a:avLst>
              <a:gd name="adj" fmla="val 5381"/>
            </a:avLst>
          </a:prstGeom>
          <a:solidFill>
            <a:srgbClr val="0A1F44"/>
          </a:solidFill>
          <a:ln w="6350">
            <a:solidFill>
              <a:srgbClr val="0A1F44"/>
            </a:solidFill>
            <a:prstDash val="solid"/>
          </a:ln>
        </p:spPr>
      </p:sp>
      <p:sp>
        <p:nvSpPr>
          <p:cNvPr id="19" name="Shape 15"/>
          <p:cNvSpPr/>
          <p:nvPr/>
        </p:nvSpPr>
        <p:spPr>
          <a:xfrm>
            <a:off x="2880360" y="1737360"/>
            <a:ext cx="384048" cy="384048"/>
          </a:xfrm>
          <a:prstGeom prst="ellipse">
            <a:avLst/>
          </a:prstGeom>
          <a:solidFill>
            <a:srgbClr val="1D4ED8"/>
          </a:solidFill>
          <a:ln w="6350">
            <a:solidFill>
              <a:srgbClr val="1D4ED8"/>
            </a:solidFill>
            <a:prstDash val="solid"/>
          </a:ln>
        </p:spPr>
      </p:sp>
      <p:pic>
        <p:nvPicPr>
          <p:cNvPr id="20" name="Image 2" descr="preencoded.png">    </p:cNvPr>
          <p:cNvPicPr>
            <a:picLocks noChangeAspect="1"/>
          </p:cNvPicPr>
          <p:nvPr/>
        </p:nvPicPr>
        <p:blipFill>
          <a:blip r:embed="rId3"/>
          <a:stretch>
            <a:fillRect/>
          </a:stretch>
        </p:blipFill>
        <p:spPr>
          <a:xfrm>
            <a:off x="2964851" y="1821851"/>
            <a:ext cx="215067" cy="215067"/>
          </a:xfrm>
          <a:prstGeom prst="rect">
            <a:avLst/>
          </a:prstGeom>
        </p:spPr>
      </p:pic>
      <p:sp>
        <p:nvSpPr>
          <p:cNvPr id="21" name="Text 16"/>
          <p:cNvSpPr txBox="1"/>
          <p:nvPr/>
        </p:nvSpPr>
        <p:spPr>
          <a:xfrm>
            <a:off x="2880360" y="2286000"/>
            <a:ext cx="1764792" cy="146304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One stitched person ID</a:t>
            </a:r>
            <a:endParaRPr lang="en-US" sz="1100" dirty="0"/>
          </a:p>
          <a:p>
            <a:pPr indent="0" marL="0">
              <a:buNone/>
            </a:pPr>
            <a:r>
              <a:rPr lang="en-US" sz="900" dirty="0">
                <a:solidFill>
                  <a:srgbClr val="C7D7F5"/>
                </a:solidFill>
                <a:latin typeface="Inter" pitchFamily="34" charset="0"/>
                <a:ea typeface="Inter" pitchFamily="34" charset="-122"/>
                <a:cs typeface="Inter" pitchFamily="34" charset="-120"/>
              </a:rPr>
              <a:t>The same customer across web, app, email and SMS; ready today (Exhibit L)</a:t>
            </a:r>
            <a:endParaRPr lang="en-US" sz="1100" dirty="0"/>
          </a:p>
        </p:txBody>
      </p:sp>
      <p:sp>
        <p:nvSpPr>
          <p:cNvPr id="22" name="Shape 17"/>
          <p:cNvSpPr/>
          <p:nvPr/>
        </p:nvSpPr>
        <p:spPr>
          <a:xfrm>
            <a:off x="4983480" y="1554480"/>
            <a:ext cx="2039112" cy="859536"/>
          </a:xfrm>
          <a:prstGeom prst="roundRect">
            <a:avLst>
              <a:gd name="adj" fmla="val 8511"/>
            </a:avLst>
          </a:prstGeom>
          <a:solidFill>
            <a:srgbClr val="FEF2F2"/>
          </a:solidFill>
          <a:ln w="12700">
            <a:solidFill>
              <a:srgbClr val="DC2626"/>
            </a:solidFill>
            <a:prstDash val="solid"/>
          </a:ln>
        </p:spPr>
      </p:sp>
      <p:sp>
        <p:nvSpPr>
          <p:cNvPr id="23" name="Text 18"/>
          <p:cNvSpPr txBox="1"/>
          <p:nvPr/>
        </p:nvSpPr>
        <p:spPr>
          <a:xfrm>
            <a:off x="512064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Recent buyers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ordered in the last 30 days</a:t>
            </a:r>
            <a:endParaRPr lang="en-US" sz="1050" dirty="0"/>
          </a:p>
        </p:txBody>
      </p:sp>
      <p:sp>
        <p:nvSpPr>
          <p:cNvPr id="24" name="Shape 19"/>
          <p:cNvSpPr/>
          <p:nvPr/>
        </p:nvSpPr>
        <p:spPr>
          <a:xfrm>
            <a:off x="4983480" y="2496312"/>
            <a:ext cx="2039112" cy="859536"/>
          </a:xfrm>
          <a:prstGeom prst="roundRect">
            <a:avLst>
              <a:gd name="adj" fmla="val 8511"/>
            </a:avLst>
          </a:prstGeom>
          <a:solidFill>
            <a:srgbClr val="FEF2F2"/>
          </a:solidFill>
          <a:ln w="12700">
            <a:solidFill>
              <a:srgbClr val="DC2626"/>
            </a:solidFill>
            <a:prstDash val="solid"/>
          </a:ln>
        </p:spPr>
      </p:sp>
      <p:sp>
        <p:nvSpPr>
          <p:cNvPr id="25" name="Text 20"/>
          <p:cNvSpPr txBox="1"/>
          <p:nvPr/>
        </p:nvSpPr>
        <p:spPr>
          <a:xfrm>
            <a:off x="5120640" y="2496312"/>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Owned-reachable</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has email, SMS or the app</a:t>
            </a:r>
            <a:endParaRPr lang="en-US" sz="1050" dirty="0"/>
          </a:p>
        </p:txBody>
      </p:sp>
      <p:sp>
        <p:nvSpPr>
          <p:cNvPr id="26" name="Shape 21"/>
          <p:cNvSpPr/>
          <p:nvPr/>
        </p:nvSpPr>
        <p:spPr>
          <a:xfrm>
            <a:off x="4983480" y="3438144"/>
            <a:ext cx="2039112" cy="859536"/>
          </a:xfrm>
          <a:prstGeom prst="roundRect">
            <a:avLst>
              <a:gd name="adj" fmla="val 8511"/>
            </a:avLst>
          </a:prstGeom>
          <a:solidFill>
            <a:srgbClr val="FEF2F2"/>
          </a:solidFill>
          <a:ln w="12700">
            <a:solidFill>
              <a:srgbClr val="DC2626"/>
            </a:solidFill>
            <a:prstDash val="solid"/>
          </a:ln>
        </p:spPr>
      </p:sp>
      <p:sp>
        <p:nvSpPr>
          <p:cNvPr id="27" name="Text 22"/>
          <p:cNvSpPr txBox="1"/>
          <p:nvPr/>
        </p:nvSpPr>
        <p:spPr>
          <a:xfrm>
            <a:off x="5120640" y="3438144"/>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Single-page bouncers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lowest intent: left after one page</a:t>
            </a:r>
            <a:endParaRPr lang="en-US" sz="1050" dirty="0"/>
          </a:p>
        </p:txBody>
      </p:sp>
      <p:sp>
        <p:nvSpPr>
          <p:cNvPr id="28" name="Shape 23"/>
          <p:cNvSpPr/>
          <p:nvPr/>
        </p:nvSpPr>
        <p:spPr>
          <a:xfrm>
            <a:off x="7315200" y="1554480"/>
            <a:ext cx="2039112" cy="859536"/>
          </a:xfrm>
          <a:prstGeom prst="roundRect">
            <a:avLst>
              <a:gd name="adj" fmla="val 8511"/>
            </a:avLst>
          </a:prstGeom>
          <a:solidFill>
            <a:srgbClr val="FEF2F2"/>
          </a:solidFill>
          <a:ln w="12700">
            <a:solidFill>
              <a:srgbClr val="DC2626"/>
            </a:solidFill>
            <a:prstDash val="solid"/>
          </a:ln>
        </p:spPr>
      </p:sp>
      <p:sp>
        <p:nvSpPr>
          <p:cNvPr id="29" name="Text 24"/>
          <p:cNvSpPr txBox="1"/>
          <p:nvPr/>
        </p:nvSpPr>
        <p:spPr>
          <a:xfrm>
            <a:off x="745236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Suppression lists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to Meta, Google and TikTok daily, via Real-Time CDP</a:t>
            </a:r>
            <a:endParaRPr lang="en-US" sz="1050" dirty="0"/>
          </a:p>
        </p:txBody>
      </p:sp>
      <p:sp>
        <p:nvSpPr>
          <p:cNvPr id="30" name="Shape 25"/>
          <p:cNvSpPr/>
          <p:nvPr/>
        </p:nvSpPr>
        <p:spPr>
          <a:xfrm>
            <a:off x="7315200" y="2496312"/>
            <a:ext cx="2039112" cy="859536"/>
          </a:xfrm>
          <a:prstGeom prst="roundRect">
            <a:avLst>
              <a:gd name="adj" fmla="val 8511"/>
            </a:avLst>
          </a:prstGeom>
          <a:solidFill>
            <a:srgbClr val="F1F5F9"/>
          </a:solidFill>
          <a:ln w="12700">
            <a:solidFill>
              <a:srgbClr val="94A3B8"/>
            </a:solidFill>
            <a:prstDash val="solid"/>
          </a:ln>
        </p:spPr>
      </p:sp>
      <p:sp>
        <p:nvSpPr>
          <p:cNvPr id="31" name="Text 26"/>
          <p:cNvSpPr txBox="1"/>
          <p:nvPr/>
        </p:nvSpPr>
        <p:spPr>
          <a:xfrm>
            <a:off x="7452360" y="2496312"/>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Frequency cap</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per person, across platforms</a:t>
            </a:r>
            <a:endParaRPr lang="en-US" sz="1050" dirty="0"/>
          </a:p>
        </p:txBody>
      </p:sp>
      <p:sp>
        <p:nvSpPr>
          <p:cNvPr id="32" name="Shape 27"/>
          <p:cNvSpPr/>
          <p:nvPr/>
        </p:nvSpPr>
        <p:spPr>
          <a:xfrm>
            <a:off x="7315200" y="3438144"/>
            <a:ext cx="2039112" cy="859536"/>
          </a:xfrm>
          <a:prstGeom prst="roundRect">
            <a:avLst>
              <a:gd name="adj" fmla="val 8511"/>
            </a:avLst>
          </a:prstGeom>
          <a:solidFill>
            <a:srgbClr val="F1F5F9"/>
          </a:solidFill>
          <a:ln w="12700">
            <a:solidFill>
              <a:srgbClr val="94A3B8"/>
            </a:solidFill>
            <a:prstDash val="solid"/>
          </a:ln>
        </p:spPr>
      </p:sp>
      <p:sp>
        <p:nvSpPr>
          <p:cNvPr id="33" name="Text 28"/>
          <p:cNvSpPr txBox="1"/>
          <p:nvPr/>
        </p:nvSpPr>
        <p:spPr>
          <a:xfrm>
            <a:off x="7452360" y="3438144"/>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Prospecting exclusions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existing buyers kept out of new-customer campaigns</a:t>
            </a:r>
            <a:endParaRPr lang="en-US" sz="1050" dirty="0"/>
          </a:p>
        </p:txBody>
      </p:sp>
      <p:sp>
        <p:nvSpPr>
          <p:cNvPr id="34" name="Shape 29"/>
          <p:cNvSpPr/>
          <p:nvPr/>
        </p:nvSpPr>
        <p:spPr>
          <a:xfrm>
            <a:off x="9646920" y="1554480"/>
            <a:ext cx="2039112" cy="2743200"/>
          </a:xfrm>
          <a:prstGeom prst="roundRect">
            <a:avLst>
              <a:gd name="adj" fmla="val 5381"/>
            </a:avLst>
          </a:prstGeom>
          <a:solidFill>
            <a:srgbClr val="1D4ED8"/>
          </a:solidFill>
          <a:ln w="6350">
            <a:solidFill>
              <a:srgbClr val="1D4ED8"/>
            </a:solidFill>
            <a:prstDash val="solid"/>
          </a:ln>
        </p:spPr>
      </p:sp>
      <p:sp>
        <p:nvSpPr>
          <p:cNvPr id="35" name="Shape 30"/>
          <p:cNvSpPr/>
          <p:nvPr/>
        </p:nvSpPr>
        <p:spPr>
          <a:xfrm>
            <a:off x="9784080" y="1737360"/>
            <a:ext cx="384048" cy="384048"/>
          </a:xfrm>
          <a:prstGeom prst="ellipse">
            <a:avLst/>
          </a:prstGeom>
          <a:solidFill>
            <a:srgbClr val="FFFFFF"/>
          </a:solidFill>
          <a:ln w="6350">
            <a:solidFill>
              <a:srgbClr val="FFFFFF"/>
            </a:solidFill>
            <a:prstDash val="solid"/>
          </a:ln>
        </p:spPr>
      </p:sp>
      <p:pic>
        <p:nvPicPr>
          <p:cNvPr id="36" name="Image 3" descr="preencoded.png">    </p:cNvPr>
          <p:cNvPicPr>
            <a:picLocks noChangeAspect="1"/>
          </p:cNvPicPr>
          <p:nvPr/>
        </p:nvPicPr>
        <p:blipFill>
          <a:blip r:embed="rId4"/>
          <a:stretch>
            <a:fillRect/>
          </a:stretch>
        </p:blipFill>
        <p:spPr>
          <a:xfrm>
            <a:off x="9868571" y="1821851"/>
            <a:ext cx="215067" cy="215067"/>
          </a:xfrm>
          <a:prstGeom prst="rect">
            <a:avLst/>
          </a:prstGeom>
        </p:spPr>
      </p:pic>
      <p:sp>
        <p:nvSpPr>
          <p:cNvPr id="37" name="Text 31"/>
          <p:cNvSpPr txBox="1"/>
          <p:nvPr/>
        </p:nvSpPr>
        <p:spPr>
          <a:xfrm>
            <a:off x="9784080" y="2286000"/>
            <a:ext cx="1764792" cy="164592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Retargeting's one job</a:t>
            </a:r>
            <a:endParaRPr lang="en-US" sz="1100" dirty="0"/>
          </a:p>
          <a:p>
            <a:pPr indent="0" marL="0">
              <a:buNone/>
            </a:pPr>
            <a:r>
              <a:rPr lang="en-US" sz="900" dirty="0">
                <a:solidFill>
                  <a:srgbClr val="DCE7FB"/>
                </a:solidFill>
                <a:latin typeface="Inter" pitchFamily="34" charset="0"/>
                <a:ea typeface="Inter" pitchFamily="34" charset="-122"/>
                <a:cs typeface="Inter" pitchFamily="34" charset="-120"/>
              </a:rPr>
              <a:t>reaching high-intent people Quince has no other way to contact, inside the same $14M line ($0 incremental, Exhibit I)</a:t>
            </a:r>
            <a:endParaRPr lang="en-US" sz="1100" dirty="0"/>
          </a:p>
        </p:txBody>
      </p:sp>
      <p:sp>
        <p:nvSpPr>
          <p:cNvPr id="38" name="Shape 32"/>
          <p:cNvSpPr/>
          <p:nvPr/>
        </p:nvSpPr>
        <p:spPr>
          <a:xfrm>
            <a:off x="2560320" y="2834640"/>
            <a:ext cx="164592" cy="182880"/>
          </a:xfrm>
          <a:prstGeom prst="rightArrow">
            <a:avLst/>
          </a:prstGeom>
          <a:solidFill>
            <a:srgbClr val="1D4ED8"/>
          </a:solidFill>
          <a:ln w="6350">
            <a:solidFill>
              <a:srgbClr val="1D4ED8"/>
            </a:solidFill>
            <a:prstDash val="solid"/>
          </a:ln>
        </p:spPr>
      </p:sp>
      <p:sp>
        <p:nvSpPr>
          <p:cNvPr id="39" name="Shape 33"/>
          <p:cNvSpPr/>
          <p:nvPr/>
        </p:nvSpPr>
        <p:spPr>
          <a:xfrm>
            <a:off x="4800600" y="2834640"/>
            <a:ext cx="164592" cy="182880"/>
          </a:xfrm>
          <a:prstGeom prst="rightArrow">
            <a:avLst/>
          </a:prstGeom>
          <a:solidFill>
            <a:srgbClr val="1D4ED8"/>
          </a:solidFill>
          <a:ln w="6350">
            <a:solidFill>
              <a:srgbClr val="1D4ED8"/>
            </a:solidFill>
            <a:prstDash val="solid"/>
          </a:ln>
        </p:spPr>
      </p:sp>
      <p:sp>
        <p:nvSpPr>
          <p:cNvPr id="40" name="Shape 34"/>
          <p:cNvSpPr/>
          <p:nvPr/>
        </p:nvSpPr>
        <p:spPr>
          <a:xfrm>
            <a:off x="7040880" y="2834640"/>
            <a:ext cx="164592" cy="182880"/>
          </a:xfrm>
          <a:prstGeom prst="rightArrow">
            <a:avLst/>
          </a:prstGeom>
          <a:solidFill>
            <a:srgbClr val="1D4ED8"/>
          </a:solidFill>
          <a:ln w="6350">
            <a:solidFill>
              <a:srgbClr val="1D4ED8"/>
            </a:solidFill>
            <a:prstDash val="solid"/>
          </a:ln>
        </p:spPr>
      </p:sp>
      <p:sp>
        <p:nvSpPr>
          <p:cNvPr id="41" name="Shape 35"/>
          <p:cNvSpPr/>
          <p:nvPr/>
        </p:nvSpPr>
        <p:spPr>
          <a:xfrm>
            <a:off x="9372600" y="2834640"/>
            <a:ext cx="164592" cy="182880"/>
          </a:xfrm>
          <a:prstGeom prst="rightArrow">
            <a:avLst/>
          </a:prstGeom>
          <a:solidFill>
            <a:srgbClr val="1D4ED8"/>
          </a:solidFill>
          <a:ln w="6350">
            <a:solidFill>
              <a:srgbClr val="1D4ED8"/>
            </a:solidFill>
            <a:prstDash val="solid"/>
          </a:ln>
        </p:spPr>
      </p:sp>
      <p:sp>
        <p:nvSpPr>
          <p:cNvPr id="42" name="Shape 36"/>
          <p:cNvSpPr/>
          <p:nvPr/>
        </p:nvSpPr>
        <p:spPr>
          <a:xfrm>
            <a:off x="10661904" y="4297680"/>
            <a:ext cx="0" cy="411480"/>
          </a:xfrm>
          <a:prstGeom prst="line">
            <a:avLst/>
          </a:prstGeom>
          <a:noFill/>
          <a:ln w="15875">
            <a:solidFill>
              <a:srgbClr val="1D4ED8"/>
            </a:solidFill>
            <a:prstDash val="solid"/>
          </a:ln>
        </p:spPr>
      </p:sp>
      <p:sp>
        <p:nvSpPr>
          <p:cNvPr id="43" name="Shape 37"/>
          <p:cNvSpPr/>
          <p:nvPr/>
        </p:nvSpPr>
        <p:spPr>
          <a:xfrm>
            <a:off x="5998464" y="4709160"/>
            <a:ext cx="4663440" cy="0"/>
          </a:xfrm>
          <a:prstGeom prst="line">
            <a:avLst/>
          </a:prstGeom>
          <a:noFill/>
          <a:ln w="15875">
            <a:solidFill>
              <a:srgbClr val="1D4ED8"/>
            </a:solidFill>
            <a:prstDash val="solid"/>
          </a:ln>
        </p:spPr>
      </p:sp>
      <p:sp>
        <p:nvSpPr>
          <p:cNvPr id="44" name="Shape 38"/>
          <p:cNvSpPr/>
          <p:nvPr/>
        </p:nvSpPr>
        <p:spPr>
          <a:xfrm>
            <a:off x="5998464" y="4297680"/>
            <a:ext cx="0" cy="411480"/>
          </a:xfrm>
          <a:prstGeom prst="line">
            <a:avLst/>
          </a:prstGeom>
          <a:noFill/>
          <a:ln w="15875">
            <a:solidFill>
              <a:srgbClr val="1D4ED8"/>
            </a:solidFill>
            <a:prstDash val="solid"/>
            <a:headEnd type="triangle"/>
          </a:ln>
        </p:spPr>
      </p:sp>
      <p:sp>
        <p:nvSpPr>
          <p:cNvPr id="45" name="Shape 39"/>
          <p:cNvSpPr/>
          <p:nvPr/>
        </p:nvSpPr>
        <p:spPr>
          <a:xfrm>
            <a:off x="6675120" y="4572000"/>
            <a:ext cx="3291840" cy="274320"/>
          </a:xfrm>
          <a:prstGeom prst="roundRect">
            <a:avLst>
              <a:gd name="adj" fmla="val 26667"/>
            </a:avLst>
          </a:prstGeom>
          <a:solidFill>
            <a:srgbClr val="FFFFFF"/>
          </a:solidFill>
          <a:ln w="6350">
            <a:solidFill>
              <a:srgbClr val="FFFFFF"/>
            </a:solidFill>
            <a:prstDash val="solid"/>
          </a:ln>
        </p:spPr>
      </p:sp>
      <p:sp>
        <p:nvSpPr>
          <p:cNvPr id="46" name="Text 40"/>
          <p:cNvSpPr txBox="1"/>
          <p:nvPr/>
        </p:nvSpPr>
        <p:spPr>
          <a:xfrm>
            <a:off x="6675120" y="4572000"/>
            <a:ext cx="329184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Prove: incremental orders per retargeting $ vs holdout</a:t>
            </a:r>
            <a:endParaRPr lang="en-US" sz="950" dirty="0"/>
          </a:p>
        </p:txBody>
      </p:sp>
      <p:sp>
        <p:nvSpPr>
          <p:cNvPr id="47" name="Text 41"/>
          <p:cNvSpPr txBox="1"/>
          <p:nvPr/>
        </p:nvSpPr>
        <p:spPr>
          <a:xfrm>
            <a:off x="502920" y="4892040"/>
            <a:ext cx="1118311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test it:  </a:t>
            </a:r>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and attribution barely moves, so only a holdout can prove retargeting's value; the prospecting budget, which brings 45.5% of buyers, is unchanged.</a:t>
            </a:r>
            <a:endParaRPr lang="en-US" sz="1000" dirty="0"/>
          </a:p>
        </p:txBody>
      </p:sp>
      <p:sp>
        <p:nvSpPr>
          <p:cNvPr id="48"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9"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0" name="Image 4" descr="preencoded.png">    </p:cNvPr>
          <p:cNvPicPr>
            <a:picLocks noChangeAspect="1"/>
          </p:cNvPicPr>
          <p:nvPr/>
        </p:nvPicPr>
        <p:blipFill>
          <a:blip r:embed="rId5"/>
          <a:stretch>
            <a:fillRect/>
          </a:stretch>
        </p:blipFill>
        <p:spPr>
          <a:xfrm>
            <a:off x="712500" y="5878860"/>
            <a:ext cx="184343" cy="184343"/>
          </a:xfrm>
          <a:prstGeom prst="rect">
            <a:avLst/>
          </a:prstGeom>
        </p:spPr>
      </p:pic>
      <p:sp>
        <p:nvSpPr>
          <p:cNvPr id="51"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Suppression stops paying for customers Quince can already message; the prospecting budget is unchanged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One CJA loop runs every lever, every week</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Exhibits I and L; owners and rhythm are the team's operating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19</a:t>
            </a:r>
            <a:endParaRPr lang="en-US" sz="800" dirty="0"/>
          </a:p>
        </p:txBody>
      </p:sp>
      <p:sp>
        <p:nvSpPr>
          <p:cNvPr id="9" name="Shape 6"/>
          <p:cNvSpPr/>
          <p:nvPr/>
        </p:nvSpPr>
        <p:spPr>
          <a:xfrm>
            <a:off x="502920" y="1371600"/>
            <a:ext cx="2103120" cy="3063240"/>
          </a:xfrm>
          <a:prstGeom prst="roundRect">
            <a:avLst>
              <a:gd name="adj" fmla="val 4348"/>
            </a:avLst>
          </a:prstGeom>
          <a:solidFill>
            <a:srgbClr val="F8FAFC"/>
          </a:solidFill>
          <a:ln w="9525">
            <a:solidFill>
              <a:srgbClr val="E2E8F0"/>
            </a:solidFill>
            <a:prstDash val="solid"/>
          </a:ln>
        </p:spPr>
      </p:sp>
      <p:sp>
        <p:nvSpPr>
          <p:cNvPr id="10" name="Shape 7"/>
          <p:cNvSpPr/>
          <p:nvPr/>
        </p:nvSpPr>
        <p:spPr>
          <a:xfrm>
            <a:off x="649224" y="1536192"/>
            <a:ext cx="329184" cy="329184"/>
          </a:xfrm>
          <a:prstGeom prst="ellipse">
            <a:avLst/>
          </a:prstGeom>
          <a:solidFill>
            <a:srgbClr val="1D4ED8"/>
          </a:solidFill>
          <a:ln w="6350">
            <a:solidFill>
              <a:srgbClr val="1D4ED8"/>
            </a:solidFill>
            <a:prstDash val="solid"/>
          </a:ln>
        </p:spPr>
      </p:sp>
      <p:sp>
        <p:nvSpPr>
          <p:cNvPr id="11" name="Text 8"/>
          <p:cNvSpPr txBox="1"/>
          <p:nvPr/>
        </p:nvSpPr>
        <p:spPr>
          <a:xfrm>
            <a:off x="649224"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2" name="Text 9"/>
          <p:cNvSpPr txBox="1"/>
          <p:nvPr/>
        </p:nvSpPr>
        <p:spPr>
          <a:xfrm>
            <a:off x="1069848"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Diagnose</a:t>
            </a:r>
            <a:endParaRPr lang="en-US" sz="1500" dirty="0"/>
          </a:p>
        </p:txBody>
      </p:sp>
      <p:sp>
        <p:nvSpPr>
          <p:cNvPr id="13" name="Shape 10"/>
          <p:cNvSpPr/>
          <p:nvPr/>
        </p:nvSpPr>
        <p:spPr>
          <a:xfrm>
            <a:off x="649224" y="1975104"/>
            <a:ext cx="822960" cy="237744"/>
          </a:xfrm>
          <a:prstGeom prst="roundRect">
            <a:avLst>
              <a:gd name="adj" fmla="val 50000"/>
            </a:avLst>
          </a:prstGeom>
          <a:solidFill>
            <a:srgbClr val="FFFFFF"/>
          </a:solidFill>
          <a:ln w="12700">
            <a:solidFill>
              <a:srgbClr val="1D4ED8"/>
            </a:solidFill>
            <a:prstDash val="solid"/>
          </a:ln>
        </p:spPr>
      </p:sp>
      <p:sp>
        <p:nvSpPr>
          <p:cNvPr id="14" name="Text 11"/>
          <p:cNvSpPr txBox="1"/>
          <p:nvPr/>
        </p:nvSpPr>
        <p:spPr>
          <a:xfrm>
            <a:off x="649224"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15" name="Text 12"/>
          <p:cNvSpPr txBox="1"/>
          <p:nvPr/>
        </p:nvSpPr>
        <p:spPr>
          <a:xfrm>
            <a:off x="649224"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Fallout, Flow, Cohort Table and Attribution IQ on one stitched person ID</a:t>
            </a:r>
            <a:endParaRPr lang="en-US" sz="1000" dirty="0"/>
          </a:p>
        </p:txBody>
      </p:sp>
      <p:sp>
        <p:nvSpPr>
          <p:cNvPr id="16" name="Shape 13"/>
          <p:cNvSpPr/>
          <p:nvPr/>
        </p:nvSpPr>
        <p:spPr>
          <a:xfrm>
            <a:off x="649224" y="3520440"/>
            <a:ext cx="1810512" cy="0"/>
          </a:xfrm>
          <a:prstGeom prst="line">
            <a:avLst/>
          </a:prstGeom>
          <a:noFill/>
          <a:ln w="9525">
            <a:solidFill>
              <a:srgbClr val="E2E8F0"/>
            </a:solidFill>
            <a:prstDash val="solid"/>
          </a:ln>
        </p:spPr>
      </p:sp>
      <p:sp>
        <p:nvSpPr>
          <p:cNvPr id="17" name="Text 14"/>
          <p:cNvSpPr txBox="1"/>
          <p:nvPr/>
        </p:nvSpPr>
        <p:spPr>
          <a:xfrm>
            <a:off x="649224"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18" name="Shape 15"/>
          <p:cNvSpPr/>
          <p:nvPr/>
        </p:nvSpPr>
        <p:spPr>
          <a:xfrm>
            <a:off x="2615184" y="2788920"/>
            <a:ext cx="146304" cy="182880"/>
          </a:xfrm>
          <a:prstGeom prst="rightArrow">
            <a:avLst/>
          </a:prstGeom>
          <a:solidFill>
            <a:srgbClr val="1D4ED8"/>
          </a:solidFill>
          <a:ln w="6350">
            <a:solidFill>
              <a:srgbClr val="1D4ED8"/>
            </a:solidFill>
            <a:prstDash val="solid"/>
          </a:ln>
        </p:spPr>
      </p:sp>
      <p:sp>
        <p:nvSpPr>
          <p:cNvPr id="19" name="Shape 16"/>
          <p:cNvSpPr/>
          <p:nvPr/>
        </p:nvSpPr>
        <p:spPr>
          <a:xfrm>
            <a:off x="2770632" y="1371600"/>
            <a:ext cx="2103120" cy="3063240"/>
          </a:xfrm>
          <a:prstGeom prst="roundRect">
            <a:avLst>
              <a:gd name="adj" fmla="val 4348"/>
            </a:avLst>
          </a:prstGeom>
          <a:solidFill>
            <a:srgbClr val="F8FAFC"/>
          </a:solidFill>
          <a:ln w="9525">
            <a:solidFill>
              <a:srgbClr val="E2E8F0"/>
            </a:solidFill>
            <a:prstDash val="solid"/>
          </a:ln>
        </p:spPr>
      </p:sp>
      <p:sp>
        <p:nvSpPr>
          <p:cNvPr id="20" name="Shape 17"/>
          <p:cNvSpPr/>
          <p:nvPr/>
        </p:nvSpPr>
        <p:spPr>
          <a:xfrm>
            <a:off x="2916936" y="1536192"/>
            <a:ext cx="329184" cy="329184"/>
          </a:xfrm>
          <a:prstGeom prst="ellipse">
            <a:avLst/>
          </a:prstGeom>
          <a:solidFill>
            <a:srgbClr val="1D4ED8"/>
          </a:solidFill>
          <a:ln w="6350">
            <a:solidFill>
              <a:srgbClr val="1D4ED8"/>
            </a:solidFill>
            <a:prstDash val="solid"/>
          </a:ln>
        </p:spPr>
      </p:sp>
      <p:sp>
        <p:nvSpPr>
          <p:cNvPr id="21" name="Text 18"/>
          <p:cNvSpPr txBox="1"/>
          <p:nvPr/>
        </p:nvSpPr>
        <p:spPr>
          <a:xfrm>
            <a:off x="2916936"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2" name="Text 19"/>
          <p:cNvSpPr txBox="1"/>
          <p:nvPr/>
        </p:nvSpPr>
        <p:spPr>
          <a:xfrm>
            <a:off x="3337560"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Target</a:t>
            </a:r>
            <a:endParaRPr lang="en-US" sz="1500" dirty="0"/>
          </a:p>
        </p:txBody>
      </p:sp>
      <p:sp>
        <p:nvSpPr>
          <p:cNvPr id="23" name="Shape 20"/>
          <p:cNvSpPr/>
          <p:nvPr/>
        </p:nvSpPr>
        <p:spPr>
          <a:xfrm>
            <a:off x="2916936" y="1975104"/>
            <a:ext cx="1143000" cy="237744"/>
          </a:xfrm>
          <a:prstGeom prst="roundRect">
            <a:avLst>
              <a:gd name="adj" fmla="val 50000"/>
            </a:avLst>
          </a:prstGeom>
          <a:solidFill>
            <a:srgbClr val="FFFFFF"/>
          </a:solidFill>
          <a:ln w="12700">
            <a:solidFill>
              <a:srgbClr val="1D4ED8"/>
            </a:solidFill>
            <a:prstDash val="solid"/>
          </a:ln>
        </p:spPr>
      </p:sp>
      <p:sp>
        <p:nvSpPr>
          <p:cNvPr id="24" name="Text 21"/>
          <p:cNvSpPr txBox="1"/>
          <p:nvPr/>
        </p:nvSpPr>
        <p:spPr>
          <a:xfrm>
            <a:off x="2916936"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25" name="Text 22"/>
          <p:cNvSpPr txBox="1"/>
          <p:nvPr/>
        </p:nvSpPr>
        <p:spPr>
          <a:xfrm>
            <a:off x="2916936"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Turn findings into saved CJA segments: abandoners, engaged, cashmere-first, recent buyers</a:t>
            </a:r>
            <a:endParaRPr lang="en-US" sz="1000" dirty="0"/>
          </a:p>
        </p:txBody>
      </p:sp>
      <p:sp>
        <p:nvSpPr>
          <p:cNvPr id="26" name="Shape 23"/>
          <p:cNvSpPr/>
          <p:nvPr/>
        </p:nvSpPr>
        <p:spPr>
          <a:xfrm>
            <a:off x="2916936" y="3520440"/>
            <a:ext cx="1810512" cy="0"/>
          </a:xfrm>
          <a:prstGeom prst="line">
            <a:avLst/>
          </a:prstGeom>
          <a:noFill/>
          <a:ln w="9525">
            <a:solidFill>
              <a:srgbClr val="E2E8F0"/>
            </a:solidFill>
            <a:prstDash val="solid"/>
          </a:ln>
        </p:spPr>
      </p:sp>
      <p:sp>
        <p:nvSpPr>
          <p:cNvPr id="27" name="Text 24"/>
          <p:cNvSpPr txBox="1"/>
          <p:nvPr/>
        </p:nvSpPr>
        <p:spPr>
          <a:xfrm>
            <a:off x="2916936"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Analytics + CRM</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28" name="Shape 25"/>
          <p:cNvSpPr/>
          <p:nvPr/>
        </p:nvSpPr>
        <p:spPr>
          <a:xfrm>
            <a:off x="4882896" y="2788920"/>
            <a:ext cx="146304" cy="182880"/>
          </a:xfrm>
          <a:prstGeom prst="rightArrow">
            <a:avLst/>
          </a:prstGeom>
          <a:solidFill>
            <a:srgbClr val="1D4ED8"/>
          </a:solidFill>
          <a:ln w="6350">
            <a:solidFill>
              <a:srgbClr val="1D4ED8"/>
            </a:solidFill>
            <a:prstDash val="solid"/>
          </a:ln>
        </p:spPr>
      </p:sp>
      <p:sp>
        <p:nvSpPr>
          <p:cNvPr id="29" name="Shape 26"/>
          <p:cNvSpPr/>
          <p:nvPr/>
        </p:nvSpPr>
        <p:spPr>
          <a:xfrm>
            <a:off x="5038344" y="1371600"/>
            <a:ext cx="2103120" cy="3063240"/>
          </a:xfrm>
          <a:prstGeom prst="roundRect">
            <a:avLst>
              <a:gd name="adj" fmla="val 4348"/>
            </a:avLst>
          </a:prstGeom>
          <a:solidFill>
            <a:srgbClr val="F8FAFC"/>
          </a:solidFill>
          <a:ln w="9525">
            <a:solidFill>
              <a:srgbClr val="E2E8F0"/>
            </a:solidFill>
            <a:prstDash val="solid"/>
          </a:ln>
        </p:spPr>
      </p:sp>
      <p:sp>
        <p:nvSpPr>
          <p:cNvPr id="30" name="Shape 27"/>
          <p:cNvSpPr/>
          <p:nvPr/>
        </p:nvSpPr>
        <p:spPr>
          <a:xfrm>
            <a:off x="5184648" y="1536192"/>
            <a:ext cx="329184" cy="329184"/>
          </a:xfrm>
          <a:prstGeom prst="ellipse">
            <a:avLst/>
          </a:prstGeom>
          <a:solidFill>
            <a:srgbClr val="1D4ED8"/>
          </a:solidFill>
          <a:ln w="6350">
            <a:solidFill>
              <a:srgbClr val="1D4ED8"/>
            </a:solidFill>
            <a:prstDash val="solid"/>
          </a:ln>
        </p:spPr>
      </p:sp>
      <p:sp>
        <p:nvSpPr>
          <p:cNvPr id="31" name="Text 28"/>
          <p:cNvSpPr txBox="1"/>
          <p:nvPr/>
        </p:nvSpPr>
        <p:spPr>
          <a:xfrm>
            <a:off x="5184648"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32" name="Text 29"/>
          <p:cNvSpPr txBox="1"/>
          <p:nvPr/>
        </p:nvSpPr>
        <p:spPr>
          <a:xfrm>
            <a:off x="5605272"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Activate</a:t>
            </a:r>
            <a:endParaRPr lang="en-US" sz="1500" dirty="0"/>
          </a:p>
        </p:txBody>
      </p:sp>
      <p:sp>
        <p:nvSpPr>
          <p:cNvPr id="33" name="Shape 30"/>
          <p:cNvSpPr/>
          <p:nvPr/>
        </p:nvSpPr>
        <p:spPr>
          <a:xfrm>
            <a:off x="5184648" y="1975104"/>
            <a:ext cx="1143000" cy="237744"/>
          </a:xfrm>
          <a:prstGeom prst="roundRect">
            <a:avLst>
              <a:gd name="adj" fmla="val 50000"/>
            </a:avLst>
          </a:prstGeom>
          <a:solidFill>
            <a:srgbClr val="FFFFFF"/>
          </a:solidFill>
          <a:ln w="12700">
            <a:solidFill>
              <a:srgbClr val="1D4ED8"/>
            </a:solidFill>
            <a:prstDash val="solid"/>
          </a:ln>
        </p:spPr>
      </p:sp>
      <p:sp>
        <p:nvSpPr>
          <p:cNvPr id="34" name="Text 31"/>
          <p:cNvSpPr txBox="1"/>
          <p:nvPr/>
        </p:nvSpPr>
        <p:spPr>
          <a:xfrm>
            <a:off x="5184648"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35" name="Text 32"/>
          <p:cNvSpPr txBox="1"/>
          <p:nvPr/>
        </p:nvSpPr>
        <p:spPr>
          <a:xfrm>
            <a:off x="5184648"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Send segments to lifecycle journeys and to paid-media suppression lists</a:t>
            </a:r>
            <a:endParaRPr lang="en-US" sz="1000" dirty="0"/>
          </a:p>
        </p:txBody>
      </p:sp>
      <p:sp>
        <p:nvSpPr>
          <p:cNvPr id="36" name="Shape 33"/>
          <p:cNvSpPr/>
          <p:nvPr/>
        </p:nvSpPr>
        <p:spPr>
          <a:xfrm>
            <a:off x="5184648" y="3520440"/>
            <a:ext cx="1810512" cy="0"/>
          </a:xfrm>
          <a:prstGeom prst="line">
            <a:avLst/>
          </a:prstGeom>
          <a:noFill/>
          <a:ln w="9525">
            <a:solidFill>
              <a:srgbClr val="E2E8F0"/>
            </a:solidFill>
            <a:prstDash val="solid"/>
          </a:ln>
        </p:spPr>
      </p:sp>
      <p:sp>
        <p:nvSpPr>
          <p:cNvPr id="37" name="Text 34"/>
          <p:cNvSpPr txBox="1"/>
          <p:nvPr/>
        </p:nvSpPr>
        <p:spPr>
          <a:xfrm>
            <a:off x="5184648"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Marketing ops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Daily sync</a:t>
            </a:r>
            <a:endParaRPr lang="en-US" sz="950" dirty="0"/>
          </a:p>
        </p:txBody>
      </p:sp>
      <p:sp>
        <p:nvSpPr>
          <p:cNvPr id="38" name="Shape 35"/>
          <p:cNvSpPr/>
          <p:nvPr/>
        </p:nvSpPr>
        <p:spPr>
          <a:xfrm>
            <a:off x="7150608" y="2788920"/>
            <a:ext cx="146304" cy="182880"/>
          </a:xfrm>
          <a:prstGeom prst="rightArrow">
            <a:avLst/>
          </a:prstGeom>
          <a:solidFill>
            <a:srgbClr val="1D4ED8"/>
          </a:solidFill>
          <a:ln w="6350">
            <a:solidFill>
              <a:srgbClr val="1D4ED8"/>
            </a:solidFill>
            <a:prstDash val="solid"/>
          </a:ln>
        </p:spPr>
      </p:sp>
      <p:sp>
        <p:nvSpPr>
          <p:cNvPr id="39" name="Shape 36"/>
          <p:cNvSpPr/>
          <p:nvPr/>
        </p:nvSpPr>
        <p:spPr>
          <a:xfrm>
            <a:off x="7306056" y="1371600"/>
            <a:ext cx="2103120" cy="3063240"/>
          </a:xfrm>
          <a:prstGeom prst="roundRect">
            <a:avLst>
              <a:gd name="adj" fmla="val 4348"/>
            </a:avLst>
          </a:prstGeom>
          <a:solidFill>
            <a:srgbClr val="F8FAFC"/>
          </a:solidFill>
          <a:ln w="9525">
            <a:solidFill>
              <a:srgbClr val="E2E8F0"/>
            </a:solidFill>
            <a:prstDash val="solid"/>
          </a:ln>
        </p:spPr>
      </p:sp>
      <p:sp>
        <p:nvSpPr>
          <p:cNvPr id="40" name="Shape 37"/>
          <p:cNvSpPr/>
          <p:nvPr/>
        </p:nvSpPr>
        <p:spPr>
          <a:xfrm>
            <a:off x="7452360" y="1536192"/>
            <a:ext cx="329184" cy="329184"/>
          </a:xfrm>
          <a:prstGeom prst="ellipse">
            <a:avLst/>
          </a:prstGeom>
          <a:solidFill>
            <a:srgbClr val="1D4ED8"/>
          </a:solidFill>
          <a:ln w="6350">
            <a:solidFill>
              <a:srgbClr val="1D4ED8"/>
            </a:solidFill>
            <a:prstDash val="solid"/>
          </a:ln>
        </p:spPr>
      </p:sp>
      <p:sp>
        <p:nvSpPr>
          <p:cNvPr id="41" name="Text 38"/>
          <p:cNvSpPr txBox="1"/>
          <p:nvPr/>
        </p:nvSpPr>
        <p:spPr>
          <a:xfrm>
            <a:off x="7452360"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42" name="Text 39"/>
          <p:cNvSpPr txBox="1"/>
          <p:nvPr/>
        </p:nvSpPr>
        <p:spPr>
          <a:xfrm>
            <a:off x="7872984"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Prove</a:t>
            </a:r>
            <a:endParaRPr lang="en-US" sz="1500" dirty="0"/>
          </a:p>
        </p:txBody>
      </p:sp>
      <p:sp>
        <p:nvSpPr>
          <p:cNvPr id="43" name="Shape 40"/>
          <p:cNvSpPr/>
          <p:nvPr/>
        </p:nvSpPr>
        <p:spPr>
          <a:xfrm>
            <a:off x="7452360" y="1975104"/>
            <a:ext cx="822960" cy="237744"/>
          </a:xfrm>
          <a:prstGeom prst="roundRect">
            <a:avLst>
              <a:gd name="adj" fmla="val 50000"/>
            </a:avLst>
          </a:prstGeom>
          <a:solidFill>
            <a:srgbClr val="FFFFFF"/>
          </a:solidFill>
          <a:ln w="12700">
            <a:solidFill>
              <a:srgbClr val="1D4ED8"/>
            </a:solidFill>
            <a:prstDash val="solid"/>
          </a:ln>
        </p:spPr>
      </p:sp>
      <p:sp>
        <p:nvSpPr>
          <p:cNvPr id="44" name="Text 41"/>
          <p:cNvSpPr txBox="1"/>
          <p:nvPr/>
        </p:nvSpPr>
        <p:spPr>
          <a:xfrm>
            <a:off x="7452360"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45" name="Text 42"/>
          <p:cNvSpPr txBox="1"/>
          <p:nvPr/>
        </p:nvSpPr>
        <p:spPr>
          <a:xfrm>
            <a:off x="7452360"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every move against a randomized holdout: 10% in the South pilot</a:t>
            </a:r>
            <a:endParaRPr lang="en-US" sz="1000" dirty="0"/>
          </a:p>
        </p:txBody>
      </p:sp>
      <p:sp>
        <p:nvSpPr>
          <p:cNvPr id="46" name="Shape 43"/>
          <p:cNvSpPr/>
          <p:nvPr/>
        </p:nvSpPr>
        <p:spPr>
          <a:xfrm>
            <a:off x="7452360" y="3520440"/>
            <a:ext cx="1810512" cy="0"/>
          </a:xfrm>
          <a:prstGeom prst="line">
            <a:avLst/>
          </a:prstGeom>
          <a:noFill/>
          <a:ln w="9525">
            <a:solidFill>
              <a:srgbClr val="E2E8F0"/>
            </a:solidFill>
            <a:prstDash val="solid"/>
          </a:ln>
        </p:spPr>
      </p:sp>
      <p:sp>
        <p:nvSpPr>
          <p:cNvPr id="47" name="Text 44"/>
          <p:cNvSpPr txBox="1"/>
          <p:nvPr/>
        </p:nvSpPr>
        <p:spPr>
          <a:xfrm>
            <a:off x="7452360"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 council</a:t>
            </a:r>
            <a:endParaRPr lang="en-US" sz="950" dirty="0"/>
          </a:p>
        </p:txBody>
      </p:sp>
      <p:sp>
        <p:nvSpPr>
          <p:cNvPr id="48" name="Shape 45"/>
          <p:cNvSpPr/>
          <p:nvPr/>
        </p:nvSpPr>
        <p:spPr>
          <a:xfrm>
            <a:off x="9418320" y="2788920"/>
            <a:ext cx="146304" cy="182880"/>
          </a:xfrm>
          <a:prstGeom prst="rightArrow">
            <a:avLst/>
          </a:prstGeom>
          <a:solidFill>
            <a:srgbClr val="1D4ED8"/>
          </a:solidFill>
          <a:ln w="6350">
            <a:solidFill>
              <a:srgbClr val="1D4ED8"/>
            </a:solidFill>
            <a:prstDash val="solid"/>
          </a:ln>
        </p:spPr>
      </p:sp>
      <p:sp>
        <p:nvSpPr>
          <p:cNvPr id="49" name="Shape 46"/>
          <p:cNvSpPr/>
          <p:nvPr/>
        </p:nvSpPr>
        <p:spPr>
          <a:xfrm>
            <a:off x="9573768" y="1371600"/>
            <a:ext cx="2103120" cy="3063240"/>
          </a:xfrm>
          <a:prstGeom prst="roundRect">
            <a:avLst>
              <a:gd name="adj" fmla="val 4348"/>
            </a:avLst>
          </a:prstGeom>
          <a:solidFill>
            <a:srgbClr val="F8FAFC"/>
          </a:solidFill>
          <a:ln w="9525">
            <a:solidFill>
              <a:srgbClr val="E2E8F0"/>
            </a:solidFill>
            <a:prstDash val="solid"/>
          </a:ln>
        </p:spPr>
      </p:sp>
      <p:sp>
        <p:nvSpPr>
          <p:cNvPr id="50" name="Shape 47"/>
          <p:cNvSpPr/>
          <p:nvPr/>
        </p:nvSpPr>
        <p:spPr>
          <a:xfrm>
            <a:off x="9720072" y="1536192"/>
            <a:ext cx="329184" cy="329184"/>
          </a:xfrm>
          <a:prstGeom prst="ellipse">
            <a:avLst/>
          </a:prstGeom>
          <a:solidFill>
            <a:srgbClr val="0A1F44"/>
          </a:solidFill>
          <a:ln w="6350">
            <a:solidFill>
              <a:srgbClr val="0A1F44"/>
            </a:solidFill>
            <a:prstDash val="solid"/>
          </a:ln>
        </p:spPr>
      </p:sp>
      <p:sp>
        <p:nvSpPr>
          <p:cNvPr id="51" name="Text 48"/>
          <p:cNvSpPr txBox="1"/>
          <p:nvPr/>
        </p:nvSpPr>
        <p:spPr>
          <a:xfrm>
            <a:off x="9720072"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2" name="Text 49"/>
          <p:cNvSpPr txBox="1"/>
          <p:nvPr/>
        </p:nvSpPr>
        <p:spPr>
          <a:xfrm>
            <a:off x="10140696"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Reallocate</a:t>
            </a:r>
            <a:endParaRPr lang="en-US" sz="1500" dirty="0"/>
          </a:p>
        </p:txBody>
      </p:sp>
      <p:sp>
        <p:nvSpPr>
          <p:cNvPr id="53" name="Shape 50"/>
          <p:cNvSpPr/>
          <p:nvPr/>
        </p:nvSpPr>
        <p:spPr>
          <a:xfrm>
            <a:off x="9720072" y="1975104"/>
            <a:ext cx="822960" cy="237744"/>
          </a:xfrm>
          <a:prstGeom prst="roundRect">
            <a:avLst>
              <a:gd name="adj" fmla="val 50000"/>
            </a:avLst>
          </a:prstGeom>
          <a:solidFill>
            <a:srgbClr val="FFFFFF"/>
          </a:solidFill>
          <a:ln w="12700">
            <a:solidFill>
              <a:srgbClr val="1D4ED8"/>
            </a:solidFill>
            <a:prstDash val="solid"/>
          </a:ln>
        </p:spPr>
      </p:sp>
      <p:sp>
        <p:nvSpPr>
          <p:cNvPr id="54" name="Text 51"/>
          <p:cNvSpPr txBox="1"/>
          <p:nvPr/>
        </p:nvSpPr>
        <p:spPr>
          <a:xfrm>
            <a:off x="9720072"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55" name="Text 52"/>
          <p:cNvSpPr txBox="1"/>
          <p:nvPr/>
        </p:nvSpPr>
        <p:spPr>
          <a:xfrm>
            <a:off x="9720072"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Move money across lines only when the holdout proves it; otherwise it stays</a:t>
            </a:r>
            <a:endParaRPr lang="en-US" sz="1000" dirty="0"/>
          </a:p>
        </p:txBody>
      </p:sp>
      <p:sp>
        <p:nvSpPr>
          <p:cNvPr id="56" name="Shape 53"/>
          <p:cNvSpPr/>
          <p:nvPr/>
        </p:nvSpPr>
        <p:spPr>
          <a:xfrm>
            <a:off x="9720072" y="3520440"/>
            <a:ext cx="1810512" cy="0"/>
          </a:xfrm>
          <a:prstGeom prst="line">
            <a:avLst/>
          </a:prstGeom>
          <a:noFill/>
          <a:ln w="9525">
            <a:solidFill>
              <a:srgbClr val="E2E8F0"/>
            </a:solidFill>
            <a:prstDash val="solid"/>
          </a:ln>
        </p:spPr>
      </p:sp>
      <p:sp>
        <p:nvSpPr>
          <p:cNvPr id="57" name="Text 54"/>
          <p:cNvSpPr txBox="1"/>
          <p:nvPr/>
        </p:nvSpPr>
        <p:spPr>
          <a:xfrm>
            <a:off x="9720072"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CMO + CFO</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Gates: months 3, 9</a:t>
            </a:r>
            <a:endParaRPr lang="en-US" sz="950" dirty="0"/>
          </a:p>
        </p:txBody>
      </p:sp>
      <p:sp>
        <p:nvSpPr>
          <p:cNvPr id="58" name="Shape 55"/>
          <p:cNvSpPr/>
          <p:nvPr/>
        </p:nvSpPr>
        <p:spPr>
          <a:xfrm>
            <a:off x="10652760" y="4434840"/>
            <a:ext cx="0" cy="384048"/>
          </a:xfrm>
          <a:prstGeom prst="line">
            <a:avLst/>
          </a:prstGeom>
          <a:noFill/>
          <a:ln w="15875">
            <a:solidFill>
              <a:srgbClr val="1D4ED8"/>
            </a:solidFill>
            <a:prstDash val="solid"/>
          </a:ln>
        </p:spPr>
      </p:sp>
      <p:sp>
        <p:nvSpPr>
          <p:cNvPr id="59" name="Shape 56"/>
          <p:cNvSpPr/>
          <p:nvPr/>
        </p:nvSpPr>
        <p:spPr>
          <a:xfrm>
            <a:off x="1554480" y="4818888"/>
            <a:ext cx="9098280" cy="0"/>
          </a:xfrm>
          <a:prstGeom prst="line">
            <a:avLst/>
          </a:prstGeom>
          <a:noFill/>
          <a:ln w="15875">
            <a:solidFill>
              <a:srgbClr val="1D4ED8"/>
            </a:solidFill>
            <a:prstDash val="solid"/>
          </a:ln>
        </p:spPr>
      </p:sp>
      <p:sp>
        <p:nvSpPr>
          <p:cNvPr id="60" name="Shape 57"/>
          <p:cNvSpPr/>
          <p:nvPr/>
        </p:nvSpPr>
        <p:spPr>
          <a:xfrm>
            <a:off x="1554480" y="4434840"/>
            <a:ext cx="0" cy="384048"/>
          </a:xfrm>
          <a:prstGeom prst="line">
            <a:avLst/>
          </a:prstGeom>
          <a:noFill/>
          <a:ln w="15875">
            <a:solidFill>
              <a:srgbClr val="1D4ED8"/>
            </a:solidFill>
            <a:prstDash val="solid"/>
            <a:headEnd type="triangle"/>
          </a:ln>
        </p:spPr>
      </p:sp>
      <p:sp>
        <p:nvSpPr>
          <p:cNvPr id="61" name="Shape 58"/>
          <p:cNvSpPr/>
          <p:nvPr/>
        </p:nvSpPr>
        <p:spPr>
          <a:xfrm>
            <a:off x="4206240" y="4681728"/>
            <a:ext cx="3840480" cy="274320"/>
          </a:xfrm>
          <a:prstGeom prst="roundRect">
            <a:avLst>
              <a:gd name="adj" fmla="val 26667"/>
            </a:avLst>
          </a:prstGeom>
          <a:solidFill>
            <a:srgbClr val="FFFFFF"/>
          </a:solidFill>
          <a:ln w="6350">
            <a:solidFill>
              <a:srgbClr val="FFFFFF"/>
            </a:solidFill>
            <a:prstDash val="solid"/>
          </a:ln>
        </p:spPr>
      </p:sp>
      <p:sp>
        <p:nvSpPr>
          <p:cNvPr id="62" name="Text 59"/>
          <p:cNvSpPr txBox="1"/>
          <p:nvPr/>
        </p:nvSpPr>
        <p:spPr>
          <a:xfrm>
            <a:off x="4206240" y="4681728"/>
            <a:ext cx="384048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What CJA proves sets the next diagnosis and the next move</a:t>
            </a:r>
            <a:endParaRPr lang="en-US" sz="950" dirty="0"/>
          </a:p>
        </p:txBody>
      </p:sp>
      <p:sp>
        <p:nvSpPr>
          <p:cNvPr id="63" name="Text 60"/>
          <p:cNvSpPr txBox="1"/>
          <p:nvPr/>
        </p:nvSpPr>
        <p:spPr>
          <a:xfrm>
            <a:off x="502920" y="5102352"/>
            <a:ext cx="11183112" cy="45720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it matters:  </a:t>
            </a:r>
            <a:pPr indent="0" marL="0">
              <a:buNone/>
            </a:pPr>
            <a:r>
              <a:rPr lang="en-US" sz="1000" dirty="0">
                <a:solidFill>
                  <a:srgbClr val="334155"/>
                </a:solidFill>
                <a:latin typeface="Inter" pitchFamily="34" charset="0"/>
                <a:ea typeface="Inter" pitchFamily="34" charset="-122"/>
                <a:cs typeface="Inter" pitchFamily="34" charset="-120"/>
              </a:rPr>
              <a:t>Option C alone takes 6–12 months to trust (Exhibit I). Running it as a weekly loop from day one lets Options A and B act within weeks, with C deciding every budget move.</a:t>
            </a:r>
            <a:endParaRPr lang="en-US" sz="1000" dirty="0"/>
          </a:p>
        </p:txBody>
      </p:sp>
      <p:sp>
        <p:nvSpPr>
          <p:cNvPr id="64" name="Shape 6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5" name="Shape 62"/>
          <p:cNvSpPr/>
          <p:nvPr/>
        </p:nvSpPr>
        <p:spPr>
          <a:xfrm>
            <a:off x="640080" y="5806440"/>
            <a:ext cx="329184" cy="329184"/>
          </a:xfrm>
          <a:prstGeom prst="ellipse">
            <a:avLst/>
          </a:prstGeom>
          <a:solidFill>
            <a:srgbClr val="1D4ED8"/>
          </a:solidFill>
          <a:ln w="6350">
            <a:solidFill>
              <a:srgbClr val="1D4ED8"/>
            </a:solidFill>
            <a:prstDash val="solid"/>
          </a:ln>
        </p:spPr>
      </p:sp>
      <p:pic>
        <p:nvPicPr>
          <p:cNvPr id="66"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67" name="Text 6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Growth and analytics share one workspace, one holdout and one decision rule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Fourteen programs, three flagships, zero discounts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strategy. Each program sits in one lever, works on one named behaviour and has a KPI CJA can read. No program uses a price cut.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20</a:t>
            </a:r>
            <a:endParaRPr lang="en-US" sz="800" dirty="0"/>
          </a:p>
        </p:txBody>
      </p:sp>
      <p:sp>
        <p:nvSpPr>
          <p:cNvPr id="9" name="Shape 6"/>
          <p:cNvSpPr/>
          <p:nvPr/>
        </p:nvSpPr>
        <p:spPr>
          <a:xfrm>
            <a:off x="502920" y="1243584"/>
            <a:ext cx="3611880" cy="384048"/>
          </a:xfrm>
          <a:prstGeom prst="roundRect">
            <a:avLst>
              <a:gd name="adj" fmla="val 50000"/>
            </a:avLst>
          </a:prstGeom>
          <a:solidFill>
            <a:srgbClr val="EFF6FF"/>
          </a:solidFill>
          <a:ln w="6350">
            <a:solidFill>
              <a:srgbClr val="EFF6FF"/>
            </a:solidFill>
            <a:prstDash val="solid"/>
          </a:ln>
        </p:spPr>
      </p:sp>
      <p:sp>
        <p:nvSpPr>
          <p:cNvPr id="10" name="Text 7"/>
          <p:cNvSpPr txBox="1"/>
          <p:nvPr/>
        </p:nvSpPr>
        <p:spPr>
          <a:xfrm>
            <a:off x="502920"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1  Capture every buyer</a:t>
            </a:r>
            <a:endParaRPr lang="en-US" sz="1200" dirty="0"/>
          </a:p>
        </p:txBody>
      </p:sp>
      <p:sp>
        <p:nvSpPr>
          <p:cNvPr id="11" name="Shape 8"/>
          <p:cNvSpPr/>
          <p:nvPr/>
        </p:nvSpPr>
        <p:spPr>
          <a:xfrm>
            <a:off x="502920" y="1755648"/>
            <a:ext cx="3611880" cy="914400"/>
          </a:xfrm>
          <a:prstGeom prst="roundRect">
            <a:avLst>
              <a:gd name="adj" fmla="val 6000"/>
            </a:avLst>
          </a:prstGeom>
          <a:solidFill>
            <a:srgbClr val="0A1F44"/>
          </a:solidFill>
          <a:ln w="6350">
            <a:solidFill>
              <a:srgbClr val="0A1F44"/>
            </a:solidFill>
            <a:prstDash val="solid"/>
          </a:ln>
        </p:spPr>
      </p:sp>
      <p:sp>
        <p:nvSpPr>
          <p:cNvPr id="12" name="Text 9"/>
          <p:cNvSpPr txBox="1"/>
          <p:nvPr/>
        </p:nvSpPr>
        <p:spPr>
          <a:xfrm>
            <a:off x="630936"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Quince Passport</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A card in every box: scan to register the piece for care tips, easy exchange and restock alerts; it asks for SMS or the app</a:t>
            </a:r>
            <a:endParaRPr lang="en-US" sz="1200" dirty="0"/>
          </a:p>
        </p:txBody>
      </p:sp>
      <p:sp>
        <p:nvSpPr>
          <p:cNvPr id="13" name="Shape 10"/>
          <p:cNvSpPr/>
          <p:nvPr/>
        </p:nvSpPr>
        <p:spPr>
          <a:xfrm>
            <a:off x="502920" y="2743200"/>
            <a:ext cx="3611880" cy="880872"/>
          </a:xfrm>
          <a:prstGeom prst="roundRect">
            <a:avLst>
              <a:gd name="adj" fmla="val 6228"/>
            </a:avLst>
          </a:prstGeom>
          <a:solidFill>
            <a:srgbClr val="FFFFFF"/>
          </a:solidFill>
          <a:ln w="9525">
            <a:solidFill>
              <a:srgbClr val="E2E8F0"/>
            </a:solidFill>
            <a:prstDash val="solid"/>
          </a:ln>
        </p:spPr>
      </p:sp>
      <p:sp>
        <p:nvSpPr>
          <p:cNvPr id="14" name="Text 11"/>
          <p:cNvSpPr txBox="1"/>
          <p:nvPr/>
        </p:nvSpPr>
        <p:spPr>
          <a:xfrm>
            <a:off x="630936"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Track It in the App</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Tracking opens in the app; app converts carts 27.1% vs 22.7% on web (A1)</a:t>
            </a:r>
            <a:endParaRPr lang="en-US" sz="1200" dirty="0"/>
          </a:p>
        </p:txBody>
      </p:sp>
      <p:sp>
        <p:nvSpPr>
          <p:cNvPr id="15" name="Shape 12"/>
          <p:cNvSpPr/>
          <p:nvPr/>
        </p:nvSpPr>
        <p:spPr>
          <a:xfrm>
            <a:off x="502920" y="3697224"/>
            <a:ext cx="3611880" cy="880872"/>
          </a:xfrm>
          <a:prstGeom prst="roundRect">
            <a:avLst>
              <a:gd name="adj" fmla="val 6228"/>
            </a:avLst>
          </a:prstGeom>
          <a:solidFill>
            <a:srgbClr val="FFFFFF"/>
          </a:solidFill>
          <a:ln w="9525">
            <a:solidFill>
              <a:srgbClr val="E2E8F0"/>
            </a:solidFill>
            <a:prstDash val="solid"/>
          </a:ln>
        </p:spPr>
      </p:sp>
      <p:sp>
        <p:nvSpPr>
          <p:cNvPr id="16" name="Text 13"/>
          <p:cNvSpPr txBox="1"/>
          <p:nvPr/>
        </p:nvSpPr>
        <p:spPr>
          <a:xfrm>
            <a:off x="630936"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Saved Cart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Reminders within hours of abandonment, with fit and return promises, never a discount</a:t>
            </a:r>
            <a:endParaRPr lang="en-US" sz="1200" dirty="0"/>
          </a:p>
        </p:txBody>
      </p:sp>
      <p:sp>
        <p:nvSpPr>
          <p:cNvPr id="17" name="Shape 14"/>
          <p:cNvSpPr/>
          <p:nvPr/>
        </p:nvSpPr>
        <p:spPr>
          <a:xfrm>
            <a:off x="502920" y="4651248"/>
            <a:ext cx="3611880" cy="880872"/>
          </a:xfrm>
          <a:prstGeom prst="roundRect">
            <a:avLst>
              <a:gd name="adj" fmla="val 6228"/>
            </a:avLst>
          </a:prstGeom>
          <a:solidFill>
            <a:srgbClr val="FFFFFF"/>
          </a:solidFill>
          <a:ln w="9525">
            <a:solidFill>
              <a:srgbClr val="E2E8F0"/>
            </a:solidFill>
            <a:prstDash val="solid"/>
          </a:ln>
        </p:spPr>
      </p:sp>
      <p:sp>
        <p:nvSpPr>
          <p:cNvPr id="18" name="Text 15"/>
          <p:cNvSpPr txBox="1"/>
          <p:nvPr/>
        </p:nvSpPr>
        <p:spPr>
          <a:xfrm>
            <a:off x="630936"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Restock-First Waitlist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"Text me when it's back" on real sell-outs: a reason to opt in</a:t>
            </a:r>
            <a:endParaRPr lang="en-US" sz="1200" dirty="0"/>
          </a:p>
        </p:txBody>
      </p:sp>
      <p:sp>
        <p:nvSpPr>
          <p:cNvPr id="19" name="Shape 16"/>
          <p:cNvSpPr/>
          <p:nvPr/>
        </p:nvSpPr>
        <p:spPr>
          <a:xfrm>
            <a:off x="4288536" y="1243584"/>
            <a:ext cx="3611880" cy="384048"/>
          </a:xfrm>
          <a:prstGeom prst="roundRect">
            <a:avLst>
              <a:gd name="adj" fmla="val 50000"/>
            </a:avLst>
          </a:prstGeom>
          <a:solidFill>
            <a:srgbClr val="EFF6FF"/>
          </a:solidFill>
          <a:ln w="6350">
            <a:solidFill>
              <a:srgbClr val="EFF6FF"/>
            </a:solidFill>
            <a:prstDash val="solid"/>
          </a:ln>
        </p:spPr>
      </p:sp>
      <p:sp>
        <p:nvSpPr>
          <p:cNvPr id="20" name="Text 17"/>
          <p:cNvSpPr txBox="1"/>
          <p:nvPr/>
        </p:nvSpPr>
        <p:spPr>
          <a:xfrm>
            <a:off x="4288536"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2  Win the Golden Month</a:t>
            </a:r>
            <a:endParaRPr lang="en-US" sz="1200" dirty="0"/>
          </a:p>
        </p:txBody>
      </p:sp>
      <p:sp>
        <p:nvSpPr>
          <p:cNvPr id="21" name="Shape 18"/>
          <p:cNvSpPr/>
          <p:nvPr/>
        </p:nvSpPr>
        <p:spPr>
          <a:xfrm>
            <a:off x="4288536" y="1755648"/>
            <a:ext cx="3611880" cy="914400"/>
          </a:xfrm>
          <a:prstGeom prst="roundRect">
            <a:avLst>
              <a:gd name="adj" fmla="val 6000"/>
            </a:avLst>
          </a:prstGeom>
          <a:solidFill>
            <a:srgbClr val="0A1F44"/>
          </a:solidFill>
          <a:ln w="6350">
            <a:solidFill>
              <a:srgbClr val="0A1F44"/>
            </a:solidFill>
            <a:prstDash val="solid"/>
          </a:ln>
        </p:spPr>
      </p:sp>
      <p:sp>
        <p:nvSpPr>
          <p:cNvPr id="22" name="Text 19"/>
          <p:cNvSpPr txBox="1"/>
          <p:nvPr/>
        </p:nvSpPr>
        <p:spPr>
          <a:xfrm>
            <a:off x="4416552"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Material Journeys</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Before arrival, how the material is made and how to care for it (no supplier names); by day 21, a second category (cashmere → home)</a:t>
            </a:r>
            <a:endParaRPr lang="en-US" sz="1200" dirty="0"/>
          </a:p>
        </p:txBody>
      </p:sp>
      <p:sp>
        <p:nvSpPr>
          <p:cNvPr id="23" name="Shape 20"/>
          <p:cNvSpPr/>
          <p:nvPr/>
        </p:nvSpPr>
        <p:spPr>
          <a:xfrm>
            <a:off x="4288536" y="2743200"/>
            <a:ext cx="3611880" cy="499262"/>
          </a:xfrm>
          <a:prstGeom prst="roundRect">
            <a:avLst>
              <a:gd name="adj" fmla="val 10989"/>
            </a:avLst>
          </a:prstGeom>
          <a:solidFill>
            <a:srgbClr val="FFFFFF"/>
          </a:solidFill>
          <a:ln w="9525">
            <a:solidFill>
              <a:srgbClr val="E2E8F0"/>
            </a:solidFill>
            <a:prstDash val="solid"/>
          </a:ln>
        </p:spPr>
      </p:sp>
      <p:sp>
        <p:nvSpPr>
          <p:cNvPr id="24" name="Text 21"/>
          <p:cNvSpPr txBox="1"/>
          <p:nvPr/>
        </p:nvSpPr>
        <p:spPr>
          <a:xfrm>
            <a:off x="4416552" y="2743200"/>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Care Calendar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Seasonal care reminders keep cashmere buyers in touch</a:t>
            </a:r>
            <a:endParaRPr lang="en-US" sz="1200" dirty="0"/>
          </a:p>
        </p:txBody>
      </p:sp>
      <p:sp>
        <p:nvSpPr>
          <p:cNvPr id="25" name="Shape 22"/>
          <p:cNvSpPr/>
          <p:nvPr/>
        </p:nvSpPr>
        <p:spPr>
          <a:xfrm>
            <a:off x="4288536" y="3315614"/>
            <a:ext cx="3611880" cy="499262"/>
          </a:xfrm>
          <a:prstGeom prst="roundRect">
            <a:avLst>
              <a:gd name="adj" fmla="val 10989"/>
            </a:avLst>
          </a:prstGeom>
          <a:solidFill>
            <a:srgbClr val="FFFFFF"/>
          </a:solidFill>
          <a:ln w="9525">
            <a:solidFill>
              <a:srgbClr val="E2E8F0"/>
            </a:solidFill>
            <a:prstDash val="solid"/>
          </a:ln>
        </p:spPr>
      </p:sp>
      <p:sp>
        <p:nvSpPr>
          <p:cNvPr id="26" name="Text 23"/>
          <p:cNvSpPr txBox="1"/>
          <p:nvPr/>
        </p:nvSpPr>
        <p:spPr>
          <a:xfrm>
            <a:off x="4416552" y="3315614"/>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Gift Ledger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Customers save gift dates; picks arrive 14 days before</a:t>
            </a:r>
            <a:endParaRPr lang="en-US" sz="1200" dirty="0"/>
          </a:p>
        </p:txBody>
      </p:sp>
      <p:sp>
        <p:nvSpPr>
          <p:cNvPr id="27" name="Shape 24"/>
          <p:cNvSpPr/>
          <p:nvPr/>
        </p:nvSpPr>
        <p:spPr>
          <a:xfrm>
            <a:off x="4288536" y="3888029"/>
            <a:ext cx="3611880" cy="499262"/>
          </a:xfrm>
          <a:prstGeom prst="roundRect">
            <a:avLst>
              <a:gd name="adj" fmla="val 10989"/>
            </a:avLst>
          </a:prstGeom>
          <a:solidFill>
            <a:srgbClr val="FFFFFF"/>
          </a:solidFill>
          <a:ln w="9525">
            <a:solidFill>
              <a:srgbClr val="E2E8F0"/>
            </a:solidFill>
            <a:prstDash val="solid"/>
          </a:ln>
        </p:spPr>
      </p:sp>
      <p:sp>
        <p:nvSpPr>
          <p:cNvPr id="28" name="Text 25"/>
          <p:cNvSpPr txBox="1"/>
          <p:nvPr/>
        </p:nvSpPr>
        <p:spPr>
          <a:xfrm>
            <a:off x="4416552" y="3888029"/>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Quince Insider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Early access earned by engagement, not spend</a:t>
            </a:r>
            <a:endParaRPr lang="en-US" sz="1200" dirty="0"/>
          </a:p>
        </p:txBody>
      </p:sp>
      <p:sp>
        <p:nvSpPr>
          <p:cNvPr id="29" name="Shape 26"/>
          <p:cNvSpPr/>
          <p:nvPr/>
        </p:nvSpPr>
        <p:spPr>
          <a:xfrm>
            <a:off x="4288536" y="4460443"/>
            <a:ext cx="3611880" cy="499262"/>
          </a:xfrm>
          <a:prstGeom prst="roundRect">
            <a:avLst>
              <a:gd name="adj" fmla="val 10989"/>
            </a:avLst>
          </a:prstGeom>
          <a:solidFill>
            <a:srgbClr val="FFFFFF"/>
          </a:solidFill>
          <a:ln w="9525">
            <a:solidFill>
              <a:srgbClr val="E2E8F0"/>
            </a:solidFill>
            <a:prstDash val="solid"/>
          </a:ln>
        </p:spPr>
      </p:sp>
      <p:sp>
        <p:nvSpPr>
          <p:cNvPr id="30" name="Text 27"/>
          <p:cNvSpPr txBox="1"/>
          <p:nvPr/>
        </p:nvSpPr>
        <p:spPr>
          <a:xfrm>
            <a:off x="4416552" y="4460443"/>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Beauty Refill</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Refill reminders timed to each product's use cycle</a:t>
            </a:r>
            <a:endParaRPr lang="en-US" sz="1200" dirty="0"/>
          </a:p>
        </p:txBody>
      </p:sp>
      <p:sp>
        <p:nvSpPr>
          <p:cNvPr id="31" name="Shape 28"/>
          <p:cNvSpPr/>
          <p:nvPr/>
        </p:nvSpPr>
        <p:spPr>
          <a:xfrm>
            <a:off x="4288536" y="5032858"/>
            <a:ext cx="3611880" cy="499262"/>
          </a:xfrm>
          <a:prstGeom prst="roundRect">
            <a:avLst>
              <a:gd name="adj" fmla="val 10989"/>
            </a:avLst>
          </a:prstGeom>
          <a:solidFill>
            <a:srgbClr val="FFFFFF"/>
          </a:solidFill>
          <a:ln w="9525">
            <a:solidFill>
              <a:srgbClr val="E2E8F0"/>
            </a:solidFill>
            <a:prstDash val="solid"/>
          </a:ln>
        </p:spPr>
      </p:sp>
      <p:sp>
        <p:nvSpPr>
          <p:cNvPr id="32" name="Text 29"/>
          <p:cNvSpPr txBox="1"/>
          <p:nvPr/>
        </p:nvSpPr>
        <p:spPr>
          <a:xfrm>
            <a:off x="4416552" y="5032858"/>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Cashmere Second Life</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Take-back for recycling, rewarded with early access</a:t>
            </a:r>
            <a:endParaRPr lang="en-US" sz="1200" dirty="0"/>
          </a:p>
        </p:txBody>
      </p:sp>
      <p:sp>
        <p:nvSpPr>
          <p:cNvPr id="33" name="Shape 30"/>
          <p:cNvSpPr/>
          <p:nvPr/>
        </p:nvSpPr>
        <p:spPr>
          <a:xfrm>
            <a:off x="8074152" y="1243584"/>
            <a:ext cx="3611880" cy="384048"/>
          </a:xfrm>
          <a:prstGeom prst="roundRect">
            <a:avLst>
              <a:gd name="adj" fmla="val 50000"/>
            </a:avLst>
          </a:prstGeom>
          <a:solidFill>
            <a:srgbClr val="EFF6FF"/>
          </a:solidFill>
          <a:ln w="6350">
            <a:solidFill>
              <a:srgbClr val="EFF6FF"/>
            </a:solidFill>
            <a:prstDash val="solid"/>
          </a:ln>
        </p:spPr>
      </p:sp>
      <p:sp>
        <p:nvSpPr>
          <p:cNvPr id="34" name="Text 31"/>
          <p:cNvSpPr txBox="1"/>
          <p:nvPr/>
        </p:nvSpPr>
        <p:spPr>
          <a:xfrm>
            <a:off x="8074152"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3  Never pay twice</a:t>
            </a:r>
            <a:endParaRPr lang="en-US" sz="1200" dirty="0"/>
          </a:p>
        </p:txBody>
      </p:sp>
      <p:sp>
        <p:nvSpPr>
          <p:cNvPr id="35" name="Shape 32"/>
          <p:cNvSpPr/>
          <p:nvPr/>
        </p:nvSpPr>
        <p:spPr>
          <a:xfrm>
            <a:off x="8074152" y="1755648"/>
            <a:ext cx="3611880" cy="914400"/>
          </a:xfrm>
          <a:prstGeom prst="roundRect">
            <a:avLst>
              <a:gd name="adj" fmla="val 6000"/>
            </a:avLst>
          </a:prstGeom>
          <a:solidFill>
            <a:srgbClr val="0A1F44"/>
          </a:solidFill>
          <a:ln w="6350">
            <a:solidFill>
              <a:srgbClr val="0A1F44"/>
            </a:solidFill>
            <a:prstDash val="solid"/>
          </a:ln>
        </p:spPr>
      </p:sp>
      <p:sp>
        <p:nvSpPr>
          <p:cNvPr id="36" name="Text 33"/>
          <p:cNvSpPr txBox="1"/>
          <p:nvPr/>
        </p:nvSpPr>
        <p:spPr>
          <a:xfrm>
            <a:off x="8202168"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Never Pay Twice Engine</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CJA suppression lists, synced daily to Meta, Google and TikTok, remove recent and owned-reachable buyers from paid retargeting</a:t>
            </a:r>
            <a:endParaRPr lang="en-US" sz="1200" dirty="0"/>
          </a:p>
        </p:txBody>
      </p:sp>
      <p:sp>
        <p:nvSpPr>
          <p:cNvPr id="37" name="Shape 34"/>
          <p:cNvSpPr/>
          <p:nvPr/>
        </p:nvSpPr>
        <p:spPr>
          <a:xfrm>
            <a:off x="8074152" y="2743200"/>
            <a:ext cx="3611880" cy="880872"/>
          </a:xfrm>
          <a:prstGeom prst="roundRect">
            <a:avLst>
              <a:gd name="adj" fmla="val 6228"/>
            </a:avLst>
          </a:prstGeom>
          <a:solidFill>
            <a:srgbClr val="FFFFFF"/>
          </a:solidFill>
          <a:ln w="9525">
            <a:solidFill>
              <a:srgbClr val="E2E8F0"/>
            </a:solidFill>
            <a:prstDash val="solid"/>
          </a:ln>
        </p:spPr>
      </p:sp>
      <p:sp>
        <p:nvSpPr>
          <p:cNvPr id="38" name="Text 35"/>
          <p:cNvSpPr txBox="1"/>
          <p:nvPr/>
        </p:nvSpPr>
        <p:spPr>
          <a:xfrm>
            <a:off x="8202168"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Loyalist Lookalikes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Prospecting seeded on repeat buyers, not one-time buyers</a:t>
            </a:r>
            <a:endParaRPr lang="en-US" sz="1200" dirty="0"/>
          </a:p>
        </p:txBody>
      </p:sp>
      <p:sp>
        <p:nvSpPr>
          <p:cNvPr id="39" name="Shape 36"/>
          <p:cNvSpPr/>
          <p:nvPr/>
        </p:nvSpPr>
        <p:spPr>
          <a:xfrm>
            <a:off x="8074152" y="3697224"/>
            <a:ext cx="3611880" cy="880872"/>
          </a:xfrm>
          <a:prstGeom prst="roundRect">
            <a:avLst>
              <a:gd name="adj" fmla="val 6228"/>
            </a:avLst>
          </a:prstGeom>
          <a:solidFill>
            <a:srgbClr val="FFFFFF"/>
          </a:solidFill>
          <a:ln w="9525">
            <a:solidFill>
              <a:srgbClr val="E2E8F0"/>
            </a:solidFill>
            <a:prstDash val="solid"/>
          </a:ln>
        </p:spPr>
      </p:sp>
      <p:sp>
        <p:nvSpPr>
          <p:cNvPr id="40" name="Text 37"/>
          <p:cNvSpPr txBox="1"/>
          <p:nvPr/>
        </p:nvSpPr>
        <p:spPr>
          <a:xfrm>
            <a:off x="8202168"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Proof Creators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Wear-tests and fabric close-ups instead of discount codes</a:t>
            </a:r>
            <a:endParaRPr lang="en-US" sz="1200" dirty="0"/>
          </a:p>
        </p:txBody>
      </p:sp>
      <p:sp>
        <p:nvSpPr>
          <p:cNvPr id="41" name="Shape 38"/>
          <p:cNvSpPr/>
          <p:nvPr/>
        </p:nvSpPr>
        <p:spPr>
          <a:xfrm>
            <a:off x="8074152" y="4651248"/>
            <a:ext cx="3611880" cy="880872"/>
          </a:xfrm>
          <a:prstGeom prst="roundRect">
            <a:avLst>
              <a:gd name="adj" fmla="val 6228"/>
            </a:avLst>
          </a:prstGeom>
          <a:solidFill>
            <a:srgbClr val="FFFFFF"/>
          </a:solidFill>
          <a:ln w="9525">
            <a:solidFill>
              <a:srgbClr val="E2E8F0"/>
            </a:solidFill>
            <a:prstDash val="solid"/>
          </a:ln>
        </p:spPr>
      </p:sp>
      <p:sp>
        <p:nvSpPr>
          <p:cNvPr id="42" name="Text 39"/>
          <p:cNvSpPr txBox="1"/>
          <p:nvPr/>
        </p:nvSpPr>
        <p:spPr>
          <a:xfrm>
            <a:off x="8202168"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The Fitting Room</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Members-only pop-up for app users, one metro, one season: try fabrics in person; asset-light, no store</a:t>
            </a:r>
            <a:endParaRPr lang="en-US" sz="1200" dirty="0"/>
          </a:p>
        </p:txBody>
      </p:sp>
      <p:sp>
        <p:nvSpPr>
          <p:cNvPr id="43" name="Text 40"/>
          <p:cNvSpPr txBox="1"/>
          <p:nvPr/>
        </p:nvSpPr>
        <p:spPr>
          <a:xfrm>
            <a:off x="50292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discounts</a:t>
            </a:r>
            <a:endParaRPr lang="en-US" sz="1200" dirty="0"/>
          </a:p>
        </p:txBody>
      </p:sp>
      <p:sp>
        <p:nvSpPr>
          <p:cNvPr id="44" name="Text 41"/>
          <p:cNvSpPr txBox="1"/>
          <p:nvPr/>
        </p:nvSpPr>
        <p:spPr>
          <a:xfrm>
            <a:off x="425196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14  </a:t>
            </a:r>
            <a:pPr indent="0" marL="0">
              <a:buNone/>
            </a:pPr>
            <a:r>
              <a:rPr lang="en-US" sz="1100" dirty="0">
                <a:solidFill>
                  <a:srgbClr val="64748B"/>
                </a:solidFill>
                <a:latin typeface="Inter" pitchFamily="34" charset="0"/>
                <a:ea typeface="Inter" pitchFamily="34" charset="-122"/>
                <a:cs typeface="Inter" pitchFamily="34" charset="-120"/>
              </a:rPr>
              <a:t>programs tested against a holdout</a:t>
            </a:r>
            <a:endParaRPr lang="en-US" sz="1200" dirty="0"/>
          </a:p>
        </p:txBody>
      </p:sp>
      <p:sp>
        <p:nvSpPr>
          <p:cNvPr id="45" name="Text 42"/>
          <p:cNvSpPr txBox="1"/>
          <p:nvPr/>
        </p:nvSpPr>
        <p:spPr>
          <a:xfrm>
            <a:off x="800100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new budget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How the fixed $120M moves: rules, not guesses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D (channel CAC); Adobe CJA A3b, A2 and Attribution IQ. No cross-line amount is set in advance: a CJA holdout result sets it.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21</a:t>
            </a:r>
            <a:endParaRPr lang="en-US" sz="800" dirty="0"/>
          </a:p>
        </p:txBody>
      </p:sp>
      <p:sp>
        <p:nvSpPr>
          <p:cNvPr id="9" name="Text 6"/>
          <p:cNvSpPr txBox="1"/>
          <p:nvPr/>
        </p:nvSpPr>
        <p:spPr>
          <a:xfrm>
            <a:off x="502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LINE (EXHIBIT G)</a:t>
            </a:r>
            <a:endParaRPr lang="en-US" sz="850" dirty="0"/>
          </a:p>
        </p:txBody>
      </p:sp>
      <p:sp>
        <p:nvSpPr>
          <p:cNvPr id="10" name="Text 7"/>
          <p:cNvSpPr txBox="1"/>
          <p:nvPr/>
        </p:nvSpPr>
        <p:spPr>
          <a:xfrm>
            <a:off x="3931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WHAT CHANGES</a:t>
            </a:r>
            <a:endParaRPr lang="en-US" sz="850" dirty="0"/>
          </a:p>
        </p:txBody>
      </p:sp>
      <p:sp>
        <p:nvSpPr>
          <p:cNvPr id="11" name="Text 8"/>
          <p:cNvSpPr txBox="1"/>
          <p:nvPr/>
        </p:nvSpPr>
        <p:spPr>
          <a:xfrm>
            <a:off x="653796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EVIDENCE</a:t>
            </a:r>
            <a:endParaRPr lang="en-US" sz="850" dirty="0"/>
          </a:p>
        </p:txBody>
      </p:sp>
      <p:sp>
        <p:nvSpPr>
          <p:cNvPr id="12" name="Text 9"/>
          <p:cNvSpPr txBox="1"/>
          <p:nvPr/>
        </p:nvSpPr>
        <p:spPr>
          <a:xfrm>
            <a:off x="909828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DECISION RULE</a:t>
            </a:r>
            <a:endParaRPr lang="en-US" sz="850" dirty="0"/>
          </a:p>
        </p:txBody>
      </p:sp>
      <p:sp>
        <p:nvSpPr>
          <p:cNvPr id="13" name="Shape 10"/>
          <p:cNvSpPr/>
          <p:nvPr/>
        </p:nvSpPr>
        <p:spPr>
          <a:xfrm>
            <a:off x="502920" y="1517904"/>
            <a:ext cx="11183112" cy="566928"/>
          </a:xfrm>
          <a:prstGeom prst="roundRect">
            <a:avLst>
              <a:gd name="adj" fmla="val 8065"/>
            </a:avLst>
          </a:prstGeom>
          <a:solidFill>
            <a:srgbClr val="F8FAFC"/>
          </a:solidFill>
          <a:ln w="6350">
            <a:solidFill>
              <a:srgbClr val="F8FAFC"/>
            </a:solidFill>
            <a:prstDash val="solid"/>
          </a:ln>
        </p:spPr>
      </p:sp>
      <p:sp>
        <p:nvSpPr>
          <p:cNvPr id="14" name="Text 11"/>
          <p:cNvSpPr txBox="1"/>
          <p:nvPr/>
        </p:nvSpPr>
        <p:spPr>
          <a:xfrm>
            <a:off x="594360" y="15453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prospecting</a:t>
            </a:r>
            <a:endParaRPr lang="en-US" sz="1000" dirty="0"/>
          </a:p>
        </p:txBody>
      </p:sp>
      <p:sp>
        <p:nvSpPr>
          <p:cNvPr id="15" name="Shape 12"/>
          <p:cNvSpPr/>
          <p:nvPr/>
        </p:nvSpPr>
        <p:spPr>
          <a:xfrm>
            <a:off x="594360" y="1865376"/>
            <a:ext cx="1737360" cy="128016"/>
          </a:xfrm>
          <a:prstGeom prst="rect">
            <a:avLst/>
          </a:prstGeom>
          <a:solidFill>
            <a:srgbClr val="93B4F5"/>
          </a:solidFill>
          <a:ln w="6350">
            <a:solidFill>
              <a:srgbClr val="93B4F5"/>
            </a:solidFill>
            <a:prstDash val="solid"/>
          </a:ln>
        </p:spPr>
      </p:sp>
      <p:sp>
        <p:nvSpPr>
          <p:cNvPr id="16" name="Text 13"/>
          <p:cNvSpPr txBox="1"/>
          <p:nvPr/>
        </p:nvSpPr>
        <p:spPr>
          <a:xfrm>
            <a:off x="2386584" y="18105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$58M</a:t>
            </a:r>
            <a:endParaRPr lang="en-US" sz="850" dirty="0"/>
          </a:p>
        </p:txBody>
      </p:sp>
      <p:sp>
        <p:nvSpPr>
          <p:cNvPr id="17" name="Text 14"/>
          <p:cNvSpPr txBox="1"/>
          <p:nvPr/>
        </p:nvSpPr>
        <p:spPr>
          <a:xfrm>
            <a:off x="3931920" y="15179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Budget unchanged; existing buyers excluded; lookalikes seeded on repeat buyers</a:t>
            </a:r>
            <a:endParaRPr lang="en-US" sz="900" dirty="0"/>
          </a:p>
        </p:txBody>
      </p:sp>
      <p:sp>
        <p:nvSpPr>
          <p:cNvPr id="18" name="Text 15"/>
          <p:cNvSpPr txBox="1"/>
          <p:nvPr/>
        </p:nvSpPr>
        <p:spPr>
          <a:xfrm>
            <a:off x="6537960" y="15179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Brings 45.5% of buyers (CJA A3b)</a:t>
            </a:r>
            <a:endParaRPr lang="en-US" sz="900" dirty="0"/>
          </a:p>
        </p:txBody>
      </p:sp>
      <p:sp>
        <p:nvSpPr>
          <p:cNvPr id="19" name="Text 16"/>
          <p:cNvSpPr txBox="1"/>
          <p:nvPr/>
        </p:nvSpPr>
        <p:spPr>
          <a:xfrm>
            <a:off x="9098280" y="15179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Moves only if Attribution IQ and a holdout show it is over-credited</a:t>
            </a:r>
            <a:endParaRPr lang="en-US" sz="900" dirty="0"/>
          </a:p>
        </p:txBody>
      </p:sp>
      <p:sp>
        <p:nvSpPr>
          <p:cNvPr id="20" name="Shape 17"/>
          <p:cNvSpPr/>
          <p:nvPr/>
        </p:nvSpPr>
        <p:spPr>
          <a:xfrm>
            <a:off x="502920" y="2157984"/>
            <a:ext cx="11183112" cy="566928"/>
          </a:xfrm>
          <a:prstGeom prst="roundRect">
            <a:avLst>
              <a:gd name="adj" fmla="val 8065"/>
            </a:avLst>
          </a:prstGeom>
          <a:solidFill>
            <a:srgbClr val="FFFFFF"/>
          </a:solidFill>
          <a:ln w="6350">
            <a:solidFill>
              <a:srgbClr val="FFFFFF"/>
            </a:solidFill>
            <a:prstDash val="solid"/>
          </a:ln>
        </p:spPr>
      </p:sp>
      <p:sp>
        <p:nvSpPr>
          <p:cNvPr id="21" name="Text 18"/>
          <p:cNvSpPr txBox="1"/>
          <p:nvPr/>
        </p:nvSpPr>
        <p:spPr>
          <a:xfrm>
            <a:off x="594360" y="218541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search</a:t>
            </a:r>
            <a:endParaRPr lang="en-US" sz="1000" dirty="0"/>
          </a:p>
        </p:txBody>
      </p:sp>
      <p:sp>
        <p:nvSpPr>
          <p:cNvPr id="22" name="Shape 19"/>
          <p:cNvSpPr/>
          <p:nvPr/>
        </p:nvSpPr>
        <p:spPr>
          <a:xfrm>
            <a:off x="594360" y="2505456"/>
            <a:ext cx="658999" cy="128016"/>
          </a:xfrm>
          <a:prstGeom prst="rect">
            <a:avLst/>
          </a:prstGeom>
          <a:solidFill>
            <a:srgbClr val="93B4F5"/>
          </a:solidFill>
          <a:ln w="6350">
            <a:solidFill>
              <a:srgbClr val="93B4F5"/>
            </a:solidFill>
            <a:prstDash val="solid"/>
          </a:ln>
        </p:spPr>
      </p:sp>
      <p:sp>
        <p:nvSpPr>
          <p:cNvPr id="23" name="Text 20"/>
          <p:cNvSpPr txBox="1"/>
          <p:nvPr/>
        </p:nvSpPr>
        <p:spPr>
          <a:xfrm>
            <a:off x="1308223" y="245059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$22M</a:t>
            </a:r>
            <a:endParaRPr lang="en-US" sz="850" dirty="0"/>
          </a:p>
        </p:txBody>
      </p:sp>
      <p:sp>
        <p:nvSpPr>
          <p:cNvPr id="24" name="Text 21"/>
          <p:cNvSpPr txBox="1"/>
          <p:nvPr/>
        </p:nvSpPr>
        <p:spPr>
          <a:xfrm>
            <a:off x="3931920" y="215798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in the pilot</a:t>
            </a:r>
            <a:endParaRPr lang="en-US" sz="900" dirty="0"/>
          </a:p>
        </p:txBody>
      </p:sp>
      <p:sp>
        <p:nvSpPr>
          <p:cNvPr id="25" name="Text 22"/>
          <p:cNvSpPr txBox="1"/>
          <p:nvPr/>
        </p:nvSpPr>
        <p:spPr>
          <a:xfrm>
            <a:off x="6537960" y="215798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Brand-keyword ads showed no short-term lift at eBay (Blake et al. 2015)</a:t>
            </a:r>
            <a:endParaRPr lang="en-US" sz="900" dirty="0"/>
          </a:p>
        </p:txBody>
      </p:sp>
      <p:sp>
        <p:nvSpPr>
          <p:cNvPr id="26" name="Text 23"/>
          <p:cNvSpPr txBox="1"/>
          <p:nvPr/>
        </p:nvSpPr>
        <p:spPr>
          <a:xfrm>
            <a:off x="9098280" y="215798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Geo holdout on branded terms before any move</a:t>
            </a:r>
            <a:endParaRPr lang="en-US" sz="900" dirty="0"/>
          </a:p>
        </p:txBody>
      </p:sp>
      <p:sp>
        <p:nvSpPr>
          <p:cNvPr id="27" name="Shape 24"/>
          <p:cNvSpPr/>
          <p:nvPr/>
        </p:nvSpPr>
        <p:spPr>
          <a:xfrm>
            <a:off x="502920" y="2798064"/>
            <a:ext cx="11183112" cy="566928"/>
          </a:xfrm>
          <a:prstGeom prst="roundRect">
            <a:avLst>
              <a:gd name="adj" fmla="val 8065"/>
            </a:avLst>
          </a:prstGeom>
          <a:solidFill>
            <a:srgbClr val="F8FAFC"/>
          </a:solidFill>
          <a:ln w="6350">
            <a:solidFill>
              <a:srgbClr val="F8FAFC"/>
            </a:solidFill>
            <a:prstDash val="solid"/>
          </a:ln>
        </p:spPr>
      </p:sp>
      <p:sp>
        <p:nvSpPr>
          <p:cNvPr id="28" name="Text 25"/>
          <p:cNvSpPr txBox="1"/>
          <p:nvPr/>
        </p:nvSpPr>
        <p:spPr>
          <a:xfrm>
            <a:off x="594360" y="282549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Influencer / affiliate</a:t>
            </a:r>
            <a:endParaRPr lang="en-US" sz="1000" dirty="0"/>
          </a:p>
        </p:txBody>
      </p:sp>
      <p:sp>
        <p:nvSpPr>
          <p:cNvPr id="29" name="Shape 26"/>
          <p:cNvSpPr/>
          <p:nvPr/>
        </p:nvSpPr>
        <p:spPr>
          <a:xfrm>
            <a:off x="594360" y="3145536"/>
            <a:ext cx="479272" cy="128016"/>
          </a:xfrm>
          <a:prstGeom prst="rect">
            <a:avLst/>
          </a:prstGeom>
          <a:solidFill>
            <a:srgbClr val="93B4F5"/>
          </a:solidFill>
          <a:ln w="6350">
            <a:solidFill>
              <a:srgbClr val="93B4F5"/>
            </a:solidFill>
            <a:prstDash val="solid"/>
          </a:ln>
        </p:spPr>
      </p:sp>
      <p:sp>
        <p:nvSpPr>
          <p:cNvPr id="30" name="Text 27"/>
          <p:cNvSpPr txBox="1"/>
          <p:nvPr/>
        </p:nvSpPr>
        <p:spPr>
          <a:xfrm>
            <a:off x="1128496" y="309067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$16M</a:t>
            </a:r>
            <a:endParaRPr lang="en-US" sz="850" dirty="0"/>
          </a:p>
        </p:txBody>
      </p:sp>
      <p:sp>
        <p:nvSpPr>
          <p:cNvPr id="31" name="Text 28"/>
          <p:cNvSpPr txBox="1"/>
          <p:nvPr/>
        </p:nvSpPr>
        <p:spPr>
          <a:xfrm>
            <a:off x="3931920" y="279806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Briefs shift to proof: wear-tests and fabric close-ups</a:t>
            </a:r>
            <a:endParaRPr lang="en-US" sz="900" dirty="0"/>
          </a:p>
        </p:txBody>
      </p:sp>
      <p:sp>
        <p:nvSpPr>
          <p:cNvPr id="32" name="Text 29"/>
          <p:cNvSpPr txBox="1"/>
          <p:nvPr/>
        </p:nvSpPr>
        <p:spPr>
          <a:xfrm>
            <a:off x="6537960" y="279806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Hypothesis; 69% product → cart drop (A1)</a:t>
            </a:r>
            <a:endParaRPr lang="en-US" sz="900" dirty="0"/>
          </a:p>
        </p:txBody>
      </p:sp>
      <p:sp>
        <p:nvSpPr>
          <p:cNvPr id="33" name="Text 30"/>
          <p:cNvSpPr txBox="1"/>
          <p:nvPr/>
        </p:nvSpPr>
        <p:spPr>
          <a:xfrm>
            <a:off x="9098280" y="279806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No dollar move without a holdout</a:t>
            </a:r>
            <a:endParaRPr lang="en-US" sz="900" dirty="0"/>
          </a:p>
        </p:txBody>
      </p:sp>
      <p:sp>
        <p:nvSpPr>
          <p:cNvPr id="34" name="Shape 31"/>
          <p:cNvSpPr/>
          <p:nvPr/>
        </p:nvSpPr>
        <p:spPr>
          <a:xfrm>
            <a:off x="502920" y="3438144"/>
            <a:ext cx="11183112" cy="566928"/>
          </a:xfrm>
          <a:prstGeom prst="roundRect">
            <a:avLst>
              <a:gd name="adj" fmla="val 8065"/>
            </a:avLst>
          </a:prstGeom>
          <a:solidFill>
            <a:srgbClr val="FFFFFF"/>
          </a:solidFill>
          <a:ln w="6350">
            <a:solidFill>
              <a:srgbClr val="FFFFFF"/>
            </a:solidFill>
            <a:prstDash val="solid"/>
          </a:ln>
        </p:spPr>
      </p:sp>
      <p:sp>
        <p:nvSpPr>
          <p:cNvPr id="35" name="Text 32"/>
          <p:cNvSpPr txBox="1"/>
          <p:nvPr/>
        </p:nvSpPr>
        <p:spPr>
          <a:xfrm>
            <a:off x="594360" y="346557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retargeting</a:t>
            </a:r>
            <a:endParaRPr lang="en-US" sz="1000" dirty="0"/>
          </a:p>
        </p:txBody>
      </p:sp>
      <p:sp>
        <p:nvSpPr>
          <p:cNvPr id="36" name="Shape 33"/>
          <p:cNvSpPr/>
          <p:nvPr/>
        </p:nvSpPr>
        <p:spPr>
          <a:xfrm>
            <a:off x="594360" y="3785616"/>
            <a:ext cx="419363" cy="128016"/>
          </a:xfrm>
          <a:prstGeom prst="rect">
            <a:avLst/>
          </a:prstGeom>
          <a:solidFill>
            <a:srgbClr val="93B4F5"/>
          </a:solidFill>
          <a:ln w="6350">
            <a:solidFill>
              <a:srgbClr val="93B4F5"/>
            </a:solidFill>
            <a:prstDash val="solid"/>
          </a:ln>
        </p:spPr>
      </p:sp>
      <p:sp>
        <p:nvSpPr>
          <p:cNvPr id="37" name="Text 34"/>
          <p:cNvSpPr txBox="1"/>
          <p:nvPr/>
        </p:nvSpPr>
        <p:spPr>
          <a:xfrm>
            <a:off x="1068587" y="373075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$14M</a:t>
            </a:r>
            <a:endParaRPr lang="en-US" sz="850" dirty="0"/>
          </a:p>
        </p:txBody>
      </p:sp>
      <p:sp>
        <p:nvSpPr>
          <p:cNvPr id="38" name="Text 35"/>
          <p:cNvSpPr txBox="1"/>
          <p:nvPr/>
        </p:nvSpPr>
        <p:spPr>
          <a:xfrm>
            <a:off x="3931920" y="343814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Re-aimed inside the line: suppression and frequency caps</a:t>
            </a:r>
            <a:endParaRPr lang="en-US" sz="900" dirty="0"/>
          </a:p>
        </p:txBody>
      </p:sp>
      <p:sp>
        <p:nvSpPr>
          <p:cNvPr id="39" name="Text 36"/>
          <p:cNvSpPr txBox="1"/>
          <p:nvPr/>
        </p:nvSpPr>
        <p:spPr>
          <a:xfrm>
            <a:off x="6537960" y="343814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Repeats no better than organic, 23.0% vs 23.4% (A3b)</a:t>
            </a:r>
            <a:endParaRPr lang="en-US" sz="900" dirty="0"/>
          </a:p>
        </p:txBody>
      </p:sp>
      <p:sp>
        <p:nvSpPr>
          <p:cNvPr id="40" name="Text 37"/>
          <p:cNvSpPr txBox="1"/>
          <p:nvPr/>
        </p:nvSpPr>
        <p:spPr>
          <a:xfrm>
            <a:off x="9098280" y="343814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$0 incremental (Exhibit I); savings stay in the line until the holdout reads</a:t>
            </a:r>
            <a:endParaRPr lang="en-US" sz="900" dirty="0"/>
          </a:p>
        </p:txBody>
      </p:sp>
      <p:sp>
        <p:nvSpPr>
          <p:cNvPr id="41" name="Shape 38"/>
          <p:cNvSpPr/>
          <p:nvPr/>
        </p:nvSpPr>
        <p:spPr>
          <a:xfrm>
            <a:off x="502920" y="4078224"/>
            <a:ext cx="11183112" cy="566928"/>
          </a:xfrm>
          <a:prstGeom prst="roundRect">
            <a:avLst>
              <a:gd name="adj" fmla="val 8065"/>
            </a:avLst>
          </a:prstGeom>
          <a:solidFill>
            <a:srgbClr val="F8FAFC"/>
          </a:solidFill>
          <a:ln w="6350">
            <a:solidFill>
              <a:srgbClr val="F8FAFC"/>
            </a:solidFill>
            <a:prstDash val="solid"/>
          </a:ln>
        </p:spPr>
      </p:sp>
      <p:sp>
        <p:nvSpPr>
          <p:cNvPr id="42" name="Text 39"/>
          <p:cNvSpPr txBox="1"/>
          <p:nvPr/>
        </p:nvSpPr>
        <p:spPr>
          <a:xfrm>
            <a:off x="594360" y="410565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Email, SMS, app</a:t>
            </a:r>
            <a:endParaRPr lang="en-US" sz="1000" dirty="0"/>
          </a:p>
        </p:txBody>
      </p:sp>
      <p:sp>
        <p:nvSpPr>
          <p:cNvPr id="43" name="Shape 40"/>
          <p:cNvSpPr/>
          <p:nvPr/>
        </p:nvSpPr>
        <p:spPr>
          <a:xfrm>
            <a:off x="594360" y="4425696"/>
            <a:ext cx="179727" cy="128016"/>
          </a:xfrm>
          <a:prstGeom prst="rect">
            <a:avLst/>
          </a:prstGeom>
          <a:solidFill>
            <a:srgbClr val="1D4ED8"/>
          </a:solidFill>
          <a:ln w="6350">
            <a:solidFill>
              <a:srgbClr val="1D4ED8"/>
            </a:solidFill>
            <a:prstDash val="solid"/>
          </a:ln>
        </p:spPr>
      </p:sp>
      <p:sp>
        <p:nvSpPr>
          <p:cNvPr id="44" name="Text 41"/>
          <p:cNvSpPr txBox="1"/>
          <p:nvPr/>
        </p:nvSpPr>
        <p:spPr>
          <a:xfrm>
            <a:off x="828951" y="437083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$6M</a:t>
            </a:r>
            <a:endParaRPr lang="en-US" sz="850" dirty="0"/>
          </a:p>
        </p:txBody>
      </p:sp>
      <p:sp>
        <p:nvSpPr>
          <p:cNvPr id="45" name="Text 42"/>
          <p:cNvSpPr txBox="1"/>
          <p:nvPr/>
        </p:nvSpPr>
        <p:spPr>
          <a:xfrm>
            <a:off x="3931920" y="407822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Option A: $2–3M of this line funds activation platform, lifecycle team, content and CRM</a:t>
            </a:r>
            <a:endParaRPr lang="en-US" sz="900" dirty="0"/>
          </a:p>
        </p:txBody>
      </p:sp>
      <p:sp>
        <p:nvSpPr>
          <p:cNvPr id="46" name="Text 43"/>
          <p:cNvSpPr txBox="1"/>
          <p:nvPr/>
        </p:nvSpPr>
        <p:spPr>
          <a:xfrm>
            <a:off x="6537960" y="407822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Engaged buyers repeat 28.1% vs 4.7% (A2)</a:t>
            </a:r>
            <a:endParaRPr lang="en-US" sz="900" dirty="0"/>
          </a:p>
        </p:txBody>
      </p:sp>
      <p:sp>
        <p:nvSpPr>
          <p:cNvPr id="47" name="Text 44"/>
          <p:cNvSpPr txBox="1"/>
          <p:nvPr/>
        </p:nvSpPr>
        <p:spPr>
          <a:xfrm>
            <a:off x="9098280" y="407822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Funded inside the existing line (Exhibit I)</a:t>
            </a:r>
            <a:endParaRPr lang="en-US" sz="900" dirty="0"/>
          </a:p>
        </p:txBody>
      </p:sp>
      <p:sp>
        <p:nvSpPr>
          <p:cNvPr id="48" name="Shape 45"/>
          <p:cNvSpPr/>
          <p:nvPr/>
        </p:nvSpPr>
        <p:spPr>
          <a:xfrm>
            <a:off x="502920" y="4718304"/>
            <a:ext cx="11183112" cy="566928"/>
          </a:xfrm>
          <a:prstGeom prst="roundRect">
            <a:avLst>
              <a:gd name="adj" fmla="val 8065"/>
            </a:avLst>
          </a:prstGeom>
          <a:solidFill>
            <a:srgbClr val="FFFFFF"/>
          </a:solidFill>
          <a:ln w="6350">
            <a:solidFill>
              <a:srgbClr val="FFFFFF"/>
            </a:solidFill>
            <a:prstDash val="solid"/>
          </a:ln>
        </p:spPr>
      </p:sp>
      <p:sp>
        <p:nvSpPr>
          <p:cNvPr id="49" name="Text 46"/>
          <p:cNvSpPr txBox="1"/>
          <p:nvPr/>
        </p:nvSpPr>
        <p:spPr>
          <a:xfrm>
            <a:off x="594360" y="47457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Brand / other</a:t>
            </a:r>
            <a:endParaRPr lang="en-US" sz="1000" dirty="0"/>
          </a:p>
        </p:txBody>
      </p:sp>
      <p:sp>
        <p:nvSpPr>
          <p:cNvPr id="50" name="Shape 47"/>
          <p:cNvSpPr/>
          <p:nvPr/>
        </p:nvSpPr>
        <p:spPr>
          <a:xfrm>
            <a:off x="594360" y="5065776"/>
            <a:ext cx="119818" cy="128016"/>
          </a:xfrm>
          <a:prstGeom prst="rect">
            <a:avLst/>
          </a:prstGeom>
          <a:solidFill>
            <a:srgbClr val="93B4F5"/>
          </a:solidFill>
          <a:ln w="6350">
            <a:solidFill>
              <a:srgbClr val="93B4F5"/>
            </a:solidFill>
            <a:prstDash val="solid"/>
          </a:ln>
        </p:spPr>
      </p:sp>
      <p:sp>
        <p:nvSpPr>
          <p:cNvPr id="51" name="Text 48"/>
          <p:cNvSpPr txBox="1"/>
          <p:nvPr/>
        </p:nvSpPr>
        <p:spPr>
          <a:xfrm>
            <a:off x="769042" y="50109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$4M</a:t>
            </a:r>
            <a:endParaRPr lang="en-US" sz="850" dirty="0"/>
          </a:p>
        </p:txBody>
      </p:sp>
      <p:sp>
        <p:nvSpPr>
          <p:cNvPr id="52" name="Text 49"/>
          <p:cNvSpPr txBox="1"/>
          <p:nvPr/>
        </p:nvSpPr>
        <p:spPr>
          <a:xfrm>
            <a:off x="3931920" y="47183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The Fitting Room tested only if it fits this line</a:t>
            </a:r>
            <a:endParaRPr lang="en-US" sz="900" dirty="0"/>
          </a:p>
        </p:txBody>
      </p:sp>
      <p:sp>
        <p:nvSpPr>
          <p:cNvPr id="53" name="Text 50"/>
          <p:cNvSpPr txBox="1"/>
          <p:nvPr/>
        </p:nvSpPr>
        <p:spPr>
          <a:xfrm>
            <a:off x="6537960" y="47183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Asset-light pop-up, no store</a:t>
            </a:r>
            <a:endParaRPr lang="en-US" sz="900" dirty="0"/>
          </a:p>
        </p:txBody>
      </p:sp>
      <p:sp>
        <p:nvSpPr>
          <p:cNvPr id="54" name="Text 51"/>
          <p:cNvSpPr txBox="1"/>
          <p:nvPr/>
        </p:nvSpPr>
        <p:spPr>
          <a:xfrm>
            <a:off x="9098280" y="47183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One-season test; stopped if attendee repeat doesn't beat a matched holdout</a:t>
            </a:r>
            <a:endParaRPr lang="en-US" sz="900" dirty="0"/>
          </a:p>
        </p:txBody>
      </p:sp>
      <p:sp>
        <p:nvSpPr>
          <p:cNvPr id="55" name="Shape 52"/>
          <p:cNvSpPr/>
          <p:nvPr/>
        </p:nvSpPr>
        <p:spPr>
          <a:xfrm>
            <a:off x="502920" y="5486400"/>
            <a:ext cx="11183112" cy="512064"/>
          </a:xfrm>
          <a:prstGeom prst="roundRect">
            <a:avLst>
              <a:gd name="adj" fmla="val 17857"/>
            </a:avLst>
          </a:prstGeom>
          <a:solidFill>
            <a:srgbClr val="EFF6FF"/>
          </a:solidFill>
          <a:ln w="6350">
            <a:solidFill>
              <a:srgbClr val="EFF6FF"/>
            </a:solidFill>
            <a:prstDash val="solid"/>
          </a:ln>
        </p:spPr>
      </p:sp>
      <p:sp>
        <p:nvSpPr>
          <p:cNvPr id="56" name="Shape 53"/>
          <p:cNvSpPr/>
          <p:nvPr/>
        </p:nvSpPr>
        <p:spPr>
          <a:xfrm>
            <a:off x="640080" y="5577840"/>
            <a:ext cx="329184" cy="329184"/>
          </a:xfrm>
          <a:prstGeom prst="ellipse">
            <a:avLst/>
          </a:prstGeom>
          <a:solidFill>
            <a:srgbClr val="1D4ED8"/>
          </a:solidFill>
          <a:ln w="6350">
            <a:solidFill>
              <a:srgbClr val="1D4ED8"/>
            </a:solidFill>
            <a:prstDash val="solid"/>
          </a:ln>
        </p:spPr>
      </p:sp>
      <p:pic>
        <p:nvPicPr>
          <p:cNvPr id="57" name="Image 1" descr="preencoded.png">    </p:cNvPr>
          <p:cNvPicPr>
            <a:picLocks noChangeAspect="1"/>
          </p:cNvPicPr>
          <p:nvPr/>
        </p:nvPicPr>
        <p:blipFill>
          <a:blip r:embed="rId2"/>
          <a:stretch>
            <a:fillRect/>
          </a:stretch>
        </p:blipFill>
        <p:spPr>
          <a:xfrm>
            <a:off x="712500" y="5650260"/>
            <a:ext cx="184343" cy="184343"/>
          </a:xfrm>
          <a:prstGeom prst="rect">
            <a:avLst/>
          </a:prstGeom>
        </p:spPr>
      </p:pic>
      <p:sp>
        <p:nvSpPr>
          <p:cNvPr id="58" name="Text 54"/>
          <p:cNvSpPr txBox="1"/>
          <p:nvPr/>
        </p:nvSpPr>
        <p:spPr>
          <a:xfrm>
            <a:off x="1097280" y="54864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Net change: $0. Money crosses lines only when a CJA holdout proves it, and the holdout sets the amount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What +6 points takes, in the case's own numbers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E (90-day repeat by engagement type) and J (impact of a 6-point gain); Adobe CJA A5. Arithmetic on case figures, not a forecast.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22</a:t>
            </a:r>
            <a:endParaRPr lang="en-US" sz="800" dirty="0"/>
          </a:p>
        </p:txBody>
      </p:sp>
      <p:sp>
        <p:nvSpPr>
          <p:cNvPr id="9" name="Text 6"/>
          <p:cNvSpPr txBox="1"/>
          <p:nvPr/>
        </p:nvSpPr>
        <p:spPr>
          <a:xfrm>
            <a:off x="502920" y="1261872"/>
            <a:ext cx="40233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90-day repeat by engagement (Exhibit E)</a:t>
            </a:r>
            <a:endParaRPr lang="en-US" sz="1200" dirty="0"/>
          </a:p>
        </p:txBody>
      </p:sp>
      <p:sp>
        <p:nvSpPr>
          <p:cNvPr id="10" name="Text 7"/>
          <p:cNvSpPr txBox="1"/>
          <p:nvPr/>
        </p:nvSpPr>
        <p:spPr>
          <a:xfrm>
            <a:off x="502920" y="173736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App-installed</a:t>
            </a:r>
            <a:endParaRPr lang="en-US" sz="1050" dirty="0"/>
          </a:p>
        </p:txBody>
      </p:sp>
      <p:sp>
        <p:nvSpPr>
          <p:cNvPr id="11" name="Shape 8"/>
          <p:cNvSpPr/>
          <p:nvPr/>
        </p:nvSpPr>
        <p:spPr>
          <a:xfrm>
            <a:off x="502920" y="2029968"/>
            <a:ext cx="3108960" cy="292608"/>
          </a:xfrm>
          <a:prstGeom prst="rect">
            <a:avLst/>
          </a:prstGeom>
          <a:solidFill>
            <a:srgbClr val="1D4ED8"/>
          </a:solidFill>
          <a:ln w="6350">
            <a:solidFill>
              <a:srgbClr val="1D4ED8"/>
            </a:solidFill>
            <a:prstDash val="solid"/>
          </a:ln>
        </p:spPr>
      </p:sp>
      <p:sp>
        <p:nvSpPr>
          <p:cNvPr id="12" name="Text 9"/>
          <p:cNvSpPr txBox="1"/>
          <p:nvPr/>
        </p:nvSpPr>
        <p:spPr>
          <a:xfrm>
            <a:off x="3685032" y="201168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38%</a:t>
            </a:r>
            <a:endParaRPr lang="en-US" sz="1200" dirty="0"/>
          </a:p>
        </p:txBody>
      </p:sp>
      <p:sp>
        <p:nvSpPr>
          <p:cNvPr id="13" name="Text 10"/>
          <p:cNvSpPr txBox="1"/>
          <p:nvPr/>
        </p:nvSpPr>
        <p:spPr>
          <a:xfrm>
            <a:off x="502920" y="251460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Email/SMS-subscribed</a:t>
            </a:r>
            <a:endParaRPr lang="en-US" sz="1050" dirty="0"/>
          </a:p>
        </p:txBody>
      </p:sp>
      <p:sp>
        <p:nvSpPr>
          <p:cNvPr id="14" name="Shape 11"/>
          <p:cNvSpPr/>
          <p:nvPr/>
        </p:nvSpPr>
        <p:spPr>
          <a:xfrm>
            <a:off x="502920" y="2807208"/>
            <a:ext cx="2372627" cy="292608"/>
          </a:xfrm>
          <a:prstGeom prst="rect">
            <a:avLst/>
          </a:prstGeom>
          <a:solidFill>
            <a:srgbClr val="2563EB"/>
          </a:solidFill>
          <a:ln w="6350">
            <a:solidFill>
              <a:srgbClr val="2563EB"/>
            </a:solidFill>
            <a:prstDash val="solid"/>
          </a:ln>
        </p:spPr>
      </p:sp>
      <p:sp>
        <p:nvSpPr>
          <p:cNvPr id="15" name="Text 12"/>
          <p:cNvSpPr txBox="1"/>
          <p:nvPr/>
        </p:nvSpPr>
        <p:spPr>
          <a:xfrm>
            <a:off x="2948699" y="278892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29%</a:t>
            </a:r>
            <a:endParaRPr lang="en-US" sz="1200" dirty="0"/>
          </a:p>
        </p:txBody>
      </p:sp>
      <p:sp>
        <p:nvSpPr>
          <p:cNvPr id="16" name="Text 13"/>
          <p:cNvSpPr txBox="1"/>
          <p:nvPr/>
        </p:nvSpPr>
        <p:spPr>
          <a:xfrm>
            <a:off x="502920" y="329184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Blended average</a:t>
            </a:r>
            <a:endParaRPr lang="en-US" sz="1050" dirty="0"/>
          </a:p>
        </p:txBody>
      </p:sp>
      <p:sp>
        <p:nvSpPr>
          <p:cNvPr id="17" name="Shape 14"/>
          <p:cNvSpPr/>
          <p:nvPr/>
        </p:nvSpPr>
        <p:spPr>
          <a:xfrm>
            <a:off x="502920" y="3584448"/>
            <a:ext cx="1963554" cy="292608"/>
          </a:xfrm>
          <a:prstGeom prst="rect">
            <a:avLst/>
          </a:prstGeom>
          <a:solidFill>
            <a:srgbClr val="0A1F44"/>
          </a:solidFill>
          <a:ln w="6350">
            <a:solidFill>
              <a:srgbClr val="0A1F44"/>
            </a:solidFill>
            <a:prstDash val="solid"/>
          </a:ln>
        </p:spPr>
      </p:sp>
      <p:sp>
        <p:nvSpPr>
          <p:cNvPr id="18" name="Text 15"/>
          <p:cNvSpPr txBox="1"/>
          <p:nvPr/>
        </p:nvSpPr>
        <p:spPr>
          <a:xfrm>
            <a:off x="2539626" y="356616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24%</a:t>
            </a:r>
            <a:endParaRPr lang="en-US" sz="1200" dirty="0"/>
          </a:p>
        </p:txBody>
      </p:sp>
      <p:sp>
        <p:nvSpPr>
          <p:cNvPr id="19" name="Text 16"/>
          <p:cNvSpPr txBox="1"/>
          <p:nvPr/>
        </p:nvSpPr>
        <p:spPr>
          <a:xfrm>
            <a:off x="502920" y="406908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Web-only, unsubscribed</a:t>
            </a:r>
            <a:endParaRPr lang="en-US" sz="1050" dirty="0"/>
          </a:p>
        </p:txBody>
      </p:sp>
      <p:sp>
        <p:nvSpPr>
          <p:cNvPr id="20" name="Shape 17"/>
          <p:cNvSpPr/>
          <p:nvPr/>
        </p:nvSpPr>
        <p:spPr>
          <a:xfrm>
            <a:off x="502920" y="4361688"/>
            <a:ext cx="1063592" cy="292608"/>
          </a:xfrm>
          <a:prstGeom prst="rect">
            <a:avLst/>
          </a:prstGeom>
          <a:solidFill>
            <a:srgbClr val="94A3B8"/>
          </a:solidFill>
          <a:ln w="6350">
            <a:solidFill>
              <a:srgbClr val="94A3B8"/>
            </a:solidFill>
            <a:prstDash val="solid"/>
          </a:ln>
        </p:spPr>
      </p:sp>
      <p:sp>
        <p:nvSpPr>
          <p:cNvPr id="21" name="Text 18"/>
          <p:cNvSpPr txBox="1"/>
          <p:nvPr/>
        </p:nvSpPr>
        <p:spPr>
          <a:xfrm>
            <a:off x="1639664" y="434340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13%</a:t>
            </a:r>
            <a:endParaRPr lang="en-US" sz="1200" dirty="0"/>
          </a:p>
        </p:txBody>
      </p:sp>
      <p:sp>
        <p:nvSpPr>
          <p:cNvPr id="22" name="Text 19"/>
          <p:cNvSpPr txBox="1"/>
          <p:nvPr/>
        </p:nvSpPr>
        <p:spPr>
          <a:xfrm>
            <a:off x="4754880" y="1261872"/>
            <a:ext cx="35661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What it takes to add 6 points</a:t>
            </a:r>
            <a:endParaRPr lang="en-US" sz="1200" dirty="0"/>
          </a:p>
        </p:txBody>
      </p:sp>
      <p:sp>
        <p:nvSpPr>
          <p:cNvPr id="23" name="Shape 20"/>
          <p:cNvSpPr/>
          <p:nvPr/>
        </p:nvSpPr>
        <p:spPr>
          <a:xfrm>
            <a:off x="4754880" y="1737360"/>
            <a:ext cx="3566160" cy="1325880"/>
          </a:xfrm>
          <a:prstGeom prst="roundRect">
            <a:avLst>
              <a:gd name="adj" fmla="val 5517"/>
            </a:avLst>
          </a:prstGeom>
          <a:solidFill>
            <a:srgbClr val="EFF6FF"/>
          </a:solidFill>
          <a:ln w="6350">
            <a:solidFill>
              <a:srgbClr val="EFF6FF"/>
            </a:solidFill>
            <a:prstDash val="solid"/>
          </a:ln>
        </p:spPr>
      </p:sp>
      <p:sp>
        <p:nvSpPr>
          <p:cNvPr id="24" name="Text 21"/>
          <p:cNvSpPr txBox="1"/>
          <p:nvPr/>
        </p:nvSpPr>
        <p:spPr>
          <a:xfrm>
            <a:off x="4919472" y="1847088"/>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24% → ~29%</a:t>
            </a:r>
            <a:endParaRPr lang="en-US" sz="2600" dirty="0"/>
          </a:p>
        </p:txBody>
      </p:sp>
      <p:sp>
        <p:nvSpPr>
          <p:cNvPr id="25" name="Text 22"/>
          <p:cNvSpPr txBox="1"/>
          <p:nvPr/>
        </p:nvSpPr>
        <p:spPr>
          <a:xfrm>
            <a:off x="4919472" y="2359152"/>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app</a:t>
            </a:r>
            <a:endParaRPr lang="en-US" sz="1100" dirty="0"/>
          </a:p>
        </p:txBody>
      </p:sp>
      <p:sp>
        <p:nvSpPr>
          <p:cNvPr id="26" name="Text 23"/>
          <p:cNvSpPr txBox="1"/>
          <p:nvPr/>
        </p:nvSpPr>
        <p:spPr>
          <a:xfrm>
            <a:off x="4919472" y="2633472"/>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25 pts (38 − 13); ~21 pts after the A5 selection haircut</a:t>
            </a:r>
            <a:endParaRPr lang="en-US" sz="900" dirty="0"/>
          </a:p>
        </p:txBody>
      </p:sp>
      <p:sp>
        <p:nvSpPr>
          <p:cNvPr id="27" name="Shape 24"/>
          <p:cNvSpPr/>
          <p:nvPr/>
        </p:nvSpPr>
        <p:spPr>
          <a:xfrm>
            <a:off x="4754880" y="3218688"/>
            <a:ext cx="3566160" cy="1325880"/>
          </a:xfrm>
          <a:prstGeom prst="roundRect">
            <a:avLst>
              <a:gd name="adj" fmla="val 5517"/>
            </a:avLst>
          </a:prstGeom>
          <a:solidFill>
            <a:srgbClr val="EFF6FF"/>
          </a:solidFill>
          <a:ln w="6350">
            <a:solidFill>
              <a:srgbClr val="EFF6FF"/>
            </a:solidFill>
            <a:prstDash val="solid"/>
          </a:ln>
        </p:spPr>
      </p:sp>
      <p:sp>
        <p:nvSpPr>
          <p:cNvPr id="28" name="Text 25"/>
          <p:cNvSpPr txBox="1"/>
          <p:nvPr/>
        </p:nvSpPr>
        <p:spPr>
          <a:xfrm>
            <a:off x="4919472" y="3328416"/>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37.5% → ~59%</a:t>
            </a:r>
            <a:endParaRPr lang="en-US" sz="2600" dirty="0"/>
          </a:p>
        </p:txBody>
      </p:sp>
      <p:sp>
        <p:nvSpPr>
          <p:cNvPr id="29" name="Text 26"/>
          <p:cNvSpPr txBox="1"/>
          <p:nvPr/>
        </p:nvSpPr>
        <p:spPr>
          <a:xfrm>
            <a:off x="4919472" y="3840480"/>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email/SMS</a:t>
            </a:r>
            <a:endParaRPr lang="en-US" sz="1100" dirty="0"/>
          </a:p>
        </p:txBody>
      </p:sp>
      <p:sp>
        <p:nvSpPr>
          <p:cNvPr id="30" name="Text 27"/>
          <p:cNvSpPr txBox="1"/>
          <p:nvPr/>
        </p:nvSpPr>
        <p:spPr>
          <a:xfrm>
            <a:off x="4919472" y="4114800"/>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16 pts; ~10 after haircut: more than the ≥31% who are web-only</a:t>
            </a:r>
            <a:endParaRPr lang="en-US" sz="900" dirty="0"/>
          </a:p>
        </p:txBody>
      </p:sp>
      <p:sp>
        <p:nvSpPr>
          <p:cNvPr id="31" name="Text 28"/>
          <p:cNvSpPr txBox="1"/>
          <p:nvPr/>
        </p:nvSpPr>
        <p:spPr>
          <a:xfrm>
            <a:off x="4754880" y="4681728"/>
            <a:ext cx="3566160" cy="731520"/>
          </a:xfrm>
          <a:prstGeom prst="rect">
            <a:avLst/>
          </a:prstGeom>
          <a:noFill/>
          <a:ln/>
        </p:spPr>
        <p:txBody>
          <a:bodyPr wrap="square" lIns="0" tIns="0" rIns="0" bIns="0" rtlCol="0" anchor="t"/>
          <a:lstStyle/>
          <a:p>
            <a:pPr indent="0" marL="0">
              <a:buNone/>
            </a:pPr>
            <a:r>
              <a:rPr lang="en-US" sz="900" i="1" dirty="0">
                <a:solidFill>
                  <a:srgbClr val="334155"/>
                </a:solidFill>
                <a:latin typeface="Inter" pitchFamily="34" charset="0"/>
                <a:ea typeface="Inter" pitchFamily="34" charset="-122"/>
                <a:cs typeface="Inter" pitchFamily="34" charset="-120"/>
              </a:rPr>
              <a:t>Minimums: Exhibit E's lifts include selection (A2 any time → A5 after order one: app 25.9% → 21.5%, SMS 18.5% → 11.7%). Engagement mix only; category shift and cart recovery add lift on top</a:t>
            </a:r>
            <a:endParaRPr lang="en-US" sz="900" dirty="0"/>
          </a:p>
        </p:txBody>
      </p:sp>
      <p:sp>
        <p:nvSpPr>
          <p:cNvPr id="32" name="Shape 29"/>
          <p:cNvSpPr/>
          <p:nvPr/>
        </p:nvSpPr>
        <p:spPr>
          <a:xfrm>
            <a:off x="8595360" y="1261872"/>
            <a:ext cx="3090672" cy="4114800"/>
          </a:xfrm>
          <a:prstGeom prst="roundRect">
            <a:avLst>
              <a:gd name="adj" fmla="val 2367"/>
            </a:avLst>
          </a:prstGeom>
          <a:solidFill>
            <a:srgbClr val="0A1F44"/>
          </a:solidFill>
          <a:ln w="6350">
            <a:solidFill>
              <a:srgbClr val="0A1F44"/>
            </a:solidFill>
            <a:prstDash val="solid"/>
          </a:ln>
        </p:spPr>
      </p:sp>
      <p:sp>
        <p:nvSpPr>
          <p:cNvPr id="33" name="Text 30"/>
          <p:cNvSpPr txBox="1"/>
          <p:nvPr/>
        </p:nvSpPr>
        <p:spPr>
          <a:xfrm>
            <a:off x="8778240" y="1371600"/>
            <a:ext cx="2743200" cy="274320"/>
          </a:xfrm>
          <a:prstGeom prst="rect">
            <a:avLst/>
          </a:prstGeom>
          <a:noFill/>
          <a:ln/>
        </p:spPr>
        <p:txBody>
          <a:bodyPr wrap="square" lIns="0" tIns="0" rIns="0" bIns="0" rtlCol="0" anchor="t"/>
          <a:lstStyle/>
          <a:p>
            <a:pPr indent="0" marL="0">
              <a:buNone/>
            </a:pPr>
            <a:r>
              <a:rPr lang="en-US" sz="900" b="1" dirty="0">
                <a:solidFill>
                  <a:srgbClr val="8FB2EE"/>
                </a:solidFill>
                <a:latin typeface="Inter" pitchFamily="34" charset="0"/>
                <a:ea typeface="Inter" pitchFamily="34" charset="-122"/>
                <a:cs typeface="Inter" pitchFamily="34" charset="-120"/>
              </a:rPr>
              <a:t>WHAT +6 POINTS IS WORTH (EXHIBIT J)</a:t>
            </a:r>
            <a:endParaRPr lang="en-US" sz="900" dirty="0"/>
          </a:p>
        </p:txBody>
      </p:sp>
      <p:sp>
        <p:nvSpPr>
          <p:cNvPr id="34" name="Text 31"/>
          <p:cNvSpPr txBox="1"/>
          <p:nvPr/>
        </p:nvSpPr>
        <p:spPr>
          <a:xfrm>
            <a:off x="8778240" y="178308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~250,000</a:t>
            </a:r>
            <a:endParaRPr lang="en-US" sz="2200" dirty="0"/>
          </a:p>
        </p:txBody>
      </p:sp>
      <p:sp>
        <p:nvSpPr>
          <p:cNvPr id="35" name="Text 32"/>
          <p:cNvSpPr txBox="1"/>
          <p:nvPr/>
        </p:nvSpPr>
        <p:spPr>
          <a:xfrm>
            <a:off x="8778240" y="222199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repeat orders a year</a:t>
            </a:r>
            <a:endParaRPr lang="en-US" sz="1000" dirty="0"/>
          </a:p>
        </p:txBody>
      </p:sp>
      <p:sp>
        <p:nvSpPr>
          <p:cNvPr id="36" name="Text 33"/>
          <p:cNvSpPr txBox="1"/>
          <p:nvPr/>
        </p:nvSpPr>
        <p:spPr>
          <a:xfrm>
            <a:off x="8778240" y="265176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~$30M</a:t>
            </a:r>
            <a:endParaRPr lang="en-US" sz="2200" dirty="0"/>
          </a:p>
        </p:txBody>
      </p:sp>
      <p:sp>
        <p:nvSpPr>
          <p:cNvPr id="37" name="Text 34"/>
          <p:cNvSpPr txBox="1"/>
          <p:nvPr/>
        </p:nvSpPr>
        <p:spPr>
          <a:xfrm>
            <a:off x="8778240" y="309067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revenue</a:t>
            </a:r>
            <a:endParaRPr lang="en-US" sz="1000" dirty="0"/>
          </a:p>
        </p:txBody>
      </p:sp>
      <p:sp>
        <p:nvSpPr>
          <p:cNvPr id="38" name="Text 35"/>
          <p:cNvSpPr txBox="1"/>
          <p:nvPr/>
        </p:nvSpPr>
        <p:spPr>
          <a:xfrm>
            <a:off x="8778240" y="352044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~$13.5M</a:t>
            </a:r>
            <a:endParaRPr lang="en-US" sz="2200" dirty="0"/>
          </a:p>
        </p:txBody>
      </p:sp>
      <p:sp>
        <p:nvSpPr>
          <p:cNvPr id="39" name="Text 36"/>
          <p:cNvSpPr txBox="1"/>
          <p:nvPr/>
        </p:nvSpPr>
        <p:spPr>
          <a:xfrm>
            <a:off x="8778240" y="395935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contribution at ~45% margin</a:t>
            </a:r>
            <a:endParaRPr lang="en-US" sz="1000" dirty="0"/>
          </a:p>
        </p:txBody>
      </p:sp>
      <p:sp>
        <p:nvSpPr>
          <p:cNvPr id="40" name="Text 37"/>
          <p:cNvSpPr txBox="1"/>
          <p:nvPr/>
        </p:nvSpPr>
        <p:spPr>
          <a:xfrm>
            <a:off x="8778240" y="438912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~10–12%</a:t>
            </a:r>
            <a:endParaRPr lang="en-US" sz="2200" dirty="0"/>
          </a:p>
        </p:txBody>
      </p:sp>
      <p:sp>
        <p:nvSpPr>
          <p:cNvPr id="41" name="Text 38"/>
          <p:cNvSpPr txBox="1"/>
          <p:nvPr/>
        </p:nvSpPr>
        <p:spPr>
          <a:xfrm>
            <a:off x="8778240" y="482803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lower effective blended CAC</a:t>
            </a:r>
            <a:endParaRPr lang="en-US" sz="1000" dirty="0"/>
          </a:p>
        </p:txBody>
      </p:sp>
      <p:sp>
        <p:nvSpPr>
          <p:cNvPr id="42" name="Shape 39"/>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43" name="Shape 40"/>
          <p:cNvSpPr/>
          <p:nvPr/>
        </p:nvSpPr>
        <p:spPr>
          <a:xfrm>
            <a:off x="640080" y="5669280"/>
            <a:ext cx="329184" cy="329184"/>
          </a:xfrm>
          <a:prstGeom prst="ellipse">
            <a:avLst/>
          </a:prstGeom>
          <a:solidFill>
            <a:srgbClr val="1D4ED8"/>
          </a:solidFill>
          <a:ln w="6350">
            <a:solidFill>
              <a:srgbClr val="1D4ED8"/>
            </a:solidFill>
            <a:prstDash val="solid"/>
          </a:ln>
        </p:spPr>
      </p:sp>
      <p:pic>
        <p:nvPicPr>
          <p:cNvPr id="44" name="Image 1" descr="preencoded.png">    </p:cNvPr>
          <p:cNvPicPr>
            <a:picLocks noChangeAspect="1"/>
          </p:cNvPicPr>
          <p:nvPr/>
        </p:nvPicPr>
        <p:blipFill>
          <a:blip r:embed="rId2"/>
          <a:stretch>
            <a:fillRect/>
          </a:stretch>
        </p:blipFill>
        <p:spPr>
          <a:xfrm>
            <a:off x="712500" y="5741700"/>
            <a:ext cx="184343" cy="184343"/>
          </a:xfrm>
          <a:prstGeom prst="rect">
            <a:avLst/>
          </a:prstGeom>
        </p:spPr>
      </p:pic>
      <p:sp>
        <p:nvSpPr>
          <p:cNvPr id="45" name="Text 41"/>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+6 points needs most web-only buyers moved into owned channels, the app route first: that is why lever 1 comes first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Last click credits owned channels as little as a third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Marketing Channel, Person container, 90-day lookback,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23</a:t>
            </a:r>
            <a:endParaRPr lang="en-US" sz="800" dirty="0"/>
          </a:p>
        </p:txBody>
      </p:sp>
      <p:sp>
        <p:nvSpPr>
          <p:cNvPr id="9" name="Text 6"/>
          <p:cNvSpPr txBox="1"/>
          <p:nvPr/>
        </p:nvSpPr>
        <p:spPr>
          <a:xfrm>
            <a:off x="274320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0%</a:t>
            </a:r>
            <a:endParaRPr lang="en-US" sz="950" dirty="0"/>
          </a:p>
        </p:txBody>
      </p:sp>
      <p:sp>
        <p:nvSpPr>
          <p:cNvPr id="10" name="Shape 7"/>
          <p:cNvSpPr/>
          <p:nvPr/>
        </p:nvSpPr>
        <p:spPr>
          <a:xfrm>
            <a:off x="3017520" y="1600200"/>
            <a:ext cx="0" cy="4206240"/>
          </a:xfrm>
          <a:prstGeom prst="line">
            <a:avLst/>
          </a:prstGeom>
          <a:noFill/>
          <a:ln w="9525">
            <a:solidFill>
              <a:srgbClr val="E2E8F0"/>
            </a:solidFill>
            <a:prstDash val="dash"/>
          </a:ln>
        </p:spPr>
      </p:sp>
      <p:sp>
        <p:nvSpPr>
          <p:cNvPr id="11" name="Text 8"/>
          <p:cNvSpPr txBox="1"/>
          <p:nvPr/>
        </p:nvSpPr>
        <p:spPr>
          <a:xfrm>
            <a:off x="3584448"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10%</a:t>
            </a:r>
            <a:endParaRPr lang="en-US" sz="950" dirty="0"/>
          </a:p>
        </p:txBody>
      </p:sp>
      <p:sp>
        <p:nvSpPr>
          <p:cNvPr id="12" name="Shape 9"/>
          <p:cNvSpPr/>
          <p:nvPr/>
        </p:nvSpPr>
        <p:spPr>
          <a:xfrm>
            <a:off x="3858768" y="1600200"/>
            <a:ext cx="0" cy="4206240"/>
          </a:xfrm>
          <a:prstGeom prst="line">
            <a:avLst/>
          </a:prstGeom>
          <a:noFill/>
          <a:ln w="9525">
            <a:solidFill>
              <a:srgbClr val="E2E8F0"/>
            </a:solidFill>
            <a:prstDash val="dash"/>
          </a:ln>
        </p:spPr>
      </p:sp>
      <p:sp>
        <p:nvSpPr>
          <p:cNvPr id="13" name="Text 10"/>
          <p:cNvSpPr txBox="1"/>
          <p:nvPr/>
        </p:nvSpPr>
        <p:spPr>
          <a:xfrm>
            <a:off x="4425696"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20%</a:t>
            </a:r>
            <a:endParaRPr lang="en-US" sz="950" dirty="0"/>
          </a:p>
        </p:txBody>
      </p:sp>
      <p:sp>
        <p:nvSpPr>
          <p:cNvPr id="14" name="Shape 11"/>
          <p:cNvSpPr/>
          <p:nvPr/>
        </p:nvSpPr>
        <p:spPr>
          <a:xfrm>
            <a:off x="4700016" y="1600200"/>
            <a:ext cx="0" cy="4206240"/>
          </a:xfrm>
          <a:prstGeom prst="line">
            <a:avLst/>
          </a:prstGeom>
          <a:noFill/>
          <a:ln w="9525">
            <a:solidFill>
              <a:srgbClr val="E2E8F0"/>
            </a:solidFill>
            <a:prstDash val="dash"/>
          </a:ln>
        </p:spPr>
      </p:sp>
      <p:sp>
        <p:nvSpPr>
          <p:cNvPr id="15" name="Text 12"/>
          <p:cNvSpPr txBox="1"/>
          <p:nvPr/>
        </p:nvSpPr>
        <p:spPr>
          <a:xfrm>
            <a:off x="5266944"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30%</a:t>
            </a:r>
            <a:endParaRPr lang="en-US" sz="950" dirty="0"/>
          </a:p>
        </p:txBody>
      </p:sp>
      <p:sp>
        <p:nvSpPr>
          <p:cNvPr id="16" name="Shape 13"/>
          <p:cNvSpPr/>
          <p:nvPr/>
        </p:nvSpPr>
        <p:spPr>
          <a:xfrm>
            <a:off x="5541264" y="1600200"/>
            <a:ext cx="0" cy="4206240"/>
          </a:xfrm>
          <a:prstGeom prst="line">
            <a:avLst/>
          </a:prstGeom>
          <a:noFill/>
          <a:ln w="9525">
            <a:solidFill>
              <a:srgbClr val="E2E8F0"/>
            </a:solidFill>
            <a:prstDash val="dash"/>
          </a:ln>
        </p:spPr>
      </p:sp>
      <p:sp>
        <p:nvSpPr>
          <p:cNvPr id="17" name="Text 14"/>
          <p:cNvSpPr txBox="1"/>
          <p:nvPr/>
        </p:nvSpPr>
        <p:spPr>
          <a:xfrm>
            <a:off x="6108192"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40%</a:t>
            </a:r>
            <a:endParaRPr lang="en-US" sz="950" dirty="0"/>
          </a:p>
        </p:txBody>
      </p:sp>
      <p:sp>
        <p:nvSpPr>
          <p:cNvPr id="18" name="Shape 15"/>
          <p:cNvSpPr/>
          <p:nvPr/>
        </p:nvSpPr>
        <p:spPr>
          <a:xfrm>
            <a:off x="6382512" y="1600200"/>
            <a:ext cx="0" cy="4206240"/>
          </a:xfrm>
          <a:prstGeom prst="line">
            <a:avLst/>
          </a:prstGeom>
          <a:noFill/>
          <a:ln w="9525">
            <a:solidFill>
              <a:srgbClr val="E2E8F0"/>
            </a:solidFill>
            <a:prstDash val="dash"/>
          </a:ln>
        </p:spPr>
      </p:sp>
      <p:sp>
        <p:nvSpPr>
          <p:cNvPr id="19" name="Text 16"/>
          <p:cNvSpPr txBox="1"/>
          <p:nvPr/>
        </p:nvSpPr>
        <p:spPr>
          <a:xfrm>
            <a:off x="694944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50%</a:t>
            </a:r>
            <a:endParaRPr lang="en-US" sz="950" dirty="0"/>
          </a:p>
        </p:txBody>
      </p:sp>
      <p:sp>
        <p:nvSpPr>
          <p:cNvPr id="20" name="Shape 17"/>
          <p:cNvSpPr/>
          <p:nvPr/>
        </p:nvSpPr>
        <p:spPr>
          <a:xfrm>
            <a:off x="7223760" y="1600200"/>
            <a:ext cx="0" cy="4206240"/>
          </a:xfrm>
          <a:prstGeom prst="line">
            <a:avLst/>
          </a:prstGeom>
          <a:noFill/>
          <a:ln w="9525">
            <a:solidFill>
              <a:srgbClr val="E2E8F0"/>
            </a:solidFill>
            <a:prstDash val="dash"/>
          </a:ln>
        </p:spPr>
      </p:sp>
      <p:sp>
        <p:nvSpPr>
          <p:cNvPr id="21" name="Text 18"/>
          <p:cNvSpPr txBox="1"/>
          <p:nvPr/>
        </p:nvSpPr>
        <p:spPr>
          <a:xfrm>
            <a:off x="594360" y="1737360"/>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prospecting</a:t>
            </a:r>
            <a:endParaRPr lang="en-US" sz="1100" dirty="0"/>
          </a:p>
        </p:txBody>
      </p:sp>
      <p:sp>
        <p:nvSpPr>
          <p:cNvPr id="22" name="Shape 19"/>
          <p:cNvSpPr/>
          <p:nvPr/>
        </p:nvSpPr>
        <p:spPr>
          <a:xfrm>
            <a:off x="6508699" y="1920240"/>
            <a:ext cx="353324" cy="0"/>
          </a:xfrm>
          <a:prstGeom prst="line">
            <a:avLst/>
          </a:prstGeom>
          <a:noFill/>
          <a:ln w="38100">
            <a:solidFill>
              <a:srgbClr val="94A3B8"/>
            </a:solidFill>
            <a:prstDash val="solid"/>
          </a:ln>
        </p:spPr>
      </p:sp>
      <p:sp>
        <p:nvSpPr>
          <p:cNvPr id="23" name="Shape 20"/>
          <p:cNvSpPr/>
          <p:nvPr/>
        </p:nvSpPr>
        <p:spPr>
          <a:xfrm>
            <a:off x="6417259" y="1828800"/>
            <a:ext cx="182880" cy="182880"/>
          </a:xfrm>
          <a:prstGeom prst="ellipse">
            <a:avLst/>
          </a:prstGeom>
          <a:solidFill>
            <a:srgbClr val="94A3B8"/>
          </a:solidFill>
          <a:ln w="6350">
            <a:solidFill>
              <a:srgbClr val="94A3B8"/>
            </a:solidFill>
            <a:prstDash val="solid"/>
          </a:ln>
        </p:spPr>
      </p:sp>
      <p:sp>
        <p:nvSpPr>
          <p:cNvPr id="24" name="Shape 21"/>
          <p:cNvSpPr/>
          <p:nvPr/>
        </p:nvSpPr>
        <p:spPr>
          <a:xfrm>
            <a:off x="6770583" y="1828800"/>
            <a:ext cx="182880" cy="182880"/>
          </a:xfrm>
          <a:prstGeom prst="ellipse">
            <a:avLst/>
          </a:prstGeom>
          <a:solidFill>
            <a:srgbClr val="0A1F44"/>
          </a:solidFill>
          <a:ln w="6350">
            <a:solidFill>
              <a:srgbClr val="0A1F44"/>
            </a:solidFill>
            <a:prstDash val="solid"/>
          </a:ln>
        </p:spPr>
      </p:sp>
      <p:sp>
        <p:nvSpPr>
          <p:cNvPr id="25" name="Text 22"/>
          <p:cNvSpPr txBox="1"/>
          <p:nvPr/>
        </p:nvSpPr>
        <p:spPr>
          <a:xfrm>
            <a:off x="7026615" y="1737360"/>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41.5% → 45.7%</a:t>
            </a:r>
            <a:endParaRPr lang="en-US" sz="950" dirty="0"/>
          </a:p>
        </p:txBody>
      </p:sp>
      <p:sp>
        <p:nvSpPr>
          <p:cNvPr id="26" name="Text 23"/>
          <p:cNvSpPr txBox="1"/>
          <p:nvPr/>
        </p:nvSpPr>
        <p:spPr>
          <a:xfrm>
            <a:off x="594360" y="2249424"/>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Organic, direct, SEO</a:t>
            </a:r>
            <a:endParaRPr lang="en-US" sz="1100" dirty="0"/>
          </a:p>
        </p:txBody>
      </p:sp>
      <p:sp>
        <p:nvSpPr>
          <p:cNvPr id="27" name="Shape 24"/>
          <p:cNvSpPr/>
          <p:nvPr/>
        </p:nvSpPr>
        <p:spPr>
          <a:xfrm>
            <a:off x="4363517" y="2432304"/>
            <a:ext cx="67300" cy="0"/>
          </a:xfrm>
          <a:prstGeom prst="line">
            <a:avLst/>
          </a:prstGeom>
          <a:noFill/>
          <a:ln w="38100">
            <a:solidFill>
              <a:srgbClr val="94A3B8"/>
            </a:solidFill>
            <a:prstDash val="solid"/>
          </a:ln>
        </p:spPr>
      </p:sp>
      <p:sp>
        <p:nvSpPr>
          <p:cNvPr id="28" name="Shape 25"/>
          <p:cNvSpPr/>
          <p:nvPr/>
        </p:nvSpPr>
        <p:spPr>
          <a:xfrm>
            <a:off x="4272077" y="2340864"/>
            <a:ext cx="182880" cy="182880"/>
          </a:xfrm>
          <a:prstGeom prst="ellipse">
            <a:avLst/>
          </a:prstGeom>
          <a:solidFill>
            <a:srgbClr val="94A3B8"/>
          </a:solidFill>
          <a:ln w="6350">
            <a:solidFill>
              <a:srgbClr val="94A3B8"/>
            </a:solidFill>
            <a:prstDash val="solid"/>
          </a:ln>
        </p:spPr>
      </p:sp>
      <p:sp>
        <p:nvSpPr>
          <p:cNvPr id="29" name="Shape 26"/>
          <p:cNvSpPr/>
          <p:nvPr/>
        </p:nvSpPr>
        <p:spPr>
          <a:xfrm>
            <a:off x="4339377" y="2340864"/>
            <a:ext cx="182880" cy="182880"/>
          </a:xfrm>
          <a:prstGeom prst="ellipse">
            <a:avLst/>
          </a:prstGeom>
          <a:solidFill>
            <a:srgbClr val="0A1F44"/>
          </a:solidFill>
          <a:ln w="6350">
            <a:solidFill>
              <a:srgbClr val="0A1F44"/>
            </a:solidFill>
            <a:prstDash val="solid"/>
          </a:ln>
        </p:spPr>
      </p:sp>
      <p:sp>
        <p:nvSpPr>
          <p:cNvPr id="30" name="Text 27"/>
          <p:cNvSpPr txBox="1"/>
          <p:nvPr/>
        </p:nvSpPr>
        <p:spPr>
          <a:xfrm>
            <a:off x="4595409" y="2249424"/>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16.0% → 16.8%</a:t>
            </a:r>
            <a:endParaRPr lang="en-US" sz="950" dirty="0"/>
          </a:p>
        </p:txBody>
      </p:sp>
      <p:sp>
        <p:nvSpPr>
          <p:cNvPr id="31" name="Text 28"/>
          <p:cNvSpPr txBox="1"/>
          <p:nvPr/>
        </p:nvSpPr>
        <p:spPr>
          <a:xfrm>
            <a:off x="594360" y="2761488"/>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retargeting</a:t>
            </a:r>
            <a:endParaRPr lang="en-US" sz="1100" dirty="0"/>
          </a:p>
        </p:txBody>
      </p:sp>
      <p:sp>
        <p:nvSpPr>
          <p:cNvPr id="32" name="Shape 29"/>
          <p:cNvSpPr/>
          <p:nvPr/>
        </p:nvSpPr>
        <p:spPr>
          <a:xfrm>
            <a:off x="4102730" y="2944368"/>
            <a:ext cx="100950" cy="0"/>
          </a:xfrm>
          <a:prstGeom prst="line">
            <a:avLst/>
          </a:prstGeom>
          <a:noFill/>
          <a:ln w="38100">
            <a:solidFill>
              <a:srgbClr val="94A3B8"/>
            </a:solidFill>
            <a:prstDash val="solid"/>
          </a:ln>
        </p:spPr>
      </p:sp>
      <p:sp>
        <p:nvSpPr>
          <p:cNvPr id="33" name="Shape 30"/>
          <p:cNvSpPr/>
          <p:nvPr/>
        </p:nvSpPr>
        <p:spPr>
          <a:xfrm>
            <a:off x="4011290" y="2852928"/>
            <a:ext cx="182880" cy="182880"/>
          </a:xfrm>
          <a:prstGeom prst="ellipse">
            <a:avLst/>
          </a:prstGeom>
          <a:solidFill>
            <a:srgbClr val="94A3B8"/>
          </a:solidFill>
          <a:ln w="6350">
            <a:solidFill>
              <a:srgbClr val="94A3B8"/>
            </a:solidFill>
            <a:prstDash val="solid"/>
          </a:ln>
        </p:spPr>
      </p:sp>
      <p:sp>
        <p:nvSpPr>
          <p:cNvPr id="34" name="Shape 31"/>
          <p:cNvSpPr/>
          <p:nvPr/>
        </p:nvSpPr>
        <p:spPr>
          <a:xfrm>
            <a:off x="4112240" y="2852928"/>
            <a:ext cx="182880" cy="182880"/>
          </a:xfrm>
          <a:prstGeom prst="ellipse">
            <a:avLst/>
          </a:prstGeom>
          <a:solidFill>
            <a:srgbClr val="0A1F44"/>
          </a:solidFill>
          <a:ln w="6350">
            <a:solidFill>
              <a:srgbClr val="0A1F44"/>
            </a:solidFill>
            <a:prstDash val="solid"/>
          </a:ln>
        </p:spPr>
      </p:sp>
      <p:sp>
        <p:nvSpPr>
          <p:cNvPr id="35" name="Text 32"/>
          <p:cNvSpPr txBox="1"/>
          <p:nvPr/>
        </p:nvSpPr>
        <p:spPr>
          <a:xfrm>
            <a:off x="4368272" y="2761488"/>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12.9% → 14.1%</a:t>
            </a:r>
            <a:endParaRPr lang="en-US" sz="950" dirty="0"/>
          </a:p>
        </p:txBody>
      </p:sp>
      <p:sp>
        <p:nvSpPr>
          <p:cNvPr id="36" name="Text 33"/>
          <p:cNvSpPr txBox="1"/>
          <p:nvPr/>
        </p:nvSpPr>
        <p:spPr>
          <a:xfrm>
            <a:off x="594360" y="3273552"/>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search</a:t>
            </a:r>
            <a:endParaRPr lang="en-US" sz="1100" dirty="0"/>
          </a:p>
        </p:txBody>
      </p:sp>
      <p:sp>
        <p:nvSpPr>
          <p:cNvPr id="37" name="Shape 34"/>
          <p:cNvSpPr/>
          <p:nvPr/>
        </p:nvSpPr>
        <p:spPr>
          <a:xfrm>
            <a:off x="4094317" y="3456432"/>
            <a:ext cx="75712" cy="0"/>
          </a:xfrm>
          <a:prstGeom prst="line">
            <a:avLst/>
          </a:prstGeom>
          <a:noFill/>
          <a:ln w="38100">
            <a:solidFill>
              <a:srgbClr val="94A3B8"/>
            </a:solidFill>
            <a:prstDash val="solid"/>
          </a:ln>
        </p:spPr>
      </p:sp>
      <p:sp>
        <p:nvSpPr>
          <p:cNvPr id="38" name="Shape 35"/>
          <p:cNvSpPr/>
          <p:nvPr/>
        </p:nvSpPr>
        <p:spPr>
          <a:xfrm>
            <a:off x="4002877" y="3364992"/>
            <a:ext cx="182880" cy="182880"/>
          </a:xfrm>
          <a:prstGeom prst="ellipse">
            <a:avLst/>
          </a:prstGeom>
          <a:solidFill>
            <a:srgbClr val="94A3B8"/>
          </a:solidFill>
          <a:ln w="6350">
            <a:solidFill>
              <a:srgbClr val="94A3B8"/>
            </a:solidFill>
            <a:prstDash val="solid"/>
          </a:ln>
        </p:spPr>
      </p:sp>
      <p:sp>
        <p:nvSpPr>
          <p:cNvPr id="39" name="Shape 36"/>
          <p:cNvSpPr/>
          <p:nvPr/>
        </p:nvSpPr>
        <p:spPr>
          <a:xfrm>
            <a:off x="4078590" y="3364992"/>
            <a:ext cx="182880" cy="182880"/>
          </a:xfrm>
          <a:prstGeom prst="ellipse">
            <a:avLst/>
          </a:prstGeom>
          <a:solidFill>
            <a:srgbClr val="0A1F44"/>
          </a:solidFill>
          <a:ln w="6350">
            <a:solidFill>
              <a:srgbClr val="0A1F44"/>
            </a:solidFill>
            <a:prstDash val="solid"/>
          </a:ln>
        </p:spPr>
      </p:sp>
      <p:sp>
        <p:nvSpPr>
          <p:cNvPr id="40" name="Text 37"/>
          <p:cNvSpPr txBox="1"/>
          <p:nvPr/>
        </p:nvSpPr>
        <p:spPr>
          <a:xfrm>
            <a:off x="4334622" y="3273552"/>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12.8% → 13.7%</a:t>
            </a:r>
            <a:endParaRPr lang="en-US" sz="950" dirty="0"/>
          </a:p>
        </p:txBody>
      </p:sp>
      <p:sp>
        <p:nvSpPr>
          <p:cNvPr id="41" name="Text 38"/>
          <p:cNvSpPr txBox="1"/>
          <p:nvPr/>
        </p:nvSpPr>
        <p:spPr>
          <a:xfrm>
            <a:off x="594360" y="3785616"/>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Influencer, affiliate</a:t>
            </a:r>
            <a:endParaRPr lang="en-US" sz="1100" dirty="0"/>
          </a:p>
        </p:txBody>
      </p:sp>
      <p:sp>
        <p:nvSpPr>
          <p:cNvPr id="42" name="Shape 39"/>
          <p:cNvSpPr/>
          <p:nvPr/>
        </p:nvSpPr>
        <p:spPr>
          <a:xfrm>
            <a:off x="4035430" y="3968496"/>
            <a:ext cx="100950" cy="0"/>
          </a:xfrm>
          <a:prstGeom prst="line">
            <a:avLst/>
          </a:prstGeom>
          <a:noFill/>
          <a:ln w="38100">
            <a:solidFill>
              <a:srgbClr val="94A3B8"/>
            </a:solidFill>
            <a:prstDash val="solid"/>
          </a:ln>
        </p:spPr>
      </p:sp>
      <p:sp>
        <p:nvSpPr>
          <p:cNvPr id="43" name="Shape 40"/>
          <p:cNvSpPr/>
          <p:nvPr/>
        </p:nvSpPr>
        <p:spPr>
          <a:xfrm>
            <a:off x="3943990" y="3877056"/>
            <a:ext cx="182880" cy="182880"/>
          </a:xfrm>
          <a:prstGeom prst="ellipse">
            <a:avLst/>
          </a:prstGeom>
          <a:solidFill>
            <a:srgbClr val="94A3B8"/>
          </a:solidFill>
          <a:ln w="6350">
            <a:solidFill>
              <a:srgbClr val="94A3B8"/>
            </a:solidFill>
            <a:prstDash val="solid"/>
          </a:ln>
        </p:spPr>
      </p:sp>
      <p:sp>
        <p:nvSpPr>
          <p:cNvPr id="44" name="Shape 41"/>
          <p:cNvSpPr/>
          <p:nvPr/>
        </p:nvSpPr>
        <p:spPr>
          <a:xfrm>
            <a:off x="4044940" y="3877056"/>
            <a:ext cx="182880" cy="182880"/>
          </a:xfrm>
          <a:prstGeom prst="ellipse">
            <a:avLst/>
          </a:prstGeom>
          <a:solidFill>
            <a:srgbClr val="0A1F44"/>
          </a:solidFill>
          <a:ln w="6350">
            <a:solidFill>
              <a:srgbClr val="0A1F44"/>
            </a:solidFill>
            <a:prstDash val="solid"/>
          </a:ln>
        </p:spPr>
      </p:sp>
      <p:sp>
        <p:nvSpPr>
          <p:cNvPr id="45" name="Text 42"/>
          <p:cNvSpPr txBox="1"/>
          <p:nvPr/>
        </p:nvSpPr>
        <p:spPr>
          <a:xfrm>
            <a:off x="4300972" y="3785616"/>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12.1% → 13.3%</a:t>
            </a:r>
            <a:endParaRPr lang="en-US" sz="950" dirty="0"/>
          </a:p>
        </p:txBody>
      </p:sp>
      <p:sp>
        <p:nvSpPr>
          <p:cNvPr id="46" name="Shape 43"/>
          <p:cNvSpPr/>
          <p:nvPr/>
        </p:nvSpPr>
        <p:spPr>
          <a:xfrm>
            <a:off x="502920" y="4261104"/>
            <a:ext cx="7726680" cy="438912"/>
          </a:xfrm>
          <a:prstGeom prst="rect">
            <a:avLst/>
          </a:prstGeom>
          <a:solidFill>
            <a:srgbClr val="EFF6FF"/>
          </a:solidFill>
          <a:ln w="6350">
            <a:solidFill>
              <a:srgbClr val="EFF6FF"/>
            </a:solidFill>
            <a:prstDash val="solid"/>
          </a:ln>
        </p:spPr>
      </p:sp>
      <p:sp>
        <p:nvSpPr>
          <p:cNvPr id="47" name="Text 44"/>
          <p:cNvSpPr txBox="1"/>
          <p:nvPr/>
        </p:nvSpPr>
        <p:spPr>
          <a:xfrm>
            <a:off x="594360" y="4297680"/>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Email</a:t>
            </a:r>
            <a:endParaRPr lang="en-US" sz="1100" dirty="0"/>
          </a:p>
        </p:txBody>
      </p:sp>
      <p:sp>
        <p:nvSpPr>
          <p:cNvPr id="48" name="Shape 45"/>
          <p:cNvSpPr/>
          <p:nvPr/>
        </p:nvSpPr>
        <p:spPr>
          <a:xfrm>
            <a:off x="3244657" y="4480560"/>
            <a:ext cx="504749" cy="0"/>
          </a:xfrm>
          <a:prstGeom prst="line">
            <a:avLst/>
          </a:prstGeom>
          <a:noFill/>
          <a:ln w="38100">
            <a:solidFill>
              <a:srgbClr val="1D4ED8"/>
            </a:solidFill>
            <a:prstDash val="solid"/>
          </a:ln>
        </p:spPr>
      </p:sp>
      <p:sp>
        <p:nvSpPr>
          <p:cNvPr id="49" name="Shape 46"/>
          <p:cNvSpPr/>
          <p:nvPr/>
        </p:nvSpPr>
        <p:spPr>
          <a:xfrm>
            <a:off x="3153217" y="4389120"/>
            <a:ext cx="182880" cy="182880"/>
          </a:xfrm>
          <a:prstGeom prst="ellipse">
            <a:avLst/>
          </a:prstGeom>
          <a:solidFill>
            <a:srgbClr val="94A3B8"/>
          </a:solidFill>
          <a:ln w="6350">
            <a:solidFill>
              <a:srgbClr val="94A3B8"/>
            </a:solidFill>
            <a:prstDash val="solid"/>
          </a:ln>
        </p:spPr>
      </p:sp>
      <p:sp>
        <p:nvSpPr>
          <p:cNvPr id="50" name="Shape 47"/>
          <p:cNvSpPr/>
          <p:nvPr/>
        </p:nvSpPr>
        <p:spPr>
          <a:xfrm>
            <a:off x="3657966" y="4389120"/>
            <a:ext cx="182880" cy="182880"/>
          </a:xfrm>
          <a:prstGeom prst="ellipse">
            <a:avLst/>
          </a:prstGeom>
          <a:solidFill>
            <a:srgbClr val="1D4ED8"/>
          </a:solidFill>
          <a:ln w="6350">
            <a:solidFill>
              <a:srgbClr val="1D4ED8"/>
            </a:solidFill>
            <a:prstDash val="solid"/>
          </a:ln>
        </p:spPr>
      </p:sp>
      <p:sp>
        <p:nvSpPr>
          <p:cNvPr id="51" name="Text 48"/>
          <p:cNvSpPr txBox="1"/>
          <p:nvPr/>
        </p:nvSpPr>
        <p:spPr>
          <a:xfrm>
            <a:off x="3913998" y="4297680"/>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2.7% → 8.7%</a:t>
            </a:r>
            <a:endParaRPr lang="en-US" sz="950" dirty="0"/>
          </a:p>
        </p:txBody>
      </p:sp>
      <p:sp>
        <p:nvSpPr>
          <p:cNvPr id="52" name="Shape 49"/>
          <p:cNvSpPr/>
          <p:nvPr/>
        </p:nvSpPr>
        <p:spPr>
          <a:xfrm>
            <a:off x="502920" y="4773168"/>
            <a:ext cx="7726680" cy="438912"/>
          </a:xfrm>
          <a:prstGeom prst="rect">
            <a:avLst/>
          </a:prstGeom>
          <a:solidFill>
            <a:srgbClr val="EFF6FF"/>
          </a:solidFill>
          <a:ln w="6350">
            <a:solidFill>
              <a:srgbClr val="EFF6FF"/>
            </a:solidFill>
            <a:prstDash val="solid"/>
          </a:ln>
        </p:spPr>
      </p:sp>
      <p:sp>
        <p:nvSpPr>
          <p:cNvPr id="53" name="Text 50"/>
          <p:cNvSpPr txBox="1"/>
          <p:nvPr/>
        </p:nvSpPr>
        <p:spPr>
          <a:xfrm>
            <a:off x="594360" y="4809744"/>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SMS</a:t>
            </a:r>
            <a:endParaRPr lang="en-US" sz="1100" dirty="0"/>
          </a:p>
        </p:txBody>
      </p:sp>
      <p:sp>
        <p:nvSpPr>
          <p:cNvPr id="54" name="Shape 51"/>
          <p:cNvSpPr/>
          <p:nvPr/>
        </p:nvSpPr>
        <p:spPr>
          <a:xfrm>
            <a:off x="3076407" y="4992624"/>
            <a:ext cx="227137" cy="0"/>
          </a:xfrm>
          <a:prstGeom prst="line">
            <a:avLst/>
          </a:prstGeom>
          <a:noFill/>
          <a:ln w="38100">
            <a:solidFill>
              <a:srgbClr val="1D4ED8"/>
            </a:solidFill>
            <a:prstDash val="solid"/>
          </a:ln>
        </p:spPr>
      </p:sp>
      <p:sp>
        <p:nvSpPr>
          <p:cNvPr id="55" name="Shape 52"/>
          <p:cNvSpPr/>
          <p:nvPr/>
        </p:nvSpPr>
        <p:spPr>
          <a:xfrm>
            <a:off x="2984967" y="4901184"/>
            <a:ext cx="182880" cy="182880"/>
          </a:xfrm>
          <a:prstGeom prst="ellipse">
            <a:avLst/>
          </a:prstGeom>
          <a:solidFill>
            <a:srgbClr val="94A3B8"/>
          </a:solidFill>
          <a:ln w="6350">
            <a:solidFill>
              <a:srgbClr val="94A3B8"/>
            </a:solidFill>
            <a:prstDash val="solid"/>
          </a:ln>
        </p:spPr>
      </p:sp>
      <p:sp>
        <p:nvSpPr>
          <p:cNvPr id="56" name="Shape 53"/>
          <p:cNvSpPr/>
          <p:nvPr/>
        </p:nvSpPr>
        <p:spPr>
          <a:xfrm>
            <a:off x="3212104" y="4901184"/>
            <a:ext cx="182880" cy="182880"/>
          </a:xfrm>
          <a:prstGeom prst="ellipse">
            <a:avLst/>
          </a:prstGeom>
          <a:solidFill>
            <a:srgbClr val="1D4ED8"/>
          </a:solidFill>
          <a:ln w="6350">
            <a:solidFill>
              <a:srgbClr val="1D4ED8"/>
            </a:solidFill>
            <a:prstDash val="solid"/>
          </a:ln>
        </p:spPr>
      </p:sp>
      <p:sp>
        <p:nvSpPr>
          <p:cNvPr id="57" name="Text 54"/>
          <p:cNvSpPr txBox="1"/>
          <p:nvPr/>
        </p:nvSpPr>
        <p:spPr>
          <a:xfrm>
            <a:off x="3468136" y="4809744"/>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0.7% → 3.4%</a:t>
            </a:r>
            <a:endParaRPr lang="en-US" sz="950" dirty="0"/>
          </a:p>
        </p:txBody>
      </p:sp>
      <p:sp>
        <p:nvSpPr>
          <p:cNvPr id="58" name="Shape 55"/>
          <p:cNvSpPr/>
          <p:nvPr/>
        </p:nvSpPr>
        <p:spPr>
          <a:xfrm>
            <a:off x="502920" y="5285232"/>
            <a:ext cx="7726680" cy="438912"/>
          </a:xfrm>
          <a:prstGeom prst="rect">
            <a:avLst/>
          </a:prstGeom>
          <a:solidFill>
            <a:srgbClr val="EFF6FF"/>
          </a:solidFill>
          <a:ln w="6350">
            <a:solidFill>
              <a:srgbClr val="EFF6FF"/>
            </a:solidFill>
            <a:prstDash val="solid"/>
          </a:ln>
        </p:spPr>
      </p:sp>
      <p:sp>
        <p:nvSpPr>
          <p:cNvPr id="59" name="Text 56"/>
          <p:cNvSpPr txBox="1"/>
          <p:nvPr/>
        </p:nvSpPr>
        <p:spPr>
          <a:xfrm>
            <a:off x="594360" y="5321808"/>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App push</a:t>
            </a:r>
            <a:endParaRPr lang="en-US" sz="1100" dirty="0"/>
          </a:p>
        </p:txBody>
      </p:sp>
      <p:sp>
        <p:nvSpPr>
          <p:cNvPr id="60" name="Shape 57"/>
          <p:cNvSpPr/>
          <p:nvPr/>
        </p:nvSpPr>
        <p:spPr>
          <a:xfrm>
            <a:off x="3135295" y="5504688"/>
            <a:ext cx="126187" cy="0"/>
          </a:xfrm>
          <a:prstGeom prst="line">
            <a:avLst/>
          </a:prstGeom>
          <a:noFill/>
          <a:ln w="38100">
            <a:solidFill>
              <a:srgbClr val="1D4ED8"/>
            </a:solidFill>
            <a:prstDash val="solid"/>
          </a:ln>
        </p:spPr>
      </p:sp>
      <p:sp>
        <p:nvSpPr>
          <p:cNvPr id="61" name="Shape 58"/>
          <p:cNvSpPr/>
          <p:nvPr/>
        </p:nvSpPr>
        <p:spPr>
          <a:xfrm>
            <a:off x="3043855" y="5413248"/>
            <a:ext cx="182880" cy="182880"/>
          </a:xfrm>
          <a:prstGeom prst="ellipse">
            <a:avLst/>
          </a:prstGeom>
          <a:solidFill>
            <a:srgbClr val="94A3B8"/>
          </a:solidFill>
          <a:ln w="6350">
            <a:solidFill>
              <a:srgbClr val="94A3B8"/>
            </a:solidFill>
            <a:prstDash val="solid"/>
          </a:ln>
        </p:spPr>
      </p:sp>
      <p:sp>
        <p:nvSpPr>
          <p:cNvPr id="62" name="Shape 59"/>
          <p:cNvSpPr/>
          <p:nvPr/>
        </p:nvSpPr>
        <p:spPr>
          <a:xfrm>
            <a:off x="3170042" y="5413248"/>
            <a:ext cx="182880" cy="182880"/>
          </a:xfrm>
          <a:prstGeom prst="ellipse">
            <a:avLst/>
          </a:prstGeom>
          <a:solidFill>
            <a:srgbClr val="1D4ED8"/>
          </a:solidFill>
          <a:ln w="6350">
            <a:solidFill>
              <a:srgbClr val="1D4ED8"/>
            </a:solidFill>
            <a:prstDash val="solid"/>
          </a:ln>
        </p:spPr>
      </p:sp>
      <p:sp>
        <p:nvSpPr>
          <p:cNvPr id="63" name="Text 60"/>
          <p:cNvSpPr txBox="1"/>
          <p:nvPr/>
        </p:nvSpPr>
        <p:spPr>
          <a:xfrm>
            <a:off x="3426074" y="5321808"/>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1.4% → 2.9%</a:t>
            </a:r>
            <a:endParaRPr lang="en-US" sz="950" dirty="0"/>
          </a:p>
        </p:txBody>
      </p:sp>
      <p:sp>
        <p:nvSpPr>
          <p:cNvPr id="64" name="Shape 61"/>
          <p:cNvSpPr/>
          <p:nvPr/>
        </p:nvSpPr>
        <p:spPr>
          <a:xfrm>
            <a:off x="3017520" y="5943600"/>
            <a:ext cx="146304" cy="146304"/>
          </a:xfrm>
          <a:prstGeom prst="ellipse">
            <a:avLst/>
          </a:prstGeom>
          <a:solidFill>
            <a:srgbClr val="94A3B8"/>
          </a:solidFill>
          <a:ln w="6350">
            <a:solidFill>
              <a:srgbClr val="94A3B8"/>
            </a:solidFill>
            <a:prstDash val="solid"/>
          </a:ln>
        </p:spPr>
      </p:sp>
      <p:sp>
        <p:nvSpPr>
          <p:cNvPr id="65" name="Text 62"/>
          <p:cNvSpPr txBox="1"/>
          <p:nvPr/>
        </p:nvSpPr>
        <p:spPr>
          <a:xfrm>
            <a:off x="3218688" y="5897880"/>
            <a:ext cx="91440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Last touch</a:t>
            </a:r>
            <a:endParaRPr lang="en-US" sz="950" dirty="0"/>
          </a:p>
        </p:txBody>
      </p:sp>
      <p:sp>
        <p:nvSpPr>
          <p:cNvPr id="66" name="Shape 63"/>
          <p:cNvSpPr/>
          <p:nvPr/>
        </p:nvSpPr>
        <p:spPr>
          <a:xfrm>
            <a:off x="4206240" y="5943600"/>
            <a:ext cx="146304" cy="146304"/>
          </a:xfrm>
          <a:prstGeom prst="ellipse">
            <a:avLst/>
          </a:prstGeom>
          <a:solidFill>
            <a:srgbClr val="0A1F44"/>
          </a:solidFill>
          <a:ln w="6350">
            <a:solidFill>
              <a:srgbClr val="0A1F44"/>
            </a:solidFill>
            <a:prstDash val="solid"/>
          </a:ln>
        </p:spPr>
      </p:sp>
      <p:sp>
        <p:nvSpPr>
          <p:cNvPr id="67" name="Text 64"/>
          <p:cNvSpPr txBox="1"/>
          <p:nvPr/>
        </p:nvSpPr>
        <p:spPr>
          <a:xfrm>
            <a:off x="4407408" y="5897880"/>
            <a:ext cx="109728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Participation</a:t>
            </a:r>
            <a:endParaRPr lang="en-US" sz="950" dirty="0"/>
          </a:p>
        </p:txBody>
      </p:sp>
      <p:sp>
        <p:nvSpPr>
          <p:cNvPr id="68" name="Shape 65"/>
          <p:cNvSpPr/>
          <p:nvPr/>
        </p:nvSpPr>
        <p:spPr>
          <a:xfrm>
            <a:off x="8595360" y="1737360"/>
            <a:ext cx="3090672" cy="1828800"/>
          </a:xfrm>
          <a:prstGeom prst="roundRect">
            <a:avLst>
              <a:gd name="adj" fmla="val 4000"/>
            </a:avLst>
          </a:prstGeom>
          <a:solidFill>
            <a:srgbClr val="0A1F44"/>
          </a:solidFill>
          <a:ln w="6350">
            <a:solidFill>
              <a:srgbClr val="0A1F44"/>
            </a:solidFill>
            <a:prstDash val="solid"/>
          </a:ln>
        </p:spPr>
      </p:sp>
      <p:sp>
        <p:nvSpPr>
          <p:cNvPr id="69" name="Text 66"/>
          <p:cNvSpPr txBox="1"/>
          <p:nvPr/>
        </p:nvSpPr>
        <p:spPr>
          <a:xfrm>
            <a:off x="8778240" y="1828800"/>
            <a:ext cx="2743200" cy="164592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4.8% → 15.0%</a:t>
            </a:r>
            <a:endParaRPr lang="en-US" sz="1200" dirty="0"/>
          </a:p>
          <a:p>
            <a:pPr indent="0" marL="0">
              <a:buNone/>
            </a:pPr>
            <a:r>
              <a:rPr lang="en-US" sz="1100" dirty="0">
                <a:solidFill>
                  <a:srgbClr val="C7D7F5"/>
                </a:solidFill>
                <a:latin typeface="Inter" pitchFamily="34" charset="0"/>
                <a:ea typeface="Inter" pitchFamily="34" charset="-122"/>
                <a:cs typeface="Inter" pitchFamily="34" charset="-120"/>
              </a:rPr>
              <a:t>Owned channels: last-touch credit vs up to 15.0% of revenue they appear in (not additive)</a:t>
            </a:r>
            <a:endParaRPr lang="en-US" sz="1200" dirty="0"/>
          </a:p>
        </p:txBody>
      </p:sp>
      <p:sp>
        <p:nvSpPr>
          <p:cNvPr id="70" name="Shape 67"/>
          <p:cNvSpPr/>
          <p:nvPr/>
        </p:nvSpPr>
        <p:spPr>
          <a:xfrm>
            <a:off x="8595360" y="3749040"/>
            <a:ext cx="3090672" cy="1828800"/>
          </a:xfrm>
          <a:prstGeom prst="roundRect">
            <a:avLst>
              <a:gd name="adj" fmla="val 4000"/>
            </a:avLst>
          </a:prstGeom>
          <a:solidFill>
            <a:srgbClr val="EFF6FF"/>
          </a:solidFill>
          <a:ln w="6350">
            <a:solidFill>
              <a:srgbClr val="EFF6FF"/>
            </a:solidFill>
            <a:prstDash val="solid"/>
          </a:ln>
        </p:spPr>
      </p:sp>
      <p:sp>
        <p:nvSpPr>
          <p:cNvPr id="71" name="Text 68"/>
          <p:cNvSpPr txBox="1"/>
          <p:nvPr/>
        </p:nvSpPr>
        <p:spPr>
          <a:xfrm>
            <a:off x="8778240" y="3840480"/>
            <a:ext cx="2743200" cy="1645920"/>
          </a:xfrm>
          <a:prstGeom prst="rect">
            <a:avLst/>
          </a:prstGeom>
          <a:noFill/>
          <a:ln/>
        </p:spPr>
        <p:txBody>
          <a:bodyPr wrap="square" lIns="0" tIns="0" rIns="0" bIns="0" rtlCol="0" anchor="ctr"/>
          <a:lstStyle/>
          <a:p>
            <a:pPr indent="0" marL="0">
              <a:buNone/>
            </a:pPr>
            <a:r>
              <a:rPr lang="en-US" sz="2000" b="1" dirty="0">
                <a:solidFill>
                  <a:srgbClr val="1D4ED8"/>
                </a:solidFill>
                <a:latin typeface="Inter" pitchFamily="34" charset="0"/>
                <a:ea typeface="Inter" pitchFamily="34" charset="-122"/>
                <a:cs typeface="Inter" pitchFamily="34" charset="-120"/>
              </a:rPr>
              <a:t>12.9 · 12.4 · 12.5%</a:t>
            </a:r>
            <a:endParaRPr lang="en-US" sz="1200" dirty="0"/>
          </a:p>
          <a:p>
            <a:pPr indent="0" marL="0">
              <a:buNone/>
            </a:pPr>
            <a:r>
              <a:rPr lang="en-US" sz="1100" dirty="0">
                <a:solidFill>
                  <a:srgbClr val="334155"/>
                </a:solidFill>
                <a:latin typeface="Inter" pitchFamily="34" charset="0"/>
                <a:ea typeface="Inter" pitchFamily="34" charset="-122"/>
                <a:cs typeface="Inter" pitchFamily="34" charset="-120"/>
              </a:rPr>
              <a:t>Retargeting under last touch, first touch and linear: attribution can't settle it; holdouts can (Gordon et al. 2019)</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Material Journeys reuses Quince's existing shipping events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1 (M2C model), Exhibits L and N; team build plan. Month ranges are the team's plan,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24</a:t>
            </a:r>
            <a:endParaRPr lang="en-US" sz="800" dirty="0"/>
          </a:p>
        </p:txBody>
      </p:sp>
      <p:sp>
        <p:nvSpPr>
          <p:cNvPr id="9" name="Shape 6"/>
          <p:cNvSpPr/>
          <p:nvPr/>
        </p:nvSpPr>
        <p:spPr>
          <a:xfrm>
            <a:off x="502920" y="1261872"/>
            <a:ext cx="5852160" cy="640080"/>
          </a:xfrm>
          <a:prstGeom prst="roundRect">
            <a:avLst>
              <a:gd name="adj" fmla="val 11429"/>
            </a:avLst>
          </a:prstGeom>
          <a:solidFill>
            <a:srgbClr val="0A1F44"/>
          </a:solidFill>
          <a:ln w="6350">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67512" y="1417320"/>
            <a:ext cx="329184" cy="329184"/>
          </a:xfrm>
          <a:prstGeom prst="rect">
            <a:avLst/>
          </a:prstGeom>
        </p:spPr>
      </p:pic>
      <p:sp>
        <p:nvSpPr>
          <p:cNvPr id="11" name="Text 7"/>
          <p:cNvSpPr txBox="1"/>
          <p:nvPr/>
        </p:nvSpPr>
        <p:spPr>
          <a:xfrm>
            <a:off x="1143000" y="1261872"/>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Factories and 3PL partners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Shipment created · customs cleared · out for delivery · delivered</a:t>
            </a:r>
            <a:endParaRPr lang="en-US" sz="1200" dirty="0"/>
          </a:p>
        </p:txBody>
      </p:sp>
      <p:sp>
        <p:nvSpPr>
          <p:cNvPr id="12" name="Shape 8"/>
          <p:cNvSpPr/>
          <p:nvPr/>
        </p:nvSpPr>
        <p:spPr>
          <a:xfrm>
            <a:off x="3310128" y="1920240"/>
            <a:ext cx="237744" cy="182880"/>
          </a:xfrm>
          <a:prstGeom prst="downArrow">
            <a:avLst/>
          </a:prstGeom>
          <a:solidFill>
            <a:srgbClr val="94A3B8"/>
          </a:solidFill>
          <a:ln w="6350">
            <a:solidFill>
              <a:srgbClr val="94A3B8"/>
            </a:solidFill>
            <a:prstDash val="solid"/>
          </a:ln>
        </p:spPr>
      </p:sp>
      <p:sp>
        <p:nvSpPr>
          <p:cNvPr id="13" name="Shape 9"/>
          <p:cNvSpPr/>
          <p:nvPr/>
        </p:nvSpPr>
        <p:spPr>
          <a:xfrm>
            <a:off x="502920" y="2121408"/>
            <a:ext cx="5852160" cy="640080"/>
          </a:xfrm>
          <a:prstGeom prst="roundRect">
            <a:avLst>
              <a:gd name="adj" fmla="val 11429"/>
            </a:avLst>
          </a:prstGeom>
          <a:solidFill>
            <a:srgbClr val="1D4ED8"/>
          </a:solidFill>
          <a:ln w="6350">
            <a:solidFill>
              <a:srgbClr val="1D4ED8"/>
            </a:solidFill>
            <a:prstDash val="solid"/>
          </a:ln>
        </p:spPr>
      </p:sp>
      <p:pic>
        <p:nvPicPr>
          <p:cNvPr id="14" name="Image 2" descr="preencoded.png">    </p:cNvPr>
          <p:cNvPicPr>
            <a:picLocks noChangeAspect="1"/>
          </p:cNvPicPr>
          <p:nvPr/>
        </p:nvPicPr>
        <p:blipFill>
          <a:blip r:embed="rId3"/>
          <a:stretch>
            <a:fillRect/>
          </a:stretch>
        </p:blipFill>
        <p:spPr>
          <a:xfrm>
            <a:off x="667512" y="2276856"/>
            <a:ext cx="329184" cy="329184"/>
          </a:xfrm>
          <a:prstGeom prst="rect">
            <a:avLst/>
          </a:prstGeom>
        </p:spPr>
      </p:pic>
      <p:sp>
        <p:nvSpPr>
          <p:cNvPr id="15" name="Text 10"/>
          <p:cNvSpPr txBox="1"/>
          <p:nvPr/>
        </p:nvSpPr>
        <p:spPr>
          <a:xfrm>
            <a:off x="1143000" y="2121408"/>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One event stream per order, keyed to the order ID</a:t>
            </a:r>
            <a:endParaRPr lang="en-US" sz="1200" dirty="0"/>
          </a:p>
        </p:txBody>
      </p:sp>
      <p:sp>
        <p:nvSpPr>
          <p:cNvPr id="16" name="Shape 11"/>
          <p:cNvSpPr/>
          <p:nvPr/>
        </p:nvSpPr>
        <p:spPr>
          <a:xfrm>
            <a:off x="3310128" y="2779776"/>
            <a:ext cx="237744" cy="182880"/>
          </a:xfrm>
          <a:prstGeom prst="downArrow">
            <a:avLst/>
          </a:prstGeom>
          <a:solidFill>
            <a:srgbClr val="94A3B8"/>
          </a:solidFill>
          <a:ln w="6350">
            <a:solidFill>
              <a:srgbClr val="94A3B8"/>
            </a:solidFill>
            <a:prstDash val="solid"/>
          </a:ln>
        </p:spPr>
      </p:sp>
      <p:sp>
        <p:nvSpPr>
          <p:cNvPr id="17" name="Shape 12"/>
          <p:cNvSpPr/>
          <p:nvPr/>
        </p:nvSpPr>
        <p:spPr>
          <a:xfrm>
            <a:off x="502920" y="2980944"/>
            <a:ext cx="5852160" cy="640080"/>
          </a:xfrm>
          <a:prstGeom prst="roundRect">
            <a:avLst>
              <a:gd name="adj" fmla="val 11429"/>
            </a:avLst>
          </a:prstGeom>
          <a:solidFill>
            <a:srgbClr val="2563EB"/>
          </a:solidFill>
          <a:ln w="6350">
            <a:solidFill>
              <a:srgbClr val="2563EB"/>
            </a:solidFill>
            <a:prstDash val="solid"/>
          </a:ln>
        </p:spPr>
      </p:sp>
      <p:pic>
        <p:nvPicPr>
          <p:cNvPr id="18" name="Image 3" descr="preencoded.png">    </p:cNvPr>
          <p:cNvPicPr>
            <a:picLocks noChangeAspect="1"/>
          </p:cNvPicPr>
          <p:nvPr/>
        </p:nvPicPr>
        <p:blipFill>
          <a:blip r:embed="rId4"/>
          <a:stretch>
            <a:fillRect/>
          </a:stretch>
        </p:blipFill>
        <p:spPr>
          <a:xfrm>
            <a:off x="667512" y="3136392"/>
            <a:ext cx="329184" cy="329184"/>
          </a:xfrm>
          <a:prstGeom prst="rect">
            <a:avLst/>
          </a:prstGeom>
        </p:spPr>
      </p:pic>
      <p:sp>
        <p:nvSpPr>
          <p:cNvPr id="19" name="Text 13"/>
          <p:cNvSpPr txBox="1"/>
          <p:nvPr/>
        </p:nvSpPr>
        <p:spPr>
          <a:xfrm>
            <a:off x="1143000" y="2980944"/>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Adobe CJA: stitched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ID → person; audiences; holdout assignment</a:t>
            </a:r>
            <a:endParaRPr lang="en-US" sz="1200" dirty="0"/>
          </a:p>
        </p:txBody>
      </p:sp>
      <p:sp>
        <p:nvSpPr>
          <p:cNvPr id="20" name="Shape 14"/>
          <p:cNvSpPr/>
          <p:nvPr/>
        </p:nvSpPr>
        <p:spPr>
          <a:xfrm>
            <a:off x="3310128" y="3639312"/>
            <a:ext cx="237744" cy="182880"/>
          </a:xfrm>
          <a:prstGeom prst="downArrow">
            <a:avLst/>
          </a:prstGeom>
          <a:solidFill>
            <a:srgbClr val="94A3B8"/>
          </a:solidFill>
          <a:ln w="6350">
            <a:solidFill>
              <a:srgbClr val="94A3B8"/>
            </a:solidFill>
            <a:prstDash val="solid"/>
          </a:ln>
        </p:spPr>
      </p:sp>
      <p:sp>
        <p:nvSpPr>
          <p:cNvPr id="21" name="Shape 15"/>
          <p:cNvSpPr/>
          <p:nvPr/>
        </p:nvSpPr>
        <p:spPr>
          <a:xfrm>
            <a:off x="502920" y="3840480"/>
            <a:ext cx="5852160" cy="640080"/>
          </a:xfrm>
          <a:prstGeom prst="roundRect">
            <a:avLst>
              <a:gd name="adj" fmla="val 11429"/>
            </a:avLst>
          </a:prstGeom>
          <a:solidFill>
            <a:srgbClr val="3B82F6"/>
          </a:solidFill>
          <a:ln w="6350">
            <a:solidFill>
              <a:srgbClr val="3B82F6"/>
            </a:solidFill>
            <a:prstDash val="solid"/>
          </a:ln>
        </p:spPr>
      </p:sp>
      <p:pic>
        <p:nvPicPr>
          <p:cNvPr id="22" name="Image 4" descr="preencoded.png">    </p:cNvPr>
          <p:cNvPicPr>
            <a:picLocks noChangeAspect="1"/>
          </p:cNvPicPr>
          <p:nvPr/>
        </p:nvPicPr>
        <p:blipFill>
          <a:blip r:embed="rId5"/>
          <a:stretch>
            <a:fillRect/>
          </a:stretch>
        </p:blipFill>
        <p:spPr>
          <a:xfrm>
            <a:off x="667512" y="3995928"/>
            <a:ext cx="329184" cy="329184"/>
          </a:xfrm>
          <a:prstGeom prst="rect">
            <a:avLst/>
          </a:prstGeom>
        </p:spPr>
      </p:pic>
      <p:sp>
        <p:nvSpPr>
          <p:cNvPr id="23" name="Text 16"/>
          <p:cNvSpPr txBox="1"/>
          <p:nvPr/>
        </p:nvSpPr>
        <p:spPr>
          <a:xfrm>
            <a:off x="1143000" y="3840480"/>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Activation and journey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Pre-arrival material and care guide · delivery-day Passport and app ask · day-21 next category</a:t>
            </a:r>
            <a:endParaRPr lang="en-US" sz="1200" dirty="0"/>
          </a:p>
        </p:txBody>
      </p:sp>
      <p:sp>
        <p:nvSpPr>
          <p:cNvPr id="24" name="Shape 17"/>
          <p:cNvSpPr/>
          <p:nvPr/>
        </p:nvSpPr>
        <p:spPr>
          <a:xfrm>
            <a:off x="3310128" y="4498848"/>
            <a:ext cx="237744" cy="182880"/>
          </a:xfrm>
          <a:prstGeom prst="downArrow">
            <a:avLst/>
          </a:prstGeom>
          <a:solidFill>
            <a:srgbClr val="94A3B8"/>
          </a:solidFill>
          <a:ln w="6350">
            <a:solidFill>
              <a:srgbClr val="94A3B8"/>
            </a:solidFill>
            <a:prstDash val="solid"/>
          </a:ln>
        </p:spPr>
      </p:sp>
      <p:sp>
        <p:nvSpPr>
          <p:cNvPr id="25" name="Shape 18"/>
          <p:cNvSpPr/>
          <p:nvPr/>
        </p:nvSpPr>
        <p:spPr>
          <a:xfrm>
            <a:off x="502920" y="4700016"/>
            <a:ext cx="5852160" cy="640080"/>
          </a:xfrm>
          <a:prstGeom prst="roundRect">
            <a:avLst>
              <a:gd name="adj" fmla="val 11429"/>
            </a:avLst>
          </a:prstGeom>
          <a:solidFill>
            <a:srgbClr val="60A5FA"/>
          </a:solidFill>
          <a:ln w="6350">
            <a:solidFill>
              <a:srgbClr val="60A5FA"/>
            </a:solidFill>
            <a:prstDash val="solid"/>
          </a:ln>
        </p:spPr>
      </p:sp>
      <p:pic>
        <p:nvPicPr>
          <p:cNvPr id="26" name="Image 5" descr="preencoded.png">    </p:cNvPr>
          <p:cNvPicPr>
            <a:picLocks noChangeAspect="1"/>
          </p:cNvPicPr>
          <p:nvPr/>
        </p:nvPicPr>
        <p:blipFill>
          <a:blip r:embed="rId6"/>
          <a:stretch>
            <a:fillRect/>
          </a:stretch>
        </p:blipFill>
        <p:spPr>
          <a:xfrm>
            <a:off x="667512" y="4855464"/>
            <a:ext cx="329184" cy="329184"/>
          </a:xfrm>
          <a:prstGeom prst="rect">
            <a:avLst/>
          </a:prstGeom>
        </p:spPr>
      </p:pic>
      <p:sp>
        <p:nvSpPr>
          <p:cNvPr id="27" name="Text 19"/>
          <p:cNvSpPr txBox="1"/>
          <p:nvPr/>
        </p:nvSpPr>
        <p:spPr>
          <a:xfrm>
            <a:off x="1143000" y="4700016"/>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 under one frequency cap</a:t>
            </a:r>
            <a:endParaRPr lang="en-US" sz="1200" dirty="0"/>
          </a:p>
        </p:txBody>
      </p:sp>
      <p:sp>
        <p:nvSpPr>
          <p:cNvPr id="28" name="Text 20"/>
          <p:cNvSpPr txBox="1"/>
          <p:nvPr/>
        </p:nvSpPr>
        <p:spPr>
          <a:xfrm>
            <a:off x="6629400" y="1243584"/>
            <a:ext cx="505663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Build sequence, months 3–6 (after Gate 1)</a:t>
            </a:r>
            <a:endParaRPr lang="en-US" sz="1250" dirty="0"/>
          </a:p>
        </p:txBody>
      </p:sp>
      <p:sp>
        <p:nvSpPr>
          <p:cNvPr id="29" name="Shape 21"/>
          <p:cNvSpPr/>
          <p:nvPr/>
        </p:nvSpPr>
        <p:spPr>
          <a:xfrm>
            <a:off x="6629400" y="1627632"/>
            <a:ext cx="5056632" cy="1252728"/>
          </a:xfrm>
          <a:prstGeom prst="roundRect">
            <a:avLst>
              <a:gd name="adj" fmla="val 4380"/>
            </a:avLst>
          </a:prstGeom>
          <a:solidFill>
            <a:srgbClr val="F8FAFC"/>
          </a:solidFill>
          <a:ln w="9525">
            <a:solidFill>
              <a:srgbClr val="E2E8F0"/>
            </a:solidFill>
            <a:prstDash val="solid"/>
          </a:ln>
        </p:spPr>
      </p:sp>
      <p:sp>
        <p:nvSpPr>
          <p:cNvPr id="30" name="Shape 22"/>
          <p:cNvSpPr/>
          <p:nvPr/>
        </p:nvSpPr>
        <p:spPr>
          <a:xfrm>
            <a:off x="6757416" y="1737360"/>
            <a:ext cx="329184" cy="329184"/>
          </a:xfrm>
          <a:prstGeom prst="ellipse">
            <a:avLst/>
          </a:prstGeom>
          <a:solidFill>
            <a:srgbClr val="1D4ED8"/>
          </a:solidFill>
          <a:ln w="6350">
            <a:solidFill>
              <a:srgbClr val="1D4ED8"/>
            </a:solidFill>
            <a:prstDash val="solid"/>
          </a:ln>
        </p:spPr>
      </p:sp>
      <p:sp>
        <p:nvSpPr>
          <p:cNvPr id="31" name="Text 23"/>
          <p:cNvSpPr txBox="1"/>
          <p:nvPr/>
        </p:nvSpPr>
        <p:spPr>
          <a:xfrm>
            <a:off x="6757416"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32" name="Text 24"/>
          <p:cNvSpPr txBox="1"/>
          <p:nvPr/>
        </p:nvSpPr>
        <p:spPr>
          <a:xfrm>
            <a:off x="7178040" y="1719072"/>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3–4  </a:t>
            </a:r>
            <a:pPr indent="0" marL="0">
              <a:buNone/>
            </a:pPr>
            <a:r>
              <a:rPr lang="en-US" sz="1150" b="1" dirty="0">
                <a:solidFill>
                  <a:srgbClr val="0A1F44"/>
                </a:solidFill>
                <a:latin typeface="Inter" pitchFamily="34" charset="0"/>
                <a:ea typeface="Inter" pitchFamily="34" charset="-122"/>
                <a:cs typeface="Inter" pitchFamily="34" charset="-120"/>
              </a:rPr>
              <a:t>Map and consent</a:t>
            </a:r>
            <a:endParaRPr lang="en-US" sz="1150" dirty="0"/>
          </a:p>
        </p:txBody>
      </p:sp>
      <p:sp>
        <p:nvSpPr>
          <p:cNvPr id="33" name="Shape 25"/>
          <p:cNvSpPr/>
          <p:nvPr/>
        </p:nvSpPr>
        <p:spPr>
          <a:xfrm>
            <a:off x="7196328" y="2240280"/>
            <a:ext cx="64008" cy="64008"/>
          </a:xfrm>
          <a:prstGeom prst="ellipse">
            <a:avLst/>
          </a:prstGeom>
          <a:solidFill>
            <a:srgbClr val="1D4ED8"/>
          </a:solidFill>
          <a:ln w="6350">
            <a:solidFill>
              <a:srgbClr val="1D4ED8"/>
            </a:solidFill>
            <a:prstDash val="solid"/>
          </a:ln>
        </p:spPr>
      </p:sp>
      <p:sp>
        <p:nvSpPr>
          <p:cNvPr id="34" name="Text 26"/>
          <p:cNvSpPr txBox="1"/>
          <p:nvPr/>
        </p:nvSpPr>
        <p:spPr>
          <a:xfrm>
            <a:off x="7342632" y="215798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List the shipping milestones factories and 3PLs already emit</a:t>
            </a:r>
            <a:endParaRPr lang="en-US" sz="900" dirty="0"/>
          </a:p>
        </p:txBody>
      </p:sp>
      <p:sp>
        <p:nvSpPr>
          <p:cNvPr id="35" name="Shape 27"/>
          <p:cNvSpPr/>
          <p:nvPr/>
        </p:nvSpPr>
        <p:spPr>
          <a:xfrm>
            <a:off x="7196328" y="2459736"/>
            <a:ext cx="64008" cy="64008"/>
          </a:xfrm>
          <a:prstGeom prst="ellipse">
            <a:avLst/>
          </a:prstGeom>
          <a:solidFill>
            <a:srgbClr val="1D4ED8"/>
          </a:solidFill>
          <a:ln w="6350">
            <a:solidFill>
              <a:srgbClr val="1D4ED8"/>
            </a:solidFill>
            <a:prstDash val="solid"/>
          </a:ln>
        </p:spPr>
      </p:sp>
      <p:sp>
        <p:nvSpPr>
          <p:cNvPr id="36" name="Text 28"/>
          <p:cNvSpPr txBox="1"/>
          <p:nvPr/>
        </p:nvSpPr>
        <p:spPr>
          <a:xfrm>
            <a:off x="7342632" y="237744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Agree one order-ID key with operations</a:t>
            </a:r>
            <a:endParaRPr lang="en-US" sz="900" dirty="0"/>
          </a:p>
        </p:txBody>
      </p:sp>
      <p:sp>
        <p:nvSpPr>
          <p:cNvPr id="37" name="Shape 29"/>
          <p:cNvSpPr/>
          <p:nvPr/>
        </p:nvSpPr>
        <p:spPr>
          <a:xfrm>
            <a:off x="7196328" y="2679192"/>
            <a:ext cx="64008" cy="64008"/>
          </a:xfrm>
          <a:prstGeom prst="ellipse">
            <a:avLst/>
          </a:prstGeom>
          <a:solidFill>
            <a:srgbClr val="1D4ED8"/>
          </a:solidFill>
          <a:ln w="6350">
            <a:solidFill>
              <a:srgbClr val="1D4ED8"/>
            </a:solidFill>
            <a:prstDash val="solid"/>
          </a:ln>
        </p:spPr>
      </p:sp>
      <p:sp>
        <p:nvSpPr>
          <p:cNvPr id="38" name="Text 30"/>
          <p:cNvSpPr txBox="1"/>
          <p:nvPr/>
        </p:nvSpPr>
        <p:spPr>
          <a:xfrm>
            <a:off x="7342632" y="259689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Split transactional and marketing SMS consent with Legal (CCPA)</a:t>
            </a:r>
            <a:endParaRPr lang="en-US" sz="900" dirty="0"/>
          </a:p>
        </p:txBody>
      </p:sp>
      <p:sp>
        <p:nvSpPr>
          <p:cNvPr id="39" name="Shape 31"/>
          <p:cNvSpPr/>
          <p:nvPr/>
        </p:nvSpPr>
        <p:spPr>
          <a:xfrm>
            <a:off x="6629400" y="2971800"/>
            <a:ext cx="5056632" cy="1252728"/>
          </a:xfrm>
          <a:prstGeom prst="roundRect">
            <a:avLst>
              <a:gd name="adj" fmla="val 4380"/>
            </a:avLst>
          </a:prstGeom>
          <a:solidFill>
            <a:srgbClr val="F8FAFC"/>
          </a:solidFill>
          <a:ln w="9525">
            <a:solidFill>
              <a:srgbClr val="E2E8F0"/>
            </a:solidFill>
            <a:prstDash val="solid"/>
          </a:ln>
        </p:spPr>
      </p:sp>
      <p:sp>
        <p:nvSpPr>
          <p:cNvPr id="40" name="Shape 32"/>
          <p:cNvSpPr/>
          <p:nvPr/>
        </p:nvSpPr>
        <p:spPr>
          <a:xfrm>
            <a:off x="6757416" y="3081528"/>
            <a:ext cx="329184" cy="329184"/>
          </a:xfrm>
          <a:prstGeom prst="ellipse">
            <a:avLst/>
          </a:prstGeom>
          <a:solidFill>
            <a:srgbClr val="1D4ED8"/>
          </a:solidFill>
          <a:ln w="6350">
            <a:solidFill>
              <a:srgbClr val="1D4ED8"/>
            </a:solidFill>
            <a:prstDash val="solid"/>
          </a:ln>
        </p:spPr>
      </p:sp>
      <p:sp>
        <p:nvSpPr>
          <p:cNvPr id="41" name="Text 33"/>
          <p:cNvSpPr txBox="1"/>
          <p:nvPr/>
        </p:nvSpPr>
        <p:spPr>
          <a:xfrm>
            <a:off x="6757416" y="3081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2" name="Text 34"/>
          <p:cNvSpPr txBox="1"/>
          <p:nvPr/>
        </p:nvSpPr>
        <p:spPr>
          <a:xfrm>
            <a:off x="7178040" y="3063240"/>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4–5  </a:t>
            </a:r>
            <a:pPr indent="0" marL="0">
              <a:buNone/>
            </a:pPr>
            <a:r>
              <a:rPr lang="en-US" sz="1150" b="1" dirty="0">
                <a:solidFill>
                  <a:srgbClr val="0A1F44"/>
                </a:solidFill>
                <a:latin typeface="Inter" pitchFamily="34" charset="0"/>
                <a:ea typeface="Inter" pitchFamily="34" charset="-122"/>
                <a:cs typeface="Inter" pitchFamily="34" charset="-120"/>
              </a:rPr>
              <a:t>Connect</a:t>
            </a:r>
            <a:endParaRPr lang="en-US" sz="1150" dirty="0"/>
          </a:p>
        </p:txBody>
      </p:sp>
      <p:sp>
        <p:nvSpPr>
          <p:cNvPr id="43" name="Shape 35"/>
          <p:cNvSpPr/>
          <p:nvPr/>
        </p:nvSpPr>
        <p:spPr>
          <a:xfrm>
            <a:off x="7196328" y="3584448"/>
            <a:ext cx="64008" cy="64008"/>
          </a:xfrm>
          <a:prstGeom prst="ellipse">
            <a:avLst/>
          </a:prstGeom>
          <a:solidFill>
            <a:srgbClr val="1D4ED8"/>
          </a:solidFill>
          <a:ln w="6350">
            <a:solidFill>
              <a:srgbClr val="1D4ED8"/>
            </a:solidFill>
            <a:prstDash val="solid"/>
          </a:ln>
        </p:spPr>
      </p:sp>
      <p:sp>
        <p:nvSpPr>
          <p:cNvPr id="44" name="Text 36"/>
          <p:cNvSpPr txBox="1"/>
          <p:nvPr/>
        </p:nvSpPr>
        <p:spPr>
          <a:xfrm>
            <a:off x="7342632" y="350215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Stream events into CJA: order ID → person ID</a:t>
            </a:r>
            <a:endParaRPr lang="en-US" sz="900" dirty="0"/>
          </a:p>
        </p:txBody>
      </p:sp>
      <p:sp>
        <p:nvSpPr>
          <p:cNvPr id="45" name="Shape 37"/>
          <p:cNvSpPr/>
          <p:nvPr/>
        </p:nvSpPr>
        <p:spPr>
          <a:xfrm>
            <a:off x="7196328" y="3803904"/>
            <a:ext cx="64008" cy="64008"/>
          </a:xfrm>
          <a:prstGeom prst="ellipse">
            <a:avLst/>
          </a:prstGeom>
          <a:solidFill>
            <a:srgbClr val="1D4ED8"/>
          </a:solidFill>
          <a:ln w="6350">
            <a:solidFill>
              <a:srgbClr val="1D4ED8"/>
            </a:solidFill>
            <a:prstDash val="solid"/>
          </a:ln>
        </p:spPr>
      </p:sp>
      <p:sp>
        <p:nvSpPr>
          <p:cNvPr id="46" name="Text 38"/>
          <p:cNvSpPr txBox="1"/>
          <p:nvPr/>
        </p:nvSpPr>
        <p:spPr>
          <a:xfrm>
            <a:off x="7342632" y="3721608"/>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Build audiences: in transit, delivered, day 21 with no second order</a:t>
            </a:r>
            <a:endParaRPr lang="en-US" sz="900" dirty="0"/>
          </a:p>
        </p:txBody>
      </p:sp>
      <p:sp>
        <p:nvSpPr>
          <p:cNvPr id="47" name="Shape 39"/>
          <p:cNvSpPr/>
          <p:nvPr/>
        </p:nvSpPr>
        <p:spPr>
          <a:xfrm>
            <a:off x="7196328" y="4023360"/>
            <a:ext cx="64008" cy="64008"/>
          </a:xfrm>
          <a:prstGeom prst="ellipse">
            <a:avLst/>
          </a:prstGeom>
          <a:solidFill>
            <a:srgbClr val="1D4ED8"/>
          </a:solidFill>
          <a:ln w="6350">
            <a:solidFill>
              <a:srgbClr val="1D4ED8"/>
            </a:solidFill>
            <a:prstDash val="solid"/>
          </a:ln>
        </p:spPr>
      </p:sp>
      <p:sp>
        <p:nvSpPr>
          <p:cNvPr id="48" name="Text 40"/>
          <p:cNvSpPr txBox="1"/>
          <p:nvPr/>
        </p:nvSpPr>
        <p:spPr>
          <a:xfrm>
            <a:off x="7342632" y="394106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Assign the 10% randomized holdout</a:t>
            </a:r>
            <a:endParaRPr lang="en-US" sz="900" dirty="0"/>
          </a:p>
        </p:txBody>
      </p:sp>
      <p:sp>
        <p:nvSpPr>
          <p:cNvPr id="49" name="Shape 41"/>
          <p:cNvSpPr/>
          <p:nvPr/>
        </p:nvSpPr>
        <p:spPr>
          <a:xfrm>
            <a:off x="6629400" y="4315968"/>
            <a:ext cx="5056632" cy="1252728"/>
          </a:xfrm>
          <a:prstGeom prst="roundRect">
            <a:avLst>
              <a:gd name="adj" fmla="val 4380"/>
            </a:avLst>
          </a:prstGeom>
          <a:solidFill>
            <a:srgbClr val="F8FAFC"/>
          </a:solidFill>
          <a:ln w="9525">
            <a:solidFill>
              <a:srgbClr val="E2E8F0"/>
            </a:solidFill>
            <a:prstDash val="solid"/>
          </a:ln>
        </p:spPr>
      </p:sp>
      <p:sp>
        <p:nvSpPr>
          <p:cNvPr id="50" name="Shape 42"/>
          <p:cNvSpPr/>
          <p:nvPr/>
        </p:nvSpPr>
        <p:spPr>
          <a:xfrm>
            <a:off x="6757416" y="4425696"/>
            <a:ext cx="329184" cy="329184"/>
          </a:xfrm>
          <a:prstGeom prst="ellipse">
            <a:avLst/>
          </a:prstGeom>
          <a:solidFill>
            <a:srgbClr val="1D4ED8"/>
          </a:solidFill>
          <a:ln w="6350">
            <a:solidFill>
              <a:srgbClr val="1D4ED8"/>
            </a:solidFill>
            <a:prstDash val="solid"/>
          </a:ln>
        </p:spPr>
      </p:sp>
      <p:sp>
        <p:nvSpPr>
          <p:cNvPr id="51" name="Text 43"/>
          <p:cNvSpPr txBox="1"/>
          <p:nvPr/>
        </p:nvSpPr>
        <p:spPr>
          <a:xfrm>
            <a:off x="6757416"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2" name="Text 44"/>
          <p:cNvSpPr txBox="1"/>
          <p:nvPr/>
        </p:nvSpPr>
        <p:spPr>
          <a:xfrm>
            <a:off x="7178040" y="4407408"/>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5–6  </a:t>
            </a:r>
            <a:pPr indent="0" marL="0">
              <a:buNone/>
            </a:pPr>
            <a:r>
              <a:rPr lang="en-US" sz="1150" b="1" dirty="0">
                <a:solidFill>
                  <a:srgbClr val="0A1F44"/>
                </a:solidFill>
                <a:latin typeface="Inter" pitchFamily="34" charset="0"/>
                <a:ea typeface="Inter" pitchFamily="34" charset="-122"/>
                <a:cs typeface="Inter" pitchFamily="34" charset="-120"/>
              </a:rPr>
              <a:t>Launch and read</a:t>
            </a:r>
            <a:endParaRPr lang="en-US" sz="1150" dirty="0"/>
          </a:p>
        </p:txBody>
      </p:sp>
      <p:sp>
        <p:nvSpPr>
          <p:cNvPr id="53" name="Shape 45"/>
          <p:cNvSpPr/>
          <p:nvPr/>
        </p:nvSpPr>
        <p:spPr>
          <a:xfrm>
            <a:off x="7196328" y="4928616"/>
            <a:ext cx="64008" cy="64008"/>
          </a:xfrm>
          <a:prstGeom prst="ellipse">
            <a:avLst/>
          </a:prstGeom>
          <a:solidFill>
            <a:srgbClr val="1D4ED8"/>
          </a:solidFill>
          <a:ln w="6350">
            <a:solidFill>
              <a:srgbClr val="1D4ED8"/>
            </a:solidFill>
            <a:prstDash val="solid"/>
          </a:ln>
        </p:spPr>
      </p:sp>
      <p:sp>
        <p:nvSpPr>
          <p:cNvPr id="54" name="Text 46"/>
          <p:cNvSpPr txBox="1"/>
          <p:nvPr/>
        </p:nvSpPr>
        <p:spPr>
          <a:xfrm>
            <a:off x="7342632" y="484632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Pre-arrival guide: how the material is made and cared for</a:t>
            </a:r>
            <a:endParaRPr lang="en-US" sz="900" dirty="0"/>
          </a:p>
        </p:txBody>
      </p:sp>
      <p:sp>
        <p:nvSpPr>
          <p:cNvPr id="55" name="Shape 47"/>
          <p:cNvSpPr/>
          <p:nvPr/>
        </p:nvSpPr>
        <p:spPr>
          <a:xfrm>
            <a:off x="7196328" y="5148072"/>
            <a:ext cx="64008" cy="64008"/>
          </a:xfrm>
          <a:prstGeom prst="ellipse">
            <a:avLst/>
          </a:prstGeom>
          <a:solidFill>
            <a:srgbClr val="1D4ED8"/>
          </a:solidFill>
          <a:ln w="6350">
            <a:solidFill>
              <a:srgbClr val="1D4ED8"/>
            </a:solidFill>
            <a:prstDash val="solid"/>
          </a:ln>
        </p:spPr>
      </p:sp>
      <p:sp>
        <p:nvSpPr>
          <p:cNvPr id="56" name="Text 48"/>
          <p:cNvSpPr txBox="1"/>
          <p:nvPr/>
        </p:nvSpPr>
        <p:spPr>
          <a:xfrm>
            <a:off x="7342632" y="506577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Delivery-day Passport and app ask; day-21 second category</a:t>
            </a:r>
            <a:endParaRPr lang="en-US" sz="900" dirty="0"/>
          </a:p>
        </p:txBody>
      </p:sp>
      <p:sp>
        <p:nvSpPr>
          <p:cNvPr id="57" name="Shape 49"/>
          <p:cNvSpPr/>
          <p:nvPr/>
        </p:nvSpPr>
        <p:spPr>
          <a:xfrm>
            <a:off x="7196328" y="5367528"/>
            <a:ext cx="64008" cy="64008"/>
          </a:xfrm>
          <a:prstGeom prst="ellipse">
            <a:avLst/>
          </a:prstGeom>
          <a:solidFill>
            <a:srgbClr val="1D4ED8"/>
          </a:solidFill>
          <a:ln w="6350">
            <a:solidFill>
              <a:srgbClr val="1D4ED8"/>
            </a:solidFill>
            <a:prstDash val="solid"/>
          </a:ln>
        </p:spPr>
      </p:sp>
      <p:sp>
        <p:nvSpPr>
          <p:cNvPr id="58" name="Text 50"/>
          <p:cNvSpPr txBox="1"/>
          <p:nvPr/>
        </p:nvSpPr>
        <p:spPr>
          <a:xfrm>
            <a:off x="7342632" y="528523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Read results against the holdout every week</a:t>
            </a:r>
            <a:endParaRPr lang="en-US" sz="900" dirty="0"/>
          </a:p>
        </p:txBody>
      </p:sp>
      <p:sp>
        <p:nvSpPr>
          <p:cNvPr id="59" name="Shape 5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0" name="Shape 52"/>
          <p:cNvSpPr/>
          <p:nvPr/>
        </p:nvSpPr>
        <p:spPr>
          <a:xfrm>
            <a:off x="640080" y="5806440"/>
            <a:ext cx="329184" cy="32918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712500" y="5878860"/>
            <a:ext cx="184343" cy="184343"/>
          </a:xfrm>
          <a:prstGeom prst="rect">
            <a:avLst/>
          </a:prstGeom>
        </p:spPr>
      </p:pic>
      <p:sp>
        <p:nvSpPr>
          <p:cNvPr id="62" name="Text 5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The tech lift depends on one thing: 3PL shipping events keyed to an order 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Nine risks, each with a mitigation and an early warning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7 and Exhibit K; likelihood and impact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25</a:t>
            </a:r>
            <a:endParaRPr lang="en-US" sz="800" dirty="0"/>
          </a:p>
        </p:txBody>
      </p:sp>
      <p:sp>
        <p:nvSpPr>
          <p:cNvPr id="9" name="Shape 6"/>
          <p:cNvSpPr/>
          <p:nvPr/>
        </p:nvSpPr>
        <p:spPr>
          <a:xfrm>
            <a:off x="868680" y="1417320"/>
            <a:ext cx="960120" cy="960120"/>
          </a:xfrm>
          <a:prstGeom prst="rect">
            <a:avLst/>
          </a:prstGeom>
          <a:solidFill>
            <a:srgbClr val="FEF3C7"/>
          </a:solidFill>
          <a:ln w="6350">
            <a:solidFill>
              <a:srgbClr val="FEF3C7"/>
            </a:solidFill>
            <a:prstDash val="solid"/>
          </a:ln>
        </p:spPr>
      </p:sp>
      <p:sp>
        <p:nvSpPr>
          <p:cNvPr id="10" name="Shape 7"/>
          <p:cNvSpPr/>
          <p:nvPr/>
        </p:nvSpPr>
        <p:spPr>
          <a:xfrm>
            <a:off x="1865376" y="1417320"/>
            <a:ext cx="960120" cy="960120"/>
          </a:xfrm>
          <a:prstGeom prst="rect">
            <a:avLst/>
          </a:prstGeom>
          <a:solidFill>
            <a:srgbClr val="FDE2E2"/>
          </a:solidFill>
          <a:ln w="6350">
            <a:solidFill>
              <a:srgbClr val="FDE2E2"/>
            </a:solidFill>
            <a:prstDash val="solid"/>
          </a:ln>
        </p:spPr>
      </p:sp>
      <p:sp>
        <p:nvSpPr>
          <p:cNvPr id="11" name="Shape 8"/>
          <p:cNvSpPr/>
          <p:nvPr/>
        </p:nvSpPr>
        <p:spPr>
          <a:xfrm>
            <a:off x="2862072" y="1417320"/>
            <a:ext cx="960120" cy="960120"/>
          </a:xfrm>
          <a:prstGeom prst="rect">
            <a:avLst/>
          </a:prstGeom>
          <a:solidFill>
            <a:srgbClr val="FDE2E2"/>
          </a:solidFill>
          <a:ln w="6350">
            <a:solidFill>
              <a:srgbClr val="FDE2E2"/>
            </a:solidFill>
            <a:prstDash val="solid"/>
          </a:ln>
        </p:spPr>
      </p:sp>
      <p:sp>
        <p:nvSpPr>
          <p:cNvPr id="12" name="Shape 9"/>
          <p:cNvSpPr/>
          <p:nvPr/>
        </p:nvSpPr>
        <p:spPr>
          <a:xfrm>
            <a:off x="868680" y="2414016"/>
            <a:ext cx="960120" cy="960120"/>
          </a:xfrm>
          <a:prstGeom prst="rect">
            <a:avLst/>
          </a:prstGeom>
          <a:solidFill>
            <a:srgbClr val="E8F5EC"/>
          </a:solidFill>
          <a:ln w="6350">
            <a:solidFill>
              <a:srgbClr val="E8F5EC"/>
            </a:solidFill>
            <a:prstDash val="solid"/>
          </a:ln>
        </p:spPr>
      </p:sp>
      <p:sp>
        <p:nvSpPr>
          <p:cNvPr id="13" name="Shape 10"/>
          <p:cNvSpPr/>
          <p:nvPr/>
        </p:nvSpPr>
        <p:spPr>
          <a:xfrm>
            <a:off x="1865376" y="2414016"/>
            <a:ext cx="960120" cy="960120"/>
          </a:xfrm>
          <a:prstGeom prst="rect">
            <a:avLst/>
          </a:prstGeom>
          <a:solidFill>
            <a:srgbClr val="FEF3C7"/>
          </a:solidFill>
          <a:ln w="6350">
            <a:solidFill>
              <a:srgbClr val="FEF3C7"/>
            </a:solidFill>
            <a:prstDash val="solid"/>
          </a:ln>
        </p:spPr>
      </p:sp>
      <p:sp>
        <p:nvSpPr>
          <p:cNvPr id="14" name="Shape 11"/>
          <p:cNvSpPr/>
          <p:nvPr/>
        </p:nvSpPr>
        <p:spPr>
          <a:xfrm>
            <a:off x="2862072" y="2414016"/>
            <a:ext cx="960120" cy="960120"/>
          </a:xfrm>
          <a:prstGeom prst="rect">
            <a:avLst/>
          </a:prstGeom>
          <a:solidFill>
            <a:srgbClr val="FDE2E2"/>
          </a:solidFill>
          <a:ln w="6350">
            <a:solidFill>
              <a:srgbClr val="FDE2E2"/>
            </a:solidFill>
            <a:prstDash val="solid"/>
          </a:ln>
        </p:spPr>
      </p:sp>
      <p:sp>
        <p:nvSpPr>
          <p:cNvPr id="15" name="Shape 12"/>
          <p:cNvSpPr/>
          <p:nvPr/>
        </p:nvSpPr>
        <p:spPr>
          <a:xfrm>
            <a:off x="868680" y="3410712"/>
            <a:ext cx="960120" cy="960120"/>
          </a:xfrm>
          <a:prstGeom prst="rect">
            <a:avLst/>
          </a:prstGeom>
          <a:solidFill>
            <a:srgbClr val="E8F5EC"/>
          </a:solidFill>
          <a:ln w="6350">
            <a:solidFill>
              <a:srgbClr val="E8F5EC"/>
            </a:solidFill>
            <a:prstDash val="solid"/>
          </a:ln>
        </p:spPr>
      </p:sp>
      <p:sp>
        <p:nvSpPr>
          <p:cNvPr id="16" name="Shape 13"/>
          <p:cNvSpPr/>
          <p:nvPr/>
        </p:nvSpPr>
        <p:spPr>
          <a:xfrm>
            <a:off x="1865376" y="3410712"/>
            <a:ext cx="960120" cy="960120"/>
          </a:xfrm>
          <a:prstGeom prst="rect">
            <a:avLst/>
          </a:prstGeom>
          <a:solidFill>
            <a:srgbClr val="E8F5EC"/>
          </a:solidFill>
          <a:ln w="6350">
            <a:solidFill>
              <a:srgbClr val="E8F5EC"/>
            </a:solidFill>
            <a:prstDash val="solid"/>
          </a:ln>
        </p:spPr>
      </p:sp>
      <p:sp>
        <p:nvSpPr>
          <p:cNvPr id="17" name="Shape 14"/>
          <p:cNvSpPr/>
          <p:nvPr/>
        </p:nvSpPr>
        <p:spPr>
          <a:xfrm>
            <a:off x="2862072" y="3410712"/>
            <a:ext cx="960120" cy="960120"/>
          </a:xfrm>
          <a:prstGeom prst="rect">
            <a:avLst/>
          </a:prstGeom>
          <a:solidFill>
            <a:srgbClr val="FEF3C7"/>
          </a:solidFill>
          <a:ln w="6350">
            <a:solidFill>
              <a:srgbClr val="FEF3C7"/>
            </a:solidFill>
            <a:prstDash val="solid"/>
          </a:ln>
        </p:spPr>
      </p:sp>
      <p:sp>
        <p:nvSpPr>
          <p:cNvPr id="18" name="Text 15"/>
          <p:cNvSpPr txBox="1"/>
          <p:nvPr/>
        </p:nvSpPr>
        <p:spPr>
          <a:xfrm>
            <a:off x="868680" y="4443984"/>
            <a:ext cx="292608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Likelihood →</a:t>
            </a:r>
            <a:endParaRPr lang="en-US" sz="950" dirty="0"/>
          </a:p>
        </p:txBody>
      </p:sp>
      <p:sp>
        <p:nvSpPr>
          <p:cNvPr id="19" name="Text 16"/>
          <p:cNvSpPr txBox="1"/>
          <p:nvPr/>
        </p:nvSpPr>
        <p:spPr>
          <a:xfrm rot="16200000">
            <a:off x="-457200" y="2747772"/>
            <a:ext cx="228600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Impact →</a:t>
            </a:r>
            <a:endParaRPr lang="en-US" sz="950" dirty="0"/>
          </a:p>
        </p:txBody>
      </p:sp>
      <p:sp>
        <p:nvSpPr>
          <p:cNvPr id="20" name="Shape 17"/>
          <p:cNvSpPr/>
          <p:nvPr/>
        </p:nvSpPr>
        <p:spPr>
          <a:xfrm>
            <a:off x="3177540" y="1732788"/>
            <a:ext cx="329184" cy="329184"/>
          </a:xfrm>
          <a:prstGeom prst="ellipse">
            <a:avLst/>
          </a:prstGeom>
          <a:solidFill>
            <a:srgbClr val="0A1F44"/>
          </a:solidFill>
          <a:ln w="6350">
            <a:solidFill>
              <a:srgbClr val="0A1F44"/>
            </a:solidFill>
            <a:prstDash val="solid"/>
          </a:ln>
        </p:spPr>
      </p:sp>
      <p:sp>
        <p:nvSpPr>
          <p:cNvPr id="21" name="Text 18"/>
          <p:cNvSpPr txBox="1"/>
          <p:nvPr/>
        </p:nvSpPr>
        <p:spPr>
          <a:xfrm>
            <a:off x="3177540"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2" name="Shape 19"/>
          <p:cNvSpPr/>
          <p:nvPr/>
        </p:nvSpPr>
        <p:spPr>
          <a:xfrm>
            <a:off x="2939796" y="2729484"/>
            <a:ext cx="329184" cy="329184"/>
          </a:xfrm>
          <a:prstGeom prst="ellipse">
            <a:avLst/>
          </a:prstGeom>
          <a:solidFill>
            <a:srgbClr val="0A1F44"/>
          </a:solidFill>
          <a:ln w="6350">
            <a:solidFill>
              <a:srgbClr val="0A1F44"/>
            </a:solidFill>
            <a:prstDash val="solid"/>
          </a:ln>
        </p:spPr>
      </p:sp>
      <p:sp>
        <p:nvSpPr>
          <p:cNvPr id="23" name="Text 20"/>
          <p:cNvSpPr txBox="1"/>
          <p:nvPr/>
        </p:nvSpPr>
        <p:spPr>
          <a:xfrm>
            <a:off x="2939796"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4" name="Shape 21"/>
          <p:cNvSpPr/>
          <p:nvPr/>
        </p:nvSpPr>
        <p:spPr>
          <a:xfrm>
            <a:off x="1943100" y="2729484"/>
            <a:ext cx="329184" cy="329184"/>
          </a:xfrm>
          <a:prstGeom prst="ellipse">
            <a:avLst/>
          </a:prstGeom>
          <a:solidFill>
            <a:srgbClr val="0A1F44"/>
          </a:solidFill>
          <a:ln w="6350">
            <a:solidFill>
              <a:srgbClr val="0A1F44"/>
            </a:solidFill>
            <a:prstDash val="solid"/>
          </a:ln>
        </p:spPr>
      </p:sp>
      <p:sp>
        <p:nvSpPr>
          <p:cNvPr id="25" name="Text 22"/>
          <p:cNvSpPr txBox="1"/>
          <p:nvPr/>
        </p:nvSpPr>
        <p:spPr>
          <a:xfrm>
            <a:off x="1943100"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6" name="Shape 23"/>
          <p:cNvSpPr/>
          <p:nvPr/>
        </p:nvSpPr>
        <p:spPr>
          <a:xfrm>
            <a:off x="2180844" y="1732788"/>
            <a:ext cx="329184" cy="329184"/>
          </a:xfrm>
          <a:prstGeom prst="ellipse">
            <a:avLst/>
          </a:prstGeom>
          <a:solidFill>
            <a:srgbClr val="0A1F44"/>
          </a:solidFill>
          <a:ln w="6350">
            <a:solidFill>
              <a:srgbClr val="0A1F44"/>
            </a:solidFill>
            <a:prstDash val="solid"/>
          </a:ln>
        </p:spPr>
      </p:sp>
      <p:sp>
        <p:nvSpPr>
          <p:cNvPr id="27" name="Text 24"/>
          <p:cNvSpPr txBox="1"/>
          <p:nvPr/>
        </p:nvSpPr>
        <p:spPr>
          <a:xfrm>
            <a:off x="2180844"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8" name="Shape 25"/>
          <p:cNvSpPr/>
          <p:nvPr/>
        </p:nvSpPr>
        <p:spPr>
          <a:xfrm>
            <a:off x="2180844" y="3726180"/>
            <a:ext cx="329184" cy="329184"/>
          </a:xfrm>
          <a:prstGeom prst="ellipse">
            <a:avLst/>
          </a:prstGeom>
          <a:solidFill>
            <a:srgbClr val="0A1F44"/>
          </a:solidFill>
          <a:ln w="6350">
            <a:solidFill>
              <a:srgbClr val="0A1F44"/>
            </a:solidFill>
            <a:prstDash val="solid"/>
          </a:ln>
        </p:spPr>
      </p:sp>
      <p:sp>
        <p:nvSpPr>
          <p:cNvPr id="29" name="Text 26"/>
          <p:cNvSpPr txBox="1"/>
          <p:nvPr/>
        </p:nvSpPr>
        <p:spPr>
          <a:xfrm>
            <a:off x="2180844"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Shape 27"/>
          <p:cNvSpPr/>
          <p:nvPr/>
        </p:nvSpPr>
        <p:spPr>
          <a:xfrm>
            <a:off x="3177540" y="3726180"/>
            <a:ext cx="329184" cy="329184"/>
          </a:xfrm>
          <a:prstGeom prst="ellipse">
            <a:avLst/>
          </a:prstGeom>
          <a:solidFill>
            <a:srgbClr val="0A1F44"/>
          </a:solidFill>
          <a:ln w="6350">
            <a:solidFill>
              <a:srgbClr val="0A1F44"/>
            </a:solidFill>
            <a:prstDash val="solid"/>
          </a:ln>
        </p:spPr>
      </p:sp>
      <p:sp>
        <p:nvSpPr>
          <p:cNvPr id="31" name="Text 28"/>
          <p:cNvSpPr txBox="1"/>
          <p:nvPr/>
        </p:nvSpPr>
        <p:spPr>
          <a:xfrm>
            <a:off x="3177540"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32" name="Shape 29"/>
          <p:cNvSpPr/>
          <p:nvPr/>
        </p:nvSpPr>
        <p:spPr>
          <a:xfrm>
            <a:off x="3415284" y="2729484"/>
            <a:ext cx="329184" cy="329184"/>
          </a:xfrm>
          <a:prstGeom prst="ellipse">
            <a:avLst/>
          </a:prstGeom>
          <a:solidFill>
            <a:srgbClr val="0A1F44"/>
          </a:solidFill>
          <a:ln w="6350">
            <a:solidFill>
              <a:srgbClr val="0A1F44"/>
            </a:solidFill>
            <a:prstDash val="solid"/>
          </a:ln>
        </p:spPr>
      </p:sp>
      <p:sp>
        <p:nvSpPr>
          <p:cNvPr id="33" name="Text 30"/>
          <p:cNvSpPr txBox="1"/>
          <p:nvPr/>
        </p:nvSpPr>
        <p:spPr>
          <a:xfrm>
            <a:off x="3415284"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34" name="Shape 31"/>
          <p:cNvSpPr/>
          <p:nvPr/>
        </p:nvSpPr>
        <p:spPr>
          <a:xfrm>
            <a:off x="1184148" y="1732788"/>
            <a:ext cx="329184" cy="329184"/>
          </a:xfrm>
          <a:prstGeom prst="ellipse">
            <a:avLst/>
          </a:prstGeom>
          <a:solidFill>
            <a:srgbClr val="0A1F44"/>
          </a:solidFill>
          <a:ln w="6350">
            <a:solidFill>
              <a:srgbClr val="0A1F44"/>
            </a:solidFill>
            <a:prstDash val="solid"/>
          </a:ln>
        </p:spPr>
      </p:sp>
      <p:sp>
        <p:nvSpPr>
          <p:cNvPr id="35" name="Text 32"/>
          <p:cNvSpPr txBox="1"/>
          <p:nvPr/>
        </p:nvSpPr>
        <p:spPr>
          <a:xfrm>
            <a:off x="1184148"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36" name="Shape 33"/>
          <p:cNvSpPr/>
          <p:nvPr/>
        </p:nvSpPr>
        <p:spPr>
          <a:xfrm>
            <a:off x="2418588" y="2729484"/>
            <a:ext cx="329184" cy="329184"/>
          </a:xfrm>
          <a:prstGeom prst="ellipse">
            <a:avLst/>
          </a:prstGeom>
          <a:solidFill>
            <a:srgbClr val="0A1F44"/>
          </a:solidFill>
          <a:ln w="6350">
            <a:solidFill>
              <a:srgbClr val="0A1F44"/>
            </a:solidFill>
            <a:prstDash val="solid"/>
          </a:ln>
        </p:spPr>
      </p:sp>
      <p:sp>
        <p:nvSpPr>
          <p:cNvPr id="37" name="Text 34"/>
          <p:cNvSpPr txBox="1"/>
          <p:nvPr/>
        </p:nvSpPr>
        <p:spPr>
          <a:xfrm>
            <a:off x="2418588"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38" name="Shape 35"/>
          <p:cNvSpPr/>
          <p:nvPr/>
        </p:nvSpPr>
        <p:spPr>
          <a:xfrm>
            <a:off x="4206240" y="1316736"/>
            <a:ext cx="329184" cy="329184"/>
          </a:xfrm>
          <a:prstGeom prst="ellipse">
            <a:avLst/>
          </a:prstGeom>
          <a:solidFill>
            <a:srgbClr val="0A1F44"/>
          </a:solidFill>
          <a:ln w="6350">
            <a:solidFill>
              <a:srgbClr val="0A1F44"/>
            </a:solidFill>
            <a:prstDash val="solid"/>
          </a:ln>
        </p:spPr>
      </p:sp>
      <p:sp>
        <p:nvSpPr>
          <p:cNvPr id="39" name="Text 36"/>
          <p:cNvSpPr txBox="1"/>
          <p:nvPr/>
        </p:nvSpPr>
        <p:spPr>
          <a:xfrm>
            <a:off x="4206240" y="13167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0" name="Text 37"/>
          <p:cNvSpPr txBox="1"/>
          <p:nvPr/>
        </p:nvSpPr>
        <p:spPr>
          <a:xfrm>
            <a:off x="4663440" y="126187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Selection bias inflates lift</a:t>
            </a:r>
            <a:endParaRPr lang="en-US" sz="1100" dirty="0"/>
          </a:p>
        </p:txBody>
      </p:sp>
      <p:sp>
        <p:nvSpPr>
          <p:cNvPr id="41" name="Text 38"/>
          <p:cNvSpPr txBox="1"/>
          <p:nvPr/>
        </p:nvSpPr>
        <p:spPr>
          <a:xfrm>
            <a:off x="7498080" y="126187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Randomized 10% holdout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holdout gap shrinks</a:t>
            </a:r>
            <a:endParaRPr lang="en-US" sz="950" dirty="0"/>
          </a:p>
        </p:txBody>
      </p:sp>
      <p:sp>
        <p:nvSpPr>
          <p:cNvPr id="42" name="Shape 39"/>
          <p:cNvSpPr/>
          <p:nvPr/>
        </p:nvSpPr>
        <p:spPr>
          <a:xfrm>
            <a:off x="4206240" y="1837944"/>
            <a:ext cx="329184" cy="329184"/>
          </a:xfrm>
          <a:prstGeom prst="ellipse">
            <a:avLst/>
          </a:prstGeom>
          <a:solidFill>
            <a:srgbClr val="0A1F44"/>
          </a:solidFill>
          <a:ln w="6350">
            <a:solidFill>
              <a:srgbClr val="0A1F44"/>
            </a:solidFill>
            <a:prstDash val="solid"/>
          </a:ln>
        </p:spPr>
      </p:sp>
      <p:sp>
        <p:nvSpPr>
          <p:cNvPr id="43" name="Text 40"/>
          <p:cNvSpPr txBox="1"/>
          <p:nvPr/>
        </p:nvSpPr>
        <p:spPr>
          <a:xfrm>
            <a:off x="4206240"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4" name="Text 41"/>
          <p:cNvSpPr txBox="1"/>
          <p:nvPr/>
        </p:nvSpPr>
        <p:spPr>
          <a:xfrm>
            <a:off x="4663440" y="178308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Channel owners resist cuts</a:t>
            </a:r>
            <a:endParaRPr lang="en-US" sz="1100" dirty="0"/>
          </a:p>
        </p:txBody>
      </p:sp>
      <p:sp>
        <p:nvSpPr>
          <p:cNvPr id="45" name="Text 42"/>
          <p:cNvSpPr txBox="1"/>
          <p:nvPr/>
        </p:nvSpPr>
        <p:spPr>
          <a:xfrm>
            <a:off x="7498080" y="178308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Scorecards on incremental revenue</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escalations at the weekly council</a:t>
            </a:r>
            <a:endParaRPr lang="en-US" sz="950" dirty="0"/>
          </a:p>
        </p:txBody>
      </p:sp>
      <p:sp>
        <p:nvSpPr>
          <p:cNvPr id="46" name="Shape 43"/>
          <p:cNvSpPr/>
          <p:nvPr/>
        </p:nvSpPr>
        <p:spPr>
          <a:xfrm>
            <a:off x="4206240" y="2359152"/>
            <a:ext cx="329184" cy="329184"/>
          </a:xfrm>
          <a:prstGeom prst="ellipse">
            <a:avLst/>
          </a:prstGeom>
          <a:solidFill>
            <a:srgbClr val="0A1F44"/>
          </a:solidFill>
          <a:ln w="6350">
            <a:solidFill>
              <a:srgbClr val="0A1F44"/>
            </a:solidFill>
            <a:prstDash val="solid"/>
          </a:ln>
        </p:spPr>
      </p:sp>
      <p:sp>
        <p:nvSpPr>
          <p:cNvPr id="47" name="Text 44"/>
          <p:cNvSpPr txBox="1"/>
          <p:nvPr/>
        </p:nvSpPr>
        <p:spPr>
          <a:xfrm>
            <a:off x="4206240" y="2359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48" name="Text 45"/>
          <p:cNvSpPr txBox="1"/>
          <p:nvPr/>
        </p:nvSpPr>
        <p:spPr>
          <a:xfrm>
            <a:off x="4663440" y="230428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Message fatigue, unsubscribes</a:t>
            </a:r>
            <a:endParaRPr lang="en-US" sz="1100" dirty="0"/>
          </a:p>
        </p:txBody>
      </p:sp>
      <p:sp>
        <p:nvSpPr>
          <p:cNvPr id="49" name="Text 46"/>
          <p:cNvSpPr txBox="1"/>
          <p:nvPr/>
        </p:nvSpPr>
        <p:spPr>
          <a:xfrm>
            <a:off x="7498080" y="230428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Fewer, triggered sends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unsubscribes above pre-pilot rate</a:t>
            </a:r>
            <a:endParaRPr lang="en-US" sz="950" dirty="0"/>
          </a:p>
        </p:txBody>
      </p:sp>
      <p:sp>
        <p:nvSpPr>
          <p:cNvPr id="50" name="Shape 47"/>
          <p:cNvSpPr/>
          <p:nvPr/>
        </p:nvSpPr>
        <p:spPr>
          <a:xfrm>
            <a:off x="4206240" y="2880360"/>
            <a:ext cx="329184" cy="329184"/>
          </a:xfrm>
          <a:prstGeom prst="ellipse">
            <a:avLst/>
          </a:prstGeom>
          <a:solidFill>
            <a:srgbClr val="0A1F44"/>
          </a:solidFill>
          <a:ln w="6350">
            <a:solidFill>
              <a:srgbClr val="0A1F44"/>
            </a:solidFill>
            <a:prstDash val="solid"/>
          </a:ln>
        </p:spPr>
      </p:sp>
      <p:sp>
        <p:nvSpPr>
          <p:cNvPr id="51" name="Text 48"/>
          <p:cNvSpPr txBox="1"/>
          <p:nvPr/>
        </p:nvSpPr>
        <p:spPr>
          <a:xfrm>
            <a:off x="42062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52" name="Text 49"/>
          <p:cNvSpPr txBox="1"/>
          <p:nvPr/>
        </p:nvSpPr>
        <p:spPr>
          <a:xfrm>
            <a:off x="4663440" y="282549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Consent and privacy (CCPA)</a:t>
            </a:r>
            <a:endParaRPr lang="en-US" sz="1100" dirty="0"/>
          </a:p>
        </p:txBody>
      </p:sp>
      <p:sp>
        <p:nvSpPr>
          <p:cNvPr id="53" name="Text 50"/>
          <p:cNvSpPr txBox="1"/>
          <p:nvPr/>
        </p:nvSpPr>
        <p:spPr>
          <a:xfrm>
            <a:off x="7498080" y="282549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Transactional and marketing consent split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consent complaints</a:t>
            </a:r>
            <a:endParaRPr lang="en-US" sz="950" dirty="0"/>
          </a:p>
        </p:txBody>
      </p:sp>
      <p:sp>
        <p:nvSpPr>
          <p:cNvPr id="54" name="Shape 51"/>
          <p:cNvSpPr/>
          <p:nvPr/>
        </p:nvSpPr>
        <p:spPr>
          <a:xfrm>
            <a:off x="4206240" y="3401568"/>
            <a:ext cx="329184" cy="329184"/>
          </a:xfrm>
          <a:prstGeom prst="ellipse">
            <a:avLst/>
          </a:prstGeom>
          <a:solidFill>
            <a:srgbClr val="0A1F44"/>
          </a:solidFill>
          <a:ln w="6350">
            <a:solidFill>
              <a:srgbClr val="0A1F44"/>
            </a:solidFill>
            <a:prstDash val="solid"/>
          </a:ln>
        </p:spPr>
      </p:sp>
      <p:sp>
        <p:nvSpPr>
          <p:cNvPr id="55" name="Text 52"/>
          <p:cNvSpPr txBox="1"/>
          <p:nvPr/>
        </p:nvSpPr>
        <p:spPr>
          <a:xfrm>
            <a:off x="4206240" y="3401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6" name="Text 53"/>
          <p:cNvSpPr txBox="1"/>
          <p:nvPr/>
        </p:nvSpPr>
        <p:spPr>
          <a:xfrm>
            <a:off x="4663440" y="3346704"/>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The Fitting Room doesn't pay back</a:t>
            </a:r>
            <a:endParaRPr lang="en-US" sz="1100" dirty="0"/>
          </a:p>
        </p:txBody>
      </p:sp>
      <p:sp>
        <p:nvSpPr>
          <p:cNvPr id="57" name="Text 54"/>
          <p:cNvSpPr txBox="1"/>
          <p:nvPr/>
        </p:nvSpPr>
        <p:spPr>
          <a:xfrm>
            <a:off x="7498080" y="3346704"/>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One-season test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attendee repeat no better than a matched holdout</a:t>
            </a:r>
            <a:endParaRPr lang="en-US" sz="950" dirty="0"/>
          </a:p>
        </p:txBody>
      </p:sp>
      <p:sp>
        <p:nvSpPr>
          <p:cNvPr id="58" name="Shape 55"/>
          <p:cNvSpPr/>
          <p:nvPr/>
        </p:nvSpPr>
        <p:spPr>
          <a:xfrm>
            <a:off x="4206240" y="3922776"/>
            <a:ext cx="329184" cy="329184"/>
          </a:xfrm>
          <a:prstGeom prst="ellipse">
            <a:avLst/>
          </a:prstGeom>
          <a:solidFill>
            <a:srgbClr val="0A1F44"/>
          </a:solidFill>
          <a:ln w="6350">
            <a:solidFill>
              <a:srgbClr val="0A1F44"/>
            </a:solidFill>
            <a:prstDash val="solid"/>
          </a:ln>
        </p:spPr>
      </p:sp>
      <p:sp>
        <p:nvSpPr>
          <p:cNvPr id="59" name="Text 56"/>
          <p:cNvSpPr txBox="1"/>
          <p:nvPr/>
        </p:nvSpPr>
        <p:spPr>
          <a:xfrm>
            <a:off x="4206240" y="3922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60" name="Text 57"/>
          <p:cNvSpPr txBox="1"/>
          <p:nvPr/>
        </p:nvSpPr>
        <p:spPr>
          <a:xfrm>
            <a:off x="4663440" y="386791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Platform or signal shock</a:t>
            </a:r>
            <a:endParaRPr lang="en-US" sz="1100" dirty="0"/>
          </a:p>
        </p:txBody>
      </p:sp>
      <p:sp>
        <p:nvSpPr>
          <p:cNvPr id="61" name="Text 58"/>
          <p:cNvSpPr txBox="1"/>
          <p:nvPr/>
        </p:nvSpPr>
        <p:spPr>
          <a:xfrm>
            <a:off x="7498080" y="386791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More owned reach; first-party lists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CPM or match-rate drop</a:t>
            </a:r>
            <a:endParaRPr lang="en-US" sz="950" dirty="0"/>
          </a:p>
        </p:txBody>
      </p:sp>
      <p:sp>
        <p:nvSpPr>
          <p:cNvPr id="62" name="Shape 59"/>
          <p:cNvSpPr/>
          <p:nvPr/>
        </p:nvSpPr>
        <p:spPr>
          <a:xfrm>
            <a:off x="4206240" y="4443984"/>
            <a:ext cx="329184" cy="329184"/>
          </a:xfrm>
          <a:prstGeom prst="ellipse">
            <a:avLst/>
          </a:prstGeom>
          <a:solidFill>
            <a:srgbClr val="0A1F44"/>
          </a:solidFill>
          <a:ln w="6350">
            <a:solidFill>
              <a:srgbClr val="0A1F44"/>
            </a:solidFill>
            <a:prstDash val="solid"/>
          </a:ln>
        </p:spPr>
      </p:sp>
      <p:sp>
        <p:nvSpPr>
          <p:cNvPr id="63" name="Text 60"/>
          <p:cNvSpPr txBox="1"/>
          <p:nvPr/>
        </p:nvSpPr>
        <p:spPr>
          <a:xfrm>
            <a:off x="4206240" y="44439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64" name="Text 61"/>
          <p:cNvSpPr txBox="1"/>
          <p:nvPr/>
        </p:nvSpPr>
        <p:spPr>
          <a:xfrm>
            <a:off x="4663440" y="438912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Creative fatigue</a:t>
            </a:r>
            <a:endParaRPr lang="en-US" sz="1100" dirty="0"/>
          </a:p>
        </p:txBody>
      </p:sp>
      <p:sp>
        <p:nvSpPr>
          <p:cNvPr id="65" name="Text 62"/>
          <p:cNvSpPr txBox="1"/>
          <p:nvPr/>
        </p:nvSpPr>
        <p:spPr>
          <a:xfrm>
            <a:off x="7498080" y="438912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Fresh creative funded by Option A</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falling click and conversion rates</a:t>
            </a:r>
            <a:endParaRPr lang="en-US" sz="950" dirty="0"/>
          </a:p>
        </p:txBody>
      </p:sp>
      <p:sp>
        <p:nvSpPr>
          <p:cNvPr id="66" name="Shape 63"/>
          <p:cNvSpPr/>
          <p:nvPr/>
        </p:nvSpPr>
        <p:spPr>
          <a:xfrm>
            <a:off x="4206240" y="4965192"/>
            <a:ext cx="329184" cy="329184"/>
          </a:xfrm>
          <a:prstGeom prst="ellipse">
            <a:avLst/>
          </a:prstGeom>
          <a:solidFill>
            <a:srgbClr val="0A1F44"/>
          </a:solidFill>
          <a:ln w="6350">
            <a:solidFill>
              <a:srgbClr val="0A1F44"/>
            </a:solidFill>
            <a:prstDash val="solid"/>
          </a:ln>
        </p:spPr>
      </p:sp>
      <p:sp>
        <p:nvSpPr>
          <p:cNvPr id="67" name="Text 64"/>
          <p:cNvSpPr txBox="1"/>
          <p:nvPr/>
        </p:nvSpPr>
        <p:spPr>
          <a:xfrm>
            <a:off x="4206240" y="4965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68" name="Text 65"/>
          <p:cNvSpPr txBox="1"/>
          <p:nvPr/>
        </p:nvSpPr>
        <p:spPr>
          <a:xfrm>
            <a:off x="4663440" y="491032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Fewer new customers</a:t>
            </a:r>
            <a:endParaRPr lang="en-US" sz="1100" dirty="0"/>
          </a:p>
        </p:txBody>
      </p:sp>
      <p:sp>
        <p:nvSpPr>
          <p:cNvPr id="69" name="Text 66"/>
          <p:cNvSpPr txBox="1"/>
          <p:nvPr/>
        </p:nvSpPr>
        <p:spPr>
          <a:xfrm>
            <a:off x="7498080" y="491032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Prospecting budget unchanged; exclusions tested</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weekly new customers vs plan</a:t>
            </a:r>
            <a:endParaRPr lang="en-US" sz="950" dirty="0"/>
          </a:p>
        </p:txBody>
      </p:sp>
      <p:sp>
        <p:nvSpPr>
          <p:cNvPr id="70" name="Shape 67"/>
          <p:cNvSpPr/>
          <p:nvPr/>
        </p:nvSpPr>
        <p:spPr>
          <a:xfrm>
            <a:off x="4206240" y="5486400"/>
            <a:ext cx="329184" cy="329184"/>
          </a:xfrm>
          <a:prstGeom prst="ellipse">
            <a:avLst/>
          </a:prstGeom>
          <a:solidFill>
            <a:srgbClr val="0A1F44"/>
          </a:solidFill>
          <a:ln w="6350">
            <a:solidFill>
              <a:srgbClr val="0A1F44"/>
            </a:solidFill>
            <a:prstDash val="solid"/>
          </a:ln>
        </p:spPr>
      </p:sp>
      <p:sp>
        <p:nvSpPr>
          <p:cNvPr id="71" name="Text 68"/>
          <p:cNvSpPr txBox="1"/>
          <p:nvPr/>
        </p:nvSpPr>
        <p:spPr>
          <a:xfrm>
            <a:off x="4206240" y="5486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72" name="Text 69"/>
          <p:cNvSpPr txBox="1"/>
          <p:nvPr/>
        </p:nvSpPr>
        <p:spPr>
          <a:xfrm>
            <a:off x="4663440" y="543153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Activation set-up slips</a:t>
            </a:r>
            <a:endParaRPr lang="en-US" sz="1100" dirty="0"/>
          </a:p>
        </p:txBody>
      </p:sp>
      <p:sp>
        <p:nvSpPr>
          <p:cNvPr id="73" name="Text 70"/>
          <p:cNvSpPr txBox="1"/>
          <p:nvPr/>
        </p:nvSpPr>
        <p:spPr>
          <a:xfrm>
            <a:off x="7498080" y="543153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Start in month 0; manual list upload as fallback</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suppression lists not live by week 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number in this deck, and where it comes from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CJA figures come from the team's sandbox, 60,000 people,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26</a:t>
            </a:r>
            <a:endParaRPr lang="en-US" sz="800" dirty="0"/>
          </a:p>
        </p:txBody>
      </p:sp>
      <p:sp>
        <p:nvSpPr>
          <p:cNvPr id="9" name="Shape 6"/>
          <p:cNvSpPr/>
          <p:nvPr/>
        </p:nvSpPr>
        <p:spPr>
          <a:xfrm>
            <a:off x="502920" y="1261872"/>
            <a:ext cx="5513832" cy="2176272"/>
          </a:xfrm>
          <a:prstGeom prst="roundRect">
            <a:avLst>
              <a:gd name="adj" fmla="val 2521"/>
            </a:avLst>
          </a:prstGeom>
          <a:solidFill>
            <a:srgbClr val="FFFFFF"/>
          </a:solidFill>
          <a:ln w="9525">
            <a:solidFill>
              <a:srgbClr val="E2E8F0"/>
            </a:solidFill>
            <a:prstDash val="solid"/>
          </a:ln>
        </p:spPr>
      </p:sp>
      <p:sp>
        <p:nvSpPr>
          <p:cNvPr id="10" name="Shape 7"/>
          <p:cNvSpPr/>
          <p:nvPr/>
        </p:nvSpPr>
        <p:spPr>
          <a:xfrm>
            <a:off x="502920" y="1261872"/>
            <a:ext cx="64008" cy="2176272"/>
          </a:xfrm>
          <a:prstGeom prst="rect">
            <a:avLst/>
          </a:prstGeom>
          <a:solidFill>
            <a:srgbClr val="0A1F44"/>
          </a:solidFill>
          <a:ln w="6350">
            <a:solidFill>
              <a:srgbClr val="0A1F44"/>
            </a:solidFill>
            <a:prstDash val="solid"/>
          </a:ln>
        </p:spPr>
      </p:sp>
      <p:sp>
        <p:nvSpPr>
          <p:cNvPr id="11" name="Text 8"/>
          <p:cNvSpPr txBox="1"/>
          <p:nvPr/>
        </p:nvSpPr>
        <p:spPr>
          <a:xfrm>
            <a:off x="70408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Case packet (illustrative)</a:t>
            </a:r>
            <a:endParaRPr lang="en-US" sz="1150" dirty="0"/>
          </a:p>
        </p:txBody>
      </p:sp>
      <p:sp>
        <p:nvSpPr>
          <p:cNvPr id="12" name="Shape 9"/>
          <p:cNvSpPr/>
          <p:nvPr/>
        </p:nvSpPr>
        <p:spPr>
          <a:xfrm>
            <a:off x="722376" y="1773936"/>
            <a:ext cx="64008" cy="64008"/>
          </a:xfrm>
          <a:prstGeom prst="ellipse">
            <a:avLst/>
          </a:prstGeom>
          <a:solidFill>
            <a:srgbClr val="0A1F44"/>
          </a:solidFill>
          <a:ln w="6350">
            <a:solidFill>
              <a:srgbClr val="0A1F44"/>
            </a:solidFill>
            <a:prstDash val="solid"/>
          </a:ln>
        </p:spPr>
      </p:sp>
      <p:sp>
        <p:nvSpPr>
          <p:cNvPr id="13" name="Text 10"/>
          <p:cNvSpPr txBox="1"/>
          <p:nvPr/>
        </p:nvSpPr>
        <p:spPr>
          <a:xfrm>
            <a:off x="85039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$120M budget and its six lines (Exhibit G); 4.2M active customers (A)</a:t>
            </a:r>
            <a:endParaRPr lang="en-US" sz="850" dirty="0"/>
          </a:p>
        </p:txBody>
      </p:sp>
      <p:sp>
        <p:nvSpPr>
          <p:cNvPr id="14" name="Shape 11"/>
          <p:cNvSpPr/>
          <p:nvPr/>
        </p:nvSpPr>
        <p:spPr>
          <a:xfrm>
            <a:off x="722376" y="2057400"/>
            <a:ext cx="64008" cy="64008"/>
          </a:xfrm>
          <a:prstGeom prst="ellipse">
            <a:avLst/>
          </a:prstGeom>
          <a:solidFill>
            <a:srgbClr val="0A1F44"/>
          </a:solidFill>
          <a:ln w="6350">
            <a:solidFill>
              <a:srgbClr val="0A1F44"/>
            </a:solidFill>
            <a:prstDash val="solid"/>
          </a:ln>
        </p:spPr>
      </p:sp>
      <p:sp>
        <p:nvSpPr>
          <p:cNvPr id="15" name="Text 12"/>
          <p:cNvSpPr txBox="1"/>
          <p:nvPr/>
        </p:nvSpPr>
        <p:spPr>
          <a:xfrm>
            <a:off x="85039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CAC $48 → $62; repeat 24% vs 30–35% peers; targets +6 pts and −10% (section 3)</a:t>
            </a:r>
            <a:endParaRPr lang="en-US" sz="850" dirty="0"/>
          </a:p>
        </p:txBody>
      </p:sp>
      <p:sp>
        <p:nvSpPr>
          <p:cNvPr id="16" name="Shape 13"/>
          <p:cNvSpPr/>
          <p:nvPr/>
        </p:nvSpPr>
        <p:spPr>
          <a:xfrm>
            <a:off x="722376" y="2340864"/>
            <a:ext cx="64008" cy="64008"/>
          </a:xfrm>
          <a:prstGeom prst="ellipse">
            <a:avLst/>
          </a:prstGeom>
          <a:solidFill>
            <a:srgbClr val="0A1F44"/>
          </a:solidFill>
          <a:ln w="6350">
            <a:solidFill>
              <a:srgbClr val="0A1F44"/>
            </a:solidFill>
            <a:prstDash val="solid"/>
          </a:ln>
        </p:spPr>
      </p:sp>
      <p:sp>
        <p:nvSpPr>
          <p:cNvPr id="17" name="Text 14"/>
          <p:cNvSpPr txBox="1"/>
          <p:nvPr/>
        </p:nvSpPr>
        <p:spPr>
          <a:xfrm>
            <a:off x="85039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Cart abandonment ~78% vs ~70% benchmark (C); retargeting CAC $31 (D)</a:t>
            </a:r>
            <a:endParaRPr lang="en-US" sz="850" dirty="0"/>
          </a:p>
        </p:txBody>
      </p:sp>
      <p:sp>
        <p:nvSpPr>
          <p:cNvPr id="18" name="Shape 15"/>
          <p:cNvSpPr/>
          <p:nvPr/>
        </p:nvSpPr>
        <p:spPr>
          <a:xfrm>
            <a:off x="722376" y="2624328"/>
            <a:ext cx="64008" cy="64008"/>
          </a:xfrm>
          <a:prstGeom prst="ellipse">
            <a:avLst/>
          </a:prstGeom>
          <a:solidFill>
            <a:srgbClr val="0A1F44"/>
          </a:solidFill>
          <a:ln w="6350">
            <a:solidFill>
              <a:srgbClr val="0A1F44"/>
            </a:solidFill>
            <a:prstDash val="solid"/>
          </a:ln>
        </p:spPr>
      </p:sp>
      <p:sp>
        <p:nvSpPr>
          <p:cNvPr id="19" name="Text 16"/>
          <p:cNvSpPr txBox="1"/>
          <p:nvPr/>
        </p:nvSpPr>
        <p:spPr>
          <a:xfrm>
            <a:off x="85039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Repeat 38% / 29% / 13% by engagement (E); ~250K orders, ~$30M, ~$13.5M, ~10–12% CAC (J)</a:t>
            </a:r>
            <a:endParaRPr lang="en-US" sz="850" dirty="0"/>
          </a:p>
        </p:txBody>
      </p:sp>
      <p:sp>
        <p:nvSpPr>
          <p:cNvPr id="20" name="Shape 17"/>
          <p:cNvSpPr/>
          <p:nvPr/>
        </p:nvSpPr>
        <p:spPr>
          <a:xfrm>
            <a:off x="722376" y="2907792"/>
            <a:ext cx="64008" cy="64008"/>
          </a:xfrm>
          <a:prstGeom prst="ellipse">
            <a:avLst/>
          </a:prstGeom>
          <a:solidFill>
            <a:srgbClr val="0A1F44"/>
          </a:solidFill>
          <a:ln w="6350">
            <a:solidFill>
              <a:srgbClr val="0A1F44"/>
            </a:solidFill>
            <a:prstDash val="solid"/>
          </a:ln>
        </p:spPr>
      </p:sp>
      <p:sp>
        <p:nvSpPr>
          <p:cNvPr id="21" name="Text 18"/>
          <p:cNvSpPr txBox="1"/>
          <p:nvPr/>
        </p:nvSpPr>
        <p:spPr>
          <a:xfrm>
            <a:off x="85039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Option A $2–3M inside the $6M owned line; B $0 within $14M; time to impact (I)</a:t>
            </a:r>
            <a:endParaRPr lang="en-US" sz="850" dirty="0"/>
          </a:p>
        </p:txBody>
      </p:sp>
      <p:sp>
        <p:nvSpPr>
          <p:cNvPr id="22" name="Shape 19"/>
          <p:cNvSpPr/>
          <p:nvPr/>
        </p:nvSpPr>
        <p:spPr>
          <a:xfrm>
            <a:off x="722376" y="3191256"/>
            <a:ext cx="64008" cy="64008"/>
          </a:xfrm>
          <a:prstGeom prst="ellipse">
            <a:avLst/>
          </a:prstGeom>
          <a:solidFill>
            <a:srgbClr val="0A1F44"/>
          </a:solidFill>
          <a:ln w="6350">
            <a:solidFill>
              <a:srgbClr val="0A1F44"/>
            </a:solidFill>
            <a:prstDash val="solid"/>
          </a:ln>
        </p:spPr>
      </p:sp>
      <p:sp>
        <p:nvSpPr>
          <p:cNvPr id="23" name="Text 20"/>
          <p:cNvSpPr txBox="1"/>
          <p:nvPr/>
        </p:nvSpPr>
        <p:spPr>
          <a:xfrm>
            <a:off x="85039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Regions (N); ~$180B market (section 2); app 22% of sessions (A)</a:t>
            </a:r>
            <a:endParaRPr lang="en-US" sz="850" dirty="0"/>
          </a:p>
        </p:txBody>
      </p:sp>
      <p:sp>
        <p:nvSpPr>
          <p:cNvPr id="24" name="Shape 21"/>
          <p:cNvSpPr/>
          <p:nvPr/>
        </p:nvSpPr>
        <p:spPr>
          <a:xfrm>
            <a:off x="6172200" y="1261872"/>
            <a:ext cx="5513832" cy="2176272"/>
          </a:xfrm>
          <a:prstGeom prst="roundRect">
            <a:avLst>
              <a:gd name="adj" fmla="val 2521"/>
            </a:avLst>
          </a:prstGeom>
          <a:solidFill>
            <a:srgbClr val="FFFFFF"/>
          </a:solidFill>
          <a:ln w="9525">
            <a:solidFill>
              <a:srgbClr val="E2E8F0"/>
            </a:solidFill>
            <a:prstDash val="solid"/>
          </a:ln>
        </p:spPr>
      </p:sp>
      <p:sp>
        <p:nvSpPr>
          <p:cNvPr id="25" name="Shape 22"/>
          <p:cNvSpPr/>
          <p:nvPr/>
        </p:nvSpPr>
        <p:spPr>
          <a:xfrm>
            <a:off x="6172200" y="1261872"/>
            <a:ext cx="64008" cy="2176272"/>
          </a:xfrm>
          <a:prstGeom prst="rect">
            <a:avLst/>
          </a:prstGeom>
          <a:solidFill>
            <a:srgbClr val="1D4ED8"/>
          </a:solidFill>
          <a:ln w="6350">
            <a:solidFill>
              <a:srgbClr val="1D4ED8"/>
            </a:solidFill>
            <a:prstDash val="solid"/>
          </a:ln>
        </p:spPr>
      </p:sp>
      <p:sp>
        <p:nvSpPr>
          <p:cNvPr id="26" name="Text 23"/>
          <p:cNvSpPr txBox="1"/>
          <p:nvPr/>
        </p:nvSpPr>
        <p:spPr>
          <a:xfrm>
            <a:off x="637336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Adobe CJA (our sandbox)</a:t>
            </a:r>
            <a:endParaRPr lang="en-US" sz="1150" dirty="0"/>
          </a:p>
        </p:txBody>
      </p:sp>
      <p:sp>
        <p:nvSpPr>
          <p:cNvPr id="27" name="Shape 24"/>
          <p:cNvSpPr/>
          <p:nvPr/>
        </p:nvSpPr>
        <p:spPr>
          <a:xfrm>
            <a:off x="6391656" y="1773936"/>
            <a:ext cx="64008" cy="64008"/>
          </a:xfrm>
          <a:prstGeom prst="ellipse">
            <a:avLst/>
          </a:prstGeom>
          <a:solidFill>
            <a:srgbClr val="1D4ED8"/>
          </a:solidFill>
          <a:ln w="6350">
            <a:solidFill>
              <a:srgbClr val="1D4ED8"/>
            </a:solidFill>
            <a:prstDash val="solid"/>
          </a:ln>
        </p:spPr>
      </p:sp>
      <p:sp>
        <p:nvSpPr>
          <p:cNvPr id="28" name="Text 25"/>
          <p:cNvSpPr txBox="1"/>
          <p:nvPr/>
        </p:nvSpPr>
        <p:spPr>
          <a:xfrm>
            <a:off x="651967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60,000 → 2,592 people; 69% and 77% drop-offs; 25,227 = 36,566 − 11,339 (Fallout)</a:t>
            </a:r>
            <a:endParaRPr lang="en-US" sz="850" dirty="0"/>
          </a:p>
        </p:txBody>
      </p:sp>
      <p:sp>
        <p:nvSpPr>
          <p:cNvPr id="29" name="Shape 26"/>
          <p:cNvSpPr/>
          <p:nvPr/>
        </p:nvSpPr>
        <p:spPr>
          <a:xfrm>
            <a:off x="6391656" y="2057400"/>
            <a:ext cx="64008" cy="64008"/>
          </a:xfrm>
          <a:prstGeom prst="ellipse">
            <a:avLst/>
          </a:prstGeom>
          <a:solidFill>
            <a:srgbClr val="1D4ED8"/>
          </a:solidFill>
          <a:ln w="6350">
            <a:solidFill>
              <a:srgbClr val="1D4ED8"/>
            </a:solidFill>
            <a:prstDash val="solid"/>
          </a:ln>
        </p:spPr>
      </p:sp>
      <p:sp>
        <p:nvSpPr>
          <p:cNvPr id="30" name="Text 27"/>
          <p:cNvSpPr txBox="1"/>
          <p:nvPr/>
        </p:nvSpPr>
        <p:spPr>
          <a:xfrm>
            <a:off x="651967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11,610 cart paths: 6,088 to checkout, 1 to email (Flow)</a:t>
            </a:r>
            <a:endParaRPr lang="en-US" sz="850" dirty="0"/>
          </a:p>
        </p:txBody>
      </p:sp>
      <p:sp>
        <p:nvSpPr>
          <p:cNvPr id="31" name="Shape 28"/>
          <p:cNvSpPr/>
          <p:nvPr/>
        </p:nvSpPr>
        <p:spPr>
          <a:xfrm>
            <a:off x="6391656" y="2340864"/>
            <a:ext cx="64008" cy="64008"/>
          </a:xfrm>
          <a:prstGeom prst="ellipse">
            <a:avLst/>
          </a:prstGeom>
          <a:solidFill>
            <a:srgbClr val="1D4ED8"/>
          </a:solidFill>
          <a:ln w="6350">
            <a:solidFill>
              <a:srgbClr val="1D4ED8"/>
            </a:solidFill>
            <a:prstDash val="solid"/>
          </a:ln>
        </p:spPr>
      </p:sp>
      <p:sp>
        <p:nvSpPr>
          <p:cNvPr id="32" name="Text 29"/>
          <p:cNvSpPr txBox="1"/>
          <p:nvPr/>
        </p:nvSpPr>
        <p:spPr>
          <a:xfrm>
            <a:off x="651967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28.1% vs 4.7%; 24.5% of buyers, 66% of repeaters; 10.5% overall (A2)</a:t>
            </a:r>
            <a:endParaRPr lang="en-US" sz="850" dirty="0"/>
          </a:p>
        </p:txBody>
      </p:sp>
      <p:sp>
        <p:nvSpPr>
          <p:cNvPr id="33" name="Shape 30"/>
          <p:cNvSpPr/>
          <p:nvPr/>
        </p:nvSpPr>
        <p:spPr>
          <a:xfrm>
            <a:off x="6391656" y="2624328"/>
            <a:ext cx="64008" cy="64008"/>
          </a:xfrm>
          <a:prstGeom prst="ellipse">
            <a:avLst/>
          </a:prstGeom>
          <a:solidFill>
            <a:srgbClr val="1D4ED8"/>
          </a:solidFill>
          <a:ln w="6350">
            <a:solidFill>
              <a:srgbClr val="1D4ED8"/>
            </a:solidFill>
            <a:prstDash val="solid"/>
          </a:ln>
        </p:spPr>
      </p:sp>
      <p:sp>
        <p:nvSpPr>
          <p:cNvPr id="34" name="Text 31"/>
          <p:cNvSpPr txBox="1"/>
          <p:nvPr/>
        </p:nvSpPr>
        <p:spPr>
          <a:xfrm>
            <a:off x="651967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App 21.5% (n = 265), SMS 11.7% (n = 315) after order one (A5)</a:t>
            </a:r>
            <a:endParaRPr lang="en-US" sz="850" dirty="0"/>
          </a:p>
        </p:txBody>
      </p:sp>
      <p:sp>
        <p:nvSpPr>
          <p:cNvPr id="35" name="Shape 32"/>
          <p:cNvSpPr/>
          <p:nvPr/>
        </p:nvSpPr>
        <p:spPr>
          <a:xfrm>
            <a:off x="6391656" y="2907792"/>
            <a:ext cx="64008" cy="64008"/>
          </a:xfrm>
          <a:prstGeom prst="ellipse">
            <a:avLst/>
          </a:prstGeom>
          <a:solidFill>
            <a:srgbClr val="1D4ED8"/>
          </a:solidFill>
          <a:ln w="6350">
            <a:solidFill>
              <a:srgbClr val="1D4ED8"/>
            </a:solidFill>
            <a:prstDash val="solid"/>
          </a:ln>
        </p:spPr>
      </p:sp>
      <p:sp>
        <p:nvSpPr>
          <p:cNvPr id="36" name="Text 33"/>
          <p:cNvSpPr txBox="1"/>
          <p:nvPr/>
        </p:nvSpPr>
        <p:spPr>
          <a:xfrm>
            <a:off x="651967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Week 2: 5.6% vs 2.1%; half of engaged repeats in weeks 1–4 (Cohort)</a:t>
            </a:r>
            <a:endParaRPr lang="en-US" sz="850" dirty="0"/>
          </a:p>
        </p:txBody>
      </p:sp>
      <p:sp>
        <p:nvSpPr>
          <p:cNvPr id="37" name="Shape 34"/>
          <p:cNvSpPr/>
          <p:nvPr/>
        </p:nvSpPr>
        <p:spPr>
          <a:xfrm>
            <a:off x="6391656" y="3191256"/>
            <a:ext cx="64008" cy="64008"/>
          </a:xfrm>
          <a:prstGeom prst="ellipse">
            <a:avLst/>
          </a:prstGeom>
          <a:solidFill>
            <a:srgbClr val="1D4ED8"/>
          </a:solidFill>
          <a:ln w="6350">
            <a:solidFill>
              <a:srgbClr val="1D4ED8"/>
            </a:solidFill>
            <a:prstDash val="solid"/>
          </a:ln>
        </p:spPr>
      </p:sp>
      <p:sp>
        <p:nvSpPr>
          <p:cNvPr id="38" name="Text 35"/>
          <p:cNvSpPr txBox="1"/>
          <p:nvPr/>
        </p:nvSpPr>
        <p:spPr>
          <a:xfrm>
            <a:off x="651967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Category repeat, cashmere 40.7% (A6); 23.0% vs 23.4%, 45.5% (A3b); 4.8% vs 15.0% (AIQ)</a:t>
            </a:r>
            <a:endParaRPr lang="en-US" sz="850" dirty="0"/>
          </a:p>
        </p:txBody>
      </p:sp>
      <p:sp>
        <p:nvSpPr>
          <p:cNvPr id="39" name="Shape 36"/>
          <p:cNvSpPr/>
          <p:nvPr/>
        </p:nvSpPr>
        <p:spPr>
          <a:xfrm>
            <a:off x="502920" y="3566160"/>
            <a:ext cx="5513832" cy="2176272"/>
          </a:xfrm>
          <a:prstGeom prst="roundRect">
            <a:avLst>
              <a:gd name="adj" fmla="val 2521"/>
            </a:avLst>
          </a:prstGeom>
          <a:solidFill>
            <a:srgbClr val="FFFFFF"/>
          </a:solidFill>
          <a:ln w="9525">
            <a:solidFill>
              <a:srgbClr val="E2E8F0"/>
            </a:solidFill>
            <a:prstDash val="solid"/>
          </a:ln>
        </p:spPr>
      </p:sp>
      <p:sp>
        <p:nvSpPr>
          <p:cNvPr id="40" name="Shape 37"/>
          <p:cNvSpPr/>
          <p:nvPr/>
        </p:nvSpPr>
        <p:spPr>
          <a:xfrm>
            <a:off x="502920" y="3566160"/>
            <a:ext cx="64008" cy="2176272"/>
          </a:xfrm>
          <a:prstGeom prst="rect">
            <a:avLst/>
          </a:prstGeom>
          <a:solidFill>
            <a:srgbClr val="2563EB"/>
          </a:solidFill>
          <a:ln w="6350">
            <a:solidFill>
              <a:srgbClr val="2563EB"/>
            </a:solidFill>
            <a:prstDash val="solid"/>
          </a:ln>
        </p:spPr>
      </p:sp>
      <p:sp>
        <p:nvSpPr>
          <p:cNvPr id="41" name="Text 38"/>
          <p:cNvSpPr txBox="1"/>
          <p:nvPr/>
        </p:nvSpPr>
        <p:spPr>
          <a:xfrm>
            <a:off x="70408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Public data (cited)</a:t>
            </a:r>
            <a:endParaRPr lang="en-US" sz="1150" dirty="0"/>
          </a:p>
        </p:txBody>
      </p:sp>
      <p:sp>
        <p:nvSpPr>
          <p:cNvPr id="42" name="Shape 39"/>
          <p:cNvSpPr/>
          <p:nvPr/>
        </p:nvSpPr>
        <p:spPr>
          <a:xfrm>
            <a:off x="722376" y="4078224"/>
            <a:ext cx="64008" cy="64008"/>
          </a:xfrm>
          <a:prstGeom prst="ellipse">
            <a:avLst/>
          </a:prstGeom>
          <a:solidFill>
            <a:srgbClr val="2563EB"/>
          </a:solidFill>
          <a:ln w="6350">
            <a:solidFill>
              <a:srgbClr val="2563EB"/>
            </a:solidFill>
            <a:prstDash val="solid"/>
          </a:ln>
        </p:spPr>
      </p:sp>
      <p:sp>
        <p:nvSpPr>
          <p:cNvPr id="43" name="Text 40"/>
          <p:cNvSpPr txBox="1"/>
          <p:nvPr/>
        </p:nvSpPr>
        <p:spPr>
          <a:xfrm>
            <a:off x="85039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ATT opt-in 35% (Adjust, Q2 2025) to 50% (AppsFlyer, Apr 2025)</a:t>
            </a:r>
            <a:endParaRPr lang="en-US" sz="850" dirty="0"/>
          </a:p>
        </p:txBody>
      </p:sp>
      <p:sp>
        <p:nvSpPr>
          <p:cNvPr id="44" name="Shape 41"/>
          <p:cNvSpPr/>
          <p:nvPr/>
        </p:nvSpPr>
        <p:spPr>
          <a:xfrm>
            <a:off x="722376" y="4361688"/>
            <a:ext cx="64008" cy="64008"/>
          </a:xfrm>
          <a:prstGeom prst="ellipse">
            <a:avLst/>
          </a:prstGeom>
          <a:solidFill>
            <a:srgbClr val="2563EB"/>
          </a:solidFill>
          <a:ln w="6350">
            <a:solidFill>
              <a:srgbClr val="2563EB"/>
            </a:solidFill>
            <a:prstDash val="solid"/>
          </a:ln>
        </p:spPr>
      </p:sp>
      <p:sp>
        <p:nvSpPr>
          <p:cNvPr id="45" name="Text 42"/>
          <p:cNvSpPr txBox="1"/>
          <p:nvPr/>
        </p:nvSpPr>
        <p:spPr>
          <a:xfrm>
            <a:off x="85039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average price per ad +12% year on year (Q2 2026 results)</a:t>
            </a:r>
            <a:endParaRPr lang="en-US" sz="850" dirty="0"/>
          </a:p>
        </p:txBody>
      </p:sp>
      <p:sp>
        <p:nvSpPr>
          <p:cNvPr id="46" name="Shape 43"/>
          <p:cNvSpPr/>
          <p:nvPr/>
        </p:nvSpPr>
        <p:spPr>
          <a:xfrm>
            <a:off x="722376" y="4645152"/>
            <a:ext cx="64008" cy="64008"/>
          </a:xfrm>
          <a:prstGeom prst="ellipse">
            <a:avLst/>
          </a:prstGeom>
          <a:solidFill>
            <a:srgbClr val="2563EB"/>
          </a:solidFill>
          <a:ln w="6350">
            <a:solidFill>
              <a:srgbClr val="2563EB"/>
            </a:solidFill>
            <a:prstDash val="solid"/>
          </a:ln>
        </p:spPr>
      </p:sp>
      <p:sp>
        <p:nvSpPr>
          <p:cNvPr id="47" name="Text 44"/>
          <p:cNvSpPr txBox="1"/>
          <p:nvPr/>
        </p:nvSpPr>
        <p:spPr>
          <a:xfrm>
            <a:off x="85039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Advantage+ defaults (2025); TikTok US joint venture (Jan 2026)</a:t>
            </a:r>
            <a:endParaRPr lang="en-US" sz="850" dirty="0"/>
          </a:p>
        </p:txBody>
      </p:sp>
      <p:sp>
        <p:nvSpPr>
          <p:cNvPr id="48" name="Shape 45"/>
          <p:cNvSpPr/>
          <p:nvPr/>
        </p:nvSpPr>
        <p:spPr>
          <a:xfrm>
            <a:off x="722376" y="4928616"/>
            <a:ext cx="64008" cy="64008"/>
          </a:xfrm>
          <a:prstGeom prst="ellipse">
            <a:avLst/>
          </a:prstGeom>
          <a:solidFill>
            <a:srgbClr val="2563EB"/>
          </a:solidFill>
          <a:ln w="6350">
            <a:solidFill>
              <a:srgbClr val="2563EB"/>
            </a:solidFill>
            <a:prstDash val="solid"/>
          </a:ln>
        </p:spPr>
      </p:sp>
      <p:sp>
        <p:nvSpPr>
          <p:cNvPr id="49" name="Text 46"/>
          <p:cNvSpPr txBox="1"/>
          <p:nvPr/>
        </p:nvSpPr>
        <p:spPr>
          <a:xfrm>
            <a:off x="85039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Consumer sentiment record low (UMich, 2026); apparel prices up with tariffs (Cotton Inc.)</a:t>
            </a:r>
            <a:endParaRPr lang="en-US" sz="850" dirty="0"/>
          </a:p>
        </p:txBody>
      </p:sp>
      <p:sp>
        <p:nvSpPr>
          <p:cNvPr id="50" name="Shape 47"/>
          <p:cNvSpPr/>
          <p:nvPr/>
        </p:nvSpPr>
        <p:spPr>
          <a:xfrm>
            <a:off x="722376" y="5212080"/>
            <a:ext cx="64008" cy="64008"/>
          </a:xfrm>
          <a:prstGeom prst="ellipse">
            <a:avLst/>
          </a:prstGeom>
          <a:solidFill>
            <a:srgbClr val="2563EB"/>
          </a:solidFill>
          <a:ln w="6350">
            <a:solidFill>
              <a:srgbClr val="2563EB"/>
            </a:solidFill>
            <a:prstDash val="solid"/>
          </a:ln>
        </p:spPr>
      </p:sp>
      <p:sp>
        <p:nvSpPr>
          <p:cNvPr id="51" name="Text 48"/>
          <p:cNvSpPr txBox="1"/>
          <p:nvPr/>
        </p:nvSpPr>
        <p:spPr>
          <a:xfrm>
            <a:off x="85039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Shein to buy Everlane (May 2026); Amazon ads $19.8B, +26% (Q2 2026)</a:t>
            </a:r>
            <a:endParaRPr lang="en-US" sz="850" dirty="0"/>
          </a:p>
        </p:txBody>
      </p:sp>
      <p:sp>
        <p:nvSpPr>
          <p:cNvPr id="52" name="Shape 49"/>
          <p:cNvSpPr/>
          <p:nvPr/>
        </p:nvSpPr>
        <p:spPr>
          <a:xfrm>
            <a:off x="722376" y="5495544"/>
            <a:ext cx="64008" cy="64008"/>
          </a:xfrm>
          <a:prstGeom prst="ellipse">
            <a:avLst/>
          </a:prstGeom>
          <a:solidFill>
            <a:srgbClr val="2563EB"/>
          </a:solidFill>
          <a:ln w="6350">
            <a:solidFill>
              <a:srgbClr val="2563EB"/>
            </a:solidFill>
            <a:prstDash val="solid"/>
          </a:ln>
        </p:spPr>
      </p:sp>
      <p:sp>
        <p:nvSpPr>
          <p:cNvPr id="53" name="Text 50"/>
          <p:cNvSpPr txBox="1"/>
          <p:nvPr/>
        </p:nvSpPr>
        <p:spPr>
          <a:xfrm>
            <a:off x="85039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Census: 17.1% online (Q2 2026); McKinsey 71%; Tapestry 6.8M; WSI v. Quince (2026)</a:t>
            </a:r>
            <a:endParaRPr lang="en-US" sz="850" dirty="0"/>
          </a:p>
        </p:txBody>
      </p:sp>
      <p:sp>
        <p:nvSpPr>
          <p:cNvPr id="54" name="Shape 51"/>
          <p:cNvSpPr/>
          <p:nvPr/>
        </p:nvSpPr>
        <p:spPr>
          <a:xfrm>
            <a:off x="6172200" y="3566160"/>
            <a:ext cx="5513832" cy="2176272"/>
          </a:xfrm>
          <a:prstGeom prst="roundRect">
            <a:avLst>
              <a:gd name="adj" fmla="val 2521"/>
            </a:avLst>
          </a:prstGeom>
          <a:solidFill>
            <a:srgbClr val="FFFFFF"/>
          </a:solidFill>
          <a:ln w="9525">
            <a:solidFill>
              <a:srgbClr val="E2E8F0"/>
            </a:solidFill>
            <a:prstDash val="solid"/>
          </a:ln>
        </p:spPr>
      </p:sp>
      <p:sp>
        <p:nvSpPr>
          <p:cNvPr id="55" name="Shape 52"/>
          <p:cNvSpPr/>
          <p:nvPr/>
        </p:nvSpPr>
        <p:spPr>
          <a:xfrm>
            <a:off x="6172200" y="3566160"/>
            <a:ext cx="64008" cy="2176272"/>
          </a:xfrm>
          <a:prstGeom prst="rect">
            <a:avLst/>
          </a:prstGeom>
          <a:solidFill>
            <a:srgbClr val="60A5FA"/>
          </a:solidFill>
          <a:ln w="6350">
            <a:solidFill>
              <a:srgbClr val="60A5FA"/>
            </a:solidFill>
            <a:prstDash val="solid"/>
          </a:ln>
        </p:spPr>
      </p:sp>
      <p:sp>
        <p:nvSpPr>
          <p:cNvPr id="56" name="Text 53"/>
          <p:cNvSpPr txBox="1"/>
          <p:nvPr/>
        </p:nvSpPr>
        <p:spPr>
          <a:xfrm>
            <a:off x="637336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Derived, or team design</a:t>
            </a:r>
            <a:endParaRPr lang="en-US" sz="1150" dirty="0"/>
          </a:p>
        </p:txBody>
      </p:sp>
      <p:sp>
        <p:nvSpPr>
          <p:cNvPr id="57" name="Shape 54"/>
          <p:cNvSpPr/>
          <p:nvPr/>
        </p:nvSpPr>
        <p:spPr>
          <a:xfrm>
            <a:off x="6391656" y="4078224"/>
            <a:ext cx="64008" cy="64008"/>
          </a:xfrm>
          <a:prstGeom prst="ellipse">
            <a:avLst/>
          </a:prstGeom>
          <a:solidFill>
            <a:srgbClr val="60A5FA"/>
          </a:solidFill>
          <a:ln w="6350">
            <a:solidFill>
              <a:srgbClr val="60A5FA"/>
            </a:solidFill>
            <a:prstDash val="solid"/>
          </a:ln>
        </p:spPr>
      </p:sp>
      <p:sp>
        <p:nvSpPr>
          <p:cNvPr id="58" name="Text 55"/>
          <p:cNvSpPr txBox="1"/>
          <p:nvPr/>
        </p:nvSpPr>
        <p:spPr>
          <a:xfrm>
            <a:off x="651967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+29% = $62 ÷ $48; $1.43 = $6M ÷ 4.2M; 60% = ($58M + $14M) ÷ $120M</a:t>
            </a:r>
            <a:endParaRPr lang="en-US" sz="850" dirty="0"/>
          </a:p>
        </p:txBody>
      </p:sp>
      <p:sp>
        <p:nvSpPr>
          <p:cNvPr id="59" name="Shape 56"/>
          <p:cNvSpPr/>
          <p:nvPr/>
        </p:nvSpPr>
        <p:spPr>
          <a:xfrm>
            <a:off x="6391656" y="4361688"/>
            <a:ext cx="64008" cy="64008"/>
          </a:xfrm>
          <a:prstGeom prst="ellipse">
            <a:avLst/>
          </a:prstGeom>
          <a:solidFill>
            <a:srgbClr val="60A5FA"/>
          </a:solidFill>
          <a:ln w="6350">
            <a:solidFill>
              <a:srgbClr val="60A5FA"/>
            </a:solidFill>
            <a:prstDash val="solid"/>
          </a:ln>
        </p:spPr>
      </p:sp>
      <p:sp>
        <p:nvSpPr>
          <p:cNvPr id="60" name="Text 57"/>
          <p:cNvSpPr txBox="1"/>
          <p:nvPr/>
        </p:nvSpPr>
        <p:spPr>
          <a:xfrm>
            <a:off x="651967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4.6× = 21.5 ÷ 4.7; 2.7× = 5.6 ÷ 2.1; a third = 4.8 ÷ 15.0; ~5,500 = 11,610 − 6,088 − 1</a:t>
            </a:r>
            <a:endParaRPr lang="en-US" sz="850" dirty="0"/>
          </a:p>
        </p:txBody>
      </p:sp>
      <p:sp>
        <p:nvSpPr>
          <p:cNvPr id="61" name="Shape 58"/>
          <p:cNvSpPr/>
          <p:nvPr/>
        </p:nvSpPr>
        <p:spPr>
          <a:xfrm>
            <a:off x="6391656" y="4645152"/>
            <a:ext cx="64008" cy="64008"/>
          </a:xfrm>
          <a:prstGeom prst="ellipse">
            <a:avLst/>
          </a:prstGeom>
          <a:solidFill>
            <a:srgbClr val="60A5FA"/>
          </a:solidFill>
          <a:ln w="6350">
            <a:solidFill>
              <a:srgbClr val="60A5FA"/>
            </a:solidFill>
            <a:prstDash val="solid"/>
          </a:ln>
        </p:spPr>
      </p:sp>
      <p:sp>
        <p:nvSpPr>
          <p:cNvPr id="62" name="Text 59"/>
          <p:cNvSpPr txBox="1"/>
          <p:nvPr/>
        </p:nvSpPr>
        <p:spPr>
          <a:xfrm>
            <a:off x="651967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 pts: 6 ÷ 25 = 24% (app), 6 ÷ 16 = 37.5% (email/SMS); ~29% and ~59% after A2→A5 haircuts; web-only ≥ 31% (38a + 29s + 13w = 24)</a:t>
            </a:r>
            <a:endParaRPr lang="en-US" sz="850" dirty="0"/>
          </a:p>
        </p:txBody>
      </p:sp>
      <p:sp>
        <p:nvSpPr>
          <p:cNvPr id="63" name="Shape 60"/>
          <p:cNvSpPr/>
          <p:nvPr/>
        </p:nvSpPr>
        <p:spPr>
          <a:xfrm>
            <a:off x="6391656" y="4928616"/>
            <a:ext cx="64008" cy="64008"/>
          </a:xfrm>
          <a:prstGeom prst="ellipse">
            <a:avLst/>
          </a:prstGeom>
          <a:solidFill>
            <a:srgbClr val="60A5FA"/>
          </a:solidFill>
          <a:ln w="6350">
            <a:solidFill>
              <a:srgbClr val="60A5FA"/>
            </a:solidFill>
            <a:prstDash val="solid"/>
          </a:ln>
        </p:spPr>
      </p:sp>
      <p:sp>
        <p:nvSpPr>
          <p:cNvPr id="64" name="Text 61"/>
          <p:cNvSpPr txBox="1"/>
          <p:nvPr/>
        </p:nvSpPr>
        <p:spPr>
          <a:xfrm>
            <a:off x="651967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Pilot design, not forecasts: 10% holdout, South region, gates at months 3 and 9</a:t>
            </a:r>
            <a:endParaRPr lang="en-US" sz="850" dirty="0"/>
          </a:p>
        </p:txBody>
      </p:sp>
      <p:sp>
        <p:nvSpPr>
          <p:cNvPr id="65" name="Shape 62"/>
          <p:cNvSpPr/>
          <p:nvPr/>
        </p:nvSpPr>
        <p:spPr>
          <a:xfrm>
            <a:off x="6391656" y="5212080"/>
            <a:ext cx="64008" cy="64008"/>
          </a:xfrm>
          <a:prstGeom prst="ellipse">
            <a:avLst/>
          </a:prstGeom>
          <a:solidFill>
            <a:srgbClr val="60A5FA"/>
          </a:solidFill>
          <a:ln w="6350">
            <a:solidFill>
              <a:srgbClr val="60A5FA"/>
            </a:solidFill>
            <a:prstDash val="solid"/>
          </a:ln>
        </p:spPr>
      </p:sp>
      <p:sp>
        <p:nvSpPr>
          <p:cNvPr id="66" name="Text 63"/>
          <p:cNvSpPr txBox="1"/>
          <p:nvPr/>
        </p:nvSpPr>
        <p:spPr>
          <a:xfrm>
            <a:off x="651967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Timing (1h, 24h, delivery, day 7, 21, 60); 30-day recent buyers; gift picks 14 days ahead</a:t>
            </a:r>
            <a:endParaRPr lang="en-US" sz="850" dirty="0"/>
          </a:p>
        </p:txBody>
      </p:sp>
      <p:sp>
        <p:nvSpPr>
          <p:cNvPr id="67" name="Shape 64"/>
          <p:cNvSpPr/>
          <p:nvPr/>
        </p:nvSpPr>
        <p:spPr>
          <a:xfrm>
            <a:off x="6391656" y="5495544"/>
            <a:ext cx="64008" cy="64008"/>
          </a:xfrm>
          <a:prstGeom prst="ellipse">
            <a:avLst/>
          </a:prstGeom>
          <a:solidFill>
            <a:srgbClr val="60A5FA"/>
          </a:solidFill>
          <a:ln w="6350">
            <a:solidFill>
              <a:srgbClr val="60A5FA"/>
            </a:solidFill>
            <a:prstDash val="solid"/>
          </a:ln>
        </p:spPr>
      </p:sp>
      <p:sp>
        <p:nvSpPr>
          <p:cNvPr id="68" name="Text 65"/>
          <p:cNvSpPr txBox="1"/>
          <p:nvPr/>
        </p:nvSpPr>
        <p:spPr>
          <a:xfrm>
            <a:off x="651967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Gate pass = minimum effect pre-registered by Analytics; no reallocation amount assumed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Sources: case data, our CJA project and public research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Links checked in October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27</a:t>
            </a:r>
            <a:endParaRPr lang="en-US" sz="800" dirty="0"/>
          </a:p>
        </p:txBody>
      </p:sp>
      <p:sp>
        <p:nvSpPr>
          <p:cNvPr id="9" name="Text 6"/>
          <p:cNvSpPr txBox="1"/>
          <p:nvPr/>
        </p:nvSpPr>
        <p:spPr>
          <a:xfrm>
            <a:off x="502920"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Case and Adobe CJA</a:t>
            </a:r>
            <a:endParaRPr lang="en-US" sz="1250" dirty="0"/>
          </a:p>
        </p:txBody>
      </p:sp>
      <p:sp>
        <p:nvSpPr>
          <p:cNvPr id="10" name="Text 7"/>
          <p:cNvSpPr txBox="1"/>
          <p:nvPr/>
        </p:nvSpPr>
        <p:spPr>
          <a:xfrm>
            <a:off x="502920"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Quince case packet, "Closing the Loop"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Case Competition World Cup, Graduate Track, 9 Oct 2026; Exhibits A–O, all illustrative</a:t>
            </a:r>
            <a:endParaRPr lang="en-US" sz="1200" dirty="0"/>
          </a:p>
        </p:txBody>
      </p:sp>
      <p:sp>
        <p:nvSpPr>
          <p:cNvPr id="11" name="Text 8"/>
          <p:cNvSpPr txBox="1"/>
          <p:nvPr/>
        </p:nvSpPr>
        <p:spPr>
          <a:xfrm>
            <a:off x="502920"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CJA, Quince Case Data View</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Team project: 60,000 people, 125,521 events, 1 Jan–30 Apr 2026 (appendix 9–13)</a:t>
            </a:r>
            <a:endParaRPr lang="en-US" sz="1200" dirty="0"/>
          </a:p>
        </p:txBody>
      </p:sp>
      <p:sp>
        <p:nvSpPr>
          <p:cNvPr id="12" name="Text 9"/>
          <p:cNvSpPr txBox="1"/>
          <p:nvPr/>
        </p:nvSpPr>
        <p:spPr>
          <a:xfrm>
            <a:off x="502920"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Experience League: publishing CJA audiences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activate via Real-Time CDP or Journey Optimizer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experienceleague.adobe.com/en/docs/analytics-platform/using/cja-compon</a:t>
            </a:r>
            <a:endParaRPr lang="en-US" sz="1200" dirty="0"/>
          </a:p>
        </p:txBody>
      </p:sp>
      <p:sp>
        <p:nvSpPr>
          <p:cNvPr id="13" name="Text 10"/>
          <p:cNvSpPr txBox="1"/>
          <p:nvPr/>
        </p:nvSpPr>
        <p:spPr>
          <a:xfrm>
            <a:off x="502920"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Shein to buy Everlane (NPR via Michigan Public, 22 May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Everlane agreed to be acquired; price not disclosed</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michiganpublic.org/2026-05-22/shein-buys-everlane-which-sold-millennia</a:t>
            </a:r>
            <a:endParaRPr lang="en-US" sz="1200" dirty="0"/>
          </a:p>
        </p:txBody>
      </p:sp>
      <p:sp>
        <p:nvSpPr>
          <p:cNvPr id="14" name="Text 11"/>
          <p:cNvSpPr txBox="1"/>
          <p:nvPr/>
        </p:nvSpPr>
        <p:spPr>
          <a:xfrm>
            <a:off x="502920"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Gordon, Zettelmeyer, Bhargava &amp; Chapsky (2019)</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 Comparison of Approaches to Advertising Measurement. Marketing Science 38(2)</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doi.org/10.1287/mksc.2018.1135</a:t>
            </a:r>
            <a:endParaRPr lang="en-US" sz="1200" dirty="0"/>
          </a:p>
        </p:txBody>
      </p:sp>
      <p:sp>
        <p:nvSpPr>
          <p:cNvPr id="15" name="Text 12"/>
          <p:cNvSpPr txBox="1"/>
          <p:nvPr/>
        </p:nvSpPr>
        <p:spPr>
          <a:xfrm>
            <a:off x="502920"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Blake, Nosko &amp; Tadelis (2015)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Consumer Heterogeneity and Paid Search Effectiveness. Econometrica 83(1)</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doi.org/10.3982/ECTA12423</a:t>
            </a:r>
            <a:endParaRPr lang="en-US" sz="1200" dirty="0"/>
          </a:p>
        </p:txBody>
      </p:sp>
      <p:sp>
        <p:nvSpPr>
          <p:cNvPr id="16" name="Text 13"/>
          <p:cNvSpPr txBox="1"/>
          <p:nvPr/>
        </p:nvSpPr>
        <p:spPr>
          <a:xfrm>
            <a:off x="6291072"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Market and industry research</a:t>
            </a:r>
            <a:endParaRPr lang="en-US" sz="1250" dirty="0"/>
          </a:p>
        </p:txBody>
      </p:sp>
      <p:sp>
        <p:nvSpPr>
          <p:cNvPr id="17" name="Text 14"/>
          <p:cNvSpPr txBox="1"/>
          <p:nvPr/>
        </p:nvSpPr>
        <p:spPr>
          <a:xfrm>
            <a:off x="6291072"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Adjust: ATT opt-in rates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35% average opt-in among users shown the prompt, Q2 2025</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adjust.com/blog/att-opt-in-rates-2025</a:t>
            </a:r>
            <a:endParaRPr lang="en-US" sz="1200" dirty="0"/>
          </a:p>
        </p:txBody>
      </p:sp>
      <p:sp>
        <p:nvSpPr>
          <p:cNvPr id="18" name="Text 15"/>
          <p:cNvSpPr txBox="1"/>
          <p:nvPr/>
        </p:nvSpPr>
        <p:spPr>
          <a:xfrm>
            <a:off x="6291072"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AppsFlyer: four years after ATT (Apr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About 50% of users consent to tracking globally</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appsflyer.com/company/newsroom/pr/post-att-growth-2/</a:t>
            </a:r>
            <a:endParaRPr lang="en-US" sz="1200" dirty="0"/>
          </a:p>
        </p:txBody>
      </p:sp>
      <p:sp>
        <p:nvSpPr>
          <p:cNvPr id="19" name="Text 16"/>
          <p:cNvSpPr txBox="1"/>
          <p:nvPr/>
        </p:nvSpPr>
        <p:spPr>
          <a:xfrm>
            <a:off x="6291072"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Q2 2026 results (Adweek, Jul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Average price per ad +12% and ad impressions +14% year on year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adweek.com/?p=1954104</a:t>
            </a:r>
            <a:endParaRPr lang="en-US" sz="1200" dirty="0"/>
          </a:p>
        </p:txBody>
      </p:sp>
      <p:sp>
        <p:nvSpPr>
          <p:cNvPr id="20" name="Text 17"/>
          <p:cNvSpPr txBox="1"/>
          <p:nvPr/>
        </p:nvSpPr>
        <p:spPr>
          <a:xfrm>
            <a:off x="6291072"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Advantage+ as the default campaign setup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treated as suggestions unless set as limits (Jon Loomer)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jonloomer.com/advantage-plus-campaign-setup-targeting/</a:t>
            </a:r>
            <a:endParaRPr lang="en-US" sz="1200" dirty="0"/>
          </a:p>
        </p:txBody>
      </p:sp>
      <p:sp>
        <p:nvSpPr>
          <p:cNvPr id="21" name="Text 18"/>
          <p:cNvSpPr txBox="1"/>
          <p:nvPr/>
        </p:nvSpPr>
        <p:spPr>
          <a:xfrm>
            <a:off x="6291072"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TikTok US joint venture (The Register, 23 Jan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Oracle, Silver Lake and MGX among investors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theregister.com/2026/01/23/jv_announces_tiktok_us_acquisition/</a:t>
            </a:r>
            <a:endParaRPr lang="en-US" sz="1200" dirty="0"/>
          </a:p>
        </p:txBody>
      </p:sp>
      <p:sp>
        <p:nvSpPr>
          <p:cNvPr id="22" name="Text 19"/>
          <p:cNvSpPr txBox="1"/>
          <p:nvPr/>
        </p:nvSpPr>
        <p:spPr>
          <a:xfrm>
            <a:off x="6291072"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University of Michigan Surveys of Consumers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Record low in May 2026; 46.3 preliminary in October 2026</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sca.isr.umich.edu/</a:t>
            </a:r>
            <a:endParaRPr lang="en-US" sz="1200" dirty="0"/>
          </a:p>
        </p:txBody>
      </p:sp>
      <p:sp>
        <p:nvSpPr>
          <p:cNvPr id="23" name="Text 20"/>
          <p:cNvSpPr txBox="1"/>
          <p:nvPr/>
        </p:nvSpPr>
        <p:spPr>
          <a:xfrm>
            <a:off x="6291072" y="54132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Cotton Incorporated, Executive Cotton Update (Jun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US garment prices rose sharply in early 2026 amid tariffs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ecotextile.com/?p=63440</a:t>
            </a:r>
            <a:endParaRPr lang="en-US" sz="1200" dirty="0"/>
          </a:p>
        </p:txBody>
      </p:sp>
      <p:sp>
        <p:nvSpPr>
          <p:cNvPr id="24" name="Text 21"/>
          <p:cNvSpPr txBox="1"/>
          <p:nvPr/>
        </p:nvSpPr>
        <p:spPr>
          <a:xfrm>
            <a:off x="502920" y="5989320"/>
            <a:ext cx="11183112" cy="365760"/>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Competition and market, added: </a:t>
            </a:r>
            <a:pPr indent="0" marL="0">
              <a:buNone/>
            </a:pPr>
            <a:r>
              <a:rPr lang="en-US" sz="850" u="sng" dirty="0">
                <a:solidFill>
                  <a:srgbClr val="1D4ED8"/>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Amazon Q2 2026 ads</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Shein/Temu US (CNBC)</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Everlane sale (Bloomberg Law)</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6" invalidUrl="" action="" tgtFrame="" tooltip="" history="1" highlightClick="0" endSnd="0">
                  <a:extLst>
                    <a:ext uri="{A12FA001-AC4F-418D-AE19-62706E023703}">
                      <ahyp:hlinkClr xmlns:ahyp="http://schemas.microsoft.com/office/drawing/2018/hyperlinkcolor" val="tx"/>
                    </a:ext>
                  </a:extLst>
                </a:hlinkClick>
              </a:rPr>
              <a:t>Fast Retailing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7" invalidUrl="" action="" tgtFrame="" tooltip="" history="1" highlightClick="0" endSnd="0">
                  <a:extLst>
                    <a:ext uri="{A12FA001-AC4F-418D-AE19-62706E023703}">
                      <ahyp:hlinkClr xmlns:ahyp="http://schemas.microsoft.com/office/drawing/2018/hyperlinkcolor" val="tx"/>
                    </a:ext>
                  </a:extLst>
                </a:hlinkClick>
              </a:rPr>
              <a:t>Tapestry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8" invalidUrl="" action="" tgtFrame="" tooltip="" history="1" highlightClick="0" endSnd="0">
                  <a:extLst>
                    <a:ext uri="{A12FA001-AC4F-418D-AE19-62706E023703}">
                      <ahyp:hlinkClr xmlns:ahyp="http://schemas.microsoft.com/office/drawing/2018/hyperlinkcolor" val="tx"/>
                    </a:ext>
                  </a:extLst>
                </a:hlinkClick>
              </a:rPr>
              <a:t>WSI v. Quince ruling</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9" invalidUrl="" action="" tgtFrame="" tooltip="" history="1" highlightClick="0" endSnd="0">
                  <a:extLst>
                    <a:ext uri="{A12FA001-AC4F-418D-AE19-62706E023703}">
                      <ahyp:hlinkClr xmlns:ahyp="http://schemas.microsoft.com/office/drawing/2018/hyperlinkcolor" val="tx"/>
                    </a:ext>
                  </a:extLst>
                </a:hlinkClick>
              </a:rPr>
              <a:t>Census e-commerce</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McKinsey personalization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Own the Second Purchase</dc:title>
  <dc:subject>PptxGenJS Presentation</dc:subject>
  <dc:creator>Team G27</dc:creator>
  <cp:lastModifiedBy>Team G27</cp:lastModifiedBy>
  <cp:revision>1</cp:revision>
  <dcterms:created xsi:type="dcterms:W3CDTF">2026-10-17T15:33:33Z</dcterms:created>
  <dcterms:modified xsi:type="dcterms:W3CDTF">2026-10-17T15:33:33Z</dcterms:modified>
</cp:coreProperties>
</file>