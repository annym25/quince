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84" r:id="rId3"/>
    <p:sldId id="258" r:id="rId4"/>
    <p:sldId id="259" r:id="rId5"/>
    <p:sldId id="260" r:id="rId6"/>
    <p:sldId id="261" r:id="rId7"/>
    <p:sldId id="262" r:id="rId8"/>
    <p:sldId id="28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C4ED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784"/>
    <p:restoredTop sz="94610"/>
  </p:normalViewPr>
  <p:slideViewPr>
    <p:cSldViewPr snapToGrid="0" snapToObjects="1">
      <p:cViewPr varScale="1">
        <p:scale>
          <a:sx n="120" d="100"/>
          <a:sy n="120" d="100"/>
        </p:scale>
        <p:origin x="192"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45520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Quince's viral first buyers don't come back. We show how to win their second purchase inside the same budget.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want to own the second purchase, so we move up to nine million dollars from rented to owned channels, with holdouts deciding every dollar. Quince's viral growth built first buyers, but CAC is up 29% to 62 dollars and repeat sits at 24% against 30 to 35% at peers. Our answer is to blend all three options. With lever one we capture every buyer with the Quince Passport: the quarter of buyers who engage make up two thirds of repeaters. With lever two we win the golden month, when engaged buyers come back. With lever three we stop paying twice: retargeted buyers repeat no better than organic ones. The result: repeat goes from 24 to about 31%, blended CAC down 12 to 14% on Exhibit J's definition, inside the same 120 million, with no discounts.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market is big and moving online: about 180 billion dollars, with e-commerce growing almost twice as fast as retail. But four forces make renting reach dearer: only 35 to 50% of iPhone users can be tracked, Meta's price per ad is up 12%, attribution can overstate ad lift threefold, and with sentiment at a record low, price can't be the lever. Quince feels it: CAC is up 29%. And the channels it rents cost the most and keep the fewest customers, while owned customers repeat up to three times more and are worth 2.6 times as much. So we shift spend to owned, inside the same budget.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what we found in CJA. 69% of product viewers never add to cart, and 77% of cart adders never order; only one of about 5,500 cart paths that stop before checkout is followed next by an email. Buyers who engage with email, SMS or the app repeat at 28.1% versus 4.7%; after order one, app users still repeat 21.5%. Repeat orders peak in week 2, and cashmere, touched by 41% of buyers, repeats least. Yet the budget points the other way: 60% is rented from social platforms and 5% goes to channels Quince owns.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 competition: a rival can copy a 20% discount overnight and journeys in a quarter or two, but not factory-direct cost plus buyers who opted in. Amazon's ad business grew 26% to almost 20 billion dollars a quarter, so paid reach is an auction Quince can't win. Everlane had mature email and SMS and still sold to Shein, so owned channels alone aren't a moat. Williams-Sonoma sued over dupes, so trust must come from proof. Our move is simple: keep the price and build the relationship.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Can Quince do this? The data is ready: CJA already stitches one person across web, app, email and SMS. We see three gaps, and we fund each from the owned line: activation, so CJA audiences reach journeys and ad platforms, by month 3; a lifecycle team and creative, because today's email is built for mass blasts, by month 6; and one weekly holdout council so growth and analytics share one decision rule. On the right you can see how shipping events turn into journeys.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how we start: a 90-day pilot in the South, with a randomized 10% holdout. Lever one launches the Quince Passport, app tracking and saved-cart reminders; lever two the first Material Journey; lever three daily suppression lists inside the existing retargeting line. The pilot runs on Option A's two to three million inside today's owned budget. At month 3, Gate 1 asks for two points of 30-day repeat over the holdout, twice the holdout's engaged share, and new customers down less than 2%. If it passes, four million dollars of retargeting moves to owned. Months 4 to 6, branded search can move three million; months 7 to 9, up to two million of prospecting, only if proven. Gate 2 at month 9 checks 28%, on the way to about 31% by month 18. So our ask is simple: own the second purchase, moving up to nine million dollars from rented to owned, with holdouts deciding every dollar.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C5DA7-F4B2-6217-BA51-177F4410E3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38A002-CEEF-B3D8-1B15-25D1603B10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A94103-57D9-4AE1-CF07-1658F8D386FA}"/>
              </a:ext>
            </a:extLst>
          </p:cNvPr>
          <p:cNvSpPr>
            <a:spLocks noGrp="1"/>
          </p:cNvSpPr>
          <p:nvPr>
            <p:ph type="body" idx="1"/>
          </p:nvPr>
        </p:nvSpPr>
        <p:spPr/>
        <p:txBody>
          <a:bodyPr/>
          <a:lstStyle/>
          <a:p>
            <a:r>
              <a:t>Quince's viral first buyers don't come back. We show how to win their second purchase inside the same budget.</a:t>
            </a:r>
          </a:p>
        </p:txBody>
      </p:sp>
      <p:sp>
        <p:nvSpPr>
          <p:cNvPr id="4" name="Slide Number Placeholder 3">
            <a:extLst>
              <a:ext uri="{FF2B5EF4-FFF2-40B4-BE49-F238E27FC236}">
                <a16:creationId xmlns:a16="http://schemas.microsoft.com/office/drawing/2014/main" id="{86C9E500-F2F2-A58F-F946-1C0342A30FF9}"/>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575322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9.png"/><Relationship Id="rId5"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21.png"/><Relationship Id="rId5"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24.png"/><Relationship Id="rId5"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image" Target="../media/image33.png"/><Relationship Id="rId9" Type="http://schemas.openxmlformats.org/officeDocument/2006/relationships/image" Target="../media/image34.png"/><Relationship Id="rId10" Type="http://schemas.openxmlformats.org/officeDocument/2006/relationships/image" Target="../media/image35.png"/><Relationship Id="rId11"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31.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8.png"/><Relationship Id="rId8" Type="http://schemas.openxmlformats.org/officeDocument/2006/relationships/image" Target="../media/image39.png"/><Relationship Id="rId9" Type="http://schemas.openxmlformats.org/officeDocument/2006/relationships/image" Target="../media/image40.png"/><Relationship Id="rId10" Type="http://schemas.openxmlformats.org/officeDocument/2006/relationships/image" Target="../media/image41.png"/><Relationship Id="rId11" Type="http://schemas.openxmlformats.org/officeDocument/2006/relationships/image" Target="../media/image42.png"/><Relationship Id="rId12" Type="http://schemas.openxmlformats.org/officeDocument/2006/relationships/image" Target="../media/image43.png"/><Relationship Id="rId13"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png"/><Relationship Id="rId4" Type="http://schemas.openxmlformats.org/officeDocument/2006/relationships/hyperlink" Target="https://experienceleague.adobe.com/en/docs/analytics-platform/using/cja-components/audiences/audiences-overview" TargetMode="External"/><Relationship Id="rId5" Type="http://schemas.openxmlformats.org/officeDocument/2006/relationships/hyperlink" Target="https://www.michiganpublic.org/2026-05-22/shein-buys-everlane-which-sold-millennials-the-dream-of-ethical-affordable-luxury" TargetMode="External"/><Relationship Id="rId6" Type="http://schemas.openxmlformats.org/officeDocument/2006/relationships/hyperlink" Target="https://doi.org/10.1287/mksc.2018.1135" TargetMode="External"/><Relationship Id="rId7" Type="http://schemas.openxmlformats.org/officeDocument/2006/relationships/hyperlink" Target="https://doi.org/10.3982/ECTA12423" TargetMode="External"/><Relationship Id="rId8" Type="http://schemas.openxmlformats.org/officeDocument/2006/relationships/hyperlink" Target="https://www.adjust.com/blog/att-opt-in-rates-2025" TargetMode="External"/><Relationship Id="rId9" Type="http://schemas.openxmlformats.org/officeDocument/2006/relationships/hyperlink" Target="https://www.appsflyer.com/company/newsroom/pr/post-att-growth-2/" TargetMode="External"/><Relationship Id="rId10" Type="http://schemas.openxmlformats.org/officeDocument/2006/relationships/hyperlink" Target="https://www.adweek.com/?p=1954104" TargetMode="External"/><Relationship Id="rId11" Type="http://schemas.openxmlformats.org/officeDocument/2006/relationships/hyperlink" Target="https://www.jonloomer.com/advantage-plus-campaign-setup-targeting/" TargetMode="External"/><Relationship Id="rId12" Type="http://schemas.openxmlformats.org/officeDocument/2006/relationships/hyperlink" Target="https://www.theregister.com/2026/01/23/jv_announces_tiktok_us_acquisition/" TargetMode="External"/><Relationship Id="rId13" Type="http://schemas.openxmlformats.org/officeDocument/2006/relationships/hyperlink" Target="https://www.sca.isr.umich.edu/" TargetMode="External"/><Relationship Id="rId14" Type="http://schemas.openxmlformats.org/officeDocument/2006/relationships/hyperlink" Target="https://www.ecotextile.com/?p=63440" TargetMode="External"/><Relationship Id="rId15" Type="http://schemas.openxmlformats.org/officeDocument/2006/relationships/hyperlink" Target="https://ppc.land/amazon-advertising-gains-26-to-19-8-billion-as-sports-inventory-sells-out/" TargetMode="External"/><Relationship Id="rId16" Type="http://schemas.openxmlformats.org/officeDocument/2006/relationships/hyperlink" Target="https://www.nbcnews.com/business/business-news/shein-temu-see-us-demand-plunge-loophole-cheap-goods-closes-rcna211130" TargetMode="External"/><Relationship Id="rId17" Type="http://schemas.openxmlformats.org/officeDocument/2006/relationships/hyperlink" Target="https://news.bloomberglaw.com/mergers-and-acquisitions/e-commerce-giant-shein-buys-apparel-brand-everlane-reports-say" TargetMode="External"/><Relationship Id="rId18" Type="http://schemas.openxmlformats.org/officeDocument/2006/relationships/hyperlink" Target="https://fashionunited.com/news/business/uniqlos-global-expansion-drives-strong-financial-results-for-fast-retailing/2025100968631" TargetMode="External"/><Relationship Id="rId19" Type="http://schemas.openxmlformats.org/officeDocument/2006/relationships/hyperlink" Target="https://www.businesswire.com/news/home/20250814893486/en" TargetMode="External"/><Relationship Id="rId20" Type="http://schemas.openxmlformats.org/officeDocument/2006/relationships/hyperlink" Target="https://www.thefashionlaw.com/quince-beats-williams-sonoma-false-advertising-claims-over-product-comparisons/" TargetMode="External"/><Relationship Id="rId21" Type="http://schemas.openxmlformats.org/officeDocument/2006/relationships/hyperlink" Target="https://fred.stlouisfed.org/series/ECOMPCTSA" TargetMode="External"/><Relationship Id="rId22" Type="http://schemas.openxmlformats.org/officeDocument/2006/relationships/hyperlink" Target="https://www.mckinsey.com/business-functions/growth-marketing-and-sales/our-insights/the-value-of-getting-personalization-right-or-wrong-is-multiply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Quince/7efe80ae-a049-50c2-9886-98bf7ca3a04a/scratchpad/assets/quince_white.png"/>
          <p:cNvPicPr>
            <a:picLocks noChangeAspect="1"/>
          </p:cNvPicPr>
          <p:nvPr/>
        </p:nvPicPr>
        <p:blipFill>
          <a:blip r:embed="rId4"/>
          <a:stretch>
            <a:fillRect/>
          </a:stretch>
        </p:blipFill>
        <p:spPr>
          <a:xfrm>
            <a:off x="548640" y="572434"/>
            <a:ext cx="1188720" cy="354749"/>
          </a:xfrm>
          <a:prstGeom prst="rect">
            <a:avLst/>
          </a:prstGeom>
        </p:spPr>
      </p:pic>
      <p:sp>
        <p:nvSpPr>
          <p:cNvPr id="3" name="Text 0"/>
          <p:cNvSpPr txBox="1"/>
          <p:nvPr/>
        </p:nvSpPr>
        <p:spPr>
          <a:xfrm>
            <a:off x="9875520" y="566928"/>
            <a:ext cx="1828800" cy="365760"/>
          </a:xfrm>
          <a:prstGeom prst="rect">
            <a:avLst/>
          </a:prstGeom>
          <a:noFill/>
          <a:ln/>
        </p:spPr>
        <p:txBody>
          <a:bodyPr wrap="square" lIns="0" tIns="0" rIns="0" bIns="0" rtlCol="0" anchor="ctr"/>
          <a:lstStyle/>
          <a:p>
            <a:pPr marL="0" indent="0" algn="r">
              <a:buNone/>
            </a:pPr>
            <a:r>
              <a:rPr lang="en-US" sz="1300" b="1" dirty="0">
                <a:solidFill>
                  <a:srgbClr val="FFFFFF"/>
                </a:solidFill>
                <a:latin typeface="Inter" pitchFamily="34" charset="0"/>
                <a:ea typeface="Inter" pitchFamily="34" charset="-122"/>
                <a:cs typeface="Inter" pitchFamily="34" charset="-120"/>
              </a:rPr>
              <a:t>Team G27</a:t>
            </a:r>
            <a:endParaRPr lang="en-US" sz="1300" dirty="0"/>
          </a:p>
        </p:txBody>
      </p:sp>
      <p:sp>
        <p:nvSpPr>
          <p:cNvPr id="4" name="Text 1"/>
          <p:cNvSpPr txBox="1"/>
          <p:nvPr/>
        </p:nvSpPr>
        <p:spPr>
          <a:xfrm>
            <a:off x="640080" y="2331720"/>
            <a:ext cx="10515600" cy="1005840"/>
          </a:xfrm>
          <a:prstGeom prst="rect">
            <a:avLst/>
          </a:prstGeom>
          <a:noFill/>
          <a:ln/>
        </p:spPr>
        <p:txBody>
          <a:bodyPr wrap="square" lIns="0" tIns="0" rIns="0" bIns="0" rtlCol="0" anchor="ctr"/>
          <a:lstStyle/>
          <a:p>
            <a:pPr marL="0" indent="0">
              <a:buNone/>
            </a:pPr>
            <a:r>
              <a:rPr lang="en-US" sz="5000" b="1" dirty="0">
                <a:solidFill>
                  <a:srgbClr val="FFFFFF"/>
                </a:solidFill>
                <a:latin typeface="Inter" pitchFamily="34" charset="0"/>
                <a:ea typeface="Inter" pitchFamily="34" charset="-122"/>
                <a:cs typeface="Inter" pitchFamily="34" charset="-120"/>
              </a:rPr>
              <a:t>Own the Second Purchase</a:t>
            </a:r>
            <a:endParaRPr lang="en-US" sz="5000" dirty="0"/>
          </a:p>
        </p:txBody>
      </p:sp>
      <p:sp>
        <p:nvSpPr>
          <p:cNvPr id="5" name="Text 2"/>
          <p:cNvSpPr txBox="1"/>
          <p:nvPr/>
        </p:nvSpPr>
        <p:spPr>
          <a:xfrm>
            <a:off x="640080" y="3429000"/>
            <a:ext cx="10058400" cy="868680"/>
          </a:xfrm>
          <a:prstGeom prst="rect">
            <a:avLst/>
          </a:prstGeom>
          <a:noFill/>
          <a:ln/>
        </p:spPr>
        <p:txBody>
          <a:bodyPr wrap="square" lIns="0" tIns="0" rIns="0" bIns="0" rtlCol="0" anchor="t"/>
          <a:lstStyle/>
          <a:p>
            <a:pPr marL="0" indent="0">
              <a:buNone/>
            </a:pPr>
            <a:r>
              <a:rPr lang="en-US" sz="2000" dirty="0">
                <a:solidFill>
                  <a:srgbClr val="C7D7F5"/>
                </a:solidFill>
                <a:latin typeface="Inter" pitchFamily="34" charset="0"/>
                <a:ea typeface="Inter" pitchFamily="34" charset="-122"/>
                <a:cs typeface="Inter" pitchFamily="34" charset="-120"/>
              </a:rPr>
              <a:t>How we lift 90-day repeat from 24% to ~31%, inside the same $120M and with no discounts</a:t>
            </a:r>
            <a:endParaRPr lang="en-US" sz="2000" dirty="0"/>
          </a:p>
        </p:txBody>
      </p:sp>
      <p:sp>
        <p:nvSpPr>
          <p:cNvPr id="6" name="Text 3"/>
          <p:cNvSpPr txBox="1"/>
          <p:nvPr/>
        </p:nvSpPr>
        <p:spPr>
          <a:xfrm>
            <a:off x="640080" y="5806440"/>
            <a:ext cx="8229600" cy="274320"/>
          </a:xfrm>
          <a:prstGeom prst="rect">
            <a:avLst/>
          </a:prstGeom>
          <a:noFill/>
          <a:ln/>
        </p:spPr>
        <p:txBody>
          <a:bodyPr wrap="square" lIns="0" tIns="0" rIns="0" bIns="0" rtlCol="0" anchor="t"/>
          <a:lstStyle/>
          <a:p>
            <a:pPr marL="0" indent="0">
              <a:buNone/>
            </a:pPr>
            <a:r>
              <a:rPr lang="en-US" sz="1100" dirty="0">
                <a:solidFill>
                  <a:srgbClr val="AFC4EE"/>
                </a:solidFill>
                <a:latin typeface="Inter" pitchFamily="34" charset="0"/>
                <a:ea typeface="Inter" pitchFamily="34" charset="-122"/>
                <a:cs typeface="Inter" pitchFamily="34" charset="-120"/>
              </a:rPr>
              <a:t>Our retargeting and lifecycle plan, built on what we found in Adobe Customer Journey Analytics</a:t>
            </a:r>
            <a:endParaRPr lang="en-US" sz="1100" dirty="0"/>
          </a:p>
        </p:txBody>
      </p:sp>
      <p:sp>
        <p:nvSpPr>
          <p:cNvPr id="7" name="Text 4"/>
          <p:cNvSpPr txBox="1"/>
          <p:nvPr/>
        </p:nvSpPr>
        <p:spPr>
          <a:xfrm>
            <a:off x="640080" y="6108192"/>
            <a:ext cx="8229600" cy="274320"/>
          </a:xfrm>
          <a:prstGeom prst="rect">
            <a:avLst/>
          </a:prstGeom>
          <a:noFill/>
          <a:ln/>
        </p:spPr>
        <p:txBody>
          <a:bodyPr wrap="square" lIns="0" tIns="0" rIns="0" bIns="0" rtlCol="0" anchor="t"/>
          <a:lstStyle/>
          <a:p>
            <a:pPr marL="0" indent="0">
              <a:buNone/>
            </a:pPr>
            <a:r>
              <a:rPr lang="en-US" sz="1100" dirty="0">
                <a:solidFill>
                  <a:srgbClr val="AFC4EE"/>
                </a:solidFill>
                <a:latin typeface="Inter" pitchFamily="34" charset="0"/>
                <a:ea typeface="Inter" pitchFamily="34" charset="-122"/>
                <a:cs typeface="Inter" pitchFamily="34" charset="-120"/>
              </a:rPr>
              <a:t>Case Competition World Cup  ·  Graduate Track  ·  October 2026</a:t>
            </a:r>
            <a:endParaRPr lang="en-US" sz="1100" dirty="0"/>
          </a:p>
        </p:txBody>
      </p:sp>
      <p:sp>
        <p:nvSpPr>
          <p:cNvPr id="8" name="Rectangle 7"/>
          <p:cNvSpPr/>
          <p:nvPr/>
        </p:nvSpPr>
        <p:spPr>
          <a:xfrm>
            <a:off x="645429" y="3264684"/>
            <a:ext cx="7044421" cy="45719"/>
          </a:xfrm>
          <a:prstGeom prst="rect">
            <a:avLst/>
          </a:prstGeom>
          <a:gradFill>
            <a:gsLst>
              <a:gs pos="100000">
                <a:srgbClr val="1C4ED8"/>
              </a:gs>
              <a:gs pos="20000">
                <a:srgbClr val="00B0F0"/>
              </a:gs>
              <a:gs pos="0">
                <a:srgbClr val="00B0F0">
                  <a:alpha val="0"/>
                </a:srgbClr>
              </a:gs>
            </a:gsLst>
            <a:lin ang="108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10896"/>
            <a:ext cx="9326880" cy="841248"/>
          </a:xfrm>
          <a:prstGeom prst="rect">
            <a:avLst/>
          </a:prstGeom>
          <a:noFill/>
          <a:ln/>
        </p:spPr>
        <p:txBody>
          <a:bodyPr wrap="square" lIns="0" tIns="0" rIns="0" bIns="0" rtlCol="0" anchor="ctr"/>
          <a:lstStyle/>
          <a:p>
            <a:pPr marL="0" indent="0">
              <a:buNone/>
            </a:pPr>
            <a:r>
              <a:rPr lang="en-US" sz="2400" b="1" dirty="0">
                <a:solidFill>
                  <a:srgbClr val="0A1F44"/>
                </a:solidFill>
                <a:latin typeface="Inter" pitchFamily="34" charset="0"/>
                <a:ea typeface="Inter" pitchFamily="34" charset="-122"/>
                <a:cs typeface="Inter" pitchFamily="34" charset="-120"/>
              </a:rPr>
              <a:t>We win the second purchase and lift repeat 24% → ~31%</a:t>
            </a:r>
            <a:endParaRPr lang="en-US" sz="2400" dirty="0"/>
          </a:p>
        </p:txBody>
      </p:sp>
      <p:pic>
        <p:nvPicPr>
          <p:cNvPr id="3" name="Image 0" descr="/tmp/claude-0/-home-user-Quince/7efe80ae-a049-50c2-9886-98bf7ca3a04a/scratchpad/assets/quince.png"/>
          <p:cNvPicPr>
            <a:picLocks noChangeAspect="1"/>
          </p:cNvPicPr>
          <p:nvPr/>
        </p:nvPicPr>
        <p:blipFill>
          <a:blip r:embed="rId3"/>
          <a:stretch>
            <a:fillRect/>
          </a:stretch>
        </p:blipFill>
        <p:spPr>
          <a:xfrm>
            <a:off x="10236708" y="615544"/>
            <a:ext cx="777240" cy="231951"/>
          </a:xfrm>
          <a:prstGeom prst="rect">
            <a:avLst/>
          </a:prstGeom>
        </p:spPr>
      </p:pic>
      <p:sp>
        <p:nvSpPr>
          <p:cNvPr id="4" name="Shape 1"/>
          <p:cNvSpPr/>
          <p:nvPr/>
        </p:nvSpPr>
        <p:spPr>
          <a:xfrm>
            <a:off x="11155680" y="603504"/>
            <a:ext cx="530352" cy="256032"/>
          </a:xfrm>
          <a:prstGeom prst="roundRect">
            <a:avLst>
              <a:gd name="adj" fmla="val 50000"/>
            </a:avLst>
          </a:prstGeom>
          <a:solidFill>
            <a:srgbClr val="0A1F44"/>
          </a:solidFill>
          <a:ln w="6350">
            <a:solidFill>
              <a:srgbClr val="0A1F44"/>
            </a:solidFill>
            <a:prstDash val="solid"/>
          </a:ln>
        </p:spPr>
        <p:txBody>
          <a:bodyPr/>
          <a:lstStyle/>
          <a:p>
            <a:endParaRPr lang="en-US"/>
          </a:p>
        </p:txBody>
      </p:sp>
      <p:sp>
        <p:nvSpPr>
          <p:cNvPr id="5" name="Text 2"/>
          <p:cNvSpPr txBox="1"/>
          <p:nvPr/>
        </p:nvSpPr>
        <p:spPr>
          <a:xfrm>
            <a:off x="11155680" y="603504"/>
            <a:ext cx="53035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G27</a:t>
            </a:r>
            <a:endParaRPr lang="en-US" sz="950" dirty="0"/>
          </a:p>
        </p:txBody>
      </p:sp>
      <p:sp>
        <p:nvSpPr>
          <p:cNvPr id="6" name="Shape 3"/>
          <p:cNvSpPr/>
          <p:nvPr/>
        </p:nvSpPr>
        <p:spPr>
          <a:xfrm>
            <a:off x="502920" y="6400800"/>
            <a:ext cx="11183112" cy="0"/>
          </a:xfrm>
          <a:prstGeom prst="line">
            <a:avLst/>
          </a:prstGeom>
          <a:noFill/>
          <a:ln w="9525">
            <a:solidFill>
              <a:srgbClr val="E2E8F0"/>
            </a:solidFill>
            <a:prstDash val="solid"/>
          </a:ln>
        </p:spPr>
        <p:txBody>
          <a:bodyPr/>
          <a:lstStyle/>
          <a:p>
            <a:endParaRPr lang="en-US"/>
          </a:p>
        </p:txBody>
      </p:sp>
      <p:sp>
        <p:nvSpPr>
          <p:cNvPr id="7" name="Text 4"/>
          <p:cNvSpPr txBox="1"/>
          <p:nvPr/>
        </p:nvSpPr>
        <p:spPr>
          <a:xfrm>
            <a:off x="502920" y="6464808"/>
            <a:ext cx="9418320" cy="256032"/>
          </a:xfrm>
          <a:prstGeom prst="rect">
            <a:avLst/>
          </a:prstGeom>
          <a:noFill/>
          <a:ln/>
        </p:spPr>
        <p:txBody>
          <a:bodyPr wrap="square" lIns="0" tIns="0" rIns="0" bIns="0" rtlCol="0" anchor="ctr"/>
          <a:lstStyle/>
          <a:p>
            <a:r>
              <a:rPr lang="en-US" sz="800" dirty="0">
                <a:solidFill>
                  <a:srgbClr val="64748B"/>
                </a:solidFill>
                <a:latin typeface="Inter" pitchFamily="34" charset="0"/>
                <a:ea typeface="Inter" pitchFamily="34" charset="-122"/>
                <a:cs typeface="Inter" pitchFamily="34" charset="-120"/>
              </a:rPr>
              <a:t>Source: case sections 1, 3, Exhibits A, G, I, J; Adobe CJA A2, A3b, A5, A6, Cohort Table (appendix 9–13). The forecast is our base case (appendix 22); budget steps in appendix 21. Strict new-customer CAC ≈ −8% (appendix 26).</a:t>
            </a:r>
            <a:endParaRPr lang="en-US" sz="800" dirty="0"/>
          </a:p>
        </p:txBody>
      </p:sp>
      <p:sp>
        <p:nvSpPr>
          <p:cNvPr id="8" name="Text 5"/>
          <p:cNvSpPr txBox="1"/>
          <p:nvPr/>
        </p:nvSpPr>
        <p:spPr>
          <a:xfrm>
            <a:off x="9966960" y="6464808"/>
            <a:ext cx="1719072" cy="256032"/>
          </a:xfrm>
          <a:prstGeom prst="rect">
            <a:avLst/>
          </a:prstGeom>
          <a:noFill/>
          <a:ln/>
        </p:spPr>
        <p:txBody>
          <a:bodyPr wrap="square" lIns="0" tIns="0" rIns="0" bIns="0" rtlCol="0" anchor="ctr"/>
          <a:lstStyle/>
          <a:p>
            <a:pPr marL="0" indent="0" algn="r">
              <a:buNone/>
            </a:pPr>
            <a:r>
              <a:rPr lang="en-US" sz="800" dirty="0">
                <a:solidFill>
                  <a:srgbClr val="64748B"/>
                </a:solidFill>
                <a:latin typeface="Inter" pitchFamily="34" charset="0"/>
                <a:ea typeface="Inter" pitchFamily="34" charset="-122"/>
                <a:cs typeface="Inter" pitchFamily="34" charset="-120"/>
              </a:rPr>
              <a:t>Team G27  ·  2</a:t>
            </a:r>
            <a:endParaRPr lang="en-US" sz="800" dirty="0"/>
          </a:p>
        </p:txBody>
      </p:sp>
      <p:sp>
        <p:nvSpPr>
          <p:cNvPr id="9" name="Rounded Rectangle 8"/>
          <p:cNvSpPr/>
          <p:nvPr/>
        </p:nvSpPr>
        <p:spPr>
          <a:xfrm>
            <a:off x="502920" y="1219199"/>
            <a:ext cx="11183620" cy="524427"/>
          </a:xfrm>
          <a:prstGeom prst="roundRect">
            <a:avLst>
              <a:gd name="adj" fmla="val 20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0720" y="1296746"/>
            <a:ext cx="10828020" cy="369332"/>
          </a:xfrm>
          <a:prstGeom prst="rect">
            <a:avLst/>
          </a:prstGeom>
          <a:noFill/>
        </p:spPr>
        <p:txBody>
          <a:bodyPr wrap="square" lIns="0" tIns="0" rIns="0" bIns="0" anchor="ctr">
            <a:spAutoFit/>
          </a:bodyPr>
          <a:lstStyle/>
          <a:p>
            <a:r>
              <a:rPr lang="en-GB" sz="1200" b="1" dirty="0">
                <a:solidFill>
                  <a:srgbClr val="002060"/>
                </a:solidFill>
              </a:rPr>
              <a:t>Situation  </a:t>
            </a:r>
            <a:r>
              <a:rPr lang="en-GB" sz="1200" dirty="0">
                <a:solidFill>
                  <a:srgbClr val="002060"/>
                </a:solidFill>
              </a:rPr>
              <a:t>Viral TikTok and Instagram moments brought Quince a huge wave of first buyers.   </a:t>
            </a:r>
            <a:r>
              <a:rPr lang="en-GB" sz="1200" b="1" dirty="0">
                <a:solidFill>
                  <a:srgbClr val="DC2626"/>
                </a:solidFill>
              </a:rPr>
              <a:t>Complication  </a:t>
            </a:r>
            <a:r>
              <a:rPr lang="en-GB" sz="1200" dirty="0">
                <a:solidFill>
                  <a:srgbClr val="002060"/>
                </a:solidFill>
              </a:rPr>
              <a:t>But CAC is up 29% to $62, only 24% buy again within 90 days (peers: 30–35%), and 60% of the fixed $120M goes to renting reach on social platforms.</a:t>
            </a:r>
          </a:p>
        </p:txBody>
      </p:sp>
      <p:sp>
        <p:nvSpPr>
          <p:cNvPr id="11" name="Rounded Rectangle 10"/>
          <p:cNvSpPr/>
          <p:nvPr/>
        </p:nvSpPr>
        <p:spPr>
          <a:xfrm>
            <a:off x="502920" y="1871641"/>
            <a:ext cx="11183620" cy="431800"/>
          </a:xfrm>
          <a:prstGeom prst="roundRect">
            <a:avLst>
              <a:gd name="adj" fmla="val 17647"/>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02920" y="1871641"/>
            <a:ext cx="45719" cy="431800"/>
          </a:xfrm>
          <a:prstGeom prst="rect">
            <a:avLst/>
          </a:prstGeom>
          <a:solidFill>
            <a:srgbClr val="1C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1995207"/>
            <a:ext cx="10802620" cy="184666"/>
          </a:xfrm>
          <a:prstGeom prst="rect">
            <a:avLst/>
          </a:prstGeom>
          <a:noFill/>
        </p:spPr>
        <p:txBody>
          <a:bodyPr wrap="square" lIns="0" tIns="0" rIns="0" bIns="0" anchor="ctr">
            <a:spAutoFit/>
          </a:bodyPr>
          <a:lstStyle/>
          <a:p>
            <a:r>
              <a:rPr lang="en-GB" sz="1200" b="1" dirty="0">
                <a:solidFill>
                  <a:srgbClr val="1D4ED8"/>
                </a:solidFill>
              </a:rPr>
              <a:t>Our answer: we blend all three options. </a:t>
            </a:r>
            <a:r>
              <a:rPr lang="en-GB" sz="1200" b="1" dirty="0">
                <a:solidFill>
                  <a:srgbClr val="0A1F44"/>
                </a:solidFill>
              </a:rPr>
              <a:t>Retargeting gets us moving, owned channels bring buyers back, CJA holdouts decide every dollar</a:t>
            </a:r>
          </a:p>
        </p:txBody>
      </p:sp>
      <p:sp>
        <p:nvSpPr>
          <p:cNvPr id="14" name="Rounded Rectangle 13"/>
          <p:cNvSpPr/>
          <p:nvPr/>
        </p:nvSpPr>
        <p:spPr>
          <a:xfrm>
            <a:off x="502920" y="2405041"/>
            <a:ext cx="3609340" cy="2438400"/>
          </a:xfrm>
          <a:prstGeom prst="roundRect">
            <a:avLst>
              <a:gd name="adj" fmla="val 3125"/>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502920" y="2405041"/>
            <a:ext cx="3609340" cy="381000"/>
          </a:xfrm>
          <a:prstGeom prst="roundRect">
            <a:avLst>
              <a:gd name="adj" fmla="val 20000"/>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2608241"/>
            <a:ext cx="3609340" cy="17780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0720" y="2503208"/>
            <a:ext cx="3253740" cy="184666"/>
          </a:xfrm>
          <a:prstGeom prst="rect">
            <a:avLst/>
          </a:prstGeom>
          <a:noFill/>
        </p:spPr>
        <p:txBody>
          <a:bodyPr wrap="square" lIns="0" tIns="0" rIns="0" bIns="0" anchor="ctr">
            <a:spAutoFit/>
          </a:bodyPr>
          <a:lstStyle/>
          <a:p>
            <a:pPr algn="l"/>
            <a:r>
              <a:rPr sz="1200" b="1" dirty="0">
                <a:solidFill>
                  <a:srgbClr val="93B4F5"/>
                </a:solidFill>
                <a:latin typeface="Inter"/>
              </a:rPr>
              <a:t>Lever 1  </a:t>
            </a:r>
            <a:r>
              <a:rPr sz="1200" b="1" dirty="0">
                <a:solidFill>
                  <a:srgbClr val="FFFFFF"/>
                </a:solidFill>
                <a:latin typeface="Inter"/>
              </a:rPr>
              <a:t>Capture every buyer</a:t>
            </a:r>
          </a:p>
        </p:txBody>
      </p:sp>
      <p:sp>
        <p:nvSpPr>
          <p:cNvPr id="18" name="TextBox 17"/>
          <p:cNvSpPr txBox="1"/>
          <p:nvPr/>
        </p:nvSpPr>
        <p:spPr>
          <a:xfrm>
            <a:off x="680720" y="2887641"/>
            <a:ext cx="3253740" cy="536044"/>
          </a:xfrm>
          <a:prstGeom prst="rect">
            <a:avLst/>
          </a:prstGeom>
          <a:noFill/>
        </p:spPr>
        <p:txBody>
          <a:bodyPr wrap="square" lIns="0" tIns="0" rIns="0" bIns="0" anchor="t">
            <a:spAutoFit/>
          </a:bodyPr>
          <a:lstStyle/>
          <a:p>
            <a:r>
              <a:rPr lang="en-GB" sz="1200" b="1" dirty="0">
                <a:solidFill>
                  <a:srgbClr val="1D4ED8"/>
                </a:solidFill>
              </a:rPr>
              <a:t>Quince Passport</a:t>
            </a:r>
          </a:p>
          <a:p>
            <a:pPr>
              <a:spcBef>
                <a:spcPts val="100"/>
              </a:spcBef>
            </a:pPr>
            <a:r>
              <a:rPr lang="en-GB" sz="1100" dirty="0">
                <a:solidFill>
                  <a:srgbClr val="0F172A"/>
                </a:solidFill>
              </a:rPr>
              <a:t>A box card registers the piece; SMS at checkout and app tracking let us reach everyone</a:t>
            </a:r>
          </a:p>
        </p:txBody>
      </p:sp>
      <p:cxnSp>
        <p:nvCxnSpPr>
          <p:cNvPr id="19" name="Connector 18"/>
          <p:cNvCxnSpPr/>
          <p:nvPr/>
        </p:nvCxnSpPr>
        <p:spPr>
          <a:xfrm>
            <a:off x="680720" y="3561039"/>
            <a:ext cx="325374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80720" y="3637239"/>
            <a:ext cx="3253740" cy="482600"/>
          </a:xfrm>
          <a:prstGeom prst="rect">
            <a:avLst/>
          </a:prstGeom>
          <a:noFill/>
        </p:spPr>
        <p:txBody>
          <a:bodyPr wrap="square" lIns="0" tIns="0" rIns="0" bIns="0" anchor="ctr">
            <a:spAutoFit/>
          </a:bodyPr>
          <a:lstStyle/>
          <a:p>
            <a:pPr algn="l"/>
            <a:r>
              <a:rPr sz="2600" b="1" dirty="0">
                <a:solidFill>
                  <a:srgbClr val="0A1F44"/>
                </a:solidFill>
                <a:latin typeface="Inter"/>
              </a:rPr>
              <a:t>66%</a:t>
            </a:r>
          </a:p>
        </p:txBody>
      </p:sp>
      <p:sp>
        <p:nvSpPr>
          <p:cNvPr id="21" name="TextBox 20"/>
          <p:cNvSpPr txBox="1"/>
          <p:nvPr/>
        </p:nvSpPr>
        <p:spPr>
          <a:xfrm>
            <a:off x="680720" y="4145239"/>
            <a:ext cx="3253740" cy="338554"/>
          </a:xfrm>
          <a:prstGeom prst="rect">
            <a:avLst/>
          </a:prstGeom>
          <a:noFill/>
        </p:spPr>
        <p:txBody>
          <a:bodyPr wrap="square" lIns="0" tIns="0" rIns="0" bIns="0" anchor="t">
            <a:spAutoFit/>
          </a:bodyPr>
          <a:lstStyle/>
          <a:p>
            <a:r>
              <a:rPr lang="en-GB" sz="1100" dirty="0">
                <a:solidFill>
                  <a:srgbClr val="64748B"/>
                </a:solidFill>
              </a:rPr>
              <a:t>of repeat buyers come from the 24.5% who engage; app users still come back at 21.5% after order one</a:t>
            </a:r>
          </a:p>
        </p:txBody>
      </p:sp>
      <p:sp>
        <p:nvSpPr>
          <p:cNvPr id="22" name="Rounded Rectangle 21"/>
          <p:cNvSpPr/>
          <p:nvPr/>
        </p:nvSpPr>
        <p:spPr>
          <a:xfrm>
            <a:off x="4290060" y="2405041"/>
            <a:ext cx="3609340" cy="2438400"/>
          </a:xfrm>
          <a:prstGeom prst="roundRect">
            <a:avLst>
              <a:gd name="adj" fmla="val 3125"/>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290060" y="2405041"/>
            <a:ext cx="3609340" cy="381000"/>
          </a:xfrm>
          <a:prstGeom prst="roundRect">
            <a:avLst>
              <a:gd name="adj" fmla="val 20000"/>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290060" y="2608241"/>
            <a:ext cx="3609340" cy="17780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467860" y="2503208"/>
            <a:ext cx="3253740" cy="184666"/>
          </a:xfrm>
          <a:prstGeom prst="rect">
            <a:avLst/>
          </a:prstGeom>
          <a:noFill/>
        </p:spPr>
        <p:txBody>
          <a:bodyPr wrap="square" lIns="0" tIns="0" rIns="0" bIns="0" anchor="ctr">
            <a:spAutoFit/>
          </a:bodyPr>
          <a:lstStyle/>
          <a:p>
            <a:pPr algn="l"/>
            <a:r>
              <a:rPr sz="1200" b="1" dirty="0">
                <a:solidFill>
                  <a:srgbClr val="93B4F5"/>
                </a:solidFill>
                <a:latin typeface="Inter"/>
              </a:rPr>
              <a:t>Lever 2  </a:t>
            </a:r>
            <a:r>
              <a:rPr sz="1200" b="1" dirty="0">
                <a:solidFill>
                  <a:srgbClr val="FFFFFF"/>
                </a:solidFill>
                <a:latin typeface="Inter"/>
              </a:rPr>
              <a:t>Win the Golden Month</a:t>
            </a:r>
          </a:p>
        </p:txBody>
      </p:sp>
      <p:sp>
        <p:nvSpPr>
          <p:cNvPr id="26" name="TextBox 25"/>
          <p:cNvSpPr txBox="1"/>
          <p:nvPr/>
        </p:nvSpPr>
        <p:spPr>
          <a:xfrm>
            <a:off x="4467860" y="2887641"/>
            <a:ext cx="3253740" cy="536044"/>
          </a:xfrm>
          <a:prstGeom prst="rect">
            <a:avLst/>
          </a:prstGeom>
          <a:noFill/>
        </p:spPr>
        <p:txBody>
          <a:bodyPr wrap="square" lIns="0" tIns="0" rIns="0" bIns="0" anchor="t">
            <a:spAutoFit/>
          </a:bodyPr>
          <a:lstStyle/>
          <a:p>
            <a:r>
              <a:rPr lang="en-GB" sz="1200" b="1" dirty="0">
                <a:solidFill>
                  <a:srgbClr val="1D4ED8"/>
                </a:solidFill>
              </a:rPr>
              <a:t>Material Journeys</a:t>
            </a:r>
          </a:p>
          <a:p>
            <a:pPr>
              <a:spcBef>
                <a:spcPts val="100"/>
              </a:spcBef>
            </a:pPr>
            <a:r>
              <a:rPr lang="en-GB" sz="1100" dirty="0">
                <a:solidFill>
                  <a:srgbClr val="0F172A"/>
                </a:solidFill>
              </a:rPr>
              <a:t>A care guide on arrival, then a second category by day 21, moving cashmere buyers into home</a:t>
            </a:r>
          </a:p>
        </p:txBody>
      </p:sp>
      <p:cxnSp>
        <p:nvCxnSpPr>
          <p:cNvPr id="27" name="Connector 26"/>
          <p:cNvCxnSpPr/>
          <p:nvPr/>
        </p:nvCxnSpPr>
        <p:spPr>
          <a:xfrm>
            <a:off x="4467860" y="3561039"/>
            <a:ext cx="325374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467860" y="3637239"/>
            <a:ext cx="3253740" cy="482600"/>
          </a:xfrm>
          <a:prstGeom prst="rect">
            <a:avLst/>
          </a:prstGeom>
          <a:noFill/>
        </p:spPr>
        <p:txBody>
          <a:bodyPr wrap="square" lIns="0" tIns="0" rIns="0" bIns="0" anchor="ctr">
            <a:spAutoFit/>
          </a:bodyPr>
          <a:lstStyle/>
          <a:p>
            <a:pPr algn="l"/>
            <a:r>
              <a:rPr sz="2600" b="1">
                <a:solidFill>
                  <a:srgbClr val="0A1F44"/>
                </a:solidFill>
                <a:latin typeface="Inter"/>
              </a:rPr>
              <a:t>2.7×</a:t>
            </a:r>
          </a:p>
        </p:txBody>
      </p:sp>
      <p:sp>
        <p:nvSpPr>
          <p:cNvPr id="29" name="TextBox 28"/>
          <p:cNvSpPr txBox="1"/>
          <p:nvPr/>
        </p:nvSpPr>
        <p:spPr>
          <a:xfrm>
            <a:off x="4467860" y="4145239"/>
            <a:ext cx="3253740" cy="635000"/>
          </a:xfrm>
          <a:prstGeom prst="rect">
            <a:avLst/>
          </a:prstGeom>
          <a:noFill/>
        </p:spPr>
        <p:txBody>
          <a:bodyPr wrap="square" lIns="0" tIns="0" rIns="0" bIns="0" anchor="t">
            <a:spAutoFit/>
          </a:bodyPr>
          <a:lstStyle/>
          <a:p>
            <a:pPr algn="l"/>
            <a:r>
              <a:rPr sz="1100" b="0" dirty="0">
                <a:solidFill>
                  <a:srgbClr val="64748B"/>
                </a:solidFill>
                <a:latin typeface="Inter"/>
              </a:rPr>
              <a:t>more week-2 repeat for engaged buyers than for all buyers (directional: ~48 buyers a week)</a:t>
            </a:r>
          </a:p>
        </p:txBody>
      </p:sp>
      <p:sp>
        <p:nvSpPr>
          <p:cNvPr id="30" name="Rounded Rectangle 29"/>
          <p:cNvSpPr/>
          <p:nvPr/>
        </p:nvSpPr>
        <p:spPr>
          <a:xfrm>
            <a:off x="8077200" y="2405041"/>
            <a:ext cx="3609340" cy="2438400"/>
          </a:xfrm>
          <a:prstGeom prst="roundRect">
            <a:avLst>
              <a:gd name="adj" fmla="val 3125"/>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8077200" y="2405041"/>
            <a:ext cx="3609340" cy="381000"/>
          </a:xfrm>
          <a:prstGeom prst="roundRect">
            <a:avLst>
              <a:gd name="adj" fmla="val 20000"/>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077200" y="2608241"/>
            <a:ext cx="3609340" cy="17780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55000" y="2503208"/>
            <a:ext cx="3253740" cy="184666"/>
          </a:xfrm>
          <a:prstGeom prst="rect">
            <a:avLst/>
          </a:prstGeom>
          <a:noFill/>
        </p:spPr>
        <p:txBody>
          <a:bodyPr wrap="square" lIns="0" tIns="0" rIns="0" bIns="0" anchor="ctr">
            <a:spAutoFit/>
          </a:bodyPr>
          <a:lstStyle/>
          <a:p>
            <a:pPr algn="l"/>
            <a:r>
              <a:rPr sz="1200" b="1" dirty="0">
                <a:solidFill>
                  <a:srgbClr val="93B4F5"/>
                </a:solidFill>
                <a:latin typeface="Inter"/>
              </a:rPr>
              <a:t>Lever 3  </a:t>
            </a:r>
            <a:r>
              <a:rPr sz="1200" b="1" dirty="0">
                <a:solidFill>
                  <a:srgbClr val="FFFFFF"/>
                </a:solidFill>
                <a:latin typeface="Inter"/>
              </a:rPr>
              <a:t>Never pay twice</a:t>
            </a:r>
          </a:p>
        </p:txBody>
      </p:sp>
      <p:sp>
        <p:nvSpPr>
          <p:cNvPr id="34" name="TextBox 33"/>
          <p:cNvSpPr txBox="1"/>
          <p:nvPr/>
        </p:nvSpPr>
        <p:spPr>
          <a:xfrm>
            <a:off x="8255000" y="2887641"/>
            <a:ext cx="3253740" cy="536044"/>
          </a:xfrm>
          <a:prstGeom prst="rect">
            <a:avLst/>
          </a:prstGeom>
          <a:noFill/>
        </p:spPr>
        <p:txBody>
          <a:bodyPr wrap="square" lIns="0" tIns="0" rIns="0" bIns="0" anchor="t">
            <a:spAutoFit/>
          </a:bodyPr>
          <a:lstStyle/>
          <a:p>
            <a:r>
              <a:rPr lang="en-GB" sz="1200" b="1" dirty="0">
                <a:solidFill>
                  <a:srgbClr val="1D4ED8"/>
                </a:solidFill>
              </a:rPr>
              <a:t>Never Pay Twice Engine</a:t>
            </a:r>
          </a:p>
          <a:p>
            <a:pPr>
              <a:spcBef>
                <a:spcPts val="100"/>
              </a:spcBef>
            </a:pPr>
            <a:r>
              <a:rPr lang="en-GB" sz="1100" dirty="0">
                <a:solidFill>
                  <a:srgbClr val="0F172A"/>
                </a:solidFill>
              </a:rPr>
              <a:t>Daily CJA lists keep buyers we can already reach out of paid retargeting</a:t>
            </a:r>
          </a:p>
        </p:txBody>
      </p:sp>
      <p:cxnSp>
        <p:nvCxnSpPr>
          <p:cNvPr id="35" name="Connector 34"/>
          <p:cNvCxnSpPr/>
          <p:nvPr/>
        </p:nvCxnSpPr>
        <p:spPr>
          <a:xfrm>
            <a:off x="8255000" y="3561039"/>
            <a:ext cx="325374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255000" y="3637239"/>
            <a:ext cx="3253740" cy="482600"/>
          </a:xfrm>
          <a:prstGeom prst="rect">
            <a:avLst/>
          </a:prstGeom>
          <a:noFill/>
        </p:spPr>
        <p:txBody>
          <a:bodyPr wrap="square" lIns="0" tIns="0" rIns="0" bIns="0" anchor="ctr">
            <a:spAutoFit/>
          </a:bodyPr>
          <a:lstStyle/>
          <a:p>
            <a:pPr algn="l"/>
            <a:r>
              <a:rPr sz="2600" b="1">
                <a:solidFill>
                  <a:srgbClr val="0A1F44"/>
                </a:solidFill>
                <a:latin typeface="Inter"/>
              </a:rPr>
              <a:t>23.0% vs 23.4%</a:t>
            </a:r>
          </a:p>
        </p:txBody>
      </p:sp>
      <p:sp>
        <p:nvSpPr>
          <p:cNvPr id="37" name="TextBox 36"/>
          <p:cNvSpPr txBox="1"/>
          <p:nvPr/>
        </p:nvSpPr>
        <p:spPr>
          <a:xfrm>
            <a:off x="8255000" y="4145239"/>
            <a:ext cx="3253740" cy="169277"/>
          </a:xfrm>
          <a:prstGeom prst="rect">
            <a:avLst/>
          </a:prstGeom>
          <a:noFill/>
        </p:spPr>
        <p:txBody>
          <a:bodyPr wrap="square" lIns="0" tIns="0" rIns="0" bIns="0" anchor="t">
            <a:spAutoFit/>
          </a:bodyPr>
          <a:lstStyle/>
          <a:p>
            <a:r>
              <a:rPr lang="en-GB" sz="1100" dirty="0">
                <a:solidFill>
                  <a:srgbClr val="64748B"/>
                </a:solidFill>
              </a:rPr>
              <a:t>retargeted vs organic repeat: the ads aren't buying loyalty</a:t>
            </a:r>
          </a:p>
        </p:txBody>
      </p:sp>
      <p:sp>
        <p:nvSpPr>
          <p:cNvPr id="38" name="Rounded Rectangle 37"/>
          <p:cNvSpPr/>
          <p:nvPr/>
        </p:nvSpPr>
        <p:spPr>
          <a:xfrm>
            <a:off x="502920" y="4970441"/>
            <a:ext cx="3609340" cy="1016000"/>
          </a:xfrm>
          <a:prstGeom prst="roundRect">
            <a:avLst>
              <a:gd name="adj" fmla="val 75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06120" y="5046641"/>
            <a:ext cx="3202940" cy="431800"/>
          </a:xfrm>
          <a:prstGeom prst="rect">
            <a:avLst/>
          </a:prstGeom>
          <a:noFill/>
        </p:spPr>
        <p:txBody>
          <a:bodyPr wrap="square" lIns="0" tIns="0" rIns="0" bIns="0" anchor="ctr">
            <a:spAutoFit/>
          </a:bodyPr>
          <a:lstStyle/>
          <a:p>
            <a:pPr algn="l"/>
            <a:r>
              <a:rPr sz="2300" b="1">
                <a:solidFill>
                  <a:srgbClr val="1D4ED8"/>
                </a:solidFill>
                <a:latin typeface="Inter"/>
              </a:rPr>
              <a:t>24% → ~31%</a:t>
            </a:r>
          </a:p>
        </p:txBody>
      </p:sp>
      <p:sp>
        <p:nvSpPr>
          <p:cNvPr id="40" name="TextBox 39"/>
          <p:cNvSpPr txBox="1"/>
          <p:nvPr/>
        </p:nvSpPr>
        <p:spPr>
          <a:xfrm>
            <a:off x="706120" y="5503841"/>
            <a:ext cx="3202940" cy="169277"/>
          </a:xfrm>
          <a:prstGeom prst="rect">
            <a:avLst/>
          </a:prstGeom>
          <a:noFill/>
        </p:spPr>
        <p:txBody>
          <a:bodyPr wrap="square" lIns="0" tIns="0" rIns="0" bIns="0" anchor="t">
            <a:spAutoFit/>
          </a:bodyPr>
          <a:lstStyle/>
          <a:p>
            <a:r>
              <a:rPr lang="en-GB" sz="1100" dirty="0">
                <a:solidFill>
                  <a:srgbClr val="0F172A"/>
                </a:solidFill>
              </a:rPr>
              <a:t>90-day repeat, range 29.5‑33% · target +6 pts</a:t>
            </a:r>
          </a:p>
        </p:txBody>
      </p:sp>
      <p:sp>
        <p:nvSpPr>
          <p:cNvPr id="41" name="Rounded Rectangle 40"/>
          <p:cNvSpPr/>
          <p:nvPr/>
        </p:nvSpPr>
        <p:spPr>
          <a:xfrm>
            <a:off x="4290060" y="4970441"/>
            <a:ext cx="3609340" cy="1016000"/>
          </a:xfrm>
          <a:prstGeom prst="roundRect">
            <a:avLst>
              <a:gd name="adj" fmla="val 75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493260" y="5046641"/>
            <a:ext cx="3202940" cy="431800"/>
          </a:xfrm>
          <a:prstGeom prst="rect">
            <a:avLst/>
          </a:prstGeom>
          <a:noFill/>
        </p:spPr>
        <p:txBody>
          <a:bodyPr wrap="square" lIns="0" tIns="0" rIns="0" bIns="0" anchor="ctr">
            <a:spAutoFit/>
          </a:bodyPr>
          <a:lstStyle/>
          <a:p>
            <a:pPr algn="l"/>
            <a:r>
              <a:rPr sz="2300" b="1">
                <a:solidFill>
                  <a:srgbClr val="1D4ED8"/>
                </a:solidFill>
                <a:latin typeface="Inter"/>
              </a:rPr>
              <a:t>−12 to −14%</a:t>
            </a:r>
          </a:p>
        </p:txBody>
      </p:sp>
      <p:sp>
        <p:nvSpPr>
          <p:cNvPr id="43" name="TextBox 42"/>
          <p:cNvSpPr txBox="1"/>
          <p:nvPr/>
        </p:nvSpPr>
        <p:spPr>
          <a:xfrm>
            <a:off x="4493260" y="5503841"/>
            <a:ext cx="3202940" cy="431800"/>
          </a:xfrm>
          <a:prstGeom prst="rect">
            <a:avLst/>
          </a:prstGeom>
          <a:noFill/>
        </p:spPr>
        <p:txBody>
          <a:bodyPr wrap="square" lIns="0" tIns="0" rIns="0" bIns="0" anchor="t">
            <a:spAutoFit/>
          </a:bodyPr>
          <a:lstStyle/>
          <a:p>
            <a:pPr algn="l"/>
            <a:r>
              <a:rPr sz="1100" b="0" dirty="0">
                <a:solidFill>
                  <a:srgbClr val="0F172A"/>
                </a:solidFill>
                <a:latin typeface="Inter"/>
              </a:rPr>
              <a:t>blended CAC on Exhibit J's definition, $62 → ~$54 · target −10%</a:t>
            </a:r>
          </a:p>
        </p:txBody>
      </p:sp>
      <p:sp>
        <p:nvSpPr>
          <p:cNvPr id="44" name="Rounded Rectangle 43"/>
          <p:cNvSpPr/>
          <p:nvPr/>
        </p:nvSpPr>
        <p:spPr>
          <a:xfrm>
            <a:off x="8077200" y="4970441"/>
            <a:ext cx="3609340" cy="1016000"/>
          </a:xfrm>
          <a:prstGeom prst="roundRect">
            <a:avLst>
              <a:gd name="adj" fmla="val 75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280400" y="5085569"/>
            <a:ext cx="3202940" cy="353943"/>
          </a:xfrm>
          <a:prstGeom prst="rect">
            <a:avLst/>
          </a:prstGeom>
          <a:noFill/>
        </p:spPr>
        <p:txBody>
          <a:bodyPr wrap="square" lIns="0" tIns="0" rIns="0" bIns="0" anchor="ctr">
            <a:spAutoFit/>
          </a:bodyPr>
          <a:lstStyle/>
          <a:p>
            <a:pPr algn="l"/>
            <a:r>
              <a:rPr sz="2300" b="1" dirty="0">
                <a:solidFill>
                  <a:srgbClr val="1D4ED8"/>
                </a:solidFill>
                <a:latin typeface="Inter"/>
              </a:rPr>
              <a:t>$9M </a:t>
            </a:r>
            <a:r>
              <a:rPr lang="en-US" sz="2300" b="1" dirty="0">
                <a:solidFill>
                  <a:srgbClr val="1D4ED8"/>
                </a:solidFill>
                <a:latin typeface="Inter"/>
              </a:rPr>
              <a:t>re-aimed</a:t>
            </a:r>
            <a:endParaRPr sz="2300" b="1" dirty="0">
              <a:solidFill>
                <a:srgbClr val="1D4ED8"/>
              </a:solidFill>
              <a:latin typeface="Inter"/>
            </a:endParaRPr>
          </a:p>
        </p:txBody>
      </p:sp>
      <p:sp>
        <p:nvSpPr>
          <p:cNvPr id="46" name="TextBox 45"/>
          <p:cNvSpPr txBox="1"/>
          <p:nvPr/>
        </p:nvSpPr>
        <p:spPr>
          <a:xfrm>
            <a:off x="8280400" y="5503841"/>
            <a:ext cx="3202940" cy="338554"/>
          </a:xfrm>
          <a:prstGeom prst="rect">
            <a:avLst/>
          </a:prstGeom>
          <a:noFill/>
        </p:spPr>
        <p:txBody>
          <a:bodyPr wrap="square" lIns="0" tIns="0" rIns="0" bIns="0" anchor="t">
            <a:spAutoFit/>
          </a:bodyPr>
          <a:lstStyle/>
          <a:p>
            <a:r>
              <a:rPr lang="en-GB" sz="1100" dirty="0">
                <a:solidFill>
                  <a:srgbClr val="0F172A"/>
                </a:solidFill>
              </a:rPr>
              <a:t>$7.5M goes to owned, net $0; +6 pts is worth ≈ $30M revenue a year (</a:t>
            </a:r>
            <a:r>
              <a:rPr lang="en-GB" sz="1100" dirty="0" err="1">
                <a:solidFill>
                  <a:srgbClr val="0F172A"/>
                </a:solidFill>
              </a:rPr>
              <a:t>Exh</a:t>
            </a:r>
            <a:r>
              <a:rPr lang="en-GB" sz="1100" dirty="0">
                <a:solidFill>
                  <a:srgbClr val="0F172A"/>
                </a:solidFill>
              </a:rPr>
              <a:t>. J)</a:t>
            </a:r>
          </a:p>
        </p:txBody>
      </p:sp>
      <p:sp>
        <p:nvSpPr>
          <p:cNvPr id="47" name="TextBox 46"/>
          <p:cNvSpPr txBox="1"/>
          <p:nvPr/>
        </p:nvSpPr>
        <p:spPr>
          <a:xfrm>
            <a:off x="502920" y="6031993"/>
            <a:ext cx="11183620" cy="304800"/>
          </a:xfrm>
          <a:prstGeom prst="rect">
            <a:avLst/>
          </a:prstGeom>
          <a:noFill/>
        </p:spPr>
        <p:txBody>
          <a:bodyPr wrap="square" lIns="0" tIns="0" rIns="0" bIns="0" anchor="ctr">
            <a:spAutoFit/>
          </a:bodyPr>
          <a:lstStyle/>
          <a:p>
            <a:pPr algn="ctr"/>
            <a:r>
              <a:rPr sz="1200" b="1" dirty="0">
                <a:solidFill>
                  <a:srgbClr val="0A1F44"/>
                </a:solidFill>
                <a:latin typeface="Inter"/>
              </a:rPr>
              <a:t>Same $120M</a:t>
            </a:r>
            <a:r>
              <a:rPr sz="1200" b="1" dirty="0">
                <a:solidFill>
                  <a:srgbClr val="93B4F5"/>
                </a:solidFill>
                <a:latin typeface="Inter"/>
              </a:rPr>
              <a:t>   ·   </a:t>
            </a:r>
            <a:r>
              <a:rPr sz="1200" b="1" dirty="0">
                <a:solidFill>
                  <a:srgbClr val="0A1F44"/>
                </a:solidFill>
                <a:latin typeface="Inter"/>
              </a:rPr>
              <a:t>No discounts, ever</a:t>
            </a:r>
            <a:r>
              <a:rPr sz="1200" b="1" dirty="0">
                <a:solidFill>
                  <a:srgbClr val="93B4F5"/>
                </a:solidFill>
                <a:latin typeface="Inter"/>
              </a:rPr>
              <a:t>   ·   </a:t>
            </a:r>
            <a:r>
              <a:rPr sz="1200" b="1" dirty="0">
                <a:solidFill>
                  <a:srgbClr val="0A1F44"/>
                </a:solidFill>
                <a:latin typeface="Inter"/>
              </a:rPr>
              <a:t>We prove every move in Adobe CJA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8128000" cy="841248"/>
          </a:xfrm>
          <a:prstGeom prst="rect">
            <a:avLst/>
          </a:prstGeom>
          <a:noFill/>
          <a:ln/>
        </p:spPr>
        <p:txBody>
          <a:bodyPr wrap="square" lIns="0" tIns="0" rIns="0" bIns="0" rtlCol="0" anchor="ctr"/>
          <a:lstStyle/>
          <a:p>
            <a:pPr marL="0" indent="0">
              <a:buNone/>
            </a:pPr>
            <a:r>
              <a:rPr lang="en-US" sz="2200" b="1" dirty="0">
                <a:solidFill>
                  <a:srgbClr val="0A1F44"/>
                </a:solidFill>
                <a:latin typeface="Inter" pitchFamily="34" charset="0"/>
                <a:ea typeface="Inter" pitchFamily="34" charset="-122"/>
                <a:cs typeface="Inter" pitchFamily="34" charset="-120"/>
              </a:rPr>
              <a:t>Renting reach costs 29% more than two years ago, and it keeps the fewest customers</a:t>
            </a:r>
            <a:endParaRPr lang="en-US" sz="2400" dirty="0"/>
          </a:p>
        </p:txBody>
      </p:sp>
      <p:pic>
        <p:nvPicPr>
          <p:cNvPr id="3" name="Image 0" descr="/tmp/claude-0/-home-user-Quince/7efe80ae-a049-50c2-9886-98bf7ca3a04a/scratchpad/assets/quince.png"/>
          <p:cNvPicPr>
            <a:picLocks noChangeAspect="1"/>
          </p:cNvPicPr>
          <p:nvPr/>
        </p:nvPicPr>
        <p:blipFill>
          <a:blip r:embed="rId3"/>
          <a:stretch>
            <a:fillRect/>
          </a:stretch>
        </p:blipFill>
        <p:spPr>
          <a:xfrm>
            <a:off x="10236708" y="615544"/>
            <a:ext cx="777240" cy="231951"/>
          </a:xfrm>
          <a:prstGeom prst="rect">
            <a:avLst/>
          </a:prstGeom>
        </p:spPr>
      </p:pic>
      <p:sp>
        <p:nvSpPr>
          <p:cNvPr id="4" name="Shape 1"/>
          <p:cNvSpPr/>
          <p:nvPr/>
        </p:nvSpPr>
        <p:spPr>
          <a:xfrm>
            <a:off x="11155680" y="603504"/>
            <a:ext cx="530352" cy="256032"/>
          </a:xfrm>
          <a:prstGeom prst="roundRect">
            <a:avLst>
              <a:gd name="adj" fmla="val 50000"/>
            </a:avLst>
          </a:prstGeom>
          <a:solidFill>
            <a:srgbClr val="0A1F44"/>
          </a:solidFill>
          <a:ln w="6350">
            <a:solidFill>
              <a:srgbClr val="0A1F44"/>
            </a:solidFill>
            <a:prstDash val="solid"/>
          </a:ln>
        </p:spPr>
        <p:txBody>
          <a:bodyPr/>
          <a:lstStyle/>
          <a:p>
            <a:endParaRPr lang="en-US"/>
          </a:p>
        </p:txBody>
      </p:sp>
      <p:sp>
        <p:nvSpPr>
          <p:cNvPr id="5" name="Text 2"/>
          <p:cNvSpPr txBox="1"/>
          <p:nvPr/>
        </p:nvSpPr>
        <p:spPr>
          <a:xfrm>
            <a:off x="11155680" y="603504"/>
            <a:ext cx="53035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G27</a:t>
            </a:r>
            <a:endParaRPr lang="en-US" sz="950" dirty="0"/>
          </a:p>
        </p:txBody>
      </p:sp>
      <p:sp>
        <p:nvSpPr>
          <p:cNvPr id="6" name="Shape 3"/>
          <p:cNvSpPr/>
          <p:nvPr/>
        </p:nvSpPr>
        <p:spPr>
          <a:xfrm>
            <a:off x="502920" y="6400800"/>
            <a:ext cx="11183112" cy="0"/>
          </a:xfrm>
          <a:prstGeom prst="line">
            <a:avLst/>
          </a:prstGeom>
          <a:noFill/>
          <a:ln w="9525">
            <a:solidFill>
              <a:srgbClr val="E2E8F0"/>
            </a:solidFill>
            <a:prstDash val="solid"/>
          </a:ln>
        </p:spPr>
        <p:txBody>
          <a:bodyPr/>
          <a:lstStyle/>
          <a:p>
            <a:endParaRPr lang="en-US"/>
          </a:p>
        </p:txBody>
      </p:sp>
      <p:sp>
        <p:nvSpPr>
          <p:cNvPr id="7" name="Text 4"/>
          <p:cNvSpPr txBox="1"/>
          <p:nvPr/>
        </p:nvSpPr>
        <p:spPr>
          <a:xfrm>
            <a:off x="502920" y="6464808"/>
            <a:ext cx="9418320" cy="256032"/>
          </a:xfrm>
          <a:prstGeom prst="rect">
            <a:avLst/>
          </a:prstGeom>
          <a:noFill/>
          <a:ln/>
        </p:spPr>
        <p:txBody>
          <a:bodyPr wrap="square" lIns="0" tIns="0" rIns="0" bIns="0" rtlCol="0" anchor="ctr"/>
          <a:lstStyle/>
          <a:p>
            <a:pPr marL="0" indent="0">
              <a:buNone/>
            </a:pPr>
            <a:r>
              <a:rPr lang="en-US" sz="900" dirty="0">
                <a:solidFill>
                  <a:srgbClr val="64748B"/>
                </a:solidFill>
                <a:latin typeface="Inter" pitchFamily="34" charset="0"/>
                <a:ea typeface="Inter" pitchFamily="34" charset="-122"/>
                <a:cs typeface="Inter" pitchFamily="34" charset="-120"/>
              </a:rPr>
              <a:t>Source: case §2, §3, Exhibits B, D, E, G, H (illustrative); US Census (Q2 2026); Adjust (Q2 2025); AppsFlyer (Apr 2025); Meta Q2 2026 results; Gordon et al. (2019); UMich Surveys of Consumers (May 2026). Links in appendix 27.</a:t>
            </a:r>
            <a:endParaRPr lang="en-US" sz="800" dirty="0"/>
          </a:p>
        </p:txBody>
      </p:sp>
      <p:sp>
        <p:nvSpPr>
          <p:cNvPr id="8" name="Text 5"/>
          <p:cNvSpPr txBox="1"/>
          <p:nvPr/>
        </p:nvSpPr>
        <p:spPr>
          <a:xfrm>
            <a:off x="9966960" y="6464808"/>
            <a:ext cx="1719072" cy="256032"/>
          </a:xfrm>
          <a:prstGeom prst="rect">
            <a:avLst/>
          </a:prstGeom>
          <a:noFill/>
          <a:ln/>
        </p:spPr>
        <p:txBody>
          <a:bodyPr wrap="square" lIns="0" tIns="0" rIns="0" bIns="0" rtlCol="0" anchor="ctr"/>
          <a:lstStyle/>
          <a:p>
            <a:pPr marL="0" indent="0" algn="r">
              <a:buNone/>
            </a:pPr>
            <a:r>
              <a:rPr lang="en-US" sz="800" dirty="0">
                <a:solidFill>
                  <a:srgbClr val="64748B"/>
                </a:solidFill>
                <a:latin typeface="Inter" pitchFamily="34" charset="0"/>
                <a:ea typeface="Inter" pitchFamily="34" charset="-122"/>
                <a:cs typeface="Inter" pitchFamily="34" charset="-120"/>
              </a:rPr>
              <a:t>Team G27  ·  3</a:t>
            </a:r>
            <a:endParaRPr lang="en-US" sz="800" dirty="0"/>
          </a:p>
        </p:txBody>
      </p:sp>
      <p:sp>
        <p:nvSpPr>
          <p:cNvPr id="9" name="TextBox 8"/>
          <p:cNvSpPr txBox="1"/>
          <p:nvPr/>
        </p:nvSpPr>
        <p:spPr>
          <a:xfrm>
            <a:off x="502920" y="1193800"/>
            <a:ext cx="5080000" cy="203200"/>
          </a:xfrm>
          <a:prstGeom prst="rect">
            <a:avLst/>
          </a:prstGeom>
          <a:noFill/>
        </p:spPr>
        <p:txBody>
          <a:bodyPr wrap="square" lIns="0" tIns="0" rIns="0" bIns="0" anchor="t">
            <a:spAutoFit/>
          </a:bodyPr>
          <a:lstStyle/>
          <a:p>
            <a:pPr algn="l"/>
            <a:r>
              <a:rPr sz="900" b="1">
                <a:solidFill>
                  <a:srgbClr val="1D4ED8"/>
                </a:solidFill>
                <a:latin typeface="Inter"/>
              </a:rPr>
              <a:t>THE MARKET</a:t>
            </a:r>
          </a:p>
        </p:txBody>
      </p:sp>
      <p:sp>
        <p:nvSpPr>
          <p:cNvPr id="10" name="Rounded Rectangle 9"/>
          <p:cNvSpPr/>
          <p:nvPr/>
        </p:nvSpPr>
        <p:spPr>
          <a:xfrm>
            <a:off x="502920" y="1422400"/>
            <a:ext cx="3626273" cy="609600"/>
          </a:xfrm>
          <a:prstGeom prst="roundRect">
            <a:avLst>
              <a:gd name="adj" fmla="val 125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5320" y="1422400"/>
            <a:ext cx="1524000" cy="609600"/>
          </a:xfrm>
          <a:prstGeom prst="rect">
            <a:avLst/>
          </a:prstGeom>
          <a:noFill/>
        </p:spPr>
        <p:txBody>
          <a:bodyPr wrap="square" lIns="0" tIns="0" rIns="0" bIns="0" anchor="ctr">
            <a:spAutoFit/>
          </a:bodyPr>
          <a:lstStyle/>
          <a:p>
            <a:pPr algn="l"/>
            <a:r>
              <a:rPr sz="1100" b="1">
                <a:solidFill>
                  <a:srgbClr val="0A1F44"/>
                </a:solidFill>
                <a:latin typeface="Inter"/>
              </a:rPr>
              <a:t>~$180B</a:t>
            </a:r>
          </a:p>
        </p:txBody>
      </p:sp>
      <p:sp>
        <p:nvSpPr>
          <p:cNvPr id="12" name="TextBox 11"/>
          <p:cNvSpPr txBox="1"/>
          <p:nvPr/>
        </p:nvSpPr>
        <p:spPr>
          <a:xfrm>
            <a:off x="1417320" y="1422400"/>
            <a:ext cx="2584873" cy="609600"/>
          </a:xfrm>
          <a:prstGeom prst="rect">
            <a:avLst/>
          </a:prstGeom>
          <a:noFill/>
        </p:spPr>
        <p:txBody>
          <a:bodyPr wrap="square" lIns="0" tIns="0" rIns="0" bIns="0" anchor="ctr">
            <a:spAutoFit/>
          </a:bodyPr>
          <a:lstStyle/>
          <a:p>
            <a:pPr algn="l"/>
            <a:r>
              <a:rPr sz="1100" b="0">
                <a:solidFill>
                  <a:srgbClr val="0F172A"/>
                </a:solidFill>
                <a:latin typeface="Inter"/>
              </a:rPr>
              <a:t>US online apparel, accessories and home; growing mid-single digits (case, illustrative)</a:t>
            </a:r>
          </a:p>
        </p:txBody>
      </p:sp>
      <p:sp>
        <p:nvSpPr>
          <p:cNvPr id="13" name="Rounded Rectangle 12"/>
          <p:cNvSpPr/>
          <p:nvPr/>
        </p:nvSpPr>
        <p:spPr>
          <a:xfrm>
            <a:off x="4281593" y="1422400"/>
            <a:ext cx="3626273" cy="609600"/>
          </a:xfrm>
          <a:prstGeom prst="roundRect">
            <a:avLst>
              <a:gd name="adj" fmla="val 125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33993" y="1422400"/>
            <a:ext cx="1524000" cy="609600"/>
          </a:xfrm>
          <a:prstGeom prst="rect">
            <a:avLst/>
          </a:prstGeom>
          <a:noFill/>
        </p:spPr>
        <p:txBody>
          <a:bodyPr wrap="square" lIns="0" tIns="0" rIns="0" bIns="0" anchor="ctr">
            <a:spAutoFit/>
          </a:bodyPr>
          <a:lstStyle/>
          <a:p>
            <a:pPr algn="l"/>
            <a:r>
              <a:rPr sz="1100" b="1">
                <a:solidFill>
                  <a:srgbClr val="0A1F44"/>
                </a:solidFill>
                <a:latin typeface="Inter"/>
              </a:rPr>
              <a:t>17.1%</a:t>
            </a:r>
          </a:p>
        </p:txBody>
      </p:sp>
      <p:sp>
        <p:nvSpPr>
          <p:cNvPr id="15" name="TextBox 14"/>
          <p:cNvSpPr txBox="1"/>
          <p:nvPr/>
        </p:nvSpPr>
        <p:spPr>
          <a:xfrm>
            <a:off x="5195993" y="1422400"/>
            <a:ext cx="2584873" cy="609600"/>
          </a:xfrm>
          <a:prstGeom prst="rect">
            <a:avLst/>
          </a:prstGeom>
          <a:noFill/>
        </p:spPr>
        <p:txBody>
          <a:bodyPr wrap="square" lIns="0" tIns="0" rIns="0" bIns="0" anchor="ctr">
            <a:spAutoFit/>
          </a:bodyPr>
          <a:lstStyle/>
          <a:p>
            <a:pPr algn="l"/>
            <a:r>
              <a:rPr sz="1100" b="0">
                <a:solidFill>
                  <a:srgbClr val="0F172A"/>
                </a:solidFill>
                <a:latin typeface="Inter"/>
              </a:rPr>
              <a:t>of US retail sales were online in Q2 2026 (US Census)</a:t>
            </a:r>
          </a:p>
        </p:txBody>
      </p:sp>
      <p:sp>
        <p:nvSpPr>
          <p:cNvPr id="16" name="Rounded Rectangle 15"/>
          <p:cNvSpPr/>
          <p:nvPr/>
        </p:nvSpPr>
        <p:spPr>
          <a:xfrm>
            <a:off x="8060266" y="1422400"/>
            <a:ext cx="3626273" cy="609600"/>
          </a:xfrm>
          <a:prstGeom prst="roundRect">
            <a:avLst>
              <a:gd name="adj" fmla="val 125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12666" y="1422400"/>
            <a:ext cx="1524000" cy="609600"/>
          </a:xfrm>
          <a:prstGeom prst="rect">
            <a:avLst/>
          </a:prstGeom>
          <a:noFill/>
        </p:spPr>
        <p:txBody>
          <a:bodyPr wrap="square" lIns="0" tIns="0" rIns="0" bIns="0" anchor="ctr">
            <a:spAutoFit/>
          </a:bodyPr>
          <a:lstStyle/>
          <a:p>
            <a:pPr algn="l"/>
            <a:r>
              <a:rPr sz="1100" b="1">
                <a:solidFill>
                  <a:srgbClr val="0A1F44"/>
                </a:solidFill>
                <a:latin typeface="Inter"/>
              </a:rPr>
              <a:t>+12.2%</a:t>
            </a:r>
          </a:p>
        </p:txBody>
      </p:sp>
      <p:sp>
        <p:nvSpPr>
          <p:cNvPr id="18" name="TextBox 17"/>
          <p:cNvSpPr txBox="1"/>
          <p:nvPr/>
        </p:nvSpPr>
        <p:spPr>
          <a:xfrm>
            <a:off x="8974666" y="1422400"/>
            <a:ext cx="2584873" cy="609600"/>
          </a:xfrm>
          <a:prstGeom prst="rect">
            <a:avLst/>
          </a:prstGeom>
          <a:noFill/>
        </p:spPr>
        <p:txBody>
          <a:bodyPr wrap="square" lIns="0" tIns="0" rIns="0" bIns="0" anchor="ctr">
            <a:spAutoFit/>
          </a:bodyPr>
          <a:lstStyle/>
          <a:p>
            <a:pPr algn="l"/>
            <a:r>
              <a:rPr sz="1100" b="0">
                <a:solidFill>
                  <a:srgbClr val="0F172A"/>
                </a:solidFill>
                <a:latin typeface="Inter"/>
              </a:rPr>
              <a:t>e-commerce growth vs +6.7% for all retail (US Census)</a:t>
            </a:r>
          </a:p>
        </p:txBody>
      </p:sp>
      <p:sp>
        <p:nvSpPr>
          <p:cNvPr id="19" name="TextBox 18"/>
          <p:cNvSpPr txBox="1"/>
          <p:nvPr/>
        </p:nvSpPr>
        <p:spPr>
          <a:xfrm>
            <a:off x="502920" y="2184400"/>
            <a:ext cx="3759200" cy="203200"/>
          </a:xfrm>
          <a:prstGeom prst="rect">
            <a:avLst/>
          </a:prstGeom>
          <a:noFill/>
        </p:spPr>
        <p:txBody>
          <a:bodyPr wrap="square" lIns="0" tIns="0" rIns="0" bIns="0" anchor="t">
            <a:spAutoFit/>
          </a:bodyPr>
          <a:lstStyle/>
          <a:p>
            <a:pPr algn="l"/>
            <a:r>
              <a:rPr sz="900" b="1">
                <a:solidFill>
                  <a:srgbClr val="1D4ED8"/>
                </a:solidFill>
                <a:latin typeface="Inter"/>
              </a:rPr>
              <a:t>FOUR FORCES RAISE THE COST OF RENTING REACH</a:t>
            </a:r>
          </a:p>
        </p:txBody>
      </p:sp>
      <p:sp>
        <p:nvSpPr>
          <p:cNvPr id="20" name="Rounded Rectangle 19"/>
          <p:cNvSpPr/>
          <p:nvPr/>
        </p:nvSpPr>
        <p:spPr>
          <a:xfrm>
            <a:off x="502920" y="2413000"/>
            <a:ext cx="3479800" cy="584200"/>
          </a:xfrm>
          <a:prstGeom prst="roundRect">
            <a:avLst>
              <a:gd name="adj" fmla="val 1304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04520" y="2413000"/>
            <a:ext cx="812800" cy="584200"/>
          </a:xfrm>
          <a:prstGeom prst="rect">
            <a:avLst/>
          </a:prstGeom>
          <a:noFill/>
        </p:spPr>
        <p:txBody>
          <a:bodyPr wrap="square" lIns="0" tIns="0" rIns="0" bIns="0" anchor="ctr">
            <a:spAutoFit/>
          </a:bodyPr>
          <a:lstStyle/>
          <a:p>
            <a:pPr algn="ctr"/>
            <a:r>
              <a:rPr sz="1100" b="1">
                <a:solidFill>
                  <a:srgbClr val="1D4ED8"/>
                </a:solidFill>
                <a:latin typeface="Inter"/>
              </a:rPr>
              <a:t>35–50%</a:t>
            </a:r>
          </a:p>
        </p:txBody>
      </p:sp>
      <p:sp>
        <p:nvSpPr>
          <p:cNvPr id="22" name="TextBox 21"/>
          <p:cNvSpPr txBox="1"/>
          <p:nvPr/>
        </p:nvSpPr>
        <p:spPr>
          <a:xfrm>
            <a:off x="1493520" y="2438400"/>
            <a:ext cx="2387600" cy="533400"/>
          </a:xfrm>
          <a:prstGeom prst="rect">
            <a:avLst/>
          </a:prstGeom>
          <a:noFill/>
        </p:spPr>
        <p:txBody>
          <a:bodyPr wrap="square" lIns="0" tIns="0" rIns="0" bIns="0" anchor="ctr">
            <a:spAutoFit/>
          </a:bodyPr>
          <a:lstStyle/>
          <a:p>
            <a:pPr algn="l"/>
            <a:r>
              <a:rPr sz="1100" b="1">
                <a:solidFill>
                  <a:srgbClr val="0A1F44"/>
                </a:solidFill>
                <a:latin typeface="Inter"/>
              </a:rPr>
              <a:t>Signal loss</a:t>
            </a:r>
          </a:p>
          <a:p>
            <a:pPr algn="l">
              <a:spcBef>
                <a:spcPts val="100"/>
              </a:spcBef>
            </a:pPr>
            <a:r>
              <a:rPr sz="1100" b="0">
                <a:solidFill>
                  <a:srgbClr val="64748B"/>
                </a:solidFill>
                <a:latin typeface="Inter"/>
              </a:rPr>
              <a:t>of iOS users allow tracking, so retargeting sees less</a:t>
            </a:r>
          </a:p>
        </p:txBody>
      </p:sp>
      <p:cxnSp>
        <p:nvCxnSpPr>
          <p:cNvPr id="23" name="Connector 22"/>
          <p:cNvCxnSpPr/>
          <p:nvPr/>
        </p:nvCxnSpPr>
        <p:spPr>
          <a:xfrm>
            <a:off x="3982720" y="2705100"/>
            <a:ext cx="152400" cy="0"/>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02920" y="3060700"/>
            <a:ext cx="3479800" cy="584200"/>
          </a:xfrm>
          <a:prstGeom prst="roundRect">
            <a:avLst>
              <a:gd name="adj" fmla="val 1304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04520" y="3060700"/>
            <a:ext cx="812800" cy="584200"/>
          </a:xfrm>
          <a:prstGeom prst="rect">
            <a:avLst/>
          </a:prstGeom>
          <a:noFill/>
        </p:spPr>
        <p:txBody>
          <a:bodyPr wrap="square" lIns="0" tIns="0" rIns="0" bIns="0" anchor="ctr">
            <a:spAutoFit/>
          </a:bodyPr>
          <a:lstStyle/>
          <a:p>
            <a:pPr algn="ctr"/>
            <a:r>
              <a:rPr sz="1100" b="1">
                <a:solidFill>
                  <a:srgbClr val="1D4ED8"/>
                </a:solidFill>
                <a:latin typeface="Inter"/>
              </a:rPr>
              <a:t>+12%</a:t>
            </a:r>
          </a:p>
        </p:txBody>
      </p:sp>
      <p:sp>
        <p:nvSpPr>
          <p:cNvPr id="26" name="TextBox 25"/>
          <p:cNvSpPr txBox="1"/>
          <p:nvPr/>
        </p:nvSpPr>
        <p:spPr>
          <a:xfrm>
            <a:off x="1493520" y="3086100"/>
            <a:ext cx="2387600" cy="533400"/>
          </a:xfrm>
          <a:prstGeom prst="rect">
            <a:avLst/>
          </a:prstGeom>
          <a:noFill/>
        </p:spPr>
        <p:txBody>
          <a:bodyPr wrap="square" lIns="0" tIns="0" rIns="0" bIns="0" anchor="ctr">
            <a:spAutoFit/>
          </a:bodyPr>
          <a:lstStyle/>
          <a:p>
            <a:pPr algn="l"/>
            <a:r>
              <a:rPr sz="1100" b="1">
                <a:solidFill>
                  <a:srgbClr val="0A1F44"/>
                </a:solidFill>
                <a:latin typeface="Inter"/>
              </a:rPr>
              <a:t>Dearer auctions</a:t>
            </a:r>
          </a:p>
          <a:p>
            <a:pPr algn="l">
              <a:spcBef>
                <a:spcPts val="100"/>
              </a:spcBef>
            </a:pPr>
            <a:r>
              <a:rPr sz="1100" b="0">
                <a:solidFill>
                  <a:srgbClr val="64748B"/>
                </a:solidFill>
                <a:latin typeface="Inter"/>
              </a:rPr>
              <a:t>Meta price per ad, year on year</a:t>
            </a:r>
          </a:p>
        </p:txBody>
      </p:sp>
      <p:cxnSp>
        <p:nvCxnSpPr>
          <p:cNvPr id="27" name="Connector 26"/>
          <p:cNvCxnSpPr/>
          <p:nvPr/>
        </p:nvCxnSpPr>
        <p:spPr>
          <a:xfrm>
            <a:off x="3982720" y="3352800"/>
            <a:ext cx="152400" cy="0"/>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502920" y="3708400"/>
            <a:ext cx="3479800" cy="584200"/>
          </a:xfrm>
          <a:prstGeom prst="roundRect">
            <a:avLst>
              <a:gd name="adj" fmla="val 1304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04520" y="3708400"/>
            <a:ext cx="812800" cy="584200"/>
          </a:xfrm>
          <a:prstGeom prst="rect">
            <a:avLst/>
          </a:prstGeom>
          <a:noFill/>
        </p:spPr>
        <p:txBody>
          <a:bodyPr wrap="square" lIns="0" tIns="0" rIns="0" bIns="0" anchor="ctr">
            <a:spAutoFit/>
          </a:bodyPr>
          <a:lstStyle/>
          <a:p>
            <a:pPr algn="ctr"/>
            <a:r>
              <a:rPr sz="1100" b="1">
                <a:solidFill>
                  <a:srgbClr val="1D4ED8"/>
                </a:solidFill>
                <a:latin typeface="Inter"/>
              </a:rPr>
              <a:t>≥3×</a:t>
            </a:r>
          </a:p>
        </p:txBody>
      </p:sp>
      <p:sp>
        <p:nvSpPr>
          <p:cNvPr id="30" name="TextBox 29"/>
          <p:cNvSpPr txBox="1"/>
          <p:nvPr/>
        </p:nvSpPr>
        <p:spPr>
          <a:xfrm>
            <a:off x="1493520" y="3733800"/>
            <a:ext cx="2387600" cy="533400"/>
          </a:xfrm>
          <a:prstGeom prst="rect">
            <a:avLst/>
          </a:prstGeom>
          <a:noFill/>
        </p:spPr>
        <p:txBody>
          <a:bodyPr wrap="square" lIns="0" tIns="0" rIns="0" bIns="0" anchor="ctr">
            <a:spAutoFit/>
          </a:bodyPr>
          <a:lstStyle/>
          <a:p>
            <a:pPr algn="l"/>
            <a:r>
              <a:rPr sz="1100" b="1">
                <a:solidFill>
                  <a:srgbClr val="0A1F44"/>
                </a:solidFill>
                <a:latin typeface="Inter"/>
              </a:rPr>
              <a:t>Misread credit</a:t>
            </a:r>
          </a:p>
          <a:p>
            <a:pPr algn="l">
              <a:spcBef>
                <a:spcPts val="100"/>
              </a:spcBef>
            </a:pPr>
            <a:r>
              <a:rPr sz="1100" b="0">
                <a:solidFill>
                  <a:srgbClr val="64748B"/>
                </a:solidFill>
                <a:latin typeface="Inter"/>
              </a:rPr>
              <a:t>how far ad-lift estimates are often off (Gordon)</a:t>
            </a:r>
          </a:p>
        </p:txBody>
      </p:sp>
      <p:cxnSp>
        <p:nvCxnSpPr>
          <p:cNvPr id="31" name="Connector 30"/>
          <p:cNvCxnSpPr/>
          <p:nvPr/>
        </p:nvCxnSpPr>
        <p:spPr>
          <a:xfrm>
            <a:off x="3982720" y="4000500"/>
            <a:ext cx="152400" cy="0"/>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502920" y="4356100"/>
            <a:ext cx="3479800" cy="584200"/>
          </a:xfrm>
          <a:prstGeom prst="roundRect">
            <a:avLst>
              <a:gd name="adj" fmla="val 1304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04520" y="4356100"/>
            <a:ext cx="812800" cy="584200"/>
          </a:xfrm>
          <a:prstGeom prst="rect">
            <a:avLst/>
          </a:prstGeom>
          <a:noFill/>
        </p:spPr>
        <p:txBody>
          <a:bodyPr wrap="square" lIns="0" tIns="0" rIns="0" bIns="0" anchor="ctr">
            <a:spAutoFit/>
          </a:bodyPr>
          <a:lstStyle/>
          <a:p>
            <a:pPr algn="ctr"/>
            <a:r>
              <a:rPr sz="1100" b="1">
                <a:solidFill>
                  <a:srgbClr val="1D4ED8"/>
                </a:solidFill>
                <a:latin typeface="Inter"/>
              </a:rPr>
              <a:t>44.8</a:t>
            </a:r>
          </a:p>
        </p:txBody>
      </p:sp>
      <p:sp>
        <p:nvSpPr>
          <p:cNvPr id="34" name="TextBox 33"/>
          <p:cNvSpPr txBox="1"/>
          <p:nvPr/>
        </p:nvSpPr>
        <p:spPr>
          <a:xfrm>
            <a:off x="1493520" y="4381500"/>
            <a:ext cx="2387600" cy="533400"/>
          </a:xfrm>
          <a:prstGeom prst="rect">
            <a:avLst/>
          </a:prstGeom>
          <a:noFill/>
        </p:spPr>
        <p:txBody>
          <a:bodyPr wrap="square" lIns="0" tIns="0" rIns="0" bIns="0" anchor="ctr">
            <a:spAutoFit/>
          </a:bodyPr>
          <a:lstStyle/>
          <a:p>
            <a:pPr algn="l"/>
            <a:r>
              <a:rPr sz="1100" b="1">
                <a:solidFill>
                  <a:srgbClr val="0A1F44"/>
                </a:solidFill>
                <a:latin typeface="Inter"/>
              </a:rPr>
              <a:t>Cautious consumer</a:t>
            </a:r>
          </a:p>
          <a:p>
            <a:pPr algn="l">
              <a:spcBef>
                <a:spcPts val="100"/>
              </a:spcBef>
            </a:pPr>
            <a:r>
              <a:rPr sz="1100" b="0">
                <a:solidFill>
                  <a:srgbClr val="64748B"/>
                </a:solidFill>
                <a:latin typeface="Inter"/>
              </a:rPr>
              <a:t>record-low sentiment, so price can't be the answer</a:t>
            </a:r>
          </a:p>
        </p:txBody>
      </p:sp>
      <p:cxnSp>
        <p:nvCxnSpPr>
          <p:cNvPr id="35" name="Connector 34"/>
          <p:cNvCxnSpPr/>
          <p:nvPr/>
        </p:nvCxnSpPr>
        <p:spPr>
          <a:xfrm>
            <a:off x="3982720" y="4648200"/>
            <a:ext cx="152400" cy="0"/>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135120" y="2705100"/>
            <a:ext cx="0" cy="1943100"/>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135120" y="4648200"/>
            <a:ext cx="0" cy="469900"/>
          </a:xfrm>
          <a:prstGeom prst="line">
            <a:avLst/>
          </a:prstGeom>
          <a:ln w="127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502920" y="5130800"/>
            <a:ext cx="3759200" cy="584200"/>
          </a:xfrm>
          <a:prstGeom prst="roundRect">
            <a:avLst>
              <a:gd name="adj" fmla="val 13043"/>
            </a:avLst>
          </a:prstGeom>
          <a:solidFill>
            <a:srgbClr val="FEF2F2"/>
          </a:solidFill>
          <a:ln w="1587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55320" y="5130800"/>
            <a:ext cx="3454400" cy="584200"/>
          </a:xfrm>
          <a:prstGeom prst="rect">
            <a:avLst/>
          </a:prstGeom>
          <a:noFill/>
        </p:spPr>
        <p:txBody>
          <a:bodyPr wrap="square" lIns="0" tIns="0" rIns="0" bIns="0" anchor="ctr">
            <a:spAutoFit/>
          </a:bodyPr>
          <a:lstStyle/>
          <a:p>
            <a:pPr algn="l"/>
            <a:r>
              <a:rPr sz="1100" b="1">
                <a:solidFill>
                  <a:srgbClr val="0A1F44"/>
                </a:solidFill>
                <a:latin typeface="Inter"/>
              </a:rPr>
              <a:t>Result for Quince: blended CAC</a:t>
            </a:r>
          </a:p>
          <a:p>
            <a:pPr algn="l">
              <a:spcBef>
                <a:spcPts val="100"/>
              </a:spcBef>
            </a:pPr>
            <a:r>
              <a:rPr sz="1100" b="1">
                <a:solidFill>
                  <a:srgbClr val="DC2626"/>
                </a:solidFill>
                <a:latin typeface="Inter"/>
              </a:rPr>
              <a:t>$48 → $62 · +29% in two years</a:t>
            </a:r>
          </a:p>
        </p:txBody>
      </p:sp>
      <p:sp>
        <p:nvSpPr>
          <p:cNvPr id="40" name="TextBox 39"/>
          <p:cNvSpPr txBox="1"/>
          <p:nvPr/>
        </p:nvSpPr>
        <p:spPr>
          <a:xfrm>
            <a:off x="4470400" y="2184400"/>
            <a:ext cx="7213600" cy="203200"/>
          </a:xfrm>
          <a:prstGeom prst="rect">
            <a:avLst/>
          </a:prstGeom>
          <a:noFill/>
        </p:spPr>
        <p:txBody>
          <a:bodyPr wrap="square" lIns="0" tIns="0" rIns="0" bIns="0" anchor="t">
            <a:spAutoFit/>
          </a:bodyPr>
          <a:lstStyle/>
          <a:p>
            <a:pPr algn="l"/>
            <a:r>
              <a:rPr sz="900" b="1">
                <a:solidFill>
                  <a:srgbClr val="1D4ED8"/>
                </a:solidFill>
                <a:latin typeface="Inter"/>
              </a:rPr>
              <a:t>RENTED CHANNELS COST MOST AND KEEP LEAST · EXHIBITS D, G (ILLUSTRATIVE)</a:t>
            </a:r>
          </a:p>
        </p:txBody>
      </p:sp>
      <p:sp>
        <p:nvSpPr>
          <p:cNvPr id="41" name="TextBox 40"/>
          <p:cNvSpPr txBox="1"/>
          <p:nvPr/>
        </p:nvSpPr>
        <p:spPr>
          <a:xfrm>
            <a:off x="6400800" y="2413000"/>
            <a:ext cx="1778000" cy="177800"/>
          </a:xfrm>
          <a:prstGeom prst="rect">
            <a:avLst/>
          </a:prstGeom>
          <a:noFill/>
        </p:spPr>
        <p:txBody>
          <a:bodyPr wrap="square" lIns="0" tIns="0" rIns="0" bIns="0" anchor="t">
            <a:spAutoFit/>
          </a:bodyPr>
          <a:lstStyle/>
          <a:p>
            <a:pPr algn="l"/>
            <a:r>
              <a:rPr sz="1100" b="1">
                <a:solidFill>
                  <a:srgbClr val="0F172A"/>
                </a:solidFill>
                <a:latin typeface="Inter"/>
              </a:rPr>
              <a:t>Share of the $120M</a:t>
            </a:r>
          </a:p>
        </p:txBody>
      </p:sp>
      <p:sp>
        <p:nvSpPr>
          <p:cNvPr id="42" name="TextBox 41"/>
          <p:cNvSpPr txBox="1"/>
          <p:nvPr/>
        </p:nvSpPr>
        <p:spPr>
          <a:xfrm>
            <a:off x="8077200" y="2413000"/>
            <a:ext cx="1778000" cy="177800"/>
          </a:xfrm>
          <a:prstGeom prst="rect">
            <a:avLst/>
          </a:prstGeom>
          <a:noFill/>
        </p:spPr>
        <p:txBody>
          <a:bodyPr wrap="square" lIns="0" tIns="0" rIns="0" bIns="0" anchor="t">
            <a:spAutoFit/>
          </a:bodyPr>
          <a:lstStyle/>
          <a:p>
            <a:pPr algn="l"/>
            <a:r>
              <a:rPr sz="1100" b="1">
                <a:solidFill>
                  <a:srgbClr val="0F172A"/>
                </a:solidFill>
                <a:latin typeface="Inter"/>
              </a:rPr>
              <a:t>Avg. CAC</a:t>
            </a:r>
          </a:p>
        </p:txBody>
      </p:sp>
      <p:sp>
        <p:nvSpPr>
          <p:cNvPr id="43" name="TextBox 42"/>
          <p:cNvSpPr txBox="1"/>
          <p:nvPr/>
        </p:nvSpPr>
        <p:spPr>
          <a:xfrm>
            <a:off x="9931400" y="2413000"/>
            <a:ext cx="1778000" cy="177800"/>
          </a:xfrm>
          <a:prstGeom prst="rect">
            <a:avLst/>
          </a:prstGeom>
          <a:noFill/>
        </p:spPr>
        <p:txBody>
          <a:bodyPr wrap="square" lIns="0" tIns="0" rIns="0" bIns="0" anchor="t">
            <a:spAutoFit/>
          </a:bodyPr>
          <a:lstStyle/>
          <a:p>
            <a:pPr algn="l"/>
            <a:r>
              <a:rPr sz="1100" b="1">
                <a:solidFill>
                  <a:srgbClr val="0F172A"/>
                </a:solidFill>
                <a:latin typeface="Inter"/>
              </a:rPr>
              <a:t>90-day repeat</a:t>
            </a:r>
          </a:p>
        </p:txBody>
      </p:sp>
      <p:sp>
        <p:nvSpPr>
          <p:cNvPr id="44" name="Rectangle 43"/>
          <p:cNvSpPr/>
          <p:nvPr/>
        </p:nvSpPr>
        <p:spPr>
          <a:xfrm>
            <a:off x="11245850" y="2590800"/>
            <a:ext cx="219075" cy="1739900"/>
          </a:xfrm>
          <a:prstGeom prst="rect">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0864850" y="4330700"/>
            <a:ext cx="1016000" cy="152400"/>
          </a:xfrm>
          <a:prstGeom prst="rect">
            <a:avLst/>
          </a:prstGeom>
          <a:noFill/>
        </p:spPr>
        <p:txBody>
          <a:bodyPr wrap="square" lIns="0" tIns="0" rIns="0" bIns="0" anchor="t">
            <a:spAutoFit/>
          </a:bodyPr>
          <a:lstStyle/>
          <a:p>
            <a:pPr algn="ctr"/>
            <a:r>
              <a:rPr sz="900" b="1">
                <a:solidFill>
                  <a:srgbClr val="15803D"/>
                </a:solidFill>
                <a:latin typeface="Inter"/>
              </a:rPr>
              <a:t>peers 30–35%</a:t>
            </a:r>
          </a:p>
        </p:txBody>
      </p:sp>
      <p:sp>
        <p:nvSpPr>
          <p:cNvPr id="46" name="TextBox 45"/>
          <p:cNvSpPr txBox="1"/>
          <p:nvPr/>
        </p:nvSpPr>
        <p:spPr>
          <a:xfrm>
            <a:off x="4470400" y="2641600"/>
            <a:ext cx="1905000" cy="292100"/>
          </a:xfrm>
          <a:prstGeom prst="rect">
            <a:avLst/>
          </a:prstGeom>
          <a:noFill/>
        </p:spPr>
        <p:txBody>
          <a:bodyPr wrap="square" lIns="0" tIns="0" rIns="0" bIns="0" anchor="ctr">
            <a:spAutoFit/>
          </a:bodyPr>
          <a:lstStyle/>
          <a:p>
            <a:pPr algn="l"/>
            <a:r>
              <a:rPr sz="1100" b="0">
                <a:solidFill>
                  <a:srgbClr val="0F172A"/>
                </a:solidFill>
                <a:latin typeface="Inter"/>
              </a:rPr>
              <a:t>Paid social prospecting</a:t>
            </a:r>
          </a:p>
        </p:txBody>
      </p:sp>
      <p:sp>
        <p:nvSpPr>
          <p:cNvPr id="47" name="Rectangle 46"/>
          <p:cNvSpPr/>
          <p:nvPr/>
        </p:nvSpPr>
        <p:spPr>
          <a:xfrm>
            <a:off x="6400800" y="2705100"/>
            <a:ext cx="965200" cy="19050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416800" y="2641600"/>
            <a:ext cx="431800" cy="292100"/>
          </a:xfrm>
          <a:prstGeom prst="rect">
            <a:avLst/>
          </a:prstGeom>
          <a:noFill/>
        </p:spPr>
        <p:txBody>
          <a:bodyPr wrap="square" lIns="0" tIns="0" rIns="0" bIns="0" anchor="ctr">
            <a:spAutoFit/>
          </a:bodyPr>
          <a:lstStyle/>
          <a:p>
            <a:pPr algn="l"/>
            <a:r>
              <a:rPr sz="1100" b="1">
                <a:solidFill>
                  <a:srgbClr val="0F172A"/>
                </a:solidFill>
                <a:latin typeface="Inter"/>
              </a:rPr>
              <a:t>48%</a:t>
            </a:r>
          </a:p>
        </p:txBody>
      </p:sp>
      <p:sp>
        <p:nvSpPr>
          <p:cNvPr id="49" name="Rectangle 48"/>
          <p:cNvSpPr/>
          <p:nvPr/>
        </p:nvSpPr>
        <p:spPr>
          <a:xfrm>
            <a:off x="8077200" y="2705100"/>
            <a:ext cx="1143000" cy="19050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271000" y="2641600"/>
            <a:ext cx="457200" cy="292100"/>
          </a:xfrm>
          <a:prstGeom prst="rect">
            <a:avLst/>
          </a:prstGeom>
          <a:noFill/>
        </p:spPr>
        <p:txBody>
          <a:bodyPr wrap="square" lIns="0" tIns="0" rIns="0" bIns="0" anchor="ctr">
            <a:spAutoFit/>
          </a:bodyPr>
          <a:lstStyle/>
          <a:p>
            <a:pPr algn="l"/>
            <a:r>
              <a:rPr sz="1100" b="1">
                <a:solidFill>
                  <a:srgbClr val="0F172A"/>
                </a:solidFill>
                <a:latin typeface="Inter"/>
              </a:rPr>
              <a:t>$74</a:t>
            </a:r>
          </a:p>
        </p:txBody>
      </p:sp>
      <p:sp>
        <p:nvSpPr>
          <p:cNvPr id="51" name="Rectangle 50"/>
          <p:cNvSpPr/>
          <p:nvPr/>
        </p:nvSpPr>
        <p:spPr>
          <a:xfrm>
            <a:off x="9931400" y="2705100"/>
            <a:ext cx="788670" cy="19050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237470" y="2641600"/>
            <a:ext cx="431800" cy="292100"/>
          </a:xfrm>
          <a:prstGeom prst="rect">
            <a:avLst/>
          </a:prstGeom>
          <a:noFill/>
        </p:spPr>
        <p:txBody>
          <a:bodyPr wrap="square" lIns="0" tIns="0" rIns="0" bIns="0" anchor="ctr">
            <a:spAutoFit/>
          </a:bodyPr>
          <a:lstStyle/>
          <a:p>
            <a:pPr algn="r"/>
            <a:r>
              <a:rPr sz="1100" b="1">
                <a:solidFill>
                  <a:srgbClr val="FFFFFF"/>
                </a:solidFill>
                <a:latin typeface="Inter"/>
              </a:rPr>
              <a:t>18%</a:t>
            </a:r>
          </a:p>
        </p:txBody>
      </p:sp>
      <p:sp>
        <p:nvSpPr>
          <p:cNvPr id="53" name="TextBox 52"/>
          <p:cNvSpPr txBox="1"/>
          <p:nvPr/>
        </p:nvSpPr>
        <p:spPr>
          <a:xfrm>
            <a:off x="4470400" y="2984500"/>
            <a:ext cx="1905000" cy="292100"/>
          </a:xfrm>
          <a:prstGeom prst="rect">
            <a:avLst/>
          </a:prstGeom>
          <a:noFill/>
        </p:spPr>
        <p:txBody>
          <a:bodyPr wrap="square" lIns="0" tIns="0" rIns="0" bIns="0" anchor="ctr">
            <a:spAutoFit/>
          </a:bodyPr>
          <a:lstStyle/>
          <a:p>
            <a:pPr algn="l"/>
            <a:r>
              <a:rPr sz="1100" b="0">
                <a:solidFill>
                  <a:srgbClr val="0F172A"/>
                </a:solidFill>
                <a:latin typeface="Inter"/>
              </a:rPr>
              <a:t>Paid search</a:t>
            </a:r>
          </a:p>
        </p:txBody>
      </p:sp>
      <p:sp>
        <p:nvSpPr>
          <p:cNvPr id="54" name="Rectangle 53"/>
          <p:cNvSpPr/>
          <p:nvPr/>
        </p:nvSpPr>
        <p:spPr>
          <a:xfrm>
            <a:off x="6400800" y="3048000"/>
            <a:ext cx="361950" cy="19050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813550" y="2984500"/>
            <a:ext cx="431800" cy="292100"/>
          </a:xfrm>
          <a:prstGeom prst="rect">
            <a:avLst/>
          </a:prstGeom>
          <a:noFill/>
        </p:spPr>
        <p:txBody>
          <a:bodyPr wrap="square" lIns="0" tIns="0" rIns="0" bIns="0" anchor="ctr">
            <a:spAutoFit/>
          </a:bodyPr>
          <a:lstStyle/>
          <a:p>
            <a:pPr algn="l"/>
            <a:r>
              <a:rPr sz="1100" b="1">
                <a:solidFill>
                  <a:srgbClr val="0F172A"/>
                </a:solidFill>
                <a:latin typeface="Inter"/>
              </a:rPr>
              <a:t>18%</a:t>
            </a:r>
          </a:p>
        </p:txBody>
      </p:sp>
      <p:sp>
        <p:nvSpPr>
          <p:cNvPr id="56" name="Rectangle 55"/>
          <p:cNvSpPr/>
          <p:nvPr/>
        </p:nvSpPr>
        <p:spPr>
          <a:xfrm>
            <a:off x="8077200" y="3048000"/>
            <a:ext cx="895864" cy="19050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023864" y="2984500"/>
            <a:ext cx="457200" cy="292100"/>
          </a:xfrm>
          <a:prstGeom prst="rect">
            <a:avLst/>
          </a:prstGeom>
          <a:noFill/>
        </p:spPr>
        <p:txBody>
          <a:bodyPr wrap="square" lIns="0" tIns="0" rIns="0" bIns="0" anchor="ctr">
            <a:spAutoFit/>
          </a:bodyPr>
          <a:lstStyle/>
          <a:p>
            <a:pPr algn="l"/>
            <a:r>
              <a:rPr sz="1100" b="1">
                <a:solidFill>
                  <a:srgbClr val="0F172A"/>
                </a:solidFill>
                <a:latin typeface="Inter"/>
              </a:rPr>
              <a:t>$58</a:t>
            </a:r>
          </a:p>
        </p:txBody>
      </p:sp>
      <p:sp>
        <p:nvSpPr>
          <p:cNvPr id="58" name="Rectangle 57"/>
          <p:cNvSpPr/>
          <p:nvPr/>
        </p:nvSpPr>
        <p:spPr>
          <a:xfrm>
            <a:off x="9931400" y="3048000"/>
            <a:ext cx="1007745" cy="19050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0456545" y="2984500"/>
            <a:ext cx="431800" cy="292100"/>
          </a:xfrm>
          <a:prstGeom prst="rect">
            <a:avLst/>
          </a:prstGeom>
          <a:noFill/>
        </p:spPr>
        <p:txBody>
          <a:bodyPr wrap="square" lIns="0" tIns="0" rIns="0" bIns="0" anchor="ctr">
            <a:spAutoFit/>
          </a:bodyPr>
          <a:lstStyle/>
          <a:p>
            <a:pPr algn="r"/>
            <a:r>
              <a:rPr sz="1100" b="1">
                <a:solidFill>
                  <a:srgbClr val="FFFFFF"/>
                </a:solidFill>
                <a:latin typeface="Inter"/>
              </a:rPr>
              <a:t>23%</a:t>
            </a:r>
          </a:p>
        </p:txBody>
      </p:sp>
      <p:sp>
        <p:nvSpPr>
          <p:cNvPr id="60" name="TextBox 59"/>
          <p:cNvSpPr txBox="1"/>
          <p:nvPr/>
        </p:nvSpPr>
        <p:spPr>
          <a:xfrm>
            <a:off x="4470400" y="3327400"/>
            <a:ext cx="1905000" cy="292100"/>
          </a:xfrm>
          <a:prstGeom prst="rect">
            <a:avLst/>
          </a:prstGeom>
          <a:noFill/>
        </p:spPr>
        <p:txBody>
          <a:bodyPr wrap="square" lIns="0" tIns="0" rIns="0" bIns="0" anchor="ctr">
            <a:spAutoFit/>
          </a:bodyPr>
          <a:lstStyle/>
          <a:p>
            <a:pPr algn="l"/>
            <a:r>
              <a:rPr sz="1100" b="0">
                <a:solidFill>
                  <a:srgbClr val="0F172A"/>
                </a:solidFill>
                <a:latin typeface="Inter"/>
              </a:rPr>
              <a:t>Influencer / affiliate</a:t>
            </a:r>
          </a:p>
        </p:txBody>
      </p:sp>
      <p:sp>
        <p:nvSpPr>
          <p:cNvPr id="61" name="Rectangle 60"/>
          <p:cNvSpPr/>
          <p:nvPr/>
        </p:nvSpPr>
        <p:spPr>
          <a:xfrm>
            <a:off x="6400800" y="3390900"/>
            <a:ext cx="261408" cy="19050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713008" y="3327400"/>
            <a:ext cx="431800" cy="292100"/>
          </a:xfrm>
          <a:prstGeom prst="rect">
            <a:avLst/>
          </a:prstGeom>
          <a:noFill/>
        </p:spPr>
        <p:txBody>
          <a:bodyPr wrap="square" lIns="0" tIns="0" rIns="0" bIns="0" anchor="ctr">
            <a:spAutoFit/>
          </a:bodyPr>
          <a:lstStyle/>
          <a:p>
            <a:pPr algn="l"/>
            <a:r>
              <a:rPr sz="1100" b="1">
                <a:solidFill>
                  <a:srgbClr val="0F172A"/>
                </a:solidFill>
                <a:latin typeface="Inter"/>
              </a:rPr>
              <a:t>13%</a:t>
            </a:r>
          </a:p>
        </p:txBody>
      </p:sp>
      <p:sp>
        <p:nvSpPr>
          <p:cNvPr id="63" name="Rectangle 62"/>
          <p:cNvSpPr/>
          <p:nvPr/>
        </p:nvSpPr>
        <p:spPr>
          <a:xfrm>
            <a:off x="8077200" y="3390900"/>
            <a:ext cx="803189" cy="19050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8931189" y="3327400"/>
            <a:ext cx="457200" cy="292100"/>
          </a:xfrm>
          <a:prstGeom prst="rect">
            <a:avLst/>
          </a:prstGeom>
          <a:noFill/>
        </p:spPr>
        <p:txBody>
          <a:bodyPr wrap="square" lIns="0" tIns="0" rIns="0" bIns="0" anchor="ctr">
            <a:spAutoFit/>
          </a:bodyPr>
          <a:lstStyle/>
          <a:p>
            <a:pPr algn="l"/>
            <a:r>
              <a:rPr sz="1100" b="1">
                <a:solidFill>
                  <a:srgbClr val="0F172A"/>
                </a:solidFill>
                <a:latin typeface="Inter"/>
              </a:rPr>
              <a:t>$52</a:t>
            </a:r>
          </a:p>
        </p:txBody>
      </p:sp>
      <p:sp>
        <p:nvSpPr>
          <p:cNvPr id="65" name="Rectangle 64"/>
          <p:cNvSpPr/>
          <p:nvPr/>
        </p:nvSpPr>
        <p:spPr>
          <a:xfrm>
            <a:off x="9931400" y="3390900"/>
            <a:ext cx="920115" cy="19050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0368915" y="3327400"/>
            <a:ext cx="431800" cy="292100"/>
          </a:xfrm>
          <a:prstGeom prst="rect">
            <a:avLst/>
          </a:prstGeom>
          <a:noFill/>
        </p:spPr>
        <p:txBody>
          <a:bodyPr wrap="square" lIns="0" tIns="0" rIns="0" bIns="0" anchor="ctr">
            <a:spAutoFit/>
          </a:bodyPr>
          <a:lstStyle/>
          <a:p>
            <a:pPr algn="r"/>
            <a:r>
              <a:rPr sz="1100" b="1">
                <a:solidFill>
                  <a:srgbClr val="FFFFFF"/>
                </a:solidFill>
                <a:latin typeface="Inter"/>
              </a:rPr>
              <a:t>21%</a:t>
            </a:r>
          </a:p>
        </p:txBody>
      </p:sp>
      <p:sp>
        <p:nvSpPr>
          <p:cNvPr id="67" name="TextBox 66"/>
          <p:cNvSpPr txBox="1"/>
          <p:nvPr/>
        </p:nvSpPr>
        <p:spPr>
          <a:xfrm>
            <a:off x="4470400" y="3670300"/>
            <a:ext cx="1905000" cy="292100"/>
          </a:xfrm>
          <a:prstGeom prst="rect">
            <a:avLst/>
          </a:prstGeom>
          <a:noFill/>
        </p:spPr>
        <p:txBody>
          <a:bodyPr wrap="square" lIns="0" tIns="0" rIns="0" bIns="0" anchor="ctr">
            <a:spAutoFit/>
          </a:bodyPr>
          <a:lstStyle/>
          <a:p>
            <a:pPr algn="l"/>
            <a:r>
              <a:rPr sz="1100" b="0">
                <a:solidFill>
                  <a:srgbClr val="0F172A"/>
                </a:solidFill>
                <a:latin typeface="Inter"/>
              </a:rPr>
              <a:t>Paid social retargeting</a:t>
            </a:r>
          </a:p>
        </p:txBody>
      </p:sp>
      <p:sp>
        <p:nvSpPr>
          <p:cNvPr id="68" name="Rectangle 67"/>
          <p:cNvSpPr/>
          <p:nvPr/>
        </p:nvSpPr>
        <p:spPr>
          <a:xfrm>
            <a:off x="6400800" y="3733800"/>
            <a:ext cx="241300" cy="19050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692900" y="3670300"/>
            <a:ext cx="431800" cy="292100"/>
          </a:xfrm>
          <a:prstGeom prst="rect">
            <a:avLst/>
          </a:prstGeom>
          <a:noFill/>
        </p:spPr>
        <p:txBody>
          <a:bodyPr wrap="square" lIns="0" tIns="0" rIns="0" bIns="0" anchor="ctr">
            <a:spAutoFit/>
          </a:bodyPr>
          <a:lstStyle/>
          <a:p>
            <a:pPr algn="l"/>
            <a:r>
              <a:rPr sz="1100" b="1">
                <a:solidFill>
                  <a:srgbClr val="0F172A"/>
                </a:solidFill>
                <a:latin typeface="Inter"/>
              </a:rPr>
              <a:t>12%</a:t>
            </a:r>
          </a:p>
        </p:txBody>
      </p:sp>
      <p:sp>
        <p:nvSpPr>
          <p:cNvPr id="70" name="Rectangle 69"/>
          <p:cNvSpPr/>
          <p:nvPr/>
        </p:nvSpPr>
        <p:spPr>
          <a:xfrm>
            <a:off x="8077200" y="3733800"/>
            <a:ext cx="478824" cy="19050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606824" y="3670300"/>
            <a:ext cx="457200" cy="292100"/>
          </a:xfrm>
          <a:prstGeom prst="rect">
            <a:avLst/>
          </a:prstGeom>
          <a:noFill/>
        </p:spPr>
        <p:txBody>
          <a:bodyPr wrap="square" lIns="0" tIns="0" rIns="0" bIns="0" anchor="ctr">
            <a:spAutoFit/>
          </a:bodyPr>
          <a:lstStyle/>
          <a:p>
            <a:pPr algn="l"/>
            <a:r>
              <a:rPr sz="1100" b="1">
                <a:solidFill>
                  <a:srgbClr val="0F172A"/>
                </a:solidFill>
                <a:latin typeface="Inter"/>
              </a:rPr>
              <a:t>$31*</a:t>
            </a:r>
          </a:p>
        </p:txBody>
      </p:sp>
      <p:sp>
        <p:nvSpPr>
          <p:cNvPr id="72" name="Rectangle 71"/>
          <p:cNvSpPr/>
          <p:nvPr/>
        </p:nvSpPr>
        <p:spPr>
          <a:xfrm>
            <a:off x="9931400" y="3733800"/>
            <a:ext cx="963930" cy="19050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10412730" y="3670300"/>
            <a:ext cx="431800" cy="292100"/>
          </a:xfrm>
          <a:prstGeom prst="rect">
            <a:avLst/>
          </a:prstGeom>
          <a:noFill/>
        </p:spPr>
        <p:txBody>
          <a:bodyPr wrap="square" lIns="0" tIns="0" rIns="0" bIns="0" anchor="ctr">
            <a:spAutoFit/>
          </a:bodyPr>
          <a:lstStyle/>
          <a:p>
            <a:pPr algn="r"/>
            <a:r>
              <a:rPr sz="1100" b="1">
                <a:solidFill>
                  <a:srgbClr val="FFFFFF"/>
                </a:solidFill>
                <a:latin typeface="Inter"/>
              </a:rPr>
              <a:t>22%</a:t>
            </a:r>
          </a:p>
        </p:txBody>
      </p:sp>
      <p:cxnSp>
        <p:nvCxnSpPr>
          <p:cNvPr id="74" name="Connector 73"/>
          <p:cNvCxnSpPr/>
          <p:nvPr/>
        </p:nvCxnSpPr>
        <p:spPr>
          <a:xfrm>
            <a:off x="4470400" y="4000500"/>
            <a:ext cx="721614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4470400" y="4013200"/>
            <a:ext cx="1905000" cy="292100"/>
          </a:xfrm>
          <a:prstGeom prst="rect">
            <a:avLst/>
          </a:prstGeom>
          <a:noFill/>
        </p:spPr>
        <p:txBody>
          <a:bodyPr wrap="square" lIns="0" tIns="0" rIns="0" bIns="0" anchor="ctr">
            <a:spAutoFit/>
          </a:bodyPr>
          <a:lstStyle/>
          <a:p>
            <a:pPr algn="l"/>
            <a:r>
              <a:rPr sz="1100" b="1">
                <a:solidFill>
                  <a:srgbClr val="0D9488"/>
                </a:solidFill>
                <a:latin typeface="Inter"/>
              </a:rPr>
              <a:t>Organic / direct / SEO</a:t>
            </a:r>
          </a:p>
        </p:txBody>
      </p:sp>
      <p:sp>
        <p:nvSpPr>
          <p:cNvPr id="76" name="TextBox 75"/>
          <p:cNvSpPr txBox="1"/>
          <p:nvPr/>
        </p:nvSpPr>
        <p:spPr>
          <a:xfrm>
            <a:off x="6400800" y="4013200"/>
            <a:ext cx="1397000" cy="292100"/>
          </a:xfrm>
          <a:prstGeom prst="rect">
            <a:avLst/>
          </a:prstGeom>
          <a:noFill/>
        </p:spPr>
        <p:txBody>
          <a:bodyPr wrap="square" lIns="0" tIns="0" rIns="0" bIns="0" anchor="ctr">
            <a:spAutoFit/>
          </a:bodyPr>
          <a:lstStyle/>
          <a:p>
            <a:pPr algn="l"/>
            <a:r>
              <a:rPr sz="1100" b="0">
                <a:solidFill>
                  <a:srgbClr val="64748B"/>
                </a:solidFill>
                <a:latin typeface="Inter"/>
              </a:rPr>
              <a:t>not a paid line</a:t>
            </a:r>
          </a:p>
        </p:txBody>
      </p:sp>
      <p:sp>
        <p:nvSpPr>
          <p:cNvPr id="77" name="Rectangle 76"/>
          <p:cNvSpPr/>
          <p:nvPr/>
        </p:nvSpPr>
        <p:spPr>
          <a:xfrm>
            <a:off x="8077200" y="4076700"/>
            <a:ext cx="139013" cy="1905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8267013" y="4013200"/>
            <a:ext cx="457200" cy="292100"/>
          </a:xfrm>
          <a:prstGeom prst="rect">
            <a:avLst/>
          </a:prstGeom>
          <a:noFill/>
        </p:spPr>
        <p:txBody>
          <a:bodyPr wrap="square" lIns="0" tIns="0" rIns="0" bIns="0" anchor="ctr">
            <a:spAutoFit/>
          </a:bodyPr>
          <a:lstStyle/>
          <a:p>
            <a:pPr algn="l"/>
            <a:r>
              <a:rPr sz="1100" b="1">
                <a:solidFill>
                  <a:srgbClr val="0F172A"/>
                </a:solidFill>
                <a:latin typeface="Inter"/>
              </a:rPr>
              <a:t>$9</a:t>
            </a:r>
          </a:p>
        </p:txBody>
      </p:sp>
      <p:sp>
        <p:nvSpPr>
          <p:cNvPr id="79" name="Rectangle 78"/>
          <p:cNvSpPr/>
          <p:nvPr/>
        </p:nvSpPr>
        <p:spPr>
          <a:xfrm>
            <a:off x="9931400" y="4076700"/>
            <a:ext cx="1533525" cy="1905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10982325" y="4013200"/>
            <a:ext cx="431800" cy="292100"/>
          </a:xfrm>
          <a:prstGeom prst="rect">
            <a:avLst/>
          </a:prstGeom>
          <a:noFill/>
        </p:spPr>
        <p:txBody>
          <a:bodyPr wrap="square" lIns="0" tIns="0" rIns="0" bIns="0" anchor="ctr">
            <a:spAutoFit/>
          </a:bodyPr>
          <a:lstStyle/>
          <a:p>
            <a:pPr algn="r"/>
            <a:r>
              <a:rPr sz="1100" b="1">
                <a:solidFill>
                  <a:srgbClr val="FFFFFF"/>
                </a:solidFill>
                <a:latin typeface="Inter"/>
              </a:rPr>
              <a:t>35%</a:t>
            </a:r>
          </a:p>
        </p:txBody>
      </p:sp>
      <p:sp>
        <p:nvSpPr>
          <p:cNvPr id="81" name="TextBox 80"/>
          <p:cNvSpPr txBox="1"/>
          <p:nvPr/>
        </p:nvSpPr>
        <p:spPr>
          <a:xfrm>
            <a:off x="4470400" y="4432300"/>
            <a:ext cx="7213600" cy="152400"/>
          </a:xfrm>
          <a:prstGeom prst="rect">
            <a:avLst/>
          </a:prstGeom>
          <a:noFill/>
        </p:spPr>
        <p:txBody>
          <a:bodyPr wrap="square" lIns="0" tIns="0" rIns="0" bIns="0" anchor="t">
            <a:spAutoFit/>
          </a:bodyPr>
          <a:lstStyle/>
          <a:p>
            <a:pPr algn="l"/>
            <a:r>
              <a:rPr sz="900" b="0">
                <a:solidFill>
                  <a:srgbClr val="64748B"/>
                </a:solidFill>
                <a:latin typeface="Inter"/>
              </a:rPr>
              <a:t>*Retargeting CAC counts media cost only; nobody has tested what it really adds (Exhibit D).</a:t>
            </a:r>
          </a:p>
          <a:p>
            <a:pPr algn="l"/>
            <a:r>
              <a:rPr sz="900" b="0">
                <a:solidFill>
                  <a:srgbClr val="64748B"/>
                </a:solidFill>
                <a:latin typeface="Inter"/>
              </a:rPr>
              <a:t>Organic is earned, not bought.</a:t>
            </a:r>
          </a:p>
        </p:txBody>
      </p:sp>
      <p:sp>
        <p:nvSpPr>
          <p:cNvPr id="82" name="Rounded Rectangle 81"/>
          <p:cNvSpPr/>
          <p:nvPr/>
        </p:nvSpPr>
        <p:spPr>
          <a:xfrm>
            <a:off x="4470400" y="4787900"/>
            <a:ext cx="7216140" cy="952500"/>
          </a:xfrm>
          <a:prstGeom prst="roundRect">
            <a:avLst>
              <a:gd name="adj" fmla="val 8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4648200" y="4787900"/>
            <a:ext cx="6860540" cy="952500"/>
          </a:xfrm>
          <a:prstGeom prst="rect">
            <a:avLst/>
          </a:prstGeom>
          <a:noFill/>
        </p:spPr>
        <p:txBody>
          <a:bodyPr wrap="square" lIns="0" tIns="0" rIns="0" bIns="0" anchor="ctr">
            <a:spAutoFit/>
          </a:bodyPr>
          <a:lstStyle/>
          <a:p>
            <a:pPr algn="l"/>
            <a:r>
              <a:rPr sz="1100" b="1">
                <a:solidFill>
                  <a:srgbClr val="1D4ED8"/>
                </a:solidFill>
                <a:latin typeface="Inter"/>
              </a:rPr>
              <a:t>Owned channels are underfunded: </a:t>
            </a:r>
            <a:r>
              <a:rPr sz="1100" b="0">
                <a:solidFill>
                  <a:srgbClr val="0F172A"/>
                </a:solidFill>
                <a:latin typeface="Inter"/>
              </a:rPr>
              <a:t>app buyers repeat </a:t>
            </a:r>
            <a:r>
              <a:rPr sz="1100" b="1">
                <a:solidFill>
                  <a:srgbClr val="0A1F44"/>
                </a:solidFill>
                <a:latin typeface="Inter"/>
              </a:rPr>
              <a:t>38%</a:t>
            </a:r>
            <a:r>
              <a:rPr sz="1100" b="0">
                <a:solidFill>
                  <a:srgbClr val="0F172A"/>
                </a:solidFill>
                <a:latin typeface="Inter"/>
              </a:rPr>
              <a:t> and email/SMS </a:t>
            </a:r>
            <a:r>
              <a:rPr sz="1100" b="1">
                <a:solidFill>
                  <a:srgbClr val="0A1F44"/>
                </a:solidFill>
                <a:latin typeface="Inter"/>
              </a:rPr>
              <a:t>29%</a:t>
            </a:r>
            <a:r>
              <a:rPr sz="1100" b="0">
                <a:solidFill>
                  <a:srgbClr val="0F172A"/>
                </a:solidFill>
                <a:latin typeface="Inter"/>
              </a:rPr>
              <a:t> vs 13% web‑only; 3‑year LTV </a:t>
            </a:r>
            <a:r>
              <a:rPr sz="1100" b="1">
                <a:solidFill>
                  <a:srgbClr val="0A1F44"/>
                </a:solidFill>
                <a:latin typeface="Inter"/>
              </a:rPr>
              <a:t>$410 vs $155</a:t>
            </a:r>
            <a:r>
              <a:rPr sz="1100" b="0">
                <a:solidFill>
                  <a:srgbClr val="0F172A"/>
                </a:solidFill>
                <a:latin typeface="Inter"/>
              </a:rPr>
              <a:t>. Yet owned gets </a:t>
            </a:r>
            <a:r>
              <a:rPr sz="1100" b="1">
                <a:solidFill>
                  <a:srgbClr val="0A1F44"/>
                </a:solidFill>
                <a:latin typeface="Inter"/>
              </a:rPr>
              <a:t>5%</a:t>
            </a:r>
            <a:r>
              <a:rPr sz="1100" b="0">
                <a:solidFill>
                  <a:srgbClr val="0F172A"/>
                </a:solidFill>
                <a:latin typeface="Inter"/>
              </a:rPr>
              <a:t> of the $120M.</a:t>
            </a:r>
          </a:p>
        </p:txBody>
      </p:sp>
      <p:sp>
        <p:nvSpPr>
          <p:cNvPr id="84" name="Rounded Rectangle 83"/>
          <p:cNvSpPr/>
          <p:nvPr/>
        </p:nvSpPr>
        <p:spPr>
          <a:xfrm>
            <a:off x="502920" y="5867400"/>
            <a:ext cx="11183620" cy="457200"/>
          </a:xfrm>
          <a:prstGeom prst="roundRect">
            <a:avLst>
              <a:gd name="adj" fmla="val 16666"/>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706120" y="5867400"/>
            <a:ext cx="10777220" cy="457200"/>
          </a:xfrm>
          <a:prstGeom prst="rect">
            <a:avLst/>
          </a:prstGeom>
          <a:noFill/>
        </p:spPr>
        <p:txBody>
          <a:bodyPr wrap="square" lIns="0" tIns="0" rIns="0" bIns="0" anchor="ctr">
            <a:spAutoFit/>
          </a:bodyPr>
          <a:lstStyle/>
          <a:p>
            <a:pPr algn="l"/>
            <a:r>
              <a:rPr sz="1100" b="1">
                <a:solidFill>
                  <a:srgbClr val="93B4F5"/>
                </a:solidFill>
                <a:latin typeface="Inter"/>
              </a:rPr>
              <a:t>So what: </a:t>
            </a:r>
            <a:r>
              <a:rPr sz="1100" b="1">
                <a:solidFill>
                  <a:srgbClr val="FFFFFF"/>
                </a:solidFill>
                <a:latin typeface="Inter"/>
              </a:rPr>
              <a:t>renting reach keeps getting dearer while owned customers keep paying back, so we move spend to owned inside the same $120M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8128000" cy="841248"/>
          </a:xfrm>
          <a:prstGeom prst="rect">
            <a:avLst/>
          </a:prstGeom>
          <a:noFill/>
          <a:ln/>
        </p:spPr>
        <p:txBody>
          <a:bodyPr wrap="square" lIns="0" tIns="0" rIns="0" bIns="0" rtlCol="0" anchor="ctr"/>
          <a:lstStyle/>
          <a:p>
            <a:pPr marL="0" indent="0">
              <a:buNone/>
            </a:pPr>
            <a:r>
              <a:rPr lang="en-US" sz="2200" b="1" dirty="0">
                <a:solidFill>
                  <a:srgbClr val="0A1F44"/>
                </a:solidFill>
                <a:latin typeface="Inter" pitchFamily="34" charset="0"/>
                <a:ea typeface="Inter" pitchFamily="34" charset="-122"/>
                <a:cs typeface="Inter" pitchFamily="34" charset="-120"/>
              </a:rPr>
              <a:t>77% of carts stall, yet the 25% of buyers who engage make up 66% of repeaters</a:t>
            </a:r>
            <a:endParaRPr lang="en-US" sz="2400" dirty="0"/>
          </a:p>
        </p:txBody>
      </p:sp>
      <p:pic>
        <p:nvPicPr>
          <p:cNvPr id="3" name="Image 0" descr="/tmp/claude-0/-home-user-Quince/7efe80ae-a049-50c2-9886-98bf7ca3a04a/scratchpad/assets/quince.png"/>
          <p:cNvPicPr>
            <a:picLocks noChangeAspect="1"/>
          </p:cNvPicPr>
          <p:nvPr/>
        </p:nvPicPr>
        <p:blipFill>
          <a:blip r:embed="rId3"/>
          <a:stretch>
            <a:fillRect/>
          </a:stretch>
        </p:blipFill>
        <p:spPr>
          <a:xfrm>
            <a:off x="10236708" y="615544"/>
            <a:ext cx="777240" cy="231951"/>
          </a:xfrm>
          <a:prstGeom prst="rect">
            <a:avLst/>
          </a:prstGeom>
        </p:spPr>
      </p:pic>
      <p:sp>
        <p:nvSpPr>
          <p:cNvPr id="4" name="Shape 1"/>
          <p:cNvSpPr/>
          <p:nvPr/>
        </p:nvSpPr>
        <p:spPr>
          <a:xfrm>
            <a:off x="11155680" y="603504"/>
            <a:ext cx="530352" cy="256032"/>
          </a:xfrm>
          <a:prstGeom prst="roundRect">
            <a:avLst>
              <a:gd name="adj" fmla="val 50000"/>
            </a:avLst>
          </a:prstGeom>
          <a:solidFill>
            <a:srgbClr val="0A1F44"/>
          </a:solidFill>
          <a:ln w="6350">
            <a:solidFill>
              <a:srgbClr val="0A1F44"/>
            </a:solidFill>
            <a:prstDash val="solid"/>
          </a:ln>
        </p:spPr>
        <p:txBody>
          <a:bodyPr/>
          <a:lstStyle/>
          <a:p>
            <a:endParaRPr lang="en-US"/>
          </a:p>
        </p:txBody>
      </p:sp>
      <p:sp>
        <p:nvSpPr>
          <p:cNvPr id="5" name="Text 2"/>
          <p:cNvSpPr txBox="1"/>
          <p:nvPr/>
        </p:nvSpPr>
        <p:spPr>
          <a:xfrm>
            <a:off x="11155680" y="603504"/>
            <a:ext cx="53035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G27</a:t>
            </a:r>
            <a:endParaRPr lang="en-US" sz="950" dirty="0"/>
          </a:p>
        </p:txBody>
      </p:sp>
      <p:sp>
        <p:nvSpPr>
          <p:cNvPr id="6" name="Shape 3"/>
          <p:cNvSpPr/>
          <p:nvPr/>
        </p:nvSpPr>
        <p:spPr>
          <a:xfrm>
            <a:off x="502920" y="6400800"/>
            <a:ext cx="11183112" cy="0"/>
          </a:xfrm>
          <a:prstGeom prst="line">
            <a:avLst/>
          </a:prstGeom>
          <a:noFill/>
          <a:ln w="9525">
            <a:solidFill>
              <a:srgbClr val="E2E8F0"/>
            </a:solidFill>
            <a:prstDash val="solid"/>
          </a:ln>
        </p:spPr>
        <p:txBody>
          <a:bodyPr/>
          <a:lstStyle/>
          <a:p>
            <a:endParaRPr lang="en-US"/>
          </a:p>
        </p:txBody>
      </p:sp>
      <p:sp>
        <p:nvSpPr>
          <p:cNvPr id="7" name="Text 4"/>
          <p:cNvSpPr txBox="1"/>
          <p:nvPr/>
        </p:nvSpPr>
        <p:spPr>
          <a:xfrm>
            <a:off x="502920" y="6464808"/>
            <a:ext cx="9418320" cy="256032"/>
          </a:xfrm>
          <a:prstGeom prst="rect">
            <a:avLst/>
          </a:prstGeom>
          <a:noFill/>
          <a:ln/>
        </p:spPr>
        <p:txBody>
          <a:bodyPr wrap="square" lIns="0" tIns="0" rIns="0" bIns="0" rtlCol="0" anchor="ctr"/>
          <a:lstStyle/>
          <a:p>
            <a:pPr marL="0" indent="0">
              <a:buNone/>
            </a:pPr>
            <a:r>
              <a:rPr lang="en-US" sz="800" dirty="0">
                <a:solidFill>
                  <a:srgbClr val="64748B"/>
                </a:solidFill>
                <a:latin typeface="Inter" pitchFamily="34" charset="0"/>
                <a:ea typeface="Inter" pitchFamily="34" charset="-122"/>
                <a:cs typeface="Inter" pitchFamily="34" charset="-120"/>
              </a:rPr>
              <a:t>Source: Adobe CJA, Quince Case Data View, 1 Jan–30 Apr 2026 (Fallout A1, segments A2/A5, Flow A4, Cohort Table, A6), appendix 9–13; case Exhibits A, D, G. CJA repeat covers ~3 months, so we use it for relative gaps, not against the case's 24%.</a:t>
            </a:r>
            <a:endParaRPr lang="en-US" sz="800" dirty="0"/>
          </a:p>
        </p:txBody>
      </p:sp>
      <p:sp>
        <p:nvSpPr>
          <p:cNvPr id="8" name="Text 5"/>
          <p:cNvSpPr txBox="1"/>
          <p:nvPr/>
        </p:nvSpPr>
        <p:spPr>
          <a:xfrm>
            <a:off x="9966960" y="6464808"/>
            <a:ext cx="1719072" cy="256032"/>
          </a:xfrm>
          <a:prstGeom prst="rect">
            <a:avLst/>
          </a:prstGeom>
          <a:noFill/>
          <a:ln/>
        </p:spPr>
        <p:txBody>
          <a:bodyPr wrap="square" lIns="0" tIns="0" rIns="0" bIns="0" rtlCol="0" anchor="ctr"/>
          <a:lstStyle/>
          <a:p>
            <a:pPr marL="0" indent="0" algn="r">
              <a:buNone/>
            </a:pPr>
            <a:r>
              <a:rPr lang="en-US" sz="800" dirty="0">
                <a:solidFill>
                  <a:srgbClr val="64748B"/>
                </a:solidFill>
                <a:latin typeface="Inter" pitchFamily="34" charset="0"/>
                <a:ea typeface="Inter" pitchFamily="34" charset="-122"/>
                <a:cs typeface="Inter" pitchFamily="34" charset="-120"/>
              </a:rPr>
              <a:t>Team G27  ·  4</a:t>
            </a:r>
            <a:endParaRPr lang="en-US" sz="800" dirty="0"/>
          </a:p>
        </p:txBody>
      </p:sp>
      <p:sp>
        <p:nvSpPr>
          <p:cNvPr id="9" name="Text 6"/>
          <p:cNvSpPr txBox="1"/>
          <p:nvPr/>
        </p:nvSpPr>
        <p:spPr>
          <a:xfrm>
            <a:off x="502920" y="1234440"/>
            <a:ext cx="4206240" cy="274320"/>
          </a:xfrm>
          <a:prstGeom prst="rect">
            <a:avLst/>
          </a:prstGeom>
          <a:noFill/>
          <a:ln/>
        </p:spPr>
        <p:txBody>
          <a:bodyPr wrap="square" lIns="0" tIns="0" rIns="0" bIns="0" rtlCol="0" anchor="t"/>
          <a:lstStyle/>
          <a:p>
            <a:pPr marL="0" indent="0">
              <a:buNone/>
            </a:pPr>
            <a:r>
              <a:rPr lang="en-US" sz="1250" b="1" dirty="0">
                <a:solidFill>
                  <a:srgbClr val="0A1F44"/>
                </a:solidFill>
                <a:latin typeface="Inter" pitchFamily="34" charset="0"/>
                <a:ea typeface="Inter" pitchFamily="34" charset="-122"/>
                <a:cs typeface="Inter" pitchFamily="34" charset="-120"/>
              </a:rPr>
              <a:t>Where the funnel breaks</a:t>
            </a:r>
            <a:endParaRPr lang="en-US" sz="1250" dirty="0"/>
          </a:p>
        </p:txBody>
      </p:sp>
      <p:sp>
        <p:nvSpPr>
          <p:cNvPr id="10" name="Text 7"/>
          <p:cNvSpPr txBox="1"/>
          <p:nvPr/>
        </p:nvSpPr>
        <p:spPr>
          <a:xfrm>
            <a:off x="502920" y="1508760"/>
            <a:ext cx="4206240" cy="219456"/>
          </a:xfrm>
          <a:prstGeom prst="rect">
            <a:avLst/>
          </a:prstGeom>
          <a:noFill/>
          <a:ln/>
        </p:spPr>
        <p:txBody>
          <a:bodyPr wrap="square" lIns="0" tIns="0" rIns="0" bIns="0" rtlCol="0" anchor="t"/>
          <a:lstStyle/>
          <a:p>
            <a:pPr marL="0" indent="0">
              <a:buNone/>
            </a:pPr>
            <a:r>
              <a:rPr lang="en-US" sz="950" dirty="0">
                <a:solidFill>
                  <a:srgbClr val="64748B"/>
                </a:solidFill>
                <a:latin typeface="Inter" pitchFamily="34" charset="0"/>
                <a:ea typeface="Inter" pitchFamily="34" charset="-122"/>
                <a:cs typeface="Inter" pitchFamily="34" charset="-120"/>
              </a:rPr>
              <a:t>People at each step (Fallout)</a:t>
            </a:r>
            <a:endParaRPr lang="en-US" sz="950" dirty="0"/>
          </a:p>
        </p:txBody>
      </p:sp>
      <p:sp>
        <p:nvSpPr>
          <p:cNvPr id="11" name="Shape 8"/>
          <p:cNvSpPr/>
          <p:nvPr/>
        </p:nvSpPr>
        <p:spPr>
          <a:xfrm>
            <a:off x="594360" y="2103120"/>
            <a:ext cx="566928" cy="1965960"/>
          </a:xfrm>
          <a:prstGeom prst="rect">
            <a:avLst/>
          </a:prstGeom>
          <a:solidFill>
            <a:srgbClr val="93B4F5"/>
          </a:solidFill>
          <a:ln w="6350">
            <a:solidFill>
              <a:srgbClr val="93B4F5"/>
            </a:solidFill>
            <a:prstDash val="solid"/>
          </a:ln>
        </p:spPr>
        <p:txBody>
          <a:bodyPr/>
          <a:lstStyle/>
          <a:p>
            <a:endParaRPr lang="en-US"/>
          </a:p>
        </p:txBody>
      </p:sp>
      <p:sp>
        <p:nvSpPr>
          <p:cNvPr id="12" name="Text 9"/>
          <p:cNvSpPr txBox="1"/>
          <p:nvPr/>
        </p:nvSpPr>
        <p:spPr>
          <a:xfrm>
            <a:off x="411480" y="1883664"/>
            <a:ext cx="932688" cy="201168"/>
          </a:xfrm>
          <a:prstGeom prst="rect">
            <a:avLst/>
          </a:prstGeom>
          <a:noFill/>
          <a:ln/>
        </p:spPr>
        <p:txBody>
          <a:bodyPr wrap="square" lIns="0" tIns="0" rIns="0" bIns="0" rtlCol="0" anchor="t"/>
          <a:lstStyle/>
          <a:p>
            <a:pPr marL="0" indent="0" algn="ctr">
              <a:buNone/>
            </a:pPr>
            <a:r>
              <a:rPr lang="en-US" sz="900" b="1" dirty="0">
                <a:solidFill>
                  <a:srgbClr val="0A1F44"/>
                </a:solidFill>
                <a:latin typeface="Inter" pitchFamily="34" charset="0"/>
                <a:ea typeface="Inter" pitchFamily="34" charset="-122"/>
                <a:cs typeface="Inter" pitchFamily="34" charset="-120"/>
              </a:rPr>
              <a:t>60,000</a:t>
            </a:r>
            <a:endParaRPr lang="en-US" sz="900" dirty="0"/>
          </a:p>
        </p:txBody>
      </p:sp>
      <p:sp>
        <p:nvSpPr>
          <p:cNvPr id="13" name="Text 10"/>
          <p:cNvSpPr txBox="1"/>
          <p:nvPr/>
        </p:nvSpPr>
        <p:spPr>
          <a:xfrm>
            <a:off x="411480" y="4105656"/>
            <a:ext cx="932688" cy="201168"/>
          </a:xfrm>
          <a:prstGeom prst="rect">
            <a:avLst/>
          </a:prstGeom>
          <a:noFill/>
          <a:ln/>
        </p:spPr>
        <p:txBody>
          <a:bodyPr wrap="square" lIns="0" tIns="0" rIns="0" bIns="0" rtlCol="0" anchor="t"/>
          <a:lstStyle/>
          <a:p>
            <a:pPr marL="0" indent="0" algn="ctr">
              <a:buNone/>
            </a:pPr>
            <a:r>
              <a:rPr lang="en-US" sz="900" dirty="0">
                <a:solidFill>
                  <a:srgbClr val="0F172A"/>
                </a:solidFill>
                <a:latin typeface="Inter" pitchFamily="34" charset="0"/>
                <a:ea typeface="Inter" pitchFamily="34" charset="-122"/>
                <a:cs typeface="Inter" pitchFamily="34" charset="-120"/>
              </a:rPr>
              <a:t>Landing</a:t>
            </a:r>
            <a:endParaRPr lang="en-US" sz="900" dirty="0"/>
          </a:p>
        </p:txBody>
      </p:sp>
      <p:sp>
        <p:nvSpPr>
          <p:cNvPr id="14" name="Shape 11"/>
          <p:cNvSpPr/>
          <p:nvPr/>
        </p:nvSpPr>
        <p:spPr>
          <a:xfrm>
            <a:off x="1417320" y="2871216"/>
            <a:ext cx="566928" cy="1197864"/>
          </a:xfrm>
          <a:prstGeom prst="rect">
            <a:avLst/>
          </a:prstGeom>
          <a:solidFill>
            <a:srgbClr val="93B4F5"/>
          </a:solidFill>
          <a:ln w="6350">
            <a:solidFill>
              <a:srgbClr val="93B4F5"/>
            </a:solidFill>
            <a:prstDash val="solid"/>
          </a:ln>
        </p:spPr>
        <p:txBody>
          <a:bodyPr/>
          <a:lstStyle/>
          <a:p>
            <a:endParaRPr lang="en-US"/>
          </a:p>
        </p:txBody>
      </p:sp>
      <p:sp>
        <p:nvSpPr>
          <p:cNvPr id="15" name="Text 12"/>
          <p:cNvSpPr txBox="1"/>
          <p:nvPr/>
        </p:nvSpPr>
        <p:spPr>
          <a:xfrm>
            <a:off x="1234440" y="2651760"/>
            <a:ext cx="932688" cy="201168"/>
          </a:xfrm>
          <a:prstGeom prst="rect">
            <a:avLst/>
          </a:prstGeom>
          <a:noFill/>
          <a:ln/>
        </p:spPr>
        <p:txBody>
          <a:bodyPr wrap="square" lIns="0" tIns="0" rIns="0" bIns="0" rtlCol="0" anchor="t"/>
          <a:lstStyle/>
          <a:p>
            <a:pPr marL="0" indent="0" algn="ctr">
              <a:buNone/>
            </a:pPr>
            <a:r>
              <a:rPr lang="en-US" sz="900" b="1" dirty="0">
                <a:solidFill>
                  <a:srgbClr val="0A1F44"/>
                </a:solidFill>
                <a:latin typeface="Inter" pitchFamily="34" charset="0"/>
                <a:ea typeface="Inter" pitchFamily="34" charset="-122"/>
                <a:cs typeface="Inter" pitchFamily="34" charset="-120"/>
              </a:rPr>
              <a:t>36,566</a:t>
            </a:r>
            <a:endParaRPr lang="en-US" sz="900" dirty="0"/>
          </a:p>
        </p:txBody>
      </p:sp>
      <p:sp>
        <p:nvSpPr>
          <p:cNvPr id="16" name="Text 13"/>
          <p:cNvSpPr txBox="1"/>
          <p:nvPr/>
        </p:nvSpPr>
        <p:spPr>
          <a:xfrm>
            <a:off x="1234440" y="4105656"/>
            <a:ext cx="932688" cy="201168"/>
          </a:xfrm>
          <a:prstGeom prst="rect">
            <a:avLst/>
          </a:prstGeom>
          <a:noFill/>
          <a:ln/>
        </p:spPr>
        <p:txBody>
          <a:bodyPr wrap="square" lIns="0" tIns="0" rIns="0" bIns="0" rtlCol="0" anchor="t"/>
          <a:lstStyle/>
          <a:p>
            <a:pPr marL="0" indent="0" algn="ctr">
              <a:buNone/>
            </a:pPr>
            <a:r>
              <a:rPr lang="en-US" sz="900" dirty="0">
                <a:solidFill>
                  <a:srgbClr val="0F172A"/>
                </a:solidFill>
                <a:latin typeface="Inter" pitchFamily="34" charset="0"/>
                <a:ea typeface="Inter" pitchFamily="34" charset="-122"/>
                <a:cs typeface="Inter" pitchFamily="34" charset="-120"/>
              </a:rPr>
              <a:t>Product</a:t>
            </a:r>
            <a:endParaRPr lang="en-US" sz="900" dirty="0"/>
          </a:p>
        </p:txBody>
      </p:sp>
      <p:sp>
        <p:nvSpPr>
          <p:cNvPr id="17" name="Shape 14"/>
          <p:cNvSpPr/>
          <p:nvPr/>
        </p:nvSpPr>
        <p:spPr>
          <a:xfrm>
            <a:off x="2240280" y="3694176"/>
            <a:ext cx="566928" cy="374904"/>
          </a:xfrm>
          <a:prstGeom prst="rect">
            <a:avLst/>
          </a:prstGeom>
          <a:solidFill>
            <a:srgbClr val="1D4ED8"/>
          </a:solidFill>
          <a:ln w="6350">
            <a:solidFill>
              <a:srgbClr val="1D4ED8"/>
            </a:solidFill>
            <a:prstDash val="solid"/>
          </a:ln>
        </p:spPr>
        <p:txBody>
          <a:bodyPr/>
          <a:lstStyle/>
          <a:p>
            <a:endParaRPr lang="en-US"/>
          </a:p>
        </p:txBody>
      </p:sp>
      <p:sp>
        <p:nvSpPr>
          <p:cNvPr id="18" name="Text 15"/>
          <p:cNvSpPr txBox="1"/>
          <p:nvPr/>
        </p:nvSpPr>
        <p:spPr>
          <a:xfrm>
            <a:off x="2057400" y="3474720"/>
            <a:ext cx="932688" cy="201168"/>
          </a:xfrm>
          <a:prstGeom prst="rect">
            <a:avLst/>
          </a:prstGeom>
          <a:noFill/>
          <a:ln/>
        </p:spPr>
        <p:txBody>
          <a:bodyPr wrap="square" lIns="0" tIns="0" rIns="0" bIns="0" rtlCol="0" anchor="t"/>
          <a:lstStyle/>
          <a:p>
            <a:pPr marL="0" indent="0" algn="ctr">
              <a:buNone/>
            </a:pPr>
            <a:r>
              <a:rPr lang="en-US" sz="900" b="1" dirty="0">
                <a:solidFill>
                  <a:srgbClr val="0A1F44"/>
                </a:solidFill>
                <a:latin typeface="Inter" pitchFamily="34" charset="0"/>
                <a:ea typeface="Inter" pitchFamily="34" charset="-122"/>
                <a:cs typeface="Inter" pitchFamily="34" charset="-120"/>
              </a:rPr>
              <a:t>11,339</a:t>
            </a:r>
            <a:endParaRPr lang="en-US" sz="900" dirty="0"/>
          </a:p>
        </p:txBody>
      </p:sp>
      <p:sp>
        <p:nvSpPr>
          <p:cNvPr id="19" name="Text 16"/>
          <p:cNvSpPr txBox="1"/>
          <p:nvPr/>
        </p:nvSpPr>
        <p:spPr>
          <a:xfrm>
            <a:off x="2057400" y="4105656"/>
            <a:ext cx="932688" cy="201168"/>
          </a:xfrm>
          <a:prstGeom prst="rect">
            <a:avLst/>
          </a:prstGeom>
          <a:noFill/>
          <a:ln/>
        </p:spPr>
        <p:txBody>
          <a:bodyPr wrap="square" lIns="0" tIns="0" rIns="0" bIns="0" rtlCol="0" anchor="t"/>
          <a:lstStyle/>
          <a:p>
            <a:pPr marL="0" indent="0" algn="ctr">
              <a:buNone/>
            </a:pPr>
            <a:r>
              <a:rPr lang="en-US" sz="900" dirty="0">
                <a:solidFill>
                  <a:srgbClr val="0F172A"/>
                </a:solidFill>
                <a:latin typeface="Inter" pitchFamily="34" charset="0"/>
                <a:ea typeface="Inter" pitchFamily="34" charset="-122"/>
                <a:cs typeface="Inter" pitchFamily="34" charset="-120"/>
              </a:rPr>
              <a:t>Cart</a:t>
            </a:r>
            <a:endParaRPr lang="en-US" sz="900" dirty="0"/>
          </a:p>
        </p:txBody>
      </p:sp>
      <p:sp>
        <p:nvSpPr>
          <p:cNvPr id="20" name="Shape 17"/>
          <p:cNvSpPr/>
          <p:nvPr/>
        </p:nvSpPr>
        <p:spPr>
          <a:xfrm>
            <a:off x="3063240" y="3877056"/>
            <a:ext cx="566928" cy="192024"/>
          </a:xfrm>
          <a:prstGeom prst="rect">
            <a:avLst/>
          </a:prstGeom>
          <a:solidFill>
            <a:srgbClr val="1D4ED8"/>
          </a:solidFill>
          <a:ln w="6350">
            <a:solidFill>
              <a:srgbClr val="1D4ED8"/>
            </a:solidFill>
            <a:prstDash val="solid"/>
          </a:ln>
        </p:spPr>
        <p:txBody>
          <a:bodyPr/>
          <a:lstStyle/>
          <a:p>
            <a:endParaRPr lang="en-US"/>
          </a:p>
        </p:txBody>
      </p:sp>
      <p:sp>
        <p:nvSpPr>
          <p:cNvPr id="21" name="Text 18"/>
          <p:cNvSpPr txBox="1"/>
          <p:nvPr/>
        </p:nvSpPr>
        <p:spPr>
          <a:xfrm>
            <a:off x="2880360" y="3657600"/>
            <a:ext cx="932688" cy="201168"/>
          </a:xfrm>
          <a:prstGeom prst="rect">
            <a:avLst/>
          </a:prstGeom>
          <a:noFill/>
          <a:ln/>
        </p:spPr>
        <p:txBody>
          <a:bodyPr wrap="square" lIns="0" tIns="0" rIns="0" bIns="0" rtlCol="0" anchor="t"/>
          <a:lstStyle/>
          <a:p>
            <a:pPr marL="0" indent="0" algn="ctr">
              <a:buNone/>
            </a:pPr>
            <a:r>
              <a:rPr lang="en-US" sz="900" b="1" dirty="0">
                <a:solidFill>
                  <a:srgbClr val="0A1F44"/>
                </a:solidFill>
                <a:latin typeface="Inter" pitchFamily="34" charset="0"/>
                <a:ea typeface="Inter" pitchFamily="34" charset="-122"/>
                <a:cs typeface="Inter" pitchFamily="34" charset="-120"/>
              </a:rPr>
              <a:t>5,818</a:t>
            </a:r>
            <a:endParaRPr lang="en-US" sz="900" dirty="0"/>
          </a:p>
        </p:txBody>
      </p:sp>
      <p:sp>
        <p:nvSpPr>
          <p:cNvPr id="22" name="Text 19"/>
          <p:cNvSpPr txBox="1"/>
          <p:nvPr/>
        </p:nvSpPr>
        <p:spPr>
          <a:xfrm>
            <a:off x="2880360" y="4105656"/>
            <a:ext cx="932688" cy="201168"/>
          </a:xfrm>
          <a:prstGeom prst="rect">
            <a:avLst/>
          </a:prstGeom>
          <a:noFill/>
          <a:ln/>
        </p:spPr>
        <p:txBody>
          <a:bodyPr wrap="square" lIns="0" tIns="0" rIns="0" bIns="0" rtlCol="0" anchor="t"/>
          <a:lstStyle/>
          <a:p>
            <a:pPr marL="0" indent="0" algn="ctr">
              <a:buNone/>
            </a:pPr>
            <a:r>
              <a:rPr lang="en-US" sz="900" dirty="0">
                <a:solidFill>
                  <a:srgbClr val="0F172A"/>
                </a:solidFill>
                <a:latin typeface="Inter" pitchFamily="34" charset="0"/>
                <a:ea typeface="Inter" pitchFamily="34" charset="-122"/>
                <a:cs typeface="Inter" pitchFamily="34" charset="-120"/>
              </a:rPr>
              <a:t>Checkout</a:t>
            </a:r>
            <a:endParaRPr lang="en-US" sz="900" dirty="0"/>
          </a:p>
        </p:txBody>
      </p:sp>
      <p:sp>
        <p:nvSpPr>
          <p:cNvPr id="23" name="Shape 20"/>
          <p:cNvSpPr/>
          <p:nvPr/>
        </p:nvSpPr>
        <p:spPr>
          <a:xfrm>
            <a:off x="3886200" y="3977640"/>
            <a:ext cx="566928" cy="91440"/>
          </a:xfrm>
          <a:prstGeom prst="rect">
            <a:avLst/>
          </a:prstGeom>
          <a:solidFill>
            <a:srgbClr val="1D4ED8"/>
          </a:solidFill>
          <a:ln w="6350">
            <a:solidFill>
              <a:srgbClr val="1D4ED8"/>
            </a:solidFill>
            <a:prstDash val="solid"/>
          </a:ln>
        </p:spPr>
        <p:txBody>
          <a:bodyPr/>
          <a:lstStyle/>
          <a:p>
            <a:endParaRPr lang="en-US"/>
          </a:p>
        </p:txBody>
      </p:sp>
      <p:sp>
        <p:nvSpPr>
          <p:cNvPr id="24" name="Text 21"/>
          <p:cNvSpPr txBox="1"/>
          <p:nvPr/>
        </p:nvSpPr>
        <p:spPr>
          <a:xfrm>
            <a:off x="3703320" y="3758184"/>
            <a:ext cx="932688" cy="201168"/>
          </a:xfrm>
          <a:prstGeom prst="rect">
            <a:avLst/>
          </a:prstGeom>
          <a:noFill/>
          <a:ln/>
        </p:spPr>
        <p:txBody>
          <a:bodyPr wrap="square" lIns="0" tIns="0" rIns="0" bIns="0" rtlCol="0" anchor="t"/>
          <a:lstStyle/>
          <a:p>
            <a:pPr marL="0" indent="0" algn="ctr">
              <a:buNone/>
            </a:pPr>
            <a:r>
              <a:rPr lang="en-US" sz="900" b="1" dirty="0">
                <a:solidFill>
                  <a:srgbClr val="0A1F44"/>
                </a:solidFill>
                <a:latin typeface="Inter" pitchFamily="34" charset="0"/>
                <a:ea typeface="Inter" pitchFamily="34" charset="-122"/>
                <a:cs typeface="Inter" pitchFamily="34" charset="-120"/>
              </a:rPr>
              <a:t>2,592</a:t>
            </a:r>
            <a:endParaRPr lang="en-US" sz="900" dirty="0"/>
          </a:p>
        </p:txBody>
      </p:sp>
      <p:sp>
        <p:nvSpPr>
          <p:cNvPr id="25" name="Text 22"/>
          <p:cNvSpPr txBox="1"/>
          <p:nvPr/>
        </p:nvSpPr>
        <p:spPr>
          <a:xfrm>
            <a:off x="3703320" y="4105656"/>
            <a:ext cx="932688" cy="201168"/>
          </a:xfrm>
          <a:prstGeom prst="rect">
            <a:avLst/>
          </a:prstGeom>
          <a:noFill/>
          <a:ln/>
        </p:spPr>
        <p:txBody>
          <a:bodyPr wrap="square" lIns="0" tIns="0" rIns="0" bIns="0" rtlCol="0" anchor="t"/>
          <a:lstStyle/>
          <a:p>
            <a:pPr marL="0" indent="0" algn="ctr">
              <a:buNone/>
            </a:pPr>
            <a:r>
              <a:rPr lang="en-US" sz="900" dirty="0">
                <a:solidFill>
                  <a:srgbClr val="0F172A"/>
                </a:solidFill>
                <a:latin typeface="Inter" pitchFamily="34" charset="0"/>
                <a:ea typeface="Inter" pitchFamily="34" charset="-122"/>
                <a:cs typeface="Inter" pitchFamily="34" charset="-120"/>
              </a:rPr>
              <a:t>Order</a:t>
            </a:r>
            <a:endParaRPr lang="en-US" sz="900" dirty="0"/>
          </a:p>
        </p:txBody>
      </p:sp>
      <p:sp>
        <p:nvSpPr>
          <p:cNvPr id="26" name="Shape 23"/>
          <p:cNvSpPr/>
          <p:nvPr/>
        </p:nvSpPr>
        <p:spPr>
          <a:xfrm>
            <a:off x="502920" y="4069080"/>
            <a:ext cx="4206240" cy="0"/>
          </a:xfrm>
          <a:prstGeom prst="line">
            <a:avLst/>
          </a:prstGeom>
          <a:noFill/>
          <a:ln w="12700">
            <a:solidFill>
              <a:srgbClr val="0F172A"/>
            </a:solidFill>
            <a:prstDash val="solid"/>
          </a:ln>
        </p:spPr>
        <p:txBody>
          <a:bodyPr/>
          <a:lstStyle/>
          <a:p>
            <a:endParaRPr lang="en-US"/>
          </a:p>
        </p:txBody>
      </p:sp>
      <p:sp>
        <p:nvSpPr>
          <p:cNvPr id="27" name="Shape 24"/>
          <p:cNvSpPr/>
          <p:nvPr/>
        </p:nvSpPr>
        <p:spPr>
          <a:xfrm flipV="1">
            <a:off x="1712503" y="2560319"/>
            <a:ext cx="811233" cy="1"/>
          </a:xfrm>
          <a:prstGeom prst="line">
            <a:avLst/>
          </a:prstGeom>
          <a:noFill/>
          <a:ln w="15875">
            <a:solidFill>
              <a:srgbClr val="DC2626"/>
            </a:solidFill>
            <a:prstDash val="solid"/>
          </a:ln>
        </p:spPr>
        <p:txBody>
          <a:bodyPr/>
          <a:lstStyle/>
          <a:p>
            <a:endParaRPr lang="en-US"/>
          </a:p>
        </p:txBody>
      </p:sp>
      <p:sp>
        <p:nvSpPr>
          <p:cNvPr id="28" name="Shape 25"/>
          <p:cNvSpPr/>
          <p:nvPr/>
        </p:nvSpPr>
        <p:spPr>
          <a:xfrm>
            <a:off x="1715008" y="2560320"/>
            <a:ext cx="0" cy="91440"/>
          </a:xfrm>
          <a:prstGeom prst="line">
            <a:avLst/>
          </a:prstGeom>
          <a:noFill/>
          <a:ln w="15875">
            <a:solidFill>
              <a:srgbClr val="DC2626"/>
            </a:solidFill>
            <a:prstDash val="solid"/>
          </a:ln>
        </p:spPr>
        <p:txBody>
          <a:bodyPr/>
          <a:lstStyle/>
          <a:p>
            <a:endParaRPr lang="en-US"/>
          </a:p>
        </p:txBody>
      </p:sp>
      <p:sp>
        <p:nvSpPr>
          <p:cNvPr id="29" name="Shape 26"/>
          <p:cNvSpPr/>
          <p:nvPr/>
        </p:nvSpPr>
        <p:spPr>
          <a:xfrm>
            <a:off x="2523744" y="2562338"/>
            <a:ext cx="0" cy="676685"/>
          </a:xfrm>
          <a:prstGeom prst="line">
            <a:avLst/>
          </a:prstGeom>
          <a:noFill/>
          <a:ln w="15875">
            <a:solidFill>
              <a:srgbClr val="DC2626"/>
            </a:solidFill>
            <a:prstDash val="solid"/>
          </a:ln>
        </p:spPr>
        <p:txBody>
          <a:bodyPr/>
          <a:lstStyle/>
          <a:p>
            <a:endParaRPr lang="en-US"/>
          </a:p>
        </p:txBody>
      </p:sp>
      <p:sp>
        <p:nvSpPr>
          <p:cNvPr id="30" name="Shape 27"/>
          <p:cNvSpPr/>
          <p:nvPr/>
        </p:nvSpPr>
        <p:spPr>
          <a:xfrm>
            <a:off x="1837730" y="2255521"/>
            <a:ext cx="585216" cy="228600"/>
          </a:xfrm>
          <a:prstGeom prst="roundRect">
            <a:avLst>
              <a:gd name="adj" fmla="val 48000"/>
            </a:avLst>
          </a:prstGeom>
          <a:solidFill>
            <a:srgbClr val="DC2626"/>
          </a:solidFill>
          <a:ln w="6350">
            <a:solidFill>
              <a:srgbClr val="DC2626"/>
            </a:solidFill>
            <a:prstDash val="solid"/>
          </a:ln>
        </p:spPr>
        <p:txBody>
          <a:bodyPr/>
          <a:lstStyle/>
          <a:p>
            <a:endParaRPr lang="en-US"/>
          </a:p>
        </p:txBody>
      </p:sp>
      <p:sp>
        <p:nvSpPr>
          <p:cNvPr id="31" name="Text 28"/>
          <p:cNvSpPr txBox="1"/>
          <p:nvPr/>
        </p:nvSpPr>
        <p:spPr>
          <a:xfrm>
            <a:off x="1829262" y="2255521"/>
            <a:ext cx="585216" cy="228600"/>
          </a:xfrm>
          <a:prstGeom prst="rect">
            <a:avLst/>
          </a:prstGeom>
          <a:noFill/>
          <a:ln/>
        </p:spPr>
        <p:txBody>
          <a:bodyPr wrap="square" lIns="0" tIns="0" rIns="0" bIns="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−69%</a:t>
            </a:r>
            <a:endParaRPr lang="en-US" sz="950" dirty="0"/>
          </a:p>
        </p:txBody>
      </p:sp>
      <p:sp>
        <p:nvSpPr>
          <p:cNvPr id="32" name="Shape 29"/>
          <p:cNvSpPr/>
          <p:nvPr/>
        </p:nvSpPr>
        <p:spPr>
          <a:xfrm>
            <a:off x="2523744" y="3337560"/>
            <a:ext cx="1645920" cy="0"/>
          </a:xfrm>
          <a:prstGeom prst="line">
            <a:avLst/>
          </a:prstGeom>
          <a:noFill/>
          <a:ln w="15875">
            <a:solidFill>
              <a:srgbClr val="DC2626"/>
            </a:solidFill>
            <a:prstDash val="solid"/>
          </a:ln>
        </p:spPr>
        <p:txBody>
          <a:bodyPr/>
          <a:lstStyle/>
          <a:p>
            <a:endParaRPr lang="en-US"/>
          </a:p>
        </p:txBody>
      </p:sp>
      <p:sp>
        <p:nvSpPr>
          <p:cNvPr id="33" name="Shape 30"/>
          <p:cNvSpPr/>
          <p:nvPr/>
        </p:nvSpPr>
        <p:spPr>
          <a:xfrm>
            <a:off x="2523744" y="3337560"/>
            <a:ext cx="0" cy="91440"/>
          </a:xfrm>
          <a:prstGeom prst="line">
            <a:avLst/>
          </a:prstGeom>
          <a:noFill/>
          <a:ln w="15875">
            <a:solidFill>
              <a:srgbClr val="DC2626"/>
            </a:solidFill>
            <a:prstDash val="solid"/>
          </a:ln>
        </p:spPr>
        <p:txBody>
          <a:bodyPr/>
          <a:lstStyle/>
          <a:p>
            <a:endParaRPr lang="en-US"/>
          </a:p>
        </p:txBody>
      </p:sp>
      <p:sp>
        <p:nvSpPr>
          <p:cNvPr id="34" name="Shape 31"/>
          <p:cNvSpPr/>
          <p:nvPr/>
        </p:nvSpPr>
        <p:spPr>
          <a:xfrm>
            <a:off x="4169664" y="3337560"/>
            <a:ext cx="0" cy="91440"/>
          </a:xfrm>
          <a:prstGeom prst="line">
            <a:avLst/>
          </a:prstGeom>
          <a:noFill/>
          <a:ln w="15875">
            <a:solidFill>
              <a:srgbClr val="DC2626"/>
            </a:solidFill>
            <a:prstDash val="solid"/>
          </a:ln>
        </p:spPr>
        <p:txBody>
          <a:bodyPr/>
          <a:lstStyle/>
          <a:p>
            <a:endParaRPr lang="en-US"/>
          </a:p>
        </p:txBody>
      </p:sp>
      <p:sp>
        <p:nvSpPr>
          <p:cNvPr id="35" name="Shape 32"/>
          <p:cNvSpPr/>
          <p:nvPr/>
        </p:nvSpPr>
        <p:spPr>
          <a:xfrm>
            <a:off x="3054096" y="3036996"/>
            <a:ext cx="585216" cy="228600"/>
          </a:xfrm>
          <a:prstGeom prst="roundRect">
            <a:avLst>
              <a:gd name="adj" fmla="val 48000"/>
            </a:avLst>
          </a:prstGeom>
          <a:solidFill>
            <a:srgbClr val="DC2626"/>
          </a:solidFill>
          <a:ln w="6350">
            <a:solidFill>
              <a:srgbClr val="DC2626"/>
            </a:solidFill>
            <a:prstDash val="solid"/>
          </a:ln>
        </p:spPr>
        <p:txBody>
          <a:bodyPr/>
          <a:lstStyle/>
          <a:p>
            <a:endParaRPr lang="en-US"/>
          </a:p>
        </p:txBody>
      </p:sp>
      <p:sp>
        <p:nvSpPr>
          <p:cNvPr id="36" name="Text 33"/>
          <p:cNvSpPr txBox="1"/>
          <p:nvPr/>
        </p:nvSpPr>
        <p:spPr>
          <a:xfrm>
            <a:off x="3054096" y="3036995"/>
            <a:ext cx="585216" cy="228600"/>
          </a:xfrm>
          <a:prstGeom prst="rect">
            <a:avLst/>
          </a:prstGeom>
          <a:noFill/>
          <a:ln/>
        </p:spPr>
        <p:txBody>
          <a:bodyPr wrap="square" lIns="0" tIns="0" rIns="0" bIns="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−77%</a:t>
            </a:r>
            <a:endParaRPr lang="en-US" sz="950" dirty="0"/>
          </a:p>
        </p:txBody>
      </p:sp>
      <p:sp>
        <p:nvSpPr>
          <p:cNvPr id="37" name="Shape 34"/>
          <p:cNvSpPr/>
          <p:nvPr/>
        </p:nvSpPr>
        <p:spPr>
          <a:xfrm>
            <a:off x="2693397" y="1547368"/>
            <a:ext cx="2025227" cy="546605"/>
          </a:xfrm>
          <a:prstGeom prst="roundRect">
            <a:avLst>
              <a:gd name="adj" fmla="val 9677"/>
            </a:avLst>
          </a:prstGeom>
          <a:solidFill>
            <a:srgbClr val="FFFFFF"/>
          </a:solidFill>
          <a:ln w="12700">
            <a:solidFill>
              <a:srgbClr val="94A3B8"/>
            </a:solidFill>
            <a:prstDash val="solid"/>
          </a:ln>
        </p:spPr>
        <p:txBody>
          <a:bodyPr/>
          <a:lstStyle/>
          <a:p>
            <a:endParaRPr lang="en-US"/>
          </a:p>
        </p:txBody>
      </p:sp>
      <p:sp>
        <p:nvSpPr>
          <p:cNvPr id="38" name="Text 35"/>
          <p:cNvSpPr txBox="1"/>
          <p:nvPr/>
        </p:nvSpPr>
        <p:spPr>
          <a:xfrm>
            <a:off x="2758882" y="1590550"/>
            <a:ext cx="1939169" cy="438910"/>
          </a:xfrm>
          <a:prstGeom prst="rect">
            <a:avLst/>
          </a:prstGeom>
          <a:noFill/>
          <a:ln/>
        </p:spPr>
        <p:txBody>
          <a:bodyPr wrap="square" lIns="0" tIns="0" rIns="0" bIns="0" rtlCol="0" anchor="ctr"/>
          <a:lstStyle/>
          <a:p>
            <a:pPr marL="0" indent="0">
              <a:buNone/>
            </a:pPr>
            <a:r>
              <a:rPr lang="en-US" sz="900" b="1" dirty="0">
                <a:solidFill>
                  <a:srgbClr val="0A1F44"/>
                </a:solidFill>
                <a:latin typeface="Inter" pitchFamily="34" charset="0"/>
                <a:ea typeface="Inter" pitchFamily="34" charset="-122"/>
                <a:cs typeface="Inter" pitchFamily="34" charset="-120"/>
              </a:rPr>
              <a:t>Price signals quality: </a:t>
            </a:r>
            <a:r>
              <a:rPr lang="en-US" sz="900" dirty="0">
                <a:solidFill>
                  <a:srgbClr val="0F172A"/>
                </a:solidFill>
                <a:latin typeface="Inter" pitchFamily="34" charset="0"/>
                <a:ea typeface="Inter" pitchFamily="34" charset="-122"/>
                <a:cs typeface="Inter" pitchFamily="34" charset="-120"/>
              </a:rPr>
              <a:t>cashmere at half price can feel too good to be true (our hypothesis)</a:t>
            </a:r>
            <a:endParaRPr lang="en-US" sz="900" dirty="0"/>
          </a:p>
        </p:txBody>
      </p:sp>
      <p:sp>
        <p:nvSpPr>
          <p:cNvPr id="39" name="Shape 36"/>
          <p:cNvSpPr/>
          <p:nvPr/>
        </p:nvSpPr>
        <p:spPr>
          <a:xfrm>
            <a:off x="502920" y="4343400"/>
            <a:ext cx="4206240" cy="411480"/>
          </a:xfrm>
          <a:prstGeom prst="roundRect">
            <a:avLst>
              <a:gd name="adj" fmla="val 13333"/>
            </a:avLst>
          </a:prstGeom>
          <a:solidFill>
            <a:srgbClr val="EFF6FF"/>
          </a:solidFill>
          <a:ln w="6350">
            <a:solidFill>
              <a:srgbClr val="EFF6FF"/>
            </a:solidFill>
            <a:prstDash val="solid"/>
          </a:ln>
        </p:spPr>
        <p:txBody>
          <a:bodyPr/>
          <a:lstStyle/>
          <a:p>
            <a:endParaRPr lang="en-US"/>
          </a:p>
        </p:txBody>
      </p:sp>
      <p:sp>
        <p:nvSpPr>
          <p:cNvPr id="40" name="Text 37"/>
          <p:cNvSpPr txBox="1"/>
          <p:nvPr/>
        </p:nvSpPr>
        <p:spPr>
          <a:xfrm>
            <a:off x="621792" y="4343400"/>
            <a:ext cx="4023360" cy="411480"/>
          </a:xfrm>
          <a:prstGeom prst="rect">
            <a:avLst/>
          </a:prstGeom>
          <a:noFill/>
          <a:ln/>
        </p:spPr>
        <p:txBody>
          <a:bodyPr wrap="square" lIns="0" tIns="0" rIns="0" bIns="0" rtlCol="0" anchor="ctr"/>
          <a:lstStyle/>
          <a:p>
            <a:pPr marL="0" indent="0">
              <a:buNone/>
            </a:pPr>
            <a:r>
              <a:rPr lang="en-US" sz="950" b="1" dirty="0">
                <a:solidFill>
                  <a:srgbClr val="1D4ED8"/>
                </a:solidFill>
                <a:latin typeface="Inter" pitchFamily="34" charset="0"/>
                <a:ea typeface="Inter" pitchFamily="34" charset="-122"/>
                <a:cs typeface="Inter" pitchFamily="34" charset="-120"/>
              </a:rPr>
              <a:t>Only 1 </a:t>
            </a:r>
            <a:r>
              <a:rPr lang="en-US" sz="950" dirty="0">
                <a:solidFill>
                  <a:srgbClr val="0A1F44"/>
                </a:solidFill>
                <a:latin typeface="Inter" pitchFamily="34" charset="0"/>
                <a:ea typeface="Inter" pitchFamily="34" charset="-122"/>
                <a:cs typeface="Inter" pitchFamily="34" charset="-120"/>
              </a:rPr>
              <a:t>of ~5,500 carts that stop before checkout gets a follow-up email (Flow)</a:t>
            </a:r>
            <a:endParaRPr lang="en-US" sz="950" dirty="0"/>
          </a:p>
        </p:txBody>
      </p:sp>
      <p:sp>
        <p:nvSpPr>
          <p:cNvPr id="41" name="Shape 38"/>
          <p:cNvSpPr/>
          <p:nvPr/>
        </p:nvSpPr>
        <p:spPr>
          <a:xfrm>
            <a:off x="4892040" y="1280160"/>
            <a:ext cx="0" cy="3474720"/>
          </a:xfrm>
          <a:prstGeom prst="line">
            <a:avLst/>
          </a:prstGeom>
          <a:noFill/>
          <a:ln w="9525">
            <a:solidFill>
              <a:srgbClr val="E2E8F0"/>
            </a:solidFill>
            <a:prstDash val="solid"/>
          </a:ln>
        </p:spPr>
        <p:txBody>
          <a:bodyPr/>
          <a:lstStyle/>
          <a:p>
            <a:endParaRPr lang="en-US"/>
          </a:p>
        </p:txBody>
      </p:sp>
      <p:sp>
        <p:nvSpPr>
          <p:cNvPr id="42" name="Text 39"/>
          <p:cNvSpPr txBox="1"/>
          <p:nvPr/>
        </p:nvSpPr>
        <p:spPr>
          <a:xfrm>
            <a:off x="5074920" y="1234440"/>
            <a:ext cx="3291840" cy="274320"/>
          </a:xfrm>
          <a:prstGeom prst="rect">
            <a:avLst/>
          </a:prstGeom>
          <a:noFill/>
          <a:ln/>
        </p:spPr>
        <p:txBody>
          <a:bodyPr wrap="square" lIns="0" tIns="0" rIns="0" bIns="0" rtlCol="0" anchor="t"/>
          <a:lstStyle/>
          <a:p>
            <a:pPr marL="0" indent="0">
              <a:buNone/>
            </a:pPr>
            <a:r>
              <a:rPr lang="en-US" sz="1250" b="1" dirty="0">
                <a:solidFill>
                  <a:srgbClr val="0A1F44"/>
                </a:solidFill>
                <a:latin typeface="Inter" pitchFamily="34" charset="0"/>
                <a:ea typeface="Inter" pitchFamily="34" charset="-122"/>
                <a:cs typeface="Inter" pitchFamily="34" charset="-120"/>
              </a:rPr>
              <a:t>Who comes back</a:t>
            </a:r>
            <a:endParaRPr lang="en-US" sz="1250" dirty="0"/>
          </a:p>
        </p:txBody>
      </p:sp>
      <p:sp>
        <p:nvSpPr>
          <p:cNvPr id="43" name="Text 40"/>
          <p:cNvSpPr txBox="1"/>
          <p:nvPr/>
        </p:nvSpPr>
        <p:spPr>
          <a:xfrm>
            <a:off x="5074920" y="1508760"/>
            <a:ext cx="3291840" cy="219456"/>
          </a:xfrm>
          <a:prstGeom prst="rect">
            <a:avLst/>
          </a:prstGeom>
          <a:noFill/>
          <a:ln/>
        </p:spPr>
        <p:txBody>
          <a:bodyPr wrap="square" lIns="0" tIns="0" rIns="0" bIns="0" rtlCol="0" anchor="t"/>
          <a:lstStyle/>
          <a:p>
            <a:pPr marL="0" indent="0">
              <a:buNone/>
            </a:pPr>
            <a:r>
              <a:rPr lang="en-US" sz="950" dirty="0">
                <a:solidFill>
                  <a:srgbClr val="64748B"/>
                </a:solidFill>
                <a:latin typeface="Inter" pitchFamily="34" charset="0"/>
                <a:ea typeface="Inter" pitchFamily="34" charset="-122"/>
                <a:cs typeface="Inter" pitchFamily="34" charset="-120"/>
              </a:rPr>
              <a:t>Repeat rate in the CJA window</a:t>
            </a:r>
            <a:endParaRPr lang="en-US" sz="950" dirty="0"/>
          </a:p>
        </p:txBody>
      </p:sp>
      <p:sp>
        <p:nvSpPr>
          <p:cNvPr id="44" name="Text 41"/>
          <p:cNvSpPr txBox="1"/>
          <p:nvPr/>
        </p:nvSpPr>
        <p:spPr>
          <a:xfrm>
            <a:off x="5074920" y="1783080"/>
            <a:ext cx="3200400" cy="201168"/>
          </a:xfrm>
          <a:prstGeom prst="rect">
            <a:avLst/>
          </a:prstGeom>
          <a:noFill/>
          <a:ln/>
        </p:spPr>
        <p:txBody>
          <a:bodyPr wrap="square" lIns="0" tIns="0" rIns="0" bIns="0" rtlCol="0" anchor="t"/>
          <a:lstStyle/>
          <a:p>
            <a:pPr marL="0" indent="0">
              <a:buNone/>
            </a:pPr>
            <a:r>
              <a:rPr lang="en-US" sz="900" dirty="0">
                <a:solidFill>
                  <a:srgbClr val="0F172A"/>
                </a:solidFill>
                <a:latin typeface="Inter" pitchFamily="34" charset="0"/>
                <a:ea typeface="Inter" pitchFamily="34" charset="-122"/>
                <a:cs typeface="Inter" pitchFamily="34" charset="-120"/>
              </a:rPr>
              <a:t>Engaged with email, SMS or app (A2)</a:t>
            </a:r>
            <a:endParaRPr lang="en-US" sz="900" dirty="0"/>
          </a:p>
        </p:txBody>
      </p:sp>
      <p:sp>
        <p:nvSpPr>
          <p:cNvPr id="45" name="Shape 42"/>
          <p:cNvSpPr/>
          <p:nvPr/>
        </p:nvSpPr>
        <p:spPr>
          <a:xfrm>
            <a:off x="5074920" y="1993392"/>
            <a:ext cx="2331720" cy="201168"/>
          </a:xfrm>
          <a:prstGeom prst="rect">
            <a:avLst/>
          </a:prstGeom>
          <a:solidFill>
            <a:srgbClr val="1D4ED8"/>
          </a:solidFill>
          <a:ln w="6350">
            <a:solidFill>
              <a:srgbClr val="1D4ED8"/>
            </a:solidFill>
            <a:prstDash val="solid"/>
          </a:ln>
        </p:spPr>
        <p:txBody>
          <a:bodyPr/>
          <a:lstStyle/>
          <a:p>
            <a:endParaRPr lang="en-US"/>
          </a:p>
        </p:txBody>
      </p:sp>
      <p:sp>
        <p:nvSpPr>
          <p:cNvPr id="46" name="Text 43"/>
          <p:cNvSpPr txBox="1"/>
          <p:nvPr/>
        </p:nvSpPr>
        <p:spPr>
          <a:xfrm>
            <a:off x="7479792" y="1947672"/>
            <a:ext cx="640080" cy="274320"/>
          </a:xfrm>
          <a:prstGeom prst="rect">
            <a:avLst/>
          </a:prstGeom>
          <a:noFill/>
          <a:ln/>
        </p:spPr>
        <p:txBody>
          <a:bodyPr wrap="square" lIns="0" tIns="0" rIns="0" bIns="0" rtlCol="0" anchor="ctr"/>
          <a:lstStyle/>
          <a:p>
            <a:pPr marL="0" indent="0">
              <a:buNone/>
            </a:pPr>
            <a:r>
              <a:rPr lang="en-US" sz="1000" b="1" dirty="0">
                <a:solidFill>
                  <a:srgbClr val="0A1F44"/>
                </a:solidFill>
                <a:latin typeface="Inter" pitchFamily="34" charset="0"/>
                <a:ea typeface="Inter" pitchFamily="34" charset="-122"/>
                <a:cs typeface="Inter" pitchFamily="34" charset="-120"/>
              </a:rPr>
              <a:t>28.1%</a:t>
            </a:r>
            <a:endParaRPr lang="en-US" sz="1000" dirty="0"/>
          </a:p>
        </p:txBody>
      </p:sp>
      <p:sp>
        <p:nvSpPr>
          <p:cNvPr id="47" name="Text 44"/>
          <p:cNvSpPr txBox="1"/>
          <p:nvPr/>
        </p:nvSpPr>
        <p:spPr>
          <a:xfrm>
            <a:off x="5074920" y="2258568"/>
            <a:ext cx="3200400" cy="201168"/>
          </a:xfrm>
          <a:prstGeom prst="rect">
            <a:avLst/>
          </a:prstGeom>
          <a:noFill/>
          <a:ln/>
        </p:spPr>
        <p:txBody>
          <a:bodyPr wrap="square" lIns="0" tIns="0" rIns="0" bIns="0" rtlCol="0" anchor="t"/>
          <a:lstStyle/>
          <a:p>
            <a:pPr marL="0" indent="0">
              <a:buNone/>
            </a:pPr>
            <a:r>
              <a:rPr lang="en-US" sz="900" dirty="0">
                <a:solidFill>
                  <a:srgbClr val="0F172A"/>
                </a:solidFill>
                <a:latin typeface="Inter" pitchFamily="34" charset="0"/>
                <a:ea typeface="Inter" pitchFamily="34" charset="-122"/>
                <a:cs typeface="Inter" pitchFamily="34" charset="-120"/>
              </a:rPr>
              <a:t>App after order one (A5, n=265)</a:t>
            </a:r>
            <a:endParaRPr lang="en-US" sz="900" dirty="0"/>
          </a:p>
        </p:txBody>
      </p:sp>
      <p:sp>
        <p:nvSpPr>
          <p:cNvPr id="48" name="Shape 45"/>
          <p:cNvSpPr/>
          <p:nvPr/>
        </p:nvSpPr>
        <p:spPr>
          <a:xfrm>
            <a:off x="5074920" y="2468880"/>
            <a:ext cx="1784056" cy="201168"/>
          </a:xfrm>
          <a:prstGeom prst="rect">
            <a:avLst/>
          </a:prstGeom>
          <a:solidFill>
            <a:srgbClr val="2563EB"/>
          </a:solidFill>
          <a:ln w="6350">
            <a:solidFill>
              <a:srgbClr val="2563EB"/>
            </a:solidFill>
            <a:prstDash val="solid"/>
          </a:ln>
        </p:spPr>
        <p:txBody>
          <a:bodyPr/>
          <a:lstStyle/>
          <a:p>
            <a:endParaRPr lang="en-US"/>
          </a:p>
        </p:txBody>
      </p:sp>
      <p:sp>
        <p:nvSpPr>
          <p:cNvPr id="49" name="Text 46"/>
          <p:cNvSpPr txBox="1"/>
          <p:nvPr/>
        </p:nvSpPr>
        <p:spPr>
          <a:xfrm>
            <a:off x="6932128" y="2423160"/>
            <a:ext cx="640080" cy="274320"/>
          </a:xfrm>
          <a:prstGeom prst="rect">
            <a:avLst/>
          </a:prstGeom>
          <a:noFill/>
          <a:ln/>
        </p:spPr>
        <p:txBody>
          <a:bodyPr wrap="square" lIns="0" tIns="0" rIns="0" bIns="0" rtlCol="0" anchor="ctr"/>
          <a:lstStyle/>
          <a:p>
            <a:pPr marL="0" indent="0">
              <a:buNone/>
            </a:pPr>
            <a:r>
              <a:rPr lang="en-US" sz="1000" b="1" dirty="0">
                <a:solidFill>
                  <a:srgbClr val="0A1F44"/>
                </a:solidFill>
                <a:latin typeface="Inter" pitchFamily="34" charset="0"/>
                <a:ea typeface="Inter" pitchFamily="34" charset="-122"/>
                <a:cs typeface="Inter" pitchFamily="34" charset="-120"/>
              </a:rPr>
              <a:t>21.5%</a:t>
            </a:r>
            <a:endParaRPr lang="en-US" sz="1000" dirty="0"/>
          </a:p>
        </p:txBody>
      </p:sp>
      <p:sp>
        <p:nvSpPr>
          <p:cNvPr id="50" name="Text 47"/>
          <p:cNvSpPr txBox="1"/>
          <p:nvPr/>
        </p:nvSpPr>
        <p:spPr>
          <a:xfrm>
            <a:off x="5074920" y="2734056"/>
            <a:ext cx="3200400" cy="201168"/>
          </a:xfrm>
          <a:prstGeom prst="rect">
            <a:avLst/>
          </a:prstGeom>
          <a:noFill/>
          <a:ln/>
        </p:spPr>
        <p:txBody>
          <a:bodyPr wrap="square" lIns="0" tIns="0" rIns="0" bIns="0" rtlCol="0" anchor="t"/>
          <a:lstStyle/>
          <a:p>
            <a:pPr marL="0" indent="0">
              <a:buNone/>
            </a:pPr>
            <a:r>
              <a:rPr lang="en-US" sz="900" dirty="0">
                <a:solidFill>
                  <a:srgbClr val="0F172A"/>
                </a:solidFill>
                <a:latin typeface="Inter" pitchFamily="34" charset="0"/>
                <a:ea typeface="Inter" pitchFamily="34" charset="-122"/>
                <a:cs typeface="Inter" pitchFamily="34" charset="-120"/>
              </a:rPr>
              <a:t>SMS after order one (A5, n=315)</a:t>
            </a:r>
            <a:endParaRPr lang="en-US" sz="900" dirty="0"/>
          </a:p>
        </p:txBody>
      </p:sp>
      <p:sp>
        <p:nvSpPr>
          <p:cNvPr id="51" name="Shape 48"/>
          <p:cNvSpPr/>
          <p:nvPr/>
        </p:nvSpPr>
        <p:spPr>
          <a:xfrm>
            <a:off x="5074920" y="2944368"/>
            <a:ext cx="970859" cy="201168"/>
          </a:xfrm>
          <a:prstGeom prst="rect">
            <a:avLst/>
          </a:prstGeom>
          <a:solidFill>
            <a:srgbClr val="60A5FA"/>
          </a:solidFill>
          <a:ln w="6350">
            <a:solidFill>
              <a:srgbClr val="60A5FA"/>
            </a:solidFill>
            <a:prstDash val="solid"/>
          </a:ln>
        </p:spPr>
        <p:txBody>
          <a:bodyPr/>
          <a:lstStyle/>
          <a:p>
            <a:endParaRPr lang="en-US"/>
          </a:p>
        </p:txBody>
      </p:sp>
      <p:sp>
        <p:nvSpPr>
          <p:cNvPr id="52" name="Text 49"/>
          <p:cNvSpPr txBox="1"/>
          <p:nvPr/>
        </p:nvSpPr>
        <p:spPr>
          <a:xfrm>
            <a:off x="6118931" y="2898648"/>
            <a:ext cx="640080" cy="274320"/>
          </a:xfrm>
          <a:prstGeom prst="rect">
            <a:avLst/>
          </a:prstGeom>
          <a:noFill/>
          <a:ln/>
        </p:spPr>
        <p:txBody>
          <a:bodyPr wrap="square" lIns="0" tIns="0" rIns="0" bIns="0" rtlCol="0" anchor="ctr"/>
          <a:lstStyle/>
          <a:p>
            <a:pPr marL="0" indent="0">
              <a:buNone/>
            </a:pPr>
            <a:r>
              <a:rPr lang="en-US" sz="1000" b="1" dirty="0">
                <a:solidFill>
                  <a:srgbClr val="0A1F44"/>
                </a:solidFill>
                <a:latin typeface="Inter" pitchFamily="34" charset="0"/>
                <a:ea typeface="Inter" pitchFamily="34" charset="-122"/>
                <a:cs typeface="Inter" pitchFamily="34" charset="-120"/>
              </a:rPr>
              <a:t>11.7%</a:t>
            </a:r>
            <a:endParaRPr lang="en-US" sz="1000" dirty="0"/>
          </a:p>
        </p:txBody>
      </p:sp>
      <p:sp>
        <p:nvSpPr>
          <p:cNvPr id="53" name="Text 50"/>
          <p:cNvSpPr txBox="1"/>
          <p:nvPr/>
        </p:nvSpPr>
        <p:spPr>
          <a:xfrm>
            <a:off x="5074920" y="3209544"/>
            <a:ext cx="3200400" cy="201168"/>
          </a:xfrm>
          <a:prstGeom prst="rect">
            <a:avLst/>
          </a:prstGeom>
          <a:noFill/>
          <a:ln/>
        </p:spPr>
        <p:txBody>
          <a:bodyPr wrap="square" lIns="0" tIns="0" rIns="0" bIns="0" rtlCol="0" anchor="t"/>
          <a:lstStyle/>
          <a:p>
            <a:pPr marL="0" indent="0">
              <a:buNone/>
            </a:pPr>
            <a:r>
              <a:rPr lang="en-US" sz="900" dirty="0">
                <a:solidFill>
                  <a:srgbClr val="0F172A"/>
                </a:solidFill>
                <a:latin typeface="Inter" pitchFamily="34" charset="0"/>
                <a:ea typeface="Inter" pitchFamily="34" charset="-122"/>
                <a:cs typeface="Inter" pitchFamily="34" charset="-120"/>
              </a:rPr>
              <a:t>Not engaged (A2)</a:t>
            </a:r>
            <a:endParaRPr lang="en-US" sz="900" dirty="0"/>
          </a:p>
        </p:txBody>
      </p:sp>
      <p:sp>
        <p:nvSpPr>
          <p:cNvPr id="54" name="Shape 51"/>
          <p:cNvSpPr/>
          <p:nvPr/>
        </p:nvSpPr>
        <p:spPr>
          <a:xfrm>
            <a:off x="5074920" y="3419856"/>
            <a:ext cx="390003" cy="201168"/>
          </a:xfrm>
          <a:prstGeom prst="rect">
            <a:avLst/>
          </a:prstGeom>
          <a:solidFill>
            <a:srgbClr val="94A3B8"/>
          </a:solidFill>
          <a:ln w="6350">
            <a:solidFill>
              <a:srgbClr val="94A3B8"/>
            </a:solidFill>
            <a:prstDash val="solid"/>
          </a:ln>
        </p:spPr>
        <p:txBody>
          <a:bodyPr/>
          <a:lstStyle/>
          <a:p>
            <a:endParaRPr lang="en-US"/>
          </a:p>
        </p:txBody>
      </p:sp>
      <p:sp>
        <p:nvSpPr>
          <p:cNvPr id="55" name="Text 52"/>
          <p:cNvSpPr txBox="1"/>
          <p:nvPr/>
        </p:nvSpPr>
        <p:spPr>
          <a:xfrm>
            <a:off x="5538075" y="3374136"/>
            <a:ext cx="640080" cy="274320"/>
          </a:xfrm>
          <a:prstGeom prst="rect">
            <a:avLst/>
          </a:prstGeom>
          <a:noFill/>
          <a:ln/>
        </p:spPr>
        <p:txBody>
          <a:bodyPr wrap="square" lIns="0" tIns="0" rIns="0" bIns="0" rtlCol="0" anchor="ctr"/>
          <a:lstStyle/>
          <a:p>
            <a:pPr marL="0" indent="0">
              <a:buNone/>
            </a:pPr>
            <a:r>
              <a:rPr lang="en-US" sz="1000" b="1" dirty="0">
                <a:solidFill>
                  <a:srgbClr val="0A1F44"/>
                </a:solidFill>
                <a:latin typeface="Inter" pitchFamily="34" charset="0"/>
                <a:ea typeface="Inter" pitchFamily="34" charset="-122"/>
                <a:cs typeface="Inter" pitchFamily="34" charset="-120"/>
              </a:rPr>
              <a:t>4.7%</a:t>
            </a:r>
            <a:endParaRPr lang="en-US" sz="1000" dirty="0"/>
          </a:p>
        </p:txBody>
      </p:sp>
      <p:sp>
        <p:nvSpPr>
          <p:cNvPr id="56" name="Shape 53"/>
          <p:cNvSpPr/>
          <p:nvPr/>
        </p:nvSpPr>
        <p:spPr>
          <a:xfrm>
            <a:off x="5074920" y="3794760"/>
            <a:ext cx="3291840" cy="960120"/>
          </a:xfrm>
          <a:prstGeom prst="roundRect">
            <a:avLst>
              <a:gd name="adj" fmla="val 5714"/>
            </a:avLst>
          </a:prstGeom>
          <a:solidFill>
            <a:srgbClr val="EFF6FF"/>
          </a:solidFill>
          <a:ln w="6350">
            <a:solidFill>
              <a:srgbClr val="EFF6FF"/>
            </a:solidFill>
            <a:prstDash val="solid"/>
          </a:ln>
        </p:spPr>
        <p:txBody>
          <a:bodyPr/>
          <a:lstStyle/>
          <a:p>
            <a:endParaRPr lang="en-US"/>
          </a:p>
        </p:txBody>
      </p:sp>
      <p:sp>
        <p:nvSpPr>
          <p:cNvPr id="57" name="Text 54"/>
          <p:cNvSpPr txBox="1"/>
          <p:nvPr/>
        </p:nvSpPr>
        <p:spPr>
          <a:xfrm>
            <a:off x="5175504" y="3794760"/>
            <a:ext cx="3127248" cy="960120"/>
          </a:xfrm>
          <a:prstGeom prst="rect">
            <a:avLst/>
          </a:prstGeom>
          <a:noFill/>
          <a:ln/>
        </p:spPr>
        <p:txBody>
          <a:bodyPr wrap="square" lIns="0" tIns="0" rIns="0" bIns="0" rtlCol="0" anchor="ctr"/>
          <a:lstStyle/>
          <a:p>
            <a:pPr marL="0" indent="0">
              <a:buNone/>
            </a:pPr>
            <a:r>
              <a:rPr lang="en-US" sz="1500" b="1" dirty="0">
                <a:solidFill>
                  <a:srgbClr val="1D4ED8"/>
                </a:solidFill>
                <a:latin typeface="Inter" pitchFamily="34" charset="0"/>
                <a:ea typeface="Inter" pitchFamily="34" charset="-122"/>
                <a:cs typeface="Inter" pitchFamily="34" charset="-120"/>
              </a:rPr>
              <a:t>24.5% </a:t>
            </a:r>
            <a:r>
              <a:rPr lang="en-US" sz="1000" dirty="0">
                <a:solidFill>
                  <a:srgbClr val="0A1F44"/>
                </a:solidFill>
                <a:latin typeface="Inter" pitchFamily="34" charset="0"/>
                <a:ea typeface="Inter" pitchFamily="34" charset="-122"/>
                <a:cs typeface="Inter" pitchFamily="34" charset="-120"/>
              </a:rPr>
              <a:t>of buyers engage, yet they are </a:t>
            </a:r>
            <a:r>
              <a:rPr lang="en-US" sz="1500" b="1" dirty="0">
                <a:solidFill>
                  <a:srgbClr val="1D4ED8"/>
                </a:solidFill>
                <a:latin typeface="Inter" pitchFamily="34" charset="0"/>
                <a:ea typeface="Inter" pitchFamily="34" charset="-122"/>
                <a:cs typeface="Inter" pitchFamily="34" charset="-120"/>
              </a:rPr>
              <a:t>66% </a:t>
            </a:r>
            <a:r>
              <a:rPr lang="en-US" sz="1000" dirty="0">
                <a:solidFill>
                  <a:srgbClr val="0A1F44"/>
                </a:solidFill>
                <a:latin typeface="Inter" pitchFamily="34" charset="0"/>
                <a:ea typeface="Inter" pitchFamily="34" charset="-122"/>
                <a:cs typeface="Inter" pitchFamily="34" charset="-120"/>
              </a:rPr>
              <a:t>of repeat buyers (A2)</a:t>
            </a:r>
            <a:endParaRPr lang="en-US" sz="1000" dirty="0"/>
          </a:p>
        </p:txBody>
      </p:sp>
      <p:sp>
        <p:nvSpPr>
          <p:cNvPr id="58" name="Shape 55"/>
          <p:cNvSpPr/>
          <p:nvPr/>
        </p:nvSpPr>
        <p:spPr>
          <a:xfrm>
            <a:off x="8549640" y="1280160"/>
            <a:ext cx="0" cy="3474720"/>
          </a:xfrm>
          <a:prstGeom prst="line">
            <a:avLst/>
          </a:prstGeom>
          <a:noFill/>
          <a:ln w="9525">
            <a:solidFill>
              <a:srgbClr val="E2E8F0"/>
            </a:solidFill>
            <a:prstDash val="solid"/>
          </a:ln>
        </p:spPr>
        <p:txBody>
          <a:bodyPr/>
          <a:lstStyle/>
          <a:p>
            <a:endParaRPr lang="en-US"/>
          </a:p>
        </p:txBody>
      </p:sp>
      <p:sp>
        <p:nvSpPr>
          <p:cNvPr id="59" name="Text 56"/>
          <p:cNvSpPr txBox="1"/>
          <p:nvPr/>
        </p:nvSpPr>
        <p:spPr>
          <a:xfrm>
            <a:off x="8732520" y="1234440"/>
            <a:ext cx="2953512" cy="274320"/>
          </a:xfrm>
          <a:prstGeom prst="rect">
            <a:avLst/>
          </a:prstGeom>
          <a:noFill/>
          <a:ln/>
        </p:spPr>
        <p:txBody>
          <a:bodyPr wrap="square" lIns="0" tIns="0" rIns="0" bIns="0" rtlCol="0" anchor="t"/>
          <a:lstStyle/>
          <a:p>
            <a:pPr marL="0" indent="0">
              <a:buNone/>
            </a:pPr>
            <a:r>
              <a:rPr lang="en-US" sz="1250" b="1" dirty="0">
                <a:solidFill>
                  <a:srgbClr val="0A1F44"/>
                </a:solidFill>
                <a:latin typeface="Inter" pitchFamily="34" charset="0"/>
                <a:ea typeface="Inter" pitchFamily="34" charset="-122"/>
                <a:cs typeface="Inter" pitchFamily="34" charset="-120"/>
              </a:rPr>
              <a:t>When, and what next</a:t>
            </a:r>
            <a:endParaRPr lang="en-US" sz="1250" dirty="0"/>
          </a:p>
        </p:txBody>
      </p:sp>
      <p:sp>
        <p:nvSpPr>
          <p:cNvPr id="60" name="Text 57"/>
          <p:cNvSpPr txBox="1"/>
          <p:nvPr/>
        </p:nvSpPr>
        <p:spPr>
          <a:xfrm>
            <a:off x="8732520" y="1508760"/>
            <a:ext cx="2953512" cy="219456"/>
          </a:xfrm>
          <a:prstGeom prst="rect">
            <a:avLst/>
          </a:prstGeom>
          <a:noFill/>
          <a:ln/>
        </p:spPr>
        <p:txBody>
          <a:bodyPr wrap="square" lIns="0" tIns="0" rIns="0" bIns="0" rtlCol="0" anchor="t"/>
          <a:lstStyle/>
          <a:p>
            <a:pPr marL="0" indent="0">
              <a:buNone/>
            </a:pPr>
            <a:r>
              <a:rPr lang="en-US" sz="950" dirty="0">
                <a:solidFill>
                  <a:srgbClr val="64748B"/>
                </a:solidFill>
                <a:latin typeface="Inter" pitchFamily="34" charset="0"/>
                <a:ea typeface="Inter" pitchFamily="34" charset="-122"/>
                <a:cs typeface="Inter" pitchFamily="34" charset="-120"/>
              </a:rPr>
              <a:t>Repeat orders in week 2 (Cohort)</a:t>
            </a:r>
            <a:endParaRPr lang="en-US" sz="950" dirty="0"/>
          </a:p>
        </p:txBody>
      </p:sp>
      <p:sp>
        <p:nvSpPr>
          <p:cNvPr id="61" name="Text 58"/>
          <p:cNvSpPr txBox="1"/>
          <p:nvPr/>
        </p:nvSpPr>
        <p:spPr>
          <a:xfrm>
            <a:off x="8732520" y="1783080"/>
            <a:ext cx="1005840" cy="310896"/>
          </a:xfrm>
          <a:prstGeom prst="rect">
            <a:avLst/>
          </a:prstGeom>
          <a:noFill/>
          <a:ln/>
        </p:spPr>
        <p:txBody>
          <a:bodyPr wrap="square" lIns="0" tIns="0" rIns="0" bIns="0" rtlCol="0" anchor="ctr"/>
          <a:lstStyle/>
          <a:p>
            <a:pPr marL="0" indent="0">
              <a:buNone/>
            </a:pPr>
            <a:r>
              <a:rPr lang="en-US" sz="950" dirty="0">
                <a:solidFill>
                  <a:srgbClr val="0F172A"/>
                </a:solidFill>
                <a:latin typeface="Inter" pitchFamily="34" charset="0"/>
                <a:ea typeface="Inter" pitchFamily="34" charset="-122"/>
                <a:cs typeface="Inter" pitchFamily="34" charset="-120"/>
              </a:rPr>
              <a:t>Engaged</a:t>
            </a:r>
            <a:endParaRPr lang="en-US" sz="950" dirty="0"/>
          </a:p>
        </p:txBody>
      </p:sp>
      <p:sp>
        <p:nvSpPr>
          <p:cNvPr id="62" name="Shape 59"/>
          <p:cNvSpPr/>
          <p:nvPr/>
        </p:nvSpPr>
        <p:spPr>
          <a:xfrm>
            <a:off x="9738360" y="1847088"/>
            <a:ext cx="1325880" cy="182880"/>
          </a:xfrm>
          <a:prstGeom prst="rect">
            <a:avLst/>
          </a:prstGeom>
          <a:solidFill>
            <a:srgbClr val="1D4ED8"/>
          </a:solidFill>
          <a:ln w="6350">
            <a:solidFill>
              <a:srgbClr val="1D4ED8"/>
            </a:solidFill>
            <a:prstDash val="solid"/>
          </a:ln>
        </p:spPr>
        <p:txBody>
          <a:bodyPr/>
          <a:lstStyle/>
          <a:p>
            <a:endParaRPr lang="en-US"/>
          </a:p>
        </p:txBody>
      </p:sp>
      <p:sp>
        <p:nvSpPr>
          <p:cNvPr id="63" name="Text 60"/>
          <p:cNvSpPr txBox="1"/>
          <p:nvPr/>
        </p:nvSpPr>
        <p:spPr>
          <a:xfrm>
            <a:off x="11119104" y="1783080"/>
            <a:ext cx="548640" cy="310896"/>
          </a:xfrm>
          <a:prstGeom prst="rect">
            <a:avLst/>
          </a:prstGeom>
          <a:noFill/>
          <a:ln/>
        </p:spPr>
        <p:txBody>
          <a:bodyPr wrap="square" lIns="0" tIns="0" rIns="0" bIns="0" rtlCol="0" anchor="ctr"/>
          <a:lstStyle/>
          <a:p>
            <a:pPr marL="0" indent="0">
              <a:buNone/>
            </a:pPr>
            <a:r>
              <a:rPr lang="en-US" sz="1000" b="1" dirty="0">
                <a:solidFill>
                  <a:srgbClr val="0A1F44"/>
                </a:solidFill>
                <a:latin typeface="Inter" pitchFamily="34" charset="0"/>
                <a:ea typeface="Inter" pitchFamily="34" charset="-122"/>
                <a:cs typeface="Inter" pitchFamily="34" charset="-120"/>
              </a:rPr>
              <a:t>5.6%</a:t>
            </a:r>
            <a:endParaRPr lang="en-US" sz="1000" dirty="0"/>
          </a:p>
        </p:txBody>
      </p:sp>
      <p:sp>
        <p:nvSpPr>
          <p:cNvPr id="64" name="Text 61"/>
          <p:cNvSpPr txBox="1"/>
          <p:nvPr/>
        </p:nvSpPr>
        <p:spPr>
          <a:xfrm>
            <a:off x="8732520" y="2148840"/>
            <a:ext cx="1005840" cy="310896"/>
          </a:xfrm>
          <a:prstGeom prst="rect">
            <a:avLst/>
          </a:prstGeom>
          <a:noFill/>
          <a:ln/>
        </p:spPr>
        <p:txBody>
          <a:bodyPr wrap="square" lIns="0" tIns="0" rIns="0" bIns="0" rtlCol="0" anchor="ctr"/>
          <a:lstStyle/>
          <a:p>
            <a:pPr marL="0" indent="0">
              <a:buNone/>
            </a:pPr>
            <a:r>
              <a:rPr lang="en-US" sz="950" dirty="0">
                <a:solidFill>
                  <a:srgbClr val="0F172A"/>
                </a:solidFill>
                <a:latin typeface="Inter" pitchFamily="34" charset="0"/>
                <a:ea typeface="Inter" pitchFamily="34" charset="-122"/>
                <a:cs typeface="Inter" pitchFamily="34" charset="-120"/>
              </a:rPr>
              <a:t>All buyers</a:t>
            </a:r>
            <a:endParaRPr lang="en-US" sz="950" dirty="0"/>
          </a:p>
        </p:txBody>
      </p:sp>
      <p:sp>
        <p:nvSpPr>
          <p:cNvPr id="65" name="Shape 62"/>
          <p:cNvSpPr/>
          <p:nvPr/>
        </p:nvSpPr>
        <p:spPr>
          <a:xfrm>
            <a:off x="9738360" y="2212848"/>
            <a:ext cx="497205" cy="182880"/>
          </a:xfrm>
          <a:prstGeom prst="rect">
            <a:avLst/>
          </a:prstGeom>
          <a:solidFill>
            <a:srgbClr val="94A3B8"/>
          </a:solidFill>
          <a:ln w="6350">
            <a:solidFill>
              <a:srgbClr val="94A3B8"/>
            </a:solidFill>
            <a:prstDash val="solid"/>
          </a:ln>
        </p:spPr>
        <p:txBody>
          <a:bodyPr/>
          <a:lstStyle/>
          <a:p>
            <a:endParaRPr lang="en-US"/>
          </a:p>
        </p:txBody>
      </p:sp>
      <p:sp>
        <p:nvSpPr>
          <p:cNvPr id="66" name="Text 63"/>
          <p:cNvSpPr txBox="1"/>
          <p:nvPr/>
        </p:nvSpPr>
        <p:spPr>
          <a:xfrm>
            <a:off x="10290429" y="2148840"/>
            <a:ext cx="548640" cy="310896"/>
          </a:xfrm>
          <a:prstGeom prst="rect">
            <a:avLst/>
          </a:prstGeom>
          <a:noFill/>
          <a:ln/>
        </p:spPr>
        <p:txBody>
          <a:bodyPr wrap="square" lIns="0" tIns="0" rIns="0" bIns="0" rtlCol="0" anchor="ctr"/>
          <a:lstStyle/>
          <a:p>
            <a:pPr marL="0" indent="0">
              <a:buNone/>
            </a:pPr>
            <a:r>
              <a:rPr lang="en-US" sz="1000" b="1" dirty="0">
                <a:solidFill>
                  <a:srgbClr val="0A1F44"/>
                </a:solidFill>
                <a:latin typeface="Inter" pitchFamily="34" charset="0"/>
                <a:ea typeface="Inter" pitchFamily="34" charset="-122"/>
                <a:cs typeface="Inter" pitchFamily="34" charset="-120"/>
              </a:rPr>
              <a:t>2.1%</a:t>
            </a:r>
            <a:endParaRPr lang="en-US" sz="1000" dirty="0"/>
          </a:p>
        </p:txBody>
      </p:sp>
      <p:sp>
        <p:nvSpPr>
          <p:cNvPr id="67" name="Text 64"/>
          <p:cNvSpPr txBox="1"/>
          <p:nvPr/>
        </p:nvSpPr>
        <p:spPr>
          <a:xfrm>
            <a:off x="8732520" y="2523744"/>
            <a:ext cx="2926080" cy="201168"/>
          </a:xfrm>
          <a:prstGeom prst="rect">
            <a:avLst/>
          </a:prstGeom>
          <a:noFill/>
          <a:ln/>
        </p:spPr>
        <p:txBody>
          <a:bodyPr wrap="square" lIns="0" tIns="0" rIns="0" bIns="0" rtlCol="0" anchor="t"/>
          <a:lstStyle/>
          <a:p>
            <a:pPr marL="0" indent="0">
              <a:buNone/>
            </a:pPr>
            <a:r>
              <a:rPr lang="en-US" sz="850" i="1" dirty="0">
                <a:solidFill>
                  <a:srgbClr val="64748B"/>
                </a:solidFill>
                <a:latin typeface="Inter" pitchFamily="34" charset="0"/>
                <a:ea typeface="Inter" pitchFamily="34" charset="-122"/>
                <a:cs typeface="Inter" pitchFamily="34" charset="-120"/>
              </a:rPr>
              <a:t>Half of engaged repeats land in weeks 1–4</a:t>
            </a:r>
            <a:endParaRPr lang="en-US" sz="850" dirty="0"/>
          </a:p>
        </p:txBody>
      </p:sp>
      <p:sp>
        <p:nvSpPr>
          <p:cNvPr id="68" name="Text 65"/>
          <p:cNvSpPr txBox="1"/>
          <p:nvPr/>
        </p:nvSpPr>
        <p:spPr>
          <a:xfrm>
            <a:off x="8732520" y="2816352"/>
            <a:ext cx="2953512" cy="219456"/>
          </a:xfrm>
          <a:prstGeom prst="rect">
            <a:avLst/>
          </a:prstGeom>
          <a:noFill/>
          <a:ln/>
        </p:spPr>
        <p:txBody>
          <a:bodyPr wrap="square" lIns="0" tIns="0" rIns="0" bIns="0" rtlCol="0" anchor="t"/>
          <a:lstStyle/>
          <a:p>
            <a:pPr marL="0" indent="0">
              <a:buNone/>
            </a:pPr>
            <a:r>
              <a:rPr lang="en-US" sz="950" b="1" dirty="0">
                <a:solidFill>
                  <a:srgbClr val="0A1F44"/>
                </a:solidFill>
                <a:latin typeface="Inter" pitchFamily="34" charset="0"/>
                <a:ea typeface="Inter" pitchFamily="34" charset="-122"/>
                <a:cs typeface="Inter" pitchFamily="34" charset="-120"/>
              </a:rPr>
              <a:t>Repeat by category touched (A6)</a:t>
            </a:r>
            <a:endParaRPr lang="en-US" sz="950" dirty="0"/>
          </a:p>
        </p:txBody>
      </p:sp>
      <p:sp>
        <p:nvSpPr>
          <p:cNvPr id="69" name="Text 66"/>
          <p:cNvSpPr txBox="1"/>
          <p:nvPr/>
        </p:nvSpPr>
        <p:spPr>
          <a:xfrm>
            <a:off x="8732520" y="3072384"/>
            <a:ext cx="914400" cy="237744"/>
          </a:xfrm>
          <a:prstGeom prst="rect">
            <a:avLst/>
          </a:prstGeom>
          <a:noFill/>
          <a:ln/>
        </p:spPr>
        <p:txBody>
          <a:bodyPr wrap="square" lIns="0" tIns="0" rIns="0" bIns="0" rtlCol="0" anchor="ctr"/>
          <a:lstStyle/>
          <a:p>
            <a:pPr marL="0" indent="0">
              <a:buNone/>
            </a:pPr>
            <a:r>
              <a:rPr lang="en-US" sz="900" dirty="0">
                <a:solidFill>
                  <a:srgbClr val="0F172A"/>
                </a:solidFill>
                <a:latin typeface="Inter" pitchFamily="34" charset="0"/>
                <a:ea typeface="Inter" pitchFamily="34" charset="-122"/>
                <a:cs typeface="Inter" pitchFamily="34" charset="-120"/>
              </a:rPr>
              <a:t>Home</a:t>
            </a:r>
            <a:endParaRPr lang="en-US" sz="900" dirty="0"/>
          </a:p>
        </p:txBody>
      </p:sp>
      <p:sp>
        <p:nvSpPr>
          <p:cNvPr id="70" name="Shape 67"/>
          <p:cNvSpPr/>
          <p:nvPr/>
        </p:nvSpPr>
        <p:spPr>
          <a:xfrm>
            <a:off x="9646920" y="3118104"/>
            <a:ext cx="1463040" cy="146304"/>
          </a:xfrm>
          <a:prstGeom prst="rect">
            <a:avLst/>
          </a:prstGeom>
          <a:solidFill>
            <a:srgbClr val="1D4ED8"/>
          </a:solidFill>
          <a:ln w="6350">
            <a:solidFill>
              <a:srgbClr val="1D4ED8"/>
            </a:solidFill>
            <a:prstDash val="solid"/>
          </a:ln>
        </p:spPr>
        <p:txBody>
          <a:bodyPr/>
          <a:lstStyle/>
          <a:p>
            <a:endParaRPr lang="en-US"/>
          </a:p>
        </p:txBody>
      </p:sp>
      <p:sp>
        <p:nvSpPr>
          <p:cNvPr id="71" name="Text 68"/>
          <p:cNvSpPr txBox="1"/>
          <p:nvPr/>
        </p:nvSpPr>
        <p:spPr>
          <a:xfrm>
            <a:off x="11164824" y="3072384"/>
            <a:ext cx="548640" cy="237744"/>
          </a:xfrm>
          <a:prstGeom prst="rect">
            <a:avLst/>
          </a:prstGeom>
          <a:noFill/>
          <a:ln/>
        </p:spPr>
        <p:txBody>
          <a:bodyPr wrap="square" lIns="0" tIns="0" rIns="0" bIns="0" rtlCol="0" anchor="ctr"/>
          <a:lstStyle/>
          <a:p>
            <a:pPr marL="0" indent="0">
              <a:buNone/>
            </a:pPr>
            <a:r>
              <a:rPr lang="en-US" sz="900" b="1" dirty="0">
                <a:solidFill>
                  <a:srgbClr val="0A1F44"/>
                </a:solidFill>
                <a:latin typeface="Inter" pitchFamily="34" charset="0"/>
                <a:ea typeface="Inter" pitchFamily="34" charset="-122"/>
                <a:cs typeface="Inter" pitchFamily="34" charset="-120"/>
              </a:rPr>
              <a:t>20.8%</a:t>
            </a:r>
            <a:endParaRPr lang="en-US" sz="900" dirty="0"/>
          </a:p>
        </p:txBody>
      </p:sp>
      <p:sp>
        <p:nvSpPr>
          <p:cNvPr id="72" name="Text 69"/>
          <p:cNvSpPr txBox="1"/>
          <p:nvPr/>
        </p:nvSpPr>
        <p:spPr>
          <a:xfrm>
            <a:off x="8732520" y="3346704"/>
            <a:ext cx="914400" cy="237744"/>
          </a:xfrm>
          <a:prstGeom prst="rect">
            <a:avLst/>
          </a:prstGeom>
          <a:noFill/>
          <a:ln/>
        </p:spPr>
        <p:txBody>
          <a:bodyPr wrap="square" lIns="0" tIns="0" rIns="0" bIns="0" rtlCol="0" anchor="ctr"/>
          <a:lstStyle/>
          <a:p>
            <a:pPr marL="0" indent="0">
              <a:buNone/>
            </a:pPr>
            <a:r>
              <a:rPr lang="en-US" sz="900" dirty="0">
                <a:solidFill>
                  <a:srgbClr val="0F172A"/>
                </a:solidFill>
                <a:latin typeface="Inter" pitchFamily="34" charset="0"/>
                <a:ea typeface="Inter" pitchFamily="34" charset="-122"/>
                <a:cs typeface="Inter" pitchFamily="34" charset="-120"/>
              </a:rPr>
              <a:t>Jewelry</a:t>
            </a:r>
            <a:endParaRPr lang="en-US" sz="900" dirty="0"/>
          </a:p>
        </p:txBody>
      </p:sp>
      <p:sp>
        <p:nvSpPr>
          <p:cNvPr id="73" name="Shape 70"/>
          <p:cNvSpPr/>
          <p:nvPr/>
        </p:nvSpPr>
        <p:spPr>
          <a:xfrm>
            <a:off x="9646920" y="3392424"/>
            <a:ext cx="1371600" cy="146304"/>
          </a:xfrm>
          <a:prstGeom prst="rect">
            <a:avLst/>
          </a:prstGeom>
          <a:solidFill>
            <a:srgbClr val="1D4ED8"/>
          </a:solidFill>
          <a:ln w="6350">
            <a:solidFill>
              <a:srgbClr val="1D4ED8"/>
            </a:solidFill>
            <a:prstDash val="solid"/>
          </a:ln>
        </p:spPr>
        <p:txBody>
          <a:bodyPr/>
          <a:lstStyle/>
          <a:p>
            <a:endParaRPr lang="en-US"/>
          </a:p>
        </p:txBody>
      </p:sp>
      <p:sp>
        <p:nvSpPr>
          <p:cNvPr id="74" name="Text 71"/>
          <p:cNvSpPr txBox="1"/>
          <p:nvPr/>
        </p:nvSpPr>
        <p:spPr>
          <a:xfrm>
            <a:off x="11073384" y="3346704"/>
            <a:ext cx="548640" cy="237744"/>
          </a:xfrm>
          <a:prstGeom prst="rect">
            <a:avLst/>
          </a:prstGeom>
          <a:noFill/>
          <a:ln/>
        </p:spPr>
        <p:txBody>
          <a:bodyPr wrap="square" lIns="0" tIns="0" rIns="0" bIns="0" rtlCol="0" anchor="ctr"/>
          <a:lstStyle/>
          <a:p>
            <a:pPr marL="0" indent="0">
              <a:buNone/>
            </a:pPr>
            <a:r>
              <a:rPr lang="en-US" sz="900" b="1" dirty="0">
                <a:solidFill>
                  <a:srgbClr val="0A1F44"/>
                </a:solidFill>
                <a:latin typeface="Inter" pitchFamily="34" charset="0"/>
                <a:ea typeface="Inter" pitchFamily="34" charset="-122"/>
                <a:cs typeface="Inter" pitchFamily="34" charset="-120"/>
              </a:rPr>
              <a:t>19.5%</a:t>
            </a:r>
            <a:endParaRPr lang="en-US" sz="900" dirty="0"/>
          </a:p>
        </p:txBody>
      </p:sp>
      <p:sp>
        <p:nvSpPr>
          <p:cNvPr id="75" name="Text 72"/>
          <p:cNvSpPr txBox="1"/>
          <p:nvPr/>
        </p:nvSpPr>
        <p:spPr>
          <a:xfrm>
            <a:off x="8732520" y="3621024"/>
            <a:ext cx="914400" cy="237744"/>
          </a:xfrm>
          <a:prstGeom prst="rect">
            <a:avLst/>
          </a:prstGeom>
          <a:noFill/>
          <a:ln/>
        </p:spPr>
        <p:txBody>
          <a:bodyPr wrap="square" lIns="0" tIns="0" rIns="0" bIns="0" rtlCol="0" anchor="ctr"/>
          <a:lstStyle/>
          <a:p>
            <a:pPr marL="0" indent="0">
              <a:buNone/>
            </a:pPr>
            <a:r>
              <a:rPr lang="en-US" sz="900" dirty="0">
                <a:solidFill>
                  <a:srgbClr val="0F172A"/>
                </a:solidFill>
                <a:latin typeface="Inter" pitchFamily="34" charset="0"/>
                <a:ea typeface="Inter" pitchFamily="34" charset="-122"/>
                <a:cs typeface="Inter" pitchFamily="34" charset="-120"/>
              </a:rPr>
              <a:t>Beauty</a:t>
            </a:r>
            <a:endParaRPr lang="en-US" sz="900" dirty="0"/>
          </a:p>
        </p:txBody>
      </p:sp>
      <p:sp>
        <p:nvSpPr>
          <p:cNvPr id="76" name="Shape 73"/>
          <p:cNvSpPr/>
          <p:nvPr/>
        </p:nvSpPr>
        <p:spPr>
          <a:xfrm>
            <a:off x="9646920" y="3666744"/>
            <a:ext cx="1301262" cy="146304"/>
          </a:xfrm>
          <a:prstGeom prst="rect">
            <a:avLst/>
          </a:prstGeom>
          <a:solidFill>
            <a:srgbClr val="1D4ED8"/>
          </a:solidFill>
          <a:ln w="6350">
            <a:solidFill>
              <a:srgbClr val="1D4ED8"/>
            </a:solidFill>
            <a:prstDash val="solid"/>
          </a:ln>
        </p:spPr>
        <p:txBody>
          <a:bodyPr/>
          <a:lstStyle/>
          <a:p>
            <a:endParaRPr lang="en-US"/>
          </a:p>
        </p:txBody>
      </p:sp>
      <p:sp>
        <p:nvSpPr>
          <p:cNvPr id="77" name="Text 74"/>
          <p:cNvSpPr txBox="1"/>
          <p:nvPr/>
        </p:nvSpPr>
        <p:spPr>
          <a:xfrm>
            <a:off x="11003046" y="3621024"/>
            <a:ext cx="548640" cy="237744"/>
          </a:xfrm>
          <a:prstGeom prst="rect">
            <a:avLst/>
          </a:prstGeom>
          <a:noFill/>
          <a:ln/>
        </p:spPr>
        <p:txBody>
          <a:bodyPr wrap="square" lIns="0" tIns="0" rIns="0" bIns="0" rtlCol="0" anchor="ctr"/>
          <a:lstStyle/>
          <a:p>
            <a:pPr marL="0" indent="0">
              <a:buNone/>
            </a:pPr>
            <a:r>
              <a:rPr lang="en-US" sz="900" b="1" dirty="0">
                <a:solidFill>
                  <a:srgbClr val="0A1F44"/>
                </a:solidFill>
                <a:latin typeface="Inter" pitchFamily="34" charset="0"/>
                <a:ea typeface="Inter" pitchFamily="34" charset="-122"/>
                <a:cs typeface="Inter" pitchFamily="34" charset="-120"/>
              </a:rPr>
              <a:t>18.5%</a:t>
            </a:r>
            <a:endParaRPr lang="en-US" sz="900" dirty="0"/>
          </a:p>
        </p:txBody>
      </p:sp>
      <p:sp>
        <p:nvSpPr>
          <p:cNvPr id="78" name="Text 75"/>
          <p:cNvSpPr txBox="1"/>
          <p:nvPr/>
        </p:nvSpPr>
        <p:spPr>
          <a:xfrm>
            <a:off x="8732520" y="3895344"/>
            <a:ext cx="914400" cy="237744"/>
          </a:xfrm>
          <a:prstGeom prst="rect">
            <a:avLst/>
          </a:prstGeom>
          <a:noFill/>
          <a:ln/>
        </p:spPr>
        <p:txBody>
          <a:bodyPr wrap="square" lIns="0" tIns="0" rIns="0" bIns="0" rtlCol="0" anchor="ctr"/>
          <a:lstStyle/>
          <a:p>
            <a:pPr marL="0" indent="0">
              <a:buNone/>
            </a:pPr>
            <a:r>
              <a:rPr lang="en-US" sz="900" dirty="0">
                <a:solidFill>
                  <a:srgbClr val="0F172A"/>
                </a:solidFill>
                <a:latin typeface="Inter" pitchFamily="34" charset="0"/>
                <a:ea typeface="Inter" pitchFamily="34" charset="-122"/>
                <a:cs typeface="Inter" pitchFamily="34" charset="-120"/>
              </a:rPr>
              <a:t>Cashmere</a:t>
            </a:r>
            <a:endParaRPr lang="en-US" sz="900" dirty="0"/>
          </a:p>
        </p:txBody>
      </p:sp>
      <p:sp>
        <p:nvSpPr>
          <p:cNvPr id="79" name="Shape 76"/>
          <p:cNvSpPr/>
          <p:nvPr/>
        </p:nvSpPr>
        <p:spPr>
          <a:xfrm>
            <a:off x="9646920" y="3941064"/>
            <a:ext cx="963637" cy="146304"/>
          </a:xfrm>
          <a:prstGeom prst="rect">
            <a:avLst/>
          </a:prstGeom>
          <a:solidFill>
            <a:srgbClr val="94A3B8"/>
          </a:solidFill>
          <a:ln w="6350">
            <a:solidFill>
              <a:srgbClr val="94A3B8"/>
            </a:solidFill>
            <a:prstDash val="solid"/>
          </a:ln>
        </p:spPr>
        <p:txBody>
          <a:bodyPr/>
          <a:lstStyle/>
          <a:p>
            <a:endParaRPr lang="en-US"/>
          </a:p>
        </p:txBody>
      </p:sp>
      <p:sp>
        <p:nvSpPr>
          <p:cNvPr id="80" name="Text 77"/>
          <p:cNvSpPr txBox="1"/>
          <p:nvPr/>
        </p:nvSpPr>
        <p:spPr>
          <a:xfrm>
            <a:off x="10665421" y="3895344"/>
            <a:ext cx="548640" cy="237744"/>
          </a:xfrm>
          <a:prstGeom prst="rect">
            <a:avLst/>
          </a:prstGeom>
          <a:noFill/>
          <a:ln/>
        </p:spPr>
        <p:txBody>
          <a:bodyPr wrap="square" lIns="0" tIns="0" rIns="0" bIns="0" rtlCol="0" anchor="ctr"/>
          <a:lstStyle/>
          <a:p>
            <a:pPr marL="0" indent="0">
              <a:buNone/>
            </a:pPr>
            <a:r>
              <a:rPr lang="en-US" sz="900" b="1" dirty="0">
                <a:solidFill>
                  <a:srgbClr val="0A1F44"/>
                </a:solidFill>
                <a:latin typeface="Inter" pitchFamily="34" charset="0"/>
                <a:ea typeface="Inter" pitchFamily="34" charset="-122"/>
                <a:cs typeface="Inter" pitchFamily="34" charset="-120"/>
              </a:rPr>
              <a:t>13.7%</a:t>
            </a:r>
            <a:endParaRPr lang="en-US" sz="900" dirty="0"/>
          </a:p>
        </p:txBody>
      </p:sp>
      <p:sp>
        <p:nvSpPr>
          <p:cNvPr id="81" name="Shape 78"/>
          <p:cNvSpPr/>
          <p:nvPr/>
        </p:nvSpPr>
        <p:spPr>
          <a:xfrm>
            <a:off x="8732520" y="4251960"/>
            <a:ext cx="2953512" cy="502920"/>
          </a:xfrm>
          <a:prstGeom prst="roundRect">
            <a:avLst>
              <a:gd name="adj" fmla="val 10909"/>
            </a:avLst>
          </a:prstGeom>
          <a:solidFill>
            <a:srgbClr val="EFF6FF"/>
          </a:solidFill>
          <a:ln w="6350">
            <a:solidFill>
              <a:srgbClr val="EFF6FF"/>
            </a:solidFill>
            <a:prstDash val="solid"/>
          </a:ln>
        </p:spPr>
        <p:txBody>
          <a:bodyPr/>
          <a:lstStyle/>
          <a:p>
            <a:endParaRPr lang="en-US"/>
          </a:p>
        </p:txBody>
      </p:sp>
      <p:sp>
        <p:nvSpPr>
          <p:cNvPr id="82" name="Text 79"/>
          <p:cNvSpPr txBox="1"/>
          <p:nvPr/>
        </p:nvSpPr>
        <p:spPr>
          <a:xfrm>
            <a:off x="8805672" y="4251960"/>
            <a:ext cx="2816352" cy="502920"/>
          </a:xfrm>
          <a:prstGeom prst="rect">
            <a:avLst/>
          </a:prstGeom>
          <a:noFill/>
          <a:ln/>
        </p:spPr>
        <p:txBody>
          <a:bodyPr wrap="square" lIns="0" tIns="0" rIns="0" bIns="0" rtlCol="0" anchor="ctr"/>
          <a:lstStyle/>
          <a:p>
            <a:pPr marL="0" indent="0">
              <a:buNone/>
            </a:pPr>
            <a:r>
              <a:rPr lang="en-US" sz="950" b="1" dirty="0">
                <a:solidFill>
                  <a:srgbClr val="0A1F44"/>
                </a:solidFill>
                <a:latin typeface="Inter" pitchFamily="34" charset="0"/>
                <a:ea typeface="Inter" pitchFamily="34" charset="-122"/>
                <a:cs typeface="Inter" pitchFamily="34" charset="-120"/>
              </a:rPr>
              <a:t>Cashmere: touched by 40.7% of buyers, repeats least</a:t>
            </a:r>
            <a:endParaRPr lang="en-US" sz="950" dirty="0"/>
          </a:p>
        </p:txBody>
      </p:sp>
      <p:sp>
        <p:nvSpPr>
          <p:cNvPr id="83" name="Shape 80"/>
          <p:cNvSpPr/>
          <p:nvPr/>
        </p:nvSpPr>
        <p:spPr>
          <a:xfrm>
            <a:off x="502920" y="5029200"/>
            <a:ext cx="11183112" cy="1188720"/>
          </a:xfrm>
          <a:prstGeom prst="roundRect">
            <a:avLst>
              <a:gd name="adj" fmla="val 4615"/>
            </a:avLst>
          </a:prstGeom>
          <a:solidFill>
            <a:srgbClr val="F8FAFC"/>
          </a:solidFill>
          <a:ln w="9525">
            <a:solidFill>
              <a:srgbClr val="E2E8F0"/>
            </a:solidFill>
            <a:prstDash val="solid"/>
          </a:ln>
        </p:spPr>
        <p:txBody>
          <a:bodyPr/>
          <a:lstStyle/>
          <a:p>
            <a:endParaRPr lang="en-US"/>
          </a:p>
        </p:txBody>
      </p:sp>
      <p:sp>
        <p:nvSpPr>
          <p:cNvPr id="84" name="Text 81"/>
          <p:cNvSpPr txBox="1"/>
          <p:nvPr/>
        </p:nvSpPr>
        <p:spPr>
          <a:xfrm>
            <a:off x="640080" y="5029200"/>
            <a:ext cx="1737360" cy="1188720"/>
          </a:xfrm>
          <a:prstGeom prst="rect">
            <a:avLst/>
          </a:prstGeom>
          <a:noFill/>
          <a:ln/>
        </p:spPr>
        <p:txBody>
          <a:bodyPr wrap="square" lIns="0" tIns="0" rIns="0" bIns="0" rtlCol="0" anchor="ctr"/>
          <a:lstStyle/>
          <a:p>
            <a:pPr marL="0" indent="0">
              <a:buNone/>
            </a:pPr>
            <a:r>
              <a:rPr lang="en-US" sz="1000" b="1" dirty="0">
                <a:solidFill>
                  <a:srgbClr val="0A1F44"/>
                </a:solidFill>
                <a:latin typeface="Inter" pitchFamily="34" charset="0"/>
                <a:ea typeface="Inter" pitchFamily="34" charset="-122"/>
                <a:cs typeface="Inter" pitchFamily="34" charset="-120"/>
              </a:rPr>
              <a:t>Where the $120M goes</a:t>
            </a:r>
            <a:endParaRPr lang="en-US" sz="1000" dirty="0"/>
          </a:p>
          <a:p>
            <a:pPr marL="0" indent="0">
              <a:buNone/>
            </a:pPr>
            <a:r>
              <a:rPr lang="en-US" sz="850" dirty="0">
                <a:solidFill>
                  <a:srgbClr val="64748B"/>
                </a:solidFill>
                <a:latin typeface="Inter" pitchFamily="34" charset="0"/>
                <a:ea typeface="Inter" pitchFamily="34" charset="-122"/>
                <a:cs typeface="Inter" pitchFamily="34" charset="-120"/>
              </a:rPr>
              <a:t>FY2026 (Exhibit G)</a:t>
            </a:r>
            <a:endParaRPr lang="en-US" sz="1000" dirty="0"/>
          </a:p>
        </p:txBody>
      </p:sp>
      <p:sp>
        <p:nvSpPr>
          <p:cNvPr id="85" name="Shape 82"/>
          <p:cNvSpPr/>
          <p:nvPr/>
        </p:nvSpPr>
        <p:spPr>
          <a:xfrm>
            <a:off x="2423160" y="5303520"/>
            <a:ext cx="2368296" cy="384048"/>
          </a:xfrm>
          <a:prstGeom prst="rect">
            <a:avLst/>
          </a:prstGeom>
          <a:solidFill>
            <a:srgbClr val="93B4F5"/>
          </a:solidFill>
          <a:ln w="6350">
            <a:solidFill>
              <a:srgbClr val="93B4F5"/>
            </a:solidFill>
            <a:prstDash val="solid"/>
          </a:ln>
        </p:spPr>
        <p:txBody>
          <a:bodyPr/>
          <a:lstStyle/>
          <a:p>
            <a:endParaRPr lang="en-US"/>
          </a:p>
        </p:txBody>
      </p:sp>
      <p:sp>
        <p:nvSpPr>
          <p:cNvPr id="86" name="Text 83"/>
          <p:cNvSpPr txBox="1"/>
          <p:nvPr/>
        </p:nvSpPr>
        <p:spPr>
          <a:xfrm>
            <a:off x="2450592" y="5303520"/>
            <a:ext cx="2331720" cy="384048"/>
          </a:xfrm>
          <a:prstGeom prst="rect">
            <a:avLst/>
          </a:prstGeom>
          <a:noFill/>
          <a:ln/>
        </p:spPr>
        <p:txBody>
          <a:bodyPr wrap="square" lIns="0" tIns="0" rIns="0" bIns="0" rtlCol="0" anchor="ctr"/>
          <a:lstStyle/>
          <a:p>
            <a:pPr marL="0" indent="0">
              <a:buNone/>
            </a:pPr>
            <a:r>
              <a:rPr lang="en-US" sz="850" b="1" dirty="0">
                <a:solidFill>
                  <a:srgbClr val="0A1F44"/>
                </a:solidFill>
                <a:latin typeface="Inter" pitchFamily="34" charset="0"/>
                <a:ea typeface="Inter" pitchFamily="34" charset="-122"/>
                <a:cs typeface="Inter" pitchFamily="34" charset="-120"/>
              </a:rPr>
              <a:t>Prospecting $58M</a:t>
            </a:r>
            <a:endParaRPr lang="en-US" sz="850" dirty="0"/>
          </a:p>
        </p:txBody>
      </p:sp>
      <p:sp>
        <p:nvSpPr>
          <p:cNvPr id="87" name="Shape 84"/>
          <p:cNvSpPr/>
          <p:nvPr/>
        </p:nvSpPr>
        <p:spPr>
          <a:xfrm>
            <a:off x="4809744" y="5303520"/>
            <a:ext cx="557784" cy="384048"/>
          </a:xfrm>
          <a:prstGeom prst="rect">
            <a:avLst/>
          </a:prstGeom>
          <a:solidFill>
            <a:srgbClr val="93B4F5"/>
          </a:solidFill>
          <a:ln w="6350">
            <a:solidFill>
              <a:srgbClr val="93B4F5"/>
            </a:solidFill>
            <a:prstDash val="solid"/>
          </a:ln>
        </p:spPr>
        <p:txBody>
          <a:bodyPr/>
          <a:lstStyle/>
          <a:p>
            <a:endParaRPr lang="en-US"/>
          </a:p>
        </p:txBody>
      </p:sp>
      <p:sp>
        <p:nvSpPr>
          <p:cNvPr id="88" name="Text 85"/>
          <p:cNvSpPr txBox="1"/>
          <p:nvPr/>
        </p:nvSpPr>
        <p:spPr>
          <a:xfrm>
            <a:off x="4837176" y="5303520"/>
            <a:ext cx="521208" cy="384048"/>
          </a:xfrm>
          <a:prstGeom prst="rect">
            <a:avLst/>
          </a:prstGeom>
          <a:noFill/>
          <a:ln/>
        </p:spPr>
        <p:txBody>
          <a:bodyPr wrap="square" lIns="0" tIns="0" rIns="0" bIns="0" rtlCol="0" anchor="ctr"/>
          <a:lstStyle/>
          <a:p>
            <a:pPr marL="0" indent="0">
              <a:buNone/>
            </a:pPr>
            <a:r>
              <a:rPr lang="en-US" sz="850" b="1" dirty="0">
                <a:solidFill>
                  <a:srgbClr val="0A1F44"/>
                </a:solidFill>
                <a:latin typeface="Inter" pitchFamily="34" charset="0"/>
                <a:ea typeface="Inter" pitchFamily="34" charset="-122"/>
                <a:cs typeface="Inter" pitchFamily="34" charset="-120"/>
              </a:rPr>
              <a:t>Retarg. $14M</a:t>
            </a:r>
            <a:endParaRPr lang="en-US" sz="850" dirty="0"/>
          </a:p>
        </p:txBody>
      </p:sp>
      <p:sp>
        <p:nvSpPr>
          <p:cNvPr id="89" name="Shape 86"/>
          <p:cNvSpPr/>
          <p:nvPr/>
        </p:nvSpPr>
        <p:spPr>
          <a:xfrm>
            <a:off x="5385816" y="5303520"/>
            <a:ext cx="886968" cy="384048"/>
          </a:xfrm>
          <a:prstGeom prst="rect">
            <a:avLst/>
          </a:prstGeom>
          <a:solidFill>
            <a:srgbClr val="CBD5E1"/>
          </a:solidFill>
          <a:ln w="6350">
            <a:solidFill>
              <a:srgbClr val="CBD5E1"/>
            </a:solidFill>
            <a:prstDash val="solid"/>
          </a:ln>
        </p:spPr>
        <p:txBody>
          <a:bodyPr/>
          <a:lstStyle/>
          <a:p>
            <a:endParaRPr lang="en-US"/>
          </a:p>
        </p:txBody>
      </p:sp>
      <p:sp>
        <p:nvSpPr>
          <p:cNvPr id="90" name="Text 87"/>
          <p:cNvSpPr txBox="1"/>
          <p:nvPr/>
        </p:nvSpPr>
        <p:spPr>
          <a:xfrm>
            <a:off x="5413248" y="5303520"/>
            <a:ext cx="850392" cy="384048"/>
          </a:xfrm>
          <a:prstGeom prst="rect">
            <a:avLst/>
          </a:prstGeom>
          <a:noFill/>
          <a:ln/>
        </p:spPr>
        <p:txBody>
          <a:bodyPr wrap="square" lIns="0" tIns="0" rIns="0" bIns="0" rtlCol="0" anchor="ctr"/>
          <a:lstStyle/>
          <a:p>
            <a:pPr marL="0" indent="0">
              <a:buNone/>
            </a:pPr>
            <a:r>
              <a:rPr lang="en-US" sz="850" b="1" dirty="0">
                <a:solidFill>
                  <a:srgbClr val="0A1F44"/>
                </a:solidFill>
                <a:latin typeface="Inter" pitchFamily="34" charset="0"/>
                <a:ea typeface="Inter" pitchFamily="34" charset="-122"/>
                <a:cs typeface="Inter" pitchFamily="34" charset="-120"/>
              </a:rPr>
              <a:t>Search $22M</a:t>
            </a:r>
            <a:endParaRPr lang="en-US" sz="850" dirty="0"/>
          </a:p>
        </p:txBody>
      </p:sp>
      <p:sp>
        <p:nvSpPr>
          <p:cNvPr id="91" name="Shape 88"/>
          <p:cNvSpPr/>
          <p:nvPr/>
        </p:nvSpPr>
        <p:spPr>
          <a:xfrm>
            <a:off x="6291072" y="5303520"/>
            <a:ext cx="640080" cy="384048"/>
          </a:xfrm>
          <a:prstGeom prst="rect">
            <a:avLst/>
          </a:prstGeom>
          <a:solidFill>
            <a:srgbClr val="CBD5E1"/>
          </a:solidFill>
          <a:ln w="6350">
            <a:solidFill>
              <a:srgbClr val="CBD5E1"/>
            </a:solidFill>
            <a:prstDash val="solid"/>
          </a:ln>
        </p:spPr>
        <p:txBody>
          <a:bodyPr/>
          <a:lstStyle/>
          <a:p>
            <a:endParaRPr lang="en-US"/>
          </a:p>
        </p:txBody>
      </p:sp>
      <p:sp>
        <p:nvSpPr>
          <p:cNvPr id="92" name="Text 89"/>
          <p:cNvSpPr txBox="1"/>
          <p:nvPr/>
        </p:nvSpPr>
        <p:spPr>
          <a:xfrm>
            <a:off x="6318504" y="5303520"/>
            <a:ext cx="603504" cy="384048"/>
          </a:xfrm>
          <a:prstGeom prst="rect">
            <a:avLst/>
          </a:prstGeom>
          <a:noFill/>
          <a:ln/>
        </p:spPr>
        <p:txBody>
          <a:bodyPr wrap="square" lIns="0" tIns="0" rIns="0" bIns="0" rtlCol="0" anchor="ctr"/>
          <a:lstStyle/>
          <a:p>
            <a:pPr marL="0" indent="0">
              <a:buNone/>
            </a:pPr>
            <a:r>
              <a:rPr lang="en-US" sz="850" b="1" dirty="0">
                <a:solidFill>
                  <a:srgbClr val="0A1F44"/>
                </a:solidFill>
                <a:latin typeface="Inter" pitchFamily="34" charset="0"/>
                <a:ea typeface="Inter" pitchFamily="34" charset="-122"/>
                <a:cs typeface="Inter" pitchFamily="34" charset="-120"/>
              </a:rPr>
              <a:t>Infl. $16M</a:t>
            </a:r>
            <a:endParaRPr lang="en-US" sz="850" dirty="0"/>
          </a:p>
        </p:txBody>
      </p:sp>
      <p:sp>
        <p:nvSpPr>
          <p:cNvPr id="93" name="Shape 90"/>
          <p:cNvSpPr/>
          <p:nvPr/>
        </p:nvSpPr>
        <p:spPr>
          <a:xfrm>
            <a:off x="6949440" y="5303520"/>
            <a:ext cx="228600" cy="384048"/>
          </a:xfrm>
          <a:prstGeom prst="rect">
            <a:avLst/>
          </a:prstGeom>
          <a:solidFill>
            <a:srgbClr val="1D4ED8"/>
          </a:solidFill>
          <a:ln w="6350">
            <a:solidFill>
              <a:srgbClr val="1D4ED8"/>
            </a:solidFill>
            <a:prstDash val="solid"/>
          </a:ln>
        </p:spPr>
        <p:txBody>
          <a:bodyPr/>
          <a:lstStyle/>
          <a:p>
            <a:endParaRPr lang="en-US"/>
          </a:p>
        </p:txBody>
      </p:sp>
      <p:sp>
        <p:nvSpPr>
          <p:cNvPr id="94" name="Shape 91"/>
          <p:cNvSpPr/>
          <p:nvPr/>
        </p:nvSpPr>
        <p:spPr>
          <a:xfrm>
            <a:off x="7196328" y="5303520"/>
            <a:ext cx="146304" cy="384048"/>
          </a:xfrm>
          <a:prstGeom prst="rect">
            <a:avLst/>
          </a:prstGeom>
          <a:solidFill>
            <a:srgbClr val="E2E8F0"/>
          </a:solidFill>
          <a:ln w="6350">
            <a:solidFill>
              <a:srgbClr val="E2E8F0"/>
            </a:solidFill>
            <a:prstDash val="solid"/>
          </a:ln>
        </p:spPr>
        <p:txBody>
          <a:bodyPr/>
          <a:lstStyle/>
          <a:p>
            <a:endParaRPr lang="en-US"/>
          </a:p>
        </p:txBody>
      </p:sp>
      <p:sp>
        <p:nvSpPr>
          <p:cNvPr id="95" name="Shape 92"/>
          <p:cNvSpPr/>
          <p:nvPr/>
        </p:nvSpPr>
        <p:spPr>
          <a:xfrm>
            <a:off x="2423160" y="5733288"/>
            <a:ext cx="2962656" cy="0"/>
          </a:xfrm>
          <a:prstGeom prst="line">
            <a:avLst/>
          </a:prstGeom>
          <a:noFill/>
          <a:ln w="15875">
            <a:solidFill>
              <a:srgbClr val="1D4ED8"/>
            </a:solidFill>
            <a:prstDash val="solid"/>
          </a:ln>
        </p:spPr>
        <p:txBody>
          <a:bodyPr/>
          <a:lstStyle/>
          <a:p>
            <a:endParaRPr lang="en-US"/>
          </a:p>
        </p:txBody>
      </p:sp>
      <p:sp>
        <p:nvSpPr>
          <p:cNvPr id="96" name="Text 93"/>
          <p:cNvSpPr txBox="1"/>
          <p:nvPr/>
        </p:nvSpPr>
        <p:spPr>
          <a:xfrm>
            <a:off x="2423160" y="5760720"/>
            <a:ext cx="2103120" cy="201168"/>
          </a:xfrm>
          <a:prstGeom prst="rect">
            <a:avLst/>
          </a:prstGeom>
          <a:noFill/>
          <a:ln/>
        </p:spPr>
        <p:txBody>
          <a:bodyPr wrap="square" lIns="0" tIns="0" rIns="0" bIns="0" rtlCol="0" anchor="t"/>
          <a:lstStyle/>
          <a:p>
            <a:pPr marL="0" indent="0">
              <a:buNone/>
            </a:pPr>
            <a:r>
              <a:rPr lang="en-US" sz="800" b="1" dirty="0">
                <a:solidFill>
                  <a:srgbClr val="1D4ED8"/>
                </a:solidFill>
                <a:latin typeface="Inter" pitchFamily="34" charset="0"/>
                <a:ea typeface="Inter" pitchFamily="34" charset="-122"/>
                <a:cs typeface="Inter" pitchFamily="34" charset="-120"/>
              </a:rPr>
              <a:t>60% rented from social platforms</a:t>
            </a:r>
            <a:endParaRPr lang="en-US" sz="800" dirty="0"/>
          </a:p>
        </p:txBody>
      </p:sp>
      <p:pic>
        <p:nvPicPr>
          <p:cNvPr id="97" name="Image 1" descr="/tmp/claude-0/-home-user-Quince/7efe80ae-a049-50c2-9886-98bf7ca3a04a/scratchpad/assets/meta.png"/>
          <p:cNvPicPr>
            <a:picLocks noChangeAspect="1"/>
          </p:cNvPicPr>
          <p:nvPr/>
        </p:nvPicPr>
        <p:blipFill>
          <a:blip r:embed="rId4"/>
          <a:stretch>
            <a:fillRect/>
          </a:stretch>
        </p:blipFill>
        <p:spPr>
          <a:xfrm>
            <a:off x="4553712" y="5833872"/>
            <a:ext cx="128016" cy="128016"/>
          </a:xfrm>
          <a:prstGeom prst="rect">
            <a:avLst/>
          </a:prstGeom>
        </p:spPr>
      </p:pic>
      <p:pic>
        <p:nvPicPr>
          <p:cNvPr id="98" name="Image 2" descr="/tmp/claude-0/-home-user-Quince/7efe80ae-a049-50c2-9886-98bf7ca3a04a/scratchpad/assets/tiktok.png"/>
          <p:cNvPicPr>
            <a:picLocks noChangeAspect="1"/>
          </p:cNvPicPr>
          <p:nvPr/>
        </p:nvPicPr>
        <p:blipFill>
          <a:blip r:embed="rId5"/>
          <a:stretch>
            <a:fillRect/>
          </a:stretch>
        </p:blipFill>
        <p:spPr>
          <a:xfrm>
            <a:off x="4919472" y="5833872"/>
            <a:ext cx="128016" cy="128016"/>
          </a:xfrm>
          <a:prstGeom prst="rect">
            <a:avLst/>
          </a:prstGeom>
        </p:spPr>
      </p:pic>
      <p:pic>
        <p:nvPicPr>
          <p:cNvPr id="99" name="Image 3" descr="/tmp/claude-0/-home-user-Quince/7efe80ae-a049-50c2-9886-98bf7ca3a04a/scratchpad/assets/pinterest.png"/>
          <p:cNvPicPr>
            <a:picLocks noChangeAspect="1"/>
          </p:cNvPicPr>
          <p:nvPr/>
        </p:nvPicPr>
        <p:blipFill>
          <a:blip r:embed="rId6"/>
          <a:stretch>
            <a:fillRect/>
          </a:stretch>
        </p:blipFill>
        <p:spPr>
          <a:xfrm>
            <a:off x="5285232" y="5833872"/>
            <a:ext cx="128016" cy="128016"/>
          </a:xfrm>
          <a:prstGeom prst="rect">
            <a:avLst/>
          </a:prstGeom>
        </p:spPr>
      </p:pic>
      <p:pic>
        <p:nvPicPr>
          <p:cNvPr id="100" name="Image 4" descr="/tmp/claude-0/-home-user-Quince/7efe80ae-a049-50c2-9886-98bf7ca3a04a/scratchpad/assets/google.png"/>
          <p:cNvPicPr>
            <a:picLocks noChangeAspect="1"/>
          </p:cNvPicPr>
          <p:nvPr/>
        </p:nvPicPr>
        <p:blipFill>
          <a:blip r:embed="rId7"/>
          <a:stretch>
            <a:fillRect/>
          </a:stretch>
        </p:blipFill>
        <p:spPr>
          <a:xfrm>
            <a:off x="5774436" y="5833872"/>
            <a:ext cx="128016" cy="128016"/>
          </a:xfrm>
          <a:prstGeom prst="rect">
            <a:avLst/>
          </a:prstGeom>
        </p:spPr>
      </p:pic>
      <p:sp>
        <p:nvSpPr>
          <p:cNvPr id="101" name="Text 94"/>
          <p:cNvSpPr txBox="1"/>
          <p:nvPr/>
        </p:nvSpPr>
        <p:spPr>
          <a:xfrm>
            <a:off x="5897880" y="5760720"/>
            <a:ext cx="1463040" cy="201168"/>
          </a:xfrm>
          <a:prstGeom prst="rect">
            <a:avLst/>
          </a:prstGeom>
          <a:noFill/>
          <a:ln/>
        </p:spPr>
        <p:txBody>
          <a:bodyPr wrap="square" lIns="0" tIns="0" rIns="0" bIns="0" rtlCol="0" anchor="t"/>
          <a:lstStyle/>
          <a:p>
            <a:pPr marL="0" indent="0" algn="r">
              <a:buNone/>
            </a:pPr>
            <a:r>
              <a:rPr lang="en-US" sz="850" b="1" dirty="0">
                <a:solidFill>
                  <a:srgbClr val="1D4ED8"/>
                </a:solidFill>
                <a:latin typeface="Inter" pitchFamily="34" charset="0"/>
                <a:ea typeface="Inter" pitchFamily="34" charset="-122"/>
                <a:cs typeface="Inter" pitchFamily="34" charset="-120"/>
              </a:rPr>
              <a:t>Owned $6M · Brand $4M</a:t>
            </a:r>
            <a:endParaRPr lang="en-US" sz="850" dirty="0"/>
          </a:p>
        </p:txBody>
      </p:sp>
      <p:sp>
        <p:nvSpPr>
          <p:cNvPr id="102" name="Text 95"/>
          <p:cNvSpPr txBox="1"/>
          <p:nvPr/>
        </p:nvSpPr>
        <p:spPr>
          <a:xfrm>
            <a:off x="7543800" y="5029200"/>
            <a:ext cx="4069080" cy="1188720"/>
          </a:xfrm>
          <a:prstGeom prst="rect">
            <a:avLst/>
          </a:prstGeom>
          <a:noFill/>
          <a:ln/>
        </p:spPr>
        <p:txBody>
          <a:bodyPr wrap="square" lIns="0" tIns="0" rIns="0" bIns="0" rtlCol="0" anchor="ctr"/>
          <a:lstStyle/>
          <a:p>
            <a:pPr marL="0" indent="0">
              <a:buNone/>
            </a:pPr>
            <a:r>
              <a:rPr lang="en-US" sz="1400" b="1" dirty="0">
                <a:solidFill>
                  <a:srgbClr val="1D4ED8"/>
                </a:solidFill>
                <a:latin typeface="Inter" pitchFamily="34" charset="0"/>
                <a:ea typeface="Inter" pitchFamily="34" charset="-122"/>
                <a:cs typeface="Inter" pitchFamily="34" charset="-120"/>
              </a:rPr>
              <a:t>5% </a:t>
            </a:r>
            <a:r>
              <a:rPr lang="en-US" sz="950" dirty="0">
                <a:solidFill>
                  <a:srgbClr val="0A1F44"/>
                </a:solidFill>
                <a:latin typeface="Inter" pitchFamily="34" charset="0"/>
                <a:ea typeface="Inter" pitchFamily="34" charset="-122"/>
                <a:cs typeface="Inter" pitchFamily="34" charset="-120"/>
              </a:rPr>
              <a:t>owned: $1.43 per active customer (A, G). </a:t>
            </a:r>
            <a:r>
              <a:rPr lang="en-US" sz="1400" b="1" dirty="0">
                <a:solidFill>
                  <a:srgbClr val="1D4ED8"/>
                </a:solidFill>
                <a:latin typeface="Inter" pitchFamily="34" charset="0"/>
                <a:ea typeface="Inter" pitchFamily="34" charset="-122"/>
                <a:cs typeface="Inter" pitchFamily="34" charset="-120"/>
              </a:rPr>
              <a:t>$31 </a:t>
            </a:r>
            <a:r>
              <a:rPr lang="en-US" sz="950" dirty="0">
                <a:solidFill>
                  <a:srgbClr val="0A1F44"/>
                </a:solidFill>
                <a:latin typeface="Inter" pitchFamily="34" charset="0"/>
                <a:ea typeface="Inter" pitchFamily="34" charset="-122"/>
                <a:cs typeface="Inter" pitchFamily="34" charset="-120"/>
              </a:rPr>
              <a:t>retargeting CAC is untested, and may count sales that would have happened anyway (D)</a:t>
            </a:r>
            <a:endParaRPr lang="en-US" sz="950" dirty="0"/>
          </a:p>
        </p:txBody>
      </p:sp>
      <p:sp>
        <p:nvSpPr>
          <p:cNvPr id="103" name="Shape 31">
            <a:extLst>
              <a:ext uri="{FF2B5EF4-FFF2-40B4-BE49-F238E27FC236}">
                <a16:creationId xmlns:a16="http://schemas.microsoft.com/office/drawing/2014/main" id="{777CB5C0-1C55-86D6-3D8A-58690E4B7C69}"/>
              </a:ext>
            </a:extLst>
          </p:cNvPr>
          <p:cNvSpPr/>
          <p:nvPr/>
        </p:nvSpPr>
        <p:spPr>
          <a:xfrm>
            <a:off x="3348397" y="3252555"/>
            <a:ext cx="0" cy="91440"/>
          </a:xfrm>
          <a:prstGeom prst="line">
            <a:avLst/>
          </a:prstGeom>
          <a:noFill/>
          <a:ln w="15875">
            <a:solidFill>
              <a:srgbClr val="DC2626"/>
            </a:solidFill>
            <a:prstDash val="solid"/>
          </a:ln>
        </p:spPr>
        <p:txBody>
          <a:bodyPr/>
          <a:lstStyle/>
          <a:p>
            <a:endParaRPr lang="en-US" dirty="0"/>
          </a:p>
        </p:txBody>
      </p:sp>
      <p:sp>
        <p:nvSpPr>
          <p:cNvPr id="104" name="Shape 31">
            <a:extLst>
              <a:ext uri="{FF2B5EF4-FFF2-40B4-BE49-F238E27FC236}">
                <a16:creationId xmlns:a16="http://schemas.microsoft.com/office/drawing/2014/main" id="{3C28388B-FCE9-4C6F-38AE-A2A94AEE559E}"/>
              </a:ext>
            </a:extLst>
          </p:cNvPr>
          <p:cNvSpPr/>
          <p:nvPr/>
        </p:nvSpPr>
        <p:spPr>
          <a:xfrm>
            <a:off x="2118483" y="2468880"/>
            <a:ext cx="0" cy="91440"/>
          </a:xfrm>
          <a:prstGeom prst="line">
            <a:avLst/>
          </a:prstGeom>
          <a:noFill/>
          <a:ln w="15875">
            <a:solidFill>
              <a:srgbClr val="DC2626"/>
            </a:solidFill>
            <a:prstDash val="solid"/>
          </a:ln>
        </p:spPr>
        <p:txBody>
          <a:bodyPr/>
          <a:lstStyle/>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7620000" cy="841248"/>
          </a:xfrm>
          <a:prstGeom prst="rect">
            <a:avLst/>
          </a:prstGeom>
          <a:noFill/>
          <a:ln/>
        </p:spPr>
        <p:txBody>
          <a:bodyPr wrap="square" lIns="0" tIns="0" rIns="0" bIns="0" rtlCol="0" anchor="ctr"/>
          <a:lstStyle/>
          <a:p>
            <a:pPr marL="0" indent="0">
              <a:buNone/>
            </a:pPr>
            <a:r>
              <a:rPr lang="en-US" sz="2200" b="1" dirty="0">
                <a:solidFill>
                  <a:srgbClr val="0A1F44"/>
                </a:solidFill>
                <a:latin typeface="Inter" pitchFamily="34" charset="0"/>
                <a:ea typeface="Inter" pitchFamily="34" charset="-122"/>
                <a:cs typeface="Inter" pitchFamily="34" charset="-120"/>
              </a:rPr>
              <a:t>Rivals can copy a discount overnight, but not factory‑direct cost plus buyers who opted in</a:t>
            </a:r>
            <a:endParaRPr lang="en-US" sz="2400" dirty="0"/>
          </a:p>
        </p:txBody>
      </p:sp>
      <p:pic>
        <p:nvPicPr>
          <p:cNvPr id="3" name="Image 0" descr="/tmp/claude-0/-home-user-Quince/7efe80ae-a049-50c2-9886-98bf7ca3a04a/scratchpad/assets/quince.png"/>
          <p:cNvPicPr>
            <a:picLocks noChangeAspect="1"/>
          </p:cNvPicPr>
          <p:nvPr/>
        </p:nvPicPr>
        <p:blipFill>
          <a:blip r:embed="rId3"/>
          <a:stretch>
            <a:fillRect/>
          </a:stretch>
        </p:blipFill>
        <p:spPr>
          <a:xfrm>
            <a:off x="10236708" y="615544"/>
            <a:ext cx="777240" cy="231951"/>
          </a:xfrm>
          <a:prstGeom prst="rect">
            <a:avLst/>
          </a:prstGeom>
        </p:spPr>
      </p:pic>
      <p:sp>
        <p:nvSpPr>
          <p:cNvPr id="4" name="Shape 1"/>
          <p:cNvSpPr/>
          <p:nvPr/>
        </p:nvSpPr>
        <p:spPr>
          <a:xfrm>
            <a:off x="11155680" y="603504"/>
            <a:ext cx="530352" cy="256032"/>
          </a:xfrm>
          <a:prstGeom prst="roundRect">
            <a:avLst>
              <a:gd name="adj" fmla="val 50000"/>
            </a:avLst>
          </a:prstGeom>
          <a:solidFill>
            <a:srgbClr val="0A1F44"/>
          </a:solidFill>
          <a:ln w="6350">
            <a:solidFill>
              <a:srgbClr val="0A1F44"/>
            </a:solidFill>
            <a:prstDash val="solid"/>
          </a:ln>
        </p:spPr>
        <p:txBody>
          <a:bodyPr/>
          <a:lstStyle/>
          <a:p>
            <a:endParaRPr lang="en-US"/>
          </a:p>
        </p:txBody>
      </p:sp>
      <p:sp>
        <p:nvSpPr>
          <p:cNvPr id="5" name="Text 2"/>
          <p:cNvSpPr txBox="1"/>
          <p:nvPr/>
        </p:nvSpPr>
        <p:spPr>
          <a:xfrm>
            <a:off x="11155680" y="603504"/>
            <a:ext cx="53035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G27</a:t>
            </a:r>
            <a:endParaRPr lang="en-US" sz="950" dirty="0"/>
          </a:p>
        </p:txBody>
      </p:sp>
      <p:sp>
        <p:nvSpPr>
          <p:cNvPr id="6" name="Shape 3"/>
          <p:cNvSpPr/>
          <p:nvPr/>
        </p:nvSpPr>
        <p:spPr>
          <a:xfrm>
            <a:off x="502920" y="6400800"/>
            <a:ext cx="11183112" cy="0"/>
          </a:xfrm>
          <a:prstGeom prst="line">
            <a:avLst/>
          </a:prstGeom>
          <a:noFill/>
          <a:ln w="9525">
            <a:solidFill>
              <a:srgbClr val="E2E8F0"/>
            </a:solidFill>
            <a:prstDash val="solid"/>
          </a:ln>
        </p:spPr>
        <p:txBody>
          <a:bodyPr/>
          <a:lstStyle/>
          <a:p>
            <a:endParaRPr lang="en-US"/>
          </a:p>
        </p:txBody>
      </p:sp>
      <p:sp>
        <p:nvSpPr>
          <p:cNvPr id="7" name="Text 4"/>
          <p:cNvSpPr txBox="1"/>
          <p:nvPr/>
        </p:nvSpPr>
        <p:spPr>
          <a:xfrm>
            <a:off x="502920" y="6464808"/>
            <a:ext cx="9418320" cy="256032"/>
          </a:xfrm>
          <a:prstGeom prst="rect">
            <a:avLst/>
          </a:prstGeom>
          <a:noFill/>
          <a:ln/>
        </p:spPr>
        <p:txBody>
          <a:bodyPr wrap="square" lIns="0" tIns="0" rIns="0" bIns="0" rtlCol="0" anchor="ctr"/>
          <a:lstStyle/>
          <a:p>
            <a:pPr marL="0" indent="0">
              <a:buNone/>
            </a:pPr>
            <a:r>
              <a:rPr lang="en-US" sz="800" dirty="0">
                <a:solidFill>
                  <a:srgbClr val="64748B"/>
                </a:solidFill>
                <a:latin typeface="Inter" pitchFamily="34" charset="0"/>
                <a:ea typeface="Inter" pitchFamily="34" charset="-122"/>
                <a:cs typeface="Inter" pitchFamily="34" charset="-120"/>
              </a:rPr>
              <a:t>Source: case Exhibit M, section 7; Amazon Q2 2026 results; Bloomberg Law, NPR (May 2026); The Fashion Law (30 Sep 2026); Williams-Sonoma 10-K. Map positions and copy speeds are our judgment; full rival table in the case pack.</a:t>
            </a:r>
            <a:endParaRPr lang="en-US" sz="800" dirty="0"/>
          </a:p>
        </p:txBody>
      </p:sp>
      <p:sp>
        <p:nvSpPr>
          <p:cNvPr id="8" name="Text 5"/>
          <p:cNvSpPr txBox="1"/>
          <p:nvPr/>
        </p:nvSpPr>
        <p:spPr>
          <a:xfrm>
            <a:off x="9966960" y="6464808"/>
            <a:ext cx="1719072" cy="256032"/>
          </a:xfrm>
          <a:prstGeom prst="rect">
            <a:avLst/>
          </a:prstGeom>
          <a:noFill/>
          <a:ln/>
        </p:spPr>
        <p:txBody>
          <a:bodyPr wrap="square" lIns="0" tIns="0" rIns="0" bIns="0" rtlCol="0" anchor="ctr"/>
          <a:lstStyle/>
          <a:p>
            <a:pPr marL="0" indent="0" algn="r">
              <a:buNone/>
            </a:pPr>
            <a:r>
              <a:rPr lang="en-US" sz="800" dirty="0">
                <a:solidFill>
                  <a:srgbClr val="64748B"/>
                </a:solidFill>
                <a:latin typeface="Inter" pitchFamily="34" charset="0"/>
                <a:ea typeface="Inter" pitchFamily="34" charset="-122"/>
                <a:cs typeface="Inter" pitchFamily="34" charset="-120"/>
              </a:rPr>
              <a:t>Team G27  ·  5</a:t>
            </a:r>
            <a:endParaRPr lang="en-US" sz="800" dirty="0"/>
          </a:p>
        </p:txBody>
      </p:sp>
      <p:sp>
        <p:nvSpPr>
          <p:cNvPr id="9" name="Text 6"/>
          <p:cNvSpPr txBox="1"/>
          <p:nvPr/>
        </p:nvSpPr>
        <p:spPr>
          <a:xfrm>
            <a:off x="502920" y="1188720"/>
            <a:ext cx="4297680" cy="237744"/>
          </a:xfrm>
          <a:prstGeom prst="rect">
            <a:avLst/>
          </a:prstGeom>
          <a:noFill/>
          <a:ln/>
        </p:spPr>
        <p:txBody>
          <a:bodyPr wrap="square" lIns="0" tIns="0" rIns="0" bIns="0" rtlCol="0" anchor="t"/>
          <a:lstStyle/>
          <a:p>
            <a:pPr marL="0" indent="0">
              <a:buNone/>
            </a:pPr>
            <a:r>
              <a:rPr lang="en-US" sz="1100" b="1" dirty="0">
                <a:solidFill>
                  <a:srgbClr val="0A1F44"/>
                </a:solidFill>
                <a:latin typeface="Inter" pitchFamily="34" charset="0"/>
                <a:ea typeface="Inter" pitchFamily="34" charset="-122"/>
                <a:cs typeface="Inter" pitchFamily="34" charset="-120"/>
              </a:rPr>
              <a:t>Price vs depth of owned relationship (our judgment)</a:t>
            </a:r>
            <a:endParaRPr lang="en-US" sz="1100" dirty="0"/>
          </a:p>
        </p:txBody>
      </p:sp>
      <p:sp>
        <p:nvSpPr>
          <p:cNvPr id="10" name="Shape 7"/>
          <p:cNvSpPr/>
          <p:nvPr/>
        </p:nvSpPr>
        <p:spPr>
          <a:xfrm>
            <a:off x="868680" y="1572768"/>
            <a:ext cx="0" cy="2587752"/>
          </a:xfrm>
          <a:prstGeom prst="line">
            <a:avLst/>
          </a:prstGeom>
          <a:noFill/>
          <a:ln w="12700">
            <a:solidFill>
              <a:srgbClr val="0F172A"/>
            </a:solidFill>
            <a:prstDash val="solid"/>
          </a:ln>
        </p:spPr>
        <p:txBody>
          <a:bodyPr/>
          <a:lstStyle/>
          <a:p>
            <a:endParaRPr lang="en-US"/>
          </a:p>
        </p:txBody>
      </p:sp>
      <p:sp>
        <p:nvSpPr>
          <p:cNvPr id="11" name="Shape 8"/>
          <p:cNvSpPr/>
          <p:nvPr/>
        </p:nvSpPr>
        <p:spPr>
          <a:xfrm>
            <a:off x="868680" y="4160520"/>
            <a:ext cx="3657600" cy="0"/>
          </a:xfrm>
          <a:prstGeom prst="line">
            <a:avLst/>
          </a:prstGeom>
          <a:noFill/>
          <a:ln w="12700">
            <a:solidFill>
              <a:srgbClr val="0F172A"/>
            </a:solidFill>
            <a:prstDash val="solid"/>
          </a:ln>
        </p:spPr>
        <p:txBody>
          <a:bodyPr/>
          <a:lstStyle/>
          <a:p>
            <a:endParaRPr lang="en-US"/>
          </a:p>
        </p:txBody>
      </p:sp>
      <p:sp>
        <p:nvSpPr>
          <p:cNvPr id="12" name="Shape 9"/>
          <p:cNvSpPr/>
          <p:nvPr/>
        </p:nvSpPr>
        <p:spPr>
          <a:xfrm>
            <a:off x="2697480" y="1572768"/>
            <a:ext cx="0" cy="2587752"/>
          </a:xfrm>
          <a:prstGeom prst="line">
            <a:avLst/>
          </a:prstGeom>
          <a:noFill/>
          <a:ln w="9525">
            <a:solidFill>
              <a:srgbClr val="D5DCE6"/>
            </a:solidFill>
            <a:prstDash val="dash"/>
          </a:ln>
        </p:spPr>
        <p:txBody>
          <a:bodyPr/>
          <a:lstStyle/>
          <a:p>
            <a:endParaRPr lang="en-US"/>
          </a:p>
        </p:txBody>
      </p:sp>
      <p:sp>
        <p:nvSpPr>
          <p:cNvPr id="13" name="Shape 10"/>
          <p:cNvSpPr/>
          <p:nvPr/>
        </p:nvSpPr>
        <p:spPr>
          <a:xfrm>
            <a:off x="868680" y="2866644"/>
            <a:ext cx="3657600" cy="0"/>
          </a:xfrm>
          <a:prstGeom prst="line">
            <a:avLst/>
          </a:prstGeom>
          <a:noFill/>
          <a:ln w="9525">
            <a:solidFill>
              <a:srgbClr val="D5DCE6"/>
            </a:solidFill>
            <a:prstDash val="solid"/>
          </a:ln>
        </p:spPr>
        <p:txBody>
          <a:bodyPr/>
          <a:lstStyle/>
          <a:p>
            <a:endParaRPr lang="en-US"/>
          </a:p>
        </p:txBody>
      </p:sp>
      <p:sp>
        <p:nvSpPr>
          <p:cNvPr id="14" name="Text 11"/>
          <p:cNvSpPr txBox="1"/>
          <p:nvPr/>
        </p:nvSpPr>
        <p:spPr>
          <a:xfrm>
            <a:off x="868680" y="4197096"/>
            <a:ext cx="731520" cy="182880"/>
          </a:xfrm>
          <a:prstGeom prst="rect">
            <a:avLst/>
          </a:prstGeom>
          <a:noFill/>
          <a:ln/>
        </p:spPr>
        <p:txBody>
          <a:bodyPr wrap="square" lIns="0" tIns="0" rIns="0" bIns="0" rtlCol="0" anchor="t"/>
          <a:lstStyle/>
          <a:p>
            <a:pPr marL="0" indent="0">
              <a:buNone/>
            </a:pPr>
            <a:r>
              <a:rPr lang="en-US" sz="850" dirty="0">
                <a:solidFill>
                  <a:srgbClr val="64748B"/>
                </a:solidFill>
                <a:latin typeface="Inter" pitchFamily="34" charset="0"/>
                <a:ea typeface="Inter" pitchFamily="34" charset="-122"/>
                <a:cs typeface="Inter" pitchFamily="34" charset="-120"/>
              </a:rPr>
              <a:t>Value</a:t>
            </a:r>
            <a:endParaRPr lang="en-US" sz="850" dirty="0"/>
          </a:p>
        </p:txBody>
      </p:sp>
      <p:sp>
        <p:nvSpPr>
          <p:cNvPr id="15" name="Text 12"/>
          <p:cNvSpPr txBox="1"/>
          <p:nvPr/>
        </p:nvSpPr>
        <p:spPr>
          <a:xfrm>
            <a:off x="2148840" y="4197096"/>
            <a:ext cx="1097280" cy="182880"/>
          </a:xfrm>
          <a:prstGeom prst="rect">
            <a:avLst/>
          </a:prstGeom>
          <a:noFill/>
          <a:ln/>
        </p:spPr>
        <p:txBody>
          <a:bodyPr wrap="square" lIns="0" tIns="0" rIns="0" bIns="0" rtlCol="0" anchor="t"/>
          <a:lstStyle/>
          <a:p>
            <a:pPr marL="0" indent="0" algn="ctr">
              <a:buNone/>
            </a:pPr>
            <a:r>
              <a:rPr lang="en-US" sz="850" b="1" dirty="0">
                <a:solidFill>
                  <a:srgbClr val="0F172A"/>
                </a:solidFill>
                <a:latin typeface="Inter" pitchFamily="34" charset="0"/>
                <a:ea typeface="Inter" pitchFamily="34" charset="-122"/>
                <a:cs typeface="Inter" pitchFamily="34" charset="-120"/>
              </a:rPr>
              <a:t>Price →</a:t>
            </a:r>
            <a:endParaRPr lang="en-US" sz="850" dirty="0"/>
          </a:p>
        </p:txBody>
      </p:sp>
      <p:sp>
        <p:nvSpPr>
          <p:cNvPr id="16" name="Text 13"/>
          <p:cNvSpPr txBox="1"/>
          <p:nvPr/>
        </p:nvSpPr>
        <p:spPr>
          <a:xfrm>
            <a:off x="3794760" y="4197096"/>
            <a:ext cx="731520" cy="182880"/>
          </a:xfrm>
          <a:prstGeom prst="rect">
            <a:avLst/>
          </a:prstGeom>
          <a:noFill/>
          <a:ln/>
        </p:spPr>
        <p:txBody>
          <a:bodyPr wrap="square" lIns="0" tIns="0" rIns="0" bIns="0" rtlCol="0" anchor="t"/>
          <a:lstStyle/>
          <a:p>
            <a:pPr marL="0" indent="0" algn="r">
              <a:buNone/>
            </a:pPr>
            <a:r>
              <a:rPr lang="en-US" sz="850" dirty="0">
                <a:solidFill>
                  <a:srgbClr val="64748B"/>
                </a:solidFill>
                <a:latin typeface="Inter" pitchFamily="34" charset="0"/>
                <a:ea typeface="Inter" pitchFamily="34" charset="-122"/>
                <a:cs typeface="Inter" pitchFamily="34" charset="-120"/>
              </a:rPr>
              <a:t>Premium</a:t>
            </a:r>
            <a:endParaRPr lang="en-US" sz="850" dirty="0"/>
          </a:p>
        </p:txBody>
      </p:sp>
      <p:sp>
        <p:nvSpPr>
          <p:cNvPr id="17" name="Text 14"/>
          <p:cNvSpPr txBox="1"/>
          <p:nvPr/>
        </p:nvSpPr>
        <p:spPr>
          <a:xfrm rot="16200000">
            <a:off x="-901700" y="2775204"/>
            <a:ext cx="3175000" cy="182880"/>
          </a:xfrm>
          <a:prstGeom prst="rect">
            <a:avLst/>
          </a:prstGeom>
          <a:noFill/>
          <a:ln/>
        </p:spPr>
        <p:txBody>
          <a:bodyPr wrap="square" lIns="0" tIns="0" rIns="0" bIns="0" rtlCol="0" anchor="t"/>
          <a:lstStyle/>
          <a:p>
            <a:pPr marL="0" indent="0" algn="ctr">
              <a:buNone/>
            </a:pPr>
            <a:r>
              <a:rPr lang="en-US" sz="850" b="1" dirty="0">
                <a:solidFill>
                  <a:srgbClr val="0F172A"/>
                </a:solidFill>
                <a:latin typeface="Inter" pitchFamily="34" charset="0"/>
                <a:ea typeface="Inter" pitchFamily="34" charset="-122"/>
                <a:cs typeface="Inter" pitchFamily="34" charset="-120"/>
              </a:rPr>
              <a:t>Owned reach: % of buyers on app, email or SMS →</a:t>
            </a:r>
            <a:endParaRPr lang="en-US" sz="850" dirty="0"/>
          </a:p>
        </p:txBody>
      </p:sp>
      <p:sp>
        <p:nvSpPr>
          <p:cNvPr id="18" name="Shape 15"/>
          <p:cNvSpPr/>
          <p:nvPr/>
        </p:nvSpPr>
        <p:spPr>
          <a:xfrm>
            <a:off x="978408" y="1712671"/>
            <a:ext cx="658368" cy="237744"/>
          </a:xfrm>
          <a:prstGeom prst="roundRect">
            <a:avLst>
              <a:gd name="adj" fmla="val 23077"/>
            </a:avLst>
          </a:prstGeom>
          <a:solidFill>
            <a:srgbClr val="FFFFFF"/>
          </a:solidFill>
          <a:ln w="9525">
            <a:solidFill>
              <a:srgbClr val="E2E8F0"/>
            </a:solidFill>
            <a:prstDash val="solid"/>
          </a:ln>
        </p:spPr>
        <p:txBody>
          <a:bodyPr/>
          <a:lstStyle/>
          <a:p>
            <a:endParaRPr lang="en-US"/>
          </a:p>
        </p:txBody>
      </p:sp>
      <p:pic>
        <p:nvPicPr>
          <p:cNvPr id="19" name="Image 1" descr="/tmp/claude-0/-home-user-Quince/7efe80ae-a049-50c2-9886-98bf7ca3a04a/scratchpad/assets/amazon.png"/>
          <p:cNvPicPr>
            <a:picLocks noChangeAspect="1"/>
          </p:cNvPicPr>
          <p:nvPr/>
        </p:nvPicPr>
        <p:blipFill>
          <a:blip r:embed="rId4"/>
          <a:stretch>
            <a:fillRect/>
          </a:stretch>
        </p:blipFill>
        <p:spPr>
          <a:xfrm>
            <a:off x="1095566" y="1767535"/>
            <a:ext cx="424053" cy="128016"/>
          </a:xfrm>
          <a:prstGeom prst="rect">
            <a:avLst/>
          </a:prstGeom>
        </p:spPr>
      </p:pic>
      <p:sp>
        <p:nvSpPr>
          <p:cNvPr id="20" name="Shape 16"/>
          <p:cNvSpPr/>
          <p:nvPr/>
        </p:nvSpPr>
        <p:spPr>
          <a:xfrm>
            <a:off x="1197864" y="2385487"/>
            <a:ext cx="365760" cy="237744"/>
          </a:xfrm>
          <a:prstGeom prst="roundRect">
            <a:avLst>
              <a:gd name="adj" fmla="val 23077"/>
            </a:avLst>
          </a:prstGeom>
          <a:solidFill>
            <a:srgbClr val="FFFFFF"/>
          </a:solidFill>
          <a:ln w="9525">
            <a:solidFill>
              <a:srgbClr val="E2E8F0"/>
            </a:solidFill>
            <a:prstDash val="solid"/>
          </a:ln>
        </p:spPr>
        <p:txBody>
          <a:bodyPr/>
          <a:lstStyle/>
          <a:p>
            <a:endParaRPr lang="en-US"/>
          </a:p>
        </p:txBody>
      </p:sp>
      <p:pic>
        <p:nvPicPr>
          <p:cNvPr id="21" name="Image 2" descr="/tmp/claude-0/-home-user-Quince/7efe80ae-a049-50c2-9886-98bf7ca3a04a/scratchpad/assets/uniqlo.png"/>
          <p:cNvPicPr>
            <a:picLocks noChangeAspect="1"/>
          </p:cNvPicPr>
          <p:nvPr/>
        </p:nvPicPr>
        <p:blipFill>
          <a:blip r:embed="rId5"/>
          <a:stretch>
            <a:fillRect/>
          </a:stretch>
        </p:blipFill>
        <p:spPr>
          <a:xfrm>
            <a:off x="1280160" y="2403775"/>
            <a:ext cx="201168" cy="201168"/>
          </a:xfrm>
          <a:prstGeom prst="rect">
            <a:avLst/>
          </a:prstGeom>
        </p:spPr>
      </p:pic>
      <p:sp>
        <p:nvSpPr>
          <p:cNvPr id="22" name="Shape 17"/>
          <p:cNvSpPr/>
          <p:nvPr/>
        </p:nvSpPr>
        <p:spPr>
          <a:xfrm>
            <a:off x="978408" y="2954792"/>
            <a:ext cx="658368" cy="237744"/>
          </a:xfrm>
          <a:prstGeom prst="roundRect">
            <a:avLst>
              <a:gd name="adj" fmla="val 23077"/>
            </a:avLst>
          </a:prstGeom>
          <a:solidFill>
            <a:srgbClr val="FFFFFF"/>
          </a:solidFill>
          <a:ln w="9525">
            <a:solidFill>
              <a:srgbClr val="E2E8F0"/>
            </a:solidFill>
            <a:prstDash val="solid"/>
          </a:ln>
        </p:spPr>
        <p:txBody>
          <a:bodyPr/>
          <a:lstStyle/>
          <a:p>
            <a:endParaRPr lang="en-US"/>
          </a:p>
        </p:txBody>
      </p:sp>
      <p:pic>
        <p:nvPicPr>
          <p:cNvPr id="23" name="Image 3" descr="/tmp/claude-0/-home-user-Quince/7efe80ae-a049-50c2-9886-98bf7ca3a04a/scratchpad/assets/shein.png"/>
          <p:cNvPicPr>
            <a:picLocks noChangeAspect="1"/>
          </p:cNvPicPr>
          <p:nvPr/>
        </p:nvPicPr>
        <p:blipFill>
          <a:blip r:embed="rId6"/>
          <a:stretch>
            <a:fillRect/>
          </a:stretch>
        </p:blipFill>
        <p:spPr>
          <a:xfrm>
            <a:off x="1042416" y="3018610"/>
            <a:ext cx="530352" cy="110108"/>
          </a:xfrm>
          <a:prstGeom prst="rect">
            <a:avLst/>
          </a:prstGeom>
        </p:spPr>
      </p:pic>
      <p:sp>
        <p:nvSpPr>
          <p:cNvPr id="24" name="Shape 18"/>
          <p:cNvSpPr/>
          <p:nvPr/>
        </p:nvSpPr>
        <p:spPr>
          <a:xfrm>
            <a:off x="2743200" y="3110057"/>
            <a:ext cx="786384" cy="237744"/>
          </a:xfrm>
          <a:prstGeom prst="roundRect">
            <a:avLst>
              <a:gd name="adj" fmla="val 23077"/>
            </a:avLst>
          </a:prstGeom>
          <a:solidFill>
            <a:srgbClr val="FFFFFF"/>
          </a:solidFill>
          <a:ln w="9525">
            <a:solidFill>
              <a:srgbClr val="E2E8F0"/>
            </a:solidFill>
            <a:prstDash val="solid"/>
          </a:ln>
        </p:spPr>
        <p:txBody>
          <a:bodyPr/>
          <a:lstStyle/>
          <a:p>
            <a:endParaRPr lang="en-US"/>
          </a:p>
        </p:txBody>
      </p:sp>
      <p:pic>
        <p:nvPicPr>
          <p:cNvPr id="25" name="Image 4" descr="/tmp/claude-0/-home-user-Quince/7efe80ae-a049-50c2-9886-98bf7ca3a04a/scratchpad/assets/everlane.png"/>
          <p:cNvPicPr>
            <a:picLocks noChangeAspect="1"/>
          </p:cNvPicPr>
          <p:nvPr/>
        </p:nvPicPr>
        <p:blipFill>
          <a:blip r:embed="rId7"/>
          <a:stretch>
            <a:fillRect/>
          </a:stretch>
        </p:blipFill>
        <p:spPr>
          <a:xfrm>
            <a:off x="2807208" y="3195786"/>
            <a:ext cx="658368" cy="66287"/>
          </a:xfrm>
          <a:prstGeom prst="rect">
            <a:avLst/>
          </a:prstGeom>
        </p:spPr>
      </p:pic>
      <p:sp>
        <p:nvSpPr>
          <p:cNvPr id="26" name="Shape 19"/>
          <p:cNvSpPr/>
          <p:nvPr/>
        </p:nvSpPr>
        <p:spPr>
          <a:xfrm>
            <a:off x="3630168" y="3368832"/>
            <a:ext cx="694944" cy="237744"/>
          </a:xfrm>
          <a:prstGeom prst="roundRect">
            <a:avLst>
              <a:gd name="adj" fmla="val 23077"/>
            </a:avLst>
          </a:prstGeom>
          <a:solidFill>
            <a:srgbClr val="FFFFFF"/>
          </a:solidFill>
          <a:ln w="9525">
            <a:solidFill>
              <a:srgbClr val="E2E8F0"/>
            </a:solidFill>
            <a:prstDash val="solid"/>
          </a:ln>
        </p:spPr>
        <p:txBody>
          <a:bodyPr/>
          <a:lstStyle/>
          <a:p>
            <a:endParaRPr lang="en-US"/>
          </a:p>
        </p:txBody>
      </p:sp>
      <p:sp>
        <p:nvSpPr>
          <p:cNvPr id="27" name="Text 20"/>
          <p:cNvSpPr txBox="1"/>
          <p:nvPr/>
        </p:nvSpPr>
        <p:spPr>
          <a:xfrm>
            <a:off x="3630168" y="3368832"/>
            <a:ext cx="694944" cy="237744"/>
          </a:xfrm>
          <a:prstGeom prst="rect">
            <a:avLst/>
          </a:prstGeom>
          <a:noFill/>
          <a:ln/>
        </p:spPr>
        <p:txBody>
          <a:bodyPr wrap="square" lIns="0" tIns="0" rIns="0" bIns="0" rtlCol="0" anchor="ctr"/>
          <a:lstStyle/>
          <a:p>
            <a:pPr marL="0" indent="0" algn="ctr">
              <a:buNone/>
            </a:pPr>
            <a:r>
              <a:rPr lang="en-US" sz="750" b="1" kern="0" spc="200" dirty="0">
                <a:solidFill>
                  <a:srgbClr val="0F172A"/>
                </a:solidFill>
                <a:latin typeface="Inter" pitchFamily="34" charset="0"/>
                <a:ea typeface="Inter" pitchFamily="34" charset="-122"/>
                <a:cs typeface="Inter" pitchFamily="34" charset="-120"/>
              </a:rPr>
              <a:t>CUYANA</a:t>
            </a:r>
            <a:endParaRPr lang="en-US" sz="750" dirty="0"/>
          </a:p>
        </p:txBody>
      </p:sp>
      <p:sp>
        <p:nvSpPr>
          <p:cNvPr id="28" name="Shape 21"/>
          <p:cNvSpPr/>
          <p:nvPr/>
        </p:nvSpPr>
        <p:spPr>
          <a:xfrm>
            <a:off x="3666744" y="2230222"/>
            <a:ext cx="694944" cy="237744"/>
          </a:xfrm>
          <a:prstGeom prst="roundRect">
            <a:avLst>
              <a:gd name="adj" fmla="val 23077"/>
            </a:avLst>
          </a:prstGeom>
          <a:solidFill>
            <a:srgbClr val="FFFFFF"/>
          </a:solidFill>
          <a:ln w="9525">
            <a:solidFill>
              <a:srgbClr val="E2E8F0"/>
            </a:solidFill>
            <a:prstDash val="solid"/>
          </a:ln>
        </p:spPr>
        <p:txBody>
          <a:bodyPr/>
          <a:lstStyle/>
          <a:p>
            <a:endParaRPr lang="en-US"/>
          </a:p>
        </p:txBody>
      </p:sp>
      <p:pic>
        <p:nvPicPr>
          <p:cNvPr id="29" name="Image 5" descr="/tmp/claude-0/-home-user-Quince/7efe80ae-a049-50c2-9886-98bf7ca3a04a/scratchpad/assets/tapestry.png"/>
          <p:cNvPicPr>
            <a:picLocks noChangeAspect="1"/>
          </p:cNvPicPr>
          <p:nvPr/>
        </p:nvPicPr>
        <p:blipFill>
          <a:blip r:embed="rId8"/>
          <a:stretch>
            <a:fillRect/>
          </a:stretch>
        </p:blipFill>
        <p:spPr>
          <a:xfrm>
            <a:off x="3730752" y="2285691"/>
            <a:ext cx="566928" cy="126806"/>
          </a:xfrm>
          <a:prstGeom prst="rect">
            <a:avLst/>
          </a:prstGeom>
        </p:spPr>
      </p:pic>
      <p:sp>
        <p:nvSpPr>
          <p:cNvPr id="30" name="Shape 22"/>
          <p:cNvSpPr/>
          <p:nvPr/>
        </p:nvSpPr>
        <p:spPr>
          <a:xfrm>
            <a:off x="2807208" y="1660916"/>
            <a:ext cx="1097280" cy="237744"/>
          </a:xfrm>
          <a:prstGeom prst="roundRect">
            <a:avLst>
              <a:gd name="adj" fmla="val 23077"/>
            </a:avLst>
          </a:prstGeom>
          <a:solidFill>
            <a:srgbClr val="FFFFFF"/>
          </a:solidFill>
          <a:ln w="9525">
            <a:solidFill>
              <a:srgbClr val="E2E8F0"/>
            </a:solidFill>
            <a:prstDash val="solid"/>
          </a:ln>
        </p:spPr>
        <p:txBody>
          <a:bodyPr/>
          <a:lstStyle/>
          <a:p>
            <a:endParaRPr lang="en-US"/>
          </a:p>
        </p:txBody>
      </p:sp>
      <p:pic>
        <p:nvPicPr>
          <p:cNvPr id="31" name="Image 6" descr="/tmp/claude-0/-home-user-Quince/7efe80ae-a049-50c2-9886-98bf7ca3a04a/scratchpad/assets/williams_sonoma.png"/>
          <p:cNvPicPr>
            <a:picLocks noChangeAspect="1"/>
          </p:cNvPicPr>
          <p:nvPr/>
        </p:nvPicPr>
        <p:blipFill>
          <a:blip r:embed="rId9"/>
          <a:stretch>
            <a:fillRect/>
          </a:stretch>
        </p:blipFill>
        <p:spPr>
          <a:xfrm>
            <a:off x="2871216" y="1745388"/>
            <a:ext cx="969264" cy="68800"/>
          </a:xfrm>
          <a:prstGeom prst="rect">
            <a:avLst/>
          </a:prstGeom>
        </p:spPr>
      </p:pic>
      <p:sp>
        <p:nvSpPr>
          <p:cNvPr id="32" name="Shape 23"/>
          <p:cNvSpPr/>
          <p:nvPr/>
        </p:nvSpPr>
        <p:spPr>
          <a:xfrm>
            <a:off x="2258568" y="2598908"/>
            <a:ext cx="0" cy="1156533"/>
          </a:xfrm>
          <a:prstGeom prst="line">
            <a:avLst/>
          </a:prstGeom>
          <a:noFill/>
          <a:ln w="25400">
            <a:solidFill>
              <a:srgbClr val="1D4ED8"/>
            </a:solidFill>
            <a:prstDash val="solid"/>
            <a:headEnd type="triangle"/>
          </a:ln>
        </p:spPr>
        <p:txBody>
          <a:bodyPr/>
          <a:lstStyle/>
          <a:p>
            <a:endParaRPr lang="en-US"/>
          </a:p>
        </p:txBody>
      </p:sp>
      <p:sp>
        <p:nvSpPr>
          <p:cNvPr id="33" name="Shape 24"/>
          <p:cNvSpPr/>
          <p:nvPr/>
        </p:nvSpPr>
        <p:spPr>
          <a:xfrm>
            <a:off x="1874520" y="2315444"/>
            <a:ext cx="768096" cy="274320"/>
          </a:xfrm>
          <a:prstGeom prst="roundRect">
            <a:avLst>
              <a:gd name="adj" fmla="val 20000"/>
            </a:avLst>
          </a:prstGeom>
          <a:solidFill>
            <a:srgbClr val="1D4ED8"/>
          </a:solidFill>
          <a:ln w="6350">
            <a:solidFill>
              <a:srgbClr val="1D4ED8"/>
            </a:solidFill>
            <a:prstDash val="solid"/>
          </a:ln>
        </p:spPr>
        <p:txBody>
          <a:bodyPr/>
          <a:lstStyle/>
          <a:p>
            <a:endParaRPr lang="en-US"/>
          </a:p>
        </p:txBody>
      </p:sp>
      <p:pic>
        <p:nvPicPr>
          <p:cNvPr id="34" name="Image 7" descr="/tmp/claude-0/-home-user-Quince/7efe80ae-a049-50c2-9886-98bf7ca3a04a/scratchpad/assets/quince_white.png"/>
          <p:cNvPicPr>
            <a:picLocks noChangeAspect="1"/>
          </p:cNvPicPr>
          <p:nvPr/>
        </p:nvPicPr>
        <p:blipFill>
          <a:blip r:embed="rId10"/>
          <a:stretch>
            <a:fillRect/>
          </a:stretch>
        </p:blipFill>
        <p:spPr>
          <a:xfrm>
            <a:off x="1998124" y="2374880"/>
            <a:ext cx="520887" cy="155448"/>
          </a:xfrm>
          <a:prstGeom prst="rect">
            <a:avLst/>
          </a:prstGeom>
        </p:spPr>
      </p:pic>
      <p:sp>
        <p:nvSpPr>
          <p:cNvPr id="35" name="Shape 25"/>
          <p:cNvSpPr/>
          <p:nvPr/>
        </p:nvSpPr>
        <p:spPr>
          <a:xfrm>
            <a:off x="1874520" y="3764585"/>
            <a:ext cx="768096" cy="274320"/>
          </a:xfrm>
          <a:prstGeom prst="roundRect">
            <a:avLst>
              <a:gd name="adj" fmla="val 20000"/>
            </a:avLst>
          </a:prstGeom>
          <a:solidFill>
            <a:srgbClr val="FFFFFF"/>
          </a:solidFill>
          <a:ln w="12700">
            <a:solidFill>
              <a:srgbClr val="94A3B8"/>
            </a:solidFill>
            <a:prstDash val="dash"/>
          </a:ln>
        </p:spPr>
        <p:txBody>
          <a:bodyPr/>
          <a:lstStyle/>
          <a:p>
            <a:endParaRPr lang="en-US"/>
          </a:p>
        </p:txBody>
      </p:sp>
      <p:pic>
        <p:nvPicPr>
          <p:cNvPr id="36" name="Image 8" descr="/tmp/claude-0/-home-user-Quince/7efe80ae-a049-50c2-9886-98bf7ca3a04a/scratchpad/assets/quince.png"/>
          <p:cNvPicPr>
            <a:picLocks noChangeAspect="1"/>
          </p:cNvPicPr>
          <p:nvPr/>
        </p:nvPicPr>
        <p:blipFill>
          <a:blip r:embed="rId3"/>
          <a:stretch>
            <a:fillRect/>
          </a:stretch>
        </p:blipFill>
        <p:spPr>
          <a:xfrm>
            <a:off x="1998124" y="3824021"/>
            <a:ext cx="520887" cy="155448"/>
          </a:xfrm>
          <a:prstGeom prst="rect">
            <a:avLst/>
          </a:prstGeom>
        </p:spPr>
      </p:pic>
      <p:sp>
        <p:nvSpPr>
          <p:cNvPr id="37" name="Text 26"/>
          <p:cNvSpPr txBox="1"/>
          <p:nvPr/>
        </p:nvSpPr>
        <p:spPr>
          <a:xfrm>
            <a:off x="2670048" y="2361164"/>
            <a:ext cx="548640" cy="182880"/>
          </a:xfrm>
          <a:prstGeom prst="rect">
            <a:avLst/>
          </a:prstGeom>
          <a:noFill/>
          <a:ln/>
        </p:spPr>
        <p:txBody>
          <a:bodyPr wrap="square" lIns="0" tIns="0" rIns="0" bIns="0" rtlCol="0" anchor="ctr"/>
          <a:lstStyle/>
          <a:p>
            <a:pPr marL="0" indent="0">
              <a:buNone/>
            </a:pPr>
            <a:r>
              <a:rPr lang="en-US" sz="850" b="1" dirty="0">
                <a:solidFill>
                  <a:srgbClr val="1D4ED8"/>
                </a:solidFill>
                <a:latin typeface="Inter" pitchFamily="34" charset="0"/>
                <a:ea typeface="Inter" pitchFamily="34" charset="-122"/>
                <a:cs typeface="Inter" pitchFamily="34" charset="-120"/>
              </a:rPr>
              <a:t>target</a:t>
            </a:r>
            <a:endParaRPr lang="en-US" sz="850" dirty="0"/>
          </a:p>
        </p:txBody>
      </p:sp>
      <p:sp>
        <p:nvSpPr>
          <p:cNvPr id="38" name="Text 27"/>
          <p:cNvSpPr txBox="1"/>
          <p:nvPr/>
        </p:nvSpPr>
        <p:spPr>
          <a:xfrm>
            <a:off x="2670048" y="3810305"/>
            <a:ext cx="548640" cy="182880"/>
          </a:xfrm>
          <a:prstGeom prst="rect">
            <a:avLst/>
          </a:prstGeom>
          <a:noFill/>
          <a:ln/>
        </p:spPr>
        <p:txBody>
          <a:bodyPr wrap="square" lIns="0" tIns="0" rIns="0" bIns="0" rtlCol="0" anchor="ctr"/>
          <a:lstStyle/>
          <a:p>
            <a:pPr marL="0" indent="0">
              <a:buNone/>
            </a:pPr>
            <a:r>
              <a:rPr lang="en-US" sz="850" b="1" dirty="0">
                <a:solidFill>
                  <a:srgbClr val="64748B"/>
                </a:solidFill>
                <a:latin typeface="Inter" pitchFamily="34" charset="0"/>
                <a:ea typeface="Inter" pitchFamily="34" charset="-122"/>
                <a:cs typeface="Inter" pitchFamily="34" charset="-120"/>
              </a:rPr>
              <a:t>today</a:t>
            </a:r>
            <a:endParaRPr lang="en-US" sz="850" dirty="0"/>
          </a:p>
        </p:txBody>
      </p:sp>
      <p:sp>
        <p:nvSpPr>
          <p:cNvPr id="39" name="Shape 28"/>
          <p:cNvSpPr/>
          <p:nvPr/>
        </p:nvSpPr>
        <p:spPr>
          <a:xfrm>
            <a:off x="502920" y="4462272"/>
            <a:ext cx="4206240" cy="1801368"/>
          </a:xfrm>
          <a:prstGeom prst="roundRect">
            <a:avLst>
              <a:gd name="adj" fmla="val 3046"/>
            </a:avLst>
          </a:prstGeom>
          <a:solidFill>
            <a:srgbClr val="EFF6FF"/>
          </a:solidFill>
          <a:ln w="6350">
            <a:solidFill>
              <a:srgbClr val="EFF6FF"/>
            </a:solidFill>
            <a:prstDash val="solid"/>
          </a:ln>
        </p:spPr>
        <p:txBody>
          <a:bodyPr/>
          <a:lstStyle/>
          <a:p>
            <a:endParaRPr lang="en-US"/>
          </a:p>
        </p:txBody>
      </p:sp>
      <p:sp>
        <p:nvSpPr>
          <p:cNvPr id="40" name="Text 29"/>
          <p:cNvSpPr txBox="1"/>
          <p:nvPr/>
        </p:nvSpPr>
        <p:spPr>
          <a:xfrm>
            <a:off x="640080" y="4526280"/>
            <a:ext cx="3931920" cy="219456"/>
          </a:xfrm>
          <a:prstGeom prst="rect">
            <a:avLst/>
          </a:prstGeom>
          <a:noFill/>
          <a:ln/>
        </p:spPr>
        <p:txBody>
          <a:bodyPr wrap="square" lIns="0" tIns="0" rIns="0" bIns="0" rtlCol="0" anchor="t"/>
          <a:lstStyle/>
          <a:p>
            <a:pPr marL="0" indent="0">
              <a:buNone/>
            </a:pPr>
            <a:r>
              <a:rPr lang="en-US" sz="1100" b="1" dirty="0">
                <a:solidFill>
                  <a:srgbClr val="0A1F44"/>
                </a:solidFill>
                <a:latin typeface="Inter" pitchFamily="34" charset="0"/>
                <a:ea typeface="Inter" pitchFamily="34" charset="-122"/>
                <a:cs typeface="Inter" pitchFamily="34" charset="-120"/>
              </a:rPr>
              <a:t>What a rival can copy, and how fast</a:t>
            </a:r>
            <a:endParaRPr lang="en-US" sz="1100" dirty="0"/>
          </a:p>
        </p:txBody>
      </p:sp>
      <p:sp>
        <p:nvSpPr>
          <p:cNvPr id="41" name="Text 30"/>
          <p:cNvSpPr txBox="1"/>
          <p:nvPr/>
        </p:nvSpPr>
        <p:spPr>
          <a:xfrm>
            <a:off x="640080" y="4791456"/>
            <a:ext cx="1600200" cy="420624"/>
          </a:xfrm>
          <a:prstGeom prst="rect">
            <a:avLst/>
          </a:prstGeom>
          <a:noFill/>
          <a:ln/>
        </p:spPr>
        <p:txBody>
          <a:bodyPr wrap="square" lIns="0" tIns="0" rIns="0" bIns="0" rtlCol="0" anchor="ctr"/>
          <a:lstStyle/>
          <a:p>
            <a:pPr marL="0" indent="0">
              <a:buNone/>
            </a:pPr>
            <a:r>
              <a:rPr lang="en-US" sz="1050" b="1" dirty="0">
                <a:solidFill>
                  <a:srgbClr val="0A1F44"/>
                </a:solidFill>
                <a:latin typeface="Inter" pitchFamily="34" charset="0"/>
                <a:ea typeface="Inter" pitchFamily="34" charset="-122"/>
                <a:cs typeface="Inter" pitchFamily="34" charset="-120"/>
              </a:rPr>
              <a:t>A 20% discount</a:t>
            </a:r>
            <a:endParaRPr lang="en-US" sz="950" dirty="0"/>
          </a:p>
        </p:txBody>
      </p:sp>
      <p:sp>
        <p:nvSpPr>
          <p:cNvPr id="42" name="Shape 31"/>
          <p:cNvSpPr/>
          <p:nvPr/>
        </p:nvSpPr>
        <p:spPr>
          <a:xfrm>
            <a:off x="2286000" y="4864608"/>
            <a:ext cx="2286000" cy="109728"/>
          </a:xfrm>
          <a:prstGeom prst="rect">
            <a:avLst/>
          </a:prstGeom>
          <a:solidFill>
            <a:srgbClr val="DCE5F2"/>
          </a:solidFill>
          <a:ln w="6350">
            <a:solidFill>
              <a:srgbClr val="DCE5F2"/>
            </a:solidFill>
            <a:prstDash val="solid"/>
          </a:ln>
        </p:spPr>
        <p:txBody>
          <a:bodyPr/>
          <a:lstStyle/>
          <a:p>
            <a:endParaRPr lang="en-US"/>
          </a:p>
        </p:txBody>
      </p:sp>
      <p:sp>
        <p:nvSpPr>
          <p:cNvPr id="43" name="Shape 32"/>
          <p:cNvSpPr/>
          <p:nvPr/>
        </p:nvSpPr>
        <p:spPr>
          <a:xfrm>
            <a:off x="2286000" y="4864608"/>
            <a:ext cx="274320" cy="109728"/>
          </a:xfrm>
          <a:prstGeom prst="rect">
            <a:avLst/>
          </a:prstGeom>
          <a:solidFill>
            <a:srgbClr val="60A5FA"/>
          </a:solidFill>
          <a:ln w="6350">
            <a:solidFill>
              <a:srgbClr val="60A5FA"/>
            </a:solidFill>
            <a:prstDash val="solid"/>
          </a:ln>
        </p:spPr>
        <p:txBody>
          <a:bodyPr/>
          <a:lstStyle/>
          <a:p>
            <a:endParaRPr lang="en-US"/>
          </a:p>
        </p:txBody>
      </p:sp>
      <p:sp>
        <p:nvSpPr>
          <p:cNvPr id="44" name="Text 33"/>
          <p:cNvSpPr txBox="1"/>
          <p:nvPr/>
        </p:nvSpPr>
        <p:spPr>
          <a:xfrm>
            <a:off x="2286000" y="4992624"/>
            <a:ext cx="2331720" cy="219456"/>
          </a:xfrm>
          <a:prstGeom prst="rect">
            <a:avLst/>
          </a:prstGeom>
          <a:noFill/>
          <a:ln/>
        </p:spPr>
        <p:txBody>
          <a:bodyPr wrap="square" lIns="0" tIns="0" rIns="0" bIns="0" rtlCol="0" anchor="t"/>
          <a:lstStyle/>
          <a:p>
            <a:pPr marL="0" indent="0">
              <a:buNone/>
            </a:pPr>
            <a:r>
              <a:rPr lang="en-US" sz="1000" dirty="0">
                <a:solidFill>
                  <a:srgbClr val="334155"/>
                </a:solidFill>
                <a:latin typeface="Inter" pitchFamily="34" charset="0"/>
                <a:ea typeface="Inter" pitchFamily="34" charset="-122"/>
                <a:cs typeface="Inter" pitchFamily="34" charset="-120"/>
              </a:rPr>
              <a:t>Overnight</a:t>
            </a:r>
            <a:endParaRPr lang="en-US" sz="800" dirty="0"/>
          </a:p>
        </p:txBody>
      </p:sp>
      <p:sp>
        <p:nvSpPr>
          <p:cNvPr id="45" name="Text 34"/>
          <p:cNvSpPr txBox="1"/>
          <p:nvPr/>
        </p:nvSpPr>
        <p:spPr>
          <a:xfrm>
            <a:off x="640080" y="5266944"/>
            <a:ext cx="1600200" cy="420624"/>
          </a:xfrm>
          <a:prstGeom prst="rect">
            <a:avLst/>
          </a:prstGeom>
          <a:noFill/>
          <a:ln/>
        </p:spPr>
        <p:txBody>
          <a:bodyPr wrap="square" lIns="0" tIns="0" rIns="0" bIns="0" rtlCol="0" anchor="ctr"/>
          <a:lstStyle/>
          <a:p>
            <a:pPr marL="0" indent="0">
              <a:buNone/>
            </a:pPr>
            <a:r>
              <a:rPr lang="en-US" sz="1050" b="1" dirty="0">
                <a:solidFill>
                  <a:srgbClr val="0A1F44"/>
                </a:solidFill>
                <a:latin typeface="Inter" pitchFamily="34" charset="0"/>
                <a:ea typeface="Inter" pitchFamily="34" charset="-122"/>
                <a:cs typeface="Inter" pitchFamily="34" charset="-120"/>
              </a:rPr>
              <a:t>Journeys and suppression lists</a:t>
            </a:r>
            <a:endParaRPr lang="en-US" sz="950" dirty="0"/>
          </a:p>
        </p:txBody>
      </p:sp>
      <p:sp>
        <p:nvSpPr>
          <p:cNvPr id="46" name="Shape 35"/>
          <p:cNvSpPr/>
          <p:nvPr/>
        </p:nvSpPr>
        <p:spPr>
          <a:xfrm>
            <a:off x="2286000" y="5340096"/>
            <a:ext cx="2286000" cy="109728"/>
          </a:xfrm>
          <a:prstGeom prst="rect">
            <a:avLst/>
          </a:prstGeom>
          <a:solidFill>
            <a:srgbClr val="DCE5F2"/>
          </a:solidFill>
          <a:ln w="6350">
            <a:solidFill>
              <a:srgbClr val="DCE5F2"/>
            </a:solidFill>
            <a:prstDash val="solid"/>
          </a:ln>
        </p:spPr>
        <p:txBody>
          <a:bodyPr/>
          <a:lstStyle/>
          <a:p>
            <a:endParaRPr lang="en-US"/>
          </a:p>
        </p:txBody>
      </p:sp>
      <p:sp>
        <p:nvSpPr>
          <p:cNvPr id="47" name="Shape 36"/>
          <p:cNvSpPr/>
          <p:nvPr/>
        </p:nvSpPr>
        <p:spPr>
          <a:xfrm>
            <a:off x="2286000" y="5340096"/>
            <a:ext cx="1028700" cy="109728"/>
          </a:xfrm>
          <a:prstGeom prst="rect">
            <a:avLst/>
          </a:prstGeom>
          <a:solidFill>
            <a:srgbClr val="2563EB"/>
          </a:solidFill>
          <a:ln w="6350">
            <a:solidFill>
              <a:srgbClr val="2563EB"/>
            </a:solidFill>
            <a:prstDash val="solid"/>
          </a:ln>
        </p:spPr>
        <p:txBody>
          <a:bodyPr/>
          <a:lstStyle/>
          <a:p>
            <a:endParaRPr lang="en-US"/>
          </a:p>
        </p:txBody>
      </p:sp>
      <p:sp>
        <p:nvSpPr>
          <p:cNvPr id="48" name="Text 37"/>
          <p:cNvSpPr txBox="1"/>
          <p:nvPr/>
        </p:nvSpPr>
        <p:spPr>
          <a:xfrm>
            <a:off x="2286000" y="5468112"/>
            <a:ext cx="2331720" cy="219456"/>
          </a:xfrm>
          <a:prstGeom prst="rect">
            <a:avLst/>
          </a:prstGeom>
          <a:noFill/>
          <a:ln/>
        </p:spPr>
        <p:txBody>
          <a:bodyPr wrap="square" lIns="0" tIns="0" rIns="0" bIns="0" rtlCol="0" anchor="t"/>
          <a:lstStyle/>
          <a:p>
            <a:pPr marL="0" indent="0">
              <a:buNone/>
            </a:pPr>
            <a:r>
              <a:rPr lang="en-US" sz="1000" dirty="0">
                <a:solidFill>
                  <a:srgbClr val="334155"/>
                </a:solidFill>
                <a:latin typeface="Inter" pitchFamily="34" charset="0"/>
                <a:ea typeface="Inter" pitchFamily="34" charset="-122"/>
                <a:cs typeface="Inter" pitchFamily="34" charset="-120"/>
              </a:rPr>
              <a:t>A quarter or two</a:t>
            </a:r>
            <a:endParaRPr lang="en-US" sz="800" dirty="0"/>
          </a:p>
        </p:txBody>
      </p:sp>
      <p:sp>
        <p:nvSpPr>
          <p:cNvPr id="49" name="Text 38"/>
          <p:cNvSpPr txBox="1"/>
          <p:nvPr/>
        </p:nvSpPr>
        <p:spPr>
          <a:xfrm>
            <a:off x="640080" y="5742432"/>
            <a:ext cx="1600200" cy="420624"/>
          </a:xfrm>
          <a:prstGeom prst="rect">
            <a:avLst/>
          </a:prstGeom>
          <a:noFill/>
          <a:ln/>
        </p:spPr>
        <p:txBody>
          <a:bodyPr wrap="square" lIns="0" tIns="0" rIns="0" bIns="0" rtlCol="0" anchor="ctr"/>
          <a:lstStyle/>
          <a:p>
            <a:pPr marL="0" indent="0">
              <a:buNone/>
            </a:pPr>
            <a:r>
              <a:rPr lang="en-US" sz="1050" b="1" dirty="0">
                <a:solidFill>
                  <a:srgbClr val="0A1F44"/>
                </a:solidFill>
                <a:latin typeface="Inter" pitchFamily="34" charset="0"/>
                <a:ea typeface="Inter" pitchFamily="34" charset="-122"/>
                <a:cs typeface="Inter" pitchFamily="34" charset="-120"/>
              </a:rPr>
              <a:t>Factory-direct cost + opted-in buyers</a:t>
            </a:r>
            <a:endParaRPr lang="en-US" sz="950" dirty="0"/>
          </a:p>
        </p:txBody>
      </p:sp>
      <p:sp>
        <p:nvSpPr>
          <p:cNvPr id="50" name="Shape 39"/>
          <p:cNvSpPr/>
          <p:nvPr/>
        </p:nvSpPr>
        <p:spPr>
          <a:xfrm>
            <a:off x="2286000" y="5815584"/>
            <a:ext cx="2286000" cy="109728"/>
          </a:xfrm>
          <a:prstGeom prst="rect">
            <a:avLst/>
          </a:prstGeom>
          <a:solidFill>
            <a:srgbClr val="DCE5F2"/>
          </a:solidFill>
          <a:ln w="6350">
            <a:solidFill>
              <a:srgbClr val="DCE5F2"/>
            </a:solidFill>
            <a:prstDash val="solid"/>
          </a:ln>
        </p:spPr>
        <p:txBody>
          <a:bodyPr/>
          <a:lstStyle/>
          <a:p>
            <a:endParaRPr lang="en-US"/>
          </a:p>
        </p:txBody>
      </p:sp>
      <p:sp>
        <p:nvSpPr>
          <p:cNvPr id="51" name="Shape 40"/>
          <p:cNvSpPr/>
          <p:nvPr/>
        </p:nvSpPr>
        <p:spPr>
          <a:xfrm>
            <a:off x="2286000" y="5815584"/>
            <a:ext cx="2286000" cy="109728"/>
          </a:xfrm>
          <a:prstGeom prst="rect">
            <a:avLst/>
          </a:prstGeom>
          <a:solidFill>
            <a:srgbClr val="0A1F44"/>
          </a:solidFill>
          <a:ln w="6350">
            <a:solidFill>
              <a:srgbClr val="0A1F44"/>
            </a:solidFill>
            <a:prstDash val="solid"/>
          </a:ln>
        </p:spPr>
        <p:txBody>
          <a:bodyPr/>
          <a:lstStyle/>
          <a:p>
            <a:endParaRPr lang="en-US"/>
          </a:p>
        </p:txBody>
      </p:sp>
      <p:sp>
        <p:nvSpPr>
          <p:cNvPr id="52" name="Text 41"/>
          <p:cNvSpPr txBox="1"/>
          <p:nvPr/>
        </p:nvSpPr>
        <p:spPr>
          <a:xfrm>
            <a:off x="2286000" y="5943600"/>
            <a:ext cx="2331720" cy="219456"/>
          </a:xfrm>
          <a:prstGeom prst="rect">
            <a:avLst/>
          </a:prstGeom>
          <a:noFill/>
          <a:ln/>
        </p:spPr>
        <p:txBody>
          <a:bodyPr wrap="square" lIns="0" tIns="0" rIns="0" bIns="0" rtlCol="0" anchor="t"/>
          <a:lstStyle/>
          <a:p>
            <a:pPr marL="0" indent="0">
              <a:buNone/>
            </a:pPr>
            <a:r>
              <a:rPr lang="en-US" sz="1000" dirty="0">
                <a:solidFill>
                  <a:srgbClr val="334155"/>
                </a:solidFill>
                <a:latin typeface="Inter" pitchFamily="34" charset="0"/>
                <a:ea typeface="Inter" pitchFamily="34" charset="-122"/>
                <a:cs typeface="Inter" pitchFamily="34" charset="-120"/>
              </a:rPr>
              <a:t>Years</a:t>
            </a:r>
            <a:endParaRPr lang="en-US" sz="800" dirty="0"/>
          </a:p>
        </p:txBody>
      </p:sp>
      <p:sp>
        <p:nvSpPr>
          <p:cNvPr id="83" name="TextBox 82"/>
          <p:cNvSpPr txBox="1"/>
          <p:nvPr/>
        </p:nvSpPr>
        <p:spPr>
          <a:xfrm>
            <a:off x="5080000" y="1219200"/>
            <a:ext cx="6350000" cy="203200"/>
          </a:xfrm>
          <a:prstGeom prst="rect">
            <a:avLst/>
          </a:prstGeom>
          <a:noFill/>
        </p:spPr>
        <p:txBody>
          <a:bodyPr wrap="square" lIns="0" tIns="0" rIns="0" bIns="0" anchor="t">
            <a:spAutoFit/>
          </a:bodyPr>
          <a:lstStyle/>
          <a:p>
            <a:pPr algn="l"/>
            <a:r>
              <a:rPr sz="900" b="1">
                <a:solidFill>
                  <a:srgbClr val="1D4ED8"/>
                </a:solidFill>
                <a:latin typeface="Inter"/>
              </a:rPr>
              <a:t>WHAT THREE RIVALS TEACH US</a:t>
            </a:r>
          </a:p>
        </p:txBody>
      </p:sp>
      <p:sp>
        <p:nvSpPr>
          <p:cNvPr id="84" name="Rounded Rectangle 83"/>
          <p:cNvSpPr/>
          <p:nvPr/>
        </p:nvSpPr>
        <p:spPr>
          <a:xfrm>
            <a:off x="5080000" y="1524000"/>
            <a:ext cx="6606540" cy="1016000"/>
          </a:xfrm>
          <a:prstGeom prst="roundRect">
            <a:avLst>
              <a:gd name="adj" fmla="val 75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7" name="Image 9" descr="/tmp/claude-0/-home-user-Quince/7efe80ae-a049-50c2-9886-98bf7ca3a04a/scratchpad/assets/amazon.png"/>
          <p:cNvPicPr>
            <a:picLocks noChangeAspect="1"/>
          </p:cNvPicPr>
          <p:nvPr/>
        </p:nvPicPr>
        <p:blipFill>
          <a:blip r:embed="rId4"/>
          <a:stretch>
            <a:fillRect/>
          </a:stretch>
        </p:blipFill>
        <p:spPr>
          <a:xfrm>
            <a:off x="5283200" y="1870973"/>
            <a:ext cx="1066800" cy="322052"/>
          </a:xfrm>
          <a:prstGeom prst="rect">
            <a:avLst/>
          </a:prstGeom>
        </p:spPr>
      </p:pic>
      <p:sp>
        <p:nvSpPr>
          <p:cNvPr id="85" name="Rectangle 84"/>
          <p:cNvSpPr/>
          <p:nvPr/>
        </p:nvSpPr>
        <p:spPr>
          <a:xfrm>
            <a:off x="6629400" y="1727200"/>
            <a:ext cx="38100" cy="6096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6781800" y="1625600"/>
            <a:ext cx="4726940" cy="812800"/>
          </a:xfrm>
          <a:prstGeom prst="rect">
            <a:avLst/>
          </a:prstGeom>
          <a:noFill/>
        </p:spPr>
        <p:txBody>
          <a:bodyPr wrap="square" lIns="0" tIns="0" rIns="0" bIns="0" anchor="ctr">
            <a:spAutoFit/>
          </a:bodyPr>
          <a:lstStyle/>
          <a:p>
            <a:pPr algn="l"/>
            <a:r>
              <a:rPr sz="1300" b="1">
                <a:solidFill>
                  <a:srgbClr val="0A1F44"/>
                </a:solidFill>
                <a:latin typeface="Inter"/>
              </a:rPr>
              <a:t>Paid reach is an auction we can't win</a:t>
            </a:r>
          </a:p>
          <a:p>
            <a:pPr algn="l">
              <a:spcBef>
                <a:spcPts val="300"/>
              </a:spcBef>
            </a:pPr>
            <a:r>
              <a:rPr sz="1100" b="0">
                <a:solidFill>
                  <a:srgbClr val="64748B"/>
                </a:solidFill>
                <a:latin typeface="Inter"/>
              </a:rPr>
              <a:t>Amazon's ad business: $19.8B a quarter, +26%</a:t>
            </a:r>
          </a:p>
        </p:txBody>
      </p:sp>
      <p:sp>
        <p:nvSpPr>
          <p:cNvPr id="87" name="Rounded Rectangle 86"/>
          <p:cNvSpPr/>
          <p:nvPr/>
        </p:nvSpPr>
        <p:spPr>
          <a:xfrm>
            <a:off x="5080000" y="2692400"/>
            <a:ext cx="6606540" cy="1016000"/>
          </a:xfrm>
          <a:prstGeom prst="roundRect">
            <a:avLst>
              <a:gd name="adj" fmla="val 75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7" name="Image 11" descr="/tmp/claude-0/-home-user-Quince/7efe80ae-a049-50c2-9886-98bf7ca3a04a/scratchpad/assets/everlane.png"/>
          <p:cNvPicPr>
            <a:picLocks noChangeAspect="1"/>
          </p:cNvPicPr>
          <p:nvPr/>
        </p:nvPicPr>
        <p:blipFill>
          <a:blip r:embed="rId7"/>
          <a:stretch>
            <a:fillRect/>
          </a:stretch>
        </p:blipFill>
        <p:spPr>
          <a:xfrm>
            <a:off x="5283200" y="3146695"/>
            <a:ext cx="1066800" cy="107410"/>
          </a:xfrm>
          <a:prstGeom prst="rect">
            <a:avLst/>
          </a:prstGeom>
        </p:spPr>
      </p:pic>
      <p:sp>
        <p:nvSpPr>
          <p:cNvPr id="88" name="Rectangle 87"/>
          <p:cNvSpPr/>
          <p:nvPr/>
        </p:nvSpPr>
        <p:spPr>
          <a:xfrm>
            <a:off x="6629400" y="2895600"/>
            <a:ext cx="38100" cy="6096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6781800" y="2794000"/>
            <a:ext cx="4726940" cy="812800"/>
          </a:xfrm>
          <a:prstGeom prst="rect">
            <a:avLst/>
          </a:prstGeom>
          <a:noFill/>
        </p:spPr>
        <p:txBody>
          <a:bodyPr wrap="square" lIns="0" tIns="0" rIns="0" bIns="0" anchor="ctr">
            <a:spAutoFit/>
          </a:bodyPr>
          <a:lstStyle/>
          <a:p>
            <a:pPr algn="l"/>
            <a:r>
              <a:rPr sz="1300" b="1">
                <a:solidFill>
                  <a:srgbClr val="0A1F44"/>
                </a:solidFill>
                <a:latin typeface="Inter"/>
              </a:rPr>
              <a:t>Owned channels alone aren't a moat</a:t>
            </a:r>
          </a:p>
          <a:p>
            <a:pPr algn="l">
              <a:spcBef>
                <a:spcPts val="300"/>
              </a:spcBef>
            </a:pPr>
            <a:r>
              <a:rPr sz="1100" b="0">
                <a:solidFill>
                  <a:srgbClr val="64748B"/>
                </a:solidFill>
                <a:latin typeface="Inter"/>
              </a:rPr>
              <a:t>Everlane had strong email and SMS, and still ended up selling to Shein</a:t>
            </a:r>
          </a:p>
        </p:txBody>
      </p:sp>
      <p:sp>
        <p:nvSpPr>
          <p:cNvPr id="90" name="Rounded Rectangle 89"/>
          <p:cNvSpPr/>
          <p:nvPr/>
        </p:nvSpPr>
        <p:spPr>
          <a:xfrm>
            <a:off x="5080000" y="3860800"/>
            <a:ext cx="6606540" cy="1016000"/>
          </a:xfrm>
          <a:prstGeom prst="roundRect">
            <a:avLst>
              <a:gd name="adj" fmla="val 75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2" name="Image 14" descr="/tmp/claude-0/-home-user-Quince/7efe80ae-a049-50c2-9886-98bf7ca3a04a/scratchpad/assets/williams_sonoma.png"/>
          <p:cNvPicPr>
            <a:picLocks noChangeAspect="1"/>
          </p:cNvPicPr>
          <p:nvPr/>
        </p:nvPicPr>
        <p:blipFill>
          <a:blip r:embed="rId9"/>
          <a:stretch>
            <a:fillRect/>
          </a:stretch>
        </p:blipFill>
        <p:spPr>
          <a:xfrm>
            <a:off x="5283200" y="4325530"/>
            <a:ext cx="1219200" cy="86539"/>
          </a:xfrm>
          <a:prstGeom prst="rect">
            <a:avLst/>
          </a:prstGeom>
        </p:spPr>
      </p:pic>
      <p:sp>
        <p:nvSpPr>
          <p:cNvPr id="91" name="Rectangle 90"/>
          <p:cNvSpPr/>
          <p:nvPr/>
        </p:nvSpPr>
        <p:spPr>
          <a:xfrm>
            <a:off x="6629400" y="4064000"/>
            <a:ext cx="38100" cy="6096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6781800" y="3962400"/>
            <a:ext cx="4726940" cy="812800"/>
          </a:xfrm>
          <a:prstGeom prst="rect">
            <a:avLst/>
          </a:prstGeom>
          <a:noFill/>
        </p:spPr>
        <p:txBody>
          <a:bodyPr wrap="square" lIns="0" tIns="0" rIns="0" bIns="0" anchor="ctr">
            <a:spAutoFit/>
          </a:bodyPr>
          <a:lstStyle/>
          <a:p>
            <a:pPr algn="l"/>
            <a:r>
              <a:rPr sz="1300" b="1">
                <a:solidFill>
                  <a:srgbClr val="0A1F44"/>
                </a:solidFill>
                <a:latin typeface="Inter"/>
              </a:rPr>
              <a:t>Trust has to come from proof, not comparisons</a:t>
            </a:r>
          </a:p>
          <a:p>
            <a:pPr algn="l">
              <a:spcBef>
                <a:spcPts val="300"/>
              </a:spcBef>
            </a:pPr>
            <a:r>
              <a:rPr sz="1100" b="0">
                <a:solidFill>
                  <a:srgbClr val="64748B"/>
                </a:solidFill>
                <a:latin typeface="Inter"/>
              </a:rPr>
              <a:t>Williams-Sonoma sued Quince over "dupes"</a:t>
            </a:r>
          </a:p>
        </p:txBody>
      </p:sp>
      <p:sp>
        <p:nvSpPr>
          <p:cNvPr id="93" name="Rounded Rectangle 92"/>
          <p:cNvSpPr/>
          <p:nvPr/>
        </p:nvSpPr>
        <p:spPr>
          <a:xfrm>
            <a:off x="5080000" y="5054600"/>
            <a:ext cx="6606540" cy="1193800"/>
          </a:xfrm>
          <a:prstGeom prst="roundRect">
            <a:avLst>
              <a:gd name="adj" fmla="val 6382"/>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5334000" y="5156200"/>
            <a:ext cx="6098540" cy="1016000"/>
          </a:xfrm>
          <a:prstGeom prst="rect">
            <a:avLst/>
          </a:prstGeom>
          <a:noFill/>
        </p:spPr>
        <p:txBody>
          <a:bodyPr wrap="square" lIns="0" tIns="0" rIns="0" bIns="0" anchor="ctr">
            <a:spAutoFit/>
          </a:bodyPr>
          <a:lstStyle/>
          <a:p>
            <a:pPr algn="l"/>
            <a:r>
              <a:rPr sz="950" b="1">
                <a:solidFill>
                  <a:srgbClr val="93B4F5"/>
                </a:solidFill>
                <a:latin typeface="Inter"/>
              </a:rPr>
              <a:t>Our move: straight up the map</a:t>
            </a:r>
          </a:p>
          <a:p>
            <a:pPr algn="l">
              <a:spcBef>
                <a:spcPts val="400"/>
              </a:spcBef>
            </a:pPr>
            <a:r>
              <a:rPr sz="1300" b="1">
                <a:solidFill>
                  <a:srgbClr val="FFFFFF"/>
                </a:solidFill>
                <a:latin typeface="Inter"/>
              </a:rPr>
              <a:t>We keep the factory-direct price and build the relationship rivals can't buy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7112000" cy="841248"/>
          </a:xfrm>
          <a:prstGeom prst="rect">
            <a:avLst/>
          </a:prstGeom>
          <a:noFill/>
          <a:ln/>
        </p:spPr>
        <p:txBody>
          <a:bodyPr wrap="square" lIns="0" tIns="0" rIns="0" bIns="0" rtlCol="0" anchor="ctr"/>
          <a:lstStyle/>
          <a:p>
            <a:pPr marL="0" indent="0">
              <a:buNone/>
            </a:pPr>
            <a:r>
              <a:rPr lang="en-US" sz="2200" b="1" dirty="0">
                <a:solidFill>
                  <a:srgbClr val="0A1F44"/>
                </a:solidFill>
                <a:latin typeface="Inter" pitchFamily="34" charset="0"/>
                <a:ea typeface="Inter" pitchFamily="34" charset="-122"/>
                <a:cs typeface="Inter" pitchFamily="34" charset="-120"/>
              </a:rPr>
              <a:t>The customer data is ready; we close three gaps for $4.8M inside the owned line</a:t>
            </a:r>
            <a:endParaRPr lang="en-US" sz="2400" dirty="0"/>
          </a:p>
        </p:txBody>
      </p:sp>
      <p:pic>
        <p:nvPicPr>
          <p:cNvPr id="3" name="Image 0" descr="/tmp/claude-0/-home-user-Quince/7efe80ae-a049-50c2-9886-98bf7ca3a04a/scratchpad/assets/quince.png"/>
          <p:cNvPicPr>
            <a:picLocks noChangeAspect="1"/>
          </p:cNvPicPr>
          <p:nvPr/>
        </p:nvPicPr>
        <p:blipFill>
          <a:blip r:embed="rId3"/>
          <a:stretch>
            <a:fillRect/>
          </a:stretch>
        </p:blipFill>
        <p:spPr>
          <a:xfrm>
            <a:off x="10236708" y="615544"/>
            <a:ext cx="777240" cy="231951"/>
          </a:xfrm>
          <a:prstGeom prst="rect">
            <a:avLst/>
          </a:prstGeom>
        </p:spPr>
      </p:pic>
      <p:sp>
        <p:nvSpPr>
          <p:cNvPr id="4" name="Shape 1"/>
          <p:cNvSpPr/>
          <p:nvPr/>
        </p:nvSpPr>
        <p:spPr>
          <a:xfrm>
            <a:off x="11155680" y="603504"/>
            <a:ext cx="530352" cy="256032"/>
          </a:xfrm>
          <a:prstGeom prst="roundRect">
            <a:avLst>
              <a:gd name="adj" fmla="val 50000"/>
            </a:avLst>
          </a:prstGeom>
          <a:solidFill>
            <a:srgbClr val="0A1F44"/>
          </a:solidFill>
          <a:ln w="6350">
            <a:solidFill>
              <a:srgbClr val="0A1F44"/>
            </a:solidFill>
            <a:prstDash val="solid"/>
          </a:ln>
        </p:spPr>
        <p:txBody>
          <a:bodyPr/>
          <a:lstStyle/>
          <a:p>
            <a:endParaRPr lang="en-US"/>
          </a:p>
        </p:txBody>
      </p:sp>
      <p:sp>
        <p:nvSpPr>
          <p:cNvPr id="5" name="Text 2"/>
          <p:cNvSpPr txBox="1"/>
          <p:nvPr/>
        </p:nvSpPr>
        <p:spPr>
          <a:xfrm>
            <a:off x="11155680" y="603504"/>
            <a:ext cx="53035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G27</a:t>
            </a:r>
            <a:endParaRPr lang="en-US" sz="950" dirty="0"/>
          </a:p>
        </p:txBody>
      </p:sp>
      <p:sp>
        <p:nvSpPr>
          <p:cNvPr id="6" name="Shape 3"/>
          <p:cNvSpPr/>
          <p:nvPr/>
        </p:nvSpPr>
        <p:spPr>
          <a:xfrm>
            <a:off x="502920" y="6400800"/>
            <a:ext cx="11183112" cy="0"/>
          </a:xfrm>
          <a:prstGeom prst="line">
            <a:avLst/>
          </a:prstGeom>
          <a:noFill/>
          <a:ln w="9525">
            <a:solidFill>
              <a:srgbClr val="E2E8F0"/>
            </a:solidFill>
            <a:prstDash val="solid"/>
          </a:ln>
        </p:spPr>
        <p:txBody>
          <a:bodyPr/>
          <a:lstStyle/>
          <a:p>
            <a:endParaRPr lang="en-US"/>
          </a:p>
        </p:txBody>
      </p:sp>
      <p:sp>
        <p:nvSpPr>
          <p:cNvPr id="7" name="Text 4"/>
          <p:cNvSpPr txBox="1"/>
          <p:nvPr/>
        </p:nvSpPr>
        <p:spPr>
          <a:xfrm>
            <a:off x="502920" y="6464808"/>
            <a:ext cx="9418320" cy="256032"/>
          </a:xfrm>
          <a:prstGeom prst="rect">
            <a:avLst/>
          </a:prstGeom>
          <a:noFill/>
          <a:ln/>
        </p:spPr>
        <p:txBody>
          <a:bodyPr wrap="square" lIns="0" tIns="0" rIns="0" bIns="0" rtlCol="0" anchor="ctr"/>
          <a:lstStyle/>
          <a:p>
            <a:pPr marL="0" indent="0">
              <a:buNone/>
            </a:pPr>
            <a:r>
              <a:rPr lang="en-US" sz="800" dirty="0">
                <a:solidFill>
                  <a:srgbClr val="64748B"/>
                </a:solidFill>
                <a:latin typeface="Inter" pitchFamily="34" charset="0"/>
                <a:ea typeface="Inter" pitchFamily="34" charset="-122"/>
                <a:cs typeface="Inter" pitchFamily="34" charset="-120"/>
              </a:rPr>
              <a:t>Source: case sections 1, 3, 4, 7; Exhibits A, I, K, L; costs, owners and dates from our plan (owned line $6M → $13.5M, appendix 21). Adobe CJA builds the audiences; Real-Time CDP or Journey Optimizer sends them out.</a:t>
            </a:r>
            <a:endParaRPr lang="en-US" sz="800" dirty="0"/>
          </a:p>
        </p:txBody>
      </p:sp>
      <p:sp>
        <p:nvSpPr>
          <p:cNvPr id="8" name="Text 5"/>
          <p:cNvSpPr txBox="1"/>
          <p:nvPr/>
        </p:nvSpPr>
        <p:spPr>
          <a:xfrm>
            <a:off x="9966960" y="6464808"/>
            <a:ext cx="1719072" cy="256032"/>
          </a:xfrm>
          <a:prstGeom prst="rect">
            <a:avLst/>
          </a:prstGeom>
          <a:noFill/>
          <a:ln/>
        </p:spPr>
        <p:txBody>
          <a:bodyPr wrap="square" lIns="0" tIns="0" rIns="0" bIns="0" rtlCol="0" anchor="ctr"/>
          <a:lstStyle/>
          <a:p>
            <a:pPr marL="0" indent="0" algn="r">
              <a:buNone/>
            </a:pPr>
            <a:r>
              <a:rPr lang="en-US" sz="800" dirty="0">
                <a:solidFill>
                  <a:srgbClr val="64748B"/>
                </a:solidFill>
                <a:latin typeface="Inter" pitchFamily="34" charset="0"/>
                <a:ea typeface="Inter" pitchFamily="34" charset="-122"/>
                <a:cs typeface="Inter" pitchFamily="34" charset="-120"/>
              </a:rPr>
              <a:t>Team G27  ·  6</a:t>
            </a:r>
            <a:endParaRPr lang="en-US" sz="800" dirty="0"/>
          </a:p>
        </p:txBody>
      </p:sp>
      <p:sp>
        <p:nvSpPr>
          <p:cNvPr id="52" name="Text 49"/>
          <p:cNvSpPr txBox="1"/>
          <p:nvPr/>
        </p:nvSpPr>
        <p:spPr>
          <a:xfrm>
            <a:off x="7178040" y="1234440"/>
            <a:ext cx="4507992" cy="274320"/>
          </a:xfrm>
          <a:prstGeom prst="rect">
            <a:avLst/>
          </a:prstGeom>
          <a:noFill/>
          <a:ln/>
        </p:spPr>
        <p:txBody>
          <a:bodyPr wrap="square" lIns="0" tIns="0" rIns="0" bIns="0" rtlCol="0" anchor="t"/>
          <a:lstStyle/>
          <a:p>
            <a:pPr marL="0" indent="0">
              <a:buNone/>
            </a:pPr>
            <a:r>
              <a:rPr lang="en-US" sz="1250" b="1" dirty="0">
                <a:solidFill>
                  <a:srgbClr val="0A1F44"/>
                </a:solidFill>
                <a:latin typeface="Inter" pitchFamily="34" charset="0"/>
                <a:ea typeface="Inter" pitchFamily="34" charset="-122"/>
                <a:cs typeface="Inter" pitchFamily="34" charset="-120"/>
              </a:rPr>
              <a:t>How shipping events become journeys</a:t>
            </a:r>
            <a:endParaRPr lang="en-US" sz="1250" dirty="0"/>
          </a:p>
        </p:txBody>
      </p:sp>
      <p:sp>
        <p:nvSpPr>
          <p:cNvPr id="53" name="Text 50"/>
          <p:cNvSpPr txBox="1"/>
          <p:nvPr/>
        </p:nvSpPr>
        <p:spPr>
          <a:xfrm>
            <a:off x="7178040" y="1508760"/>
            <a:ext cx="4507992" cy="219456"/>
          </a:xfrm>
          <a:prstGeom prst="rect">
            <a:avLst/>
          </a:prstGeom>
          <a:noFill/>
          <a:ln/>
        </p:spPr>
        <p:txBody>
          <a:bodyPr wrap="square" lIns="0" tIns="0" rIns="0" bIns="0" rtlCol="0" anchor="t"/>
          <a:lstStyle/>
          <a:p>
            <a:pPr marL="0" indent="0">
              <a:buNone/>
            </a:pPr>
            <a:r>
              <a:rPr lang="en-US" sz="950" dirty="0">
                <a:solidFill>
                  <a:srgbClr val="64748B"/>
                </a:solidFill>
                <a:latin typeface="Inter" pitchFamily="34" charset="0"/>
                <a:ea typeface="Inter" pitchFamily="34" charset="-122"/>
                <a:cs typeface="Inter" pitchFamily="34" charset="-120"/>
              </a:rPr>
              <a:t>Material Journeys, end to end (appendix 24)</a:t>
            </a:r>
            <a:endParaRPr lang="en-US" sz="950" dirty="0"/>
          </a:p>
        </p:txBody>
      </p:sp>
      <p:sp>
        <p:nvSpPr>
          <p:cNvPr id="54" name="Shape 51"/>
          <p:cNvSpPr/>
          <p:nvPr/>
        </p:nvSpPr>
        <p:spPr>
          <a:xfrm>
            <a:off x="7178040" y="1810512"/>
            <a:ext cx="4507992" cy="658368"/>
          </a:xfrm>
          <a:prstGeom prst="roundRect">
            <a:avLst>
              <a:gd name="adj" fmla="val 8333"/>
            </a:avLst>
          </a:prstGeom>
          <a:solidFill>
            <a:srgbClr val="0A1F44"/>
          </a:solidFill>
          <a:ln w="6350">
            <a:solidFill>
              <a:srgbClr val="0A1F44"/>
            </a:solidFill>
            <a:prstDash val="solid"/>
          </a:ln>
        </p:spPr>
        <p:txBody>
          <a:bodyPr/>
          <a:lstStyle/>
          <a:p>
            <a:endParaRPr lang="en-US"/>
          </a:p>
        </p:txBody>
      </p:sp>
      <p:pic>
        <p:nvPicPr>
          <p:cNvPr id="55" name="Image 1" descr="preencoded.png"/>
          <p:cNvPicPr>
            <a:picLocks noChangeAspect="1"/>
          </p:cNvPicPr>
          <p:nvPr/>
        </p:nvPicPr>
        <p:blipFill>
          <a:blip r:embed="rId4"/>
          <a:stretch>
            <a:fillRect/>
          </a:stretch>
        </p:blipFill>
        <p:spPr>
          <a:xfrm>
            <a:off x="7315200" y="1947672"/>
            <a:ext cx="292608" cy="292608"/>
          </a:xfrm>
          <a:prstGeom prst="rect">
            <a:avLst/>
          </a:prstGeom>
        </p:spPr>
      </p:pic>
      <p:sp>
        <p:nvSpPr>
          <p:cNvPr id="56" name="Text 52"/>
          <p:cNvSpPr txBox="1"/>
          <p:nvPr/>
        </p:nvSpPr>
        <p:spPr>
          <a:xfrm>
            <a:off x="7726680" y="1810512"/>
            <a:ext cx="3867912" cy="658368"/>
          </a:xfrm>
          <a:prstGeom prst="rect">
            <a:avLst/>
          </a:prstGeom>
          <a:noFill/>
          <a:ln/>
        </p:spPr>
        <p:txBody>
          <a:bodyPr wrap="square" lIns="0" tIns="0" rIns="0" bIns="0" rtlCol="0" anchor="ctr"/>
          <a:lstStyle/>
          <a:p>
            <a:pPr marL="0" indent="0">
              <a:buNone/>
            </a:pPr>
            <a:r>
              <a:rPr lang="en-US" sz="1100" b="1" dirty="0">
                <a:solidFill>
                  <a:srgbClr val="FFFFFF"/>
                </a:solidFill>
                <a:latin typeface="Inter" pitchFamily="34" charset="0"/>
                <a:ea typeface="Inter" pitchFamily="34" charset="-122"/>
                <a:cs typeface="Inter" pitchFamily="34" charset="-120"/>
              </a:rPr>
              <a:t>Factories and 3PL</a:t>
            </a:r>
            <a:endParaRPr lang="en-US" sz="1200" dirty="0"/>
          </a:p>
        </p:txBody>
      </p:sp>
      <p:sp>
        <p:nvSpPr>
          <p:cNvPr id="57" name="Shape 53"/>
          <p:cNvSpPr/>
          <p:nvPr/>
        </p:nvSpPr>
        <p:spPr>
          <a:xfrm>
            <a:off x="9340596" y="2487168"/>
            <a:ext cx="182880" cy="173736"/>
          </a:xfrm>
          <a:prstGeom prst="downArrow">
            <a:avLst/>
          </a:prstGeom>
          <a:solidFill>
            <a:srgbClr val="94A3B8"/>
          </a:solidFill>
          <a:ln w="6350">
            <a:solidFill>
              <a:srgbClr val="94A3B8"/>
            </a:solidFill>
            <a:prstDash val="solid"/>
          </a:ln>
        </p:spPr>
        <p:txBody>
          <a:bodyPr/>
          <a:lstStyle/>
          <a:p>
            <a:endParaRPr lang="en-US"/>
          </a:p>
        </p:txBody>
      </p:sp>
      <p:sp>
        <p:nvSpPr>
          <p:cNvPr id="58" name="Shape 54"/>
          <p:cNvSpPr/>
          <p:nvPr/>
        </p:nvSpPr>
        <p:spPr>
          <a:xfrm>
            <a:off x="7178040" y="2679192"/>
            <a:ext cx="4507992" cy="658368"/>
          </a:xfrm>
          <a:prstGeom prst="roundRect">
            <a:avLst>
              <a:gd name="adj" fmla="val 8333"/>
            </a:avLst>
          </a:prstGeom>
          <a:solidFill>
            <a:srgbClr val="1D4ED8"/>
          </a:solidFill>
          <a:ln w="6350">
            <a:solidFill>
              <a:srgbClr val="1D4ED8"/>
            </a:solidFill>
            <a:prstDash val="solid"/>
          </a:ln>
        </p:spPr>
        <p:txBody>
          <a:bodyPr/>
          <a:lstStyle/>
          <a:p>
            <a:endParaRPr lang="en-US"/>
          </a:p>
        </p:txBody>
      </p:sp>
      <p:pic>
        <p:nvPicPr>
          <p:cNvPr id="59" name="Image 2" descr="preencoded.png"/>
          <p:cNvPicPr>
            <a:picLocks noChangeAspect="1"/>
          </p:cNvPicPr>
          <p:nvPr/>
        </p:nvPicPr>
        <p:blipFill>
          <a:blip r:embed="rId5"/>
          <a:stretch>
            <a:fillRect/>
          </a:stretch>
        </p:blipFill>
        <p:spPr>
          <a:xfrm>
            <a:off x="7315200" y="2816352"/>
            <a:ext cx="292608" cy="292608"/>
          </a:xfrm>
          <a:prstGeom prst="rect">
            <a:avLst/>
          </a:prstGeom>
        </p:spPr>
      </p:pic>
      <p:sp>
        <p:nvSpPr>
          <p:cNvPr id="60" name="Text 55"/>
          <p:cNvSpPr txBox="1"/>
          <p:nvPr/>
        </p:nvSpPr>
        <p:spPr>
          <a:xfrm>
            <a:off x="7726680" y="2679192"/>
            <a:ext cx="3867912" cy="658368"/>
          </a:xfrm>
          <a:prstGeom prst="rect">
            <a:avLst/>
          </a:prstGeom>
          <a:noFill/>
          <a:ln/>
        </p:spPr>
        <p:txBody>
          <a:bodyPr wrap="square" lIns="0" tIns="0" rIns="0" bIns="0" rtlCol="0" anchor="ctr"/>
          <a:lstStyle/>
          <a:p>
            <a:pPr marL="0" indent="0">
              <a:buNone/>
            </a:pPr>
            <a:r>
              <a:rPr lang="en-US" sz="1100" b="1" dirty="0">
                <a:solidFill>
                  <a:srgbClr val="FFFFFF"/>
                </a:solidFill>
                <a:latin typeface="Inter" pitchFamily="34" charset="0"/>
                <a:ea typeface="Inter" pitchFamily="34" charset="-122"/>
                <a:cs typeface="Inter" pitchFamily="34" charset="-120"/>
              </a:rPr>
              <a:t>Order and fulfillment events</a:t>
            </a:r>
            <a:endParaRPr lang="en-US" sz="1200" dirty="0"/>
          </a:p>
        </p:txBody>
      </p:sp>
      <p:sp>
        <p:nvSpPr>
          <p:cNvPr id="61" name="Shape 56"/>
          <p:cNvSpPr/>
          <p:nvPr/>
        </p:nvSpPr>
        <p:spPr>
          <a:xfrm>
            <a:off x="9340596" y="3355848"/>
            <a:ext cx="182880" cy="173736"/>
          </a:xfrm>
          <a:prstGeom prst="downArrow">
            <a:avLst/>
          </a:prstGeom>
          <a:solidFill>
            <a:srgbClr val="94A3B8"/>
          </a:solidFill>
          <a:ln w="6350">
            <a:solidFill>
              <a:srgbClr val="94A3B8"/>
            </a:solidFill>
            <a:prstDash val="solid"/>
          </a:ln>
        </p:spPr>
        <p:txBody>
          <a:bodyPr/>
          <a:lstStyle/>
          <a:p>
            <a:endParaRPr lang="en-US"/>
          </a:p>
        </p:txBody>
      </p:sp>
      <p:sp>
        <p:nvSpPr>
          <p:cNvPr id="62" name="Shape 57"/>
          <p:cNvSpPr/>
          <p:nvPr/>
        </p:nvSpPr>
        <p:spPr>
          <a:xfrm>
            <a:off x="7178040" y="3547872"/>
            <a:ext cx="4507992" cy="658368"/>
          </a:xfrm>
          <a:prstGeom prst="roundRect">
            <a:avLst>
              <a:gd name="adj" fmla="val 8333"/>
            </a:avLst>
          </a:prstGeom>
          <a:solidFill>
            <a:srgbClr val="2563EB"/>
          </a:solidFill>
          <a:ln w="6350">
            <a:solidFill>
              <a:srgbClr val="2563EB"/>
            </a:solidFill>
            <a:prstDash val="solid"/>
          </a:ln>
        </p:spPr>
        <p:txBody>
          <a:bodyPr/>
          <a:lstStyle/>
          <a:p>
            <a:endParaRPr lang="en-US"/>
          </a:p>
        </p:txBody>
      </p:sp>
      <p:pic>
        <p:nvPicPr>
          <p:cNvPr id="63" name="Image 3" descr="preencoded.png"/>
          <p:cNvPicPr>
            <a:picLocks noChangeAspect="1"/>
          </p:cNvPicPr>
          <p:nvPr/>
        </p:nvPicPr>
        <p:blipFill>
          <a:blip r:embed="rId6"/>
          <a:stretch>
            <a:fillRect/>
          </a:stretch>
        </p:blipFill>
        <p:spPr>
          <a:xfrm>
            <a:off x="7315200" y="3685032"/>
            <a:ext cx="292608" cy="292608"/>
          </a:xfrm>
          <a:prstGeom prst="rect">
            <a:avLst/>
          </a:prstGeom>
        </p:spPr>
      </p:pic>
      <p:sp>
        <p:nvSpPr>
          <p:cNvPr id="64" name="Text 58"/>
          <p:cNvSpPr txBox="1"/>
          <p:nvPr/>
        </p:nvSpPr>
        <p:spPr>
          <a:xfrm>
            <a:off x="7726680" y="3547872"/>
            <a:ext cx="3867912" cy="658368"/>
          </a:xfrm>
          <a:prstGeom prst="rect">
            <a:avLst/>
          </a:prstGeom>
          <a:noFill/>
          <a:ln/>
        </p:spPr>
        <p:txBody>
          <a:bodyPr wrap="square" lIns="0" tIns="0" rIns="0" bIns="0" rtlCol="0" anchor="ctr"/>
          <a:lstStyle/>
          <a:p>
            <a:pPr marL="0" indent="0">
              <a:buNone/>
            </a:pPr>
            <a:r>
              <a:rPr lang="en-US" sz="1100" b="1" dirty="0">
                <a:solidFill>
                  <a:srgbClr val="FFFFFF"/>
                </a:solidFill>
                <a:latin typeface="Inter" pitchFamily="34" charset="0"/>
                <a:ea typeface="Inter" pitchFamily="34" charset="-122"/>
                <a:cs typeface="Inter" pitchFamily="34" charset="-120"/>
              </a:rPr>
              <a:t>Adobe CJA person ID</a:t>
            </a:r>
            <a:endParaRPr lang="en-US" sz="1200" dirty="0"/>
          </a:p>
        </p:txBody>
      </p:sp>
      <p:sp>
        <p:nvSpPr>
          <p:cNvPr id="65" name="Shape 59"/>
          <p:cNvSpPr/>
          <p:nvPr/>
        </p:nvSpPr>
        <p:spPr>
          <a:xfrm>
            <a:off x="9340596" y="4224528"/>
            <a:ext cx="182880" cy="173736"/>
          </a:xfrm>
          <a:prstGeom prst="downArrow">
            <a:avLst/>
          </a:prstGeom>
          <a:solidFill>
            <a:srgbClr val="94A3B8"/>
          </a:solidFill>
          <a:ln w="6350">
            <a:solidFill>
              <a:srgbClr val="94A3B8"/>
            </a:solidFill>
            <a:prstDash val="solid"/>
          </a:ln>
        </p:spPr>
        <p:txBody>
          <a:bodyPr/>
          <a:lstStyle/>
          <a:p>
            <a:endParaRPr lang="en-US"/>
          </a:p>
        </p:txBody>
      </p:sp>
      <p:sp>
        <p:nvSpPr>
          <p:cNvPr id="66" name="Shape 60"/>
          <p:cNvSpPr/>
          <p:nvPr/>
        </p:nvSpPr>
        <p:spPr>
          <a:xfrm>
            <a:off x="7178040" y="4416552"/>
            <a:ext cx="4507992" cy="658368"/>
          </a:xfrm>
          <a:prstGeom prst="roundRect">
            <a:avLst>
              <a:gd name="adj" fmla="val 8333"/>
            </a:avLst>
          </a:prstGeom>
          <a:solidFill>
            <a:srgbClr val="3B82F6"/>
          </a:solidFill>
          <a:ln w="6350">
            <a:solidFill>
              <a:srgbClr val="3B82F6"/>
            </a:solidFill>
            <a:prstDash val="solid"/>
          </a:ln>
        </p:spPr>
        <p:txBody>
          <a:bodyPr/>
          <a:lstStyle/>
          <a:p>
            <a:endParaRPr lang="en-US"/>
          </a:p>
        </p:txBody>
      </p:sp>
      <p:pic>
        <p:nvPicPr>
          <p:cNvPr id="67" name="Image 4" descr="preencoded.png"/>
          <p:cNvPicPr>
            <a:picLocks noChangeAspect="1"/>
          </p:cNvPicPr>
          <p:nvPr/>
        </p:nvPicPr>
        <p:blipFill>
          <a:blip r:embed="rId7"/>
          <a:stretch>
            <a:fillRect/>
          </a:stretch>
        </p:blipFill>
        <p:spPr>
          <a:xfrm>
            <a:off x="7315200" y="4553712"/>
            <a:ext cx="292608" cy="292608"/>
          </a:xfrm>
          <a:prstGeom prst="rect">
            <a:avLst/>
          </a:prstGeom>
        </p:spPr>
      </p:pic>
      <p:sp>
        <p:nvSpPr>
          <p:cNvPr id="68" name="Text 61"/>
          <p:cNvSpPr txBox="1"/>
          <p:nvPr/>
        </p:nvSpPr>
        <p:spPr>
          <a:xfrm>
            <a:off x="7726680" y="4416552"/>
            <a:ext cx="3867912" cy="658368"/>
          </a:xfrm>
          <a:prstGeom prst="rect">
            <a:avLst/>
          </a:prstGeom>
          <a:noFill/>
          <a:ln/>
        </p:spPr>
        <p:txBody>
          <a:bodyPr wrap="square" lIns="0" tIns="0" rIns="0" bIns="0" rtlCol="0" anchor="ctr"/>
          <a:lstStyle/>
          <a:p>
            <a:pPr marL="0" indent="0">
              <a:buNone/>
            </a:pPr>
            <a:r>
              <a:rPr lang="en-US" sz="1100" b="1" dirty="0">
                <a:solidFill>
                  <a:srgbClr val="FFFFFF"/>
                </a:solidFill>
                <a:latin typeface="Inter" pitchFamily="34" charset="0"/>
                <a:ea typeface="Inter" pitchFamily="34" charset="-122"/>
                <a:cs typeface="Inter" pitchFamily="34" charset="-120"/>
              </a:rPr>
              <a:t>Journey Optimizer triggers</a:t>
            </a:r>
            <a:endParaRPr lang="en-US" sz="1200" dirty="0"/>
          </a:p>
        </p:txBody>
      </p:sp>
      <p:sp>
        <p:nvSpPr>
          <p:cNvPr id="69" name="Shape 62"/>
          <p:cNvSpPr/>
          <p:nvPr/>
        </p:nvSpPr>
        <p:spPr>
          <a:xfrm>
            <a:off x="9340596" y="5093208"/>
            <a:ext cx="182880" cy="173736"/>
          </a:xfrm>
          <a:prstGeom prst="downArrow">
            <a:avLst/>
          </a:prstGeom>
          <a:solidFill>
            <a:srgbClr val="94A3B8"/>
          </a:solidFill>
          <a:ln w="6350">
            <a:solidFill>
              <a:srgbClr val="94A3B8"/>
            </a:solidFill>
            <a:prstDash val="solid"/>
          </a:ln>
        </p:spPr>
        <p:txBody>
          <a:bodyPr/>
          <a:lstStyle/>
          <a:p>
            <a:endParaRPr lang="en-US"/>
          </a:p>
        </p:txBody>
      </p:sp>
      <p:sp>
        <p:nvSpPr>
          <p:cNvPr id="70" name="Shape 63"/>
          <p:cNvSpPr/>
          <p:nvPr/>
        </p:nvSpPr>
        <p:spPr>
          <a:xfrm>
            <a:off x="7178040" y="5285232"/>
            <a:ext cx="4507992" cy="658368"/>
          </a:xfrm>
          <a:prstGeom prst="roundRect">
            <a:avLst>
              <a:gd name="adj" fmla="val 8333"/>
            </a:avLst>
          </a:prstGeom>
          <a:solidFill>
            <a:srgbClr val="60A5FA"/>
          </a:solidFill>
          <a:ln w="6350">
            <a:solidFill>
              <a:srgbClr val="60A5FA"/>
            </a:solidFill>
            <a:prstDash val="solid"/>
          </a:ln>
        </p:spPr>
        <p:txBody>
          <a:bodyPr/>
          <a:lstStyle/>
          <a:p>
            <a:endParaRPr lang="en-US"/>
          </a:p>
        </p:txBody>
      </p:sp>
      <p:pic>
        <p:nvPicPr>
          <p:cNvPr id="71" name="Image 5" descr="preencoded.png"/>
          <p:cNvPicPr>
            <a:picLocks noChangeAspect="1"/>
          </p:cNvPicPr>
          <p:nvPr/>
        </p:nvPicPr>
        <p:blipFill>
          <a:blip r:embed="rId8"/>
          <a:stretch>
            <a:fillRect/>
          </a:stretch>
        </p:blipFill>
        <p:spPr>
          <a:xfrm>
            <a:off x="7315200" y="5422392"/>
            <a:ext cx="292608" cy="292608"/>
          </a:xfrm>
          <a:prstGeom prst="rect">
            <a:avLst/>
          </a:prstGeom>
        </p:spPr>
      </p:pic>
      <p:sp>
        <p:nvSpPr>
          <p:cNvPr id="72" name="Text 64"/>
          <p:cNvSpPr txBox="1"/>
          <p:nvPr/>
        </p:nvSpPr>
        <p:spPr>
          <a:xfrm>
            <a:off x="7726680" y="5285232"/>
            <a:ext cx="3867912" cy="658368"/>
          </a:xfrm>
          <a:prstGeom prst="rect">
            <a:avLst/>
          </a:prstGeom>
          <a:noFill/>
          <a:ln/>
        </p:spPr>
        <p:txBody>
          <a:bodyPr wrap="square" lIns="0" tIns="0" rIns="0" bIns="0" rtlCol="0" anchor="ctr"/>
          <a:lstStyle/>
          <a:p>
            <a:pPr marL="0" indent="0">
              <a:buNone/>
            </a:pPr>
            <a:r>
              <a:rPr lang="en-US" sz="1100" b="1" dirty="0">
                <a:solidFill>
                  <a:srgbClr val="FFFFFF"/>
                </a:solidFill>
                <a:latin typeface="Inter" pitchFamily="34" charset="0"/>
                <a:ea typeface="Inter" pitchFamily="34" charset="-122"/>
                <a:cs typeface="Inter" pitchFamily="34" charset="-120"/>
              </a:rPr>
              <a:t>Owned channels</a:t>
            </a:r>
            <a:endParaRPr lang="en-US" sz="1200" dirty="0"/>
          </a:p>
        </p:txBody>
      </p:sp>
      <p:sp>
        <p:nvSpPr>
          <p:cNvPr id="73" name="TextBox 72"/>
          <p:cNvSpPr txBox="1"/>
          <p:nvPr/>
        </p:nvSpPr>
        <p:spPr>
          <a:xfrm>
            <a:off x="502920" y="1219200"/>
            <a:ext cx="6096000" cy="203200"/>
          </a:xfrm>
          <a:prstGeom prst="rect">
            <a:avLst/>
          </a:prstGeom>
          <a:noFill/>
        </p:spPr>
        <p:txBody>
          <a:bodyPr wrap="square" lIns="0" tIns="0" rIns="0" bIns="0" anchor="t">
            <a:spAutoFit/>
          </a:bodyPr>
          <a:lstStyle/>
          <a:p>
            <a:pPr algn="l"/>
            <a:r>
              <a:rPr sz="900" b="1">
                <a:solidFill>
                  <a:srgbClr val="1D4ED8"/>
                </a:solidFill>
                <a:latin typeface="Inter"/>
              </a:rPr>
              <a:t>READY TODAY</a:t>
            </a:r>
          </a:p>
        </p:txBody>
      </p:sp>
      <p:sp>
        <p:nvSpPr>
          <p:cNvPr id="74" name="Rounded Rectangle 73"/>
          <p:cNvSpPr/>
          <p:nvPr/>
        </p:nvSpPr>
        <p:spPr>
          <a:xfrm>
            <a:off x="502920" y="1473200"/>
            <a:ext cx="6350000" cy="584200"/>
          </a:xfrm>
          <a:prstGeom prst="roundRect">
            <a:avLst>
              <a:gd name="adj" fmla="val 13043"/>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680720" y="1473200"/>
            <a:ext cx="5994400" cy="584200"/>
          </a:xfrm>
          <a:prstGeom prst="rect">
            <a:avLst/>
          </a:prstGeom>
          <a:noFill/>
        </p:spPr>
        <p:txBody>
          <a:bodyPr wrap="square" lIns="0" tIns="0" rIns="0" bIns="0" anchor="ctr">
            <a:spAutoFit/>
          </a:bodyPr>
          <a:lstStyle/>
          <a:p>
            <a:pPr algn="l"/>
            <a:r>
              <a:rPr sz="1250" b="1">
                <a:solidFill>
                  <a:srgbClr val="15803D"/>
                </a:solidFill>
                <a:latin typeface="Inter"/>
              </a:rPr>
              <a:t>Stitched person ID </a:t>
            </a:r>
            <a:r>
              <a:rPr sz="1150" b="0">
                <a:solidFill>
                  <a:srgbClr val="0F172A"/>
                </a:solidFill>
                <a:latin typeface="Inter"/>
              </a:rPr>
              <a:t>across web, app, email and SMS (Exhibit L)</a:t>
            </a:r>
          </a:p>
        </p:txBody>
      </p:sp>
      <p:sp>
        <p:nvSpPr>
          <p:cNvPr id="76" name="TextBox 75"/>
          <p:cNvSpPr txBox="1"/>
          <p:nvPr/>
        </p:nvSpPr>
        <p:spPr>
          <a:xfrm>
            <a:off x="502920" y="2235200"/>
            <a:ext cx="6096000" cy="203200"/>
          </a:xfrm>
          <a:prstGeom prst="rect">
            <a:avLst/>
          </a:prstGeom>
          <a:noFill/>
        </p:spPr>
        <p:txBody>
          <a:bodyPr wrap="square" lIns="0" tIns="0" rIns="0" bIns="0" anchor="t">
            <a:spAutoFit/>
          </a:bodyPr>
          <a:lstStyle/>
          <a:p>
            <a:pPr algn="l"/>
            <a:r>
              <a:rPr sz="900" b="1">
                <a:solidFill>
                  <a:srgbClr val="1D4ED8"/>
                </a:solidFill>
                <a:latin typeface="Inter"/>
              </a:rPr>
              <a:t>THREE GAPS WE FUND AS THE OWNED LINE GROWS $6M → $13.5M</a:t>
            </a:r>
          </a:p>
        </p:txBody>
      </p:sp>
      <p:sp>
        <p:nvSpPr>
          <p:cNvPr id="77" name="Rounded Rectangle 76"/>
          <p:cNvSpPr/>
          <p:nvPr/>
        </p:nvSpPr>
        <p:spPr>
          <a:xfrm>
            <a:off x="502920" y="2489200"/>
            <a:ext cx="6350000" cy="863600"/>
          </a:xfrm>
          <a:prstGeom prst="roundRect">
            <a:avLst>
              <a:gd name="adj" fmla="val 882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502920" y="2489200"/>
            <a:ext cx="63500" cy="86360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731520" y="2590800"/>
            <a:ext cx="3810000" cy="660400"/>
          </a:xfrm>
          <a:prstGeom prst="rect">
            <a:avLst/>
          </a:prstGeom>
          <a:noFill/>
        </p:spPr>
        <p:txBody>
          <a:bodyPr wrap="square" lIns="0" tIns="0" rIns="0" bIns="0" anchor="ctr">
            <a:spAutoFit/>
          </a:bodyPr>
          <a:lstStyle/>
          <a:p>
            <a:pPr algn="l"/>
            <a:r>
              <a:rPr sz="1300" b="1">
                <a:solidFill>
                  <a:srgbClr val="0A1F44"/>
                </a:solidFill>
                <a:latin typeface="Inter"/>
              </a:rPr>
              <a:t>Activation</a:t>
            </a:r>
          </a:p>
          <a:p>
            <a:pPr algn="l">
              <a:spcBef>
                <a:spcPts val="200"/>
              </a:spcBef>
            </a:pPr>
            <a:r>
              <a:rPr sz="1100" b="0">
                <a:solidFill>
                  <a:srgbClr val="64748B"/>
                </a:solidFill>
                <a:latin typeface="Inter"/>
              </a:rPr>
              <a:t>CJA audiences to journeys and ad platforms</a:t>
            </a:r>
          </a:p>
        </p:txBody>
      </p:sp>
      <p:sp>
        <p:nvSpPr>
          <p:cNvPr id="80" name="TextBox 79"/>
          <p:cNvSpPr txBox="1"/>
          <p:nvPr/>
        </p:nvSpPr>
        <p:spPr>
          <a:xfrm>
            <a:off x="4693920" y="2590800"/>
            <a:ext cx="2032000" cy="660400"/>
          </a:xfrm>
          <a:prstGeom prst="rect">
            <a:avLst/>
          </a:prstGeom>
          <a:noFill/>
        </p:spPr>
        <p:txBody>
          <a:bodyPr wrap="square" lIns="0" tIns="0" rIns="0" bIns="0" anchor="ctr">
            <a:spAutoFit/>
          </a:bodyPr>
          <a:lstStyle/>
          <a:p>
            <a:pPr algn="r"/>
            <a:r>
              <a:rPr sz="1800" b="1">
                <a:solidFill>
                  <a:srgbClr val="1D4ED8"/>
                </a:solidFill>
                <a:latin typeface="Inter"/>
              </a:rPr>
              <a:t>$1.5M</a:t>
            </a:r>
          </a:p>
          <a:p>
            <a:pPr algn="r">
              <a:spcBef>
                <a:spcPts val="100"/>
              </a:spcBef>
            </a:pPr>
            <a:r>
              <a:rPr sz="1000" b="0">
                <a:solidFill>
                  <a:srgbClr val="0F172A"/>
                </a:solidFill>
                <a:latin typeface="Inter"/>
              </a:rPr>
              <a:t>Month 3 · Marketing ops</a:t>
            </a:r>
          </a:p>
        </p:txBody>
      </p:sp>
      <p:sp>
        <p:nvSpPr>
          <p:cNvPr id="81" name="Rounded Rectangle 80"/>
          <p:cNvSpPr/>
          <p:nvPr/>
        </p:nvSpPr>
        <p:spPr>
          <a:xfrm>
            <a:off x="502920" y="3479800"/>
            <a:ext cx="6350000" cy="863600"/>
          </a:xfrm>
          <a:prstGeom prst="roundRect">
            <a:avLst>
              <a:gd name="adj" fmla="val 882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502920" y="3479800"/>
            <a:ext cx="63500" cy="86360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731520" y="3581400"/>
            <a:ext cx="3810000" cy="660400"/>
          </a:xfrm>
          <a:prstGeom prst="rect">
            <a:avLst/>
          </a:prstGeom>
          <a:noFill/>
        </p:spPr>
        <p:txBody>
          <a:bodyPr wrap="square" lIns="0" tIns="0" rIns="0" bIns="0" anchor="ctr">
            <a:spAutoFit/>
          </a:bodyPr>
          <a:lstStyle/>
          <a:p>
            <a:pPr algn="l"/>
            <a:r>
              <a:rPr sz="1300" b="1">
                <a:solidFill>
                  <a:srgbClr val="0A1F44"/>
                </a:solidFill>
                <a:latin typeface="Inter"/>
              </a:rPr>
              <a:t>Lifecycle team and creative</a:t>
            </a:r>
          </a:p>
          <a:p>
            <a:pPr algn="l">
              <a:spcBef>
                <a:spcPts val="200"/>
              </a:spcBef>
            </a:pPr>
            <a:r>
              <a:rPr sz="1100" b="0">
                <a:solidFill>
                  <a:srgbClr val="64748B"/>
                </a:solidFill>
                <a:latin typeface="Inter"/>
              </a:rPr>
              <a:t>Today it's built for mass email blasts</a:t>
            </a:r>
          </a:p>
        </p:txBody>
      </p:sp>
      <p:sp>
        <p:nvSpPr>
          <p:cNvPr id="84" name="TextBox 83"/>
          <p:cNvSpPr txBox="1"/>
          <p:nvPr/>
        </p:nvSpPr>
        <p:spPr>
          <a:xfrm>
            <a:off x="4693920" y="3581400"/>
            <a:ext cx="2032000" cy="660400"/>
          </a:xfrm>
          <a:prstGeom prst="rect">
            <a:avLst/>
          </a:prstGeom>
          <a:noFill/>
        </p:spPr>
        <p:txBody>
          <a:bodyPr wrap="square" lIns="0" tIns="0" rIns="0" bIns="0" anchor="ctr">
            <a:spAutoFit/>
          </a:bodyPr>
          <a:lstStyle/>
          <a:p>
            <a:pPr algn="r"/>
            <a:r>
              <a:rPr sz="1800" b="1">
                <a:solidFill>
                  <a:srgbClr val="1D4ED8"/>
                </a:solidFill>
                <a:latin typeface="Inter"/>
              </a:rPr>
              <a:t>$2.8M</a:t>
            </a:r>
          </a:p>
          <a:p>
            <a:pPr algn="r">
              <a:spcBef>
                <a:spcPts val="100"/>
              </a:spcBef>
            </a:pPr>
            <a:r>
              <a:rPr sz="1000" b="0">
                <a:solidFill>
                  <a:srgbClr val="0F172A"/>
                </a:solidFill>
                <a:latin typeface="Inter"/>
              </a:rPr>
              <a:t>Month 6 · CMO</a:t>
            </a:r>
          </a:p>
        </p:txBody>
      </p:sp>
      <p:sp>
        <p:nvSpPr>
          <p:cNvPr id="85" name="Rounded Rectangle 84"/>
          <p:cNvSpPr/>
          <p:nvPr/>
        </p:nvSpPr>
        <p:spPr>
          <a:xfrm>
            <a:off x="502920" y="4470400"/>
            <a:ext cx="6350000" cy="863600"/>
          </a:xfrm>
          <a:prstGeom prst="roundRect">
            <a:avLst>
              <a:gd name="adj" fmla="val 882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502920" y="4470400"/>
            <a:ext cx="63500" cy="86360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731520" y="4572000"/>
            <a:ext cx="3810000" cy="660400"/>
          </a:xfrm>
          <a:prstGeom prst="rect">
            <a:avLst/>
          </a:prstGeom>
          <a:noFill/>
        </p:spPr>
        <p:txBody>
          <a:bodyPr wrap="square" lIns="0" tIns="0" rIns="0" bIns="0" anchor="ctr">
            <a:spAutoFit/>
          </a:bodyPr>
          <a:lstStyle/>
          <a:p>
            <a:pPr algn="l"/>
            <a:r>
              <a:rPr sz="1300" b="1">
                <a:solidFill>
                  <a:srgbClr val="0A1F44"/>
                </a:solidFill>
                <a:latin typeface="Inter"/>
              </a:rPr>
              <a:t>Growth–analytics alignment</a:t>
            </a:r>
          </a:p>
          <a:p>
            <a:pPr algn="l">
              <a:spcBef>
                <a:spcPts val="200"/>
              </a:spcBef>
            </a:pPr>
            <a:r>
              <a:rPr sz="1100" b="0">
                <a:solidFill>
                  <a:srgbClr val="64748B"/>
                </a:solidFill>
                <a:latin typeface="Inter"/>
              </a:rPr>
              <a:t>Weekly holdout council; incremental scorecards</a:t>
            </a:r>
          </a:p>
        </p:txBody>
      </p:sp>
      <p:sp>
        <p:nvSpPr>
          <p:cNvPr id="88" name="TextBox 87"/>
          <p:cNvSpPr txBox="1"/>
          <p:nvPr/>
        </p:nvSpPr>
        <p:spPr>
          <a:xfrm>
            <a:off x="4693920" y="4572000"/>
            <a:ext cx="2032000" cy="660400"/>
          </a:xfrm>
          <a:prstGeom prst="rect">
            <a:avLst/>
          </a:prstGeom>
          <a:noFill/>
        </p:spPr>
        <p:txBody>
          <a:bodyPr wrap="square" lIns="0" tIns="0" rIns="0" bIns="0" anchor="ctr">
            <a:spAutoFit/>
          </a:bodyPr>
          <a:lstStyle/>
          <a:p>
            <a:pPr algn="r"/>
            <a:r>
              <a:rPr sz="1800" b="1">
                <a:solidFill>
                  <a:srgbClr val="1D4ED8"/>
                </a:solidFill>
                <a:latin typeface="Inter"/>
              </a:rPr>
              <a:t>$0.5M</a:t>
            </a:r>
          </a:p>
          <a:p>
            <a:pPr algn="r">
              <a:spcBef>
                <a:spcPts val="100"/>
              </a:spcBef>
            </a:pPr>
            <a:r>
              <a:rPr sz="1000" b="0">
                <a:solidFill>
                  <a:srgbClr val="0F172A"/>
                </a:solidFill>
                <a:latin typeface="Inter"/>
              </a:rPr>
              <a:t>Month 3 · CMO + CFO</a:t>
            </a:r>
          </a:p>
        </p:txBody>
      </p:sp>
      <p:sp>
        <p:nvSpPr>
          <p:cNvPr id="89" name="TextBox 88"/>
          <p:cNvSpPr txBox="1"/>
          <p:nvPr/>
        </p:nvSpPr>
        <p:spPr>
          <a:xfrm>
            <a:off x="502920" y="5461000"/>
            <a:ext cx="6350000" cy="254000"/>
          </a:xfrm>
          <a:prstGeom prst="rect">
            <a:avLst/>
          </a:prstGeom>
          <a:noFill/>
        </p:spPr>
        <p:txBody>
          <a:bodyPr wrap="square" lIns="0" tIns="0" rIns="0" bIns="0" anchor="t">
            <a:spAutoFit/>
          </a:bodyPr>
          <a:lstStyle/>
          <a:p>
            <a:pPr algn="l"/>
            <a:r>
              <a:rPr sz="1050" b="1">
                <a:solidFill>
                  <a:srgbClr val="0F172A"/>
                </a:solidFill>
                <a:latin typeface="Inter"/>
              </a:rPr>
              <a:t>Partly there, and we fix it in the pilot: </a:t>
            </a:r>
            <a:r>
              <a:rPr sz="1050" b="0">
                <a:solidFill>
                  <a:srgbClr val="64748B"/>
                </a:solidFill>
                <a:latin typeface="Inter"/>
              </a:rPr>
              <a:t>app tracking · 3PL order events · SMS consent split</a:t>
            </a:r>
          </a:p>
        </p:txBody>
      </p:sp>
      <p:sp>
        <p:nvSpPr>
          <p:cNvPr id="90" name="TextBox 89"/>
          <p:cNvSpPr txBox="1"/>
          <p:nvPr/>
        </p:nvSpPr>
        <p:spPr>
          <a:xfrm>
            <a:off x="502920" y="5791200"/>
            <a:ext cx="6350000" cy="381000"/>
          </a:xfrm>
          <a:prstGeom prst="rect">
            <a:avLst/>
          </a:prstGeom>
          <a:noFill/>
        </p:spPr>
        <p:txBody>
          <a:bodyPr wrap="square" lIns="0" tIns="0" rIns="0" bIns="0" anchor="t">
            <a:spAutoFit/>
          </a:bodyPr>
          <a:lstStyle/>
          <a:p>
            <a:pPr algn="l"/>
            <a:r>
              <a:rPr sz="1050" b="1">
                <a:solidFill>
                  <a:srgbClr val="0F172A"/>
                </a:solidFill>
                <a:latin typeface="Inter"/>
              </a:rPr>
              <a:t>The pilot runs on Option A's $2–3M inside today's $6M; the rest follows only as each step proves itself.</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7493000" cy="841248"/>
          </a:xfrm>
          <a:prstGeom prst="rect">
            <a:avLst/>
          </a:prstGeom>
          <a:noFill/>
          <a:ln/>
        </p:spPr>
        <p:txBody>
          <a:bodyPr wrap="square" lIns="0" tIns="0" rIns="0" bIns="0" rtlCol="0" anchor="ctr"/>
          <a:lstStyle/>
          <a:p>
            <a:pPr marL="0" indent="0">
              <a:buNone/>
            </a:pPr>
            <a:r>
              <a:rPr lang="en-US" sz="2200" b="1" dirty="0">
                <a:solidFill>
                  <a:srgbClr val="0A1F44"/>
                </a:solidFill>
                <a:latin typeface="Inter" pitchFamily="34" charset="0"/>
                <a:ea typeface="Inter" pitchFamily="34" charset="-122"/>
                <a:cs typeface="Inter" pitchFamily="34" charset="-120"/>
              </a:rPr>
              <a:t>We test for 90 days in the South, and the first $4M moves only if the holdout proves it</a:t>
            </a:r>
            <a:endParaRPr lang="en-US" sz="2400" dirty="0"/>
          </a:p>
        </p:txBody>
      </p:sp>
      <p:pic>
        <p:nvPicPr>
          <p:cNvPr id="3" name="Image 0" descr="/tmp/claude-0/-home-user-Quince/7efe80ae-a049-50c2-9886-98bf7ca3a04a/scratchpad/assets/quince.png"/>
          <p:cNvPicPr>
            <a:picLocks noChangeAspect="1"/>
          </p:cNvPicPr>
          <p:nvPr/>
        </p:nvPicPr>
        <p:blipFill>
          <a:blip r:embed="rId3"/>
          <a:stretch>
            <a:fillRect/>
          </a:stretch>
        </p:blipFill>
        <p:spPr>
          <a:xfrm>
            <a:off x="10236708" y="615544"/>
            <a:ext cx="777240" cy="231951"/>
          </a:xfrm>
          <a:prstGeom prst="rect">
            <a:avLst/>
          </a:prstGeom>
        </p:spPr>
      </p:pic>
      <p:sp>
        <p:nvSpPr>
          <p:cNvPr id="4" name="Shape 1"/>
          <p:cNvSpPr/>
          <p:nvPr/>
        </p:nvSpPr>
        <p:spPr>
          <a:xfrm>
            <a:off x="11155680" y="603504"/>
            <a:ext cx="530352" cy="256032"/>
          </a:xfrm>
          <a:prstGeom prst="roundRect">
            <a:avLst>
              <a:gd name="adj" fmla="val 50000"/>
            </a:avLst>
          </a:prstGeom>
          <a:solidFill>
            <a:srgbClr val="0A1F44"/>
          </a:solidFill>
          <a:ln w="6350">
            <a:solidFill>
              <a:srgbClr val="0A1F44"/>
            </a:solidFill>
            <a:prstDash val="solid"/>
          </a:ln>
        </p:spPr>
        <p:txBody>
          <a:bodyPr/>
          <a:lstStyle/>
          <a:p>
            <a:endParaRPr lang="en-US"/>
          </a:p>
        </p:txBody>
      </p:sp>
      <p:sp>
        <p:nvSpPr>
          <p:cNvPr id="5" name="Text 2"/>
          <p:cNvSpPr txBox="1"/>
          <p:nvPr/>
        </p:nvSpPr>
        <p:spPr>
          <a:xfrm>
            <a:off x="11155680" y="603504"/>
            <a:ext cx="53035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G27</a:t>
            </a:r>
            <a:endParaRPr lang="en-US" sz="950" dirty="0"/>
          </a:p>
        </p:txBody>
      </p:sp>
      <p:sp>
        <p:nvSpPr>
          <p:cNvPr id="6" name="Shape 3"/>
          <p:cNvSpPr/>
          <p:nvPr/>
        </p:nvSpPr>
        <p:spPr>
          <a:xfrm>
            <a:off x="502920" y="6400800"/>
            <a:ext cx="11183112" cy="0"/>
          </a:xfrm>
          <a:prstGeom prst="line">
            <a:avLst/>
          </a:prstGeom>
          <a:noFill/>
          <a:ln w="9525">
            <a:solidFill>
              <a:srgbClr val="E2E8F0"/>
            </a:solidFill>
            <a:prstDash val="solid"/>
          </a:ln>
        </p:spPr>
        <p:txBody>
          <a:bodyPr/>
          <a:lstStyle/>
          <a:p>
            <a:endParaRPr lang="en-US"/>
          </a:p>
        </p:txBody>
      </p:sp>
      <p:sp>
        <p:nvSpPr>
          <p:cNvPr id="7" name="Text 4"/>
          <p:cNvSpPr txBox="1"/>
          <p:nvPr/>
        </p:nvSpPr>
        <p:spPr>
          <a:xfrm>
            <a:off x="502920" y="6464808"/>
            <a:ext cx="9418320" cy="256032"/>
          </a:xfrm>
          <a:prstGeom prst="rect">
            <a:avLst/>
          </a:prstGeom>
          <a:noFill/>
          <a:ln/>
        </p:spPr>
        <p:txBody>
          <a:bodyPr wrap="square" lIns="0" tIns="0" rIns="0" bIns="0" rtlCol="0" anchor="ctr"/>
          <a:lstStyle/>
          <a:p>
            <a:pPr marL="0" indent="0">
              <a:buNone/>
            </a:pPr>
            <a:r>
              <a:rPr lang="en-US" sz="800" dirty="0">
                <a:solidFill>
                  <a:srgbClr val="64748B"/>
                </a:solidFill>
                <a:latin typeface="Inter" pitchFamily="34" charset="0"/>
                <a:ea typeface="Inter" pitchFamily="34" charset="-122"/>
                <a:cs typeface="Inter" pitchFamily="34" charset="-120"/>
              </a:rPr>
              <a:t>Source: case Exhibits G, I, N; Adobe CJA A1, A2, A3b, A6, Cohort Table; our plan. 3 flagships in the pilot; 11 more programs wait for Gate 1 (appendix 20). We start in the South (fastest new-customer growth, lower email/SMS opt-in, Exhibit N), then the Midwest.</a:t>
            </a:r>
            <a:endParaRPr lang="en-US" sz="800" dirty="0"/>
          </a:p>
        </p:txBody>
      </p:sp>
      <p:sp>
        <p:nvSpPr>
          <p:cNvPr id="8" name="Text 5"/>
          <p:cNvSpPr txBox="1"/>
          <p:nvPr/>
        </p:nvSpPr>
        <p:spPr>
          <a:xfrm>
            <a:off x="9966960" y="6464808"/>
            <a:ext cx="1719072" cy="256032"/>
          </a:xfrm>
          <a:prstGeom prst="rect">
            <a:avLst/>
          </a:prstGeom>
          <a:noFill/>
          <a:ln/>
        </p:spPr>
        <p:txBody>
          <a:bodyPr wrap="square" lIns="0" tIns="0" rIns="0" bIns="0" rtlCol="0" anchor="ctr"/>
          <a:lstStyle/>
          <a:p>
            <a:pPr marL="0" indent="0" algn="r">
              <a:buNone/>
            </a:pPr>
            <a:r>
              <a:rPr lang="en-US" sz="800" dirty="0">
                <a:solidFill>
                  <a:srgbClr val="64748B"/>
                </a:solidFill>
                <a:latin typeface="Inter" pitchFamily="34" charset="0"/>
                <a:ea typeface="Inter" pitchFamily="34" charset="-122"/>
                <a:cs typeface="Inter" pitchFamily="34" charset="-120"/>
              </a:rPr>
              <a:t>Team G27  ·  7</a:t>
            </a:r>
            <a:endParaRPr lang="en-US" sz="800" dirty="0"/>
          </a:p>
        </p:txBody>
      </p:sp>
      <p:sp>
        <p:nvSpPr>
          <p:cNvPr id="9" name="TextBox 8"/>
          <p:cNvSpPr txBox="1"/>
          <p:nvPr/>
        </p:nvSpPr>
        <p:spPr>
          <a:xfrm>
            <a:off x="502920" y="1244600"/>
            <a:ext cx="2540000" cy="203200"/>
          </a:xfrm>
          <a:prstGeom prst="rect">
            <a:avLst/>
          </a:prstGeom>
          <a:noFill/>
        </p:spPr>
        <p:txBody>
          <a:bodyPr wrap="square" lIns="0" tIns="0" rIns="0" bIns="0" anchor="t">
            <a:spAutoFit/>
          </a:bodyPr>
          <a:lstStyle/>
          <a:p>
            <a:pPr algn="l"/>
            <a:r>
              <a:rPr sz="850" b="1">
                <a:solidFill>
                  <a:srgbClr val="1D4ED8"/>
                </a:solidFill>
                <a:latin typeface="Inter"/>
              </a:rPr>
              <a:t>LEVER · WHY</a:t>
            </a:r>
          </a:p>
        </p:txBody>
      </p:sp>
      <p:sp>
        <p:nvSpPr>
          <p:cNvPr id="10" name="TextBox 9"/>
          <p:cNvSpPr txBox="1"/>
          <p:nvPr/>
        </p:nvSpPr>
        <p:spPr>
          <a:xfrm>
            <a:off x="3322320" y="1244600"/>
            <a:ext cx="3759200" cy="203200"/>
          </a:xfrm>
          <a:prstGeom prst="rect">
            <a:avLst/>
          </a:prstGeom>
          <a:noFill/>
        </p:spPr>
        <p:txBody>
          <a:bodyPr wrap="square" lIns="0" tIns="0" rIns="0" bIns="0" anchor="t">
            <a:spAutoFit/>
          </a:bodyPr>
          <a:lstStyle/>
          <a:p>
            <a:pPr algn="l"/>
            <a:r>
              <a:rPr sz="850" b="1">
                <a:solidFill>
                  <a:srgbClr val="1D4ED8"/>
                </a:solidFill>
                <a:latin typeface="Inter"/>
              </a:rPr>
              <a:t>IN THE SOUTH PILOT · SET UP WK 1–4, LAUNCH 5–8, MEASURE 9–12</a:t>
            </a:r>
          </a:p>
        </p:txBody>
      </p:sp>
      <p:sp>
        <p:nvSpPr>
          <p:cNvPr id="11" name="TextBox 10"/>
          <p:cNvSpPr txBox="1"/>
          <p:nvPr/>
        </p:nvSpPr>
        <p:spPr>
          <a:xfrm>
            <a:off x="7081520" y="1244600"/>
            <a:ext cx="2540000" cy="203200"/>
          </a:xfrm>
          <a:prstGeom prst="rect">
            <a:avLst/>
          </a:prstGeom>
          <a:noFill/>
        </p:spPr>
        <p:txBody>
          <a:bodyPr wrap="square" lIns="0" tIns="0" rIns="0" bIns="0" anchor="t">
            <a:spAutoFit/>
          </a:bodyPr>
          <a:lstStyle/>
          <a:p>
            <a:pPr algn="l"/>
            <a:r>
              <a:rPr sz="850" b="1">
                <a:solidFill>
                  <a:srgbClr val="1D4ED8"/>
                </a:solidFill>
                <a:latin typeface="Inter"/>
              </a:rPr>
              <a:t>GATE 1 PASS MARK, MONTH 3</a:t>
            </a:r>
          </a:p>
        </p:txBody>
      </p:sp>
      <p:sp>
        <p:nvSpPr>
          <p:cNvPr id="12" name="TextBox 11"/>
          <p:cNvSpPr txBox="1"/>
          <p:nvPr/>
        </p:nvSpPr>
        <p:spPr>
          <a:xfrm>
            <a:off x="9824720" y="1244600"/>
            <a:ext cx="2540000" cy="203200"/>
          </a:xfrm>
          <a:prstGeom prst="rect">
            <a:avLst/>
          </a:prstGeom>
          <a:noFill/>
        </p:spPr>
        <p:txBody>
          <a:bodyPr wrap="square" lIns="0" tIns="0" rIns="0" bIns="0" anchor="t">
            <a:spAutoFit/>
          </a:bodyPr>
          <a:lstStyle/>
          <a:p>
            <a:pPr algn="l"/>
            <a:r>
              <a:rPr sz="850" b="1">
                <a:solidFill>
                  <a:srgbClr val="1D4ED8"/>
                </a:solidFill>
                <a:latin typeface="Inter"/>
              </a:rPr>
              <a:t>OWNER · PAID FROM</a:t>
            </a:r>
          </a:p>
        </p:txBody>
      </p:sp>
      <p:sp>
        <p:nvSpPr>
          <p:cNvPr id="13" name="Rounded Rectangle 12"/>
          <p:cNvSpPr/>
          <p:nvPr/>
        </p:nvSpPr>
        <p:spPr>
          <a:xfrm>
            <a:off x="502920" y="1498600"/>
            <a:ext cx="11183620" cy="1092200"/>
          </a:xfrm>
          <a:prstGeom prst="roundRect">
            <a:avLst>
              <a:gd name="adj" fmla="val 697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55320" y="1676400"/>
            <a:ext cx="355600" cy="355600"/>
          </a:xfrm>
          <a:prstGeom prst="ellipse">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5320" y="1676400"/>
            <a:ext cx="355600" cy="355600"/>
          </a:xfrm>
          <a:prstGeom prst="rect">
            <a:avLst/>
          </a:prstGeom>
          <a:noFill/>
        </p:spPr>
        <p:txBody>
          <a:bodyPr wrap="square" lIns="0" tIns="0" rIns="0" bIns="0" anchor="ctr">
            <a:spAutoFit/>
          </a:bodyPr>
          <a:lstStyle/>
          <a:p>
            <a:pPr algn="ctr"/>
            <a:r>
              <a:rPr sz="1300" b="1">
                <a:solidFill>
                  <a:srgbClr val="FFFFFF"/>
                </a:solidFill>
                <a:latin typeface="Inter"/>
              </a:rPr>
              <a:t>1</a:t>
            </a:r>
          </a:p>
        </p:txBody>
      </p:sp>
      <p:sp>
        <p:nvSpPr>
          <p:cNvPr id="16" name="TextBox 15"/>
          <p:cNvSpPr txBox="1"/>
          <p:nvPr/>
        </p:nvSpPr>
        <p:spPr>
          <a:xfrm>
            <a:off x="1137920" y="1625600"/>
            <a:ext cx="2032000" cy="863600"/>
          </a:xfrm>
          <a:prstGeom prst="rect">
            <a:avLst/>
          </a:prstGeom>
          <a:noFill/>
        </p:spPr>
        <p:txBody>
          <a:bodyPr wrap="square" lIns="0" tIns="0" rIns="0" bIns="0" anchor="t">
            <a:spAutoFit/>
          </a:bodyPr>
          <a:lstStyle/>
          <a:p>
            <a:pPr algn="l"/>
            <a:r>
              <a:rPr sz="1300" b="1">
                <a:solidFill>
                  <a:srgbClr val="0A1F44"/>
                </a:solidFill>
                <a:latin typeface="Inter"/>
              </a:rPr>
              <a:t>Capture every buyer</a:t>
            </a:r>
          </a:p>
          <a:p>
            <a:pPr algn="l">
              <a:spcBef>
                <a:spcPts val="300"/>
              </a:spcBef>
            </a:pPr>
            <a:r>
              <a:rPr sz="1000" b="0">
                <a:solidFill>
                  <a:srgbClr val="64748B"/>
                </a:solidFill>
                <a:latin typeface="Inter"/>
              </a:rPr>
              <a:t>77% of carts stall; only 24.5% of buyers engage</a:t>
            </a:r>
          </a:p>
        </p:txBody>
      </p:sp>
      <p:sp>
        <p:nvSpPr>
          <p:cNvPr id="17" name="TextBox 16"/>
          <p:cNvSpPr txBox="1"/>
          <p:nvPr/>
        </p:nvSpPr>
        <p:spPr>
          <a:xfrm>
            <a:off x="3322320" y="1625600"/>
            <a:ext cx="3581400" cy="863600"/>
          </a:xfrm>
          <a:prstGeom prst="rect">
            <a:avLst/>
          </a:prstGeom>
          <a:noFill/>
        </p:spPr>
        <p:txBody>
          <a:bodyPr wrap="square" lIns="0" tIns="0" rIns="0" bIns="0" anchor="t">
            <a:spAutoFit/>
          </a:bodyPr>
          <a:lstStyle/>
          <a:p>
            <a:pPr algn="l"/>
            <a:r>
              <a:rPr sz="1250" b="1">
                <a:solidFill>
                  <a:srgbClr val="1D4ED8"/>
                </a:solidFill>
                <a:latin typeface="Inter"/>
              </a:rPr>
              <a:t>Quince Passport</a:t>
            </a:r>
          </a:p>
          <a:p>
            <a:pPr algn="l">
              <a:spcBef>
                <a:spcPts val="300"/>
              </a:spcBef>
            </a:pPr>
            <a:r>
              <a:rPr sz="1050" b="0">
                <a:solidFill>
                  <a:srgbClr val="0F172A"/>
                </a:solidFill>
                <a:latin typeface="Inter"/>
              </a:rPr>
              <a:t>Box card, SMS opt-in at checkout, order tracking in the app, and cart reminders at 1h and 24h</a:t>
            </a:r>
          </a:p>
        </p:txBody>
      </p:sp>
      <p:sp>
        <p:nvSpPr>
          <p:cNvPr id="18" name="Rounded Rectangle 17"/>
          <p:cNvSpPr/>
          <p:nvPr/>
        </p:nvSpPr>
        <p:spPr>
          <a:xfrm>
            <a:off x="6929120" y="1600200"/>
            <a:ext cx="2743200" cy="889000"/>
          </a:xfrm>
          <a:prstGeom prst="roundRect">
            <a:avLst>
              <a:gd name="adj" fmla="val 8571"/>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081520" y="1600200"/>
            <a:ext cx="2489200" cy="889000"/>
          </a:xfrm>
          <a:prstGeom prst="rect">
            <a:avLst/>
          </a:prstGeom>
          <a:noFill/>
        </p:spPr>
        <p:txBody>
          <a:bodyPr wrap="square" lIns="0" tIns="0" rIns="0" bIns="0" anchor="ctr">
            <a:spAutoFit/>
          </a:bodyPr>
          <a:lstStyle/>
          <a:p>
            <a:pPr algn="l"/>
            <a:r>
              <a:rPr sz="1150" b="1">
                <a:solidFill>
                  <a:srgbClr val="0A1F44"/>
                </a:solidFill>
                <a:latin typeface="Inter"/>
              </a:rPr>
              <a:t>Engaged share ≥ 2× holdout</a:t>
            </a:r>
          </a:p>
          <a:p>
            <a:pPr algn="l">
              <a:spcBef>
                <a:spcPts val="200"/>
              </a:spcBef>
            </a:pPr>
            <a:r>
              <a:rPr sz="950" b="0">
                <a:solidFill>
                  <a:srgbClr val="64748B"/>
                </a:solidFill>
                <a:latin typeface="Inter"/>
              </a:rPr>
              <a:t>our aim: from 1 in 4 to 1 in 2 buyers engaged</a:t>
            </a:r>
          </a:p>
        </p:txBody>
      </p:sp>
      <p:sp>
        <p:nvSpPr>
          <p:cNvPr id="20" name="TextBox 19"/>
          <p:cNvSpPr txBox="1"/>
          <p:nvPr/>
        </p:nvSpPr>
        <p:spPr>
          <a:xfrm>
            <a:off x="9824720" y="1498600"/>
            <a:ext cx="1778000" cy="1092200"/>
          </a:xfrm>
          <a:prstGeom prst="rect">
            <a:avLst/>
          </a:prstGeom>
          <a:noFill/>
        </p:spPr>
        <p:txBody>
          <a:bodyPr wrap="square" lIns="0" tIns="0" rIns="0" bIns="0" anchor="ctr">
            <a:spAutoFit/>
          </a:bodyPr>
          <a:lstStyle/>
          <a:p>
            <a:pPr algn="l"/>
            <a:r>
              <a:rPr sz="1200" b="1">
                <a:solidFill>
                  <a:srgbClr val="0A1F44"/>
                </a:solidFill>
                <a:latin typeface="Inter"/>
              </a:rPr>
              <a:t>CRM + app</a:t>
            </a:r>
          </a:p>
          <a:p>
            <a:pPr algn="l">
              <a:spcBef>
                <a:spcPts val="200"/>
              </a:spcBef>
            </a:pPr>
            <a:r>
              <a:rPr sz="1050" b="0">
                <a:solidFill>
                  <a:srgbClr val="64748B"/>
                </a:solidFill>
                <a:latin typeface="Inter"/>
              </a:rPr>
              <a:t>Option A, inside $6M</a:t>
            </a:r>
          </a:p>
        </p:txBody>
      </p:sp>
      <p:sp>
        <p:nvSpPr>
          <p:cNvPr id="21" name="Rounded Rectangle 20"/>
          <p:cNvSpPr/>
          <p:nvPr/>
        </p:nvSpPr>
        <p:spPr>
          <a:xfrm>
            <a:off x="502920" y="2692400"/>
            <a:ext cx="11183620" cy="1092200"/>
          </a:xfrm>
          <a:prstGeom prst="roundRect">
            <a:avLst>
              <a:gd name="adj" fmla="val 697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655320" y="2870200"/>
            <a:ext cx="355600" cy="355600"/>
          </a:xfrm>
          <a:prstGeom prst="ellipse">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5320" y="2870200"/>
            <a:ext cx="355600" cy="355600"/>
          </a:xfrm>
          <a:prstGeom prst="rect">
            <a:avLst/>
          </a:prstGeom>
          <a:noFill/>
        </p:spPr>
        <p:txBody>
          <a:bodyPr wrap="square" lIns="0" tIns="0" rIns="0" bIns="0" anchor="ctr">
            <a:spAutoFit/>
          </a:bodyPr>
          <a:lstStyle/>
          <a:p>
            <a:pPr algn="ctr"/>
            <a:r>
              <a:rPr sz="1300" b="1">
                <a:solidFill>
                  <a:srgbClr val="FFFFFF"/>
                </a:solidFill>
                <a:latin typeface="Inter"/>
              </a:rPr>
              <a:t>2</a:t>
            </a:r>
          </a:p>
        </p:txBody>
      </p:sp>
      <p:sp>
        <p:nvSpPr>
          <p:cNvPr id="24" name="TextBox 23"/>
          <p:cNvSpPr txBox="1"/>
          <p:nvPr/>
        </p:nvSpPr>
        <p:spPr>
          <a:xfrm>
            <a:off x="1137920" y="2819400"/>
            <a:ext cx="2032000" cy="863600"/>
          </a:xfrm>
          <a:prstGeom prst="rect">
            <a:avLst/>
          </a:prstGeom>
          <a:noFill/>
        </p:spPr>
        <p:txBody>
          <a:bodyPr wrap="square" lIns="0" tIns="0" rIns="0" bIns="0" anchor="t">
            <a:spAutoFit/>
          </a:bodyPr>
          <a:lstStyle/>
          <a:p>
            <a:pPr algn="l"/>
            <a:r>
              <a:rPr sz="1300" b="1">
                <a:solidFill>
                  <a:srgbClr val="0A1F44"/>
                </a:solidFill>
                <a:latin typeface="Inter"/>
              </a:rPr>
              <a:t>Win the Golden Month</a:t>
            </a:r>
          </a:p>
          <a:p>
            <a:pPr algn="l">
              <a:spcBef>
                <a:spcPts val="300"/>
              </a:spcBef>
            </a:pPr>
            <a:r>
              <a:rPr sz="1000" b="0">
                <a:solidFill>
                  <a:srgbClr val="64748B"/>
                </a:solidFill>
                <a:latin typeface="Inter"/>
              </a:rPr>
              <a:t>Repeat peaks in week 2; cashmere repeats least, 13.7%</a:t>
            </a:r>
          </a:p>
        </p:txBody>
      </p:sp>
      <p:sp>
        <p:nvSpPr>
          <p:cNvPr id="25" name="TextBox 24"/>
          <p:cNvSpPr txBox="1"/>
          <p:nvPr/>
        </p:nvSpPr>
        <p:spPr>
          <a:xfrm>
            <a:off x="3322320" y="2819400"/>
            <a:ext cx="3581400" cy="863600"/>
          </a:xfrm>
          <a:prstGeom prst="rect">
            <a:avLst/>
          </a:prstGeom>
          <a:noFill/>
        </p:spPr>
        <p:txBody>
          <a:bodyPr wrap="square" lIns="0" tIns="0" rIns="0" bIns="0" anchor="t">
            <a:spAutoFit/>
          </a:bodyPr>
          <a:lstStyle/>
          <a:p>
            <a:pPr algn="l"/>
            <a:r>
              <a:rPr sz="1250" b="1">
                <a:solidFill>
                  <a:srgbClr val="1D4ED8"/>
                </a:solidFill>
                <a:latin typeface="Inter"/>
              </a:rPr>
              <a:t>Material Journeys v1</a:t>
            </a:r>
          </a:p>
          <a:p>
            <a:pPr algn="l">
              <a:spcBef>
                <a:spcPts val="300"/>
              </a:spcBef>
            </a:pPr>
            <a:r>
              <a:rPr sz="1050" b="0">
                <a:solidFill>
                  <a:srgbClr val="0F172A"/>
                </a:solidFill>
                <a:latin typeface="Inter"/>
              </a:rPr>
              <a:t>The delivery email sends a care guide; we suggest a second category by day 21</a:t>
            </a:r>
          </a:p>
        </p:txBody>
      </p:sp>
      <p:sp>
        <p:nvSpPr>
          <p:cNvPr id="26" name="Rounded Rectangle 25"/>
          <p:cNvSpPr/>
          <p:nvPr/>
        </p:nvSpPr>
        <p:spPr>
          <a:xfrm>
            <a:off x="6929120" y="2794000"/>
            <a:ext cx="2743200" cy="889000"/>
          </a:xfrm>
          <a:prstGeom prst="roundRect">
            <a:avLst>
              <a:gd name="adj" fmla="val 8571"/>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081520" y="2794000"/>
            <a:ext cx="2489200" cy="889000"/>
          </a:xfrm>
          <a:prstGeom prst="rect">
            <a:avLst/>
          </a:prstGeom>
          <a:noFill/>
        </p:spPr>
        <p:txBody>
          <a:bodyPr wrap="square" lIns="0" tIns="0" rIns="0" bIns="0" anchor="ctr">
            <a:spAutoFit/>
          </a:bodyPr>
          <a:lstStyle/>
          <a:p>
            <a:pPr algn="l"/>
            <a:r>
              <a:rPr sz="1150" b="1">
                <a:solidFill>
                  <a:srgbClr val="0A1F44"/>
                </a:solidFill>
                <a:latin typeface="Inter"/>
              </a:rPr>
              <a:t>30-day repeat +2 pts vs holdout</a:t>
            </a:r>
          </a:p>
          <a:p>
            <a:pPr algn="l">
              <a:spcBef>
                <a:spcPts val="200"/>
              </a:spcBef>
            </a:pPr>
            <a:r>
              <a:rPr sz="950" b="0">
                <a:solidFill>
                  <a:srgbClr val="64748B"/>
                </a:solidFill>
                <a:latin typeface="Inter"/>
              </a:rPr>
              <a:t>read weekly on the CJA Cohort Table</a:t>
            </a:r>
          </a:p>
        </p:txBody>
      </p:sp>
      <p:sp>
        <p:nvSpPr>
          <p:cNvPr id="28" name="TextBox 27"/>
          <p:cNvSpPr txBox="1"/>
          <p:nvPr/>
        </p:nvSpPr>
        <p:spPr>
          <a:xfrm>
            <a:off x="9824720" y="2692400"/>
            <a:ext cx="1778000" cy="1092200"/>
          </a:xfrm>
          <a:prstGeom prst="rect">
            <a:avLst/>
          </a:prstGeom>
          <a:noFill/>
        </p:spPr>
        <p:txBody>
          <a:bodyPr wrap="square" lIns="0" tIns="0" rIns="0" bIns="0" anchor="ctr">
            <a:spAutoFit/>
          </a:bodyPr>
          <a:lstStyle/>
          <a:p>
            <a:pPr algn="l"/>
            <a:r>
              <a:rPr sz="1200" b="1">
                <a:solidFill>
                  <a:srgbClr val="0A1F44"/>
                </a:solidFill>
                <a:latin typeface="Inter"/>
              </a:rPr>
              <a:t>CRM team</a:t>
            </a:r>
          </a:p>
          <a:p>
            <a:pPr algn="l">
              <a:spcBef>
                <a:spcPts val="200"/>
              </a:spcBef>
            </a:pPr>
            <a:r>
              <a:rPr sz="1050" b="0">
                <a:solidFill>
                  <a:srgbClr val="64748B"/>
                </a:solidFill>
                <a:latin typeface="Inter"/>
              </a:rPr>
              <a:t>Option A, inside $6M</a:t>
            </a:r>
          </a:p>
        </p:txBody>
      </p:sp>
      <p:sp>
        <p:nvSpPr>
          <p:cNvPr id="29" name="Rounded Rectangle 28"/>
          <p:cNvSpPr/>
          <p:nvPr/>
        </p:nvSpPr>
        <p:spPr>
          <a:xfrm>
            <a:off x="502920" y="3886200"/>
            <a:ext cx="11183620" cy="1092200"/>
          </a:xfrm>
          <a:prstGeom prst="roundRect">
            <a:avLst>
              <a:gd name="adj" fmla="val 697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655320" y="4064000"/>
            <a:ext cx="355600" cy="355600"/>
          </a:xfrm>
          <a:prstGeom prst="ellipse">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55320" y="4064000"/>
            <a:ext cx="355600" cy="355600"/>
          </a:xfrm>
          <a:prstGeom prst="rect">
            <a:avLst/>
          </a:prstGeom>
          <a:noFill/>
        </p:spPr>
        <p:txBody>
          <a:bodyPr wrap="square" lIns="0" tIns="0" rIns="0" bIns="0" anchor="ctr">
            <a:spAutoFit/>
          </a:bodyPr>
          <a:lstStyle/>
          <a:p>
            <a:pPr algn="ctr"/>
            <a:r>
              <a:rPr sz="1300" b="1">
                <a:solidFill>
                  <a:srgbClr val="FFFFFF"/>
                </a:solidFill>
                <a:latin typeface="Inter"/>
              </a:rPr>
              <a:t>3</a:t>
            </a:r>
          </a:p>
        </p:txBody>
      </p:sp>
      <p:sp>
        <p:nvSpPr>
          <p:cNvPr id="32" name="TextBox 31"/>
          <p:cNvSpPr txBox="1"/>
          <p:nvPr/>
        </p:nvSpPr>
        <p:spPr>
          <a:xfrm>
            <a:off x="1137920" y="4013200"/>
            <a:ext cx="2032000" cy="863600"/>
          </a:xfrm>
          <a:prstGeom prst="rect">
            <a:avLst/>
          </a:prstGeom>
          <a:noFill/>
        </p:spPr>
        <p:txBody>
          <a:bodyPr wrap="square" lIns="0" tIns="0" rIns="0" bIns="0" anchor="t">
            <a:spAutoFit/>
          </a:bodyPr>
          <a:lstStyle/>
          <a:p>
            <a:pPr algn="l"/>
            <a:r>
              <a:rPr sz="1300" b="1">
                <a:solidFill>
                  <a:srgbClr val="0A1F44"/>
                </a:solidFill>
                <a:latin typeface="Inter"/>
              </a:rPr>
              <a:t>Never pay twice</a:t>
            </a:r>
          </a:p>
          <a:p>
            <a:pPr algn="l">
              <a:spcBef>
                <a:spcPts val="300"/>
              </a:spcBef>
            </a:pPr>
            <a:r>
              <a:rPr sz="1000" b="0">
                <a:solidFill>
                  <a:srgbClr val="64748B"/>
                </a:solidFill>
                <a:latin typeface="Inter"/>
              </a:rPr>
              <a:t>Retargeted buyers repeat 23.0%, same as organic 23.4%</a:t>
            </a:r>
          </a:p>
        </p:txBody>
      </p:sp>
      <p:sp>
        <p:nvSpPr>
          <p:cNvPr id="33" name="TextBox 32"/>
          <p:cNvSpPr txBox="1"/>
          <p:nvPr/>
        </p:nvSpPr>
        <p:spPr>
          <a:xfrm>
            <a:off x="3322320" y="4013200"/>
            <a:ext cx="3581400" cy="863600"/>
          </a:xfrm>
          <a:prstGeom prst="rect">
            <a:avLst/>
          </a:prstGeom>
          <a:noFill/>
        </p:spPr>
        <p:txBody>
          <a:bodyPr wrap="square" lIns="0" tIns="0" rIns="0" bIns="0" anchor="t">
            <a:spAutoFit/>
          </a:bodyPr>
          <a:lstStyle/>
          <a:p>
            <a:pPr algn="l"/>
            <a:r>
              <a:rPr sz="1250" b="1">
                <a:solidFill>
                  <a:srgbClr val="1D4ED8"/>
                </a:solidFill>
                <a:latin typeface="Inter"/>
              </a:rPr>
              <a:t>Never Pay Twice Engine</a:t>
            </a:r>
          </a:p>
          <a:p>
            <a:pPr algn="l">
              <a:spcBef>
                <a:spcPts val="300"/>
              </a:spcBef>
            </a:pPr>
            <a:r>
              <a:rPr sz="1050" b="0">
                <a:solidFill>
                  <a:srgbClr val="0F172A"/>
                </a:solidFill>
                <a:latin typeface="Inter"/>
              </a:rPr>
              <a:t>Every day we send Meta, Google and TikTok the buyers we can already reach, so they stop seeing ads</a:t>
            </a:r>
          </a:p>
        </p:txBody>
      </p:sp>
      <p:sp>
        <p:nvSpPr>
          <p:cNvPr id="34" name="Rounded Rectangle 33"/>
          <p:cNvSpPr/>
          <p:nvPr/>
        </p:nvSpPr>
        <p:spPr>
          <a:xfrm>
            <a:off x="6929120" y="3987800"/>
            <a:ext cx="2743200" cy="889000"/>
          </a:xfrm>
          <a:prstGeom prst="roundRect">
            <a:avLst>
              <a:gd name="adj" fmla="val 8571"/>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081520" y="3987800"/>
            <a:ext cx="2489200" cy="889000"/>
          </a:xfrm>
          <a:prstGeom prst="rect">
            <a:avLst/>
          </a:prstGeom>
          <a:noFill/>
        </p:spPr>
        <p:txBody>
          <a:bodyPr wrap="square" lIns="0" tIns="0" rIns="0" bIns="0" anchor="ctr">
            <a:spAutoFit/>
          </a:bodyPr>
          <a:lstStyle/>
          <a:p>
            <a:pPr algn="l"/>
            <a:r>
              <a:rPr sz="1150" b="1">
                <a:solidFill>
                  <a:srgbClr val="0A1F44"/>
                </a:solidFill>
                <a:latin typeface="Inter"/>
              </a:rPr>
              <a:t>Orders per $ ≥ holdout</a:t>
            </a:r>
          </a:p>
          <a:p>
            <a:pPr algn="l">
              <a:spcBef>
                <a:spcPts val="200"/>
              </a:spcBef>
            </a:pPr>
            <a:r>
              <a:rPr sz="950" b="0">
                <a:solidFill>
                  <a:srgbClr val="64748B"/>
                </a:solidFill>
                <a:latin typeface="Inter"/>
              </a:rPr>
              <a:t>guardrail: new customers drop by less than 2%</a:t>
            </a:r>
          </a:p>
        </p:txBody>
      </p:sp>
      <p:sp>
        <p:nvSpPr>
          <p:cNvPr id="36" name="TextBox 35"/>
          <p:cNvSpPr txBox="1"/>
          <p:nvPr/>
        </p:nvSpPr>
        <p:spPr>
          <a:xfrm>
            <a:off x="9824720" y="3886200"/>
            <a:ext cx="1778000" cy="1092200"/>
          </a:xfrm>
          <a:prstGeom prst="rect">
            <a:avLst/>
          </a:prstGeom>
          <a:noFill/>
        </p:spPr>
        <p:txBody>
          <a:bodyPr wrap="square" lIns="0" tIns="0" rIns="0" bIns="0" anchor="ctr">
            <a:spAutoFit/>
          </a:bodyPr>
          <a:lstStyle/>
          <a:p>
            <a:pPr algn="l"/>
            <a:r>
              <a:rPr sz="1200" b="1">
                <a:solidFill>
                  <a:srgbClr val="0A1F44"/>
                </a:solidFill>
                <a:latin typeface="Inter"/>
              </a:rPr>
              <a:t>Paid media</a:t>
            </a:r>
          </a:p>
          <a:p>
            <a:pPr algn="l">
              <a:spcBef>
                <a:spcPts val="200"/>
              </a:spcBef>
            </a:pPr>
            <a:r>
              <a:rPr sz="1050" b="0">
                <a:solidFill>
                  <a:srgbClr val="64748B"/>
                </a:solidFill>
                <a:latin typeface="Inter"/>
              </a:rPr>
              <a:t>$14M line, $0 extra</a:t>
            </a:r>
          </a:p>
        </p:txBody>
      </p:sp>
      <p:sp>
        <p:nvSpPr>
          <p:cNvPr id="37" name="TextBox 36"/>
          <p:cNvSpPr txBox="1"/>
          <p:nvPr/>
        </p:nvSpPr>
        <p:spPr>
          <a:xfrm>
            <a:off x="502920" y="5130800"/>
            <a:ext cx="8890000" cy="203200"/>
          </a:xfrm>
          <a:prstGeom prst="rect">
            <a:avLst/>
          </a:prstGeom>
          <a:noFill/>
        </p:spPr>
        <p:txBody>
          <a:bodyPr wrap="square" lIns="0" tIns="0" rIns="0" bIns="0" anchor="t">
            <a:spAutoFit/>
          </a:bodyPr>
          <a:lstStyle/>
          <a:p>
            <a:pPr algn="l"/>
            <a:r>
              <a:rPr sz="900" b="1">
                <a:solidFill>
                  <a:srgbClr val="1D4ED8"/>
                </a:solidFill>
                <a:latin typeface="Inter"/>
              </a:rPr>
              <a:t>THEN WE MOVE MONEY ONLY WHERE THE HOLDOUT PROVES IT · 14 PROGRAMS, 0 DISCOUNTS</a:t>
            </a:r>
          </a:p>
        </p:txBody>
      </p:sp>
      <p:cxnSp>
        <p:nvCxnSpPr>
          <p:cNvPr id="38" name="Connector 37"/>
          <p:cNvCxnSpPr/>
          <p:nvPr/>
        </p:nvCxnSpPr>
        <p:spPr>
          <a:xfrm>
            <a:off x="502920" y="5537200"/>
            <a:ext cx="11181080" cy="0"/>
          </a:xfrm>
          <a:prstGeom prst="line">
            <a:avLst/>
          </a:prstGeom>
          <a:ln w="19050">
            <a:solidFill>
              <a:srgbClr val="C7D2E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502920" y="5461000"/>
            <a:ext cx="152400" cy="152400"/>
          </a:xfrm>
          <a:prstGeom prst="ellipse">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02920" y="5689600"/>
            <a:ext cx="2159000" cy="635000"/>
          </a:xfrm>
          <a:prstGeom prst="rect">
            <a:avLst/>
          </a:prstGeom>
          <a:noFill/>
        </p:spPr>
        <p:txBody>
          <a:bodyPr wrap="square" lIns="0" tIns="0" rIns="0" bIns="0" anchor="t">
            <a:spAutoFit/>
          </a:bodyPr>
          <a:lstStyle/>
          <a:p>
            <a:pPr algn="l"/>
            <a:r>
              <a:rPr sz="1200" b="1">
                <a:solidFill>
                  <a:srgbClr val="0A1F44"/>
                </a:solidFill>
                <a:latin typeface="Inter"/>
              </a:rPr>
              <a:t>South pilot</a:t>
            </a:r>
          </a:p>
          <a:p>
            <a:pPr algn="l">
              <a:spcBef>
                <a:spcPts val="100"/>
              </a:spcBef>
            </a:pPr>
            <a:r>
              <a:rPr sz="1100" b="0">
                <a:solidFill>
                  <a:srgbClr val="0F172A"/>
                </a:solidFill>
                <a:latin typeface="Inter"/>
              </a:rPr>
              <a:t>Weeks 1–12 · 10% holdout</a:t>
            </a:r>
          </a:p>
          <a:p>
            <a:pPr algn="l">
              <a:spcBef>
                <a:spcPts val="100"/>
              </a:spcBef>
            </a:pPr>
            <a:r>
              <a:rPr sz="950" b="0">
                <a:solidFill>
                  <a:srgbClr val="64748B"/>
                </a:solidFill>
                <a:latin typeface="Inter"/>
              </a:rPr>
              <a:t>3 flagships; 11 programs wait</a:t>
            </a:r>
          </a:p>
        </p:txBody>
      </p:sp>
      <p:sp>
        <p:nvSpPr>
          <p:cNvPr id="41" name="Oval 40"/>
          <p:cNvSpPr/>
          <p:nvPr/>
        </p:nvSpPr>
        <p:spPr>
          <a:xfrm>
            <a:off x="2738120" y="5461000"/>
            <a:ext cx="152400" cy="1524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738120" y="5689600"/>
            <a:ext cx="2159000" cy="635000"/>
          </a:xfrm>
          <a:prstGeom prst="rect">
            <a:avLst/>
          </a:prstGeom>
          <a:noFill/>
        </p:spPr>
        <p:txBody>
          <a:bodyPr wrap="square" lIns="0" tIns="0" rIns="0" bIns="0" anchor="t">
            <a:spAutoFit/>
          </a:bodyPr>
          <a:lstStyle/>
          <a:p>
            <a:pPr algn="l"/>
            <a:r>
              <a:rPr sz="1200" b="1">
                <a:solidFill>
                  <a:srgbClr val="1D4ED8"/>
                </a:solidFill>
                <a:latin typeface="Inter"/>
              </a:rPr>
              <a:t>Retargeting → owned</a:t>
            </a:r>
          </a:p>
          <a:p>
            <a:pPr algn="l">
              <a:spcBef>
                <a:spcPts val="100"/>
              </a:spcBef>
            </a:pPr>
            <a:r>
              <a:rPr sz="1100" b="0">
                <a:solidFill>
                  <a:srgbClr val="0F172A"/>
                </a:solidFill>
                <a:latin typeface="Inter"/>
              </a:rPr>
              <a:t>Month 3 · $4M</a:t>
            </a:r>
          </a:p>
          <a:p>
            <a:pPr algn="l">
              <a:spcBef>
                <a:spcPts val="100"/>
              </a:spcBef>
            </a:pPr>
            <a:r>
              <a:rPr sz="950" b="0">
                <a:solidFill>
                  <a:srgbClr val="64748B"/>
                </a:solidFill>
                <a:latin typeface="Inter"/>
              </a:rPr>
              <a:t>if Gate 1 passes</a:t>
            </a:r>
          </a:p>
        </p:txBody>
      </p:sp>
      <p:sp>
        <p:nvSpPr>
          <p:cNvPr id="43" name="Oval 42"/>
          <p:cNvSpPr/>
          <p:nvPr/>
        </p:nvSpPr>
        <p:spPr>
          <a:xfrm>
            <a:off x="4973320" y="5461000"/>
            <a:ext cx="152400" cy="152400"/>
          </a:xfrm>
          <a:prstGeom prst="ellipse">
            <a:avLst/>
          </a:prstGeom>
          <a:solidFill>
            <a:srgbClr val="3B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973320" y="5689600"/>
            <a:ext cx="2159000" cy="635000"/>
          </a:xfrm>
          <a:prstGeom prst="rect">
            <a:avLst/>
          </a:prstGeom>
          <a:noFill/>
        </p:spPr>
        <p:txBody>
          <a:bodyPr wrap="square" lIns="0" tIns="0" rIns="0" bIns="0" anchor="t">
            <a:spAutoFit/>
          </a:bodyPr>
          <a:lstStyle/>
          <a:p>
            <a:pPr algn="l"/>
            <a:r>
              <a:rPr sz="1200" b="1">
                <a:solidFill>
                  <a:srgbClr val="3B6FE8"/>
                </a:solidFill>
                <a:latin typeface="Inter"/>
              </a:rPr>
              <a:t>Search → owned</a:t>
            </a:r>
          </a:p>
          <a:p>
            <a:pPr algn="l">
              <a:spcBef>
                <a:spcPts val="100"/>
              </a:spcBef>
            </a:pPr>
            <a:r>
              <a:rPr sz="1100" b="0">
                <a:solidFill>
                  <a:srgbClr val="0F172A"/>
                </a:solidFill>
                <a:latin typeface="Inter"/>
              </a:rPr>
              <a:t>Months 4–6 · $3M</a:t>
            </a:r>
          </a:p>
          <a:p>
            <a:pPr algn="l">
              <a:spcBef>
                <a:spcPts val="100"/>
              </a:spcBef>
            </a:pPr>
            <a:r>
              <a:rPr sz="950" b="0">
                <a:solidFill>
                  <a:srgbClr val="64748B"/>
                </a:solidFill>
                <a:latin typeface="Inter"/>
              </a:rPr>
              <a:t>if the branded geo test proves it</a:t>
            </a:r>
          </a:p>
        </p:txBody>
      </p:sp>
      <p:sp>
        <p:nvSpPr>
          <p:cNvPr id="45" name="Oval 44"/>
          <p:cNvSpPr/>
          <p:nvPr/>
        </p:nvSpPr>
        <p:spPr>
          <a:xfrm>
            <a:off x="7208520" y="5461000"/>
            <a:ext cx="152400" cy="152400"/>
          </a:xfrm>
          <a:prstGeom prst="ellipse">
            <a:avLst/>
          </a:prstGeom>
          <a:solidFill>
            <a:srgbClr val="6F9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208520" y="5689600"/>
            <a:ext cx="2159000" cy="635000"/>
          </a:xfrm>
          <a:prstGeom prst="rect">
            <a:avLst/>
          </a:prstGeom>
          <a:noFill/>
        </p:spPr>
        <p:txBody>
          <a:bodyPr wrap="square" lIns="0" tIns="0" rIns="0" bIns="0" anchor="t">
            <a:spAutoFit/>
          </a:bodyPr>
          <a:lstStyle/>
          <a:p>
            <a:pPr algn="l"/>
            <a:r>
              <a:rPr sz="1200" b="1">
                <a:solidFill>
                  <a:srgbClr val="6F94DD"/>
                </a:solidFill>
                <a:latin typeface="Inter"/>
              </a:rPr>
              <a:t>Prospecting → owned</a:t>
            </a:r>
          </a:p>
          <a:p>
            <a:pPr algn="l">
              <a:spcBef>
                <a:spcPts val="100"/>
              </a:spcBef>
            </a:pPr>
            <a:r>
              <a:rPr sz="1100" b="0">
                <a:solidFill>
                  <a:srgbClr val="0F172A"/>
                </a:solidFill>
                <a:latin typeface="Inter"/>
              </a:rPr>
              <a:t>Months 7–9 · up to $2M</a:t>
            </a:r>
          </a:p>
          <a:p>
            <a:pPr algn="l">
              <a:spcBef>
                <a:spcPts val="100"/>
              </a:spcBef>
            </a:pPr>
            <a:r>
              <a:rPr sz="950" b="0">
                <a:solidFill>
                  <a:srgbClr val="64748B"/>
                </a:solidFill>
                <a:latin typeface="Inter"/>
              </a:rPr>
              <a:t>only if it's shown to be over-credited</a:t>
            </a:r>
          </a:p>
        </p:txBody>
      </p:sp>
      <p:sp>
        <p:nvSpPr>
          <p:cNvPr id="47" name="Oval 46"/>
          <p:cNvSpPr/>
          <p:nvPr/>
        </p:nvSpPr>
        <p:spPr>
          <a:xfrm>
            <a:off x="9443720" y="5461000"/>
            <a:ext cx="152400" cy="152400"/>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443720" y="5689600"/>
            <a:ext cx="2159000" cy="635000"/>
          </a:xfrm>
          <a:prstGeom prst="rect">
            <a:avLst/>
          </a:prstGeom>
          <a:noFill/>
        </p:spPr>
        <p:txBody>
          <a:bodyPr wrap="square" lIns="0" tIns="0" rIns="0" bIns="0" anchor="t">
            <a:spAutoFit/>
          </a:bodyPr>
          <a:lstStyle/>
          <a:p>
            <a:pPr algn="l"/>
            <a:r>
              <a:rPr sz="1200" b="1">
                <a:solidFill>
                  <a:srgbClr val="0F172A"/>
                </a:solidFill>
                <a:latin typeface="Inter"/>
              </a:rPr>
              <a:t>Gate 2 → target</a:t>
            </a:r>
          </a:p>
          <a:p>
            <a:pPr algn="l">
              <a:spcBef>
                <a:spcPts val="100"/>
              </a:spcBef>
            </a:pPr>
            <a:r>
              <a:rPr sz="1100" b="0">
                <a:solidFill>
                  <a:srgbClr val="0F172A"/>
                </a:solidFill>
                <a:latin typeface="Inter"/>
              </a:rPr>
              <a:t>Month 9 ≥ 28%</a:t>
            </a:r>
          </a:p>
          <a:p>
            <a:pPr algn="l">
              <a:spcBef>
                <a:spcPts val="100"/>
              </a:spcBef>
            </a:pPr>
            <a:r>
              <a:rPr sz="950" b="0">
                <a:solidFill>
                  <a:srgbClr val="64748B"/>
                </a:solidFill>
                <a:latin typeface="Inter"/>
              </a:rPr>
              <a:t>~31% repeat by month 18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DF8FFFF-ADBD-01A8-DD5E-CF5E143E8118}"/>
            </a:ext>
          </a:extLst>
        </p:cNvPr>
        <p:cNvGrpSpPr/>
        <p:nvPr/>
      </p:nvGrpSpPr>
      <p:grpSpPr>
        <a:xfrm>
          <a:off x="0" y="0"/>
          <a:ext cx="0" cy="0"/>
          <a:chOff x="0" y="0"/>
          <a:chExt cx="0" cy="0"/>
        </a:xfrm>
      </p:grpSpPr>
      <p:sp>
        <p:nvSpPr>
          <p:cNvPr id="9" name="Text 0">
            <a:extLst>
              <a:ext uri="{FF2B5EF4-FFF2-40B4-BE49-F238E27FC236}">
                <a16:creationId xmlns:a16="http://schemas.microsoft.com/office/drawing/2014/main" id="{798B0DE6-EC99-404F-D4A2-1ABAAD956519}"/>
              </a:ext>
            </a:extLst>
          </p:cNvPr>
          <p:cNvSpPr txBox="1"/>
          <p:nvPr/>
        </p:nvSpPr>
        <p:spPr>
          <a:xfrm>
            <a:off x="640080" y="822960"/>
            <a:ext cx="7315200" cy="822960"/>
          </a:xfrm>
          <a:prstGeom prst="rect">
            <a:avLst/>
          </a:prstGeom>
          <a:noFill/>
          <a:ln/>
        </p:spPr>
        <p:txBody>
          <a:bodyPr wrap="square" lIns="0" tIns="0" rIns="0" bIns="0" rtlCol="0" anchor="t"/>
          <a:lstStyle/>
          <a:p>
            <a:pPr marL="0" indent="0">
              <a:buNone/>
            </a:pPr>
            <a:r>
              <a:rPr lang="en-US" sz="4000" b="1" dirty="0">
                <a:solidFill>
                  <a:srgbClr val="FFFFFF"/>
                </a:solidFill>
                <a:latin typeface="Inter" pitchFamily="34" charset="0"/>
                <a:ea typeface="Inter" pitchFamily="34" charset="-122"/>
                <a:cs typeface="Inter" pitchFamily="34" charset="-120"/>
              </a:rPr>
              <a:t>Appendix</a:t>
            </a:r>
            <a:endParaRPr lang="en-US" sz="4000" dirty="0"/>
          </a:p>
        </p:txBody>
      </p:sp>
      <p:sp>
        <p:nvSpPr>
          <p:cNvPr id="10" name="Text 1">
            <a:extLst>
              <a:ext uri="{FF2B5EF4-FFF2-40B4-BE49-F238E27FC236}">
                <a16:creationId xmlns:a16="http://schemas.microsoft.com/office/drawing/2014/main" id="{EEE29757-49BB-C4F5-C7BF-52F363E98B8C}"/>
              </a:ext>
            </a:extLst>
          </p:cNvPr>
          <p:cNvSpPr txBox="1"/>
          <p:nvPr/>
        </p:nvSpPr>
        <p:spPr>
          <a:xfrm>
            <a:off x="640080" y="1874520"/>
            <a:ext cx="3657600" cy="274320"/>
          </a:xfrm>
          <a:prstGeom prst="rect">
            <a:avLst/>
          </a:prstGeom>
          <a:noFill/>
          <a:ln/>
        </p:spPr>
        <p:txBody>
          <a:bodyPr wrap="square" lIns="0" tIns="0" rIns="0" bIns="0" rtlCol="0" anchor="t"/>
          <a:lstStyle/>
          <a:p>
            <a:pPr marL="0" indent="0">
              <a:buNone/>
            </a:pPr>
            <a:r>
              <a:rPr lang="en-US" sz="1000" b="1" dirty="0">
                <a:solidFill>
                  <a:srgbClr val="8FB2EE"/>
                </a:solidFill>
                <a:latin typeface="Inter" pitchFamily="34" charset="0"/>
                <a:ea typeface="Inter" pitchFamily="34" charset="-122"/>
                <a:cs typeface="Inter" pitchFamily="34" charset="-120"/>
              </a:rPr>
              <a:t>ADOBE CJA EVIDENCE</a:t>
            </a:r>
            <a:endParaRPr lang="en-US" sz="1000" dirty="0"/>
          </a:p>
        </p:txBody>
      </p:sp>
      <p:sp>
        <p:nvSpPr>
          <p:cNvPr id="11" name="Text 2">
            <a:extLst>
              <a:ext uri="{FF2B5EF4-FFF2-40B4-BE49-F238E27FC236}">
                <a16:creationId xmlns:a16="http://schemas.microsoft.com/office/drawing/2014/main" id="{E4257DCA-5598-4AF7-72DE-0E923A1D41BD}"/>
              </a:ext>
            </a:extLst>
          </p:cNvPr>
          <p:cNvSpPr txBox="1"/>
          <p:nvPr/>
        </p:nvSpPr>
        <p:spPr>
          <a:xfrm>
            <a:off x="4572000" y="1874520"/>
            <a:ext cx="3657600" cy="274320"/>
          </a:xfrm>
          <a:prstGeom prst="rect">
            <a:avLst/>
          </a:prstGeom>
          <a:noFill/>
          <a:ln/>
        </p:spPr>
        <p:txBody>
          <a:bodyPr wrap="square" lIns="0" tIns="0" rIns="0" bIns="0" rtlCol="0" anchor="t"/>
          <a:lstStyle/>
          <a:p>
            <a:pPr marL="0" indent="0">
              <a:buNone/>
            </a:pPr>
            <a:r>
              <a:rPr lang="en-US" sz="1000" b="1" dirty="0">
                <a:solidFill>
                  <a:srgbClr val="8FB2EE"/>
                </a:solidFill>
                <a:latin typeface="Inter" pitchFamily="34" charset="0"/>
                <a:ea typeface="Inter" pitchFamily="34" charset="-122"/>
                <a:cs typeface="Inter" pitchFamily="34" charset="-120"/>
              </a:rPr>
              <a:t>BACKUP ANALYSIS</a:t>
            </a:r>
            <a:endParaRPr lang="en-US" sz="1000" dirty="0"/>
          </a:p>
        </p:txBody>
      </p:sp>
      <p:sp>
        <p:nvSpPr>
          <p:cNvPr id="12" name="Text 3">
            <a:extLst>
              <a:ext uri="{FF2B5EF4-FFF2-40B4-BE49-F238E27FC236}">
                <a16:creationId xmlns:a16="http://schemas.microsoft.com/office/drawing/2014/main" id="{4EE43B28-9D7A-C86D-F5F2-6DFB17608F9E}"/>
              </a:ext>
            </a:extLst>
          </p:cNvPr>
          <p:cNvSpPr txBox="1"/>
          <p:nvPr/>
        </p:nvSpPr>
        <p:spPr>
          <a:xfrm>
            <a:off x="640080" y="2240280"/>
            <a:ext cx="457200" cy="329184"/>
          </a:xfrm>
          <a:prstGeom prst="rect">
            <a:avLst/>
          </a:prstGeom>
          <a:noFill/>
          <a:ln/>
        </p:spPr>
        <p:txBody>
          <a:bodyPr wrap="square" lIns="0" tIns="0" rIns="0" bIns="0" rtlCol="0" anchor="ctr"/>
          <a:lstStyle/>
          <a:p>
            <a:pPr marL="0" indent="0">
              <a:buNone/>
            </a:pPr>
            <a:r>
              <a:rPr lang="en-US" sz="1300" b="1" dirty="0">
                <a:solidFill>
                  <a:srgbClr val="6F94DD"/>
                </a:solidFill>
                <a:latin typeface="Inter" pitchFamily="34" charset="0"/>
                <a:ea typeface="Inter" pitchFamily="34" charset="-122"/>
                <a:cs typeface="Inter" pitchFamily="34" charset="-120"/>
              </a:rPr>
              <a:t>9</a:t>
            </a:r>
            <a:endParaRPr lang="en-US" sz="1300" dirty="0"/>
          </a:p>
        </p:txBody>
      </p:sp>
      <p:sp>
        <p:nvSpPr>
          <p:cNvPr id="13" name="Text 4">
            <a:extLst>
              <a:ext uri="{FF2B5EF4-FFF2-40B4-BE49-F238E27FC236}">
                <a16:creationId xmlns:a16="http://schemas.microsoft.com/office/drawing/2014/main" id="{57811386-EE67-120C-C6F4-5E34990B197C}"/>
              </a:ext>
            </a:extLst>
          </p:cNvPr>
          <p:cNvSpPr txBox="1"/>
          <p:nvPr/>
        </p:nvSpPr>
        <p:spPr>
          <a:xfrm>
            <a:off x="1143000" y="2240280"/>
            <a:ext cx="3200400" cy="329184"/>
          </a:xfrm>
          <a:prstGeom prst="rect">
            <a:avLst/>
          </a:prstGeom>
          <a:noFill/>
          <a:ln/>
        </p:spPr>
        <p:txBody>
          <a:bodyPr wrap="square" lIns="0" tIns="0" rIns="0" bIns="0" rtlCol="0" anchor="ctr"/>
          <a:lstStyle/>
          <a:p>
            <a:pPr marL="0" indent="0">
              <a:buNone/>
            </a:pPr>
            <a:r>
              <a:rPr lang="en-US" sz="1300" dirty="0">
                <a:solidFill>
                  <a:srgbClr val="FFFFFF"/>
                </a:solidFill>
                <a:latin typeface="Inter" pitchFamily="34" charset="0"/>
                <a:ea typeface="Inter" pitchFamily="34" charset="-122"/>
                <a:cs typeface="Inter" pitchFamily="34" charset="-120"/>
              </a:rPr>
              <a:t>Fallout</a:t>
            </a:r>
            <a:endParaRPr lang="en-US" sz="1300" dirty="0"/>
          </a:p>
        </p:txBody>
      </p:sp>
      <p:sp>
        <p:nvSpPr>
          <p:cNvPr id="14" name="Text 5">
            <a:extLst>
              <a:ext uri="{FF2B5EF4-FFF2-40B4-BE49-F238E27FC236}">
                <a16:creationId xmlns:a16="http://schemas.microsoft.com/office/drawing/2014/main" id="{6D8C5085-2C7B-795B-F9D0-82B7F226DA68}"/>
              </a:ext>
            </a:extLst>
          </p:cNvPr>
          <p:cNvSpPr txBox="1"/>
          <p:nvPr/>
        </p:nvSpPr>
        <p:spPr>
          <a:xfrm>
            <a:off x="640080" y="2624328"/>
            <a:ext cx="457200" cy="329184"/>
          </a:xfrm>
          <a:prstGeom prst="rect">
            <a:avLst/>
          </a:prstGeom>
          <a:noFill/>
          <a:ln/>
        </p:spPr>
        <p:txBody>
          <a:bodyPr wrap="square" lIns="0" tIns="0" rIns="0" bIns="0" rtlCol="0" anchor="ctr"/>
          <a:lstStyle/>
          <a:p>
            <a:pPr marL="0" indent="0">
              <a:buNone/>
            </a:pPr>
            <a:r>
              <a:rPr lang="en-US" sz="1300" b="1" dirty="0">
                <a:solidFill>
                  <a:srgbClr val="6F94DD"/>
                </a:solidFill>
                <a:latin typeface="Inter" pitchFamily="34" charset="0"/>
                <a:ea typeface="Inter" pitchFamily="34" charset="-122"/>
                <a:cs typeface="Inter" pitchFamily="34" charset="-120"/>
              </a:rPr>
              <a:t>10</a:t>
            </a:r>
            <a:endParaRPr lang="en-US" sz="1300" dirty="0"/>
          </a:p>
        </p:txBody>
      </p:sp>
      <p:sp>
        <p:nvSpPr>
          <p:cNvPr id="15" name="Text 6">
            <a:extLst>
              <a:ext uri="{FF2B5EF4-FFF2-40B4-BE49-F238E27FC236}">
                <a16:creationId xmlns:a16="http://schemas.microsoft.com/office/drawing/2014/main" id="{46CDCA8F-CF1D-5938-D203-D3C91D99E706}"/>
              </a:ext>
            </a:extLst>
          </p:cNvPr>
          <p:cNvSpPr txBox="1"/>
          <p:nvPr/>
        </p:nvSpPr>
        <p:spPr>
          <a:xfrm>
            <a:off x="1143000" y="2624328"/>
            <a:ext cx="3200400" cy="329184"/>
          </a:xfrm>
          <a:prstGeom prst="rect">
            <a:avLst/>
          </a:prstGeom>
          <a:noFill/>
          <a:ln/>
        </p:spPr>
        <p:txBody>
          <a:bodyPr wrap="square" lIns="0" tIns="0" rIns="0" bIns="0" rtlCol="0" anchor="ctr"/>
          <a:lstStyle/>
          <a:p>
            <a:pPr marL="0" indent="0">
              <a:buNone/>
            </a:pPr>
            <a:r>
              <a:rPr lang="en-US" sz="1300" dirty="0">
                <a:solidFill>
                  <a:srgbClr val="FFFFFF"/>
                </a:solidFill>
                <a:latin typeface="Inter" pitchFamily="34" charset="0"/>
                <a:ea typeface="Inter" pitchFamily="34" charset="-122"/>
                <a:cs typeface="Inter" pitchFamily="34" charset="-120"/>
              </a:rPr>
              <a:t>Attribution IQ</a:t>
            </a:r>
            <a:endParaRPr lang="en-US" sz="1300" dirty="0"/>
          </a:p>
        </p:txBody>
      </p:sp>
      <p:sp>
        <p:nvSpPr>
          <p:cNvPr id="16" name="Text 7">
            <a:extLst>
              <a:ext uri="{FF2B5EF4-FFF2-40B4-BE49-F238E27FC236}">
                <a16:creationId xmlns:a16="http://schemas.microsoft.com/office/drawing/2014/main" id="{7C925087-5703-8494-E6F0-7DCEF4949327}"/>
              </a:ext>
            </a:extLst>
          </p:cNvPr>
          <p:cNvSpPr txBox="1"/>
          <p:nvPr/>
        </p:nvSpPr>
        <p:spPr>
          <a:xfrm>
            <a:off x="640080" y="3008376"/>
            <a:ext cx="457200" cy="329184"/>
          </a:xfrm>
          <a:prstGeom prst="rect">
            <a:avLst/>
          </a:prstGeom>
          <a:noFill/>
          <a:ln/>
        </p:spPr>
        <p:txBody>
          <a:bodyPr wrap="square" lIns="0" tIns="0" rIns="0" bIns="0" rtlCol="0" anchor="ctr"/>
          <a:lstStyle/>
          <a:p>
            <a:pPr marL="0" indent="0">
              <a:buNone/>
            </a:pPr>
            <a:r>
              <a:rPr lang="en-US" sz="1300" b="1" dirty="0">
                <a:solidFill>
                  <a:srgbClr val="6F94DD"/>
                </a:solidFill>
                <a:latin typeface="Inter" pitchFamily="34" charset="0"/>
                <a:ea typeface="Inter" pitchFamily="34" charset="-122"/>
                <a:cs typeface="Inter" pitchFamily="34" charset="-120"/>
              </a:rPr>
              <a:t>11</a:t>
            </a:r>
            <a:endParaRPr lang="en-US" sz="1300" dirty="0"/>
          </a:p>
        </p:txBody>
      </p:sp>
      <p:sp>
        <p:nvSpPr>
          <p:cNvPr id="17" name="Text 8">
            <a:extLst>
              <a:ext uri="{FF2B5EF4-FFF2-40B4-BE49-F238E27FC236}">
                <a16:creationId xmlns:a16="http://schemas.microsoft.com/office/drawing/2014/main" id="{F7E4001E-7F6B-F312-84CC-C72FF726FBEC}"/>
              </a:ext>
            </a:extLst>
          </p:cNvPr>
          <p:cNvSpPr txBox="1"/>
          <p:nvPr/>
        </p:nvSpPr>
        <p:spPr>
          <a:xfrm>
            <a:off x="1143000" y="3008376"/>
            <a:ext cx="3200400" cy="329184"/>
          </a:xfrm>
          <a:prstGeom prst="rect">
            <a:avLst/>
          </a:prstGeom>
          <a:noFill/>
          <a:ln/>
        </p:spPr>
        <p:txBody>
          <a:bodyPr wrap="square" lIns="0" tIns="0" rIns="0" bIns="0" rtlCol="0" anchor="ctr"/>
          <a:lstStyle/>
          <a:p>
            <a:pPr marL="0" indent="0">
              <a:buNone/>
            </a:pPr>
            <a:r>
              <a:rPr lang="en-US" sz="1300" dirty="0">
                <a:solidFill>
                  <a:srgbClr val="FFFFFF"/>
                </a:solidFill>
                <a:latin typeface="Inter" pitchFamily="34" charset="0"/>
                <a:ea typeface="Inter" pitchFamily="34" charset="-122"/>
                <a:cs typeface="Inter" pitchFamily="34" charset="-120"/>
              </a:rPr>
              <a:t>Cohort Table</a:t>
            </a:r>
            <a:endParaRPr lang="en-US" sz="1300" dirty="0"/>
          </a:p>
        </p:txBody>
      </p:sp>
      <p:sp>
        <p:nvSpPr>
          <p:cNvPr id="18" name="Text 9">
            <a:extLst>
              <a:ext uri="{FF2B5EF4-FFF2-40B4-BE49-F238E27FC236}">
                <a16:creationId xmlns:a16="http://schemas.microsoft.com/office/drawing/2014/main" id="{FF09F18B-C174-0562-F84F-8B9AB8D0CD88}"/>
              </a:ext>
            </a:extLst>
          </p:cNvPr>
          <p:cNvSpPr txBox="1"/>
          <p:nvPr/>
        </p:nvSpPr>
        <p:spPr>
          <a:xfrm>
            <a:off x="640080" y="3392424"/>
            <a:ext cx="457200" cy="329184"/>
          </a:xfrm>
          <a:prstGeom prst="rect">
            <a:avLst/>
          </a:prstGeom>
          <a:noFill/>
          <a:ln/>
        </p:spPr>
        <p:txBody>
          <a:bodyPr wrap="square" lIns="0" tIns="0" rIns="0" bIns="0" rtlCol="0" anchor="ctr"/>
          <a:lstStyle/>
          <a:p>
            <a:pPr marL="0" indent="0">
              <a:buNone/>
            </a:pPr>
            <a:r>
              <a:rPr lang="en-US" sz="1300" b="1" dirty="0">
                <a:solidFill>
                  <a:srgbClr val="6F94DD"/>
                </a:solidFill>
                <a:latin typeface="Inter" pitchFamily="34" charset="0"/>
                <a:ea typeface="Inter" pitchFamily="34" charset="-122"/>
                <a:cs typeface="Inter" pitchFamily="34" charset="-120"/>
              </a:rPr>
              <a:t>12</a:t>
            </a:r>
            <a:endParaRPr lang="en-US" sz="1300" dirty="0"/>
          </a:p>
        </p:txBody>
      </p:sp>
      <p:sp>
        <p:nvSpPr>
          <p:cNvPr id="19" name="Text 10">
            <a:extLst>
              <a:ext uri="{FF2B5EF4-FFF2-40B4-BE49-F238E27FC236}">
                <a16:creationId xmlns:a16="http://schemas.microsoft.com/office/drawing/2014/main" id="{1E5E2BDF-702B-9C98-9606-64F27526147F}"/>
              </a:ext>
            </a:extLst>
          </p:cNvPr>
          <p:cNvSpPr txBox="1"/>
          <p:nvPr/>
        </p:nvSpPr>
        <p:spPr>
          <a:xfrm>
            <a:off x="1143000" y="3392424"/>
            <a:ext cx="3200400" cy="329184"/>
          </a:xfrm>
          <a:prstGeom prst="rect">
            <a:avLst/>
          </a:prstGeom>
          <a:noFill/>
          <a:ln/>
        </p:spPr>
        <p:txBody>
          <a:bodyPr wrap="square" lIns="0" tIns="0" rIns="0" bIns="0" rtlCol="0" anchor="ctr"/>
          <a:lstStyle/>
          <a:p>
            <a:pPr marL="0" indent="0">
              <a:buNone/>
            </a:pPr>
            <a:r>
              <a:rPr lang="en-US" sz="1300" dirty="0">
                <a:solidFill>
                  <a:srgbClr val="FFFFFF"/>
                </a:solidFill>
                <a:latin typeface="Inter" pitchFamily="34" charset="0"/>
                <a:ea typeface="Inter" pitchFamily="34" charset="-122"/>
                <a:cs typeface="Inter" pitchFamily="34" charset="-120"/>
              </a:rPr>
              <a:t>Flow</a:t>
            </a:r>
            <a:endParaRPr lang="en-US" sz="1300" dirty="0"/>
          </a:p>
        </p:txBody>
      </p:sp>
      <p:sp>
        <p:nvSpPr>
          <p:cNvPr id="20" name="Text 11">
            <a:extLst>
              <a:ext uri="{FF2B5EF4-FFF2-40B4-BE49-F238E27FC236}">
                <a16:creationId xmlns:a16="http://schemas.microsoft.com/office/drawing/2014/main" id="{6D300AB7-AD3F-4A9D-2714-609E5BACBAD1}"/>
              </a:ext>
            </a:extLst>
          </p:cNvPr>
          <p:cNvSpPr txBox="1"/>
          <p:nvPr/>
        </p:nvSpPr>
        <p:spPr>
          <a:xfrm>
            <a:off x="640080" y="3776472"/>
            <a:ext cx="457200" cy="329184"/>
          </a:xfrm>
          <a:prstGeom prst="rect">
            <a:avLst/>
          </a:prstGeom>
          <a:noFill/>
          <a:ln/>
        </p:spPr>
        <p:txBody>
          <a:bodyPr wrap="square" lIns="0" tIns="0" rIns="0" bIns="0" rtlCol="0" anchor="ctr"/>
          <a:lstStyle/>
          <a:p>
            <a:pPr marL="0" indent="0">
              <a:buNone/>
            </a:pPr>
            <a:r>
              <a:rPr lang="en-US" sz="1300" b="1" dirty="0">
                <a:solidFill>
                  <a:srgbClr val="6F94DD"/>
                </a:solidFill>
                <a:latin typeface="Inter" pitchFamily="34" charset="0"/>
                <a:ea typeface="Inter" pitchFamily="34" charset="-122"/>
                <a:cs typeface="Inter" pitchFamily="34" charset="-120"/>
              </a:rPr>
              <a:t>13</a:t>
            </a:r>
            <a:endParaRPr lang="en-US" sz="1300" dirty="0"/>
          </a:p>
        </p:txBody>
      </p:sp>
      <p:sp>
        <p:nvSpPr>
          <p:cNvPr id="21" name="Text 12">
            <a:extLst>
              <a:ext uri="{FF2B5EF4-FFF2-40B4-BE49-F238E27FC236}">
                <a16:creationId xmlns:a16="http://schemas.microsoft.com/office/drawing/2014/main" id="{5D49D1D7-5746-2967-DE16-BF7AA24C4B31}"/>
              </a:ext>
            </a:extLst>
          </p:cNvPr>
          <p:cNvSpPr txBox="1"/>
          <p:nvPr/>
        </p:nvSpPr>
        <p:spPr>
          <a:xfrm>
            <a:off x="1143000" y="3776472"/>
            <a:ext cx="3200400" cy="329184"/>
          </a:xfrm>
          <a:prstGeom prst="rect">
            <a:avLst/>
          </a:prstGeom>
          <a:noFill/>
          <a:ln/>
        </p:spPr>
        <p:txBody>
          <a:bodyPr wrap="square" lIns="0" tIns="0" rIns="0" bIns="0" rtlCol="0" anchor="ctr"/>
          <a:lstStyle/>
          <a:p>
            <a:pPr marL="0" indent="0">
              <a:buNone/>
            </a:pPr>
            <a:r>
              <a:rPr lang="en-US" sz="1300" dirty="0">
                <a:solidFill>
                  <a:srgbClr val="FFFFFF"/>
                </a:solidFill>
                <a:latin typeface="Inter" pitchFamily="34" charset="0"/>
                <a:ea typeface="Inter" pitchFamily="34" charset="-122"/>
                <a:cs typeface="Inter" pitchFamily="34" charset="-120"/>
              </a:rPr>
              <a:t>Segments</a:t>
            </a:r>
            <a:endParaRPr lang="en-US" sz="1300" dirty="0"/>
          </a:p>
        </p:txBody>
      </p:sp>
      <p:sp>
        <p:nvSpPr>
          <p:cNvPr id="22" name="Text 13">
            <a:extLst>
              <a:ext uri="{FF2B5EF4-FFF2-40B4-BE49-F238E27FC236}">
                <a16:creationId xmlns:a16="http://schemas.microsoft.com/office/drawing/2014/main" id="{DB50061B-34D0-5BD6-0F32-27B4543BBBB3}"/>
              </a:ext>
            </a:extLst>
          </p:cNvPr>
          <p:cNvSpPr txBox="1"/>
          <p:nvPr/>
        </p:nvSpPr>
        <p:spPr>
          <a:xfrm>
            <a:off x="4572000" y="2240280"/>
            <a:ext cx="457200" cy="329184"/>
          </a:xfrm>
          <a:prstGeom prst="rect">
            <a:avLst/>
          </a:prstGeom>
          <a:noFill/>
          <a:ln/>
        </p:spPr>
        <p:txBody>
          <a:bodyPr wrap="square" lIns="0" tIns="0" rIns="0" bIns="0" rtlCol="0" anchor="ctr"/>
          <a:lstStyle/>
          <a:p>
            <a:pPr marL="0" indent="0">
              <a:buNone/>
            </a:pPr>
            <a:r>
              <a:rPr lang="en-US" sz="1300" b="1" dirty="0">
                <a:solidFill>
                  <a:srgbClr val="6F94DD"/>
                </a:solidFill>
                <a:latin typeface="Inter" pitchFamily="34" charset="0"/>
                <a:ea typeface="Inter" pitchFamily="34" charset="-122"/>
                <a:cs typeface="Inter" pitchFamily="34" charset="-120"/>
              </a:rPr>
              <a:t>14</a:t>
            </a:r>
            <a:endParaRPr lang="en-US" sz="1300" dirty="0"/>
          </a:p>
        </p:txBody>
      </p:sp>
      <p:sp>
        <p:nvSpPr>
          <p:cNvPr id="23" name="Text 14">
            <a:extLst>
              <a:ext uri="{FF2B5EF4-FFF2-40B4-BE49-F238E27FC236}">
                <a16:creationId xmlns:a16="http://schemas.microsoft.com/office/drawing/2014/main" id="{D1934184-3F69-4E53-1076-8BEA599E8024}"/>
              </a:ext>
            </a:extLst>
          </p:cNvPr>
          <p:cNvSpPr txBox="1"/>
          <p:nvPr/>
        </p:nvSpPr>
        <p:spPr>
          <a:xfrm>
            <a:off x="5074920" y="2240280"/>
            <a:ext cx="3108960" cy="329184"/>
          </a:xfrm>
          <a:prstGeom prst="rect">
            <a:avLst/>
          </a:prstGeom>
          <a:noFill/>
          <a:ln/>
        </p:spPr>
        <p:txBody>
          <a:bodyPr wrap="square" lIns="0" tIns="0" rIns="0" bIns="0" rtlCol="0" anchor="ctr"/>
          <a:lstStyle/>
          <a:p>
            <a:pPr marL="0" indent="0">
              <a:buNone/>
            </a:pPr>
            <a:r>
              <a:rPr lang="en-US" sz="1300" dirty="0">
                <a:solidFill>
                  <a:srgbClr val="FFFFFF"/>
                </a:solidFill>
                <a:latin typeface="Inter" pitchFamily="34" charset="0"/>
                <a:ea typeface="Inter" pitchFamily="34" charset="-122"/>
                <a:cs typeface="Inter" pitchFamily="34" charset="-120"/>
              </a:rPr>
              <a:t>Why a blend</a:t>
            </a:r>
            <a:endParaRPr lang="en-US" sz="1300" dirty="0"/>
          </a:p>
        </p:txBody>
      </p:sp>
      <p:sp>
        <p:nvSpPr>
          <p:cNvPr id="24" name="Text 15">
            <a:extLst>
              <a:ext uri="{FF2B5EF4-FFF2-40B4-BE49-F238E27FC236}">
                <a16:creationId xmlns:a16="http://schemas.microsoft.com/office/drawing/2014/main" id="{4E732DC2-FA90-B0F1-BAC9-9875D7FCCE58}"/>
              </a:ext>
            </a:extLst>
          </p:cNvPr>
          <p:cNvSpPr txBox="1"/>
          <p:nvPr/>
        </p:nvSpPr>
        <p:spPr>
          <a:xfrm>
            <a:off x="4572000" y="2624328"/>
            <a:ext cx="457200" cy="329184"/>
          </a:xfrm>
          <a:prstGeom prst="rect">
            <a:avLst/>
          </a:prstGeom>
          <a:noFill/>
          <a:ln/>
        </p:spPr>
        <p:txBody>
          <a:bodyPr wrap="square" lIns="0" tIns="0" rIns="0" bIns="0" rtlCol="0" anchor="ctr"/>
          <a:lstStyle/>
          <a:p>
            <a:pPr marL="0" indent="0">
              <a:buNone/>
            </a:pPr>
            <a:r>
              <a:rPr lang="en-US" sz="1300" b="1" dirty="0">
                <a:solidFill>
                  <a:srgbClr val="6F94DD"/>
                </a:solidFill>
                <a:latin typeface="Inter" pitchFamily="34" charset="0"/>
                <a:ea typeface="Inter" pitchFamily="34" charset="-122"/>
                <a:cs typeface="Inter" pitchFamily="34" charset="-120"/>
              </a:rPr>
              <a:t>15</a:t>
            </a:r>
            <a:endParaRPr lang="en-US" sz="1300" dirty="0"/>
          </a:p>
        </p:txBody>
      </p:sp>
      <p:sp>
        <p:nvSpPr>
          <p:cNvPr id="25" name="Text 16">
            <a:extLst>
              <a:ext uri="{FF2B5EF4-FFF2-40B4-BE49-F238E27FC236}">
                <a16:creationId xmlns:a16="http://schemas.microsoft.com/office/drawing/2014/main" id="{42BE4679-030D-09D1-9098-155A6414D21D}"/>
              </a:ext>
            </a:extLst>
          </p:cNvPr>
          <p:cNvSpPr txBox="1"/>
          <p:nvPr/>
        </p:nvSpPr>
        <p:spPr>
          <a:xfrm>
            <a:off x="5074920" y="2624328"/>
            <a:ext cx="3108960" cy="329184"/>
          </a:xfrm>
          <a:prstGeom prst="rect">
            <a:avLst/>
          </a:prstGeom>
          <a:noFill/>
          <a:ln/>
        </p:spPr>
        <p:txBody>
          <a:bodyPr wrap="square" lIns="0" tIns="0" rIns="0" bIns="0" rtlCol="0" anchor="ctr"/>
          <a:lstStyle/>
          <a:p>
            <a:pPr marL="0" indent="0">
              <a:buNone/>
            </a:pPr>
            <a:r>
              <a:rPr lang="en-US" sz="1300" dirty="0">
                <a:solidFill>
                  <a:srgbClr val="FFFFFF"/>
                </a:solidFill>
                <a:latin typeface="Inter" pitchFamily="34" charset="0"/>
                <a:ea typeface="Inter" pitchFamily="34" charset="-122"/>
                <a:cs typeface="Inter" pitchFamily="34" charset="-120"/>
              </a:rPr>
              <a:t>Issue tree</a:t>
            </a:r>
            <a:endParaRPr lang="en-US" sz="1300" dirty="0"/>
          </a:p>
        </p:txBody>
      </p:sp>
      <p:sp>
        <p:nvSpPr>
          <p:cNvPr id="26" name="Text 17">
            <a:extLst>
              <a:ext uri="{FF2B5EF4-FFF2-40B4-BE49-F238E27FC236}">
                <a16:creationId xmlns:a16="http://schemas.microsoft.com/office/drawing/2014/main" id="{12528994-5E87-0E10-1766-860EE705C301}"/>
              </a:ext>
            </a:extLst>
          </p:cNvPr>
          <p:cNvSpPr txBox="1"/>
          <p:nvPr/>
        </p:nvSpPr>
        <p:spPr>
          <a:xfrm>
            <a:off x="4572000" y="3008376"/>
            <a:ext cx="457200" cy="329184"/>
          </a:xfrm>
          <a:prstGeom prst="rect">
            <a:avLst/>
          </a:prstGeom>
          <a:noFill/>
          <a:ln/>
        </p:spPr>
        <p:txBody>
          <a:bodyPr wrap="square" lIns="0" tIns="0" rIns="0" bIns="0" rtlCol="0" anchor="ctr"/>
          <a:lstStyle/>
          <a:p>
            <a:pPr marL="0" indent="0">
              <a:buNone/>
            </a:pPr>
            <a:r>
              <a:rPr lang="en-US" sz="1300" b="1" dirty="0">
                <a:solidFill>
                  <a:srgbClr val="6F94DD"/>
                </a:solidFill>
                <a:latin typeface="Inter" pitchFamily="34" charset="0"/>
                <a:ea typeface="Inter" pitchFamily="34" charset="-122"/>
                <a:cs typeface="Inter" pitchFamily="34" charset="-120"/>
              </a:rPr>
              <a:t>16</a:t>
            </a:r>
            <a:endParaRPr lang="en-US" sz="1300" dirty="0"/>
          </a:p>
        </p:txBody>
      </p:sp>
      <p:sp>
        <p:nvSpPr>
          <p:cNvPr id="27" name="Text 18">
            <a:extLst>
              <a:ext uri="{FF2B5EF4-FFF2-40B4-BE49-F238E27FC236}">
                <a16:creationId xmlns:a16="http://schemas.microsoft.com/office/drawing/2014/main" id="{0BDA5683-D6E9-D2C5-8CA9-190429E63C60}"/>
              </a:ext>
            </a:extLst>
          </p:cNvPr>
          <p:cNvSpPr txBox="1"/>
          <p:nvPr/>
        </p:nvSpPr>
        <p:spPr>
          <a:xfrm>
            <a:off x="5074920" y="3008376"/>
            <a:ext cx="3108960" cy="329184"/>
          </a:xfrm>
          <a:prstGeom prst="rect">
            <a:avLst/>
          </a:prstGeom>
          <a:noFill/>
          <a:ln/>
        </p:spPr>
        <p:txBody>
          <a:bodyPr wrap="square" lIns="0" tIns="0" rIns="0" bIns="0" rtlCol="0" anchor="ctr"/>
          <a:lstStyle/>
          <a:p>
            <a:pPr marL="0" indent="0">
              <a:buNone/>
            </a:pPr>
            <a:r>
              <a:rPr lang="en-US" sz="1300" dirty="0">
                <a:solidFill>
                  <a:srgbClr val="FFFFFF"/>
                </a:solidFill>
                <a:latin typeface="Inter" pitchFamily="34" charset="0"/>
                <a:ea typeface="Inter" pitchFamily="34" charset="-122"/>
                <a:cs typeface="Inter" pitchFamily="34" charset="-120"/>
              </a:rPr>
              <a:t>Seven moments of the journey</a:t>
            </a:r>
            <a:endParaRPr lang="en-US" sz="1300" dirty="0"/>
          </a:p>
        </p:txBody>
      </p:sp>
      <p:sp>
        <p:nvSpPr>
          <p:cNvPr id="28" name="Text 19">
            <a:extLst>
              <a:ext uri="{FF2B5EF4-FFF2-40B4-BE49-F238E27FC236}">
                <a16:creationId xmlns:a16="http://schemas.microsoft.com/office/drawing/2014/main" id="{244B1484-5C09-7423-F8C3-FE18D7003588}"/>
              </a:ext>
            </a:extLst>
          </p:cNvPr>
          <p:cNvSpPr txBox="1"/>
          <p:nvPr/>
        </p:nvSpPr>
        <p:spPr>
          <a:xfrm>
            <a:off x="4572000" y="3392424"/>
            <a:ext cx="457200" cy="329184"/>
          </a:xfrm>
          <a:prstGeom prst="rect">
            <a:avLst/>
          </a:prstGeom>
          <a:noFill/>
          <a:ln/>
        </p:spPr>
        <p:txBody>
          <a:bodyPr wrap="square" lIns="0" tIns="0" rIns="0" bIns="0" rtlCol="0" anchor="ctr"/>
          <a:lstStyle/>
          <a:p>
            <a:pPr marL="0" indent="0">
              <a:buNone/>
            </a:pPr>
            <a:r>
              <a:rPr lang="en-US" sz="1300" b="1" dirty="0">
                <a:solidFill>
                  <a:srgbClr val="6F94DD"/>
                </a:solidFill>
                <a:latin typeface="Inter" pitchFamily="34" charset="0"/>
                <a:ea typeface="Inter" pitchFamily="34" charset="-122"/>
                <a:cs typeface="Inter" pitchFamily="34" charset="-120"/>
              </a:rPr>
              <a:t>17</a:t>
            </a:r>
            <a:endParaRPr lang="en-US" sz="1300" dirty="0"/>
          </a:p>
        </p:txBody>
      </p:sp>
      <p:sp>
        <p:nvSpPr>
          <p:cNvPr id="29" name="Text 20">
            <a:extLst>
              <a:ext uri="{FF2B5EF4-FFF2-40B4-BE49-F238E27FC236}">
                <a16:creationId xmlns:a16="http://schemas.microsoft.com/office/drawing/2014/main" id="{070120D2-CBDB-6F40-AE11-F8F5C871A35B}"/>
              </a:ext>
            </a:extLst>
          </p:cNvPr>
          <p:cNvSpPr txBox="1"/>
          <p:nvPr/>
        </p:nvSpPr>
        <p:spPr>
          <a:xfrm>
            <a:off x="5074920" y="3392424"/>
            <a:ext cx="3108960" cy="329184"/>
          </a:xfrm>
          <a:prstGeom prst="rect">
            <a:avLst/>
          </a:prstGeom>
          <a:noFill/>
          <a:ln/>
        </p:spPr>
        <p:txBody>
          <a:bodyPr wrap="square" lIns="0" tIns="0" rIns="0" bIns="0" rtlCol="0" anchor="ctr"/>
          <a:lstStyle/>
          <a:p>
            <a:pPr marL="0" indent="0">
              <a:buNone/>
            </a:pPr>
            <a:r>
              <a:rPr lang="en-US" sz="1300" dirty="0">
                <a:solidFill>
                  <a:srgbClr val="FFFFFF"/>
                </a:solidFill>
                <a:latin typeface="Inter" pitchFamily="34" charset="0"/>
                <a:ea typeface="Inter" pitchFamily="34" charset="-122"/>
                <a:cs typeface="Inter" pitchFamily="34" charset="-120"/>
              </a:rPr>
              <a:t>Every cart adder's path (flowchart)</a:t>
            </a:r>
            <a:endParaRPr lang="en-US" sz="1300" dirty="0"/>
          </a:p>
        </p:txBody>
      </p:sp>
      <p:sp>
        <p:nvSpPr>
          <p:cNvPr id="30" name="Text 21">
            <a:extLst>
              <a:ext uri="{FF2B5EF4-FFF2-40B4-BE49-F238E27FC236}">
                <a16:creationId xmlns:a16="http://schemas.microsoft.com/office/drawing/2014/main" id="{E9C63357-56BF-AF29-B197-E9B62DF4C4E0}"/>
              </a:ext>
            </a:extLst>
          </p:cNvPr>
          <p:cNvSpPr txBox="1"/>
          <p:nvPr/>
        </p:nvSpPr>
        <p:spPr>
          <a:xfrm>
            <a:off x="4572000" y="3776472"/>
            <a:ext cx="457200" cy="329184"/>
          </a:xfrm>
          <a:prstGeom prst="rect">
            <a:avLst/>
          </a:prstGeom>
          <a:noFill/>
          <a:ln/>
        </p:spPr>
        <p:txBody>
          <a:bodyPr wrap="square" lIns="0" tIns="0" rIns="0" bIns="0" rtlCol="0" anchor="ctr"/>
          <a:lstStyle/>
          <a:p>
            <a:pPr marL="0" indent="0">
              <a:buNone/>
            </a:pPr>
            <a:r>
              <a:rPr lang="en-US" sz="1300" b="1" dirty="0">
                <a:solidFill>
                  <a:srgbClr val="6F94DD"/>
                </a:solidFill>
                <a:latin typeface="Inter" pitchFamily="34" charset="0"/>
                <a:ea typeface="Inter" pitchFamily="34" charset="-122"/>
                <a:cs typeface="Inter" pitchFamily="34" charset="-120"/>
              </a:rPr>
              <a:t>18</a:t>
            </a:r>
            <a:endParaRPr lang="en-US" sz="1300" dirty="0"/>
          </a:p>
        </p:txBody>
      </p:sp>
      <p:sp>
        <p:nvSpPr>
          <p:cNvPr id="31" name="Text 22">
            <a:extLst>
              <a:ext uri="{FF2B5EF4-FFF2-40B4-BE49-F238E27FC236}">
                <a16:creationId xmlns:a16="http://schemas.microsoft.com/office/drawing/2014/main" id="{C9C5FD9F-B00E-BD43-D088-1D9FAB25458B}"/>
              </a:ext>
            </a:extLst>
          </p:cNvPr>
          <p:cNvSpPr txBox="1"/>
          <p:nvPr/>
        </p:nvSpPr>
        <p:spPr>
          <a:xfrm>
            <a:off x="5074920" y="3776472"/>
            <a:ext cx="3108960" cy="329184"/>
          </a:xfrm>
          <a:prstGeom prst="rect">
            <a:avLst/>
          </a:prstGeom>
          <a:noFill/>
          <a:ln/>
        </p:spPr>
        <p:txBody>
          <a:bodyPr wrap="square" lIns="0" tIns="0" rIns="0" bIns="0" rtlCol="0" anchor="ctr"/>
          <a:lstStyle/>
          <a:p>
            <a:pPr marL="0" indent="0">
              <a:buNone/>
            </a:pPr>
            <a:r>
              <a:rPr lang="en-US" sz="1300" dirty="0">
                <a:solidFill>
                  <a:srgbClr val="FFFFFF"/>
                </a:solidFill>
                <a:latin typeface="Inter" pitchFamily="34" charset="0"/>
                <a:ea typeface="Inter" pitchFamily="34" charset="-122"/>
                <a:cs typeface="Inter" pitchFamily="34" charset="-120"/>
              </a:rPr>
              <a:t>Never Pay Twice engine</a:t>
            </a:r>
            <a:endParaRPr lang="en-US" sz="1300" dirty="0"/>
          </a:p>
        </p:txBody>
      </p:sp>
      <p:sp>
        <p:nvSpPr>
          <p:cNvPr id="32" name="Text 23">
            <a:extLst>
              <a:ext uri="{FF2B5EF4-FFF2-40B4-BE49-F238E27FC236}">
                <a16:creationId xmlns:a16="http://schemas.microsoft.com/office/drawing/2014/main" id="{0691E306-0CF4-3DBB-5C8B-65AD27A02F3A}"/>
              </a:ext>
            </a:extLst>
          </p:cNvPr>
          <p:cNvSpPr txBox="1"/>
          <p:nvPr/>
        </p:nvSpPr>
        <p:spPr>
          <a:xfrm>
            <a:off x="4572000" y="4160520"/>
            <a:ext cx="457200" cy="329184"/>
          </a:xfrm>
          <a:prstGeom prst="rect">
            <a:avLst/>
          </a:prstGeom>
          <a:noFill/>
          <a:ln/>
        </p:spPr>
        <p:txBody>
          <a:bodyPr wrap="square" lIns="0" tIns="0" rIns="0" bIns="0" rtlCol="0" anchor="ctr"/>
          <a:lstStyle/>
          <a:p>
            <a:pPr marL="0" indent="0">
              <a:buNone/>
            </a:pPr>
            <a:r>
              <a:rPr lang="en-US" sz="1300" b="1" dirty="0">
                <a:solidFill>
                  <a:srgbClr val="6F94DD"/>
                </a:solidFill>
                <a:latin typeface="Inter" pitchFamily="34" charset="0"/>
                <a:ea typeface="Inter" pitchFamily="34" charset="-122"/>
                <a:cs typeface="Inter" pitchFamily="34" charset="-120"/>
              </a:rPr>
              <a:t>19</a:t>
            </a:r>
            <a:endParaRPr lang="en-US" sz="1300" dirty="0"/>
          </a:p>
        </p:txBody>
      </p:sp>
      <p:sp>
        <p:nvSpPr>
          <p:cNvPr id="33" name="Text 24">
            <a:extLst>
              <a:ext uri="{FF2B5EF4-FFF2-40B4-BE49-F238E27FC236}">
                <a16:creationId xmlns:a16="http://schemas.microsoft.com/office/drawing/2014/main" id="{1B419EBA-5E7E-8738-4041-69C5CEFF2FF3}"/>
              </a:ext>
            </a:extLst>
          </p:cNvPr>
          <p:cNvSpPr txBox="1"/>
          <p:nvPr/>
        </p:nvSpPr>
        <p:spPr>
          <a:xfrm>
            <a:off x="5074920" y="4160520"/>
            <a:ext cx="3108960" cy="329184"/>
          </a:xfrm>
          <a:prstGeom prst="rect">
            <a:avLst/>
          </a:prstGeom>
          <a:noFill/>
          <a:ln/>
        </p:spPr>
        <p:txBody>
          <a:bodyPr wrap="square" lIns="0" tIns="0" rIns="0" bIns="0" rtlCol="0" anchor="ctr"/>
          <a:lstStyle/>
          <a:p>
            <a:pPr marL="0" indent="0">
              <a:buNone/>
            </a:pPr>
            <a:r>
              <a:rPr lang="en-US" sz="1300" dirty="0">
                <a:solidFill>
                  <a:srgbClr val="FFFFFF"/>
                </a:solidFill>
                <a:latin typeface="Inter" pitchFamily="34" charset="0"/>
                <a:ea typeface="Inter" pitchFamily="34" charset="-122"/>
                <a:cs typeface="Inter" pitchFamily="34" charset="-120"/>
              </a:rPr>
              <a:t>The weekly CJA loop</a:t>
            </a:r>
            <a:endParaRPr lang="en-US" sz="1300" dirty="0"/>
          </a:p>
        </p:txBody>
      </p:sp>
      <p:sp>
        <p:nvSpPr>
          <p:cNvPr id="34" name="Text 25">
            <a:extLst>
              <a:ext uri="{FF2B5EF4-FFF2-40B4-BE49-F238E27FC236}">
                <a16:creationId xmlns:a16="http://schemas.microsoft.com/office/drawing/2014/main" id="{F5EBAB07-48C1-CB8E-C679-F1D3139A994E}"/>
              </a:ext>
            </a:extLst>
          </p:cNvPr>
          <p:cNvSpPr txBox="1"/>
          <p:nvPr/>
        </p:nvSpPr>
        <p:spPr>
          <a:xfrm>
            <a:off x="4572000" y="4544568"/>
            <a:ext cx="457200" cy="329184"/>
          </a:xfrm>
          <a:prstGeom prst="rect">
            <a:avLst/>
          </a:prstGeom>
          <a:noFill/>
          <a:ln/>
        </p:spPr>
        <p:txBody>
          <a:bodyPr wrap="square" lIns="0" tIns="0" rIns="0" bIns="0" rtlCol="0" anchor="ctr"/>
          <a:lstStyle/>
          <a:p>
            <a:pPr marL="0" indent="0">
              <a:buNone/>
            </a:pPr>
            <a:r>
              <a:rPr lang="en-US" sz="1300" b="1" dirty="0">
                <a:solidFill>
                  <a:srgbClr val="6F94DD"/>
                </a:solidFill>
                <a:latin typeface="Inter" pitchFamily="34" charset="0"/>
                <a:ea typeface="Inter" pitchFamily="34" charset="-122"/>
                <a:cs typeface="Inter" pitchFamily="34" charset="-120"/>
              </a:rPr>
              <a:t>20</a:t>
            </a:r>
            <a:endParaRPr lang="en-US" sz="1300" dirty="0"/>
          </a:p>
        </p:txBody>
      </p:sp>
      <p:sp>
        <p:nvSpPr>
          <p:cNvPr id="35" name="Text 26">
            <a:extLst>
              <a:ext uri="{FF2B5EF4-FFF2-40B4-BE49-F238E27FC236}">
                <a16:creationId xmlns:a16="http://schemas.microsoft.com/office/drawing/2014/main" id="{E79293E6-3136-0703-E511-C177D7B2B25D}"/>
              </a:ext>
            </a:extLst>
          </p:cNvPr>
          <p:cNvSpPr txBox="1"/>
          <p:nvPr/>
        </p:nvSpPr>
        <p:spPr>
          <a:xfrm>
            <a:off x="5074920" y="4544568"/>
            <a:ext cx="3108960" cy="329184"/>
          </a:xfrm>
          <a:prstGeom prst="rect">
            <a:avLst/>
          </a:prstGeom>
          <a:noFill/>
          <a:ln/>
        </p:spPr>
        <p:txBody>
          <a:bodyPr wrap="square" lIns="0" tIns="0" rIns="0" bIns="0" rtlCol="0" anchor="ctr"/>
          <a:lstStyle/>
          <a:p>
            <a:pPr marL="0" indent="0">
              <a:buNone/>
            </a:pPr>
            <a:r>
              <a:rPr lang="en-US" sz="1300" dirty="0">
                <a:solidFill>
                  <a:srgbClr val="FFFFFF"/>
                </a:solidFill>
                <a:latin typeface="Inter" pitchFamily="34" charset="0"/>
                <a:ea typeface="Inter" pitchFamily="34" charset="-122"/>
                <a:cs typeface="Inter" pitchFamily="34" charset="-120"/>
              </a:rPr>
              <a:t>Fourteen programs, explained</a:t>
            </a:r>
            <a:endParaRPr lang="en-US" sz="1300" dirty="0"/>
          </a:p>
        </p:txBody>
      </p:sp>
      <p:sp>
        <p:nvSpPr>
          <p:cNvPr id="36" name="Text 27">
            <a:extLst>
              <a:ext uri="{FF2B5EF4-FFF2-40B4-BE49-F238E27FC236}">
                <a16:creationId xmlns:a16="http://schemas.microsoft.com/office/drawing/2014/main" id="{C4088C8F-2AD5-4BF2-2A1C-E9D8E08FEF46}"/>
              </a:ext>
            </a:extLst>
          </p:cNvPr>
          <p:cNvSpPr txBox="1"/>
          <p:nvPr/>
        </p:nvSpPr>
        <p:spPr>
          <a:xfrm>
            <a:off x="8229600" y="2240280"/>
            <a:ext cx="457200" cy="329184"/>
          </a:xfrm>
          <a:prstGeom prst="rect">
            <a:avLst/>
          </a:prstGeom>
          <a:noFill/>
          <a:ln/>
        </p:spPr>
        <p:txBody>
          <a:bodyPr wrap="square" lIns="0" tIns="0" rIns="0" bIns="0" rtlCol="0" anchor="ctr"/>
          <a:lstStyle/>
          <a:p>
            <a:pPr marL="0" indent="0">
              <a:buNone/>
            </a:pPr>
            <a:r>
              <a:rPr lang="en-US" sz="1300" b="1" dirty="0">
                <a:solidFill>
                  <a:srgbClr val="6F94DD"/>
                </a:solidFill>
                <a:latin typeface="Inter" pitchFamily="34" charset="0"/>
                <a:ea typeface="Inter" pitchFamily="34" charset="-122"/>
                <a:cs typeface="Inter" pitchFamily="34" charset="-120"/>
              </a:rPr>
              <a:t>21</a:t>
            </a:r>
            <a:endParaRPr lang="en-US" sz="1300" dirty="0"/>
          </a:p>
        </p:txBody>
      </p:sp>
      <p:sp>
        <p:nvSpPr>
          <p:cNvPr id="37" name="Text 28">
            <a:extLst>
              <a:ext uri="{FF2B5EF4-FFF2-40B4-BE49-F238E27FC236}">
                <a16:creationId xmlns:a16="http://schemas.microsoft.com/office/drawing/2014/main" id="{EA58C72B-94D2-02B2-6CE3-A16A49B235D9}"/>
              </a:ext>
            </a:extLst>
          </p:cNvPr>
          <p:cNvSpPr txBox="1"/>
          <p:nvPr/>
        </p:nvSpPr>
        <p:spPr>
          <a:xfrm>
            <a:off x="8732520" y="2240280"/>
            <a:ext cx="3108960" cy="329184"/>
          </a:xfrm>
          <a:prstGeom prst="rect">
            <a:avLst/>
          </a:prstGeom>
          <a:noFill/>
          <a:ln/>
        </p:spPr>
        <p:txBody>
          <a:bodyPr wrap="square" lIns="0" tIns="0" rIns="0" bIns="0" rtlCol="0" anchor="ctr"/>
          <a:lstStyle/>
          <a:p>
            <a:pPr marL="0" indent="0">
              <a:buNone/>
            </a:pPr>
            <a:r>
              <a:rPr lang="en-US" sz="1300" dirty="0">
                <a:solidFill>
                  <a:srgbClr val="FFFFFF"/>
                </a:solidFill>
                <a:latin typeface="Inter" pitchFamily="34" charset="0"/>
                <a:ea typeface="Inter" pitchFamily="34" charset="-122"/>
                <a:cs typeface="Inter" pitchFamily="34" charset="-120"/>
              </a:rPr>
              <a:t>How the $120M moves, line by line</a:t>
            </a:r>
            <a:endParaRPr lang="en-US" sz="1300" dirty="0"/>
          </a:p>
        </p:txBody>
      </p:sp>
      <p:sp>
        <p:nvSpPr>
          <p:cNvPr id="38" name="Text 29">
            <a:extLst>
              <a:ext uri="{FF2B5EF4-FFF2-40B4-BE49-F238E27FC236}">
                <a16:creationId xmlns:a16="http://schemas.microsoft.com/office/drawing/2014/main" id="{EB6B3313-2ECB-2016-FD4D-9260D40844EE}"/>
              </a:ext>
            </a:extLst>
          </p:cNvPr>
          <p:cNvSpPr txBox="1"/>
          <p:nvPr/>
        </p:nvSpPr>
        <p:spPr>
          <a:xfrm>
            <a:off x="8229600" y="2624328"/>
            <a:ext cx="457200" cy="329184"/>
          </a:xfrm>
          <a:prstGeom prst="rect">
            <a:avLst/>
          </a:prstGeom>
          <a:noFill/>
          <a:ln/>
        </p:spPr>
        <p:txBody>
          <a:bodyPr wrap="square" lIns="0" tIns="0" rIns="0" bIns="0" rtlCol="0" anchor="ctr"/>
          <a:lstStyle/>
          <a:p>
            <a:pPr marL="0" indent="0">
              <a:buNone/>
            </a:pPr>
            <a:r>
              <a:rPr lang="en-US" sz="1300" b="1" dirty="0">
                <a:solidFill>
                  <a:srgbClr val="6F94DD"/>
                </a:solidFill>
                <a:latin typeface="Inter" pitchFamily="34" charset="0"/>
                <a:ea typeface="Inter" pitchFamily="34" charset="-122"/>
                <a:cs typeface="Inter" pitchFamily="34" charset="-120"/>
              </a:rPr>
              <a:t>22</a:t>
            </a:r>
            <a:endParaRPr lang="en-US" sz="1300" dirty="0"/>
          </a:p>
        </p:txBody>
      </p:sp>
      <p:sp>
        <p:nvSpPr>
          <p:cNvPr id="39" name="Text 30">
            <a:extLst>
              <a:ext uri="{FF2B5EF4-FFF2-40B4-BE49-F238E27FC236}">
                <a16:creationId xmlns:a16="http://schemas.microsoft.com/office/drawing/2014/main" id="{E45DCD3A-6A0E-829B-5B8A-C27C48E5B88F}"/>
              </a:ext>
            </a:extLst>
          </p:cNvPr>
          <p:cNvSpPr txBox="1"/>
          <p:nvPr/>
        </p:nvSpPr>
        <p:spPr>
          <a:xfrm>
            <a:off x="8732520" y="2624328"/>
            <a:ext cx="3108960" cy="329184"/>
          </a:xfrm>
          <a:prstGeom prst="rect">
            <a:avLst/>
          </a:prstGeom>
          <a:noFill/>
          <a:ln/>
        </p:spPr>
        <p:txBody>
          <a:bodyPr wrap="square" lIns="0" tIns="0" rIns="0" bIns="0" rtlCol="0" anchor="ctr"/>
          <a:lstStyle/>
          <a:p>
            <a:pPr marL="0" indent="0">
              <a:buNone/>
            </a:pPr>
            <a:r>
              <a:rPr lang="en-US" sz="1300" dirty="0">
                <a:solidFill>
                  <a:srgbClr val="FFFFFF"/>
                </a:solidFill>
                <a:latin typeface="Inter" pitchFamily="34" charset="0"/>
                <a:ea typeface="Inter" pitchFamily="34" charset="-122"/>
                <a:cs typeface="Inter" pitchFamily="34" charset="-120"/>
              </a:rPr>
              <a:t>Path to ~31% repeat</a:t>
            </a:r>
            <a:endParaRPr lang="en-US" sz="1300" dirty="0"/>
          </a:p>
        </p:txBody>
      </p:sp>
      <p:sp>
        <p:nvSpPr>
          <p:cNvPr id="40" name="Text 31">
            <a:extLst>
              <a:ext uri="{FF2B5EF4-FFF2-40B4-BE49-F238E27FC236}">
                <a16:creationId xmlns:a16="http://schemas.microsoft.com/office/drawing/2014/main" id="{8F583066-D0A7-F746-406D-384DBD235CAE}"/>
              </a:ext>
            </a:extLst>
          </p:cNvPr>
          <p:cNvSpPr txBox="1"/>
          <p:nvPr/>
        </p:nvSpPr>
        <p:spPr>
          <a:xfrm>
            <a:off x="8229600" y="3008376"/>
            <a:ext cx="457200" cy="329184"/>
          </a:xfrm>
          <a:prstGeom prst="rect">
            <a:avLst/>
          </a:prstGeom>
          <a:noFill/>
          <a:ln/>
        </p:spPr>
        <p:txBody>
          <a:bodyPr wrap="square" lIns="0" tIns="0" rIns="0" bIns="0" rtlCol="0" anchor="ctr"/>
          <a:lstStyle/>
          <a:p>
            <a:pPr marL="0" indent="0">
              <a:buNone/>
            </a:pPr>
            <a:r>
              <a:rPr lang="en-US" sz="1300" b="1" dirty="0">
                <a:solidFill>
                  <a:srgbClr val="6F94DD"/>
                </a:solidFill>
                <a:latin typeface="Inter" pitchFamily="34" charset="0"/>
                <a:ea typeface="Inter" pitchFamily="34" charset="-122"/>
                <a:cs typeface="Inter" pitchFamily="34" charset="-120"/>
              </a:rPr>
              <a:t>23</a:t>
            </a:r>
            <a:endParaRPr lang="en-US" sz="1300" dirty="0"/>
          </a:p>
        </p:txBody>
      </p:sp>
      <p:sp>
        <p:nvSpPr>
          <p:cNvPr id="41" name="Text 32">
            <a:extLst>
              <a:ext uri="{FF2B5EF4-FFF2-40B4-BE49-F238E27FC236}">
                <a16:creationId xmlns:a16="http://schemas.microsoft.com/office/drawing/2014/main" id="{DF4160FC-C429-5236-9A10-B37854988B3B}"/>
              </a:ext>
            </a:extLst>
          </p:cNvPr>
          <p:cNvSpPr txBox="1"/>
          <p:nvPr/>
        </p:nvSpPr>
        <p:spPr>
          <a:xfrm>
            <a:off x="8732520" y="3008376"/>
            <a:ext cx="3108960" cy="329184"/>
          </a:xfrm>
          <a:prstGeom prst="rect">
            <a:avLst/>
          </a:prstGeom>
          <a:noFill/>
          <a:ln/>
        </p:spPr>
        <p:txBody>
          <a:bodyPr wrap="square" lIns="0" tIns="0" rIns="0" bIns="0" rtlCol="0" anchor="ctr"/>
          <a:lstStyle/>
          <a:p>
            <a:pPr marL="0" indent="0">
              <a:buNone/>
            </a:pPr>
            <a:r>
              <a:rPr lang="en-US" sz="1300" dirty="0">
                <a:solidFill>
                  <a:srgbClr val="FFFFFF"/>
                </a:solidFill>
                <a:latin typeface="Inter" pitchFamily="34" charset="0"/>
                <a:ea typeface="Inter" pitchFamily="34" charset="-122"/>
                <a:cs typeface="Inter" pitchFamily="34" charset="-120"/>
              </a:rPr>
              <a:t>Attribution IQ insight</a:t>
            </a:r>
            <a:endParaRPr lang="en-US" sz="1300" dirty="0"/>
          </a:p>
        </p:txBody>
      </p:sp>
      <p:sp>
        <p:nvSpPr>
          <p:cNvPr id="42" name="Text 33">
            <a:extLst>
              <a:ext uri="{FF2B5EF4-FFF2-40B4-BE49-F238E27FC236}">
                <a16:creationId xmlns:a16="http://schemas.microsoft.com/office/drawing/2014/main" id="{16AB9C0B-2EA6-9A0A-FA0D-3E53360697C4}"/>
              </a:ext>
            </a:extLst>
          </p:cNvPr>
          <p:cNvSpPr txBox="1"/>
          <p:nvPr/>
        </p:nvSpPr>
        <p:spPr>
          <a:xfrm>
            <a:off x="8229600" y="3392424"/>
            <a:ext cx="457200" cy="329184"/>
          </a:xfrm>
          <a:prstGeom prst="rect">
            <a:avLst/>
          </a:prstGeom>
          <a:noFill/>
          <a:ln/>
        </p:spPr>
        <p:txBody>
          <a:bodyPr wrap="square" lIns="0" tIns="0" rIns="0" bIns="0" rtlCol="0" anchor="ctr"/>
          <a:lstStyle/>
          <a:p>
            <a:pPr marL="0" indent="0">
              <a:buNone/>
            </a:pPr>
            <a:r>
              <a:rPr lang="en-US" sz="1300" b="1" dirty="0">
                <a:solidFill>
                  <a:srgbClr val="6F94DD"/>
                </a:solidFill>
                <a:latin typeface="Inter" pitchFamily="34" charset="0"/>
                <a:ea typeface="Inter" pitchFamily="34" charset="-122"/>
                <a:cs typeface="Inter" pitchFamily="34" charset="-120"/>
              </a:rPr>
              <a:t>24</a:t>
            </a:r>
            <a:endParaRPr lang="en-US" sz="1300" dirty="0"/>
          </a:p>
        </p:txBody>
      </p:sp>
      <p:sp>
        <p:nvSpPr>
          <p:cNvPr id="43" name="Text 34">
            <a:extLst>
              <a:ext uri="{FF2B5EF4-FFF2-40B4-BE49-F238E27FC236}">
                <a16:creationId xmlns:a16="http://schemas.microsoft.com/office/drawing/2014/main" id="{35B14769-FC29-C535-665D-CFE16C7F7A74}"/>
              </a:ext>
            </a:extLst>
          </p:cNvPr>
          <p:cNvSpPr txBox="1"/>
          <p:nvPr/>
        </p:nvSpPr>
        <p:spPr>
          <a:xfrm>
            <a:off x="8732520" y="3392424"/>
            <a:ext cx="3108960" cy="329184"/>
          </a:xfrm>
          <a:prstGeom prst="rect">
            <a:avLst/>
          </a:prstGeom>
          <a:noFill/>
          <a:ln/>
        </p:spPr>
        <p:txBody>
          <a:bodyPr wrap="square" lIns="0" tIns="0" rIns="0" bIns="0" rtlCol="0" anchor="ctr"/>
          <a:lstStyle/>
          <a:p>
            <a:pPr marL="0" indent="0">
              <a:buNone/>
            </a:pPr>
            <a:r>
              <a:rPr lang="en-US" sz="1300" dirty="0">
                <a:solidFill>
                  <a:srgbClr val="FFFFFF"/>
                </a:solidFill>
                <a:latin typeface="Inter" pitchFamily="34" charset="0"/>
                <a:ea typeface="Inter" pitchFamily="34" charset="-122"/>
                <a:cs typeface="Inter" pitchFamily="34" charset="-120"/>
              </a:rPr>
              <a:t>Material Journeys build plan</a:t>
            </a:r>
            <a:endParaRPr lang="en-US" sz="1300" dirty="0"/>
          </a:p>
        </p:txBody>
      </p:sp>
      <p:sp>
        <p:nvSpPr>
          <p:cNvPr id="44" name="Text 35">
            <a:extLst>
              <a:ext uri="{FF2B5EF4-FFF2-40B4-BE49-F238E27FC236}">
                <a16:creationId xmlns:a16="http://schemas.microsoft.com/office/drawing/2014/main" id="{124FC515-74C8-534B-431E-D0C6FFCA977D}"/>
              </a:ext>
            </a:extLst>
          </p:cNvPr>
          <p:cNvSpPr txBox="1"/>
          <p:nvPr/>
        </p:nvSpPr>
        <p:spPr>
          <a:xfrm>
            <a:off x="8229600" y="3776472"/>
            <a:ext cx="457200" cy="329184"/>
          </a:xfrm>
          <a:prstGeom prst="rect">
            <a:avLst/>
          </a:prstGeom>
          <a:noFill/>
          <a:ln/>
        </p:spPr>
        <p:txBody>
          <a:bodyPr wrap="square" lIns="0" tIns="0" rIns="0" bIns="0" rtlCol="0" anchor="ctr"/>
          <a:lstStyle/>
          <a:p>
            <a:pPr marL="0" indent="0">
              <a:buNone/>
            </a:pPr>
            <a:r>
              <a:rPr lang="en-US" sz="1300" b="1" dirty="0">
                <a:solidFill>
                  <a:srgbClr val="6F94DD"/>
                </a:solidFill>
                <a:latin typeface="Inter" pitchFamily="34" charset="0"/>
                <a:ea typeface="Inter" pitchFamily="34" charset="-122"/>
                <a:cs typeface="Inter" pitchFamily="34" charset="-120"/>
              </a:rPr>
              <a:t>25</a:t>
            </a:r>
            <a:endParaRPr lang="en-US" sz="1300" dirty="0"/>
          </a:p>
        </p:txBody>
      </p:sp>
      <p:sp>
        <p:nvSpPr>
          <p:cNvPr id="45" name="Text 36">
            <a:extLst>
              <a:ext uri="{FF2B5EF4-FFF2-40B4-BE49-F238E27FC236}">
                <a16:creationId xmlns:a16="http://schemas.microsoft.com/office/drawing/2014/main" id="{1E6C0010-F355-51C3-95E2-BFDA58704CF3}"/>
              </a:ext>
            </a:extLst>
          </p:cNvPr>
          <p:cNvSpPr txBox="1"/>
          <p:nvPr/>
        </p:nvSpPr>
        <p:spPr>
          <a:xfrm>
            <a:off x="8732520" y="3776472"/>
            <a:ext cx="3108960" cy="329184"/>
          </a:xfrm>
          <a:prstGeom prst="rect">
            <a:avLst/>
          </a:prstGeom>
          <a:noFill/>
          <a:ln/>
        </p:spPr>
        <p:txBody>
          <a:bodyPr wrap="square" lIns="0" tIns="0" rIns="0" bIns="0" rtlCol="0" anchor="ctr"/>
          <a:lstStyle/>
          <a:p>
            <a:pPr marL="0" indent="0">
              <a:buNone/>
            </a:pPr>
            <a:r>
              <a:rPr lang="en-US" sz="1300" dirty="0">
                <a:solidFill>
                  <a:srgbClr val="FFFFFF"/>
                </a:solidFill>
                <a:latin typeface="Inter" pitchFamily="34" charset="0"/>
                <a:ea typeface="Inter" pitchFamily="34" charset="-122"/>
                <a:cs typeface="Inter" pitchFamily="34" charset="-120"/>
              </a:rPr>
              <a:t>Risks</a:t>
            </a:r>
            <a:endParaRPr lang="en-US" sz="1300" dirty="0"/>
          </a:p>
        </p:txBody>
      </p:sp>
      <p:sp>
        <p:nvSpPr>
          <p:cNvPr id="46" name="Text 37">
            <a:extLst>
              <a:ext uri="{FF2B5EF4-FFF2-40B4-BE49-F238E27FC236}">
                <a16:creationId xmlns:a16="http://schemas.microsoft.com/office/drawing/2014/main" id="{F5F89870-4225-0C7B-72F3-262DFD6FB48B}"/>
              </a:ext>
            </a:extLst>
          </p:cNvPr>
          <p:cNvSpPr txBox="1"/>
          <p:nvPr/>
        </p:nvSpPr>
        <p:spPr>
          <a:xfrm>
            <a:off x="8229600" y="4160520"/>
            <a:ext cx="457200" cy="329184"/>
          </a:xfrm>
          <a:prstGeom prst="rect">
            <a:avLst/>
          </a:prstGeom>
          <a:noFill/>
          <a:ln/>
        </p:spPr>
        <p:txBody>
          <a:bodyPr wrap="square" lIns="0" tIns="0" rIns="0" bIns="0" rtlCol="0" anchor="ctr"/>
          <a:lstStyle/>
          <a:p>
            <a:pPr marL="0" indent="0">
              <a:buNone/>
            </a:pPr>
            <a:r>
              <a:rPr lang="en-US" sz="1300" b="1" dirty="0">
                <a:solidFill>
                  <a:srgbClr val="6F94DD"/>
                </a:solidFill>
                <a:latin typeface="Inter" pitchFamily="34" charset="0"/>
                <a:ea typeface="Inter" pitchFamily="34" charset="-122"/>
                <a:cs typeface="Inter" pitchFamily="34" charset="-120"/>
              </a:rPr>
              <a:t>26</a:t>
            </a:r>
            <a:endParaRPr lang="en-US" sz="1300" dirty="0"/>
          </a:p>
        </p:txBody>
      </p:sp>
      <p:sp>
        <p:nvSpPr>
          <p:cNvPr id="47" name="Text 38">
            <a:extLst>
              <a:ext uri="{FF2B5EF4-FFF2-40B4-BE49-F238E27FC236}">
                <a16:creationId xmlns:a16="http://schemas.microsoft.com/office/drawing/2014/main" id="{BB86CB67-8A26-FFF5-7AE9-5BD624CB2990}"/>
              </a:ext>
            </a:extLst>
          </p:cNvPr>
          <p:cNvSpPr txBox="1"/>
          <p:nvPr/>
        </p:nvSpPr>
        <p:spPr>
          <a:xfrm>
            <a:off x="8732520" y="4160520"/>
            <a:ext cx="3108960" cy="329184"/>
          </a:xfrm>
          <a:prstGeom prst="rect">
            <a:avLst/>
          </a:prstGeom>
          <a:noFill/>
          <a:ln/>
        </p:spPr>
        <p:txBody>
          <a:bodyPr wrap="square" lIns="0" tIns="0" rIns="0" bIns="0" rtlCol="0" anchor="ctr"/>
          <a:lstStyle/>
          <a:p>
            <a:pPr marL="0" indent="0">
              <a:buNone/>
            </a:pPr>
            <a:r>
              <a:rPr lang="en-US" sz="1300" dirty="0">
                <a:solidFill>
                  <a:srgbClr val="FFFFFF"/>
                </a:solidFill>
                <a:latin typeface="Inter" pitchFamily="34" charset="0"/>
                <a:ea typeface="Inter" pitchFamily="34" charset="-122"/>
                <a:cs typeface="Inter" pitchFamily="34" charset="-120"/>
              </a:rPr>
              <a:t>Every number and its source</a:t>
            </a:r>
            <a:endParaRPr lang="en-US" sz="1300" dirty="0"/>
          </a:p>
        </p:txBody>
      </p:sp>
      <p:sp>
        <p:nvSpPr>
          <p:cNvPr id="48" name="Text 39">
            <a:extLst>
              <a:ext uri="{FF2B5EF4-FFF2-40B4-BE49-F238E27FC236}">
                <a16:creationId xmlns:a16="http://schemas.microsoft.com/office/drawing/2014/main" id="{F18BF502-835E-8848-1DF0-89325CF631F8}"/>
              </a:ext>
            </a:extLst>
          </p:cNvPr>
          <p:cNvSpPr txBox="1"/>
          <p:nvPr/>
        </p:nvSpPr>
        <p:spPr>
          <a:xfrm>
            <a:off x="8229600" y="4544568"/>
            <a:ext cx="457200" cy="329184"/>
          </a:xfrm>
          <a:prstGeom prst="rect">
            <a:avLst/>
          </a:prstGeom>
          <a:noFill/>
          <a:ln/>
        </p:spPr>
        <p:txBody>
          <a:bodyPr wrap="square" lIns="0" tIns="0" rIns="0" bIns="0" rtlCol="0" anchor="ctr"/>
          <a:lstStyle/>
          <a:p>
            <a:pPr marL="0" indent="0">
              <a:buNone/>
            </a:pPr>
            <a:r>
              <a:rPr lang="en-US" sz="1300" b="1" dirty="0">
                <a:solidFill>
                  <a:srgbClr val="6F94DD"/>
                </a:solidFill>
                <a:latin typeface="Inter" pitchFamily="34" charset="0"/>
                <a:ea typeface="Inter" pitchFamily="34" charset="-122"/>
                <a:cs typeface="Inter" pitchFamily="34" charset="-120"/>
              </a:rPr>
              <a:t>27</a:t>
            </a:r>
            <a:endParaRPr lang="en-US" sz="1300" dirty="0"/>
          </a:p>
        </p:txBody>
      </p:sp>
      <p:sp>
        <p:nvSpPr>
          <p:cNvPr id="49" name="Text 40">
            <a:extLst>
              <a:ext uri="{FF2B5EF4-FFF2-40B4-BE49-F238E27FC236}">
                <a16:creationId xmlns:a16="http://schemas.microsoft.com/office/drawing/2014/main" id="{D454137D-456A-A01E-734E-E2D84A94F091}"/>
              </a:ext>
            </a:extLst>
          </p:cNvPr>
          <p:cNvSpPr txBox="1"/>
          <p:nvPr/>
        </p:nvSpPr>
        <p:spPr>
          <a:xfrm>
            <a:off x="8732520" y="4544568"/>
            <a:ext cx="3108960" cy="329184"/>
          </a:xfrm>
          <a:prstGeom prst="rect">
            <a:avLst/>
          </a:prstGeom>
          <a:noFill/>
          <a:ln/>
        </p:spPr>
        <p:txBody>
          <a:bodyPr wrap="square" lIns="0" tIns="0" rIns="0" bIns="0" rtlCol="0" anchor="ctr"/>
          <a:lstStyle/>
          <a:p>
            <a:pPr marL="0" indent="0">
              <a:buNone/>
            </a:pPr>
            <a:r>
              <a:rPr lang="en-US" sz="1300" dirty="0">
                <a:solidFill>
                  <a:srgbClr val="FFFFFF"/>
                </a:solidFill>
                <a:latin typeface="Inter" pitchFamily="34" charset="0"/>
                <a:ea typeface="Inter" pitchFamily="34" charset="-122"/>
                <a:cs typeface="Inter" pitchFamily="34" charset="-120"/>
              </a:rPr>
              <a:t>Sources</a:t>
            </a:r>
            <a:endParaRPr lang="en-US" sz="1300" dirty="0"/>
          </a:p>
        </p:txBody>
      </p:sp>
      <p:sp>
        <p:nvSpPr>
          <p:cNvPr id="50" name="Text 41">
            <a:extLst>
              <a:ext uri="{FF2B5EF4-FFF2-40B4-BE49-F238E27FC236}">
                <a16:creationId xmlns:a16="http://schemas.microsoft.com/office/drawing/2014/main" id="{9B0E5F4A-31F9-FBE9-A218-88C45916FF67}"/>
              </a:ext>
            </a:extLst>
          </p:cNvPr>
          <p:cNvSpPr txBox="1"/>
          <p:nvPr/>
        </p:nvSpPr>
        <p:spPr>
          <a:xfrm>
            <a:off x="9966960" y="6464808"/>
            <a:ext cx="1719072" cy="256032"/>
          </a:xfrm>
          <a:prstGeom prst="rect">
            <a:avLst/>
          </a:prstGeom>
          <a:noFill/>
          <a:ln/>
        </p:spPr>
        <p:txBody>
          <a:bodyPr wrap="square" lIns="0" tIns="0" rIns="0" bIns="0" rtlCol="0" anchor="ctr"/>
          <a:lstStyle/>
          <a:p>
            <a:pPr marL="0" indent="0" algn="r">
              <a:buNone/>
            </a:pPr>
            <a:r>
              <a:rPr lang="en-US" sz="800" dirty="0">
                <a:solidFill>
                  <a:srgbClr val="AFC4EE"/>
                </a:solidFill>
                <a:latin typeface="Inter" pitchFamily="34" charset="0"/>
                <a:ea typeface="Inter" pitchFamily="34" charset="-122"/>
                <a:cs typeface="Inter" pitchFamily="34" charset="-120"/>
              </a:rPr>
              <a:t>Team G27  ·  8</a:t>
            </a:r>
            <a:endParaRPr lang="en-US" sz="800" dirty="0"/>
          </a:p>
        </p:txBody>
      </p:sp>
      <p:pic>
        <p:nvPicPr>
          <p:cNvPr id="51" name="Image 0" descr="/tmp/claude-0/-home-user-Quince/7efe80ae-a049-50c2-9886-98bf7ca3a04a/scratchpad/assets/quince_white.png">
            <a:extLst>
              <a:ext uri="{FF2B5EF4-FFF2-40B4-BE49-F238E27FC236}">
                <a16:creationId xmlns:a16="http://schemas.microsoft.com/office/drawing/2014/main" id="{80CC76D3-D3EC-A8CD-153B-91B91AB0531A}"/>
              </a:ext>
            </a:extLst>
          </p:cNvPr>
          <p:cNvPicPr>
            <a:picLocks noChangeAspect="1"/>
          </p:cNvPicPr>
          <p:nvPr/>
        </p:nvPicPr>
        <p:blipFill>
          <a:blip r:embed="rId4"/>
          <a:stretch>
            <a:fillRect/>
          </a:stretch>
        </p:blipFill>
        <p:spPr>
          <a:xfrm>
            <a:off x="10497312" y="471849"/>
            <a:ext cx="1188720" cy="354749"/>
          </a:xfrm>
          <a:prstGeom prst="rect">
            <a:avLst/>
          </a:prstGeom>
        </p:spPr>
      </p:pic>
    </p:spTree>
    <p:extLst>
      <p:ext uri="{BB962C8B-B14F-4D97-AF65-F5344CB8AC3E}">
        <p14:creationId xmlns:p14="http://schemas.microsoft.com/office/powerpoint/2010/main" val="6389297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9326880" cy="841248"/>
          </a:xfrm>
          <a:prstGeom prst="rect">
            <a:avLst/>
          </a:prstGeom>
          <a:noFill/>
          <a:ln/>
        </p:spPr>
        <p:txBody>
          <a:bodyPr wrap="square" lIns="0" tIns="0" rIns="0" bIns="0" rtlCol="0" anchor="ctr"/>
          <a:lstStyle/>
          <a:p>
            <a:pPr marL="0" indent="0">
              <a:buNone/>
            </a:pPr>
            <a:r>
              <a:rPr lang="en-US" sz="2400" b="1" dirty="0">
                <a:solidFill>
                  <a:srgbClr val="0A1F44"/>
                </a:solidFill>
                <a:latin typeface="Inter" pitchFamily="34" charset="0"/>
                <a:ea typeface="Inter" pitchFamily="34" charset="-122"/>
                <a:cs typeface="Inter" pitchFamily="34" charset="-120"/>
              </a:rPr>
              <a:t>77% of cart adders never order</a:t>
            </a:r>
            <a:endParaRPr lang="en-US" sz="2400" dirty="0"/>
          </a:p>
        </p:txBody>
      </p:sp>
      <p:pic>
        <p:nvPicPr>
          <p:cNvPr id="3" name="Image 0" descr="/tmp/claude-0/-home-user-Quince/7efe80ae-a049-50c2-9886-98bf7ca3a04a/scratchpad/assets/quince.png"/>
          <p:cNvPicPr>
            <a:picLocks noChangeAspect="1"/>
          </p:cNvPicPr>
          <p:nvPr/>
        </p:nvPicPr>
        <p:blipFill>
          <a:blip r:embed="rId3"/>
          <a:stretch>
            <a:fillRect/>
          </a:stretch>
        </p:blipFill>
        <p:spPr>
          <a:xfrm>
            <a:off x="10236708" y="615544"/>
            <a:ext cx="777240" cy="231951"/>
          </a:xfrm>
          <a:prstGeom prst="rect">
            <a:avLst/>
          </a:prstGeom>
        </p:spPr>
      </p:pic>
      <p:sp>
        <p:nvSpPr>
          <p:cNvPr id="4" name="Shape 1"/>
          <p:cNvSpPr/>
          <p:nvPr/>
        </p:nvSpPr>
        <p:spPr>
          <a:xfrm>
            <a:off x="11155680" y="603504"/>
            <a:ext cx="530352" cy="256032"/>
          </a:xfrm>
          <a:prstGeom prst="roundRect">
            <a:avLst>
              <a:gd name="adj" fmla="val 50000"/>
            </a:avLst>
          </a:prstGeom>
          <a:solidFill>
            <a:srgbClr val="0A1F44"/>
          </a:solidFill>
          <a:ln w="6350">
            <a:solidFill>
              <a:srgbClr val="0A1F44"/>
            </a:solidFill>
            <a:prstDash val="solid"/>
          </a:ln>
        </p:spPr>
        <p:txBody>
          <a:bodyPr/>
          <a:lstStyle/>
          <a:p>
            <a:endParaRPr lang="en-US"/>
          </a:p>
        </p:txBody>
      </p:sp>
      <p:sp>
        <p:nvSpPr>
          <p:cNvPr id="5" name="Text 2"/>
          <p:cNvSpPr txBox="1"/>
          <p:nvPr/>
        </p:nvSpPr>
        <p:spPr>
          <a:xfrm>
            <a:off x="11155680" y="603504"/>
            <a:ext cx="53035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G27</a:t>
            </a:r>
            <a:endParaRPr lang="en-US" sz="950" dirty="0"/>
          </a:p>
        </p:txBody>
      </p:sp>
      <p:sp>
        <p:nvSpPr>
          <p:cNvPr id="6" name="Shape 3"/>
          <p:cNvSpPr/>
          <p:nvPr/>
        </p:nvSpPr>
        <p:spPr>
          <a:xfrm>
            <a:off x="502920" y="6400800"/>
            <a:ext cx="11183112" cy="0"/>
          </a:xfrm>
          <a:prstGeom prst="line">
            <a:avLst/>
          </a:prstGeom>
          <a:noFill/>
          <a:ln w="9525">
            <a:solidFill>
              <a:srgbClr val="E2E8F0"/>
            </a:solidFill>
            <a:prstDash val="solid"/>
          </a:ln>
        </p:spPr>
        <p:txBody>
          <a:bodyPr/>
          <a:lstStyle/>
          <a:p>
            <a:endParaRPr lang="en-US"/>
          </a:p>
        </p:txBody>
      </p:sp>
      <p:sp>
        <p:nvSpPr>
          <p:cNvPr id="7" name="Text 4"/>
          <p:cNvSpPr txBox="1"/>
          <p:nvPr/>
        </p:nvSpPr>
        <p:spPr>
          <a:xfrm>
            <a:off x="502920" y="6464808"/>
            <a:ext cx="9418320" cy="256032"/>
          </a:xfrm>
          <a:prstGeom prst="rect">
            <a:avLst/>
          </a:prstGeom>
          <a:noFill/>
          <a:ln/>
        </p:spPr>
        <p:txBody>
          <a:bodyPr wrap="square" lIns="0" tIns="0" rIns="0" bIns="0" rtlCol="0" anchor="ctr"/>
          <a:lstStyle/>
          <a:p>
            <a:pPr marL="0" indent="0">
              <a:buNone/>
            </a:pPr>
            <a:r>
              <a:rPr lang="en-US" sz="800" dirty="0">
                <a:solidFill>
                  <a:srgbClr val="64748B"/>
                </a:solidFill>
                <a:latin typeface="Inter" pitchFamily="34" charset="0"/>
                <a:ea typeface="Inter" pitchFamily="34" charset="-122"/>
                <a:cs typeface="Inter" pitchFamily="34" charset="-120"/>
              </a:rPr>
              <a:t>Source: Adobe CJA, Fallout, Quince Case Data View, 1 Jan–30 Apr 2026, 60,000 people. 69% of product viewers never add to cart.</a:t>
            </a:r>
            <a:endParaRPr lang="en-US" sz="800" dirty="0"/>
          </a:p>
        </p:txBody>
      </p:sp>
      <p:sp>
        <p:nvSpPr>
          <p:cNvPr id="8" name="Text 5"/>
          <p:cNvSpPr txBox="1"/>
          <p:nvPr/>
        </p:nvSpPr>
        <p:spPr>
          <a:xfrm>
            <a:off x="9966960" y="6464808"/>
            <a:ext cx="1719072" cy="256032"/>
          </a:xfrm>
          <a:prstGeom prst="rect">
            <a:avLst/>
          </a:prstGeom>
          <a:noFill/>
          <a:ln/>
        </p:spPr>
        <p:txBody>
          <a:bodyPr wrap="square" lIns="0" tIns="0" rIns="0" bIns="0" rtlCol="0" anchor="ctr"/>
          <a:lstStyle/>
          <a:p>
            <a:pPr marL="0" indent="0" algn="r">
              <a:buNone/>
            </a:pPr>
            <a:r>
              <a:rPr lang="en-US" sz="800" dirty="0">
                <a:solidFill>
                  <a:srgbClr val="64748B"/>
                </a:solidFill>
                <a:latin typeface="Inter" pitchFamily="34" charset="0"/>
                <a:ea typeface="Inter" pitchFamily="34" charset="-122"/>
                <a:cs typeface="Inter" pitchFamily="34" charset="-120"/>
              </a:rPr>
              <a:t>Team G27  ·  9</a:t>
            </a:r>
            <a:endParaRPr lang="en-US" sz="800" dirty="0"/>
          </a:p>
        </p:txBody>
      </p:sp>
      <p:sp>
        <p:nvSpPr>
          <p:cNvPr id="9" name="Shape 6"/>
          <p:cNvSpPr/>
          <p:nvPr/>
        </p:nvSpPr>
        <p:spPr>
          <a:xfrm>
            <a:off x="2724150" y="1152144"/>
            <a:ext cx="6740652" cy="4325112"/>
          </a:xfrm>
          <a:prstGeom prst="rect">
            <a:avLst/>
          </a:prstGeom>
          <a:solidFill>
            <a:srgbClr val="E2E8F0"/>
          </a:solidFill>
          <a:ln w="6350">
            <a:solidFill>
              <a:srgbClr val="E2E8F0"/>
            </a:solidFill>
            <a:prstDash val="solid"/>
          </a:ln>
        </p:spPr>
        <p:txBody>
          <a:bodyPr/>
          <a:lstStyle/>
          <a:p>
            <a:endParaRPr lang="en-US"/>
          </a:p>
        </p:txBody>
      </p:sp>
      <p:pic>
        <p:nvPicPr>
          <p:cNvPr id="10" name="Image 1" descr="/tmp/claude-0/-home-user-Quince/7efe80ae-a049-50c2-9886-98bf7ca3a04a/scratchpad/assets/cja_fallout.png"/>
          <p:cNvPicPr>
            <a:picLocks noChangeAspect="1"/>
          </p:cNvPicPr>
          <p:nvPr/>
        </p:nvPicPr>
        <p:blipFill>
          <a:blip r:embed="rId4"/>
          <a:stretch>
            <a:fillRect/>
          </a:stretch>
        </p:blipFill>
        <p:spPr>
          <a:xfrm>
            <a:off x="2760726" y="1188720"/>
            <a:ext cx="6667500" cy="4251960"/>
          </a:xfrm>
          <a:prstGeom prst="rect">
            <a:avLst/>
          </a:prstGeom>
        </p:spPr>
      </p:pic>
      <p:sp>
        <p:nvSpPr>
          <p:cNvPr id="11" name="Shape 7"/>
          <p:cNvSpPr/>
          <p:nvPr/>
        </p:nvSpPr>
        <p:spPr>
          <a:xfrm>
            <a:off x="502920" y="5577840"/>
            <a:ext cx="11183112" cy="512064"/>
          </a:xfrm>
          <a:prstGeom prst="roundRect">
            <a:avLst>
              <a:gd name="adj" fmla="val 17857"/>
            </a:avLst>
          </a:prstGeom>
          <a:solidFill>
            <a:srgbClr val="EFF6FF"/>
          </a:solidFill>
          <a:ln w="6350">
            <a:solidFill>
              <a:srgbClr val="EFF6FF"/>
            </a:solidFill>
            <a:prstDash val="solid"/>
          </a:ln>
        </p:spPr>
        <p:txBody>
          <a:bodyPr/>
          <a:lstStyle/>
          <a:p>
            <a:endParaRPr lang="en-US"/>
          </a:p>
        </p:txBody>
      </p:sp>
      <p:sp>
        <p:nvSpPr>
          <p:cNvPr id="12" name="Shape 8"/>
          <p:cNvSpPr/>
          <p:nvPr/>
        </p:nvSpPr>
        <p:spPr>
          <a:xfrm>
            <a:off x="640080" y="5669280"/>
            <a:ext cx="329184" cy="329184"/>
          </a:xfrm>
          <a:prstGeom prst="ellipse">
            <a:avLst/>
          </a:prstGeom>
          <a:solidFill>
            <a:srgbClr val="1D4ED8"/>
          </a:solidFill>
          <a:ln w="6350">
            <a:solidFill>
              <a:srgbClr val="1D4ED8"/>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712500" y="5741700"/>
            <a:ext cx="184343" cy="184343"/>
          </a:xfrm>
          <a:prstGeom prst="rect">
            <a:avLst/>
          </a:prstGeom>
        </p:spPr>
      </p:pic>
      <p:sp>
        <p:nvSpPr>
          <p:cNvPr id="14" name="Text 9"/>
          <p:cNvSpPr txBox="1"/>
          <p:nvPr/>
        </p:nvSpPr>
        <p:spPr>
          <a:xfrm>
            <a:off x="1097280" y="5577840"/>
            <a:ext cx="10424160" cy="512064"/>
          </a:xfrm>
          <a:prstGeom prst="rect">
            <a:avLst/>
          </a:prstGeom>
          <a:noFill/>
          <a:ln/>
        </p:spPr>
        <p:txBody>
          <a:bodyPr wrap="square" lIns="0" tIns="0" rIns="0" bIns="0" rtlCol="0" anchor="ctr"/>
          <a:lstStyle/>
          <a:p>
            <a:pPr marL="0" indent="0">
              <a:buNone/>
            </a:pPr>
            <a:r>
              <a:rPr lang="en-US" sz="1300" b="1" dirty="0">
                <a:solidFill>
                  <a:srgbClr val="0A1F44"/>
                </a:solidFill>
                <a:latin typeface="Inter" pitchFamily="34" charset="0"/>
                <a:ea typeface="Inter" pitchFamily="34" charset="-122"/>
                <a:cs typeface="Inter" pitchFamily="34" charset="-120"/>
              </a:rPr>
              <a:t>77% of cart adders never order, against a ~70% category benchmark (Exhibit C). The cart is where Quince falls behind, so recovering carts is our fastest test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9326880" cy="841248"/>
          </a:xfrm>
          <a:prstGeom prst="rect">
            <a:avLst/>
          </a:prstGeom>
          <a:noFill/>
          <a:ln/>
        </p:spPr>
        <p:txBody>
          <a:bodyPr wrap="square" lIns="0" tIns="0" rIns="0" bIns="0" rtlCol="0" anchor="ctr"/>
          <a:lstStyle/>
          <a:p>
            <a:pPr marL="0" indent="0">
              <a:buNone/>
            </a:pPr>
            <a:r>
              <a:rPr lang="en-US" sz="2400" b="1" dirty="0">
                <a:solidFill>
                  <a:srgbClr val="0A1F44"/>
                </a:solidFill>
                <a:latin typeface="Inter" pitchFamily="34" charset="0"/>
                <a:ea typeface="Inter" pitchFamily="34" charset="-122"/>
                <a:cs typeface="Inter" pitchFamily="34" charset="-120"/>
              </a:rPr>
              <a:t>Standard attribution can't tell us what retargeting really adds</a:t>
            </a:r>
            <a:endParaRPr lang="en-US" sz="2400" dirty="0"/>
          </a:p>
        </p:txBody>
      </p:sp>
      <p:pic>
        <p:nvPicPr>
          <p:cNvPr id="3" name="Image 0" descr="/tmp/claude-0/-home-user-Quince/7efe80ae-a049-50c2-9886-98bf7ca3a04a/scratchpad/assets/quince.png"/>
          <p:cNvPicPr>
            <a:picLocks noChangeAspect="1"/>
          </p:cNvPicPr>
          <p:nvPr/>
        </p:nvPicPr>
        <p:blipFill>
          <a:blip r:embed="rId3"/>
          <a:stretch>
            <a:fillRect/>
          </a:stretch>
        </p:blipFill>
        <p:spPr>
          <a:xfrm>
            <a:off x="10236708" y="615544"/>
            <a:ext cx="777240" cy="231951"/>
          </a:xfrm>
          <a:prstGeom prst="rect">
            <a:avLst/>
          </a:prstGeom>
        </p:spPr>
      </p:pic>
      <p:sp>
        <p:nvSpPr>
          <p:cNvPr id="4" name="Shape 1"/>
          <p:cNvSpPr/>
          <p:nvPr/>
        </p:nvSpPr>
        <p:spPr>
          <a:xfrm>
            <a:off x="11155680" y="603504"/>
            <a:ext cx="530352" cy="256032"/>
          </a:xfrm>
          <a:prstGeom prst="roundRect">
            <a:avLst>
              <a:gd name="adj" fmla="val 50000"/>
            </a:avLst>
          </a:prstGeom>
          <a:solidFill>
            <a:srgbClr val="0A1F44"/>
          </a:solidFill>
          <a:ln w="6350">
            <a:solidFill>
              <a:srgbClr val="0A1F44"/>
            </a:solidFill>
            <a:prstDash val="solid"/>
          </a:ln>
        </p:spPr>
        <p:txBody>
          <a:bodyPr/>
          <a:lstStyle/>
          <a:p>
            <a:endParaRPr lang="en-US"/>
          </a:p>
        </p:txBody>
      </p:sp>
      <p:sp>
        <p:nvSpPr>
          <p:cNvPr id="5" name="Text 2"/>
          <p:cNvSpPr txBox="1"/>
          <p:nvPr/>
        </p:nvSpPr>
        <p:spPr>
          <a:xfrm>
            <a:off x="11155680" y="603504"/>
            <a:ext cx="53035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G27</a:t>
            </a:r>
            <a:endParaRPr lang="en-US" sz="950" dirty="0"/>
          </a:p>
        </p:txBody>
      </p:sp>
      <p:sp>
        <p:nvSpPr>
          <p:cNvPr id="6" name="Shape 3"/>
          <p:cNvSpPr/>
          <p:nvPr/>
        </p:nvSpPr>
        <p:spPr>
          <a:xfrm>
            <a:off x="502920" y="6400800"/>
            <a:ext cx="11183112" cy="0"/>
          </a:xfrm>
          <a:prstGeom prst="line">
            <a:avLst/>
          </a:prstGeom>
          <a:noFill/>
          <a:ln w="9525">
            <a:solidFill>
              <a:srgbClr val="E2E8F0"/>
            </a:solidFill>
            <a:prstDash val="solid"/>
          </a:ln>
        </p:spPr>
        <p:txBody>
          <a:bodyPr/>
          <a:lstStyle/>
          <a:p>
            <a:endParaRPr lang="en-US"/>
          </a:p>
        </p:txBody>
      </p:sp>
      <p:sp>
        <p:nvSpPr>
          <p:cNvPr id="7" name="Text 4"/>
          <p:cNvSpPr txBox="1"/>
          <p:nvPr/>
        </p:nvSpPr>
        <p:spPr>
          <a:xfrm>
            <a:off x="502920" y="6464808"/>
            <a:ext cx="9418320" cy="256032"/>
          </a:xfrm>
          <a:prstGeom prst="rect">
            <a:avLst/>
          </a:prstGeom>
          <a:noFill/>
          <a:ln/>
        </p:spPr>
        <p:txBody>
          <a:bodyPr wrap="square" lIns="0" tIns="0" rIns="0" bIns="0" rtlCol="0" anchor="ctr"/>
          <a:lstStyle/>
          <a:p>
            <a:pPr marL="0" indent="0">
              <a:buNone/>
            </a:pPr>
            <a:r>
              <a:rPr lang="en-US" sz="800" dirty="0">
                <a:solidFill>
                  <a:srgbClr val="64748B"/>
                </a:solidFill>
                <a:latin typeface="Inter" pitchFamily="34" charset="0"/>
                <a:ea typeface="Inter" pitchFamily="34" charset="-122"/>
                <a:cs typeface="Inter" pitchFamily="34" charset="-120"/>
              </a:rPr>
              <a:t>Source: Adobe CJA, Attribution IQ, Order Revenue ($337,044) by Marketing Channel; Last Touch, First Touch, Linear, Participation; 90-day lookback. Algorithmic model unavailable on this view; Participation is not a credit model.</a:t>
            </a:r>
            <a:endParaRPr lang="en-US" sz="800" dirty="0"/>
          </a:p>
        </p:txBody>
      </p:sp>
      <p:sp>
        <p:nvSpPr>
          <p:cNvPr id="8" name="Text 5"/>
          <p:cNvSpPr txBox="1"/>
          <p:nvPr/>
        </p:nvSpPr>
        <p:spPr>
          <a:xfrm>
            <a:off x="9966960" y="6464808"/>
            <a:ext cx="1719072" cy="256032"/>
          </a:xfrm>
          <a:prstGeom prst="rect">
            <a:avLst/>
          </a:prstGeom>
          <a:noFill/>
          <a:ln/>
        </p:spPr>
        <p:txBody>
          <a:bodyPr wrap="square" lIns="0" tIns="0" rIns="0" bIns="0" rtlCol="0" anchor="ctr"/>
          <a:lstStyle/>
          <a:p>
            <a:pPr marL="0" indent="0" algn="r">
              <a:buNone/>
            </a:pPr>
            <a:r>
              <a:rPr lang="en-US" sz="800" dirty="0">
                <a:solidFill>
                  <a:srgbClr val="64748B"/>
                </a:solidFill>
                <a:latin typeface="Inter" pitchFamily="34" charset="0"/>
                <a:ea typeface="Inter" pitchFamily="34" charset="-122"/>
                <a:cs typeface="Inter" pitchFamily="34" charset="-120"/>
              </a:rPr>
              <a:t>Team G27  ·  10</a:t>
            </a:r>
            <a:endParaRPr lang="en-US" sz="800" dirty="0"/>
          </a:p>
        </p:txBody>
      </p:sp>
      <p:sp>
        <p:nvSpPr>
          <p:cNvPr id="9" name="Shape 6"/>
          <p:cNvSpPr/>
          <p:nvPr/>
        </p:nvSpPr>
        <p:spPr>
          <a:xfrm>
            <a:off x="466344" y="1278612"/>
            <a:ext cx="11256264" cy="4072176"/>
          </a:xfrm>
          <a:prstGeom prst="rect">
            <a:avLst/>
          </a:prstGeom>
          <a:solidFill>
            <a:srgbClr val="E2E8F0"/>
          </a:solidFill>
          <a:ln w="6350">
            <a:solidFill>
              <a:srgbClr val="E2E8F0"/>
            </a:solidFill>
            <a:prstDash val="solid"/>
          </a:ln>
        </p:spPr>
        <p:txBody>
          <a:bodyPr/>
          <a:lstStyle/>
          <a:p>
            <a:endParaRPr lang="en-US"/>
          </a:p>
        </p:txBody>
      </p:sp>
      <p:pic>
        <p:nvPicPr>
          <p:cNvPr id="10" name="Image 1" descr="/tmp/claude-0/-home-user-Quince/7efe80ae-a049-50c2-9886-98bf7ca3a04a/scratchpad/assets/cja_attr_table.png"/>
          <p:cNvPicPr>
            <a:picLocks noChangeAspect="1"/>
          </p:cNvPicPr>
          <p:nvPr/>
        </p:nvPicPr>
        <p:blipFill>
          <a:blip r:embed="rId4"/>
          <a:stretch>
            <a:fillRect/>
          </a:stretch>
        </p:blipFill>
        <p:spPr>
          <a:xfrm>
            <a:off x="502920" y="1315188"/>
            <a:ext cx="11183112" cy="3999024"/>
          </a:xfrm>
          <a:prstGeom prst="rect">
            <a:avLst/>
          </a:prstGeom>
        </p:spPr>
      </p:pic>
      <p:sp>
        <p:nvSpPr>
          <p:cNvPr id="11" name="Shape 7"/>
          <p:cNvSpPr/>
          <p:nvPr/>
        </p:nvSpPr>
        <p:spPr>
          <a:xfrm>
            <a:off x="502920" y="5577840"/>
            <a:ext cx="11183112" cy="512064"/>
          </a:xfrm>
          <a:prstGeom prst="roundRect">
            <a:avLst>
              <a:gd name="adj" fmla="val 17857"/>
            </a:avLst>
          </a:prstGeom>
          <a:solidFill>
            <a:srgbClr val="EFF6FF"/>
          </a:solidFill>
          <a:ln w="6350">
            <a:solidFill>
              <a:srgbClr val="EFF6FF"/>
            </a:solidFill>
            <a:prstDash val="solid"/>
          </a:ln>
        </p:spPr>
        <p:txBody>
          <a:bodyPr/>
          <a:lstStyle/>
          <a:p>
            <a:endParaRPr lang="en-US"/>
          </a:p>
        </p:txBody>
      </p:sp>
      <p:sp>
        <p:nvSpPr>
          <p:cNvPr id="12" name="Shape 8"/>
          <p:cNvSpPr/>
          <p:nvPr/>
        </p:nvSpPr>
        <p:spPr>
          <a:xfrm>
            <a:off x="640080" y="5669280"/>
            <a:ext cx="329184" cy="329184"/>
          </a:xfrm>
          <a:prstGeom prst="ellipse">
            <a:avLst/>
          </a:prstGeom>
          <a:solidFill>
            <a:srgbClr val="1D4ED8"/>
          </a:solidFill>
          <a:ln w="6350">
            <a:solidFill>
              <a:srgbClr val="1D4ED8"/>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712500" y="5741700"/>
            <a:ext cx="184343" cy="184343"/>
          </a:xfrm>
          <a:prstGeom prst="rect">
            <a:avLst/>
          </a:prstGeom>
        </p:spPr>
      </p:pic>
      <p:sp>
        <p:nvSpPr>
          <p:cNvPr id="14" name="Text 9"/>
          <p:cNvSpPr txBox="1"/>
          <p:nvPr/>
        </p:nvSpPr>
        <p:spPr>
          <a:xfrm>
            <a:off x="1097280" y="5577840"/>
            <a:ext cx="10424160" cy="512064"/>
          </a:xfrm>
          <a:prstGeom prst="rect">
            <a:avLst/>
          </a:prstGeom>
          <a:noFill/>
          <a:ln/>
        </p:spPr>
        <p:txBody>
          <a:bodyPr wrap="square" lIns="0" tIns="0" rIns="0" bIns="0" rtlCol="0" anchor="ctr"/>
          <a:lstStyle/>
          <a:p>
            <a:pPr marL="0" indent="0">
              <a:buNone/>
            </a:pPr>
            <a:r>
              <a:rPr lang="en-US" sz="1300" b="1" dirty="0">
                <a:solidFill>
                  <a:srgbClr val="0A1F44"/>
                </a:solidFill>
                <a:latin typeface="Inter" pitchFamily="34" charset="0"/>
                <a:ea typeface="Inter" pitchFamily="34" charset="-122"/>
                <a:cs typeface="Inter" pitchFamily="34" charset="-120"/>
              </a:rPr>
              <a:t>Last touch, first touch and linear give owned channels ~5% (4.8 · 4.8 · 4.5%) and retargeting ~12.5% (12.9 · 12.4 · 12.5%). Attribution can't rank them, so we let holdouts decide the budget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9326880" cy="841248"/>
          </a:xfrm>
          <a:prstGeom prst="rect">
            <a:avLst/>
          </a:prstGeom>
          <a:noFill/>
          <a:ln/>
        </p:spPr>
        <p:txBody>
          <a:bodyPr wrap="square" lIns="0" tIns="0" rIns="0" bIns="0" rtlCol="0" anchor="ctr"/>
          <a:lstStyle/>
          <a:p>
            <a:pPr marL="0" indent="0">
              <a:buNone/>
            </a:pPr>
            <a:r>
              <a:rPr lang="en-US" sz="2400" b="1" dirty="0">
                <a:solidFill>
                  <a:srgbClr val="0A1F44"/>
                </a:solidFill>
                <a:latin typeface="Inter" pitchFamily="34" charset="0"/>
                <a:ea typeface="Inter" pitchFamily="34" charset="-122"/>
                <a:cs typeface="Inter" pitchFamily="34" charset="-120"/>
              </a:rPr>
              <a:t>Engaged buyers repeat 2.7x more in week 2</a:t>
            </a:r>
            <a:endParaRPr lang="en-US" sz="2400" dirty="0"/>
          </a:p>
        </p:txBody>
      </p:sp>
      <p:pic>
        <p:nvPicPr>
          <p:cNvPr id="3" name="Image 0" descr="/tmp/claude-0/-home-user-Quince/7efe80ae-a049-50c2-9886-98bf7ca3a04a/scratchpad/assets/quince.png"/>
          <p:cNvPicPr>
            <a:picLocks noChangeAspect="1"/>
          </p:cNvPicPr>
          <p:nvPr/>
        </p:nvPicPr>
        <p:blipFill>
          <a:blip r:embed="rId3"/>
          <a:stretch>
            <a:fillRect/>
          </a:stretch>
        </p:blipFill>
        <p:spPr>
          <a:xfrm>
            <a:off x="10236708" y="615544"/>
            <a:ext cx="777240" cy="231951"/>
          </a:xfrm>
          <a:prstGeom prst="rect">
            <a:avLst/>
          </a:prstGeom>
        </p:spPr>
      </p:pic>
      <p:sp>
        <p:nvSpPr>
          <p:cNvPr id="4" name="Shape 1"/>
          <p:cNvSpPr/>
          <p:nvPr/>
        </p:nvSpPr>
        <p:spPr>
          <a:xfrm>
            <a:off x="11155680" y="603504"/>
            <a:ext cx="530352" cy="256032"/>
          </a:xfrm>
          <a:prstGeom prst="roundRect">
            <a:avLst>
              <a:gd name="adj" fmla="val 50000"/>
            </a:avLst>
          </a:prstGeom>
          <a:solidFill>
            <a:srgbClr val="0A1F44"/>
          </a:solidFill>
          <a:ln w="6350">
            <a:solidFill>
              <a:srgbClr val="0A1F44"/>
            </a:solidFill>
            <a:prstDash val="solid"/>
          </a:ln>
        </p:spPr>
        <p:txBody>
          <a:bodyPr/>
          <a:lstStyle/>
          <a:p>
            <a:endParaRPr lang="en-US"/>
          </a:p>
        </p:txBody>
      </p:sp>
      <p:sp>
        <p:nvSpPr>
          <p:cNvPr id="5" name="Text 2"/>
          <p:cNvSpPr txBox="1"/>
          <p:nvPr/>
        </p:nvSpPr>
        <p:spPr>
          <a:xfrm>
            <a:off x="11155680" y="603504"/>
            <a:ext cx="53035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G27</a:t>
            </a:r>
            <a:endParaRPr lang="en-US" sz="950" dirty="0"/>
          </a:p>
        </p:txBody>
      </p:sp>
      <p:sp>
        <p:nvSpPr>
          <p:cNvPr id="6" name="Shape 3"/>
          <p:cNvSpPr/>
          <p:nvPr/>
        </p:nvSpPr>
        <p:spPr>
          <a:xfrm>
            <a:off x="502920" y="6400800"/>
            <a:ext cx="11183112" cy="0"/>
          </a:xfrm>
          <a:prstGeom prst="line">
            <a:avLst/>
          </a:prstGeom>
          <a:noFill/>
          <a:ln w="9525">
            <a:solidFill>
              <a:srgbClr val="E2E8F0"/>
            </a:solidFill>
            <a:prstDash val="solid"/>
          </a:ln>
        </p:spPr>
        <p:txBody>
          <a:bodyPr/>
          <a:lstStyle/>
          <a:p>
            <a:endParaRPr lang="en-US"/>
          </a:p>
        </p:txBody>
      </p:sp>
      <p:sp>
        <p:nvSpPr>
          <p:cNvPr id="7" name="Text 4"/>
          <p:cNvSpPr txBox="1"/>
          <p:nvPr/>
        </p:nvSpPr>
        <p:spPr>
          <a:xfrm>
            <a:off x="502920" y="6464808"/>
            <a:ext cx="9418320" cy="256032"/>
          </a:xfrm>
          <a:prstGeom prst="rect">
            <a:avLst/>
          </a:prstGeom>
          <a:noFill/>
          <a:ln/>
        </p:spPr>
        <p:txBody>
          <a:bodyPr wrap="square" lIns="0" tIns="0" rIns="0" bIns="0" rtlCol="0" anchor="ctr"/>
          <a:lstStyle/>
          <a:p>
            <a:pPr marL="0" indent="0">
              <a:buNone/>
            </a:pPr>
            <a:r>
              <a:rPr lang="en-US" sz="800" dirty="0">
                <a:solidFill>
                  <a:srgbClr val="64748B"/>
                </a:solidFill>
                <a:latin typeface="Inter" pitchFamily="34" charset="0"/>
                <a:ea typeface="Inter" pitchFamily="34" charset="-122"/>
                <a:cs typeface="Inter" pitchFamily="34" charset="-120"/>
              </a:rPr>
              <a:t>Source: Adobe CJA, Cohort Table, inclusion and return Orders ≥ 1, weekly, 1 Jan–30 Apr 2026; right panel uses the Engaged inclusion segment.</a:t>
            </a:r>
            <a:endParaRPr lang="en-US" sz="800" dirty="0"/>
          </a:p>
        </p:txBody>
      </p:sp>
      <p:sp>
        <p:nvSpPr>
          <p:cNvPr id="8" name="Text 5"/>
          <p:cNvSpPr txBox="1"/>
          <p:nvPr/>
        </p:nvSpPr>
        <p:spPr>
          <a:xfrm>
            <a:off x="9966960" y="6464808"/>
            <a:ext cx="1719072" cy="256032"/>
          </a:xfrm>
          <a:prstGeom prst="rect">
            <a:avLst/>
          </a:prstGeom>
          <a:noFill/>
          <a:ln/>
        </p:spPr>
        <p:txBody>
          <a:bodyPr wrap="square" lIns="0" tIns="0" rIns="0" bIns="0" rtlCol="0" anchor="ctr"/>
          <a:lstStyle/>
          <a:p>
            <a:pPr marL="0" indent="0" algn="r">
              <a:buNone/>
            </a:pPr>
            <a:r>
              <a:rPr lang="en-US" sz="800" dirty="0">
                <a:solidFill>
                  <a:srgbClr val="64748B"/>
                </a:solidFill>
                <a:latin typeface="Inter" pitchFamily="34" charset="0"/>
                <a:ea typeface="Inter" pitchFamily="34" charset="-122"/>
                <a:cs typeface="Inter" pitchFamily="34" charset="-120"/>
              </a:rPr>
              <a:t>Team G27  ·  11</a:t>
            </a:r>
            <a:endParaRPr lang="en-US" sz="800" dirty="0"/>
          </a:p>
        </p:txBody>
      </p:sp>
      <p:sp>
        <p:nvSpPr>
          <p:cNvPr id="9" name="Shape 6"/>
          <p:cNvSpPr/>
          <p:nvPr/>
        </p:nvSpPr>
        <p:spPr>
          <a:xfrm>
            <a:off x="466344" y="1336062"/>
            <a:ext cx="5527548" cy="3682957"/>
          </a:xfrm>
          <a:prstGeom prst="rect">
            <a:avLst/>
          </a:prstGeom>
          <a:solidFill>
            <a:srgbClr val="E2E8F0"/>
          </a:solidFill>
          <a:ln w="6350">
            <a:solidFill>
              <a:srgbClr val="E2E8F0"/>
            </a:solidFill>
            <a:prstDash val="solid"/>
          </a:ln>
        </p:spPr>
        <p:txBody>
          <a:bodyPr/>
          <a:lstStyle/>
          <a:p>
            <a:endParaRPr lang="en-US"/>
          </a:p>
        </p:txBody>
      </p:sp>
      <p:pic>
        <p:nvPicPr>
          <p:cNvPr id="10" name="Image 1" descr="/tmp/claude-0/-home-user-Quince/7efe80ae-a049-50c2-9886-98bf7ca3a04a/scratchpad/assets/cja_cohort_all.png"/>
          <p:cNvPicPr>
            <a:picLocks noChangeAspect="1"/>
          </p:cNvPicPr>
          <p:nvPr/>
        </p:nvPicPr>
        <p:blipFill>
          <a:blip r:embed="rId4"/>
          <a:stretch>
            <a:fillRect/>
          </a:stretch>
        </p:blipFill>
        <p:spPr>
          <a:xfrm>
            <a:off x="502920" y="1372638"/>
            <a:ext cx="5454396" cy="3609805"/>
          </a:xfrm>
          <a:prstGeom prst="rect">
            <a:avLst/>
          </a:prstGeom>
        </p:spPr>
      </p:pic>
      <p:sp>
        <p:nvSpPr>
          <p:cNvPr id="11" name="Text 7"/>
          <p:cNvSpPr txBox="1"/>
          <p:nvPr/>
        </p:nvSpPr>
        <p:spPr>
          <a:xfrm>
            <a:off x="502920" y="5073882"/>
            <a:ext cx="5454396" cy="237744"/>
          </a:xfrm>
          <a:prstGeom prst="rect">
            <a:avLst/>
          </a:prstGeom>
          <a:noFill/>
          <a:ln/>
        </p:spPr>
        <p:txBody>
          <a:bodyPr wrap="square" lIns="0" tIns="0" rIns="0" bIns="0" rtlCol="0" anchor="t"/>
          <a:lstStyle/>
          <a:p>
            <a:pPr marL="0" indent="0" algn="ctr">
              <a:buNone/>
            </a:pPr>
            <a:r>
              <a:rPr lang="en-US" sz="1050" b="1" dirty="0">
                <a:solidFill>
                  <a:srgbClr val="0A1F44"/>
                </a:solidFill>
                <a:latin typeface="Inter" pitchFamily="34" charset="0"/>
                <a:ea typeface="Inter" pitchFamily="34" charset="-122"/>
                <a:cs typeface="Inter" pitchFamily="34" charset="-120"/>
              </a:rPr>
              <a:t>All buyers</a:t>
            </a:r>
            <a:endParaRPr lang="en-US" sz="1050" dirty="0"/>
          </a:p>
        </p:txBody>
      </p:sp>
      <p:sp>
        <p:nvSpPr>
          <p:cNvPr id="12" name="Shape 8"/>
          <p:cNvSpPr/>
          <p:nvPr/>
        </p:nvSpPr>
        <p:spPr>
          <a:xfrm>
            <a:off x="6195060" y="1336062"/>
            <a:ext cx="5527548" cy="3682957"/>
          </a:xfrm>
          <a:prstGeom prst="rect">
            <a:avLst/>
          </a:prstGeom>
          <a:solidFill>
            <a:srgbClr val="E2E8F0"/>
          </a:solidFill>
          <a:ln w="6350">
            <a:solidFill>
              <a:srgbClr val="E2E8F0"/>
            </a:solidFill>
            <a:prstDash val="solid"/>
          </a:ln>
        </p:spPr>
        <p:txBody>
          <a:bodyPr/>
          <a:lstStyle/>
          <a:p>
            <a:endParaRPr lang="en-US"/>
          </a:p>
        </p:txBody>
      </p:sp>
      <p:pic>
        <p:nvPicPr>
          <p:cNvPr id="13" name="Image 2" descr="/tmp/claude-0/-home-user-Quince/7efe80ae-a049-50c2-9886-98bf7ca3a04a/scratchpad/assets/cja_cohort_eng.png"/>
          <p:cNvPicPr>
            <a:picLocks noChangeAspect="1"/>
          </p:cNvPicPr>
          <p:nvPr/>
        </p:nvPicPr>
        <p:blipFill>
          <a:blip r:embed="rId5"/>
          <a:stretch>
            <a:fillRect/>
          </a:stretch>
        </p:blipFill>
        <p:spPr>
          <a:xfrm>
            <a:off x="6231636" y="1372638"/>
            <a:ext cx="5454396" cy="3609805"/>
          </a:xfrm>
          <a:prstGeom prst="rect">
            <a:avLst/>
          </a:prstGeom>
        </p:spPr>
      </p:pic>
      <p:sp>
        <p:nvSpPr>
          <p:cNvPr id="14" name="Text 9"/>
          <p:cNvSpPr txBox="1"/>
          <p:nvPr/>
        </p:nvSpPr>
        <p:spPr>
          <a:xfrm>
            <a:off x="6231636" y="5073882"/>
            <a:ext cx="5454396" cy="237744"/>
          </a:xfrm>
          <a:prstGeom prst="rect">
            <a:avLst/>
          </a:prstGeom>
          <a:noFill/>
          <a:ln/>
        </p:spPr>
        <p:txBody>
          <a:bodyPr wrap="square" lIns="0" tIns="0" rIns="0" bIns="0" rtlCol="0" anchor="t"/>
          <a:lstStyle/>
          <a:p>
            <a:pPr marL="0" indent="0" algn="ctr">
              <a:buNone/>
            </a:pPr>
            <a:r>
              <a:rPr lang="en-US" sz="1050" b="1" dirty="0">
                <a:solidFill>
                  <a:srgbClr val="0A1F44"/>
                </a:solidFill>
                <a:latin typeface="Inter" pitchFamily="34" charset="0"/>
                <a:ea typeface="Inter" pitchFamily="34" charset="-122"/>
                <a:cs typeface="Inter" pitchFamily="34" charset="-120"/>
              </a:rPr>
              <a:t>Engaged buyers (inclusion segment)</a:t>
            </a:r>
            <a:endParaRPr lang="en-US" sz="1050" dirty="0"/>
          </a:p>
        </p:txBody>
      </p:sp>
      <p:sp>
        <p:nvSpPr>
          <p:cNvPr id="15" name="Shape 10"/>
          <p:cNvSpPr/>
          <p:nvPr/>
        </p:nvSpPr>
        <p:spPr>
          <a:xfrm>
            <a:off x="502920" y="5577840"/>
            <a:ext cx="11183112" cy="512064"/>
          </a:xfrm>
          <a:prstGeom prst="roundRect">
            <a:avLst>
              <a:gd name="adj" fmla="val 17857"/>
            </a:avLst>
          </a:prstGeom>
          <a:solidFill>
            <a:srgbClr val="EFF6FF"/>
          </a:solidFill>
          <a:ln w="6350">
            <a:solidFill>
              <a:srgbClr val="EFF6FF"/>
            </a:solidFill>
            <a:prstDash val="solid"/>
          </a:ln>
        </p:spPr>
        <p:txBody>
          <a:bodyPr/>
          <a:lstStyle/>
          <a:p>
            <a:endParaRPr lang="en-US"/>
          </a:p>
        </p:txBody>
      </p:sp>
      <p:sp>
        <p:nvSpPr>
          <p:cNvPr id="16" name="Shape 11"/>
          <p:cNvSpPr/>
          <p:nvPr/>
        </p:nvSpPr>
        <p:spPr>
          <a:xfrm>
            <a:off x="640080" y="5669280"/>
            <a:ext cx="329184" cy="329184"/>
          </a:xfrm>
          <a:prstGeom prst="ellipse">
            <a:avLst/>
          </a:prstGeom>
          <a:solidFill>
            <a:srgbClr val="1D4ED8"/>
          </a:solidFill>
          <a:ln w="6350">
            <a:solidFill>
              <a:srgbClr val="1D4ED8"/>
            </a:solidFill>
            <a:prstDash val="solid"/>
          </a:ln>
        </p:spPr>
        <p:txBody>
          <a:bodyPr/>
          <a:lstStyle/>
          <a:p>
            <a:endParaRPr lang="en-US"/>
          </a:p>
        </p:txBody>
      </p:sp>
      <p:pic>
        <p:nvPicPr>
          <p:cNvPr id="17" name="Image 3" descr="preencoded.png"/>
          <p:cNvPicPr>
            <a:picLocks noChangeAspect="1"/>
          </p:cNvPicPr>
          <p:nvPr/>
        </p:nvPicPr>
        <p:blipFill>
          <a:blip r:embed="rId6"/>
          <a:stretch>
            <a:fillRect/>
          </a:stretch>
        </p:blipFill>
        <p:spPr>
          <a:xfrm>
            <a:off x="712500" y="5741700"/>
            <a:ext cx="184343" cy="184343"/>
          </a:xfrm>
          <a:prstGeom prst="rect">
            <a:avLst/>
          </a:prstGeom>
        </p:spPr>
      </p:pic>
      <p:sp>
        <p:nvSpPr>
          <p:cNvPr id="18" name="Text 12"/>
          <p:cNvSpPr txBox="1"/>
          <p:nvPr/>
        </p:nvSpPr>
        <p:spPr>
          <a:xfrm>
            <a:off x="1097280" y="5577840"/>
            <a:ext cx="10424160" cy="512064"/>
          </a:xfrm>
          <a:prstGeom prst="rect">
            <a:avLst/>
          </a:prstGeom>
          <a:noFill/>
          <a:ln/>
        </p:spPr>
        <p:txBody>
          <a:bodyPr wrap="square" lIns="0" tIns="0" rIns="0" bIns="0" rtlCol="0" anchor="ctr"/>
          <a:lstStyle/>
          <a:p>
            <a:pPr marL="0" indent="0">
              <a:buNone/>
            </a:pPr>
            <a:r>
              <a:rPr lang="en-US" sz="1300" b="1" dirty="0">
                <a:solidFill>
                  <a:srgbClr val="0A1F44"/>
                </a:solidFill>
                <a:latin typeface="Inter" pitchFamily="34" charset="0"/>
                <a:ea typeface="Inter" pitchFamily="34" charset="-122"/>
                <a:cs typeface="Inter" pitchFamily="34" charset="-120"/>
              </a:rPr>
              <a:t>Engaged buyers repeat 2.7× more in week 2 than all buyers (5.6% vs 2.1%), and half their repeats land in weeks 1–4. Cohorts are small (~48 engaged buyers a week), so we read this as directional</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9326880" cy="841248"/>
          </a:xfrm>
          <a:prstGeom prst="rect">
            <a:avLst/>
          </a:prstGeom>
          <a:noFill/>
          <a:ln/>
        </p:spPr>
        <p:txBody>
          <a:bodyPr wrap="square" lIns="0" tIns="0" rIns="0" bIns="0" rtlCol="0" anchor="ctr"/>
          <a:lstStyle/>
          <a:p>
            <a:pPr marL="0" indent="0">
              <a:buNone/>
            </a:pPr>
            <a:r>
              <a:rPr lang="en-US" sz="2400" b="1" dirty="0">
                <a:solidFill>
                  <a:srgbClr val="0A1F44"/>
                </a:solidFill>
                <a:latin typeface="Inter" pitchFamily="34" charset="0"/>
                <a:ea typeface="Inter" pitchFamily="34" charset="-122"/>
                <a:cs typeface="Inter" pitchFamily="34" charset="-120"/>
              </a:rPr>
              <a:t>Almost no stalled cart gets a follow-up email</a:t>
            </a:r>
            <a:endParaRPr lang="en-US" sz="2400" dirty="0"/>
          </a:p>
        </p:txBody>
      </p:sp>
      <p:pic>
        <p:nvPicPr>
          <p:cNvPr id="3" name="Image 0" descr="/tmp/claude-0/-home-user-Quince/7efe80ae-a049-50c2-9886-98bf7ca3a04a/scratchpad/assets/quince.png"/>
          <p:cNvPicPr>
            <a:picLocks noChangeAspect="1"/>
          </p:cNvPicPr>
          <p:nvPr/>
        </p:nvPicPr>
        <p:blipFill>
          <a:blip r:embed="rId3"/>
          <a:stretch>
            <a:fillRect/>
          </a:stretch>
        </p:blipFill>
        <p:spPr>
          <a:xfrm>
            <a:off x="10236708" y="615544"/>
            <a:ext cx="777240" cy="231951"/>
          </a:xfrm>
          <a:prstGeom prst="rect">
            <a:avLst/>
          </a:prstGeom>
        </p:spPr>
      </p:pic>
      <p:sp>
        <p:nvSpPr>
          <p:cNvPr id="4" name="Shape 1"/>
          <p:cNvSpPr/>
          <p:nvPr/>
        </p:nvSpPr>
        <p:spPr>
          <a:xfrm>
            <a:off x="11155680" y="603504"/>
            <a:ext cx="530352" cy="256032"/>
          </a:xfrm>
          <a:prstGeom prst="roundRect">
            <a:avLst>
              <a:gd name="adj" fmla="val 50000"/>
            </a:avLst>
          </a:prstGeom>
          <a:solidFill>
            <a:srgbClr val="0A1F44"/>
          </a:solidFill>
          <a:ln w="6350">
            <a:solidFill>
              <a:srgbClr val="0A1F44"/>
            </a:solidFill>
            <a:prstDash val="solid"/>
          </a:ln>
        </p:spPr>
        <p:txBody>
          <a:bodyPr/>
          <a:lstStyle/>
          <a:p>
            <a:endParaRPr lang="en-US"/>
          </a:p>
        </p:txBody>
      </p:sp>
      <p:sp>
        <p:nvSpPr>
          <p:cNvPr id="5" name="Text 2"/>
          <p:cNvSpPr txBox="1"/>
          <p:nvPr/>
        </p:nvSpPr>
        <p:spPr>
          <a:xfrm>
            <a:off x="11155680" y="603504"/>
            <a:ext cx="53035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G27</a:t>
            </a:r>
            <a:endParaRPr lang="en-US" sz="950" dirty="0"/>
          </a:p>
        </p:txBody>
      </p:sp>
      <p:sp>
        <p:nvSpPr>
          <p:cNvPr id="6" name="Shape 3"/>
          <p:cNvSpPr/>
          <p:nvPr/>
        </p:nvSpPr>
        <p:spPr>
          <a:xfrm>
            <a:off x="502920" y="6400800"/>
            <a:ext cx="11183112" cy="0"/>
          </a:xfrm>
          <a:prstGeom prst="line">
            <a:avLst/>
          </a:prstGeom>
          <a:noFill/>
          <a:ln w="9525">
            <a:solidFill>
              <a:srgbClr val="E2E8F0"/>
            </a:solidFill>
            <a:prstDash val="solid"/>
          </a:ln>
        </p:spPr>
        <p:txBody>
          <a:bodyPr/>
          <a:lstStyle/>
          <a:p>
            <a:endParaRPr lang="en-US"/>
          </a:p>
        </p:txBody>
      </p:sp>
      <p:sp>
        <p:nvSpPr>
          <p:cNvPr id="7" name="Text 4"/>
          <p:cNvSpPr txBox="1"/>
          <p:nvPr/>
        </p:nvSpPr>
        <p:spPr>
          <a:xfrm>
            <a:off x="502920" y="6464808"/>
            <a:ext cx="9418320" cy="256032"/>
          </a:xfrm>
          <a:prstGeom prst="rect">
            <a:avLst/>
          </a:prstGeom>
          <a:noFill/>
          <a:ln/>
        </p:spPr>
        <p:txBody>
          <a:bodyPr wrap="square" lIns="0" tIns="0" rIns="0" bIns="0" rtlCol="0" anchor="ctr"/>
          <a:lstStyle/>
          <a:p>
            <a:pPr marL="0" indent="0">
              <a:buNone/>
            </a:pPr>
            <a:r>
              <a:rPr lang="en-US" sz="800" dirty="0">
                <a:solidFill>
                  <a:srgbClr val="64748B"/>
                </a:solidFill>
                <a:latin typeface="Inter" pitchFamily="34" charset="0"/>
                <a:ea typeface="Inter" pitchFamily="34" charset="-122"/>
                <a:cs typeface="Inter" pitchFamily="34" charset="-120"/>
              </a:rPr>
              <a:t>Source: Adobe CJA, Flow from add_to_cart (next step), Person container, 1 Jan–30 Apr 2026. 11,610 = path views; 11,339 = people (Fallout).</a:t>
            </a:r>
            <a:endParaRPr lang="en-US" sz="800" dirty="0"/>
          </a:p>
        </p:txBody>
      </p:sp>
      <p:sp>
        <p:nvSpPr>
          <p:cNvPr id="8" name="Text 5"/>
          <p:cNvSpPr txBox="1"/>
          <p:nvPr/>
        </p:nvSpPr>
        <p:spPr>
          <a:xfrm>
            <a:off x="9966960" y="6464808"/>
            <a:ext cx="1719072" cy="256032"/>
          </a:xfrm>
          <a:prstGeom prst="rect">
            <a:avLst/>
          </a:prstGeom>
          <a:noFill/>
          <a:ln/>
        </p:spPr>
        <p:txBody>
          <a:bodyPr wrap="square" lIns="0" tIns="0" rIns="0" bIns="0" rtlCol="0" anchor="ctr"/>
          <a:lstStyle/>
          <a:p>
            <a:pPr marL="0" indent="0" algn="r">
              <a:buNone/>
            </a:pPr>
            <a:r>
              <a:rPr lang="en-US" sz="800" dirty="0">
                <a:solidFill>
                  <a:srgbClr val="64748B"/>
                </a:solidFill>
                <a:latin typeface="Inter" pitchFamily="34" charset="0"/>
                <a:ea typeface="Inter" pitchFamily="34" charset="-122"/>
                <a:cs typeface="Inter" pitchFamily="34" charset="-120"/>
              </a:rPr>
              <a:t>Team G27  ·  12</a:t>
            </a:r>
            <a:endParaRPr lang="en-US" sz="800" dirty="0"/>
          </a:p>
        </p:txBody>
      </p:sp>
      <p:sp>
        <p:nvSpPr>
          <p:cNvPr id="9" name="Shape 6"/>
          <p:cNvSpPr/>
          <p:nvPr/>
        </p:nvSpPr>
        <p:spPr>
          <a:xfrm>
            <a:off x="601675" y="1152144"/>
            <a:ext cx="10985602" cy="4325112"/>
          </a:xfrm>
          <a:prstGeom prst="rect">
            <a:avLst/>
          </a:prstGeom>
          <a:solidFill>
            <a:srgbClr val="E2E8F0"/>
          </a:solidFill>
          <a:ln w="6350">
            <a:solidFill>
              <a:srgbClr val="E2E8F0"/>
            </a:solidFill>
            <a:prstDash val="solid"/>
          </a:ln>
        </p:spPr>
        <p:txBody>
          <a:bodyPr/>
          <a:lstStyle/>
          <a:p>
            <a:endParaRPr lang="en-US"/>
          </a:p>
        </p:txBody>
      </p:sp>
      <p:pic>
        <p:nvPicPr>
          <p:cNvPr id="10" name="Image 1" descr="/tmp/claude-0/-home-user-Quince/7efe80ae-a049-50c2-9886-98bf7ca3a04a/scratchpad/assets/cja_flow.png"/>
          <p:cNvPicPr>
            <a:picLocks noChangeAspect="1"/>
          </p:cNvPicPr>
          <p:nvPr/>
        </p:nvPicPr>
        <p:blipFill>
          <a:blip r:embed="rId4"/>
          <a:stretch>
            <a:fillRect/>
          </a:stretch>
        </p:blipFill>
        <p:spPr>
          <a:xfrm>
            <a:off x="638251" y="1188720"/>
            <a:ext cx="10912450" cy="4251960"/>
          </a:xfrm>
          <a:prstGeom prst="rect">
            <a:avLst/>
          </a:prstGeom>
        </p:spPr>
      </p:pic>
      <p:sp>
        <p:nvSpPr>
          <p:cNvPr id="11" name="Shape 7"/>
          <p:cNvSpPr/>
          <p:nvPr/>
        </p:nvSpPr>
        <p:spPr>
          <a:xfrm>
            <a:off x="502920" y="5577840"/>
            <a:ext cx="11183112" cy="512064"/>
          </a:xfrm>
          <a:prstGeom prst="roundRect">
            <a:avLst>
              <a:gd name="adj" fmla="val 17857"/>
            </a:avLst>
          </a:prstGeom>
          <a:solidFill>
            <a:srgbClr val="EFF6FF"/>
          </a:solidFill>
          <a:ln w="6350">
            <a:solidFill>
              <a:srgbClr val="EFF6FF"/>
            </a:solidFill>
            <a:prstDash val="solid"/>
          </a:ln>
        </p:spPr>
        <p:txBody>
          <a:bodyPr/>
          <a:lstStyle/>
          <a:p>
            <a:endParaRPr lang="en-US"/>
          </a:p>
        </p:txBody>
      </p:sp>
      <p:sp>
        <p:nvSpPr>
          <p:cNvPr id="12" name="Shape 8"/>
          <p:cNvSpPr/>
          <p:nvPr/>
        </p:nvSpPr>
        <p:spPr>
          <a:xfrm>
            <a:off x="640080" y="5669280"/>
            <a:ext cx="329184" cy="329184"/>
          </a:xfrm>
          <a:prstGeom prst="ellipse">
            <a:avLst/>
          </a:prstGeom>
          <a:solidFill>
            <a:srgbClr val="1D4ED8"/>
          </a:solidFill>
          <a:ln w="6350">
            <a:solidFill>
              <a:srgbClr val="1D4ED8"/>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712500" y="5741700"/>
            <a:ext cx="184343" cy="184343"/>
          </a:xfrm>
          <a:prstGeom prst="rect">
            <a:avLst/>
          </a:prstGeom>
        </p:spPr>
      </p:pic>
      <p:sp>
        <p:nvSpPr>
          <p:cNvPr id="14" name="Text 9"/>
          <p:cNvSpPr txBox="1"/>
          <p:nvPr/>
        </p:nvSpPr>
        <p:spPr>
          <a:xfrm>
            <a:off x="1097280" y="5577840"/>
            <a:ext cx="10424160" cy="512064"/>
          </a:xfrm>
          <a:prstGeom prst="rect">
            <a:avLst/>
          </a:prstGeom>
          <a:noFill/>
          <a:ln/>
        </p:spPr>
        <p:txBody>
          <a:bodyPr wrap="square" lIns="0" tIns="0" rIns="0" bIns="0" rtlCol="0" anchor="ctr"/>
          <a:lstStyle/>
          <a:p>
            <a:pPr marL="0" indent="0">
              <a:buNone/>
            </a:pPr>
            <a:r>
              <a:rPr lang="en-US" sz="1300" b="1" dirty="0">
                <a:solidFill>
                  <a:srgbClr val="0A1F44"/>
                </a:solidFill>
                <a:latin typeface="Inter" pitchFamily="34" charset="0"/>
                <a:ea typeface="Inter" pitchFamily="34" charset="-122"/>
                <a:cs typeface="Inter" pitchFamily="34" charset="-120"/>
              </a:rPr>
              <a:t>Of 11,610 cart paths, 6,088 go on to checkout and only 1 is followed by an email. A simple cart reminder is our fastest win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9326880" cy="841248"/>
          </a:xfrm>
          <a:prstGeom prst="rect">
            <a:avLst/>
          </a:prstGeom>
          <a:noFill/>
          <a:ln/>
        </p:spPr>
        <p:txBody>
          <a:bodyPr wrap="square" lIns="0" tIns="0" rIns="0" bIns="0" rtlCol="0" anchor="ctr"/>
          <a:lstStyle/>
          <a:p>
            <a:pPr marL="0" indent="0">
              <a:buNone/>
            </a:pPr>
            <a:r>
              <a:rPr lang="en-US" sz="2400" b="1" dirty="0">
                <a:solidFill>
                  <a:srgbClr val="0A1F44"/>
                </a:solidFill>
                <a:latin typeface="Inter" pitchFamily="34" charset="0"/>
                <a:ea typeface="Inter" pitchFamily="34" charset="-122"/>
                <a:cs typeface="Inter" pitchFamily="34" charset="-120"/>
              </a:rPr>
              <a:t>App users come back at double the rate of SMS users</a:t>
            </a:r>
            <a:endParaRPr lang="en-US" sz="2400" dirty="0"/>
          </a:p>
        </p:txBody>
      </p:sp>
      <p:pic>
        <p:nvPicPr>
          <p:cNvPr id="3" name="Image 0" descr="/tmp/claude-0/-home-user-Quince/7efe80ae-a049-50c2-9886-98bf7ca3a04a/scratchpad/assets/quince.png"/>
          <p:cNvPicPr>
            <a:picLocks noChangeAspect="1"/>
          </p:cNvPicPr>
          <p:nvPr/>
        </p:nvPicPr>
        <p:blipFill>
          <a:blip r:embed="rId3"/>
          <a:stretch>
            <a:fillRect/>
          </a:stretch>
        </p:blipFill>
        <p:spPr>
          <a:xfrm>
            <a:off x="10236708" y="615544"/>
            <a:ext cx="777240" cy="231951"/>
          </a:xfrm>
          <a:prstGeom prst="rect">
            <a:avLst/>
          </a:prstGeom>
        </p:spPr>
      </p:pic>
      <p:sp>
        <p:nvSpPr>
          <p:cNvPr id="4" name="Shape 1"/>
          <p:cNvSpPr/>
          <p:nvPr/>
        </p:nvSpPr>
        <p:spPr>
          <a:xfrm>
            <a:off x="11155680" y="603504"/>
            <a:ext cx="530352" cy="256032"/>
          </a:xfrm>
          <a:prstGeom prst="roundRect">
            <a:avLst>
              <a:gd name="adj" fmla="val 50000"/>
            </a:avLst>
          </a:prstGeom>
          <a:solidFill>
            <a:srgbClr val="0A1F44"/>
          </a:solidFill>
          <a:ln w="6350">
            <a:solidFill>
              <a:srgbClr val="0A1F44"/>
            </a:solidFill>
            <a:prstDash val="solid"/>
          </a:ln>
        </p:spPr>
        <p:txBody>
          <a:bodyPr/>
          <a:lstStyle/>
          <a:p>
            <a:endParaRPr lang="en-US"/>
          </a:p>
        </p:txBody>
      </p:sp>
      <p:sp>
        <p:nvSpPr>
          <p:cNvPr id="5" name="Text 2"/>
          <p:cNvSpPr txBox="1"/>
          <p:nvPr/>
        </p:nvSpPr>
        <p:spPr>
          <a:xfrm>
            <a:off x="11155680" y="603504"/>
            <a:ext cx="53035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G27</a:t>
            </a:r>
            <a:endParaRPr lang="en-US" sz="950" dirty="0"/>
          </a:p>
        </p:txBody>
      </p:sp>
      <p:sp>
        <p:nvSpPr>
          <p:cNvPr id="6" name="Shape 3"/>
          <p:cNvSpPr/>
          <p:nvPr/>
        </p:nvSpPr>
        <p:spPr>
          <a:xfrm>
            <a:off x="502920" y="6400800"/>
            <a:ext cx="11183112" cy="0"/>
          </a:xfrm>
          <a:prstGeom prst="line">
            <a:avLst/>
          </a:prstGeom>
          <a:noFill/>
          <a:ln w="9525">
            <a:solidFill>
              <a:srgbClr val="E2E8F0"/>
            </a:solidFill>
            <a:prstDash val="solid"/>
          </a:ln>
        </p:spPr>
        <p:txBody>
          <a:bodyPr/>
          <a:lstStyle/>
          <a:p>
            <a:endParaRPr lang="en-US"/>
          </a:p>
        </p:txBody>
      </p:sp>
      <p:sp>
        <p:nvSpPr>
          <p:cNvPr id="7" name="Text 4"/>
          <p:cNvSpPr txBox="1"/>
          <p:nvPr/>
        </p:nvSpPr>
        <p:spPr>
          <a:xfrm>
            <a:off x="502920" y="6464808"/>
            <a:ext cx="9418320" cy="256032"/>
          </a:xfrm>
          <a:prstGeom prst="rect">
            <a:avLst/>
          </a:prstGeom>
          <a:noFill/>
          <a:ln/>
        </p:spPr>
        <p:txBody>
          <a:bodyPr wrap="square" lIns="0" tIns="0" rIns="0" bIns="0" rtlCol="0" anchor="ctr"/>
          <a:lstStyle/>
          <a:p>
            <a:pPr marL="0" indent="0">
              <a:buNone/>
            </a:pPr>
            <a:r>
              <a:rPr lang="en-US" sz="800" dirty="0">
                <a:solidFill>
                  <a:srgbClr val="64748B"/>
                </a:solidFill>
                <a:latin typeface="Inter" pitchFamily="34" charset="0"/>
                <a:ea typeface="Inter" pitchFamily="34" charset="-122"/>
                <a:cs typeface="Inter" pitchFamily="34" charset="-120"/>
              </a:rPr>
              <a:t>Source: Adobe CJA, freeform tables with engagement segments (A2) and sequential segments after order one (A5, n = 265 app, 315 SMS), 1 Jan–30 Apr 2026.</a:t>
            </a:r>
            <a:endParaRPr lang="en-US" sz="800" dirty="0"/>
          </a:p>
        </p:txBody>
      </p:sp>
      <p:sp>
        <p:nvSpPr>
          <p:cNvPr id="8" name="Text 5"/>
          <p:cNvSpPr txBox="1"/>
          <p:nvPr/>
        </p:nvSpPr>
        <p:spPr>
          <a:xfrm>
            <a:off x="9966960" y="6464808"/>
            <a:ext cx="1719072" cy="256032"/>
          </a:xfrm>
          <a:prstGeom prst="rect">
            <a:avLst/>
          </a:prstGeom>
          <a:noFill/>
          <a:ln/>
        </p:spPr>
        <p:txBody>
          <a:bodyPr wrap="square" lIns="0" tIns="0" rIns="0" bIns="0" rtlCol="0" anchor="ctr"/>
          <a:lstStyle/>
          <a:p>
            <a:pPr marL="0" indent="0" algn="r">
              <a:buNone/>
            </a:pPr>
            <a:r>
              <a:rPr lang="en-US" sz="800" dirty="0">
                <a:solidFill>
                  <a:srgbClr val="64748B"/>
                </a:solidFill>
                <a:latin typeface="Inter" pitchFamily="34" charset="0"/>
                <a:ea typeface="Inter" pitchFamily="34" charset="-122"/>
                <a:cs typeface="Inter" pitchFamily="34" charset="-120"/>
              </a:rPr>
              <a:t>Team G27  ·  13</a:t>
            </a:r>
            <a:endParaRPr lang="en-US" sz="800" dirty="0"/>
          </a:p>
        </p:txBody>
      </p:sp>
      <p:sp>
        <p:nvSpPr>
          <p:cNvPr id="9" name="Text 6"/>
          <p:cNvSpPr txBox="1"/>
          <p:nvPr/>
        </p:nvSpPr>
        <p:spPr>
          <a:xfrm>
            <a:off x="502920" y="1948536"/>
            <a:ext cx="2240280" cy="548640"/>
          </a:xfrm>
          <a:prstGeom prst="rect">
            <a:avLst/>
          </a:prstGeom>
          <a:noFill/>
          <a:ln/>
        </p:spPr>
        <p:txBody>
          <a:bodyPr wrap="square" lIns="0" tIns="0" rIns="0" bIns="0" rtlCol="0" anchor="ctr"/>
          <a:lstStyle/>
          <a:p>
            <a:pPr marL="0" indent="0">
              <a:buNone/>
            </a:pPr>
            <a:r>
              <a:rPr lang="en-US" sz="1150" b="1" dirty="0">
                <a:solidFill>
                  <a:srgbClr val="0A1F44"/>
                </a:solidFill>
                <a:latin typeface="Inter" pitchFamily="34" charset="0"/>
                <a:ea typeface="Inter" pitchFamily="34" charset="-122"/>
                <a:cs typeface="Inter" pitchFamily="34" charset="-120"/>
              </a:rPr>
              <a:t>A2 · Repeat by engagement (any time)</a:t>
            </a:r>
            <a:endParaRPr lang="en-US" sz="1150" dirty="0"/>
          </a:p>
        </p:txBody>
      </p:sp>
      <p:sp>
        <p:nvSpPr>
          <p:cNvPr id="10" name="Shape 7"/>
          <p:cNvSpPr/>
          <p:nvPr/>
        </p:nvSpPr>
        <p:spPr>
          <a:xfrm>
            <a:off x="3785616" y="1197864"/>
            <a:ext cx="7936992" cy="2049985"/>
          </a:xfrm>
          <a:prstGeom prst="rect">
            <a:avLst/>
          </a:prstGeom>
          <a:solidFill>
            <a:srgbClr val="E2E8F0"/>
          </a:solidFill>
          <a:ln w="6350">
            <a:solidFill>
              <a:srgbClr val="E2E8F0"/>
            </a:solidFill>
            <a:prstDash val="solid"/>
          </a:ln>
        </p:spPr>
        <p:txBody>
          <a:bodyPr/>
          <a:lstStyle/>
          <a:p>
            <a:endParaRPr lang="en-US"/>
          </a:p>
        </p:txBody>
      </p:sp>
      <p:pic>
        <p:nvPicPr>
          <p:cNvPr id="11" name="Image 1" descr="/tmp/claude-0/-home-user-Quince/7efe80ae-a049-50c2-9886-98bf7ca3a04a/scratchpad/assets/cja_a2c.png"/>
          <p:cNvPicPr>
            <a:picLocks noChangeAspect="1"/>
          </p:cNvPicPr>
          <p:nvPr/>
        </p:nvPicPr>
        <p:blipFill>
          <a:blip r:embed="rId4"/>
          <a:stretch>
            <a:fillRect/>
          </a:stretch>
        </p:blipFill>
        <p:spPr>
          <a:xfrm>
            <a:off x="3822192" y="1234440"/>
            <a:ext cx="7863840" cy="1976833"/>
          </a:xfrm>
          <a:prstGeom prst="rect">
            <a:avLst/>
          </a:prstGeom>
        </p:spPr>
      </p:pic>
      <p:sp>
        <p:nvSpPr>
          <p:cNvPr id="12" name="Text 8"/>
          <p:cNvSpPr txBox="1"/>
          <p:nvPr/>
        </p:nvSpPr>
        <p:spPr>
          <a:xfrm>
            <a:off x="502920" y="4060322"/>
            <a:ext cx="2240280" cy="548640"/>
          </a:xfrm>
          <a:prstGeom prst="rect">
            <a:avLst/>
          </a:prstGeom>
          <a:noFill/>
          <a:ln/>
        </p:spPr>
        <p:txBody>
          <a:bodyPr wrap="square" lIns="0" tIns="0" rIns="0" bIns="0" rtlCol="0" anchor="ctr"/>
          <a:lstStyle/>
          <a:p>
            <a:pPr marL="0" indent="0">
              <a:buNone/>
            </a:pPr>
            <a:r>
              <a:rPr lang="en-US" sz="1150" b="1" dirty="0">
                <a:solidFill>
                  <a:srgbClr val="0A1F44"/>
                </a:solidFill>
                <a:latin typeface="Inter" pitchFamily="34" charset="0"/>
                <a:ea typeface="Inter" pitchFamily="34" charset="-122"/>
                <a:cs typeface="Inter" pitchFamily="34" charset="-120"/>
              </a:rPr>
              <a:t>A5 · Engaged after order one</a:t>
            </a:r>
            <a:endParaRPr lang="en-US" sz="1150" dirty="0"/>
          </a:p>
        </p:txBody>
      </p:sp>
      <p:sp>
        <p:nvSpPr>
          <p:cNvPr id="13" name="Shape 9"/>
          <p:cNvSpPr/>
          <p:nvPr/>
        </p:nvSpPr>
        <p:spPr>
          <a:xfrm>
            <a:off x="3785616" y="3438144"/>
            <a:ext cx="7936992" cy="1792996"/>
          </a:xfrm>
          <a:prstGeom prst="rect">
            <a:avLst/>
          </a:prstGeom>
          <a:solidFill>
            <a:srgbClr val="E2E8F0"/>
          </a:solidFill>
          <a:ln w="6350">
            <a:solidFill>
              <a:srgbClr val="E2E8F0"/>
            </a:solidFill>
            <a:prstDash val="solid"/>
          </a:ln>
        </p:spPr>
        <p:txBody>
          <a:bodyPr/>
          <a:lstStyle/>
          <a:p>
            <a:endParaRPr lang="en-US"/>
          </a:p>
        </p:txBody>
      </p:sp>
      <p:pic>
        <p:nvPicPr>
          <p:cNvPr id="14" name="Image 2" descr="/tmp/claude-0/-home-user-Quince/7efe80ae-a049-50c2-9886-98bf7ca3a04a/scratchpad/assets/cja_a5c.png"/>
          <p:cNvPicPr>
            <a:picLocks noChangeAspect="1"/>
          </p:cNvPicPr>
          <p:nvPr/>
        </p:nvPicPr>
        <p:blipFill>
          <a:blip r:embed="rId5"/>
          <a:stretch>
            <a:fillRect/>
          </a:stretch>
        </p:blipFill>
        <p:spPr>
          <a:xfrm>
            <a:off x="3822192" y="3474720"/>
            <a:ext cx="7863840" cy="1719844"/>
          </a:xfrm>
          <a:prstGeom prst="rect">
            <a:avLst/>
          </a:prstGeom>
        </p:spPr>
      </p:pic>
      <p:sp>
        <p:nvSpPr>
          <p:cNvPr id="15" name="Shape 10"/>
          <p:cNvSpPr/>
          <p:nvPr/>
        </p:nvSpPr>
        <p:spPr>
          <a:xfrm>
            <a:off x="502920" y="5577840"/>
            <a:ext cx="11183112" cy="512064"/>
          </a:xfrm>
          <a:prstGeom prst="roundRect">
            <a:avLst>
              <a:gd name="adj" fmla="val 17857"/>
            </a:avLst>
          </a:prstGeom>
          <a:solidFill>
            <a:srgbClr val="EFF6FF"/>
          </a:solidFill>
          <a:ln w="6350">
            <a:solidFill>
              <a:srgbClr val="EFF6FF"/>
            </a:solidFill>
            <a:prstDash val="solid"/>
          </a:ln>
        </p:spPr>
        <p:txBody>
          <a:bodyPr/>
          <a:lstStyle/>
          <a:p>
            <a:endParaRPr lang="en-US"/>
          </a:p>
        </p:txBody>
      </p:sp>
      <p:sp>
        <p:nvSpPr>
          <p:cNvPr id="16" name="Shape 11"/>
          <p:cNvSpPr/>
          <p:nvPr/>
        </p:nvSpPr>
        <p:spPr>
          <a:xfrm>
            <a:off x="640080" y="5669280"/>
            <a:ext cx="329184" cy="329184"/>
          </a:xfrm>
          <a:prstGeom prst="ellipse">
            <a:avLst/>
          </a:prstGeom>
          <a:solidFill>
            <a:srgbClr val="1D4ED8"/>
          </a:solidFill>
          <a:ln w="6350">
            <a:solidFill>
              <a:srgbClr val="1D4ED8"/>
            </a:solidFill>
            <a:prstDash val="solid"/>
          </a:ln>
        </p:spPr>
        <p:txBody>
          <a:bodyPr/>
          <a:lstStyle/>
          <a:p>
            <a:endParaRPr lang="en-US"/>
          </a:p>
        </p:txBody>
      </p:sp>
      <p:pic>
        <p:nvPicPr>
          <p:cNvPr id="17" name="Image 3" descr="preencoded.png"/>
          <p:cNvPicPr>
            <a:picLocks noChangeAspect="1"/>
          </p:cNvPicPr>
          <p:nvPr/>
        </p:nvPicPr>
        <p:blipFill>
          <a:blip r:embed="rId6"/>
          <a:stretch>
            <a:fillRect/>
          </a:stretch>
        </p:blipFill>
        <p:spPr>
          <a:xfrm>
            <a:off x="712500" y="5741700"/>
            <a:ext cx="184343" cy="184343"/>
          </a:xfrm>
          <a:prstGeom prst="rect">
            <a:avLst/>
          </a:prstGeom>
        </p:spPr>
      </p:pic>
      <p:sp>
        <p:nvSpPr>
          <p:cNvPr id="18" name="Text 12"/>
          <p:cNvSpPr txBox="1"/>
          <p:nvPr/>
        </p:nvSpPr>
        <p:spPr>
          <a:xfrm>
            <a:off x="1097280" y="5577840"/>
            <a:ext cx="10424160" cy="512064"/>
          </a:xfrm>
          <a:prstGeom prst="rect">
            <a:avLst/>
          </a:prstGeom>
          <a:noFill/>
          <a:ln/>
        </p:spPr>
        <p:txBody>
          <a:bodyPr wrap="square" lIns="0" tIns="0" rIns="0" bIns="0" rtlCol="0" anchor="ctr"/>
          <a:lstStyle/>
          <a:p>
            <a:pPr marL="0" indent="0">
              <a:buNone/>
            </a:pPr>
            <a:r>
              <a:rPr lang="en-US" sz="1300" b="1" dirty="0">
                <a:solidFill>
                  <a:srgbClr val="0A1F44"/>
                </a:solidFill>
                <a:latin typeface="Inter" pitchFamily="34" charset="0"/>
                <a:ea typeface="Inter" pitchFamily="34" charset="-122"/>
                <a:cs typeface="Inter" pitchFamily="34" charset="-120"/>
              </a:rPr>
              <a:t>Engaged buyers are 24.5% of buyers but 66% of repeaters (A2 overstates this, since owned visits only log at purchase). After order one, app users still repeat 21.5% vs 11.7% for SMS (A5, the cleaner test)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9326880" cy="841248"/>
          </a:xfrm>
          <a:prstGeom prst="rect">
            <a:avLst/>
          </a:prstGeom>
          <a:noFill/>
          <a:ln/>
        </p:spPr>
        <p:txBody>
          <a:bodyPr wrap="square" lIns="0" tIns="0" rIns="0" bIns="0" rtlCol="0" anchor="ctr"/>
          <a:lstStyle/>
          <a:p>
            <a:pPr marL="0" indent="0">
              <a:buNone/>
            </a:pPr>
            <a:r>
              <a:rPr lang="en-US" sz="2400" b="1" dirty="0">
                <a:solidFill>
                  <a:srgbClr val="0A1F44"/>
                </a:solidFill>
                <a:latin typeface="Inter" pitchFamily="34" charset="0"/>
                <a:ea typeface="Inter" pitchFamily="34" charset="-122"/>
                <a:cs typeface="Inter" pitchFamily="34" charset="-120"/>
              </a:rPr>
              <a:t>Why we blend paid speed with owned retention</a:t>
            </a:r>
            <a:endParaRPr lang="en-US" sz="2400" dirty="0"/>
          </a:p>
        </p:txBody>
      </p:sp>
      <p:pic>
        <p:nvPicPr>
          <p:cNvPr id="3" name="Image 0" descr="/tmp/claude-0/-home-user-Quince/7efe80ae-a049-50c2-9886-98bf7ca3a04a/scratchpad/assets/quince.png"/>
          <p:cNvPicPr>
            <a:picLocks noChangeAspect="1"/>
          </p:cNvPicPr>
          <p:nvPr/>
        </p:nvPicPr>
        <p:blipFill>
          <a:blip r:embed="rId3"/>
          <a:stretch>
            <a:fillRect/>
          </a:stretch>
        </p:blipFill>
        <p:spPr>
          <a:xfrm>
            <a:off x="10236708" y="615544"/>
            <a:ext cx="777240" cy="231951"/>
          </a:xfrm>
          <a:prstGeom prst="rect">
            <a:avLst/>
          </a:prstGeom>
        </p:spPr>
      </p:pic>
      <p:sp>
        <p:nvSpPr>
          <p:cNvPr id="4" name="Shape 1"/>
          <p:cNvSpPr/>
          <p:nvPr/>
        </p:nvSpPr>
        <p:spPr>
          <a:xfrm>
            <a:off x="11155680" y="603504"/>
            <a:ext cx="530352" cy="256032"/>
          </a:xfrm>
          <a:prstGeom prst="roundRect">
            <a:avLst>
              <a:gd name="adj" fmla="val 50000"/>
            </a:avLst>
          </a:prstGeom>
          <a:solidFill>
            <a:srgbClr val="0A1F44"/>
          </a:solidFill>
          <a:ln w="6350">
            <a:solidFill>
              <a:srgbClr val="0A1F44"/>
            </a:solidFill>
            <a:prstDash val="solid"/>
          </a:ln>
        </p:spPr>
        <p:txBody>
          <a:bodyPr/>
          <a:lstStyle/>
          <a:p>
            <a:endParaRPr lang="en-US"/>
          </a:p>
        </p:txBody>
      </p:sp>
      <p:sp>
        <p:nvSpPr>
          <p:cNvPr id="5" name="Text 2"/>
          <p:cNvSpPr txBox="1"/>
          <p:nvPr/>
        </p:nvSpPr>
        <p:spPr>
          <a:xfrm>
            <a:off x="11155680" y="603504"/>
            <a:ext cx="53035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G27</a:t>
            </a:r>
            <a:endParaRPr lang="en-US" sz="950" dirty="0"/>
          </a:p>
        </p:txBody>
      </p:sp>
      <p:sp>
        <p:nvSpPr>
          <p:cNvPr id="6" name="Shape 3"/>
          <p:cNvSpPr/>
          <p:nvPr/>
        </p:nvSpPr>
        <p:spPr>
          <a:xfrm>
            <a:off x="502920" y="6400800"/>
            <a:ext cx="11183112" cy="0"/>
          </a:xfrm>
          <a:prstGeom prst="line">
            <a:avLst/>
          </a:prstGeom>
          <a:noFill/>
          <a:ln w="9525">
            <a:solidFill>
              <a:srgbClr val="E2E8F0"/>
            </a:solidFill>
            <a:prstDash val="solid"/>
          </a:ln>
        </p:spPr>
        <p:txBody>
          <a:bodyPr/>
          <a:lstStyle/>
          <a:p>
            <a:endParaRPr lang="en-US"/>
          </a:p>
        </p:txBody>
      </p:sp>
      <p:sp>
        <p:nvSpPr>
          <p:cNvPr id="7" name="Text 4"/>
          <p:cNvSpPr txBox="1"/>
          <p:nvPr/>
        </p:nvSpPr>
        <p:spPr>
          <a:xfrm>
            <a:off x="502920" y="6464808"/>
            <a:ext cx="9418320" cy="256032"/>
          </a:xfrm>
          <a:prstGeom prst="rect">
            <a:avLst/>
          </a:prstGeom>
          <a:noFill/>
          <a:ln/>
        </p:spPr>
        <p:txBody>
          <a:bodyPr wrap="square" lIns="0" tIns="0" rIns="0" bIns="0" rtlCol="0" anchor="ctr"/>
          <a:lstStyle/>
          <a:p>
            <a:pPr marL="0" indent="0">
              <a:buNone/>
            </a:pPr>
            <a:r>
              <a:rPr lang="en-US" sz="800" dirty="0">
                <a:solidFill>
                  <a:srgbClr val="64748B"/>
                </a:solidFill>
                <a:latin typeface="Inter" pitchFamily="34" charset="0"/>
                <a:ea typeface="Inter" pitchFamily="34" charset="-122"/>
                <a:cs typeface="Inter" pitchFamily="34" charset="-120"/>
              </a:rPr>
              <a:t>Source: case section 4 (Options A, B, C), Exhibit I (cost and timing) and Exhibit K (risk matrix); our analysis.</a:t>
            </a:r>
            <a:endParaRPr lang="en-US" sz="800" dirty="0"/>
          </a:p>
        </p:txBody>
      </p:sp>
      <p:sp>
        <p:nvSpPr>
          <p:cNvPr id="8" name="Text 5"/>
          <p:cNvSpPr txBox="1"/>
          <p:nvPr/>
        </p:nvSpPr>
        <p:spPr>
          <a:xfrm>
            <a:off x="9966960" y="6464808"/>
            <a:ext cx="1719072" cy="256032"/>
          </a:xfrm>
          <a:prstGeom prst="rect">
            <a:avLst/>
          </a:prstGeom>
          <a:noFill/>
          <a:ln/>
        </p:spPr>
        <p:txBody>
          <a:bodyPr wrap="square" lIns="0" tIns="0" rIns="0" bIns="0" rtlCol="0" anchor="ctr"/>
          <a:lstStyle/>
          <a:p>
            <a:pPr marL="0" indent="0" algn="r">
              <a:buNone/>
            </a:pPr>
            <a:r>
              <a:rPr lang="en-US" sz="800" dirty="0">
                <a:solidFill>
                  <a:srgbClr val="64748B"/>
                </a:solidFill>
                <a:latin typeface="Inter" pitchFamily="34" charset="0"/>
                <a:ea typeface="Inter" pitchFamily="34" charset="-122"/>
                <a:cs typeface="Inter" pitchFamily="34" charset="-120"/>
              </a:rPr>
              <a:t>Team G27  ·  14</a:t>
            </a:r>
            <a:endParaRPr lang="en-US" sz="800" dirty="0"/>
          </a:p>
        </p:txBody>
      </p:sp>
      <p:sp>
        <p:nvSpPr>
          <p:cNvPr id="9" name="Shape 6"/>
          <p:cNvSpPr/>
          <p:nvPr/>
        </p:nvSpPr>
        <p:spPr>
          <a:xfrm>
            <a:off x="502920" y="1325880"/>
            <a:ext cx="3648456" cy="2514600"/>
          </a:xfrm>
          <a:prstGeom prst="roundRect">
            <a:avLst>
              <a:gd name="adj" fmla="val 2182"/>
            </a:avLst>
          </a:prstGeom>
          <a:solidFill>
            <a:srgbClr val="F8FAFC"/>
          </a:solidFill>
          <a:ln w="9525">
            <a:solidFill>
              <a:srgbClr val="E2E8F0"/>
            </a:solidFill>
            <a:prstDash val="solid"/>
          </a:ln>
        </p:spPr>
        <p:txBody>
          <a:bodyPr/>
          <a:lstStyle/>
          <a:p>
            <a:endParaRPr lang="en-US"/>
          </a:p>
        </p:txBody>
      </p:sp>
      <p:sp>
        <p:nvSpPr>
          <p:cNvPr id="10" name="Shape 7"/>
          <p:cNvSpPr/>
          <p:nvPr/>
        </p:nvSpPr>
        <p:spPr>
          <a:xfrm>
            <a:off x="667512" y="1463040"/>
            <a:ext cx="548640" cy="548640"/>
          </a:xfrm>
          <a:prstGeom prst="ellipse">
            <a:avLst/>
          </a:prstGeom>
          <a:solidFill>
            <a:srgbClr val="0A1F44"/>
          </a:solidFill>
          <a:ln w="6350">
            <a:solidFill>
              <a:srgbClr val="0A1F44"/>
            </a:solidFill>
            <a:prstDash val="solid"/>
          </a:ln>
        </p:spPr>
        <p:txBody>
          <a:bodyPr/>
          <a:lstStyle/>
          <a:p>
            <a:endParaRPr lang="en-US"/>
          </a:p>
        </p:txBody>
      </p:sp>
      <p:sp>
        <p:nvSpPr>
          <p:cNvPr id="11" name="Text 8"/>
          <p:cNvSpPr txBox="1"/>
          <p:nvPr/>
        </p:nvSpPr>
        <p:spPr>
          <a:xfrm>
            <a:off x="667512" y="14630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Inter" pitchFamily="34" charset="0"/>
                <a:ea typeface="Inter" pitchFamily="34" charset="-122"/>
                <a:cs typeface="Inter" pitchFamily="34" charset="-120"/>
              </a:rPr>
              <a:t>B</a:t>
            </a:r>
            <a:endParaRPr lang="en-US" sz="2000" dirty="0"/>
          </a:p>
        </p:txBody>
      </p:sp>
      <p:sp>
        <p:nvSpPr>
          <p:cNvPr id="12" name="Text 9"/>
          <p:cNvSpPr txBox="1"/>
          <p:nvPr/>
        </p:nvSpPr>
        <p:spPr>
          <a:xfrm>
            <a:off x="1344168" y="1463040"/>
            <a:ext cx="2651760" cy="237744"/>
          </a:xfrm>
          <a:prstGeom prst="rect">
            <a:avLst/>
          </a:prstGeom>
          <a:noFill/>
          <a:ln/>
        </p:spPr>
        <p:txBody>
          <a:bodyPr wrap="square" lIns="0" tIns="0" rIns="0" bIns="0" rtlCol="0" anchor="t"/>
          <a:lstStyle/>
          <a:p>
            <a:pPr marL="0" indent="0">
              <a:buNone/>
            </a:pPr>
            <a:r>
              <a:rPr lang="en-US" sz="950" dirty="0">
                <a:solidFill>
                  <a:srgbClr val="64748B"/>
                </a:solidFill>
                <a:latin typeface="Inter" pitchFamily="34" charset="0"/>
                <a:ea typeface="Inter" pitchFamily="34" charset="-122"/>
                <a:cs typeface="Inter" pitchFamily="34" charset="-120"/>
              </a:rPr>
              <a:t>Option B</a:t>
            </a:r>
            <a:endParaRPr lang="en-US" sz="950" dirty="0"/>
          </a:p>
        </p:txBody>
      </p:sp>
      <p:sp>
        <p:nvSpPr>
          <p:cNvPr id="13" name="Text 10"/>
          <p:cNvSpPr txBox="1"/>
          <p:nvPr/>
        </p:nvSpPr>
        <p:spPr>
          <a:xfrm>
            <a:off x="1344168" y="1682496"/>
            <a:ext cx="2697480" cy="365760"/>
          </a:xfrm>
          <a:prstGeom prst="rect">
            <a:avLst/>
          </a:prstGeom>
          <a:noFill/>
          <a:ln/>
        </p:spPr>
        <p:txBody>
          <a:bodyPr wrap="square" lIns="0" tIns="0" rIns="0" bIns="0" rtlCol="0" anchor="t"/>
          <a:lstStyle/>
          <a:p>
            <a:pPr marL="0" indent="0">
              <a:buNone/>
            </a:pPr>
            <a:r>
              <a:rPr lang="en-US" sz="1200" b="1" dirty="0">
                <a:solidFill>
                  <a:srgbClr val="0F172A"/>
                </a:solidFill>
                <a:latin typeface="Inter" pitchFamily="34" charset="0"/>
                <a:ea typeface="Inter" pitchFamily="34" charset="-122"/>
                <a:cs typeface="Inter" pitchFamily="34" charset="-120"/>
              </a:rPr>
              <a:t>Paid precision and suppression</a:t>
            </a:r>
            <a:endParaRPr lang="en-US" sz="1200" dirty="0"/>
          </a:p>
        </p:txBody>
      </p:sp>
      <p:pic>
        <p:nvPicPr>
          <p:cNvPr id="14" name="Image 1" descr="preencoded.png"/>
          <p:cNvPicPr>
            <a:picLocks noChangeAspect="1"/>
          </p:cNvPicPr>
          <p:nvPr/>
        </p:nvPicPr>
        <p:blipFill>
          <a:blip r:embed="rId4"/>
          <a:stretch>
            <a:fillRect/>
          </a:stretch>
        </p:blipFill>
        <p:spPr>
          <a:xfrm>
            <a:off x="685800" y="2267712"/>
            <a:ext cx="237744" cy="237744"/>
          </a:xfrm>
          <a:prstGeom prst="rect">
            <a:avLst/>
          </a:prstGeom>
        </p:spPr>
      </p:pic>
      <p:sp>
        <p:nvSpPr>
          <p:cNvPr id="15" name="Text 11"/>
          <p:cNvSpPr txBox="1"/>
          <p:nvPr/>
        </p:nvSpPr>
        <p:spPr>
          <a:xfrm>
            <a:off x="1005840" y="2212848"/>
            <a:ext cx="3017520" cy="457200"/>
          </a:xfrm>
          <a:prstGeom prst="rect">
            <a:avLst/>
          </a:prstGeom>
          <a:noFill/>
          <a:ln/>
        </p:spPr>
        <p:txBody>
          <a:bodyPr wrap="square" lIns="0" tIns="0" rIns="0" bIns="0" rtlCol="0" anchor="t"/>
          <a:lstStyle/>
          <a:p>
            <a:pPr marL="0" indent="0">
              <a:buNone/>
            </a:pPr>
            <a:r>
              <a:rPr lang="en-US" sz="1050" dirty="0">
                <a:solidFill>
                  <a:srgbClr val="334155"/>
                </a:solidFill>
                <a:latin typeface="Inter" pitchFamily="34" charset="0"/>
                <a:ea typeface="Inter" pitchFamily="34" charset="-122"/>
                <a:cs typeface="Inter" pitchFamily="34" charset="-120"/>
              </a:rPr>
              <a:t>Results in weeks, $0 incremental</a:t>
            </a:r>
            <a:endParaRPr lang="en-US" sz="1050" dirty="0"/>
          </a:p>
        </p:txBody>
      </p:sp>
      <p:pic>
        <p:nvPicPr>
          <p:cNvPr id="16" name="Image 2" descr="preencoded.png"/>
          <p:cNvPicPr>
            <a:picLocks noChangeAspect="1"/>
          </p:cNvPicPr>
          <p:nvPr/>
        </p:nvPicPr>
        <p:blipFill>
          <a:blip r:embed="rId5"/>
          <a:stretch>
            <a:fillRect/>
          </a:stretch>
        </p:blipFill>
        <p:spPr>
          <a:xfrm>
            <a:off x="685800" y="2852928"/>
            <a:ext cx="237744" cy="237744"/>
          </a:xfrm>
          <a:prstGeom prst="rect">
            <a:avLst/>
          </a:prstGeom>
        </p:spPr>
      </p:pic>
      <p:sp>
        <p:nvSpPr>
          <p:cNvPr id="17" name="Text 12"/>
          <p:cNvSpPr txBox="1"/>
          <p:nvPr/>
        </p:nvSpPr>
        <p:spPr>
          <a:xfrm>
            <a:off x="1005840" y="2798064"/>
            <a:ext cx="3017520" cy="822960"/>
          </a:xfrm>
          <a:prstGeom prst="rect">
            <a:avLst/>
          </a:prstGeom>
          <a:noFill/>
          <a:ln/>
        </p:spPr>
        <p:txBody>
          <a:bodyPr wrap="square" lIns="0" tIns="0" rIns="0" bIns="0" rtlCol="0" anchor="t"/>
          <a:lstStyle/>
          <a:p>
            <a:pPr marL="0" indent="0">
              <a:buNone/>
            </a:pPr>
            <a:r>
              <a:rPr lang="en-US" sz="1050" dirty="0">
                <a:solidFill>
                  <a:srgbClr val="334155"/>
                </a:solidFill>
                <a:latin typeface="Inter" pitchFamily="34" charset="0"/>
                <a:ea typeface="Inter" pitchFamily="34" charset="-122"/>
                <a:cs typeface="Inter" pitchFamily="34" charset="-120"/>
              </a:rPr>
              <a:t>On its own: exposed to signal loss, and builds no lasting relationship</a:t>
            </a:r>
            <a:endParaRPr lang="en-US" sz="1050" dirty="0"/>
          </a:p>
        </p:txBody>
      </p:sp>
      <p:sp>
        <p:nvSpPr>
          <p:cNvPr id="18" name="Shape 13"/>
          <p:cNvSpPr/>
          <p:nvPr/>
        </p:nvSpPr>
        <p:spPr>
          <a:xfrm>
            <a:off x="2162556" y="3913632"/>
            <a:ext cx="329184" cy="329184"/>
          </a:xfrm>
          <a:prstGeom prst="downArrow">
            <a:avLst/>
          </a:prstGeom>
          <a:solidFill>
            <a:srgbClr val="BFDBFE"/>
          </a:solidFill>
          <a:ln w="6350">
            <a:solidFill>
              <a:srgbClr val="BFDBFE"/>
            </a:solidFill>
            <a:prstDash val="solid"/>
          </a:ln>
        </p:spPr>
        <p:txBody>
          <a:bodyPr/>
          <a:lstStyle/>
          <a:p>
            <a:endParaRPr lang="en-US"/>
          </a:p>
        </p:txBody>
      </p:sp>
      <p:sp>
        <p:nvSpPr>
          <p:cNvPr id="19" name="Shape 14"/>
          <p:cNvSpPr/>
          <p:nvPr/>
        </p:nvSpPr>
        <p:spPr>
          <a:xfrm>
            <a:off x="502920" y="4315968"/>
            <a:ext cx="3648456" cy="868680"/>
          </a:xfrm>
          <a:prstGeom prst="roundRect">
            <a:avLst>
              <a:gd name="adj" fmla="val 6316"/>
            </a:avLst>
          </a:prstGeom>
          <a:solidFill>
            <a:srgbClr val="0A1F44"/>
          </a:solidFill>
          <a:ln w="6350">
            <a:solidFill>
              <a:srgbClr val="0A1F44"/>
            </a:solidFill>
            <a:prstDash val="solid"/>
          </a:ln>
        </p:spPr>
        <p:txBody>
          <a:bodyPr/>
          <a:lstStyle/>
          <a:p>
            <a:endParaRPr lang="en-US"/>
          </a:p>
        </p:txBody>
      </p:sp>
      <p:sp>
        <p:nvSpPr>
          <p:cNvPr id="20" name="Text 15"/>
          <p:cNvSpPr txBox="1"/>
          <p:nvPr/>
        </p:nvSpPr>
        <p:spPr>
          <a:xfrm>
            <a:off x="685800" y="4315968"/>
            <a:ext cx="3282696" cy="868680"/>
          </a:xfrm>
          <a:prstGeom prst="rect">
            <a:avLst/>
          </a:prstGeom>
          <a:noFill/>
          <a:ln/>
        </p:spPr>
        <p:txBody>
          <a:bodyPr wrap="square" lIns="0" tIns="0" rIns="0" bIns="0" rtlCol="0" anchor="ctr"/>
          <a:lstStyle/>
          <a:p>
            <a:pPr marL="0" indent="0">
              <a:buNone/>
            </a:pPr>
            <a:r>
              <a:rPr lang="en-US" sz="1500" b="1" dirty="0">
                <a:solidFill>
                  <a:srgbClr val="FFFFFF"/>
                </a:solidFill>
                <a:latin typeface="Inter" pitchFamily="34" charset="0"/>
                <a:ea typeface="Inter" pitchFamily="34" charset="-122"/>
                <a:cs typeface="Inter" pitchFamily="34" charset="-120"/>
              </a:rPr>
              <a:t>Proves fast</a:t>
            </a:r>
            <a:endParaRPr lang="en-US" sz="1200" dirty="0"/>
          </a:p>
          <a:p>
            <a:pPr marL="0" indent="0">
              <a:buNone/>
            </a:pPr>
            <a:r>
              <a:rPr lang="en-US" sz="1000" dirty="0">
                <a:solidFill>
                  <a:srgbClr val="DCE7FB"/>
                </a:solidFill>
                <a:latin typeface="Inter" pitchFamily="34" charset="0"/>
                <a:ea typeface="Inter" pitchFamily="34" charset="-122"/>
                <a:cs typeface="Inter" pitchFamily="34" charset="-120"/>
              </a:rPr>
              <a:t>Savings held in the $14M line until a holdout proves them</a:t>
            </a:r>
            <a:endParaRPr lang="en-US" sz="1200" dirty="0"/>
          </a:p>
        </p:txBody>
      </p:sp>
      <p:sp>
        <p:nvSpPr>
          <p:cNvPr id="21" name="Shape 16"/>
          <p:cNvSpPr/>
          <p:nvPr/>
        </p:nvSpPr>
        <p:spPr>
          <a:xfrm>
            <a:off x="4270248" y="1325880"/>
            <a:ext cx="3648456" cy="2514600"/>
          </a:xfrm>
          <a:prstGeom prst="roundRect">
            <a:avLst>
              <a:gd name="adj" fmla="val 2182"/>
            </a:avLst>
          </a:prstGeom>
          <a:solidFill>
            <a:srgbClr val="F8FAFC"/>
          </a:solidFill>
          <a:ln w="9525">
            <a:solidFill>
              <a:srgbClr val="E2E8F0"/>
            </a:solidFill>
            <a:prstDash val="solid"/>
          </a:ln>
        </p:spPr>
        <p:txBody>
          <a:bodyPr/>
          <a:lstStyle/>
          <a:p>
            <a:endParaRPr lang="en-US"/>
          </a:p>
        </p:txBody>
      </p:sp>
      <p:sp>
        <p:nvSpPr>
          <p:cNvPr id="22" name="Shape 17"/>
          <p:cNvSpPr/>
          <p:nvPr/>
        </p:nvSpPr>
        <p:spPr>
          <a:xfrm>
            <a:off x="4434840" y="1463040"/>
            <a:ext cx="548640" cy="548640"/>
          </a:xfrm>
          <a:prstGeom prst="ellipse">
            <a:avLst/>
          </a:prstGeom>
          <a:solidFill>
            <a:srgbClr val="0A1F44"/>
          </a:solidFill>
          <a:ln w="6350">
            <a:solidFill>
              <a:srgbClr val="0A1F44"/>
            </a:solidFill>
            <a:prstDash val="solid"/>
          </a:ln>
        </p:spPr>
        <p:txBody>
          <a:bodyPr/>
          <a:lstStyle/>
          <a:p>
            <a:endParaRPr lang="en-US"/>
          </a:p>
        </p:txBody>
      </p:sp>
      <p:sp>
        <p:nvSpPr>
          <p:cNvPr id="23" name="Text 18"/>
          <p:cNvSpPr txBox="1"/>
          <p:nvPr/>
        </p:nvSpPr>
        <p:spPr>
          <a:xfrm>
            <a:off x="4434840" y="14630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Inter" pitchFamily="34" charset="0"/>
                <a:ea typeface="Inter" pitchFamily="34" charset="-122"/>
                <a:cs typeface="Inter" pitchFamily="34" charset="-120"/>
              </a:rPr>
              <a:t>A</a:t>
            </a:r>
            <a:endParaRPr lang="en-US" sz="2000" dirty="0"/>
          </a:p>
        </p:txBody>
      </p:sp>
      <p:sp>
        <p:nvSpPr>
          <p:cNvPr id="24" name="Text 19"/>
          <p:cNvSpPr txBox="1"/>
          <p:nvPr/>
        </p:nvSpPr>
        <p:spPr>
          <a:xfrm>
            <a:off x="5111496" y="1463040"/>
            <a:ext cx="2651760" cy="237744"/>
          </a:xfrm>
          <a:prstGeom prst="rect">
            <a:avLst/>
          </a:prstGeom>
          <a:noFill/>
          <a:ln/>
        </p:spPr>
        <p:txBody>
          <a:bodyPr wrap="square" lIns="0" tIns="0" rIns="0" bIns="0" rtlCol="0" anchor="t"/>
          <a:lstStyle/>
          <a:p>
            <a:pPr marL="0" indent="0">
              <a:buNone/>
            </a:pPr>
            <a:r>
              <a:rPr lang="en-US" sz="950" dirty="0">
                <a:solidFill>
                  <a:srgbClr val="64748B"/>
                </a:solidFill>
                <a:latin typeface="Inter" pitchFamily="34" charset="0"/>
                <a:ea typeface="Inter" pitchFamily="34" charset="-122"/>
                <a:cs typeface="Inter" pitchFamily="34" charset="-120"/>
              </a:rPr>
              <a:t>Option A</a:t>
            </a:r>
            <a:endParaRPr lang="en-US" sz="950" dirty="0"/>
          </a:p>
        </p:txBody>
      </p:sp>
      <p:sp>
        <p:nvSpPr>
          <p:cNvPr id="25" name="Text 20"/>
          <p:cNvSpPr txBox="1"/>
          <p:nvPr/>
        </p:nvSpPr>
        <p:spPr>
          <a:xfrm>
            <a:off x="5111496" y="1682496"/>
            <a:ext cx="2697480" cy="365760"/>
          </a:xfrm>
          <a:prstGeom prst="rect">
            <a:avLst/>
          </a:prstGeom>
          <a:noFill/>
          <a:ln/>
        </p:spPr>
        <p:txBody>
          <a:bodyPr wrap="square" lIns="0" tIns="0" rIns="0" bIns="0" rtlCol="0" anchor="t"/>
          <a:lstStyle/>
          <a:p>
            <a:pPr marL="0" indent="0">
              <a:buNone/>
            </a:pPr>
            <a:r>
              <a:rPr lang="en-US" sz="1200" b="1" dirty="0">
                <a:solidFill>
                  <a:srgbClr val="0F172A"/>
                </a:solidFill>
                <a:latin typeface="Inter" pitchFamily="34" charset="0"/>
                <a:ea typeface="Inter" pitchFamily="34" charset="-122"/>
                <a:cs typeface="Inter" pitchFamily="34" charset="-120"/>
              </a:rPr>
              <a:t>Owned lifecycle precision</a:t>
            </a:r>
            <a:endParaRPr lang="en-US" sz="1200" dirty="0"/>
          </a:p>
        </p:txBody>
      </p:sp>
      <p:pic>
        <p:nvPicPr>
          <p:cNvPr id="26" name="Image 3" descr="preencoded.png"/>
          <p:cNvPicPr>
            <a:picLocks noChangeAspect="1"/>
          </p:cNvPicPr>
          <p:nvPr/>
        </p:nvPicPr>
        <p:blipFill>
          <a:blip r:embed="rId4"/>
          <a:stretch>
            <a:fillRect/>
          </a:stretch>
        </p:blipFill>
        <p:spPr>
          <a:xfrm>
            <a:off x="4453128" y="2267712"/>
            <a:ext cx="237744" cy="237744"/>
          </a:xfrm>
          <a:prstGeom prst="rect">
            <a:avLst/>
          </a:prstGeom>
        </p:spPr>
      </p:pic>
      <p:sp>
        <p:nvSpPr>
          <p:cNvPr id="27" name="Text 21"/>
          <p:cNvSpPr txBox="1"/>
          <p:nvPr/>
        </p:nvSpPr>
        <p:spPr>
          <a:xfrm>
            <a:off x="4773168" y="2212848"/>
            <a:ext cx="3017520" cy="457200"/>
          </a:xfrm>
          <a:prstGeom prst="rect">
            <a:avLst/>
          </a:prstGeom>
          <a:noFill/>
          <a:ln/>
        </p:spPr>
        <p:txBody>
          <a:bodyPr wrap="square" lIns="0" tIns="0" rIns="0" bIns="0" rtlCol="0" anchor="t"/>
          <a:lstStyle/>
          <a:p>
            <a:pPr marL="0" indent="0">
              <a:buNone/>
            </a:pPr>
            <a:r>
              <a:rPr lang="en-US" sz="1050" dirty="0">
                <a:solidFill>
                  <a:srgbClr val="334155"/>
                </a:solidFill>
                <a:latin typeface="Inter" pitchFamily="34" charset="0"/>
                <a:ea typeface="Inter" pitchFamily="34" charset="-122"/>
                <a:cs typeface="Inter" pitchFamily="34" charset="-120"/>
              </a:rPr>
              <a:t>Lowest cost per touch; insulated from ATT</a:t>
            </a:r>
            <a:endParaRPr lang="en-US" sz="1050" dirty="0"/>
          </a:p>
        </p:txBody>
      </p:sp>
      <p:pic>
        <p:nvPicPr>
          <p:cNvPr id="28" name="Image 4" descr="preencoded.png"/>
          <p:cNvPicPr>
            <a:picLocks noChangeAspect="1"/>
          </p:cNvPicPr>
          <p:nvPr/>
        </p:nvPicPr>
        <p:blipFill>
          <a:blip r:embed="rId5"/>
          <a:stretch>
            <a:fillRect/>
          </a:stretch>
        </p:blipFill>
        <p:spPr>
          <a:xfrm>
            <a:off x="4453128" y="2852928"/>
            <a:ext cx="237744" cy="237744"/>
          </a:xfrm>
          <a:prstGeom prst="rect">
            <a:avLst/>
          </a:prstGeom>
        </p:spPr>
      </p:pic>
      <p:sp>
        <p:nvSpPr>
          <p:cNvPr id="29" name="Text 22"/>
          <p:cNvSpPr txBox="1"/>
          <p:nvPr/>
        </p:nvSpPr>
        <p:spPr>
          <a:xfrm>
            <a:off x="4773168" y="2798064"/>
            <a:ext cx="3017520" cy="822960"/>
          </a:xfrm>
          <a:prstGeom prst="rect">
            <a:avLst/>
          </a:prstGeom>
          <a:noFill/>
          <a:ln/>
        </p:spPr>
        <p:txBody>
          <a:bodyPr wrap="square" lIns="0" tIns="0" rIns="0" bIns="0" rtlCol="0" anchor="t"/>
          <a:lstStyle/>
          <a:p>
            <a:pPr marL="0" indent="0">
              <a:buNone/>
            </a:pPr>
            <a:r>
              <a:rPr lang="en-US" sz="1050" dirty="0">
                <a:solidFill>
                  <a:srgbClr val="334155"/>
                </a:solidFill>
                <a:latin typeface="Inter" pitchFamily="34" charset="0"/>
                <a:ea typeface="Inter" pitchFamily="34" charset="-122"/>
                <a:cs typeface="Inter" pitchFamily="34" charset="-120"/>
              </a:rPr>
              <a:t>On its own: limited to today's list, where only 1 in 4 buyers engage</a:t>
            </a:r>
            <a:endParaRPr lang="en-US" sz="1050" dirty="0"/>
          </a:p>
        </p:txBody>
      </p:sp>
      <p:sp>
        <p:nvSpPr>
          <p:cNvPr id="30" name="Shape 23"/>
          <p:cNvSpPr/>
          <p:nvPr/>
        </p:nvSpPr>
        <p:spPr>
          <a:xfrm>
            <a:off x="5929884" y="3913632"/>
            <a:ext cx="329184" cy="329184"/>
          </a:xfrm>
          <a:prstGeom prst="downArrow">
            <a:avLst/>
          </a:prstGeom>
          <a:solidFill>
            <a:srgbClr val="BFDBFE"/>
          </a:solidFill>
          <a:ln w="6350">
            <a:solidFill>
              <a:srgbClr val="BFDBFE"/>
            </a:solidFill>
            <a:prstDash val="solid"/>
          </a:ln>
        </p:spPr>
        <p:txBody>
          <a:bodyPr/>
          <a:lstStyle/>
          <a:p>
            <a:endParaRPr lang="en-US"/>
          </a:p>
        </p:txBody>
      </p:sp>
      <p:sp>
        <p:nvSpPr>
          <p:cNvPr id="31" name="Shape 24"/>
          <p:cNvSpPr/>
          <p:nvPr/>
        </p:nvSpPr>
        <p:spPr>
          <a:xfrm>
            <a:off x="4270248" y="4315968"/>
            <a:ext cx="3648456" cy="868680"/>
          </a:xfrm>
          <a:prstGeom prst="roundRect">
            <a:avLst>
              <a:gd name="adj" fmla="val 6316"/>
            </a:avLst>
          </a:prstGeom>
          <a:solidFill>
            <a:srgbClr val="1D4ED8"/>
          </a:solidFill>
          <a:ln w="6350">
            <a:solidFill>
              <a:srgbClr val="1D4ED8"/>
            </a:solidFill>
            <a:prstDash val="solid"/>
          </a:ln>
        </p:spPr>
        <p:txBody>
          <a:bodyPr/>
          <a:lstStyle/>
          <a:p>
            <a:endParaRPr lang="en-US"/>
          </a:p>
        </p:txBody>
      </p:sp>
      <p:sp>
        <p:nvSpPr>
          <p:cNvPr id="32" name="Text 25"/>
          <p:cNvSpPr txBox="1"/>
          <p:nvPr/>
        </p:nvSpPr>
        <p:spPr>
          <a:xfrm>
            <a:off x="4453128" y="4315968"/>
            <a:ext cx="3282696" cy="868680"/>
          </a:xfrm>
          <a:prstGeom prst="rect">
            <a:avLst/>
          </a:prstGeom>
          <a:noFill/>
          <a:ln/>
        </p:spPr>
        <p:txBody>
          <a:bodyPr wrap="square" lIns="0" tIns="0" rIns="0" bIns="0" rtlCol="0" anchor="ctr"/>
          <a:lstStyle/>
          <a:p>
            <a:pPr marL="0" indent="0">
              <a:buNone/>
            </a:pPr>
            <a:r>
              <a:rPr lang="en-US" sz="1500" b="1" dirty="0">
                <a:solidFill>
                  <a:srgbClr val="FFFFFF"/>
                </a:solidFill>
                <a:latin typeface="Inter" pitchFamily="34" charset="0"/>
                <a:ea typeface="Inter" pitchFamily="34" charset="-122"/>
                <a:cs typeface="Inter" pitchFamily="34" charset="-120"/>
              </a:rPr>
              <a:t>Builds it</a:t>
            </a:r>
            <a:endParaRPr lang="en-US" sz="1200" dirty="0"/>
          </a:p>
          <a:p>
            <a:pPr marL="0" indent="0">
              <a:buNone/>
            </a:pPr>
            <a:r>
              <a:rPr lang="en-US" sz="1000" dirty="0">
                <a:solidFill>
                  <a:srgbClr val="DCE7FB"/>
                </a:solidFill>
                <a:latin typeface="Inter" pitchFamily="34" charset="0"/>
                <a:ea typeface="Inter" pitchFamily="34" charset="-122"/>
                <a:cs typeface="Inter" pitchFamily="34" charset="-120"/>
              </a:rPr>
              <a:t>Capture grows the list; journeys earn order two</a:t>
            </a:r>
            <a:endParaRPr lang="en-US" sz="1200" dirty="0"/>
          </a:p>
        </p:txBody>
      </p:sp>
      <p:sp>
        <p:nvSpPr>
          <p:cNvPr id="33" name="Shape 26"/>
          <p:cNvSpPr/>
          <p:nvPr/>
        </p:nvSpPr>
        <p:spPr>
          <a:xfrm>
            <a:off x="8037576" y="1325880"/>
            <a:ext cx="3648456" cy="2514600"/>
          </a:xfrm>
          <a:prstGeom prst="roundRect">
            <a:avLst>
              <a:gd name="adj" fmla="val 2182"/>
            </a:avLst>
          </a:prstGeom>
          <a:solidFill>
            <a:srgbClr val="F8FAFC"/>
          </a:solidFill>
          <a:ln w="9525">
            <a:solidFill>
              <a:srgbClr val="E2E8F0"/>
            </a:solidFill>
            <a:prstDash val="solid"/>
          </a:ln>
        </p:spPr>
        <p:txBody>
          <a:bodyPr/>
          <a:lstStyle/>
          <a:p>
            <a:endParaRPr lang="en-US"/>
          </a:p>
        </p:txBody>
      </p:sp>
      <p:sp>
        <p:nvSpPr>
          <p:cNvPr id="34" name="Shape 27"/>
          <p:cNvSpPr/>
          <p:nvPr/>
        </p:nvSpPr>
        <p:spPr>
          <a:xfrm>
            <a:off x="8202168" y="1463040"/>
            <a:ext cx="548640" cy="548640"/>
          </a:xfrm>
          <a:prstGeom prst="ellipse">
            <a:avLst/>
          </a:prstGeom>
          <a:solidFill>
            <a:srgbClr val="0A1F44"/>
          </a:solidFill>
          <a:ln w="6350">
            <a:solidFill>
              <a:srgbClr val="0A1F44"/>
            </a:solidFill>
            <a:prstDash val="solid"/>
          </a:ln>
        </p:spPr>
        <p:txBody>
          <a:bodyPr/>
          <a:lstStyle/>
          <a:p>
            <a:endParaRPr lang="en-US"/>
          </a:p>
        </p:txBody>
      </p:sp>
      <p:sp>
        <p:nvSpPr>
          <p:cNvPr id="35" name="Text 28"/>
          <p:cNvSpPr txBox="1"/>
          <p:nvPr/>
        </p:nvSpPr>
        <p:spPr>
          <a:xfrm>
            <a:off x="8202168" y="14630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Inter" pitchFamily="34" charset="0"/>
                <a:ea typeface="Inter" pitchFamily="34" charset="-122"/>
                <a:cs typeface="Inter" pitchFamily="34" charset="-120"/>
              </a:rPr>
              <a:t>C</a:t>
            </a:r>
            <a:endParaRPr lang="en-US" sz="2000" dirty="0"/>
          </a:p>
        </p:txBody>
      </p:sp>
      <p:sp>
        <p:nvSpPr>
          <p:cNvPr id="36" name="Text 29"/>
          <p:cNvSpPr txBox="1"/>
          <p:nvPr/>
        </p:nvSpPr>
        <p:spPr>
          <a:xfrm>
            <a:off x="8878824" y="1463040"/>
            <a:ext cx="2651760" cy="237744"/>
          </a:xfrm>
          <a:prstGeom prst="rect">
            <a:avLst/>
          </a:prstGeom>
          <a:noFill/>
          <a:ln/>
        </p:spPr>
        <p:txBody>
          <a:bodyPr wrap="square" lIns="0" tIns="0" rIns="0" bIns="0" rtlCol="0" anchor="t"/>
          <a:lstStyle/>
          <a:p>
            <a:pPr marL="0" indent="0">
              <a:buNone/>
            </a:pPr>
            <a:r>
              <a:rPr lang="en-US" sz="950" dirty="0">
                <a:solidFill>
                  <a:srgbClr val="64748B"/>
                </a:solidFill>
                <a:latin typeface="Inter" pitchFamily="34" charset="0"/>
                <a:ea typeface="Inter" pitchFamily="34" charset="-122"/>
                <a:cs typeface="Inter" pitchFamily="34" charset="-120"/>
              </a:rPr>
              <a:t>Option C</a:t>
            </a:r>
            <a:endParaRPr lang="en-US" sz="950" dirty="0"/>
          </a:p>
        </p:txBody>
      </p:sp>
      <p:sp>
        <p:nvSpPr>
          <p:cNvPr id="37" name="Text 30"/>
          <p:cNvSpPr txBox="1"/>
          <p:nvPr/>
        </p:nvSpPr>
        <p:spPr>
          <a:xfrm>
            <a:off x="8878824" y="1682496"/>
            <a:ext cx="2697480" cy="365760"/>
          </a:xfrm>
          <a:prstGeom prst="rect">
            <a:avLst/>
          </a:prstGeom>
          <a:noFill/>
          <a:ln/>
        </p:spPr>
        <p:txBody>
          <a:bodyPr wrap="square" lIns="0" tIns="0" rIns="0" bIns="0" rtlCol="0" anchor="t"/>
          <a:lstStyle/>
          <a:p>
            <a:pPr marL="0" indent="0">
              <a:buNone/>
            </a:pPr>
            <a:r>
              <a:rPr lang="en-US" sz="1200" b="1" dirty="0">
                <a:solidFill>
                  <a:srgbClr val="0F172A"/>
                </a:solidFill>
                <a:latin typeface="Inter" pitchFamily="34" charset="0"/>
                <a:ea typeface="Inter" pitchFamily="34" charset="-122"/>
                <a:cs typeface="Inter" pitchFamily="34" charset="-120"/>
              </a:rPr>
              <a:t>Attribution-based reallocation</a:t>
            </a:r>
            <a:endParaRPr lang="en-US" sz="1200" dirty="0"/>
          </a:p>
        </p:txBody>
      </p:sp>
      <p:pic>
        <p:nvPicPr>
          <p:cNvPr id="38" name="Image 5" descr="preencoded.png"/>
          <p:cNvPicPr>
            <a:picLocks noChangeAspect="1"/>
          </p:cNvPicPr>
          <p:nvPr/>
        </p:nvPicPr>
        <p:blipFill>
          <a:blip r:embed="rId4"/>
          <a:stretch>
            <a:fillRect/>
          </a:stretch>
        </p:blipFill>
        <p:spPr>
          <a:xfrm>
            <a:off x="8220456" y="2267712"/>
            <a:ext cx="237744" cy="237744"/>
          </a:xfrm>
          <a:prstGeom prst="rect">
            <a:avLst/>
          </a:prstGeom>
        </p:spPr>
      </p:pic>
      <p:sp>
        <p:nvSpPr>
          <p:cNvPr id="39" name="Text 31"/>
          <p:cNvSpPr txBox="1"/>
          <p:nvPr/>
        </p:nvSpPr>
        <p:spPr>
          <a:xfrm>
            <a:off x="8540496" y="2212848"/>
            <a:ext cx="3017520" cy="457200"/>
          </a:xfrm>
          <a:prstGeom prst="rect">
            <a:avLst/>
          </a:prstGeom>
          <a:noFill/>
          <a:ln/>
        </p:spPr>
        <p:txBody>
          <a:bodyPr wrap="square" lIns="0" tIns="0" rIns="0" bIns="0" rtlCol="0" anchor="t"/>
          <a:lstStyle/>
          <a:p>
            <a:pPr marL="0" indent="0">
              <a:buNone/>
            </a:pPr>
            <a:r>
              <a:rPr lang="en-US" sz="1050" dirty="0">
                <a:solidFill>
                  <a:srgbClr val="334155"/>
                </a:solidFill>
                <a:latin typeface="Inter" pitchFamily="34" charset="0"/>
                <a:ea typeface="Inter" pitchFamily="34" charset="-122"/>
                <a:cs typeface="Inter" pitchFamily="34" charset="-120"/>
              </a:rPr>
              <a:t>The way we decide, for good</a:t>
            </a:r>
            <a:endParaRPr lang="en-US" sz="1050" dirty="0"/>
          </a:p>
        </p:txBody>
      </p:sp>
      <p:pic>
        <p:nvPicPr>
          <p:cNvPr id="40" name="Image 6" descr="preencoded.png"/>
          <p:cNvPicPr>
            <a:picLocks noChangeAspect="1"/>
          </p:cNvPicPr>
          <p:nvPr/>
        </p:nvPicPr>
        <p:blipFill>
          <a:blip r:embed="rId5"/>
          <a:stretch>
            <a:fillRect/>
          </a:stretch>
        </p:blipFill>
        <p:spPr>
          <a:xfrm>
            <a:off x="8220456" y="2852928"/>
            <a:ext cx="237744" cy="237744"/>
          </a:xfrm>
          <a:prstGeom prst="rect">
            <a:avLst/>
          </a:prstGeom>
        </p:spPr>
      </p:pic>
      <p:sp>
        <p:nvSpPr>
          <p:cNvPr id="41" name="Text 32"/>
          <p:cNvSpPr txBox="1"/>
          <p:nvPr/>
        </p:nvSpPr>
        <p:spPr>
          <a:xfrm>
            <a:off x="8540496" y="2798064"/>
            <a:ext cx="3017520" cy="822960"/>
          </a:xfrm>
          <a:prstGeom prst="rect">
            <a:avLst/>
          </a:prstGeom>
          <a:noFill/>
          <a:ln/>
        </p:spPr>
        <p:txBody>
          <a:bodyPr wrap="square" lIns="0" tIns="0" rIns="0" bIns="0" rtlCol="0" anchor="t"/>
          <a:lstStyle/>
          <a:p>
            <a:pPr marL="0" indent="0">
              <a:buNone/>
            </a:pPr>
            <a:r>
              <a:rPr lang="en-US" sz="1050" dirty="0">
                <a:solidFill>
                  <a:srgbClr val="334155"/>
                </a:solidFill>
                <a:latin typeface="Inter" pitchFamily="34" charset="0"/>
                <a:ea typeface="Inter" pitchFamily="34" charset="-122"/>
                <a:cs typeface="Inter" pitchFamily="34" charset="-120"/>
              </a:rPr>
              <a:t>On its own: 6–12 months before anyone trusts it, and hard to adopt</a:t>
            </a:r>
            <a:endParaRPr lang="en-US" sz="1050" dirty="0"/>
          </a:p>
        </p:txBody>
      </p:sp>
      <p:sp>
        <p:nvSpPr>
          <p:cNvPr id="42" name="Shape 33"/>
          <p:cNvSpPr/>
          <p:nvPr/>
        </p:nvSpPr>
        <p:spPr>
          <a:xfrm>
            <a:off x="9697212" y="3913632"/>
            <a:ext cx="329184" cy="329184"/>
          </a:xfrm>
          <a:prstGeom prst="downArrow">
            <a:avLst/>
          </a:prstGeom>
          <a:solidFill>
            <a:srgbClr val="BFDBFE"/>
          </a:solidFill>
          <a:ln w="6350">
            <a:solidFill>
              <a:srgbClr val="BFDBFE"/>
            </a:solidFill>
            <a:prstDash val="solid"/>
          </a:ln>
        </p:spPr>
        <p:txBody>
          <a:bodyPr/>
          <a:lstStyle/>
          <a:p>
            <a:endParaRPr lang="en-US"/>
          </a:p>
        </p:txBody>
      </p:sp>
      <p:sp>
        <p:nvSpPr>
          <p:cNvPr id="43" name="Shape 34"/>
          <p:cNvSpPr/>
          <p:nvPr/>
        </p:nvSpPr>
        <p:spPr>
          <a:xfrm>
            <a:off x="8037576" y="4315968"/>
            <a:ext cx="3648456" cy="868680"/>
          </a:xfrm>
          <a:prstGeom prst="roundRect">
            <a:avLst>
              <a:gd name="adj" fmla="val 6316"/>
            </a:avLst>
          </a:prstGeom>
          <a:solidFill>
            <a:srgbClr val="0A1F44"/>
          </a:solidFill>
          <a:ln w="6350">
            <a:solidFill>
              <a:srgbClr val="0A1F44"/>
            </a:solidFill>
            <a:prstDash val="solid"/>
          </a:ln>
        </p:spPr>
        <p:txBody>
          <a:bodyPr/>
          <a:lstStyle/>
          <a:p>
            <a:endParaRPr lang="en-US"/>
          </a:p>
        </p:txBody>
      </p:sp>
      <p:sp>
        <p:nvSpPr>
          <p:cNvPr id="44" name="Text 35"/>
          <p:cNvSpPr txBox="1"/>
          <p:nvPr/>
        </p:nvSpPr>
        <p:spPr>
          <a:xfrm>
            <a:off x="8220456" y="4315968"/>
            <a:ext cx="3282696" cy="868680"/>
          </a:xfrm>
          <a:prstGeom prst="rect">
            <a:avLst/>
          </a:prstGeom>
          <a:noFill/>
          <a:ln/>
        </p:spPr>
        <p:txBody>
          <a:bodyPr wrap="square" lIns="0" tIns="0" rIns="0" bIns="0" rtlCol="0" anchor="ctr"/>
          <a:lstStyle/>
          <a:p>
            <a:pPr marL="0" indent="0">
              <a:buNone/>
            </a:pPr>
            <a:r>
              <a:rPr lang="en-US" sz="1500" b="1" dirty="0">
                <a:solidFill>
                  <a:srgbClr val="FFFFFF"/>
                </a:solidFill>
                <a:latin typeface="Inter" pitchFamily="34" charset="0"/>
                <a:ea typeface="Inter" pitchFamily="34" charset="-122"/>
                <a:cs typeface="Inter" pitchFamily="34" charset="-120"/>
              </a:rPr>
              <a:t>Proves it</a:t>
            </a:r>
            <a:endParaRPr lang="en-US" sz="1200" dirty="0"/>
          </a:p>
          <a:p>
            <a:pPr marL="0" indent="0">
              <a:buNone/>
            </a:pPr>
            <a:r>
              <a:rPr lang="en-US" sz="1000" dirty="0">
                <a:solidFill>
                  <a:srgbClr val="DCE7FB"/>
                </a:solidFill>
                <a:latin typeface="Inter" pitchFamily="34" charset="0"/>
                <a:ea typeface="Inter" pitchFamily="34" charset="-122"/>
                <a:cs typeface="Inter" pitchFamily="34" charset="-120"/>
              </a:rPr>
              <a:t>Runs from day 1 and decides every tranche</a:t>
            </a:r>
            <a:endParaRPr lang="en-US" sz="1200" dirty="0"/>
          </a:p>
        </p:txBody>
      </p:sp>
      <p:sp>
        <p:nvSpPr>
          <p:cNvPr id="45" name="Text 36"/>
          <p:cNvSpPr txBox="1"/>
          <p:nvPr/>
        </p:nvSpPr>
        <p:spPr>
          <a:xfrm>
            <a:off x="502920" y="5285232"/>
            <a:ext cx="11183112" cy="329184"/>
          </a:xfrm>
          <a:prstGeom prst="rect">
            <a:avLst/>
          </a:prstGeom>
          <a:noFill/>
          <a:ln/>
        </p:spPr>
        <p:txBody>
          <a:bodyPr wrap="square" lIns="0" tIns="0" rIns="0" bIns="0" rtlCol="0" anchor="t"/>
          <a:lstStyle/>
          <a:p>
            <a:pPr marL="0" indent="0" algn="ctr">
              <a:buNone/>
            </a:pPr>
            <a:r>
              <a:rPr lang="en-US" sz="1100" dirty="0">
                <a:solidFill>
                  <a:srgbClr val="64748B"/>
                </a:solidFill>
                <a:latin typeface="Inter" pitchFamily="34" charset="0"/>
                <a:ea typeface="Inter" pitchFamily="34" charset="-122"/>
                <a:cs typeface="Inter" pitchFamily="34" charset="-120"/>
              </a:rPr>
              <a:t>B gives us fast proof, A's owned reach shields us from B's signal loss, and C's holdouts tell us whether either is working</a:t>
            </a:r>
            <a:endParaRPr lang="en-US" sz="1100" dirty="0"/>
          </a:p>
        </p:txBody>
      </p:sp>
      <p:sp>
        <p:nvSpPr>
          <p:cNvPr id="46" name="Shape 37"/>
          <p:cNvSpPr/>
          <p:nvPr/>
        </p:nvSpPr>
        <p:spPr>
          <a:xfrm>
            <a:off x="502920" y="5715000"/>
            <a:ext cx="11183112" cy="512064"/>
          </a:xfrm>
          <a:prstGeom prst="roundRect">
            <a:avLst>
              <a:gd name="adj" fmla="val 17857"/>
            </a:avLst>
          </a:prstGeom>
          <a:solidFill>
            <a:srgbClr val="EFF6FF"/>
          </a:solidFill>
          <a:ln w="6350">
            <a:solidFill>
              <a:srgbClr val="EFF6FF"/>
            </a:solidFill>
            <a:prstDash val="solid"/>
          </a:ln>
        </p:spPr>
        <p:txBody>
          <a:bodyPr/>
          <a:lstStyle/>
          <a:p>
            <a:endParaRPr lang="en-US"/>
          </a:p>
        </p:txBody>
      </p:sp>
      <p:sp>
        <p:nvSpPr>
          <p:cNvPr id="47" name="Shape 38"/>
          <p:cNvSpPr/>
          <p:nvPr/>
        </p:nvSpPr>
        <p:spPr>
          <a:xfrm>
            <a:off x="640080" y="5806440"/>
            <a:ext cx="329184" cy="329184"/>
          </a:xfrm>
          <a:prstGeom prst="ellipse">
            <a:avLst/>
          </a:prstGeom>
          <a:solidFill>
            <a:srgbClr val="1D4ED8"/>
          </a:solidFill>
          <a:ln w="6350">
            <a:solidFill>
              <a:srgbClr val="1D4ED8"/>
            </a:solidFill>
            <a:prstDash val="solid"/>
          </a:ln>
        </p:spPr>
        <p:txBody>
          <a:bodyPr/>
          <a:lstStyle/>
          <a:p>
            <a:endParaRPr lang="en-US"/>
          </a:p>
        </p:txBody>
      </p:sp>
      <p:pic>
        <p:nvPicPr>
          <p:cNvPr id="48" name="Image 7" descr="preencoded.png"/>
          <p:cNvPicPr>
            <a:picLocks noChangeAspect="1"/>
          </p:cNvPicPr>
          <p:nvPr/>
        </p:nvPicPr>
        <p:blipFill>
          <a:blip r:embed="rId6"/>
          <a:stretch>
            <a:fillRect/>
          </a:stretch>
        </p:blipFill>
        <p:spPr>
          <a:xfrm>
            <a:off x="712500" y="5878860"/>
            <a:ext cx="184343" cy="184343"/>
          </a:xfrm>
          <a:prstGeom prst="rect">
            <a:avLst/>
          </a:prstGeom>
        </p:spPr>
      </p:pic>
      <p:sp>
        <p:nvSpPr>
          <p:cNvPr id="49" name="Text 39"/>
          <p:cNvSpPr txBox="1"/>
          <p:nvPr/>
        </p:nvSpPr>
        <p:spPr>
          <a:xfrm>
            <a:off x="1097280" y="5715000"/>
            <a:ext cx="10424160" cy="512064"/>
          </a:xfrm>
          <a:prstGeom prst="rect">
            <a:avLst/>
          </a:prstGeom>
          <a:noFill/>
          <a:ln/>
        </p:spPr>
        <p:txBody>
          <a:bodyPr wrap="square" lIns="0" tIns="0" rIns="0" bIns="0" rtlCol="0" anchor="ctr"/>
          <a:lstStyle/>
          <a:p>
            <a:pPr marL="0" indent="0">
              <a:buNone/>
            </a:pPr>
            <a:r>
              <a:rPr lang="en-US" sz="1300" b="1" dirty="0">
                <a:solidFill>
                  <a:srgbClr val="0A1F44"/>
                </a:solidFill>
                <a:latin typeface="Inter" pitchFamily="34" charset="0"/>
                <a:ea typeface="Inter" pitchFamily="34" charset="-122"/>
                <a:cs typeface="Inter" pitchFamily="34" charset="-120"/>
              </a:rPr>
              <a:t>We scale only what beats the CJA holdout, and stop anything that doesn't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9326880" cy="841248"/>
          </a:xfrm>
          <a:prstGeom prst="rect">
            <a:avLst/>
          </a:prstGeom>
          <a:noFill/>
          <a:ln/>
        </p:spPr>
        <p:txBody>
          <a:bodyPr wrap="square" lIns="0" tIns="0" rIns="0" bIns="0" rtlCol="0" anchor="ctr"/>
          <a:lstStyle/>
          <a:p>
            <a:pPr marL="0" indent="0">
              <a:buNone/>
            </a:pPr>
            <a:r>
              <a:rPr lang="en-US" sz="2400" b="1" dirty="0">
                <a:solidFill>
                  <a:srgbClr val="0A1F44"/>
                </a:solidFill>
                <a:latin typeface="Inter" pitchFamily="34" charset="0"/>
                <a:ea typeface="Inter" pitchFamily="34" charset="-122"/>
                <a:cs typeface="Inter" pitchFamily="34" charset="-120"/>
              </a:rPr>
              <a:t>Four root causes behind the 24% repeat rate</a:t>
            </a:r>
            <a:endParaRPr lang="en-US" sz="2400" dirty="0"/>
          </a:p>
        </p:txBody>
      </p:sp>
      <p:pic>
        <p:nvPicPr>
          <p:cNvPr id="3" name="Image 0" descr="/tmp/claude-0/-home-user-Quince/7efe80ae-a049-50c2-9886-98bf7ca3a04a/scratchpad/assets/quince.png"/>
          <p:cNvPicPr>
            <a:picLocks noChangeAspect="1"/>
          </p:cNvPicPr>
          <p:nvPr/>
        </p:nvPicPr>
        <p:blipFill>
          <a:blip r:embed="rId3"/>
          <a:stretch>
            <a:fillRect/>
          </a:stretch>
        </p:blipFill>
        <p:spPr>
          <a:xfrm>
            <a:off x="10236708" y="615544"/>
            <a:ext cx="777240" cy="231951"/>
          </a:xfrm>
          <a:prstGeom prst="rect">
            <a:avLst/>
          </a:prstGeom>
        </p:spPr>
      </p:pic>
      <p:sp>
        <p:nvSpPr>
          <p:cNvPr id="4" name="Shape 1"/>
          <p:cNvSpPr/>
          <p:nvPr/>
        </p:nvSpPr>
        <p:spPr>
          <a:xfrm>
            <a:off x="11155680" y="603504"/>
            <a:ext cx="530352" cy="256032"/>
          </a:xfrm>
          <a:prstGeom prst="roundRect">
            <a:avLst>
              <a:gd name="adj" fmla="val 50000"/>
            </a:avLst>
          </a:prstGeom>
          <a:solidFill>
            <a:srgbClr val="0A1F44"/>
          </a:solidFill>
          <a:ln w="6350">
            <a:solidFill>
              <a:srgbClr val="0A1F44"/>
            </a:solidFill>
            <a:prstDash val="solid"/>
          </a:ln>
        </p:spPr>
        <p:txBody>
          <a:bodyPr/>
          <a:lstStyle/>
          <a:p>
            <a:endParaRPr lang="en-US"/>
          </a:p>
        </p:txBody>
      </p:sp>
      <p:sp>
        <p:nvSpPr>
          <p:cNvPr id="5" name="Text 2"/>
          <p:cNvSpPr txBox="1"/>
          <p:nvPr/>
        </p:nvSpPr>
        <p:spPr>
          <a:xfrm>
            <a:off x="11155680" y="603504"/>
            <a:ext cx="53035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G27</a:t>
            </a:r>
            <a:endParaRPr lang="en-US" sz="950" dirty="0"/>
          </a:p>
        </p:txBody>
      </p:sp>
      <p:sp>
        <p:nvSpPr>
          <p:cNvPr id="6" name="Shape 3"/>
          <p:cNvSpPr/>
          <p:nvPr/>
        </p:nvSpPr>
        <p:spPr>
          <a:xfrm>
            <a:off x="502920" y="6400800"/>
            <a:ext cx="11183112" cy="0"/>
          </a:xfrm>
          <a:prstGeom prst="line">
            <a:avLst/>
          </a:prstGeom>
          <a:noFill/>
          <a:ln w="9525">
            <a:solidFill>
              <a:srgbClr val="E2E8F0"/>
            </a:solidFill>
            <a:prstDash val="solid"/>
          </a:ln>
        </p:spPr>
        <p:txBody>
          <a:bodyPr/>
          <a:lstStyle/>
          <a:p>
            <a:endParaRPr lang="en-US"/>
          </a:p>
        </p:txBody>
      </p:sp>
      <p:sp>
        <p:nvSpPr>
          <p:cNvPr id="7" name="Text 4"/>
          <p:cNvSpPr txBox="1"/>
          <p:nvPr/>
        </p:nvSpPr>
        <p:spPr>
          <a:xfrm>
            <a:off x="502920" y="6464808"/>
            <a:ext cx="9418320" cy="256032"/>
          </a:xfrm>
          <a:prstGeom prst="rect">
            <a:avLst/>
          </a:prstGeom>
          <a:noFill/>
          <a:ln/>
        </p:spPr>
        <p:txBody>
          <a:bodyPr wrap="square" lIns="0" tIns="0" rIns="0" bIns="0" rtlCol="0" anchor="ctr"/>
          <a:lstStyle/>
          <a:p>
            <a:pPr marL="0" indent="0">
              <a:buNone/>
            </a:pPr>
            <a:r>
              <a:rPr lang="en-US" sz="800" dirty="0">
                <a:solidFill>
                  <a:srgbClr val="64748B"/>
                </a:solidFill>
                <a:latin typeface="Inter" pitchFamily="34" charset="0"/>
                <a:ea typeface="Inter" pitchFamily="34" charset="-122"/>
                <a:cs typeface="Inter" pitchFamily="34" charset="-120"/>
              </a:rPr>
              <a:t>Source: our analysis; Adobe CJA panels A1–A6 and A3b; case Exhibits D and G.</a:t>
            </a:r>
            <a:endParaRPr lang="en-US" sz="800" dirty="0"/>
          </a:p>
        </p:txBody>
      </p:sp>
      <p:sp>
        <p:nvSpPr>
          <p:cNvPr id="8" name="Text 5"/>
          <p:cNvSpPr txBox="1"/>
          <p:nvPr/>
        </p:nvSpPr>
        <p:spPr>
          <a:xfrm>
            <a:off x="9966960" y="6464808"/>
            <a:ext cx="1719072" cy="256032"/>
          </a:xfrm>
          <a:prstGeom prst="rect">
            <a:avLst/>
          </a:prstGeom>
          <a:noFill/>
          <a:ln/>
        </p:spPr>
        <p:txBody>
          <a:bodyPr wrap="square" lIns="0" tIns="0" rIns="0" bIns="0" rtlCol="0" anchor="ctr"/>
          <a:lstStyle/>
          <a:p>
            <a:pPr marL="0" indent="0" algn="r">
              <a:buNone/>
            </a:pPr>
            <a:r>
              <a:rPr lang="en-US" sz="800" dirty="0">
                <a:solidFill>
                  <a:srgbClr val="64748B"/>
                </a:solidFill>
                <a:latin typeface="Inter" pitchFamily="34" charset="0"/>
                <a:ea typeface="Inter" pitchFamily="34" charset="-122"/>
                <a:cs typeface="Inter" pitchFamily="34" charset="-120"/>
              </a:rPr>
              <a:t>Team G27  ·  15</a:t>
            </a:r>
            <a:endParaRPr lang="en-US" sz="800" dirty="0"/>
          </a:p>
        </p:txBody>
      </p:sp>
      <p:sp>
        <p:nvSpPr>
          <p:cNvPr id="9" name="Shape 6"/>
          <p:cNvSpPr/>
          <p:nvPr/>
        </p:nvSpPr>
        <p:spPr>
          <a:xfrm>
            <a:off x="502920" y="2606040"/>
            <a:ext cx="2103120" cy="1463040"/>
          </a:xfrm>
          <a:prstGeom prst="roundRect">
            <a:avLst>
              <a:gd name="adj" fmla="val 6250"/>
            </a:avLst>
          </a:prstGeom>
          <a:solidFill>
            <a:srgbClr val="0A1F44"/>
          </a:solidFill>
          <a:ln w="6350">
            <a:solidFill>
              <a:srgbClr val="0A1F44"/>
            </a:solidFill>
            <a:prstDash val="solid"/>
          </a:ln>
        </p:spPr>
        <p:txBody>
          <a:bodyPr/>
          <a:lstStyle/>
          <a:p>
            <a:endParaRPr lang="en-US"/>
          </a:p>
        </p:txBody>
      </p:sp>
      <p:sp>
        <p:nvSpPr>
          <p:cNvPr id="10" name="Text 7"/>
          <p:cNvSpPr txBox="1"/>
          <p:nvPr/>
        </p:nvSpPr>
        <p:spPr>
          <a:xfrm>
            <a:off x="640080" y="2651760"/>
            <a:ext cx="1828800" cy="1371600"/>
          </a:xfrm>
          <a:prstGeom prst="rect">
            <a:avLst/>
          </a:prstGeom>
          <a:noFill/>
          <a:ln/>
        </p:spPr>
        <p:txBody>
          <a:bodyPr wrap="square" lIns="0" tIns="0" rIns="0" bIns="0" rtlCol="0" anchor="ctr"/>
          <a:lstStyle/>
          <a:p>
            <a:pPr marL="0" indent="0">
              <a:buNone/>
            </a:pPr>
            <a:r>
              <a:rPr lang="en-US" sz="1200" b="1" dirty="0">
                <a:solidFill>
                  <a:srgbClr val="FFFFFF"/>
                </a:solidFill>
                <a:latin typeface="Inter" pitchFamily="34" charset="0"/>
                <a:ea typeface="Inter" pitchFamily="34" charset="-122"/>
                <a:cs typeface="Inter" pitchFamily="34" charset="-120"/>
              </a:rPr>
              <a:t>Why is 90-day repeat 24% and blended CAC $62 on a fixed $120M?</a:t>
            </a:r>
            <a:endParaRPr lang="en-US" sz="1200" dirty="0"/>
          </a:p>
        </p:txBody>
      </p:sp>
      <p:sp>
        <p:nvSpPr>
          <p:cNvPr id="11" name="Shape 8"/>
          <p:cNvSpPr/>
          <p:nvPr/>
        </p:nvSpPr>
        <p:spPr>
          <a:xfrm>
            <a:off x="2606040" y="3337560"/>
            <a:ext cx="182880" cy="0"/>
          </a:xfrm>
          <a:prstGeom prst="line">
            <a:avLst/>
          </a:prstGeom>
          <a:noFill/>
          <a:ln w="15875">
            <a:solidFill>
              <a:srgbClr val="94A3B8"/>
            </a:solidFill>
            <a:prstDash val="solid"/>
          </a:ln>
        </p:spPr>
        <p:txBody>
          <a:bodyPr/>
          <a:lstStyle/>
          <a:p>
            <a:endParaRPr lang="en-US"/>
          </a:p>
        </p:txBody>
      </p:sp>
      <p:sp>
        <p:nvSpPr>
          <p:cNvPr id="12" name="Shape 9"/>
          <p:cNvSpPr/>
          <p:nvPr/>
        </p:nvSpPr>
        <p:spPr>
          <a:xfrm>
            <a:off x="2788920" y="1810512"/>
            <a:ext cx="0" cy="3346704"/>
          </a:xfrm>
          <a:prstGeom prst="line">
            <a:avLst/>
          </a:prstGeom>
          <a:noFill/>
          <a:ln w="15875">
            <a:solidFill>
              <a:srgbClr val="94A3B8"/>
            </a:solidFill>
            <a:prstDash val="solid"/>
          </a:ln>
        </p:spPr>
        <p:txBody>
          <a:bodyPr/>
          <a:lstStyle/>
          <a:p>
            <a:endParaRPr lang="en-US"/>
          </a:p>
        </p:txBody>
      </p:sp>
      <p:sp>
        <p:nvSpPr>
          <p:cNvPr id="13" name="Shape 10"/>
          <p:cNvSpPr/>
          <p:nvPr/>
        </p:nvSpPr>
        <p:spPr>
          <a:xfrm>
            <a:off x="2788920" y="1810512"/>
            <a:ext cx="228600" cy="0"/>
          </a:xfrm>
          <a:prstGeom prst="line">
            <a:avLst/>
          </a:prstGeom>
          <a:noFill/>
          <a:ln w="15875">
            <a:solidFill>
              <a:srgbClr val="94A3B8"/>
            </a:solidFill>
            <a:prstDash val="solid"/>
            <a:tailEnd type="triangle"/>
          </a:ln>
        </p:spPr>
        <p:txBody>
          <a:bodyPr/>
          <a:lstStyle/>
          <a:p>
            <a:endParaRPr lang="en-US"/>
          </a:p>
        </p:txBody>
      </p:sp>
      <p:sp>
        <p:nvSpPr>
          <p:cNvPr id="14" name="Shape 11"/>
          <p:cNvSpPr/>
          <p:nvPr/>
        </p:nvSpPr>
        <p:spPr>
          <a:xfrm>
            <a:off x="3017520" y="1371600"/>
            <a:ext cx="1828800" cy="877824"/>
          </a:xfrm>
          <a:prstGeom prst="roundRect">
            <a:avLst>
              <a:gd name="adj" fmla="val 8333"/>
            </a:avLst>
          </a:prstGeom>
          <a:solidFill>
            <a:srgbClr val="1D4ED8"/>
          </a:solidFill>
          <a:ln/>
        </p:spPr>
        <p:txBody>
          <a:bodyPr/>
          <a:lstStyle/>
          <a:p>
            <a:endParaRPr lang="en-US"/>
          </a:p>
        </p:txBody>
      </p:sp>
      <p:sp>
        <p:nvSpPr>
          <p:cNvPr id="15" name="Text 12"/>
          <p:cNvSpPr txBox="1"/>
          <p:nvPr/>
        </p:nvSpPr>
        <p:spPr>
          <a:xfrm>
            <a:off x="3127248" y="1371600"/>
            <a:ext cx="1645920" cy="877824"/>
          </a:xfrm>
          <a:prstGeom prst="rect">
            <a:avLst/>
          </a:prstGeom>
          <a:noFill/>
          <a:ln/>
        </p:spPr>
        <p:txBody>
          <a:bodyPr wrap="square" lIns="0" tIns="0" rIns="0" bIns="0" rtlCol="0" anchor="ctr"/>
          <a:lstStyle/>
          <a:p>
            <a:pPr marL="0" indent="0">
              <a:buNone/>
            </a:pPr>
            <a:r>
              <a:rPr lang="en-US" sz="1300" b="1" dirty="0">
                <a:solidFill>
                  <a:srgbClr val="FFFFFF"/>
                </a:solidFill>
                <a:latin typeface="Inter" pitchFamily="34" charset="0"/>
                <a:ea typeface="Inter" pitchFamily="34" charset="-122"/>
                <a:cs typeface="Inter" pitchFamily="34" charset="-120"/>
              </a:rPr>
              <a:t>Money</a:t>
            </a:r>
            <a:endParaRPr lang="en-US" sz="1300" dirty="0"/>
          </a:p>
        </p:txBody>
      </p:sp>
      <p:sp>
        <p:nvSpPr>
          <p:cNvPr id="16" name="Shape 13"/>
          <p:cNvSpPr/>
          <p:nvPr/>
        </p:nvSpPr>
        <p:spPr>
          <a:xfrm>
            <a:off x="4846320" y="1810512"/>
            <a:ext cx="320040" cy="0"/>
          </a:xfrm>
          <a:prstGeom prst="line">
            <a:avLst/>
          </a:prstGeom>
          <a:noFill/>
          <a:ln w="15875">
            <a:solidFill>
              <a:srgbClr val="94A3B8"/>
            </a:solidFill>
            <a:prstDash val="solid"/>
            <a:tailEnd type="triangle"/>
          </a:ln>
        </p:spPr>
        <p:txBody>
          <a:bodyPr/>
          <a:lstStyle/>
          <a:p>
            <a:endParaRPr lang="en-US"/>
          </a:p>
        </p:txBody>
      </p:sp>
      <p:sp>
        <p:nvSpPr>
          <p:cNvPr id="17" name="Shape 14"/>
          <p:cNvSpPr/>
          <p:nvPr/>
        </p:nvSpPr>
        <p:spPr>
          <a:xfrm>
            <a:off x="5166360" y="1371600"/>
            <a:ext cx="3886200" cy="877824"/>
          </a:xfrm>
          <a:prstGeom prst="roundRect">
            <a:avLst>
              <a:gd name="adj" fmla="val 8333"/>
            </a:avLst>
          </a:prstGeom>
          <a:solidFill>
            <a:srgbClr val="F8FAFC"/>
          </a:solidFill>
          <a:ln w="9525">
            <a:solidFill>
              <a:srgbClr val="E2E8F0"/>
            </a:solidFill>
            <a:prstDash val="solid"/>
          </a:ln>
        </p:spPr>
        <p:txBody>
          <a:bodyPr/>
          <a:lstStyle/>
          <a:p>
            <a:endParaRPr lang="en-US"/>
          </a:p>
        </p:txBody>
      </p:sp>
      <p:sp>
        <p:nvSpPr>
          <p:cNvPr id="18" name="Text 15"/>
          <p:cNvSpPr txBox="1"/>
          <p:nvPr/>
        </p:nvSpPr>
        <p:spPr>
          <a:xfrm>
            <a:off x="5303520" y="1463040"/>
            <a:ext cx="3657600" cy="292608"/>
          </a:xfrm>
          <a:prstGeom prst="rect">
            <a:avLst/>
          </a:prstGeom>
          <a:noFill/>
          <a:ln/>
        </p:spPr>
        <p:txBody>
          <a:bodyPr wrap="square" lIns="0" tIns="0" rIns="0" bIns="0" rtlCol="0" anchor="t"/>
          <a:lstStyle/>
          <a:p>
            <a:pPr marL="0" indent="0">
              <a:buNone/>
            </a:pPr>
            <a:r>
              <a:rPr lang="en-US" sz="1200" b="1" dirty="0">
                <a:solidFill>
                  <a:srgbClr val="0F172A"/>
                </a:solidFill>
                <a:latin typeface="Inter" pitchFamily="34" charset="0"/>
                <a:ea typeface="Inter" pitchFamily="34" charset="-122"/>
                <a:cs typeface="Inter" pitchFamily="34" charset="-120"/>
              </a:rPr>
              <a:t>Spend may pay for demand that comes anyway</a:t>
            </a:r>
            <a:endParaRPr lang="en-US" sz="1200" dirty="0"/>
          </a:p>
        </p:txBody>
      </p:sp>
      <p:sp>
        <p:nvSpPr>
          <p:cNvPr id="19" name="Text 16"/>
          <p:cNvSpPr txBox="1"/>
          <p:nvPr/>
        </p:nvSpPr>
        <p:spPr>
          <a:xfrm>
            <a:off x="5303520" y="1773936"/>
            <a:ext cx="3657600" cy="384048"/>
          </a:xfrm>
          <a:prstGeom prst="rect">
            <a:avLst/>
          </a:prstGeom>
          <a:noFill/>
          <a:ln/>
        </p:spPr>
        <p:txBody>
          <a:bodyPr wrap="square" lIns="0" tIns="0" rIns="0" bIns="0" rtlCol="0" anchor="t"/>
          <a:lstStyle/>
          <a:p>
            <a:pPr marL="0" indent="0">
              <a:buNone/>
            </a:pPr>
            <a:r>
              <a:rPr lang="en-US" sz="1000" dirty="0">
                <a:solidFill>
                  <a:srgbClr val="334155"/>
                </a:solidFill>
                <a:latin typeface="Inter" pitchFamily="34" charset="0"/>
                <a:ea typeface="Inter" pitchFamily="34" charset="-122"/>
                <a:cs typeface="Inter" pitchFamily="34" charset="-120"/>
              </a:rPr>
              <a:t>Retargeted buyers repeat no better than organic: 23.0% vs 23.4% (A3b); a holdout will tell us</a:t>
            </a:r>
            <a:endParaRPr lang="en-US" sz="1000" dirty="0"/>
          </a:p>
        </p:txBody>
      </p:sp>
      <p:sp>
        <p:nvSpPr>
          <p:cNvPr id="20" name="Shape 17"/>
          <p:cNvSpPr/>
          <p:nvPr/>
        </p:nvSpPr>
        <p:spPr>
          <a:xfrm>
            <a:off x="9144000" y="1673352"/>
            <a:ext cx="365760" cy="274320"/>
          </a:xfrm>
          <a:prstGeom prst="rightArrow">
            <a:avLst/>
          </a:prstGeom>
          <a:solidFill>
            <a:srgbClr val="BFDBFE"/>
          </a:solidFill>
          <a:ln w="6350">
            <a:solidFill>
              <a:srgbClr val="BFDBFE"/>
            </a:solidFill>
            <a:prstDash val="solid"/>
          </a:ln>
        </p:spPr>
        <p:txBody>
          <a:bodyPr/>
          <a:lstStyle/>
          <a:p>
            <a:endParaRPr lang="en-US"/>
          </a:p>
        </p:txBody>
      </p:sp>
      <p:sp>
        <p:nvSpPr>
          <p:cNvPr id="21" name="Shape 18"/>
          <p:cNvSpPr/>
          <p:nvPr/>
        </p:nvSpPr>
        <p:spPr>
          <a:xfrm>
            <a:off x="9601200" y="1517904"/>
            <a:ext cx="2084832" cy="585216"/>
          </a:xfrm>
          <a:prstGeom prst="roundRect">
            <a:avLst>
              <a:gd name="adj" fmla="val 50000"/>
            </a:avLst>
          </a:prstGeom>
          <a:solidFill>
            <a:srgbClr val="FFFFFF"/>
          </a:solidFill>
          <a:ln w="15875">
            <a:solidFill>
              <a:srgbClr val="1D4ED8"/>
            </a:solidFill>
            <a:prstDash val="solid"/>
          </a:ln>
        </p:spPr>
        <p:txBody>
          <a:bodyPr/>
          <a:lstStyle/>
          <a:p>
            <a:endParaRPr lang="en-US"/>
          </a:p>
        </p:txBody>
      </p:sp>
      <p:sp>
        <p:nvSpPr>
          <p:cNvPr id="22" name="Text 19"/>
          <p:cNvSpPr txBox="1"/>
          <p:nvPr/>
        </p:nvSpPr>
        <p:spPr>
          <a:xfrm>
            <a:off x="9601200" y="1517904"/>
            <a:ext cx="2084832" cy="585216"/>
          </a:xfrm>
          <a:prstGeom prst="rect">
            <a:avLst/>
          </a:prstGeom>
          <a:noFill/>
          <a:ln/>
        </p:spPr>
        <p:txBody>
          <a:bodyPr wrap="square" lIns="0" tIns="0" rIns="0" bIns="0" rtlCol="0" anchor="ctr"/>
          <a:lstStyle/>
          <a:p>
            <a:pPr marL="0" indent="0" algn="ctr">
              <a:buNone/>
            </a:pPr>
            <a:r>
              <a:rPr lang="en-US" sz="1100" b="1" dirty="0">
                <a:solidFill>
                  <a:srgbClr val="1D4ED8"/>
                </a:solidFill>
                <a:latin typeface="Inter" pitchFamily="34" charset="0"/>
                <a:ea typeface="Inter" pitchFamily="34" charset="-122"/>
                <a:cs typeface="Inter" pitchFamily="34" charset="-120"/>
              </a:rPr>
              <a:t>Never pay twice</a:t>
            </a:r>
            <a:endParaRPr lang="en-US" sz="1100" dirty="0"/>
          </a:p>
        </p:txBody>
      </p:sp>
      <p:sp>
        <p:nvSpPr>
          <p:cNvPr id="23" name="Shape 20"/>
          <p:cNvSpPr/>
          <p:nvPr/>
        </p:nvSpPr>
        <p:spPr>
          <a:xfrm>
            <a:off x="2788920" y="2926080"/>
            <a:ext cx="228600" cy="0"/>
          </a:xfrm>
          <a:prstGeom prst="line">
            <a:avLst/>
          </a:prstGeom>
          <a:noFill/>
          <a:ln w="15875">
            <a:solidFill>
              <a:srgbClr val="94A3B8"/>
            </a:solidFill>
            <a:prstDash val="solid"/>
            <a:tailEnd type="triangle"/>
          </a:ln>
        </p:spPr>
        <p:txBody>
          <a:bodyPr/>
          <a:lstStyle/>
          <a:p>
            <a:endParaRPr lang="en-US"/>
          </a:p>
        </p:txBody>
      </p:sp>
      <p:sp>
        <p:nvSpPr>
          <p:cNvPr id="24" name="Shape 21"/>
          <p:cNvSpPr/>
          <p:nvPr/>
        </p:nvSpPr>
        <p:spPr>
          <a:xfrm>
            <a:off x="3017520" y="2487168"/>
            <a:ext cx="1828800" cy="877824"/>
          </a:xfrm>
          <a:prstGeom prst="roundRect">
            <a:avLst>
              <a:gd name="adj" fmla="val 8333"/>
            </a:avLst>
          </a:prstGeom>
          <a:solidFill>
            <a:srgbClr val="1D4ED8"/>
          </a:solidFill>
          <a:ln/>
        </p:spPr>
        <p:txBody>
          <a:bodyPr/>
          <a:lstStyle/>
          <a:p>
            <a:endParaRPr lang="en-US"/>
          </a:p>
        </p:txBody>
      </p:sp>
      <p:sp>
        <p:nvSpPr>
          <p:cNvPr id="25" name="Text 22"/>
          <p:cNvSpPr txBox="1"/>
          <p:nvPr/>
        </p:nvSpPr>
        <p:spPr>
          <a:xfrm>
            <a:off x="3127248" y="2487168"/>
            <a:ext cx="1645920" cy="877824"/>
          </a:xfrm>
          <a:prstGeom prst="rect">
            <a:avLst/>
          </a:prstGeom>
          <a:noFill/>
          <a:ln/>
        </p:spPr>
        <p:txBody>
          <a:bodyPr wrap="square" lIns="0" tIns="0" rIns="0" bIns="0" rtlCol="0" anchor="ctr"/>
          <a:lstStyle/>
          <a:p>
            <a:pPr marL="0" indent="0">
              <a:buNone/>
            </a:pPr>
            <a:r>
              <a:rPr lang="en-US" sz="1300" b="1" dirty="0">
                <a:solidFill>
                  <a:srgbClr val="FFFFFF"/>
                </a:solidFill>
                <a:latin typeface="Inter" pitchFamily="34" charset="0"/>
                <a:ea typeface="Inter" pitchFamily="34" charset="-122"/>
                <a:cs typeface="Inter" pitchFamily="34" charset="-120"/>
              </a:rPr>
              <a:t>Customer mind</a:t>
            </a:r>
            <a:endParaRPr lang="en-US" sz="1300" dirty="0"/>
          </a:p>
        </p:txBody>
      </p:sp>
      <p:sp>
        <p:nvSpPr>
          <p:cNvPr id="26" name="Shape 23"/>
          <p:cNvSpPr/>
          <p:nvPr/>
        </p:nvSpPr>
        <p:spPr>
          <a:xfrm>
            <a:off x="4846320" y="2926080"/>
            <a:ext cx="320040" cy="0"/>
          </a:xfrm>
          <a:prstGeom prst="line">
            <a:avLst/>
          </a:prstGeom>
          <a:noFill/>
          <a:ln w="15875">
            <a:solidFill>
              <a:srgbClr val="94A3B8"/>
            </a:solidFill>
            <a:prstDash val="solid"/>
            <a:tailEnd type="triangle"/>
          </a:ln>
        </p:spPr>
        <p:txBody>
          <a:bodyPr/>
          <a:lstStyle/>
          <a:p>
            <a:endParaRPr lang="en-US"/>
          </a:p>
        </p:txBody>
      </p:sp>
      <p:sp>
        <p:nvSpPr>
          <p:cNvPr id="27" name="Shape 24"/>
          <p:cNvSpPr/>
          <p:nvPr/>
        </p:nvSpPr>
        <p:spPr>
          <a:xfrm>
            <a:off x="5166360" y="2487168"/>
            <a:ext cx="3886200" cy="877824"/>
          </a:xfrm>
          <a:prstGeom prst="roundRect">
            <a:avLst>
              <a:gd name="adj" fmla="val 8333"/>
            </a:avLst>
          </a:prstGeom>
          <a:solidFill>
            <a:srgbClr val="F8FAFC"/>
          </a:solidFill>
          <a:ln w="9525">
            <a:solidFill>
              <a:srgbClr val="E2E8F0"/>
            </a:solidFill>
            <a:prstDash val="solid"/>
          </a:ln>
        </p:spPr>
        <p:txBody>
          <a:bodyPr/>
          <a:lstStyle/>
          <a:p>
            <a:endParaRPr lang="en-US"/>
          </a:p>
        </p:txBody>
      </p:sp>
      <p:sp>
        <p:nvSpPr>
          <p:cNvPr id="28" name="Text 25"/>
          <p:cNvSpPr txBox="1"/>
          <p:nvPr/>
        </p:nvSpPr>
        <p:spPr>
          <a:xfrm>
            <a:off x="5303520" y="2578608"/>
            <a:ext cx="3657600" cy="292608"/>
          </a:xfrm>
          <a:prstGeom prst="rect">
            <a:avLst/>
          </a:prstGeom>
          <a:noFill/>
          <a:ln/>
        </p:spPr>
        <p:txBody>
          <a:bodyPr wrap="square" lIns="0" tIns="0" rIns="0" bIns="0" rtlCol="0" anchor="t"/>
          <a:lstStyle/>
          <a:p>
            <a:pPr marL="0" indent="0">
              <a:buNone/>
            </a:pPr>
            <a:r>
              <a:rPr lang="en-US" sz="1200" b="1" dirty="0">
                <a:solidFill>
                  <a:srgbClr val="0F172A"/>
                </a:solidFill>
                <a:latin typeface="Inter" pitchFamily="34" charset="0"/>
                <a:ea typeface="Inter" pitchFamily="34" charset="-122"/>
                <a:cs typeface="Inter" pitchFamily="34" charset="-120"/>
              </a:rPr>
              <a:t>One-product buyers</a:t>
            </a:r>
            <a:endParaRPr lang="en-US" sz="1200" dirty="0"/>
          </a:p>
        </p:txBody>
      </p:sp>
      <p:sp>
        <p:nvSpPr>
          <p:cNvPr id="29" name="Text 26"/>
          <p:cNvSpPr txBox="1"/>
          <p:nvPr/>
        </p:nvSpPr>
        <p:spPr>
          <a:xfrm>
            <a:off x="5303520" y="2889504"/>
            <a:ext cx="3657600" cy="384048"/>
          </a:xfrm>
          <a:prstGeom prst="rect">
            <a:avLst/>
          </a:prstGeom>
          <a:noFill/>
          <a:ln/>
        </p:spPr>
        <p:txBody>
          <a:bodyPr wrap="square" lIns="0" tIns="0" rIns="0" bIns="0" rtlCol="0" anchor="t"/>
          <a:lstStyle/>
          <a:p>
            <a:pPr marL="0" indent="0">
              <a:buNone/>
            </a:pPr>
            <a:r>
              <a:rPr lang="en-US" sz="1000" dirty="0">
                <a:solidFill>
                  <a:srgbClr val="334155"/>
                </a:solidFill>
                <a:latin typeface="Inter" pitchFamily="34" charset="0"/>
                <a:ea typeface="Inter" pitchFamily="34" charset="-122"/>
                <a:cs typeface="Inter" pitchFamily="34" charset="-120"/>
              </a:rPr>
              <a:t>Cashmere is touched by 40.7% of buyers but repeats 13.7% (A6)</a:t>
            </a:r>
            <a:endParaRPr lang="en-US" sz="1000" dirty="0"/>
          </a:p>
        </p:txBody>
      </p:sp>
      <p:sp>
        <p:nvSpPr>
          <p:cNvPr id="30" name="Shape 27"/>
          <p:cNvSpPr/>
          <p:nvPr/>
        </p:nvSpPr>
        <p:spPr>
          <a:xfrm>
            <a:off x="9144000" y="2788920"/>
            <a:ext cx="365760" cy="274320"/>
          </a:xfrm>
          <a:prstGeom prst="rightArrow">
            <a:avLst/>
          </a:prstGeom>
          <a:solidFill>
            <a:srgbClr val="BFDBFE"/>
          </a:solidFill>
          <a:ln w="6350">
            <a:solidFill>
              <a:srgbClr val="BFDBFE"/>
            </a:solidFill>
            <a:prstDash val="solid"/>
          </a:ln>
        </p:spPr>
        <p:txBody>
          <a:bodyPr/>
          <a:lstStyle/>
          <a:p>
            <a:endParaRPr lang="en-US"/>
          </a:p>
        </p:txBody>
      </p:sp>
      <p:sp>
        <p:nvSpPr>
          <p:cNvPr id="31" name="Shape 28"/>
          <p:cNvSpPr/>
          <p:nvPr/>
        </p:nvSpPr>
        <p:spPr>
          <a:xfrm>
            <a:off x="9601200" y="2633472"/>
            <a:ext cx="2084832" cy="585216"/>
          </a:xfrm>
          <a:prstGeom prst="roundRect">
            <a:avLst>
              <a:gd name="adj" fmla="val 50000"/>
            </a:avLst>
          </a:prstGeom>
          <a:solidFill>
            <a:srgbClr val="FFFFFF"/>
          </a:solidFill>
          <a:ln w="15875">
            <a:solidFill>
              <a:srgbClr val="1D4ED8"/>
            </a:solidFill>
            <a:prstDash val="solid"/>
          </a:ln>
        </p:spPr>
        <p:txBody>
          <a:bodyPr/>
          <a:lstStyle/>
          <a:p>
            <a:endParaRPr lang="en-US"/>
          </a:p>
        </p:txBody>
      </p:sp>
      <p:sp>
        <p:nvSpPr>
          <p:cNvPr id="32" name="Text 29"/>
          <p:cNvSpPr txBox="1"/>
          <p:nvPr/>
        </p:nvSpPr>
        <p:spPr>
          <a:xfrm>
            <a:off x="9601200" y="2633472"/>
            <a:ext cx="2084832" cy="585216"/>
          </a:xfrm>
          <a:prstGeom prst="rect">
            <a:avLst/>
          </a:prstGeom>
          <a:noFill/>
          <a:ln/>
        </p:spPr>
        <p:txBody>
          <a:bodyPr wrap="square" lIns="0" tIns="0" rIns="0" bIns="0" rtlCol="0" anchor="ctr"/>
          <a:lstStyle/>
          <a:p>
            <a:pPr marL="0" indent="0" algn="ctr">
              <a:buNone/>
            </a:pPr>
            <a:r>
              <a:rPr lang="en-US" sz="1100" b="1" dirty="0">
                <a:solidFill>
                  <a:srgbClr val="1D4ED8"/>
                </a:solidFill>
                <a:latin typeface="Inter" pitchFamily="34" charset="0"/>
                <a:ea typeface="Inter" pitchFamily="34" charset="-122"/>
                <a:cs typeface="Inter" pitchFamily="34" charset="-120"/>
              </a:rPr>
              <a:t>Win the Golden Month</a:t>
            </a:r>
            <a:endParaRPr lang="en-US" sz="1100" dirty="0"/>
          </a:p>
        </p:txBody>
      </p:sp>
      <p:sp>
        <p:nvSpPr>
          <p:cNvPr id="33" name="Shape 30"/>
          <p:cNvSpPr/>
          <p:nvPr/>
        </p:nvSpPr>
        <p:spPr>
          <a:xfrm>
            <a:off x="2788920" y="4041648"/>
            <a:ext cx="228600" cy="0"/>
          </a:xfrm>
          <a:prstGeom prst="line">
            <a:avLst/>
          </a:prstGeom>
          <a:noFill/>
          <a:ln w="15875">
            <a:solidFill>
              <a:srgbClr val="94A3B8"/>
            </a:solidFill>
            <a:prstDash val="solid"/>
            <a:tailEnd type="triangle"/>
          </a:ln>
        </p:spPr>
        <p:txBody>
          <a:bodyPr/>
          <a:lstStyle/>
          <a:p>
            <a:endParaRPr lang="en-US"/>
          </a:p>
        </p:txBody>
      </p:sp>
      <p:sp>
        <p:nvSpPr>
          <p:cNvPr id="34" name="Shape 31"/>
          <p:cNvSpPr/>
          <p:nvPr/>
        </p:nvSpPr>
        <p:spPr>
          <a:xfrm>
            <a:off x="3017520" y="3602736"/>
            <a:ext cx="1828800" cy="877824"/>
          </a:xfrm>
          <a:prstGeom prst="roundRect">
            <a:avLst>
              <a:gd name="adj" fmla="val 8333"/>
            </a:avLst>
          </a:prstGeom>
          <a:solidFill>
            <a:srgbClr val="1D4ED8"/>
          </a:solidFill>
          <a:ln/>
        </p:spPr>
        <p:txBody>
          <a:bodyPr/>
          <a:lstStyle/>
          <a:p>
            <a:endParaRPr lang="en-US"/>
          </a:p>
        </p:txBody>
      </p:sp>
      <p:sp>
        <p:nvSpPr>
          <p:cNvPr id="35" name="Text 32"/>
          <p:cNvSpPr txBox="1"/>
          <p:nvPr/>
        </p:nvSpPr>
        <p:spPr>
          <a:xfrm>
            <a:off x="3127248" y="3602736"/>
            <a:ext cx="1645920" cy="877824"/>
          </a:xfrm>
          <a:prstGeom prst="rect">
            <a:avLst/>
          </a:prstGeom>
          <a:noFill/>
          <a:ln/>
        </p:spPr>
        <p:txBody>
          <a:bodyPr wrap="square" lIns="0" tIns="0" rIns="0" bIns="0" rtlCol="0" anchor="ctr"/>
          <a:lstStyle/>
          <a:p>
            <a:pPr marL="0" indent="0">
              <a:buNone/>
            </a:pPr>
            <a:r>
              <a:rPr lang="en-US" sz="1300" b="1" dirty="0">
                <a:solidFill>
                  <a:srgbClr val="FFFFFF"/>
                </a:solidFill>
                <a:latin typeface="Inter" pitchFamily="34" charset="0"/>
                <a:ea typeface="Inter" pitchFamily="34" charset="-122"/>
                <a:cs typeface="Inter" pitchFamily="34" charset="-120"/>
              </a:rPr>
              <a:t>Customer journey</a:t>
            </a:r>
            <a:endParaRPr lang="en-US" sz="1300" dirty="0"/>
          </a:p>
        </p:txBody>
      </p:sp>
      <p:sp>
        <p:nvSpPr>
          <p:cNvPr id="36" name="Shape 33"/>
          <p:cNvSpPr/>
          <p:nvPr/>
        </p:nvSpPr>
        <p:spPr>
          <a:xfrm>
            <a:off x="4846320" y="4041648"/>
            <a:ext cx="320040" cy="0"/>
          </a:xfrm>
          <a:prstGeom prst="line">
            <a:avLst/>
          </a:prstGeom>
          <a:noFill/>
          <a:ln w="15875">
            <a:solidFill>
              <a:srgbClr val="94A3B8"/>
            </a:solidFill>
            <a:prstDash val="solid"/>
            <a:tailEnd type="triangle"/>
          </a:ln>
        </p:spPr>
        <p:txBody>
          <a:bodyPr/>
          <a:lstStyle/>
          <a:p>
            <a:endParaRPr lang="en-US"/>
          </a:p>
        </p:txBody>
      </p:sp>
      <p:sp>
        <p:nvSpPr>
          <p:cNvPr id="37" name="Shape 34"/>
          <p:cNvSpPr/>
          <p:nvPr/>
        </p:nvSpPr>
        <p:spPr>
          <a:xfrm>
            <a:off x="5166360" y="3602736"/>
            <a:ext cx="3886200" cy="877824"/>
          </a:xfrm>
          <a:prstGeom prst="roundRect">
            <a:avLst>
              <a:gd name="adj" fmla="val 8333"/>
            </a:avLst>
          </a:prstGeom>
          <a:solidFill>
            <a:srgbClr val="F8FAFC"/>
          </a:solidFill>
          <a:ln w="9525">
            <a:solidFill>
              <a:srgbClr val="E2E8F0"/>
            </a:solidFill>
            <a:prstDash val="solid"/>
          </a:ln>
        </p:spPr>
        <p:txBody>
          <a:bodyPr/>
          <a:lstStyle/>
          <a:p>
            <a:endParaRPr lang="en-US"/>
          </a:p>
        </p:txBody>
      </p:sp>
      <p:sp>
        <p:nvSpPr>
          <p:cNvPr id="38" name="Text 35"/>
          <p:cNvSpPr txBox="1"/>
          <p:nvPr/>
        </p:nvSpPr>
        <p:spPr>
          <a:xfrm>
            <a:off x="5303520" y="3694176"/>
            <a:ext cx="3657600" cy="292608"/>
          </a:xfrm>
          <a:prstGeom prst="rect">
            <a:avLst/>
          </a:prstGeom>
          <a:noFill/>
          <a:ln/>
        </p:spPr>
        <p:txBody>
          <a:bodyPr wrap="square" lIns="0" tIns="0" rIns="0" bIns="0" rtlCol="0" anchor="t"/>
          <a:lstStyle/>
          <a:p>
            <a:pPr marL="0" indent="0">
              <a:buNone/>
            </a:pPr>
            <a:r>
              <a:rPr lang="en-US" sz="1200" b="1" dirty="0">
                <a:solidFill>
                  <a:srgbClr val="0F172A"/>
                </a:solidFill>
                <a:latin typeface="Inter" pitchFamily="34" charset="0"/>
                <a:ea typeface="Inter" pitchFamily="34" charset="-122"/>
                <a:cs typeface="Inter" pitchFamily="34" charset="-120"/>
              </a:rPr>
              <a:t>The purchase leaks</a:t>
            </a:r>
            <a:endParaRPr lang="en-US" sz="1200" dirty="0"/>
          </a:p>
        </p:txBody>
      </p:sp>
      <p:sp>
        <p:nvSpPr>
          <p:cNvPr id="39" name="Text 36"/>
          <p:cNvSpPr txBox="1"/>
          <p:nvPr/>
        </p:nvSpPr>
        <p:spPr>
          <a:xfrm>
            <a:off x="5303520" y="4005072"/>
            <a:ext cx="3657600" cy="384048"/>
          </a:xfrm>
          <a:prstGeom prst="rect">
            <a:avLst/>
          </a:prstGeom>
          <a:noFill/>
          <a:ln/>
        </p:spPr>
        <p:txBody>
          <a:bodyPr wrap="square" lIns="0" tIns="0" rIns="0" bIns="0" rtlCol="0" anchor="t"/>
          <a:lstStyle/>
          <a:p>
            <a:pPr marL="0" indent="0">
              <a:buNone/>
            </a:pPr>
            <a:r>
              <a:rPr lang="en-US" sz="1000" dirty="0">
                <a:solidFill>
                  <a:srgbClr val="334155"/>
                </a:solidFill>
                <a:latin typeface="Inter" pitchFamily="34" charset="0"/>
                <a:ea typeface="Inter" pitchFamily="34" charset="-122"/>
                <a:cs typeface="Inter" pitchFamily="34" charset="-120"/>
              </a:rPr>
              <a:t>77% of cart adders never order; 1 of ~5,500 cart paths stopping before checkout gets an email (A1, A4)</a:t>
            </a:r>
            <a:endParaRPr lang="en-US" sz="1000" dirty="0"/>
          </a:p>
        </p:txBody>
      </p:sp>
      <p:sp>
        <p:nvSpPr>
          <p:cNvPr id="40" name="Shape 37"/>
          <p:cNvSpPr/>
          <p:nvPr/>
        </p:nvSpPr>
        <p:spPr>
          <a:xfrm>
            <a:off x="9144000" y="3904488"/>
            <a:ext cx="365760" cy="274320"/>
          </a:xfrm>
          <a:prstGeom prst="rightArrow">
            <a:avLst/>
          </a:prstGeom>
          <a:solidFill>
            <a:srgbClr val="BFDBFE"/>
          </a:solidFill>
          <a:ln w="6350">
            <a:solidFill>
              <a:srgbClr val="BFDBFE"/>
            </a:solidFill>
            <a:prstDash val="solid"/>
          </a:ln>
        </p:spPr>
        <p:txBody>
          <a:bodyPr/>
          <a:lstStyle/>
          <a:p>
            <a:endParaRPr lang="en-US"/>
          </a:p>
        </p:txBody>
      </p:sp>
      <p:sp>
        <p:nvSpPr>
          <p:cNvPr id="41" name="Shape 38"/>
          <p:cNvSpPr/>
          <p:nvPr/>
        </p:nvSpPr>
        <p:spPr>
          <a:xfrm>
            <a:off x="9601200" y="3749040"/>
            <a:ext cx="2084832" cy="585216"/>
          </a:xfrm>
          <a:prstGeom prst="roundRect">
            <a:avLst>
              <a:gd name="adj" fmla="val 50000"/>
            </a:avLst>
          </a:prstGeom>
          <a:solidFill>
            <a:srgbClr val="FFFFFF"/>
          </a:solidFill>
          <a:ln w="15875">
            <a:solidFill>
              <a:srgbClr val="1D4ED8"/>
            </a:solidFill>
            <a:prstDash val="solid"/>
          </a:ln>
        </p:spPr>
        <p:txBody>
          <a:bodyPr/>
          <a:lstStyle/>
          <a:p>
            <a:endParaRPr lang="en-US"/>
          </a:p>
        </p:txBody>
      </p:sp>
      <p:sp>
        <p:nvSpPr>
          <p:cNvPr id="42" name="Text 39"/>
          <p:cNvSpPr txBox="1"/>
          <p:nvPr/>
        </p:nvSpPr>
        <p:spPr>
          <a:xfrm>
            <a:off x="9601200" y="3749040"/>
            <a:ext cx="2084832" cy="585216"/>
          </a:xfrm>
          <a:prstGeom prst="rect">
            <a:avLst/>
          </a:prstGeom>
          <a:noFill/>
          <a:ln/>
        </p:spPr>
        <p:txBody>
          <a:bodyPr wrap="square" lIns="0" tIns="0" rIns="0" bIns="0" rtlCol="0" anchor="ctr"/>
          <a:lstStyle/>
          <a:p>
            <a:pPr marL="0" indent="0" algn="ctr">
              <a:buNone/>
            </a:pPr>
            <a:r>
              <a:rPr lang="en-US" sz="1100" b="1" dirty="0">
                <a:solidFill>
                  <a:srgbClr val="1D4ED8"/>
                </a:solidFill>
                <a:latin typeface="Inter" pitchFamily="34" charset="0"/>
                <a:ea typeface="Inter" pitchFamily="34" charset="-122"/>
                <a:cs typeface="Inter" pitchFamily="34" charset="-120"/>
              </a:rPr>
              <a:t>Capture every buyer</a:t>
            </a:r>
            <a:endParaRPr lang="en-US" sz="1100" dirty="0"/>
          </a:p>
        </p:txBody>
      </p:sp>
      <p:sp>
        <p:nvSpPr>
          <p:cNvPr id="43" name="Shape 40"/>
          <p:cNvSpPr/>
          <p:nvPr/>
        </p:nvSpPr>
        <p:spPr>
          <a:xfrm>
            <a:off x="2788920" y="5157216"/>
            <a:ext cx="228600" cy="0"/>
          </a:xfrm>
          <a:prstGeom prst="line">
            <a:avLst/>
          </a:prstGeom>
          <a:noFill/>
          <a:ln w="15875">
            <a:solidFill>
              <a:srgbClr val="94A3B8"/>
            </a:solidFill>
            <a:prstDash val="solid"/>
            <a:tailEnd type="triangle"/>
          </a:ln>
        </p:spPr>
        <p:txBody>
          <a:bodyPr/>
          <a:lstStyle/>
          <a:p>
            <a:endParaRPr lang="en-US"/>
          </a:p>
        </p:txBody>
      </p:sp>
      <p:sp>
        <p:nvSpPr>
          <p:cNvPr id="44" name="Shape 41"/>
          <p:cNvSpPr/>
          <p:nvPr/>
        </p:nvSpPr>
        <p:spPr>
          <a:xfrm>
            <a:off x="3017520" y="4718304"/>
            <a:ext cx="1828800" cy="877824"/>
          </a:xfrm>
          <a:prstGeom prst="roundRect">
            <a:avLst>
              <a:gd name="adj" fmla="val 8333"/>
            </a:avLst>
          </a:prstGeom>
          <a:solidFill>
            <a:srgbClr val="EFF6FF"/>
          </a:solidFill>
          <a:ln w="12700">
            <a:solidFill>
              <a:srgbClr val="1D4ED8"/>
            </a:solidFill>
            <a:prstDash val="dash"/>
          </a:ln>
        </p:spPr>
        <p:txBody>
          <a:bodyPr/>
          <a:lstStyle/>
          <a:p>
            <a:endParaRPr lang="en-US"/>
          </a:p>
        </p:txBody>
      </p:sp>
      <p:sp>
        <p:nvSpPr>
          <p:cNvPr id="45" name="Text 42"/>
          <p:cNvSpPr txBox="1"/>
          <p:nvPr/>
        </p:nvSpPr>
        <p:spPr>
          <a:xfrm>
            <a:off x="3127248" y="4718304"/>
            <a:ext cx="1645920" cy="877824"/>
          </a:xfrm>
          <a:prstGeom prst="rect">
            <a:avLst/>
          </a:prstGeom>
          <a:noFill/>
          <a:ln/>
        </p:spPr>
        <p:txBody>
          <a:bodyPr wrap="square" lIns="0" tIns="0" rIns="0" bIns="0" rtlCol="0" anchor="ctr"/>
          <a:lstStyle/>
          <a:p>
            <a:pPr marL="0" indent="0">
              <a:buNone/>
            </a:pPr>
            <a:r>
              <a:rPr lang="en-US" sz="1300" b="1" dirty="0">
                <a:solidFill>
                  <a:srgbClr val="1D4ED8"/>
                </a:solidFill>
                <a:latin typeface="Inter" pitchFamily="34" charset="0"/>
                <a:ea typeface="Inter" pitchFamily="34" charset="-122"/>
                <a:cs typeface="Inter" pitchFamily="34" charset="-120"/>
              </a:rPr>
              <a:t>Brand trust</a:t>
            </a:r>
            <a:endParaRPr lang="en-US" sz="1300" dirty="0"/>
          </a:p>
        </p:txBody>
      </p:sp>
      <p:sp>
        <p:nvSpPr>
          <p:cNvPr id="46" name="Shape 43"/>
          <p:cNvSpPr/>
          <p:nvPr/>
        </p:nvSpPr>
        <p:spPr>
          <a:xfrm>
            <a:off x="4846320" y="5157216"/>
            <a:ext cx="320040" cy="0"/>
          </a:xfrm>
          <a:prstGeom prst="line">
            <a:avLst/>
          </a:prstGeom>
          <a:noFill/>
          <a:ln w="15875">
            <a:solidFill>
              <a:srgbClr val="94A3B8"/>
            </a:solidFill>
            <a:prstDash val="solid"/>
            <a:tailEnd type="triangle"/>
          </a:ln>
        </p:spPr>
        <p:txBody>
          <a:bodyPr/>
          <a:lstStyle/>
          <a:p>
            <a:endParaRPr lang="en-US"/>
          </a:p>
        </p:txBody>
      </p:sp>
      <p:sp>
        <p:nvSpPr>
          <p:cNvPr id="47" name="Shape 44"/>
          <p:cNvSpPr/>
          <p:nvPr/>
        </p:nvSpPr>
        <p:spPr>
          <a:xfrm>
            <a:off x="5166360" y="4718304"/>
            <a:ext cx="3886200" cy="877824"/>
          </a:xfrm>
          <a:prstGeom prst="roundRect">
            <a:avLst>
              <a:gd name="adj" fmla="val 8333"/>
            </a:avLst>
          </a:prstGeom>
          <a:solidFill>
            <a:srgbClr val="F8FAFC"/>
          </a:solidFill>
          <a:ln w="9525">
            <a:solidFill>
              <a:srgbClr val="E2E8F0"/>
            </a:solidFill>
            <a:prstDash val="solid"/>
          </a:ln>
        </p:spPr>
        <p:txBody>
          <a:bodyPr/>
          <a:lstStyle/>
          <a:p>
            <a:endParaRPr lang="en-US"/>
          </a:p>
        </p:txBody>
      </p:sp>
      <p:sp>
        <p:nvSpPr>
          <p:cNvPr id="48" name="Text 45"/>
          <p:cNvSpPr txBox="1"/>
          <p:nvPr/>
        </p:nvSpPr>
        <p:spPr>
          <a:xfrm>
            <a:off x="5303520" y="4809744"/>
            <a:ext cx="3657600" cy="292608"/>
          </a:xfrm>
          <a:prstGeom prst="rect">
            <a:avLst/>
          </a:prstGeom>
          <a:noFill/>
          <a:ln/>
        </p:spPr>
        <p:txBody>
          <a:bodyPr wrap="square" lIns="0" tIns="0" rIns="0" bIns="0" rtlCol="0" anchor="t"/>
          <a:lstStyle/>
          <a:p>
            <a:pPr marL="0" indent="0">
              <a:buNone/>
            </a:pPr>
            <a:r>
              <a:rPr lang="en-US" sz="1200" b="1" dirty="0">
                <a:solidFill>
                  <a:srgbClr val="0F172A"/>
                </a:solidFill>
                <a:latin typeface="Inter" pitchFamily="34" charset="0"/>
                <a:ea typeface="Inter" pitchFamily="34" charset="-122"/>
                <a:cs typeface="Inter" pitchFamily="34" charset="-120"/>
              </a:rPr>
              <a:t>Found, not yet trusted</a:t>
            </a:r>
            <a:endParaRPr lang="en-US" sz="1200" dirty="0"/>
          </a:p>
        </p:txBody>
      </p:sp>
      <p:sp>
        <p:nvSpPr>
          <p:cNvPr id="49" name="Text 46"/>
          <p:cNvSpPr txBox="1"/>
          <p:nvPr/>
        </p:nvSpPr>
        <p:spPr>
          <a:xfrm>
            <a:off x="5303520" y="5120640"/>
            <a:ext cx="3657600" cy="384048"/>
          </a:xfrm>
          <a:prstGeom prst="rect">
            <a:avLst/>
          </a:prstGeom>
          <a:noFill/>
          <a:ln/>
        </p:spPr>
        <p:txBody>
          <a:bodyPr wrap="square" lIns="0" tIns="0" rIns="0" bIns="0" rtlCol="0" anchor="t"/>
          <a:lstStyle/>
          <a:p>
            <a:pPr marL="0" indent="0">
              <a:buNone/>
            </a:pPr>
            <a:r>
              <a:rPr lang="en-US" sz="1000" dirty="0">
                <a:solidFill>
                  <a:srgbClr val="334155"/>
                </a:solidFill>
                <a:latin typeface="Inter" pitchFamily="34" charset="0"/>
                <a:ea typeface="Inter" pitchFamily="34" charset="-122"/>
                <a:cs typeface="Inter" pitchFamily="34" charset="-120"/>
              </a:rPr>
              <a:t>25,227 people leave after a product view (A1)</a:t>
            </a:r>
            <a:endParaRPr lang="en-US" sz="1000" dirty="0"/>
          </a:p>
        </p:txBody>
      </p:sp>
      <p:sp>
        <p:nvSpPr>
          <p:cNvPr id="50" name="Shape 47"/>
          <p:cNvSpPr/>
          <p:nvPr/>
        </p:nvSpPr>
        <p:spPr>
          <a:xfrm>
            <a:off x="9144000" y="5020056"/>
            <a:ext cx="365760" cy="274320"/>
          </a:xfrm>
          <a:prstGeom prst="rightArrow">
            <a:avLst/>
          </a:prstGeom>
          <a:solidFill>
            <a:srgbClr val="BFDBFE"/>
          </a:solidFill>
          <a:ln w="6350">
            <a:solidFill>
              <a:srgbClr val="BFDBFE"/>
            </a:solidFill>
            <a:prstDash val="solid"/>
          </a:ln>
        </p:spPr>
        <p:txBody>
          <a:bodyPr/>
          <a:lstStyle/>
          <a:p>
            <a:endParaRPr lang="en-US"/>
          </a:p>
        </p:txBody>
      </p:sp>
      <p:sp>
        <p:nvSpPr>
          <p:cNvPr id="51" name="Shape 48"/>
          <p:cNvSpPr/>
          <p:nvPr/>
        </p:nvSpPr>
        <p:spPr>
          <a:xfrm>
            <a:off x="9601200" y="4864608"/>
            <a:ext cx="2084832" cy="585216"/>
          </a:xfrm>
          <a:prstGeom prst="roundRect">
            <a:avLst>
              <a:gd name="adj" fmla="val 50000"/>
            </a:avLst>
          </a:prstGeom>
          <a:solidFill>
            <a:srgbClr val="FFFFFF"/>
          </a:solidFill>
          <a:ln w="15875">
            <a:solidFill>
              <a:srgbClr val="1D4ED8"/>
            </a:solidFill>
            <a:prstDash val="solid"/>
          </a:ln>
        </p:spPr>
        <p:txBody>
          <a:bodyPr/>
          <a:lstStyle/>
          <a:p>
            <a:endParaRPr lang="en-US"/>
          </a:p>
        </p:txBody>
      </p:sp>
      <p:sp>
        <p:nvSpPr>
          <p:cNvPr id="52" name="Text 49"/>
          <p:cNvSpPr txBox="1"/>
          <p:nvPr/>
        </p:nvSpPr>
        <p:spPr>
          <a:xfrm>
            <a:off x="9601200" y="4864608"/>
            <a:ext cx="2084832" cy="585216"/>
          </a:xfrm>
          <a:prstGeom prst="rect">
            <a:avLst/>
          </a:prstGeom>
          <a:noFill/>
          <a:ln/>
        </p:spPr>
        <p:txBody>
          <a:bodyPr wrap="square" lIns="0" tIns="0" rIns="0" bIns="0" rtlCol="0" anchor="ctr"/>
          <a:lstStyle/>
          <a:p>
            <a:pPr marL="0" indent="0" algn="ctr">
              <a:buNone/>
            </a:pPr>
            <a:r>
              <a:rPr lang="en-US" sz="1100" b="1" dirty="0">
                <a:solidFill>
                  <a:srgbClr val="1D4ED8"/>
                </a:solidFill>
                <a:latin typeface="Inter" pitchFamily="34" charset="0"/>
                <a:ea typeface="Inter" pitchFamily="34" charset="-122"/>
                <a:cs typeface="Inter" pitchFamily="34" charset="-120"/>
              </a:rPr>
              <a:t>Trust thread, all levers</a:t>
            </a:r>
            <a:endParaRPr lang="en-US" sz="1100" dirty="0"/>
          </a:p>
        </p:txBody>
      </p:sp>
      <p:sp>
        <p:nvSpPr>
          <p:cNvPr id="53" name="Shape 50"/>
          <p:cNvSpPr/>
          <p:nvPr/>
        </p:nvSpPr>
        <p:spPr>
          <a:xfrm>
            <a:off x="502920" y="5715000"/>
            <a:ext cx="11183112" cy="512064"/>
          </a:xfrm>
          <a:prstGeom prst="roundRect">
            <a:avLst>
              <a:gd name="adj" fmla="val 17857"/>
            </a:avLst>
          </a:prstGeom>
          <a:solidFill>
            <a:srgbClr val="EFF6FF"/>
          </a:solidFill>
          <a:ln w="6350">
            <a:solidFill>
              <a:srgbClr val="EFF6FF"/>
            </a:solidFill>
            <a:prstDash val="solid"/>
          </a:ln>
        </p:spPr>
        <p:txBody>
          <a:bodyPr/>
          <a:lstStyle/>
          <a:p>
            <a:endParaRPr lang="en-US"/>
          </a:p>
        </p:txBody>
      </p:sp>
      <p:sp>
        <p:nvSpPr>
          <p:cNvPr id="54" name="Shape 51"/>
          <p:cNvSpPr/>
          <p:nvPr/>
        </p:nvSpPr>
        <p:spPr>
          <a:xfrm>
            <a:off x="640080" y="5806440"/>
            <a:ext cx="329184" cy="329184"/>
          </a:xfrm>
          <a:prstGeom prst="ellipse">
            <a:avLst/>
          </a:prstGeom>
          <a:solidFill>
            <a:srgbClr val="1D4ED8"/>
          </a:solidFill>
          <a:ln w="6350">
            <a:solidFill>
              <a:srgbClr val="1D4ED8"/>
            </a:solidFill>
            <a:prstDash val="solid"/>
          </a:ln>
        </p:spPr>
        <p:txBody>
          <a:bodyPr/>
          <a:lstStyle/>
          <a:p>
            <a:endParaRPr lang="en-US"/>
          </a:p>
        </p:txBody>
      </p:sp>
      <p:pic>
        <p:nvPicPr>
          <p:cNvPr id="55" name="Image 1" descr="preencoded.png"/>
          <p:cNvPicPr>
            <a:picLocks noChangeAspect="1"/>
          </p:cNvPicPr>
          <p:nvPr/>
        </p:nvPicPr>
        <p:blipFill>
          <a:blip r:embed="rId4"/>
          <a:stretch>
            <a:fillRect/>
          </a:stretch>
        </p:blipFill>
        <p:spPr>
          <a:xfrm>
            <a:off x="712500" y="5878860"/>
            <a:ext cx="184343" cy="184343"/>
          </a:xfrm>
          <a:prstGeom prst="rect">
            <a:avLst/>
          </a:prstGeom>
        </p:spPr>
      </p:pic>
      <p:sp>
        <p:nvSpPr>
          <p:cNvPr id="56" name="Text 52"/>
          <p:cNvSpPr txBox="1"/>
          <p:nvPr/>
        </p:nvSpPr>
        <p:spPr>
          <a:xfrm>
            <a:off x="1097280" y="5715000"/>
            <a:ext cx="10424160" cy="512064"/>
          </a:xfrm>
          <a:prstGeom prst="rect">
            <a:avLst/>
          </a:prstGeom>
          <a:noFill/>
          <a:ln/>
        </p:spPr>
        <p:txBody>
          <a:bodyPr wrap="square" lIns="0" tIns="0" rIns="0" bIns="0" rtlCol="0" anchor="ctr"/>
          <a:lstStyle/>
          <a:p>
            <a:pPr marL="0" indent="0">
              <a:buNone/>
            </a:pPr>
            <a:r>
              <a:rPr lang="en-US" sz="1300" b="1" dirty="0">
                <a:solidFill>
                  <a:srgbClr val="0A1F44"/>
                </a:solidFill>
                <a:latin typeface="Inter" pitchFamily="34" charset="0"/>
                <a:ea typeface="Inter" pitchFamily="34" charset="-122"/>
                <a:cs typeface="Inter" pitchFamily="34" charset="-120"/>
              </a:rPr>
              <a:t>Repeat = engaged share × engaged repeat + non-engaged share × non-engaged repeat; CAC = $120M ÷ new customers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9326880" cy="841248"/>
          </a:xfrm>
          <a:prstGeom prst="rect">
            <a:avLst/>
          </a:prstGeom>
          <a:noFill/>
          <a:ln/>
        </p:spPr>
        <p:txBody>
          <a:bodyPr wrap="square" lIns="0" tIns="0" rIns="0" bIns="0" rtlCol="0" anchor="ctr"/>
          <a:lstStyle/>
          <a:p>
            <a:pPr marL="0" indent="0">
              <a:buNone/>
            </a:pPr>
            <a:r>
              <a:rPr lang="en-US" sz="2400" b="1" dirty="0">
                <a:solidFill>
                  <a:srgbClr val="0A1F44"/>
                </a:solidFill>
                <a:latin typeface="Inter" pitchFamily="34" charset="0"/>
                <a:ea typeface="Inter" pitchFamily="34" charset="-122"/>
                <a:cs typeface="Inter" pitchFamily="34" charset="-120"/>
              </a:rPr>
              <a:t>We ask for the relationship when the box opens</a:t>
            </a:r>
            <a:endParaRPr lang="en-US" sz="2400" dirty="0"/>
          </a:p>
        </p:txBody>
      </p:sp>
      <p:pic>
        <p:nvPicPr>
          <p:cNvPr id="3" name="Image 0" descr="/tmp/claude-0/-home-user-Quince/7efe80ae-a049-50c2-9886-98bf7ca3a04a/scratchpad/assets/quince.png"/>
          <p:cNvPicPr>
            <a:picLocks noChangeAspect="1"/>
          </p:cNvPicPr>
          <p:nvPr/>
        </p:nvPicPr>
        <p:blipFill>
          <a:blip r:embed="rId3"/>
          <a:stretch>
            <a:fillRect/>
          </a:stretch>
        </p:blipFill>
        <p:spPr>
          <a:xfrm>
            <a:off x="10236708" y="615544"/>
            <a:ext cx="777240" cy="231951"/>
          </a:xfrm>
          <a:prstGeom prst="rect">
            <a:avLst/>
          </a:prstGeom>
        </p:spPr>
      </p:pic>
      <p:sp>
        <p:nvSpPr>
          <p:cNvPr id="4" name="Shape 1"/>
          <p:cNvSpPr/>
          <p:nvPr/>
        </p:nvSpPr>
        <p:spPr>
          <a:xfrm>
            <a:off x="11155680" y="603504"/>
            <a:ext cx="530352" cy="256032"/>
          </a:xfrm>
          <a:prstGeom prst="roundRect">
            <a:avLst>
              <a:gd name="adj" fmla="val 50000"/>
            </a:avLst>
          </a:prstGeom>
          <a:solidFill>
            <a:srgbClr val="0A1F44"/>
          </a:solidFill>
          <a:ln w="6350">
            <a:solidFill>
              <a:srgbClr val="0A1F44"/>
            </a:solidFill>
            <a:prstDash val="solid"/>
          </a:ln>
        </p:spPr>
        <p:txBody>
          <a:bodyPr/>
          <a:lstStyle/>
          <a:p>
            <a:endParaRPr lang="en-US"/>
          </a:p>
        </p:txBody>
      </p:sp>
      <p:sp>
        <p:nvSpPr>
          <p:cNvPr id="5" name="Text 2"/>
          <p:cNvSpPr txBox="1"/>
          <p:nvPr/>
        </p:nvSpPr>
        <p:spPr>
          <a:xfrm>
            <a:off x="11155680" y="603504"/>
            <a:ext cx="53035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G27</a:t>
            </a:r>
            <a:endParaRPr lang="en-US" sz="950" dirty="0"/>
          </a:p>
        </p:txBody>
      </p:sp>
      <p:sp>
        <p:nvSpPr>
          <p:cNvPr id="6" name="Shape 3"/>
          <p:cNvSpPr/>
          <p:nvPr/>
        </p:nvSpPr>
        <p:spPr>
          <a:xfrm>
            <a:off x="502920" y="6400800"/>
            <a:ext cx="11183112" cy="0"/>
          </a:xfrm>
          <a:prstGeom prst="line">
            <a:avLst/>
          </a:prstGeom>
          <a:noFill/>
          <a:ln w="9525">
            <a:solidFill>
              <a:srgbClr val="E2E8F0"/>
            </a:solidFill>
            <a:prstDash val="solid"/>
          </a:ln>
        </p:spPr>
        <p:txBody>
          <a:bodyPr/>
          <a:lstStyle/>
          <a:p>
            <a:endParaRPr lang="en-US"/>
          </a:p>
        </p:txBody>
      </p:sp>
      <p:sp>
        <p:nvSpPr>
          <p:cNvPr id="7" name="Text 4"/>
          <p:cNvSpPr txBox="1"/>
          <p:nvPr/>
        </p:nvSpPr>
        <p:spPr>
          <a:xfrm>
            <a:off x="502920" y="6464808"/>
            <a:ext cx="9418320" cy="256032"/>
          </a:xfrm>
          <a:prstGeom prst="rect">
            <a:avLst/>
          </a:prstGeom>
          <a:noFill/>
          <a:ln/>
        </p:spPr>
        <p:txBody>
          <a:bodyPr wrap="square" lIns="0" tIns="0" rIns="0" bIns="0" rtlCol="0" anchor="ctr"/>
          <a:lstStyle/>
          <a:p>
            <a:pPr marL="0" indent="0">
              <a:buNone/>
            </a:pPr>
            <a:r>
              <a:rPr lang="en-US" sz="800" dirty="0">
                <a:solidFill>
                  <a:srgbClr val="64748B"/>
                </a:solidFill>
                <a:latin typeface="Inter" pitchFamily="34" charset="0"/>
                <a:ea typeface="Inter" pitchFamily="34" charset="-122"/>
                <a:cs typeface="Inter" pitchFamily="34" charset="-120"/>
              </a:rPr>
              <a:t>Source: Adobe CJA panels A1, A2, A4, A5, A6 and Cohort Table; the mechanisms are our hypotheses, and the pilot tests them.</a:t>
            </a:r>
            <a:endParaRPr lang="en-US" sz="800" dirty="0"/>
          </a:p>
        </p:txBody>
      </p:sp>
      <p:sp>
        <p:nvSpPr>
          <p:cNvPr id="8" name="Text 5"/>
          <p:cNvSpPr txBox="1"/>
          <p:nvPr/>
        </p:nvSpPr>
        <p:spPr>
          <a:xfrm>
            <a:off x="9966960" y="6464808"/>
            <a:ext cx="1719072" cy="256032"/>
          </a:xfrm>
          <a:prstGeom prst="rect">
            <a:avLst/>
          </a:prstGeom>
          <a:noFill/>
          <a:ln/>
        </p:spPr>
        <p:txBody>
          <a:bodyPr wrap="square" lIns="0" tIns="0" rIns="0" bIns="0" rtlCol="0" anchor="ctr"/>
          <a:lstStyle/>
          <a:p>
            <a:pPr marL="0" indent="0" algn="r">
              <a:buNone/>
            </a:pPr>
            <a:r>
              <a:rPr lang="en-US" sz="800" dirty="0">
                <a:solidFill>
                  <a:srgbClr val="64748B"/>
                </a:solidFill>
                <a:latin typeface="Inter" pitchFamily="34" charset="0"/>
                <a:ea typeface="Inter" pitchFamily="34" charset="-122"/>
                <a:cs typeface="Inter" pitchFamily="34" charset="-120"/>
              </a:rPr>
              <a:t>Team G27  ·  16</a:t>
            </a:r>
            <a:endParaRPr lang="en-US" sz="800" dirty="0"/>
          </a:p>
        </p:txBody>
      </p:sp>
      <p:sp>
        <p:nvSpPr>
          <p:cNvPr id="9" name="Shape 6"/>
          <p:cNvSpPr/>
          <p:nvPr/>
        </p:nvSpPr>
        <p:spPr>
          <a:xfrm>
            <a:off x="1301714" y="1874520"/>
            <a:ext cx="9585525" cy="0"/>
          </a:xfrm>
          <a:prstGeom prst="line">
            <a:avLst/>
          </a:prstGeom>
          <a:noFill/>
          <a:ln w="38100">
            <a:solidFill>
              <a:srgbClr val="BFDBFE"/>
            </a:solidFill>
            <a:prstDash val="solid"/>
          </a:ln>
        </p:spPr>
        <p:txBody>
          <a:bodyPr/>
          <a:lstStyle/>
          <a:p>
            <a:endParaRPr lang="en-US"/>
          </a:p>
        </p:txBody>
      </p:sp>
      <p:sp>
        <p:nvSpPr>
          <p:cNvPr id="10" name="Shape 7"/>
          <p:cNvSpPr/>
          <p:nvPr/>
        </p:nvSpPr>
        <p:spPr>
          <a:xfrm>
            <a:off x="999962" y="1572768"/>
            <a:ext cx="603504" cy="603504"/>
          </a:xfrm>
          <a:prstGeom prst="ellipse">
            <a:avLst/>
          </a:prstGeom>
          <a:solidFill>
            <a:srgbClr val="0A1F44"/>
          </a:solidFill>
          <a:ln w="6350">
            <a:solidFill>
              <a:srgbClr val="0A1F44"/>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1132733" y="1705539"/>
            <a:ext cx="337962" cy="337962"/>
          </a:xfrm>
          <a:prstGeom prst="rect">
            <a:avLst/>
          </a:prstGeom>
        </p:spPr>
      </p:pic>
      <p:sp>
        <p:nvSpPr>
          <p:cNvPr id="12" name="Text 8"/>
          <p:cNvSpPr txBox="1"/>
          <p:nvPr/>
        </p:nvSpPr>
        <p:spPr>
          <a:xfrm>
            <a:off x="548640" y="2286000"/>
            <a:ext cx="1506147" cy="274320"/>
          </a:xfrm>
          <a:prstGeom prst="rect">
            <a:avLst/>
          </a:prstGeom>
          <a:noFill/>
          <a:ln/>
        </p:spPr>
        <p:txBody>
          <a:bodyPr wrap="square" lIns="0" tIns="0" rIns="0" bIns="0" rtlCol="0" anchor="t"/>
          <a:lstStyle/>
          <a:p>
            <a:pPr marL="0" indent="0" algn="ctr">
              <a:buNone/>
            </a:pPr>
            <a:r>
              <a:rPr lang="en-US" sz="1200" b="1" dirty="0">
                <a:solidFill>
                  <a:srgbClr val="0F172A"/>
                </a:solidFill>
                <a:latin typeface="Inter" pitchFamily="34" charset="0"/>
                <a:ea typeface="Inter" pitchFamily="34" charset="-122"/>
                <a:cs typeface="Inter" pitchFamily="34" charset="-120"/>
              </a:rPr>
              <a:t>Discovery</a:t>
            </a:r>
            <a:endParaRPr lang="en-US" sz="1200" dirty="0"/>
          </a:p>
        </p:txBody>
      </p:sp>
      <p:sp>
        <p:nvSpPr>
          <p:cNvPr id="13" name="Shape 9"/>
          <p:cNvSpPr/>
          <p:nvPr/>
        </p:nvSpPr>
        <p:spPr>
          <a:xfrm>
            <a:off x="576072" y="2697480"/>
            <a:ext cx="1451283" cy="685800"/>
          </a:xfrm>
          <a:prstGeom prst="roundRect">
            <a:avLst>
              <a:gd name="adj" fmla="val 10667"/>
            </a:avLst>
          </a:prstGeom>
          <a:solidFill>
            <a:srgbClr val="EFF6FF"/>
          </a:solidFill>
          <a:ln w="6350">
            <a:solidFill>
              <a:srgbClr val="EFF6FF"/>
            </a:solidFill>
            <a:prstDash val="solid"/>
          </a:ln>
        </p:spPr>
        <p:txBody>
          <a:bodyPr/>
          <a:lstStyle/>
          <a:p>
            <a:endParaRPr lang="en-US"/>
          </a:p>
        </p:txBody>
      </p:sp>
      <p:sp>
        <p:nvSpPr>
          <p:cNvPr id="14" name="Text 10"/>
          <p:cNvSpPr txBox="1"/>
          <p:nvPr/>
        </p:nvSpPr>
        <p:spPr>
          <a:xfrm>
            <a:off x="612648" y="2697480"/>
            <a:ext cx="1378131" cy="685800"/>
          </a:xfrm>
          <a:prstGeom prst="rect">
            <a:avLst/>
          </a:prstGeom>
          <a:noFill/>
          <a:ln/>
        </p:spPr>
        <p:txBody>
          <a:bodyPr wrap="square" lIns="0" tIns="0" rIns="0" bIns="0" rtlCol="0" anchor="ctr"/>
          <a:lstStyle/>
          <a:p>
            <a:pPr marL="0" indent="0" algn="ctr">
              <a:buNone/>
            </a:pPr>
            <a:r>
              <a:rPr lang="en-US" sz="1050" b="1" dirty="0">
                <a:solidFill>
                  <a:srgbClr val="1D4ED8"/>
                </a:solidFill>
                <a:latin typeface="Inter" pitchFamily="34" charset="0"/>
                <a:ea typeface="Inter" pitchFamily="34" charset="-122"/>
                <a:cs typeface="Inter" pitchFamily="34" charset="-120"/>
              </a:rPr>
              <a:t>45.5% via prospecting</a:t>
            </a:r>
            <a:endParaRPr lang="en-US" sz="1050" dirty="0"/>
          </a:p>
        </p:txBody>
      </p:sp>
      <p:sp>
        <p:nvSpPr>
          <p:cNvPr id="15" name="Text 11"/>
          <p:cNvSpPr txBox="1"/>
          <p:nvPr/>
        </p:nvSpPr>
        <p:spPr>
          <a:xfrm>
            <a:off x="548640" y="3566160"/>
            <a:ext cx="1506147" cy="201168"/>
          </a:xfrm>
          <a:prstGeom prst="rect">
            <a:avLst/>
          </a:prstGeom>
          <a:noFill/>
          <a:ln/>
        </p:spPr>
        <p:txBody>
          <a:bodyPr wrap="square" lIns="0" tIns="0" rIns="0" bIns="0" rtlCol="0" anchor="t"/>
          <a:lstStyle/>
          <a:p>
            <a:pPr marL="0" indent="0" algn="ctr">
              <a:buNone/>
            </a:pPr>
            <a:r>
              <a:rPr lang="en-US" sz="850" dirty="0">
                <a:solidFill>
                  <a:srgbClr val="64748B"/>
                </a:solidFill>
                <a:latin typeface="Inter" pitchFamily="34" charset="0"/>
                <a:ea typeface="Inter" pitchFamily="34" charset="-122"/>
                <a:cs typeface="Inter" pitchFamily="34" charset="-120"/>
              </a:rPr>
              <a:t>Mechanism</a:t>
            </a:r>
            <a:endParaRPr lang="en-US" sz="850" dirty="0"/>
          </a:p>
        </p:txBody>
      </p:sp>
      <p:sp>
        <p:nvSpPr>
          <p:cNvPr id="16" name="Text 12"/>
          <p:cNvSpPr txBox="1"/>
          <p:nvPr/>
        </p:nvSpPr>
        <p:spPr>
          <a:xfrm>
            <a:off x="548640" y="3767328"/>
            <a:ext cx="1506147" cy="457200"/>
          </a:xfrm>
          <a:prstGeom prst="rect">
            <a:avLst/>
          </a:prstGeom>
          <a:noFill/>
          <a:ln/>
        </p:spPr>
        <p:txBody>
          <a:bodyPr wrap="square" lIns="0" tIns="0" rIns="0" bIns="0" rtlCol="0" anchor="t"/>
          <a:lstStyle/>
          <a:p>
            <a:pPr marL="0" indent="0" algn="ctr">
              <a:buNone/>
            </a:pPr>
            <a:r>
              <a:rPr lang="en-US" sz="1050" dirty="0">
                <a:solidFill>
                  <a:srgbClr val="334155"/>
                </a:solidFill>
                <a:latin typeface="Inter" pitchFamily="34" charset="0"/>
                <a:ea typeface="Inter" pitchFamily="34" charset="-122"/>
                <a:cs typeface="Inter" pitchFamily="34" charset="-120"/>
              </a:rPr>
              <a:t>Social proof</a:t>
            </a:r>
            <a:endParaRPr lang="en-US" sz="1050" dirty="0"/>
          </a:p>
        </p:txBody>
      </p:sp>
      <p:sp>
        <p:nvSpPr>
          <p:cNvPr id="17" name="Shape 13"/>
          <p:cNvSpPr/>
          <p:nvPr/>
        </p:nvSpPr>
        <p:spPr>
          <a:xfrm>
            <a:off x="1191986" y="4297680"/>
            <a:ext cx="219456" cy="274320"/>
          </a:xfrm>
          <a:prstGeom prst="downArrow">
            <a:avLst/>
          </a:prstGeom>
          <a:solidFill>
            <a:srgbClr val="BFDBFE"/>
          </a:solidFill>
          <a:ln w="6350">
            <a:solidFill>
              <a:srgbClr val="BFDBFE"/>
            </a:solidFill>
            <a:prstDash val="solid"/>
          </a:ln>
        </p:spPr>
        <p:txBody>
          <a:bodyPr/>
          <a:lstStyle/>
          <a:p>
            <a:endParaRPr lang="en-US"/>
          </a:p>
        </p:txBody>
      </p:sp>
      <p:sp>
        <p:nvSpPr>
          <p:cNvPr id="18" name="Shape 14"/>
          <p:cNvSpPr/>
          <p:nvPr/>
        </p:nvSpPr>
        <p:spPr>
          <a:xfrm>
            <a:off x="576072" y="4663440"/>
            <a:ext cx="1451283" cy="566928"/>
          </a:xfrm>
          <a:prstGeom prst="roundRect">
            <a:avLst>
              <a:gd name="adj" fmla="val 12903"/>
            </a:avLst>
          </a:prstGeom>
          <a:solidFill>
            <a:srgbClr val="0A1F44"/>
          </a:solidFill>
          <a:ln w="6350">
            <a:solidFill>
              <a:srgbClr val="0A1F44"/>
            </a:solidFill>
            <a:prstDash val="solid"/>
          </a:ln>
        </p:spPr>
        <p:txBody>
          <a:bodyPr/>
          <a:lstStyle/>
          <a:p>
            <a:endParaRPr lang="en-US"/>
          </a:p>
        </p:txBody>
      </p:sp>
      <p:sp>
        <p:nvSpPr>
          <p:cNvPr id="19" name="Text 15"/>
          <p:cNvSpPr txBox="1"/>
          <p:nvPr/>
        </p:nvSpPr>
        <p:spPr>
          <a:xfrm>
            <a:off x="594360" y="4663440"/>
            <a:ext cx="1414707" cy="566928"/>
          </a:xfrm>
          <a:prstGeom prst="rect">
            <a:avLst/>
          </a:prstGeom>
          <a:noFill/>
          <a:ln/>
        </p:spPr>
        <p:txBody>
          <a:bodyPr wrap="square" lIns="0" tIns="0" rIns="0" bIns="0" rtlCol="0" anchor="ctr"/>
          <a:lstStyle/>
          <a:p>
            <a:pPr marL="0" indent="0" algn="ctr">
              <a:buNone/>
            </a:pPr>
            <a:r>
              <a:rPr lang="en-US" sz="1050" b="1" dirty="0">
                <a:solidFill>
                  <a:srgbClr val="FFFFFF"/>
                </a:solidFill>
                <a:latin typeface="Inter" pitchFamily="34" charset="0"/>
                <a:ea typeface="Inter" pitchFamily="34" charset="-122"/>
                <a:cs typeface="Inter" pitchFamily="34" charset="-120"/>
              </a:rPr>
              <a:t>Loyalist Lookalikes</a:t>
            </a:r>
            <a:endParaRPr lang="en-US" sz="1050" dirty="0"/>
          </a:p>
        </p:txBody>
      </p:sp>
      <p:sp>
        <p:nvSpPr>
          <p:cNvPr id="20" name="Shape 16"/>
          <p:cNvSpPr/>
          <p:nvPr/>
        </p:nvSpPr>
        <p:spPr>
          <a:xfrm>
            <a:off x="2597549" y="1572768"/>
            <a:ext cx="603504" cy="603504"/>
          </a:xfrm>
          <a:prstGeom prst="ellipse">
            <a:avLst/>
          </a:prstGeom>
          <a:solidFill>
            <a:srgbClr val="0A1F44"/>
          </a:solidFill>
          <a:ln w="6350">
            <a:solidFill>
              <a:srgbClr val="0A1F44"/>
            </a:solidFill>
            <a:prstDash val="solid"/>
          </a:ln>
        </p:spPr>
        <p:txBody>
          <a:bodyPr/>
          <a:lstStyle/>
          <a:p>
            <a:endParaRPr lang="en-US"/>
          </a:p>
        </p:txBody>
      </p:sp>
      <p:pic>
        <p:nvPicPr>
          <p:cNvPr id="21" name="Image 2" descr="preencoded.png"/>
          <p:cNvPicPr>
            <a:picLocks noChangeAspect="1"/>
          </p:cNvPicPr>
          <p:nvPr/>
        </p:nvPicPr>
        <p:blipFill>
          <a:blip r:embed="rId5"/>
          <a:stretch>
            <a:fillRect/>
          </a:stretch>
        </p:blipFill>
        <p:spPr>
          <a:xfrm>
            <a:off x="2730320" y="1705539"/>
            <a:ext cx="337962" cy="337962"/>
          </a:xfrm>
          <a:prstGeom prst="rect">
            <a:avLst/>
          </a:prstGeom>
        </p:spPr>
      </p:pic>
      <p:sp>
        <p:nvSpPr>
          <p:cNvPr id="22" name="Text 17"/>
          <p:cNvSpPr txBox="1"/>
          <p:nvPr/>
        </p:nvSpPr>
        <p:spPr>
          <a:xfrm>
            <a:off x="2146227" y="2286000"/>
            <a:ext cx="1506147" cy="274320"/>
          </a:xfrm>
          <a:prstGeom prst="rect">
            <a:avLst/>
          </a:prstGeom>
          <a:noFill/>
          <a:ln/>
        </p:spPr>
        <p:txBody>
          <a:bodyPr wrap="square" lIns="0" tIns="0" rIns="0" bIns="0" rtlCol="0" anchor="t"/>
          <a:lstStyle/>
          <a:p>
            <a:pPr marL="0" indent="0" algn="ctr">
              <a:buNone/>
            </a:pPr>
            <a:r>
              <a:rPr lang="en-US" sz="1200" b="1" dirty="0">
                <a:solidFill>
                  <a:srgbClr val="0F172A"/>
                </a:solidFill>
                <a:latin typeface="Inter" pitchFamily="34" charset="0"/>
                <a:ea typeface="Inter" pitchFamily="34" charset="-122"/>
                <a:cs typeface="Inter" pitchFamily="34" charset="-120"/>
              </a:rPr>
              <a:t>Product page</a:t>
            </a:r>
            <a:endParaRPr lang="en-US" sz="1200" dirty="0"/>
          </a:p>
        </p:txBody>
      </p:sp>
      <p:sp>
        <p:nvSpPr>
          <p:cNvPr id="23" name="Shape 18"/>
          <p:cNvSpPr/>
          <p:nvPr/>
        </p:nvSpPr>
        <p:spPr>
          <a:xfrm>
            <a:off x="2173659" y="2697480"/>
            <a:ext cx="1451283" cy="685800"/>
          </a:xfrm>
          <a:prstGeom prst="roundRect">
            <a:avLst>
              <a:gd name="adj" fmla="val 10667"/>
            </a:avLst>
          </a:prstGeom>
          <a:solidFill>
            <a:srgbClr val="EFF6FF"/>
          </a:solidFill>
          <a:ln w="6350">
            <a:solidFill>
              <a:srgbClr val="EFF6FF"/>
            </a:solidFill>
            <a:prstDash val="solid"/>
          </a:ln>
        </p:spPr>
        <p:txBody>
          <a:bodyPr/>
          <a:lstStyle/>
          <a:p>
            <a:endParaRPr lang="en-US"/>
          </a:p>
        </p:txBody>
      </p:sp>
      <p:sp>
        <p:nvSpPr>
          <p:cNvPr id="24" name="Text 19"/>
          <p:cNvSpPr txBox="1"/>
          <p:nvPr/>
        </p:nvSpPr>
        <p:spPr>
          <a:xfrm>
            <a:off x="2210235" y="2697480"/>
            <a:ext cx="1378131" cy="685800"/>
          </a:xfrm>
          <a:prstGeom prst="rect">
            <a:avLst/>
          </a:prstGeom>
          <a:noFill/>
          <a:ln/>
        </p:spPr>
        <p:txBody>
          <a:bodyPr wrap="square" lIns="0" tIns="0" rIns="0" bIns="0" rtlCol="0" anchor="ctr"/>
          <a:lstStyle/>
          <a:p>
            <a:pPr marL="0" indent="0" algn="ctr">
              <a:buNone/>
            </a:pPr>
            <a:r>
              <a:rPr lang="en-US" sz="1050" b="1" dirty="0">
                <a:solidFill>
                  <a:srgbClr val="1D4ED8"/>
                </a:solidFill>
                <a:latin typeface="Inter" pitchFamily="34" charset="0"/>
                <a:ea typeface="Inter" pitchFamily="34" charset="-122"/>
                <a:cs typeface="Inter" pitchFamily="34" charset="-120"/>
              </a:rPr>
              <a:t>25,227 leave here</a:t>
            </a:r>
            <a:endParaRPr lang="en-US" sz="1050" dirty="0"/>
          </a:p>
        </p:txBody>
      </p:sp>
      <p:sp>
        <p:nvSpPr>
          <p:cNvPr id="25" name="Text 20"/>
          <p:cNvSpPr txBox="1"/>
          <p:nvPr/>
        </p:nvSpPr>
        <p:spPr>
          <a:xfrm>
            <a:off x="2146227" y="3566160"/>
            <a:ext cx="1506147" cy="201168"/>
          </a:xfrm>
          <a:prstGeom prst="rect">
            <a:avLst/>
          </a:prstGeom>
          <a:noFill/>
          <a:ln/>
        </p:spPr>
        <p:txBody>
          <a:bodyPr wrap="square" lIns="0" tIns="0" rIns="0" bIns="0" rtlCol="0" anchor="t"/>
          <a:lstStyle/>
          <a:p>
            <a:pPr marL="0" indent="0" algn="ctr">
              <a:buNone/>
            </a:pPr>
            <a:r>
              <a:rPr lang="en-US" sz="850" dirty="0">
                <a:solidFill>
                  <a:srgbClr val="64748B"/>
                </a:solidFill>
                <a:latin typeface="Inter" pitchFamily="34" charset="0"/>
                <a:ea typeface="Inter" pitchFamily="34" charset="-122"/>
                <a:cs typeface="Inter" pitchFamily="34" charset="-120"/>
              </a:rPr>
              <a:t>Mechanism</a:t>
            </a:r>
            <a:endParaRPr lang="en-US" sz="850" dirty="0"/>
          </a:p>
        </p:txBody>
      </p:sp>
      <p:sp>
        <p:nvSpPr>
          <p:cNvPr id="26" name="Text 21"/>
          <p:cNvSpPr txBox="1"/>
          <p:nvPr/>
        </p:nvSpPr>
        <p:spPr>
          <a:xfrm>
            <a:off x="2146227" y="3767328"/>
            <a:ext cx="1506147" cy="457200"/>
          </a:xfrm>
          <a:prstGeom prst="rect">
            <a:avLst/>
          </a:prstGeom>
          <a:noFill/>
          <a:ln/>
        </p:spPr>
        <p:txBody>
          <a:bodyPr wrap="square" lIns="0" tIns="0" rIns="0" bIns="0" rtlCol="0" anchor="t"/>
          <a:lstStyle/>
          <a:p>
            <a:pPr marL="0" indent="0" algn="ctr">
              <a:buNone/>
            </a:pPr>
            <a:r>
              <a:rPr lang="en-US" sz="1050" dirty="0">
                <a:solidFill>
                  <a:srgbClr val="334155"/>
                </a:solidFill>
                <a:latin typeface="Inter" pitchFamily="34" charset="0"/>
                <a:ea typeface="Inter" pitchFamily="34" charset="-122"/>
                <a:cs typeface="Inter" pitchFamily="34" charset="-120"/>
              </a:rPr>
              <a:t>Price signals quality</a:t>
            </a:r>
            <a:endParaRPr lang="en-US" sz="1050" dirty="0"/>
          </a:p>
        </p:txBody>
      </p:sp>
      <p:sp>
        <p:nvSpPr>
          <p:cNvPr id="27" name="Shape 22"/>
          <p:cNvSpPr/>
          <p:nvPr/>
        </p:nvSpPr>
        <p:spPr>
          <a:xfrm>
            <a:off x="2789573" y="4297680"/>
            <a:ext cx="219456" cy="274320"/>
          </a:xfrm>
          <a:prstGeom prst="downArrow">
            <a:avLst/>
          </a:prstGeom>
          <a:solidFill>
            <a:srgbClr val="BFDBFE"/>
          </a:solidFill>
          <a:ln w="6350">
            <a:solidFill>
              <a:srgbClr val="BFDBFE"/>
            </a:solidFill>
            <a:prstDash val="solid"/>
          </a:ln>
        </p:spPr>
        <p:txBody>
          <a:bodyPr/>
          <a:lstStyle/>
          <a:p>
            <a:endParaRPr lang="en-US"/>
          </a:p>
        </p:txBody>
      </p:sp>
      <p:sp>
        <p:nvSpPr>
          <p:cNvPr id="28" name="Shape 23"/>
          <p:cNvSpPr/>
          <p:nvPr/>
        </p:nvSpPr>
        <p:spPr>
          <a:xfrm>
            <a:off x="2173659" y="4663440"/>
            <a:ext cx="1451283" cy="566928"/>
          </a:xfrm>
          <a:prstGeom prst="roundRect">
            <a:avLst>
              <a:gd name="adj" fmla="val 12903"/>
            </a:avLst>
          </a:prstGeom>
          <a:solidFill>
            <a:srgbClr val="0A1F44"/>
          </a:solidFill>
          <a:ln w="6350">
            <a:solidFill>
              <a:srgbClr val="0A1F44"/>
            </a:solidFill>
            <a:prstDash val="solid"/>
          </a:ln>
        </p:spPr>
        <p:txBody>
          <a:bodyPr/>
          <a:lstStyle/>
          <a:p>
            <a:endParaRPr lang="en-US"/>
          </a:p>
        </p:txBody>
      </p:sp>
      <p:sp>
        <p:nvSpPr>
          <p:cNvPr id="29" name="Text 24"/>
          <p:cNvSpPr txBox="1"/>
          <p:nvPr/>
        </p:nvSpPr>
        <p:spPr>
          <a:xfrm>
            <a:off x="2191947" y="4663440"/>
            <a:ext cx="1414707" cy="566928"/>
          </a:xfrm>
          <a:prstGeom prst="rect">
            <a:avLst/>
          </a:prstGeom>
          <a:noFill/>
          <a:ln/>
        </p:spPr>
        <p:txBody>
          <a:bodyPr wrap="square" lIns="0" tIns="0" rIns="0" bIns="0" rtlCol="0" anchor="ctr"/>
          <a:lstStyle/>
          <a:p>
            <a:pPr marL="0" indent="0" algn="ctr">
              <a:buNone/>
            </a:pPr>
            <a:r>
              <a:rPr lang="en-US" sz="1050" b="1" dirty="0">
                <a:solidFill>
                  <a:srgbClr val="FFFFFF"/>
                </a:solidFill>
                <a:latin typeface="Inter" pitchFamily="34" charset="0"/>
                <a:ea typeface="Inter" pitchFamily="34" charset="-122"/>
                <a:cs typeface="Inter" pitchFamily="34" charset="-120"/>
              </a:rPr>
              <a:t>Proof Creators</a:t>
            </a:r>
            <a:endParaRPr lang="en-US" sz="1050" dirty="0"/>
          </a:p>
        </p:txBody>
      </p:sp>
      <p:sp>
        <p:nvSpPr>
          <p:cNvPr id="30" name="Shape 25"/>
          <p:cNvSpPr/>
          <p:nvPr/>
        </p:nvSpPr>
        <p:spPr>
          <a:xfrm>
            <a:off x="4195137" y="1572768"/>
            <a:ext cx="603504" cy="603504"/>
          </a:xfrm>
          <a:prstGeom prst="ellipse">
            <a:avLst/>
          </a:prstGeom>
          <a:solidFill>
            <a:srgbClr val="0A1F44"/>
          </a:solidFill>
          <a:ln w="6350">
            <a:solidFill>
              <a:srgbClr val="0A1F44"/>
            </a:solidFill>
            <a:prstDash val="solid"/>
          </a:ln>
        </p:spPr>
        <p:txBody>
          <a:bodyPr/>
          <a:lstStyle/>
          <a:p>
            <a:endParaRPr lang="en-US"/>
          </a:p>
        </p:txBody>
      </p:sp>
      <p:pic>
        <p:nvPicPr>
          <p:cNvPr id="31" name="Image 3" descr="preencoded.png"/>
          <p:cNvPicPr>
            <a:picLocks noChangeAspect="1"/>
          </p:cNvPicPr>
          <p:nvPr/>
        </p:nvPicPr>
        <p:blipFill>
          <a:blip r:embed="rId6"/>
          <a:stretch>
            <a:fillRect/>
          </a:stretch>
        </p:blipFill>
        <p:spPr>
          <a:xfrm>
            <a:off x="4327907" y="1705539"/>
            <a:ext cx="337962" cy="337962"/>
          </a:xfrm>
          <a:prstGeom prst="rect">
            <a:avLst/>
          </a:prstGeom>
        </p:spPr>
      </p:pic>
      <p:sp>
        <p:nvSpPr>
          <p:cNvPr id="32" name="Text 26"/>
          <p:cNvSpPr txBox="1"/>
          <p:nvPr/>
        </p:nvSpPr>
        <p:spPr>
          <a:xfrm>
            <a:off x="3743815" y="2286000"/>
            <a:ext cx="1506147" cy="274320"/>
          </a:xfrm>
          <a:prstGeom prst="rect">
            <a:avLst/>
          </a:prstGeom>
          <a:noFill/>
          <a:ln/>
        </p:spPr>
        <p:txBody>
          <a:bodyPr wrap="square" lIns="0" tIns="0" rIns="0" bIns="0" rtlCol="0" anchor="t"/>
          <a:lstStyle/>
          <a:p>
            <a:pPr marL="0" indent="0" algn="ctr">
              <a:buNone/>
            </a:pPr>
            <a:r>
              <a:rPr lang="en-US" sz="1200" b="1" dirty="0">
                <a:solidFill>
                  <a:srgbClr val="0F172A"/>
                </a:solidFill>
                <a:latin typeface="Inter" pitchFamily="34" charset="0"/>
                <a:ea typeface="Inter" pitchFamily="34" charset="-122"/>
                <a:cs typeface="Inter" pitchFamily="34" charset="-120"/>
              </a:rPr>
              <a:t>Cart</a:t>
            </a:r>
            <a:endParaRPr lang="en-US" sz="1200" dirty="0"/>
          </a:p>
        </p:txBody>
      </p:sp>
      <p:sp>
        <p:nvSpPr>
          <p:cNvPr id="33" name="Shape 27"/>
          <p:cNvSpPr/>
          <p:nvPr/>
        </p:nvSpPr>
        <p:spPr>
          <a:xfrm>
            <a:off x="3771247" y="2697480"/>
            <a:ext cx="1451283" cy="685800"/>
          </a:xfrm>
          <a:prstGeom prst="roundRect">
            <a:avLst>
              <a:gd name="adj" fmla="val 10667"/>
            </a:avLst>
          </a:prstGeom>
          <a:solidFill>
            <a:srgbClr val="EFF6FF"/>
          </a:solidFill>
          <a:ln w="6350">
            <a:solidFill>
              <a:srgbClr val="EFF6FF"/>
            </a:solidFill>
            <a:prstDash val="solid"/>
          </a:ln>
        </p:spPr>
        <p:txBody>
          <a:bodyPr/>
          <a:lstStyle/>
          <a:p>
            <a:endParaRPr lang="en-US"/>
          </a:p>
        </p:txBody>
      </p:sp>
      <p:sp>
        <p:nvSpPr>
          <p:cNvPr id="34" name="Text 28"/>
          <p:cNvSpPr txBox="1"/>
          <p:nvPr/>
        </p:nvSpPr>
        <p:spPr>
          <a:xfrm>
            <a:off x="3807823" y="2697480"/>
            <a:ext cx="1378131" cy="685800"/>
          </a:xfrm>
          <a:prstGeom prst="rect">
            <a:avLst/>
          </a:prstGeom>
          <a:noFill/>
          <a:ln/>
        </p:spPr>
        <p:txBody>
          <a:bodyPr wrap="square" lIns="0" tIns="0" rIns="0" bIns="0" rtlCol="0" anchor="ctr"/>
          <a:lstStyle/>
          <a:p>
            <a:pPr marL="0" indent="0" algn="ctr">
              <a:buNone/>
            </a:pPr>
            <a:r>
              <a:rPr lang="en-US" sz="1050" b="1" dirty="0">
                <a:solidFill>
                  <a:srgbClr val="1D4ED8"/>
                </a:solidFill>
                <a:latin typeface="Inter" pitchFamily="34" charset="0"/>
                <a:ea typeface="Inter" pitchFamily="34" charset="-122"/>
                <a:cs typeface="Inter" pitchFamily="34" charset="-120"/>
              </a:rPr>
              <a:t>77% never order</a:t>
            </a:r>
            <a:endParaRPr lang="en-US" sz="1050" dirty="0"/>
          </a:p>
        </p:txBody>
      </p:sp>
      <p:sp>
        <p:nvSpPr>
          <p:cNvPr id="35" name="Text 29"/>
          <p:cNvSpPr txBox="1"/>
          <p:nvPr/>
        </p:nvSpPr>
        <p:spPr>
          <a:xfrm>
            <a:off x="3743815" y="3566160"/>
            <a:ext cx="1506147" cy="201168"/>
          </a:xfrm>
          <a:prstGeom prst="rect">
            <a:avLst/>
          </a:prstGeom>
          <a:noFill/>
          <a:ln/>
        </p:spPr>
        <p:txBody>
          <a:bodyPr wrap="square" lIns="0" tIns="0" rIns="0" bIns="0" rtlCol="0" anchor="t"/>
          <a:lstStyle/>
          <a:p>
            <a:pPr marL="0" indent="0" algn="ctr">
              <a:buNone/>
            </a:pPr>
            <a:r>
              <a:rPr lang="en-US" sz="850" dirty="0">
                <a:solidFill>
                  <a:srgbClr val="64748B"/>
                </a:solidFill>
                <a:latin typeface="Inter" pitchFamily="34" charset="0"/>
                <a:ea typeface="Inter" pitchFamily="34" charset="-122"/>
                <a:cs typeface="Inter" pitchFamily="34" charset="-120"/>
              </a:rPr>
              <a:t>Mechanism</a:t>
            </a:r>
            <a:endParaRPr lang="en-US" sz="850" dirty="0"/>
          </a:p>
        </p:txBody>
      </p:sp>
      <p:sp>
        <p:nvSpPr>
          <p:cNvPr id="36" name="Text 30"/>
          <p:cNvSpPr txBox="1"/>
          <p:nvPr/>
        </p:nvSpPr>
        <p:spPr>
          <a:xfrm>
            <a:off x="3743815" y="3767328"/>
            <a:ext cx="1506147" cy="457200"/>
          </a:xfrm>
          <a:prstGeom prst="rect">
            <a:avLst/>
          </a:prstGeom>
          <a:noFill/>
          <a:ln/>
        </p:spPr>
        <p:txBody>
          <a:bodyPr wrap="square" lIns="0" tIns="0" rIns="0" bIns="0" rtlCol="0" anchor="t"/>
          <a:lstStyle/>
          <a:p>
            <a:pPr marL="0" indent="0" algn="ctr">
              <a:buNone/>
            </a:pPr>
            <a:r>
              <a:rPr lang="en-US" sz="1050" dirty="0">
                <a:solidFill>
                  <a:srgbClr val="334155"/>
                </a:solidFill>
                <a:latin typeface="Inter" pitchFamily="34" charset="0"/>
                <a:ea typeface="Inter" pitchFamily="34" charset="-122"/>
                <a:cs typeface="Inter" pitchFamily="34" charset="-120"/>
              </a:rPr>
              <a:t>Unfinished task fades</a:t>
            </a:r>
            <a:endParaRPr lang="en-US" sz="1050" dirty="0"/>
          </a:p>
        </p:txBody>
      </p:sp>
      <p:sp>
        <p:nvSpPr>
          <p:cNvPr id="37" name="Shape 31"/>
          <p:cNvSpPr/>
          <p:nvPr/>
        </p:nvSpPr>
        <p:spPr>
          <a:xfrm>
            <a:off x="4387161" y="4297680"/>
            <a:ext cx="219456" cy="274320"/>
          </a:xfrm>
          <a:prstGeom prst="downArrow">
            <a:avLst/>
          </a:prstGeom>
          <a:solidFill>
            <a:srgbClr val="BFDBFE"/>
          </a:solidFill>
          <a:ln w="6350">
            <a:solidFill>
              <a:srgbClr val="BFDBFE"/>
            </a:solidFill>
            <a:prstDash val="solid"/>
          </a:ln>
        </p:spPr>
        <p:txBody>
          <a:bodyPr/>
          <a:lstStyle/>
          <a:p>
            <a:endParaRPr lang="en-US"/>
          </a:p>
        </p:txBody>
      </p:sp>
      <p:sp>
        <p:nvSpPr>
          <p:cNvPr id="38" name="Shape 32"/>
          <p:cNvSpPr/>
          <p:nvPr/>
        </p:nvSpPr>
        <p:spPr>
          <a:xfrm>
            <a:off x="3771247" y="4663440"/>
            <a:ext cx="1451283" cy="566928"/>
          </a:xfrm>
          <a:prstGeom prst="roundRect">
            <a:avLst>
              <a:gd name="adj" fmla="val 12903"/>
            </a:avLst>
          </a:prstGeom>
          <a:solidFill>
            <a:srgbClr val="0A1F44"/>
          </a:solidFill>
          <a:ln w="6350">
            <a:solidFill>
              <a:srgbClr val="0A1F44"/>
            </a:solidFill>
            <a:prstDash val="solid"/>
          </a:ln>
        </p:spPr>
        <p:txBody>
          <a:bodyPr/>
          <a:lstStyle/>
          <a:p>
            <a:endParaRPr lang="en-US"/>
          </a:p>
        </p:txBody>
      </p:sp>
      <p:sp>
        <p:nvSpPr>
          <p:cNvPr id="39" name="Text 33"/>
          <p:cNvSpPr txBox="1"/>
          <p:nvPr/>
        </p:nvSpPr>
        <p:spPr>
          <a:xfrm>
            <a:off x="3789535" y="4663440"/>
            <a:ext cx="1414707" cy="566928"/>
          </a:xfrm>
          <a:prstGeom prst="rect">
            <a:avLst/>
          </a:prstGeom>
          <a:noFill/>
          <a:ln/>
        </p:spPr>
        <p:txBody>
          <a:bodyPr wrap="square" lIns="0" tIns="0" rIns="0" bIns="0" rtlCol="0" anchor="ctr"/>
          <a:lstStyle/>
          <a:p>
            <a:pPr marL="0" indent="0" algn="ctr">
              <a:buNone/>
            </a:pPr>
            <a:r>
              <a:rPr lang="en-US" sz="1050" b="1" dirty="0">
                <a:solidFill>
                  <a:srgbClr val="FFFFFF"/>
                </a:solidFill>
                <a:latin typeface="Inter" pitchFamily="34" charset="0"/>
                <a:ea typeface="Inter" pitchFamily="34" charset="-122"/>
                <a:cs typeface="Inter" pitchFamily="34" charset="-120"/>
              </a:rPr>
              <a:t>Saved Cart</a:t>
            </a:r>
            <a:endParaRPr lang="en-US" sz="1050" dirty="0"/>
          </a:p>
        </p:txBody>
      </p:sp>
      <p:sp>
        <p:nvSpPr>
          <p:cNvPr id="40" name="Shape 34"/>
          <p:cNvSpPr/>
          <p:nvPr/>
        </p:nvSpPr>
        <p:spPr>
          <a:xfrm>
            <a:off x="5792724" y="1572768"/>
            <a:ext cx="603504" cy="603504"/>
          </a:xfrm>
          <a:prstGeom prst="ellipse">
            <a:avLst/>
          </a:prstGeom>
          <a:solidFill>
            <a:srgbClr val="0A1F44"/>
          </a:solidFill>
          <a:ln w="6350">
            <a:solidFill>
              <a:srgbClr val="0A1F44"/>
            </a:solidFill>
            <a:prstDash val="solid"/>
          </a:ln>
        </p:spPr>
        <p:txBody>
          <a:bodyPr/>
          <a:lstStyle/>
          <a:p>
            <a:endParaRPr lang="en-US"/>
          </a:p>
        </p:txBody>
      </p:sp>
      <p:pic>
        <p:nvPicPr>
          <p:cNvPr id="41" name="Image 4" descr="preencoded.png"/>
          <p:cNvPicPr>
            <a:picLocks noChangeAspect="1"/>
          </p:cNvPicPr>
          <p:nvPr/>
        </p:nvPicPr>
        <p:blipFill>
          <a:blip r:embed="rId7"/>
          <a:stretch>
            <a:fillRect/>
          </a:stretch>
        </p:blipFill>
        <p:spPr>
          <a:xfrm>
            <a:off x="5925495" y="1705539"/>
            <a:ext cx="337962" cy="337962"/>
          </a:xfrm>
          <a:prstGeom prst="rect">
            <a:avLst/>
          </a:prstGeom>
        </p:spPr>
      </p:pic>
      <p:sp>
        <p:nvSpPr>
          <p:cNvPr id="42" name="Text 35"/>
          <p:cNvSpPr txBox="1"/>
          <p:nvPr/>
        </p:nvSpPr>
        <p:spPr>
          <a:xfrm>
            <a:off x="5341402" y="2286000"/>
            <a:ext cx="1506147" cy="274320"/>
          </a:xfrm>
          <a:prstGeom prst="rect">
            <a:avLst/>
          </a:prstGeom>
          <a:noFill/>
          <a:ln/>
        </p:spPr>
        <p:txBody>
          <a:bodyPr wrap="square" lIns="0" tIns="0" rIns="0" bIns="0" rtlCol="0" anchor="t"/>
          <a:lstStyle/>
          <a:p>
            <a:pPr marL="0" indent="0" algn="ctr">
              <a:buNone/>
            </a:pPr>
            <a:r>
              <a:rPr lang="en-US" sz="1200" b="1" dirty="0">
                <a:solidFill>
                  <a:srgbClr val="0F172A"/>
                </a:solidFill>
                <a:latin typeface="Inter" pitchFamily="34" charset="0"/>
                <a:ea typeface="Inter" pitchFamily="34" charset="-122"/>
                <a:cs typeface="Inter" pitchFamily="34" charset="-120"/>
              </a:rPr>
              <a:t>Checkout</a:t>
            </a:r>
            <a:endParaRPr lang="en-US" sz="1200" dirty="0"/>
          </a:p>
        </p:txBody>
      </p:sp>
      <p:sp>
        <p:nvSpPr>
          <p:cNvPr id="43" name="Shape 36"/>
          <p:cNvSpPr/>
          <p:nvPr/>
        </p:nvSpPr>
        <p:spPr>
          <a:xfrm>
            <a:off x="5368834" y="2697480"/>
            <a:ext cx="1451283" cy="685800"/>
          </a:xfrm>
          <a:prstGeom prst="roundRect">
            <a:avLst>
              <a:gd name="adj" fmla="val 10667"/>
            </a:avLst>
          </a:prstGeom>
          <a:solidFill>
            <a:srgbClr val="EFF6FF"/>
          </a:solidFill>
          <a:ln w="6350">
            <a:solidFill>
              <a:srgbClr val="EFF6FF"/>
            </a:solidFill>
            <a:prstDash val="solid"/>
          </a:ln>
        </p:spPr>
        <p:txBody>
          <a:bodyPr/>
          <a:lstStyle/>
          <a:p>
            <a:endParaRPr lang="en-US"/>
          </a:p>
        </p:txBody>
      </p:sp>
      <p:sp>
        <p:nvSpPr>
          <p:cNvPr id="44" name="Text 37"/>
          <p:cNvSpPr txBox="1"/>
          <p:nvPr/>
        </p:nvSpPr>
        <p:spPr>
          <a:xfrm>
            <a:off x="5405410" y="2697480"/>
            <a:ext cx="1378131" cy="685800"/>
          </a:xfrm>
          <a:prstGeom prst="rect">
            <a:avLst/>
          </a:prstGeom>
          <a:noFill/>
          <a:ln/>
        </p:spPr>
        <p:txBody>
          <a:bodyPr wrap="square" lIns="0" tIns="0" rIns="0" bIns="0" rtlCol="0" anchor="ctr"/>
          <a:lstStyle/>
          <a:p>
            <a:pPr marL="0" indent="0" algn="ctr">
              <a:buNone/>
            </a:pPr>
            <a:r>
              <a:rPr lang="en-US" sz="1050" b="1" dirty="0">
                <a:solidFill>
                  <a:srgbClr val="1D4ED8"/>
                </a:solidFill>
                <a:latin typeface="Inter" pitchFamily="34" charset="0"/>
                <a:ea typeface="Inter" pitchFamily="34" charset="-122"/>
                <a:cs typeface="Inter" pitchFamily="34" charset="-120"/>
              </a:rPr>
              <a:t>App 27.1% vs web 22.7%</a:t>
            </a:r>
            <a:endParaRPr lang="en-US" sz="1050" dirty="0"/>
          </a:p>
        </p:txBody>
      </p:sp>
      <p:sp>
        <p:nvSpPr>
          <p:cNvPr id="45" name="Text 38"/>
          <p:cNvSpPr txBox="1"/>
          <p:nvPr/>
        </p:nvSpPr>
        <p:spPr>
          <a:xfrm>
            <a:off x="5341402" y="3566160"/>
            <a:ext cx="1506147" cy="201168"/>
          </a:xfrm>
          <a:prstGeom prst="rect">
            <a:avLst/>
          </a:prstGeom>
          <a:noFill/>
          <a:ln/>
        </p:spPr>
        <p:txBody>
          <a:bodyPr wrap="square" lIns="0" tIns="0" rIns="0" bIns="0" rtlCol="0" anchor="t"/>
          <a:lstStyle/>
          <a:p>
            <a:pPr marL="0" indent="0" algn="ctr">
              <a:buNone/>
            </a:pPr>
            <a:r>
              <a:rPr lang="en-US" sz="850" dirty="0">
                <a:solidFill>
                  <a:srgbClr val="64748B"/>
                </a:solidFill>
                <a:latin typeface="Inter" pitchFamily="34" charset="0"/>
                <a:ea typeface="Inter" pitchFamily="34" charset="-122"/>
                <a:cs typeface="Inter" pitchFamily="34" charset="-120"/>
              </a:rPr>
              <a:t>Mechanism</a:t>
            </a:r>
            <a:endParaRPr lang="en-US" sz="850" dirty="0"/>
          </a:p>
        </p:txBody>
      </p:sp>
      <p:sp>
        <p:nvSpPr>
          <p:cNvPr id="46" name="Text 39"/>
          <p:cNvSpPr txBox="1"/>
          <p:nvPr/>
        </p:nvSpPr>
        <p:spPr>
          <a:xfrm>
            <a:off x="5341402" y="3767328"/>
            <a:ext cx="1506147" cy="457200"/>
          </a:xfrm>
          <a:prstGeom prst="rect">
            <a:avLst/>
          </a:prstGeom>
          <a:noFill/>
          <a:ln/>
        </p:spPr>
        <p:txBody>
          <a:bodyPr wrap="square" lIns="0" tIns="0" rIns="0" bIns="0" rtlCol="0" anchor="t"/>
          <a:lstStyle/>
          <a:p>
            <a:pPr marL="0" indent="0" algn="ctr">
              <a:buNone/>
            </a:pPr>
            <a:r>
              <a:rPr lang="en-US" sz="1050" dirty="0">
                <a:solidFill>
                  <a:srgbClr val="334155"/>
                </a:solidFill>
                <a:latin typeface="Inter" pitchFamily="34" charset="0"/>
                <a:ea typeface="Inter" pitchFamily="34" charset="-122"/>
                <a:cs typeface="Inter" pitchFamily="34" charset="-120"/>
              </a:rPr>
              <a:t>Default effect</a:t>
            </a:r>
            <a:endParaRPr lang="en-US" sz="1050" dirty="0"/>
          </a:p>
        </p:txBody>
      </p:sp>
      <p:sp>
        <p:nvSpPr>
          <p:cNvPr id="47" name="Shape 40"/>
          <p:cNvSpPr/>
          <p:nvPr/>
        </p:nvSpPr>
        <p:spPr>
          <a:xfrm>
            <a:off x="5984748" y="4297680"/>
            <a:ext cx="219456" cy="274320"/>
          </a:xfrm>
          <a:prstGeom prst="downArrow">
            <a:avLst/>
          </a:prstGeom>
          <a:solidFill>
            <a:srgbClr val="BFDBFE"/>
          </a:solidFill>
          <a:ln w="6350">
            <a:solidFill>
              <a:srgbClr val="BFDBFE"/>
            </a:solidFill>
            <a:prstDash val="solid"/>
          </a:ln>
        </p:spPr>
        <p:txBody>
          <a:bodyPr/>
          <a:lstStyle/>
          <a:p>
            <a:endParaRPr lang="en-US"/>
          </a:p>
        </p:txBody>
      </p:sp>
      <p:sp>
        <p:nvSpPr>
          <p:cNvPr id="48" name="Shape 41"/>
          <p:cNvSpPr/>
          <p:nvPr/>
        </p:nvSpPr>
        <p:spPr>
          <a:xfrm>
            <a:off x="5368834" y="4663440"/>
            <a:ext cx="1451283" cy="566928"/>
          </a:xfrm>
          <a:prstGeom prst="roundRect">
            <a:avLst>
              <a:gd name="adj" fmla="val 12903"/>
            </a:avLst>
          </a:prstGeom>
          <a:solidFill>
            <a:srgbClr val="0A1F44"/>
          </a:solidFill>
          <a:ln w="6350">
            <a:solidFill>
              <a:srgbClr val="0A1F44"/>
            </a:solidFill>
            <a:prstDash val="solid"/>
          </a:ln>
        </p:spPr>
        <p:txBody>
          <a:bodyPr/>
          <a:lstStyle/>
          <a:p>
            <a:endParaRPr lang="en-US"/>
          </a:p>
        </p:txBody>
      </p:sp>
      <p:sp>
        <p:nvSpPr>
          <p:cNvPr id="49" name="Text 42"/>
          <p:cNvSpPr txBox="1"/>
          <p:nvPr/>
        </p:nvSpPr>
        <p:spPr>
          <a:xfrm>
            <a:off x="5387122" y="4663440"/>
            <a:ext cx="1414707" cy="566928"/>
          </a:xfrm>
          <a:prstGeom prst="rect">
            <a:avLst/>
          </a:prstGeom>
          <a:noFill/>
          <a:ln/>
        </p:spPr>
        <p:txBody>
          <a:bodyPr wrap="square" lIns="0" tIns="0" rIns="0" bIns="0" rtlCol="0" anchor="ctr"/>
          <a:lstStyle/>
          <a:p>
            <a:pPr marL="0" indent="0" algn="ctr">
              <a:buNone/>
            </a:pPr>
            <a:r>
              <a:rPr lang="en-US" sz="1050" b="1" dirty="0">
                <a:solidFill>
                  <a:srgbClr val="FFFFFF"/>
                </a:solidFill>
                <a:latin typeface="Inter" pitchFamily="34" charset="0"/>
                <a:ea typeface="Inter" pitchFamily="34" charset="-122"/>
                <a:cs typeface="Inter" pitchFamily="34" charset="-120"/>
              </a:rPr>
              <a:t>Track It in the App</a:t>
            </a:r>
            <a:endParaRPr lang="en-US" sz="1050" dirty="0"/>
          </a:p>
        </p:txBody>
      </p:sp>
      <p:sp>
        <p:nvSpPr>
          <p:cNvPr id="50" name="Shape 43"/>
          <p:cNvSpPr/>
          <p:nvPr/>
        </p:nvSpPr>
        <p:spPr>
          <a:xfrm>
            <a:off x="7390311" y="1572768"/>
            <a:ext cx="603504" cy="603504"/>
          </a:xfrm>
          <a:prstGeom prst="ellipse">
            <a:avLst/>
          </a:prstGeom>
          <a:solidFill>
            <a:srgbClr val="1D4ED8"/>
          </a:solidFill>
          <a:ln w="6350">
            <a:solidFill>
              <a:srgbClr val="1D4ED8"/>
            </a:solidFill>
            <a:prstDash val="solid"/>
          </a:ln>
        </p:spPr>
        <p:txBody>
          <a:bodyPr/>
          <a:lstStyle/>
          <a:p>
            <a:endParaRPr lang="en-US"/>
          </a:p>
        </p:txBody>
      </p:sp>
      <p:pic>
        <p:nvPicPr>
          <p:cNvPr id="51" name="Image 5" descr="preencoded.png"/>
          <p:cNvPicPr>
            <a:picLocks noChangeAspect="1"/>
          </p:cNvPicPr>
          <p:nvPr/>
        </p:nvPicPr>
        <p:blipFill>
          <a:blip r:embed="rId8"/>
          <a:stretch>
            <a:fillRect/>
          </a:stretch>
        </p:blipFill>
        <p:spPr>
          <a:xfrm>
            <a:off x="7523082" y="1705539"/>
            <a:ext cx="337962" cy="337962"/>
          </a:xfrm>
          <a:prstGeom prst="rect">
            <a:avLst/>
          </a:prstGeom>
        </p:spPr>
      </p:pic>
      <p:sp>
        <p:nvSpPr>
          <p:cNvPr id="52" name="Text 44"/>
          <p:cNvSpPr txBox="1"/>
          <p:nvPr/>
        </p:nvSpPr>
        <p:spPr>
          <a:xfrm>
            <a:off x="6938990" y="2286000"/>
            <a:ext cx="1506147" cy="274320"/>
          </a:xfrm>
          <a:prstGeom prst="rect">
            <a:avLst/>
          </a:prstGeom>
          <a:noFill/>
          <a:ln/>
        </p:spPr>
        <p:txBody>
          <a:bodyPr wrap="square" lIns="0" tIns="0" rIns="0" bIns="0" rtlCol="0" anchor="t"/>
          <a:lstStyle/>
          <a:p>
            <a:pPr marL="0" indent="0" algn="ctr">
              <a:buNone/>
            </a:pPr>
            <a:r>
              <a:rPr lang="en-US" sz="1200" b="1" dirty="0">
                <a:solidFill>
                  <a:srgbClr val="0F172A"/>
                </a:solidFill>
                <a:latin typeface="Inter" pitchFamily="34" charset="0"/>
                <a:ea typeface="Inter" pitchFamily="34" charset="-122"/>
                <a:cs typeface="Inter" pitchFamily="34" charset="-120"/>
              </a:rPr>
              <a:t>Delivery</a:t>
            </a:r>
            <a:endParaRPr lang="en-US" sz="1200" dirty="0"/>
          </a:p>
        </p:txBody>
      </p:sp>
      <p:sp>
        <p:nvSpPr>
          <p:cNvPr id="53" name="Shape 45"/>
          <p:cNvSpPr/>
          <p:nvPr/>
        </p:nvSpPr>
        <p:spPr>
          <a:xfrm>
            <a:off x="6966422" y="2697480"/>
            <a:ext cx="1451283" cy="685800"/>
          </a:xfrm>
          <a:prstGeom prst="roundRect">
            <a:avLst>
              <a:gd name="adj" fmla="val 10667"/>
            </a:avLst>
          </a:prstGeom>
          <a:solidFill>
            <a:srgbClr val="EFF6FF"/>
          </a:solidFill>
          <a:ln w="6350">
            <a:solidFill>
              <a:srgbClr val="EFF6FF"/>
            </a:solidFill>
            <a:prstDash val="solid"/>
          </a:ln>
        </p:spPr>
        <p:txBody>
          <a:bodyPr/>
          <a:lstStyle/>
          <a:p>
            <a:endParaRPr lang="en-US"/>
          </a:p>
        </p:txBody>
      </p:sp>
      <p:sp>
        <p:nvSpPr>
          <p:cNvPr id="54" name="Text 46"/>
          <p:cNvSpPr txBox="1"/>
          <p:nvPr/>
        </p:nvSpPr>
        <p:spPr>
          <a:xfrm>
            <a:off x="7002998" y="2697480"/>
            <a:ext cx="1378131" cy="685800"/>
          </a:xfrm>
          <a:prstGeom prst="rect">
            <a:avLst/>
          </a:prstGeom>
          <a:noFill/>
          <a:ln/>
        </p:spPr>
        <p:txBody>
          <a:bodyPr wrap="square" lIns="0" tIns="0" rIns="0" bIns="0" rtlCol="0" anchor="ctr"/>
          <a:lstStyle/>
          <a:p>
            <a:pPr marL="0" indent="0" algn="ctr">
              <a:buNone/>
            </a:pPr>
            <a:r>
              <a:rPr lang="en-US" sz="1050" b="1" dirty="0">
                <a:solidFill>
                  <a:srgbClr val="1D4ED8"/>
                </a:solidFill>
                <a:latin typeface="Inter" pitchFamily="34" charset="0"/>
                <a:ea typeface="Inter" pitchFamily="34" charset="-122"/>
                <a:cs typeface="Inter" pitchFamily="34" charset="-120"/>
              </a:rPr>
              <a:t>24.5% engage (A2)</a:t>
            </a:r>
            <a:endParaRPr lang="en-US" sz="1050" dirty="0"/>
          </a:p>
        </p:txBody>
      </p:sp>
      <p:sp>
        <p:nvSpPr>
          <p:cNvPr id="55" name="Text 47"/>
          <p:cNvSpPr txBox="1"/>
          <p:nvPr/>
        </p:nvSpPr>
        <p:spPr>
          <a:xfrm>
            <a:off x="6938990" y="3566160"/>
            <a:ext cx="1506147" cy="201168"/>
          </a:xfrm>
          <a:prstGeom prst="rect">
            <a:avLst/>
          </a:prstGeom>
          <a:noFill/>
          <a:ln/>
        </p:spPr>
        <p:txBody>
          <a:bodyPr wrap="square" lIns="0" tIns="0" rIns="0" bIns="0" rtlCol="0" anchor="t"/>
          <a:lstStyle/>
          <a:p>
            <a:pPr marL="0" indent="0" algn="ctr">
              <a:buNone/>
            </a:pPr>
            <a:r>
              <a:rPr lang="en-US" sz="850" dirty="0">
                <a:solidFill>
                  <a:srgbClr val="64748B"/>
                </a:solidFill>
                <a:latin typeface="Inter" pitchFamily="34" charset="0"/>
                <a:ea typeface="Inter" pitchFamily="34" charset="-122"/>
                <a:cs typeface="Inter" pitchFamily="34" charset="-120"/>
              </a:rPr>
              <a:t>Mechanism</a:t>
            </a:r>
            <a:endParaRPr lang="en-US" sz="850" dirty="0"/>
          </a:p>
        </p:txBody>
      </p:sp>
      <p:sp>
        <p:nvSpPr>
          <p:cNvPr id="56" name="Text 48"/>
          <p:cNvSpPr txBox="1"/>
          <p:nvPr/>
        </p:nvSpPr>
        <p:spPr>
          <a:xfrm>
            <a:off x="6938990" y="3767328"/>
            <a:ext cx="1506147" cy="457200"/>
          </a:xfrm>
          <a:prstGeom prst="rect">
            <a:avLst/>
          </a:prstGeom>
          <a:noFill/>
          <a:ln/>
        </p:spPr>
        <p:txBody>
          <a:bodyPr wrap="square" lIns="0" tIns="0" rIns="0" bIns="0" rtlCol="0" anchor="t"/>
          <a:lstStyle/>
          <a:p>
            <a:pPr marL="0" indent="0" algn="ctr">
              <a:buNone/>
            </a:pPr>
            <a:r>
              <a:rPr lang="en-US" sz="1050" dirty="0">
                <a:solidFill>
                  <a:srgbClr val="334155"/>
                </a:solidFill>
                <a:latin typeface="Inter" pitchFamily="34" charset="0"/>
                <a:ea typeface="Inter" pitchFamily="34" charset="-122"/>
                <a:cs typeface="Inter" pitchFamily="34" charset="-120"/>
              </a:rPr>
              <a:t>Peak-end, endowment</a:t>
            </a:r>
            <a:endParaRPr lang="en-US" sz="1050" dirty="0"/>
          </a:p>
        </p:txBody>
      </p:sp>
      <p:sp>
        <p:nvSpPr>
          <p:cNvPr id="57" name="Shape 49"/>
          <p:cNvSpPr/>
          <p:nvPr/>
        </p:nvSpPr>
        <p:spPr>
          <a:xfrm>
            <a:off x="7582335" y="4297680"/>
            <a:ext cx="219456" cy="274320"/>
          </a:xfrm>
          <a:prstGeom prst="downArrow">
            <a:avLst/>
          </a:prstGeom>
          <a:solidFill>
            <a:srgbClr val="BFDBFE"/>
          </a:solidFill>
          <a:ln w="6350">
            <a:solidFill>
              <a:srgbClr val="BFDBFE"/>
            </a:solidFill>
            <a:prstDash val="solid"/>
          </a:ln>
        </p:spPr>
        <p:txBody>
          <a:bodyPr/>
          <a:lstStyle/>
          <a:p>
            <a:endParaRPr lang="en-US"/>
          </a:p>
        </p:txBody>
      </p:sp>
      <p:sp>
        <p:nvSpPr>
          <p:cNvPr id="58" name="Shape 50"/>
          <p:cNvSpPr/>
          <p:nvPr/>
        </p:nvSpPr>
        <p:spPr>
          <a:xfrm>
            <a:off x="6966422" y="4663440"/>
            <a:ext cx="1451283" cy="566928"/>
          </a:xfrm>
          <a:prstGeom prst="roundRect">
            <a:avLst>
              <a:gd name="adj" fmla="val 12903"/>
            </a:avLst>
          </a:prstGeom>
          <a:solidFill>
            <a:srgbClr val="0A1F44"/>
          </a:solidFill>
          <a:ln w="6350">
            <a:solidFill>
              <a:srgbClr val="0A1F44"/>
            </a:solidFill>
            <a:prstDash val="solid"/>
          </a:ln>
        </p:spPr>
        <p:txBody>
          <a:bodyPr/>
          <a:lstStyle/>
          <a:p>
            <a:endParaRPr lang="en-US"/>
          </a:p>
        </p:txBody>
      </p:sp>
      <p:sp>
        <p:nvSpPr>
          <p:cNvPr id="59" name="Text 51"/>
          <p:cNvSpPr txBox="1"/>
          <p:nvPr/>
        </p:nvSpPr>
        <p:spPr>
          <a:xfrm>
            <a:off x="6984710" y="4663440"/>
            <a:ext cx="1414707" cy="566928"/>
          </a:xfrm>
          <a:prstGeom prst="rect">
            <a:avLst/>
          </a:prstGeom>
          <a:noFill/>
          <a:ln/>
        </p:spPr>
        <p:txBody>
          <a:bodyPr wrap="square" lIns="0" tIns="0" rIns="0" bIns="0" rtlCol="0" anchor="ctr"/>
          <a:lstStyle/>
          <a:p>
            <a:pPr marL="0" indent="0" algn="ctr">
              <a:buNone/>
            </a:pPr>
            <a:r>
              <a:rPr lang="en-US" sz="1050" b="1" dirty="0">
                <a:solidFill>
                  <a:srgbClr val="FFFFFF"/>
                </a:solidFill>
                <a:latin typeface="Inter" pitchFamily="34" charset="0"/>
                <a:ea typeface="Inter" pitchFamily="34" charset="-122"/>
                <a:cs typeface="Inter" pitchFamily="34" charset="-120"/>
              </a:rPr>
              <a:t>Quince Passport</a:t>
            </a:r>
            <a:endParaRPr lang="en-US" sz="1050" dirty="0"/>
          </a:p>
        </p:txBody>
      </p:sp>
      <p:sp>
        <p:nvSpPr>
          <p:cNvPr id="60" name="Shape 52"/>
          <p:cNvSpPr/>
          <p:nvPr/>
        </p:nvSpPr>
        <p:spPr>
          <a:xfrm>
            <a:off x="8987899" y="1572768"/>
            <a:ext cx="603504" cy="603504"/>
          </a:xfrm>
          <a:prstGeom prst="ellipse">
            <a:avLst/>
          </a:prstGeom>
          <a:solidFill>
            <a:srgbClr val="1D4ED8"/>
          </a:solidFill>
          <a:ln w="6350">
            <a:solidFill>
              <a:srgbClr val="1D4ED8"/>
            </a:solidFill>
            <a:prstDash val="solid"/>
          </a:ln>
        </p:spPr>
        <p:txBody>
          <a:bodyPr/>
          <a:lstStyle/>
          <a:p>
            <a:endParaRPr lang="en-US"/>
          </a:p>
        </p:txBody>
      </p:sp>
      <p:pic>
        <p:nvPicPr>
          <p:cNvPr id="61" name="Image 6" descr="preencoded.png"/>
          <p:cNvPicPr>
            <a:picLocks noChangeAspect="1"/>
          </p:cNvPicPr>
          <p:nvPr/>
        </p:nvPicPr>
        <p:blipFill>
          <a:blip r:embed="rId9"/>
          <a:stretch>
            <a:fillRect/>
          </a:stretch>
        </p:blipFill>
        <p:spPr>
          <a:xfrm>
            <a:off x="9120670" y="1705539"/>
            <a:ext cx="337962" cy="337962"/>
          </a:xfrm>
          <a:prstGeom prst="rect">
            <a:avLst/>
          </a:prstGeom>
        </p:spPr>
      </p:pic>
      <p:sp>
        <p:nvSpPr>
          <p:cNvPr id="62" name="Text 53"/>
          <p:cNvSpPr txBox="1"/>
          <p:nvPr/>
        </p:nvSpPr>
        <p:spPr>
          <a:xfrm>
            <a:off x="8536577" y="2286000"/>
            <a:ext cx="1506147" cy="274320"/>
          </a:xfrm>
          <a:prstGeom prst="rect">
            <a:avLst/>
          </a:prstGeom>
          <a:noFill/>
          <a:ln/>
        </p:spPr>
        <p:txBody>
          <a:bodyPr wrap="square" lIns="0" tIns="0" rIns="0" bIns="0" rtlCol="0" anchor="t"/>
          <a:lstStyle/>
          <a:p>
            <a:pPr marL="0" indent="0" algn="ctr">
              <a:buNone/>
            </a:pPr>
            <a:r>
              <a:rPr lang="en-US" sz="1200" b="1" dirty="0">
                <a:solidFill>
                  <a:srgbClr val="0F172A"/>
                </a:solidFill>
                <a:latin typeface="Inter" pitchFamily="34" charset="0"/>
                <a:ea typeface="Inter" pitchFamily="34" charset="-122"/>
                <a:cs typeface="Inter" pitchFamily="34" charset="-120"/>
              </a:rPr>
              <a:t>Days 0–30</a:t>
            </a:r>
            <a:endParaRPr lang="en-US" sz="1200" dirty="0"/>
          </a:p>
        </p:txBody>
      </p:sp>
      <p:sp>
        <p:nvSpPr>
          <p:cNvPr id="63" name="Shape 54"/>
          <p:cNvSpPr/>
          <p:nvPr/>
        </p:nvSpPr>
        <p:spPr>
          <a:xfrm>
            <a:off x="8564009" y="2697480"/>
            <a:ext cx="1451283" cy="685800"/>
          </a:xfrm>
          <a:prstGeom prst="roundRect">
            <a:avLst>
              <a:gd name="adj" fmla="val 10667"/>
            </a:avLst>
          </a:prstGeom>
          <a:solidFill>
            <a:srgbClr val="EFF6FF"/>
          </a:solidFill>
          <a:ln w="6350">
            <a:solidFill>
              <a:srgbClr val="EFF6FF"/>
            </a:solidFill>
            <a:prstDash val="solid"/>
          </a:ln>
        </p:spPr>
        <p:txBody>
          <a:bodyPr/>
          <a:lstStyle/>
          <a:p>
            <a:endParaRPr lang="en-US"/>
          </a:p>
        </p:txBody>
      </p:sp>
      <p:sp>
        <p:nvSpPr>
          <p:cNvPr id="64" name="Text 55"/>
          <p:cNvSpPr txBox="1"/>
          <p:nvPr/>
        </p:nvSpPr>
        <p:spPr>
          <a:xfrm>
            <a:off x="8600585" y="2697480"/>
            <a:ext cx="1378131" cy="685800"/>
          </a:xfrm>
          <a:prstGeom prst="rect">
            <a:avLst/>
          </a:prstGeom>
          <a:noFill/>
          <a:ln/>
        </p:spPr>
        <p:txBody>
          <a:bodyPr wrap="square" lIns="0" tIns="0" rIns="0" bIns="0" rtlCol="0" anchor="ctr"/>
          <a:lstStyle/>
          <a:p>
            <a:pPr marL="0" indent="0" algn="ctr">
              <a:buNone/>
            </a:pPr>
            <a:r>
              <a:rPr lang="en-US" sz="1050" b="1" dirty="0">
                <a:solidFill>
                  <a:srgbClr val="1D4ED8"/>
                </a:solidFill>
                <a:latin typeface="Inter" pitchFamily="34" charset="0"/>
                <a:ea typeface="Inter" pitchFamily="34" charset="-122"/>
                <a:cs typeface="Inter" pitchFamily="34" charset="-120"/>
              </a:rPr>
              <a:t>Week-2 peak 5.6%</a:t>
            </a:r>
            <a:endParaRPr lang="en-US" sz="1050" dirty="0"/>
          </a:p>
        </p:txBody>
      </p:sp>
      <p:sp>
        <p:nvSpPr>
          <p:cNvPr id="65" name="Text 56"/>
          <p:cNvSpPr txBox="1"/>
          <p:nvPr/>
        </p:nvSpPr>
        <p:spPr>
          <a:xfrm>
            <a:off x="8536577" y="3566160"/>
            <a:ext cx="1506147" cy="201168"/>
          </a:xfrm>
          <a:prstGeom prst="rect">
            <a:avLst/>
          </a:prstGeom>
          <a:noFill/>
          <a:ln/>
        </p:spPr>
        <p:txBody>
          <a:bodyPr wrap="square" lIns="0" tIns="0" rIns="0" bIns="0" rtlCol="0" anchor="t"/>
          <a:lstStyle/>
          <a:p>
            <a:pPr marL="0" indent="0" algn="ctr">
              <a:buNone/>
            </a:pPr>
            <a:r>
              <a:rPr lang="en-US" sz="850" dirty="0">
                <a:solidFill>
                  <a:srgbClr val="64748B"/>
                </a:solidFill>
                <a:latin typeface="Inter" pitchFamily="34" charset="0"/>
                <a:ea typeface="Inter" pitchFamily="34" charset="-122"/>
                <a:cs typeface="Inter" pitchFamily="34" charset="-120"/>
              </a:rPr>
              <a:t>Mechanism</a:t>
            </a:r>
            <a:endParaRPr lang="en-US" sz="850" dirty="0"/>
          </a:p>
        </p:txBody>
      </p:sp>
      <p:sp>
        <p:nvSpPr>
          <p:cNvPr id="66" name="Text 57"/>
          <p:cNvSpPr txBox="1"/>
          <p:nvPr/>
        </p:nvSpPr>
        <p:spPr>
          <a:xfrm>
            <a:off x="8536577" y="3767328"/>
            <a:ext cx="1506147" cy="457200"/>
          </a:xfrm>
          <a:prstGeom prst="rect">
            <a:avLst/>
          </a:prstGeom>
          <a:noFill/>
          <a:ln/>
        </p:spPr>
        <p:txBody>
          <a:bodyPr wrap="square" lIns="0" tIns="0" rIns="0" bIns="0" rtlCol="0" anchor="t"/>
          <a:lstStyle/>
          <a:p>
            <a:pPr marL="0" indent="0" algn="ctr">
              <a:buNone/>
            </a:pPr>
            <a:r>
              <a:rPr lang="en-US" sz="1050" dirty="0">
                <a:solidFill>
                  <a:srgbClr val="334155"/>
                </a:solidFill>
                <a:latin typeface="Inter" pitchFamily="34" charset="0"/>
                <a:ea typeface="Inter" pitchFamily="34" charset="-122"/>
                <a:cs typeface="Inter" pitchFamily="34" charset="-120"/>
              </a:rPr>
              <a:t>Habit formation</a:t>
            </a:r>
            <a:endParaRPr lang="en-US" sz="1050" dirty="0"/>
          </a:p>
        </p:txBody>
      </p:sp>
      <p:sp>
        <p:nvSpPr>
          <p:cNvPr id="67" name="Shape 58"/>
          <p:cNvSpPr/>
          <p:nvPr/>
        </p:nvSpPr>
        <p:spPr>
          <a:xfrm>
            <a:off x="9179923" y="4297680"/>
            <a:ext cx="219456" cy="274320"/>
          </a:xfrm>
          <a:prstGeom prst="downArrow">
            <a:avLst/>
          </a:prstGeom>
          <a:solidFill>
            <a:srgbClr val="BFDBFE"/>
          </a:solidFill>
          <a:ln w="6350">
            <a:solidFill>
              <a:srgbClr val="BFDBFE"/>
            </a:solidFill>
            <a:prstDash val="solid"/>
          </a:ln>
        </p:spPr>
        <p:txBody>
          <a:bodyPr/>
          <a:lstStyle/>
          <a:p>
            <a:endParaRPr lang="en-US"/>
          </a:p>
        </p:txBody>
      </p:sp>
      <p:sp>
        <p:nvSpPr>
          <p:cNvPr id="68" name="Shape 59"/>
          <p:cNvSpPr/>
          <p:nvPr/>
        </p:nvSpPr>
        <p:spPr>
          <a:xfrm>
            <a:off x="8564009" y="4663440"/>
            <a:ext cx="1451283" cy="566928"/>
          </a:xfrm>
          <a:prstGeom prst="roundRect">
            <a:avLst>
              <a:gd name="adj" fmla="val 12903"/>
            </a:avLst>
          </a:prstGeom>
          <a:solidFill>
            <a:srgbClr val="0A1F44"/>
          </a:solidFill>
          <a:ln w="6350">
            <a:solidFill>
              <a:srgbClr val="0A1F44"/>
            </a:solidFill>
            <a:prstDash val="solid"/>
          </a:ln>
        </p:spPr>
        <p:txBody>
          <a:bodyPr/>
          <a:lstStyle/>
          <a:p>
            <a:endParaRPr lang="en-US"/>
          </a:p>
        </p:txBody>
      </p:sp>
      <p:sp>
        <p:nvSpPr>
          <p:cNvPr id="69" name="Text 60"/>
          <p:cNvSpPr txBox="1"/>
          <p:nvPr/>
        </p:nvSpPr>
        <p:spPr>
          <a:xfrm>
            <a:off x="8582297" y="4663440"/>
            <a:ext cx="1414707" cy="566928"/>
          </a:xfrm>
          <a:prstGeom prst="rect">
            <a:avLst/>
          </a:prstGeom>
          <a:noFill/>
          <a:ln/>
        </p:spPr>
        <p:txBody>
          <a:bodyPr wrap="square" lIns="0" tIns="0" rIns="0" bIns="0" rtlCol="0" anchor="ctr"/>
          <a:lstStyle/>
          <a:p>
            <a:pPr marL="0" indent="0" algn="ctr">
              <a:buNone/>
            </a:pPr>
            <a:r>
              <a:rPr lang="en-US" sz="1050" b="1" dirty="0">
                <a:solidFill>
                  <a:srgbClr val="FFFFFF"/>
                </a:solidFill>
                <a:latin typeface="Inter" pitchFamily="34" charset="0"/>
                <a:ea typeface="Inter" pitchFamily="34" charset="-122"/>
                <a:cs typeface="Inter" pitchFamily="34" charset="-120"/>
              </a:rPr>
              <a:t>Care Calendar</a:t>
            </a:r>
            <a:endParaRPr lang="en-US" sz="1050" dirty="0"/>
          </a:p>
        </p:txBody>
      </p:sp>
      <p:sp>
        <p:nvSpPr>
          <p:cNvPr id="70" name="Shape 61"/>
          <p:cNvSpPr/>
          <p:nvPr/>
        </p:nvSpPr>
        <p:spPr>
          <a:xfrm>
            <a:off x="10585486" y="1572768"/>
            <a:ext cx="603504" cy="603504"/>
          </a:xfrm>
          <a:prstGeom prst="ellipse">
            <a:avLst/>
          </a:prstGeom>
          <a:solidFill>
            <a:srgbClr val="1D4ED8"/>
          </a:solidFill>
          <a:ln w="6350">
            <a:solidFill>
              <a:srgbClr val="1D4ED8"/>
            </a:solidFill>
            <a:prstDash val="solid"/>
          </a:ln>
        </p:spPr>
        <p:txBody>
          <a:bodyPr/>
          <a:lstStyle/>
          <a:p>
            <a:endParaRPr lang="en-US"/>
          </a:p>
        </p:txBody>
      </p:sp>
      <p:pic>
        <p:nvPicPr>
          <p:cNvPr id="71" name="Image 7" descr="preencoded.png"/>
          <p:cNvPicPr>
            <a:picLocks noChangeAspect="1"/>
          </p:cNvPicPr>
          <p:nvPr/>
        </p:nvPicPr>
        <p:blipFill>
          <a:blip r:embed="rId10"/>
          <a:stretch>
            <a:fillRect/>
          </a:stretch>
        </p:blipFill>
        <p:spPr>
          <a:xfrm>
            <a:off x="10718257" y="1705539"/>
            <a:ext cx="337962" cy="337962"/>
          </a:xfrm>
          <a:prstGeom prst="rect">
            <a:avLst/>
          </a:prstGeom>
        </p:spPr>
      </p:pic>
      <p:sp>
        <p:nvSpPr>
          <p:cNvPr id="72" name="Text 62"/>
          <p:cNvSpPr txBox="1"/>
          <p:nvPr/>
        </p:nvSpPr>
        <p:spPr>
          <a:xfrm>
            <a:off x="10134165" y="2286000"/>
            <a:ext cx="1506147" cy="274320"/>
          </a:xfrm>
          <a:prstGeom prst="rect">
            <a:avLst/>
          </a:prstGeom>
          <a:noFill/>
          <a:ln/>
        </p:spPr>
        <p:txBody>
          <a:bodyPr wrap="square" lIns="0" tIns="0" rIns="0" bIns="0" rtlCol="0" anchor="t"/>
          <a:lstStyle/>
          <a:p>
            <a:pPr marL="0" indent="0" algn="ctr">
              <a:buNone/>
            </a:pPr>
            <a:r>
              <a:rPr lang="en-US" sz="1200" b="1" dirty="0">
                <a:solidFill>
                  <a:srgbClr val="0F172A"/>
                </a:solidFill>
                <a:latin typeface="Inter" pitchFamily="34" charset="0"/>
                <a:ea typeface="Inter" pitchFamily="34" charset="-122"/>
                <a:cs typeface="Inter" pitchFamily="34" charset="-120"/>
              </a:rPr>
              <a:t>Days 30–90</a:t>
            </a:r>
            <a:endParaRPr lang="en-US" sz="1200" dirty="0"/>
          </a:p>
        </p:txBody>
      </p:sp>
      <p:sp>
        <p:nvSpPr>
          <p:cNvPr id="73" name="Shape 63"/>
          <p:cNvSpPr/>
          <p:nvPr/>
        </p:nvSpPr>
        <p:spPr>
          <a:xfrm>
            <a:off x="10161597" y="2697480"/>
            <a:ext cx="1451283" cy="685800"/>
          </a:xfrm>
          <a:prstGeom prst="roundRect">
            <a:avLst>
              <a:gd name="adj" fmla="val 10667"/>
            </a:avLst>
          </a:prstGeom>
          <a:solidFill>
            <a:srgbClr val="EFF6FF"/>
          </a:solidFill>
          <a:ln w="6350">
            <a:solidFill>
              <a:srgbClr val="EFF6FF"/>
            </a:solidFill>
            <a:prstDash val="solid"/>
          </a:ln>
        </p:spPr>
        <p:txBody>
          <a:bodyPr/>
          <a:lstStyle/>
          <a:p>
            <a:endParaRPr lang="en-US"/>
          </a:p>
        </p:txBody>
      </p:sp>
      <p:sp>
        <p:nvSpPr>
          <p:cNvPr id="74" name="Text 64"/>
          <p:cNvSpPr txBox="1"/>
          <p:nvPr/>
        </p:nvSpPr>
        <p:spPr>
          <a:xfrm>
            <a:off x="10198173" y="2697480"/>
            <a:ext cx="1378131" cy="685800"/>
          </a:xfrm>
          <a:prstGeom prst="rect">
            <a:avLst/>
          </a:prstGeom>
          <a:noFill/>
          <a:ln/>
        </p:spPr>
        <p:txBody>
          <a:bodyPr wrap="square" lIns="0" tIns="0" rIns="0" bIns="0" rtlCol="0" anchor="ctr"/>
          <a:lstStyle/>
          <a:p>
            <a:pPr marL="0" indent="0" algn="ctr">
              <a:buNone/>
            </a:pPr>
            <a:r>
              <a:rPr lang="en-US" sz="1050" b="1" dirty="0">
                <a:solidFill>
                  <a:srgbClr val="1D4ED8"/>
                </a:solidFill>
                <a:latin typeface="Inter" pitchFamily="34" charset="0"/>
                <a:ea typeface="Inter" pitchFamily="34" charset="-122"/>
                <a:cs typeface="Inter" pitchFamily="34" charset="-120"/>
              </a:rPr>
              <a:t>Cashmere 13.7%</a:t>
            </a:r>
            <a:endParaRPr lang="en-US" sz="1050" dirty="0"/>
          </a:p>
        </p:txBody>
      </p:sp>
      <p:sp>
        <p:nvSpPr>
          <p:cNvPr id="75" name="Text 65"/>
          <p:cNvSpPr txBox="1"/>
          <p:nvPr/>
        </p:nvSpPr>
        <p:spPr>
          <a:xfrm>
            <a:off x="10134165" y="3566160"/>
            <a:ext cx="1506147" cy="201168"/>
          </a:xfrm>
          <a:prstGeom prst="rect">
            <a:avLst/>
          </a:prstGeom>
          <a:noFill/>
          <a:ln/>
        </p:spPr>
        <p:txBody>
          <a:bodyPr wrap="square" lIns="0" tIns="0" rIns="0" bIns="0" rtlCol="0" anchor="t"/>
          <a:lstStyle/>
          <a:p>
            <a:pPr marL="0" indent="0" algn="ctr">
              <a:buNone/>
            </a:pPr>
            <a:r>
              <a:rPr lang="en-US" sz="850" dirty="0">
                <a:solidFill>
                  <a:srgbClr val="64748B"/>
                </a:solidFill>
                <a:latin typeface="Inter" pitchFamily="34" charset="0"/>
                <a:ea typeface="Inter" pitchFamily="34" charset="-122"/>
                <a:cs typeface="Inter" pitchFamily="34" charset="-120"/>
              </a:rPr>
              <a:t>Mechanism</a:t>
            </a:r>
            <a:endParaRPr lang="en-US" sz="850" dirty="0"/>
          </a:p>
        </p:txBody>
      </p:sp>
      <p:sp>
        <p:nvSpPr>
          <p:cNvPr id="76" name="Text 66"/>
          <p:cNvSpPr txBox="1"/>
          <p:nvPr/>
        </p:nvSpPr>
        <p:spPr>
          <a:xfrm>
            <a:off x="10134165" y="3767328"/>
            <a:ext cx="1506147" cy="457200"/>
          </a:xfrm>
          <a:prstGeom prst="rect">
            <a:avLst/>
          </a:prstGeom>
          <a:noFill/>
          <a:ln/>
        </p:spPr>
        <p:txBody>
          <a:bodyPr wrap="square" lIns="0" tIns="0" rIns="0" bIns="0" rtlCol="0" anchor="t"/>
          <a:lstStyle/>
          <a:p>
            <a:pPr marL="0" indent="0" algn="ctr">
              <a:buNone/>
            </a:pPr>
            <a:r>
              <a:rPr lang="en-US" sz="1050" dirty="0">
                <a:solidFill>
                  <a:srgbClr val="334155"/>
                </a:solidFill>
                <a:latin typeface="Inter" pitchFamily="34" charset="0"/>
                <a:ea typeface="Inter" pitchFamily="34" charset="-122"/>
                <a:cs typeface="Inter" pitchFamily="34" charset="-120"/>
              </a:rPr>
              <a:t>Mental accounting</a:t>
            </a:r>
            <a:endParaRPr lang="en-US" sz="1050" dirty="0"/>
          </a:p>
        </p:txBody>
      </p:sp>
      <p:sp>
        <p:nvSpPr>
          <p:cNvPr id="77" name="Shape 67"/>
          <p:cNvSpPr/>
          <p:nvPr/>
        </p:nvSpPr>
        <p:spPr>
          <a:xfrm>
            <a:off x="10777510" y="4297680"/>
            <a:ext cx="219456" cy="274320"/>
          </a:xfrm>
          <a:prstGeom prst="downArrow">
            <a:avLst/>
          </a:prstGeom>
          <a:solidFill>
            <a:srgbClr val="BFDBFE"/>
          </a:solidFill>
          <a:ln w="6350">
            <a:solidFill>
              <a:srgbClr val="BFDBFE"/>
            </a:solidFill>
            <a:prstDash val="solid"/>
          </a:ln>
        </p:spPr>
        <p:txBody>
          <a:bodyPr/>
          <a:lstStyle/>
          <a:p>
            <a:endParaRPr lang="en-US"/>
          </a:p>
        </p:txBody>
      </p:sp>
      <p:sp>
        <p:nvSpPr>
          <p:cNvPr id="78" name="Shape 68"/>
          <p:cNvSpPr/>
          <p:nvPr/>
        </p:nvSpPr>
        <p:spPr>
          <a:xfrm>
            <a:off x="10161597" y="4663440"/>
            <a:ext cx="1451283" cy="566928"/>
          </a:xfrm>
          <a:prstGeom prst="roundRect">
            <a:avLst>
              <a:gd name="adj" fmla="val 12903"/>
            </a:avLst>
          </a:prstGeom>
          <a:solidFill>
            <a:srgbClr val="0A1F44"/>
          </a:solidFill>
          <a:ln w="6350">
            <a:solidFill>
              <a:srgbClr val="0A1F44"/>
            </a:solidFill>
            <a:prstDash val="solid"/>
          </a:ln>
        </p:spPr>
        <p:txBody>
          <a:bodyPr/>
          <a:lstStyle/>
          <a:p>
            <a:endParaRPr lang="en-US"/>
          </a:p>
        </p:txBody>
      </p:sp>
      <p:sp>
        <p:nvSpPr>
          <p:cNvPr id="79" name="Text 69"/>
          <p:cNvSpPr txBox="1"/>
          <p:nvPr/>
        </p:nvSpPr>
        <p:spPr>
          <a:xfrm>
            <a:off x="10179885" y="4663440"/>
            <a:ext cx="1414707" cy="566928"/>
          </a:xfrm>
          <a:prstGeom prst="rect">
            <a:avLst/>
          </a:prstGeom>
          <a:noFill/>
          <a:ln/>
        </p:spPr>
        <p:txBody>
          <a:bodyPr wrap="square" lIns="0" tIns="0" rIns="0" bIns="0" rtlCol="0" anchor="ctr"/>
          <a:lstStyle/>
          <a:p>
            <a:pPr marL="0" indent="0" algn="ctr">
              <a:buNone/>
            </a:pPr>
            <a:r>
              <a:rPr lang="en-US" sz="1050" b="1" dirty="0">
                <a:solidFill>
                  <a:srgbClr val="FFFFFF"/>
                </a:solidFill>
                <a:latin typeface="Inter" pitchFamily="34" charset="0"/>
                <a:ea typeface="Inter" pitchFamily="34" charset="-122"/>
                <a:cs typeface="Inter" pitchFamily="34" charset="-120"/>
              </a:rPr>
              <a:t>Material Journeys</a:t>
            </a:r>
            <a:endParaRPr lang="en-US" sz="1050" dirty="0"/>
          </a:p>
        </p:txBody>
      </p:sp>
      <p:sp>
        <p:nvSpPr>
          <p:cNvPr id="80" name="Shape 70"/>
          <p:cNvSpPr/>
          <p:nvPr/>
        </p:nvSpPr>
        <p:spPr>
          <a:xfrm>
            <a:off x="502920" y="5742432"/>
            <a:ext cx="11183112" cy="512064"/>
          </a:xfrm>
          <a:prstGeom prst="roundRect">
            <a:avLst>
              <a:gd name="adj" fmla="val 17857"/>
            </a:avLst>
          </a:prstGeom>
          <a:solidFill>
            <a:srgbClr val="EFF6FF"/>
          </a:solidFill>
          <a:ln w="6350">
            <a:solidFill>
              <a:srgbClr val="EFF6FF"/>
            </a:solidFill>
            <a:prstDash val="solid"/>
          </a:ln>
        </p:spPr>
        <p:txBody>
          <a:bodyPr/>
          <a:lstStyle/>
          <a:p>
            <a:endParaRPr lang="en-US"/>
          </a:p>
        </p:txBody>
      </p:sp>
      <p:sp>
        <p:nvSpPr>
          <p:cNvPr id="81" name="Shape 71"/>
          <p:cNvSpPr/>
          <p:nvPr/>
        </p:nvSpPr>
        <p:spPr>
          <a:xfrm>
            <a:off x="640080" y="5833872"/>
            <a:ext cx="329184" cy="329184"/>
          </a:xfrm>
          <a:prstGeom prst="ellipse">
            <a:avLst/>
          </a:prstGeom>
          <a:solidFill>
            <a:srgbClr val="1D4ED8"/>
          </a:solidFill>
          <a:ln w="6350">
            <a:solidFill>
              <a:srgbClr val="1D4ED8"/>
            </a:solidFill>
            <a:prstDash val="solid"/>
          </a:ln>
        </p:spPr>
        <p:txBody>
          <a:bodyPr/>
          <a:lstStyle/>
          <a:p>
            <a:endParaRPr lang="en-US"/>
          </a:p>
        </p:txBody>
      </p:sp>
      <p:pic>
        <p:nvPicPr>
          <p:cNvPr id="82" name="Image 8" descr="preencoded.png"/>
          <p:cNvPicPr>
            <a:picLocks noChangeAspect="1"/>
          </p:cNvPicPr>
          <p:nvPr/>
        </p:nvPicPr>
        <p:blipFill>
          <a:blip r:embed="rId11"/>
          <a:stretch>
            <a:fillRect/>
          </a:stretch>
        </p:blipFill>
        <p:spPr>
          <a:xfrm>
            <a:off x="712500" y="5906292"/>
            <a:ext cx="184343" cy="184343"/>
          </a:xfrm>
          <a:prstGeom prst="rect">
            <a:avLst/>
          </a:prstGeom>
        </p:spPr>
      </p:pic>
      <p:sp>
        <p:nvSpPr>
          <p:cNvPr id="83" name="Text 72"/>
          <p:cNvSpPr txBox="1"/>
          <p:nvPr/>
        </p:nvSpPr>
        <p:spPr>
          <a:xfrm>
            <a:off x="1097280" y="5742432"/>
            <a:ext cx="10424160" cy="512064"/>
          </a:xfrm>
          <a:prstGeom prst="rect">
            <a:avLst/>
          </a:prstGeom>
          <a:noFill/>
          <a:ln/>
        </p:spPr>
        <p:txBody>
          <a:bodyPr wrap="square" lIns="0" tIns="0" rIns="0" bIns="0" rtlCol="0" anchor="ctr"/>
          <a:lstStyle/>
          <a:p>
            <a:pPr marL="0" indent="0">
              <a:buNone/>
            </a:pPr>
            <a:r>
              <a:rPr lang="en-US" sz="1300" b="1" dirty="0">
                <a:solidFill>
                  <a:srgbClr val="0A1F44"/>
                </a:solidFill>
                <a:latin typeface="Inter" pitchFamily="34" charset="0"/>
                <a:ea typeface="Inter" pitchFamily="34" charset="-122"/>
                <a:cs typeface="Inter" pitchFamily="34" charset="-120"/>
              </a:rPr>
              <a:t>Trust peaks when the parcel opens, so that's when we ask for the relationship, never with a discount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9326880" cy="841248"/>
          </a:xfrm>
          <a:prstGeom prst="rect">
            <a:avLst/>
          </a:prstGeom>
          <a:noFill/>
          <a:ln/>
        </p:spPr>
        <p:txBody>
          <a:bodyPr wrap="square" lIns="0" tIns="0" rIns="0" bIns="0" rtlCol="0" anchor="ctr"/>
          <a:lstStyle/>
          <a:p>
            <a:pPr marL="0" indent="0">
              <a:buNone/>
            </a:pPr>
            <a:r>
              <a:rPr lang="en-US" sz="2400" b="1" dirty="0">
                <a:solidFill>
                  <a:srgbClr val="0A1F44"/>
                </a:solidFill>
                <a:latin typeface="Inter" pitchFamily="34" charset="0"/>
                <a:ea typeface="Inter" pitchFamily="34" charset="-122"/>
                <a:cs typeface="Inter" pitchFamily="34" charset="-120"/>
              </a:rPr>
              <a:t>Every cart: owned channels first, paid second</a:t>
            </a:r>
            <a:endParaRPr lang="en-US" sz="2400" dirty="0"/>
          </a:p>
        </p:txBody>
      </p:sp>
      <p:pic>
        <p:nvPicPr>
          <p:cNvPr id="3" name="Image 0" descr="/tmp/claude-0/-home-user-Quince/7efe80ae-a049-50c2-9886-98bf7ca3a04a/scratchpad/assets/quince.png"/>
          <p:cNvPicPr>
            <a:picLocks noChangeAspect="1"/>
          </p:cNvPicPr>
          <p:nvPr/>
        </p:nvPicPr>
        <p:blipFill>
          <a:blip r:embed="rId3"/>
          <a:stretch>
            <a:fillRect/>
          </a:stretch>
        </p:blipFill>
        <p:spPr>
          <a:xfrm>
            <a:off x="10236708" y="615544"/>
            <a:ext cx="777240" cy="231951"/>
          </a:xfrm>
          <a:prstGeom prst="rect">
            <a:avLst/>
          </a:prstGeom>
        </p:spPr>
      </p:pic>
      <p:sp>
        <p:nvSpPr>
          <p:cNvPr id="4" name="Shape 1"/>
          <p:cNvSpPr/>
          <p:nvPr/>
        </p:nvSpPr>
        <p:spPr>
          <a:xfrm>
            <a:off x="11155680" y="603504"/>
            <a:ext cx="530352" cy="256032"/>
          </a:xfrm>
          <a:prstGeom prst="roundRect">
            <a:avLst>
              <a:gd name="adj" fmla="val 50000"/>
            </a:avLst>
          </a:prstGeom>
          <a:solidFill>
            <a:srgbClr val="0A1F44"/>
          </a:solidFill>
          <a:ln w="6350">
            <a:solidFill>
              <a:srgbClr val="0A1F44"/>
            </a:solidFill>
            <a:prstDash val="solid"/>
          </a:ln>
        </p:spPr>
        <p:txBody>
          <a:bodyPr/>
          <a:lstStyle/>
          <a:p>
            <a:endParaRPr lang="en-US"/>
          </a:p>
        </p:txBody>
      </p:sp>
      <p:sp>
        <p:nvSpPr>
          <p:cNvPr id="5" name="Text 2"/>
          <p:cNvSpPr txBox="1"/>
          <p:nvPr/>
        </p:nvSpPr>
        <p:spPr>
          <a:xfrm>
            <a:off x="11155680" y="603504"/>
            <a:ext cx="53035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G27</a:t>
            </a:r>
            <a:endParaRPr lang="en-US" sz="950" dirty="0"/>
          </a:p>
        </p:txBody>
      </p:sp>
      <p:sp>
        <p:nvSpPr>
          <p:cNvPr id="6" name="Shape 3"/>
          <p:cNvSpPr/>
          <p:nvPr/>
        </p:nvSpPr>
        <p:spPr>
          <a:xfrm>
            <a:off x="502920" y="6400800"/>
            <a:ext cx="11183112" cy="0"/>
          </a:xfrm>
          <a:prstGeom prst="line">
            <a:avLst/>
          </a:prstGeom>
          <a:noFill/>
          <a:ln w="9525">
            <a:solidFill>
              <a:srgbClr val="E2E8F0"/>
            </a:solidFill>
            <a:prstDash val="solid"/>
          </a:ln>
        </p:spPr>
        <p:txBody>
          <a:bodyPr/>
          <a:lstStyle/>
          <a:p>
            <a:endParaRPr lang="en-US"/>
          </a:p>
        </p:txBody>
      </p:sp>
      <p:sp>
        <p:nvSpPr>
          <p:cNvPr id="7" name="Text 4"/>
          <p:cNvSpPr txBox="1"/>
          <p:nvPr/>
        </p:nvSpPr>
        <p:spPr>
          <a:xfrm>
            <a:off x="502920" y="6464808"/>
            <a:ext cx="9418320" cy="256032"/>
          </a:xfrm>
          <a:prstGeom prst="rect">
            <a:avLst/>
          </a:prstGeom>
          <a:noFill/>
          <a:ln/>
        </p:spPr>
        <p:txBody>
          <a:bodyPr wrap="square" lIns="0" tIns="0" rIns="0" bIns="0" rtlCol="0" anchor="ctr"/>
          <a:lstStyle/>
          <a:p>
            <a:pPr marL="0" indent="0">
              <a:buNone/>
            </a:pPr>
            <a:r>
              <a:rPr lang="en-US" sz="800" dirty="0">
                <a:solidFill>
                  <a:srgbClr val="64748B"/>
                </a:solidFill>
                <a:latin typeface="Inter" pitchFamily="34" charset="0"/>
                <a:ea typeface="Inter" pitchFamily="34" charset="-122"/>
                <a:cs typeface="Inter" pitchFamily="34" charset="-120"/>
              </a:rPr>
              <a:t>Source: Adobe CJA segments (A1, A2, A4, A6, Cohort Table); our targeting design. Message timings are our pilot choices, tested against the holdout.</a:t>
            </a:r>
            <a:endParaRPr lang="en-US" sz="800" dirty="0"/>
          </a:p>
        </p:txBody>
      </p:sp>
      <p:sp>
        <p:nvSpPr>
          <p:cNvPr id="8" name="Text 5"/>
          <p:cNvSpPr txBox="1"/>
          <p:nvPr/>
        </p:nvSpPr>
        <p:spPr>
          <a:xfrm>
            <a:off x="9966960" y="6464808"/>
            <a:ext cx="1719072" cy="256032"/>
          </a:xfrm>
          <a:prstGeom prst="rect">
            <a:avLst/>
          </a:prstGeom>
          <a:noFill/>
          <a:ln/>
        </p:spPr>
        <p:txBody>
          <a:bodyPr wrap="square" lIns="0" tIns="0" rIns="0" bIns="0" rtlCol="0" anchor="ctr"/>
          <a:lstStyle/>
          <a:p>
            <a:pPr marL="0" indent="0" algn="r">
              <a:buNone/>
            </a:pPr>
            <a:r>
              <a:rPr lang="en-US" sz="800" dirty="0">
                <a:solidFill>
                  <a:srgbClr val="64748B"/>
                </a:solidFill>
                <a:latin typeface="Inter" pitchFamily="34" charset="0"/>
                <a:ea typeface="Inter" pitchFamily="34" charset="-122"/>
                <a:cs typeface="Inter" pitchFamily="34" charset="-120"/>
              </a:rPr>
              <a:t>Team G27  ·  17</a:t>
            </a:r>
            <a:endParaRPr lang="en-US" sz="800" dirty="0"/>
          </a:p>
        </p:txBody>
      </p:sp>
      <p:sp>
        <p:nvSpPr>
          <p:cNvPr id="9" name="Shape 6"/>
          <p:cNvSpPr/>
          <p:nvPr/>
        </p:nvSpPr>
        <p:spPr>
          <a:xfrm>
            <a:off x="469467" y="2816352"/>
            <a:ext cx="1280160" cy="594360"/>
          </a:xfrm>
          <a:prstGeom prst="roundRect">
            <a:avLst>
              <a:gd name="adj" fmla="val 12308"/>
            </a:avLst>
          </a:prstGeom>
          <a:solidFill>
            <a:srgbClr val="0A1F44"/>
          </a:solidFill>
          <a:ln w="15875">
            <a:solidFill>
              <a:srgbClr val="0A1F44"/>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612648" y="2985516"/>
            <a:ext cx="256032" cy="256032"/>
          </a:xfrm>
          <a:prstGeom prst="rect">
            <a:avLst/>
          </a:prstGeom>
        </p:spPr>
      </p:pic>
      <p:sp>
        <p:nvSpPr>
          <p:cNvPr id="11" name="Text 7"/>
          <p:cNvSpPr txBox="1"/>
          <p:nvPr/>
        </p:nvSpPr>
        <p:spPr>
          <a:xfrm>
            <a:off x="960120" y="2816352"/>
            <a:ext cx="749808" cy="594360"/>
          </a:xfrm>
          <a:prstGeom prst="rect">
            <a:avLst/>
          </a:prstGeom>
          <a:noFill/>
          <a:ln/>
        </p:spPr>
        <p:txBody>
          <a:bodyPr wrap="square" lIns="0" tIns="0" rIns="0" bIns="0" rtlCol="0" anchor="ctr"/>
          <a:lstStyle/>
          <a:p>
            <a:pPr marL="0" indent="0">
              <a:buNone/>
            </a:pPr>
            <a:r>
              <a:rPr lang="en-US" sz="1050" b="1" dirty="0">
                <a:solidFill>
                  <a:srgbClr val="FFFFFF"/>
                </a:solidFill>
                <a:latin typeface="Inter" pitchFamily="34" charset="0"/>
                <a:ea typeface="Inter" pitchFamily="34" charset="-122"/>
                <a:cs typeface="Inter" pitchFamily="34" charset="-120"/>
              </a:rPr>
              <a:t>Shopper adds to cart</a:t>
            </a:r>
            <a:endParaRPr lang="en-US" sz="1050" dirty="0"/>
          </a:p>
        </p:txBody>
      </p:sp>
      <p:sp>
        <p:nvSpPr>
          <p:cNvPr id="12" name="Shape 8"/>
          <p:cNvSpPr/>
          <p:nvPr/>
        </p:nvSpPr>
        <p:spPr>
          <a:xfrm>
            <a:off x="1874520" y="2743200"/>
            <a:ext cx="1005840" cy="731520"/>
          </a:xfrm>
          <a:prstGeom prst="diamond">
            <a:avLst/>
          </a:prstGeom>
          <a:solidFill>
            <a:srgbClr val="FFFFFF"/>
          </a:solidFill>
          <a:ln w="15875">
            <a:solidFill>
              <a:srgbClr val="0A1F44"/>
            </a:solidFill>
            <a:prstDash val="solid"/>
          </a:ln>
        </p:spPr>
        <p:txBody>
          <a:bodyPr/>
          <a:lstStyle/>
          <a:p>
            <a:endParaRPr lang="en-US"/>
          </a:p>
        </p:txBody>
      </p:sp>
      <p:sp>
        <p:nvSpPr>
          <p:cNvPr id="13" name="Text 9"/>
          <p:cNvSpPr txBox="1"/>
          <p:nvPr/>
        </p:nvSpPr>
        <p:spPr>
          <a:xfrm>
            <a:off x="1984248" y="2743200"/>
            <a:ext cx="786384" cy="731520"/>
          </a:xfrm>
          <a:prstGeom prst="rect">
            <a:avLst/>
          </a:prstGeom>
          <a:noFill/>
          <a:ln/>
        </p:spPr>
        <p:txBody>
          <a:bodyPr wrap="square" lIns="0" tIns="0" rIns="0" bIns="0" rtlCol="0" anchor="ctr"/>
          <a:lstStyle/>
          <a:p>
            <a:pPr marL="0" indent="0" algn="ctr">
              <a:buNone/>
            </a:pPr>
            <a:r>
              <a:rPr lang="en-US" sz="900" b="1" dirty="0">
                <a:solidFill>
                  <a:srgbClr val="0A1F44"/>
                </a:solidFill>
                <a:latin typeface="Inter" pitchFamily="34" charset="0"/>
                <a:ea typeface="Inter" pitchFamily="34" charset="-122"/>
                <a:cs typeface="Inter" pitchFamily="34" charset="-120"/>
              </a:rPr>
              <a:t>Orders?</a:t>
            </a:r>
            <a:endParaRPr lang="en-US" sz="900" dirty="0"/>
          </a:p>
        </p:txBody>
      </p:sp>
      <p:sp>
        <p:nvSpPr>
          <p:cNvPr id="14" name="Shape 10"/>
          <p:cNvSpPr/>
          <p:nvPr/>
        </p:nvSpPr>
        <p:spPr>
          <a:xfrm>
            <a:off x="1749627" y="3108960"/>
            <a:ext cx="124893" cy="0"/>
          </a:xfrm>
          <a:prstGeom prst="line">
            <a:avLst/>
          </a:prstGeom>
          <a:noFill/>
          <a:ln w="15875">
            <a:solidFill>
              <a:srgbClr val="0A1F44"/>
            </a:solidFill>
            <a:prstDash val="solid"/>
            <a:tailEnd type="triangle"/>
          </a:ln>
        </p:spPr>
        <p:txBody>
          <a:bodyPr/>
          <a:lstStyle/>
          <a:p>
            <a:endParaRPr lang="en-US"/>
          </a:p>
        </p:txBody>
      </p:sp>
      <p:sp>
        <p:nvSpPr>
          <p:cNvPr id="15" name="Shape 11"/>
          <p:cNvSpPr/>
          <p:nvPr/>
        </p:nvSpPr>
        <p:spPr>
          <a:xfrm>
            <a:off x="2377440" y="1901952"/>
            <a:ext cx="0" cy="841248"/>
          </a:xfrm>
          <a:prstGeom prst="line">
            <a:avLst/>
          </a:prstGeom>
          <a:noFill/>
          <a:ln w="15875">
            <a:solidFill>
              <a:srgbClr val="0A1F44"/>
            </a:solidFill>
            <a:prstDash val="solid"/>
          </a:ln>
        </p:spPr>
        <p:txBody>
          <a:bodyPr/>
          <a:lstStyle/>
          <a:p>
            <a:endParaRPr lang="en-US"/>
          </a:p>
        </p:txBody>
      </p:sp>
      <p:sp>
        <p:nvSpPr>
          <p:cNvPr id="16" name="Shape 12"/>
          <p:cNvSpPr/>
          <p:nvPr/>
        </p:nvSpPr>
        <p:spPr>
          <a:xfrm>
            <a:off x="2377440" y="1901952"/>
            <a:ext cx="667512" cy="0"/>
          </a:xfrm>
          <a:prstGeom prst="line">
            <a:avLst/>
          </a:prstGeom>
          <a:noFill/>
          <a:ln w="15875">
            <a:solidFill>
              <a:srgbClr val="0A1F44"/>
            </a:solidFill>
            <a:prstDash val="solid"/>
            <a:tailEnd type="triangle"/>
          </a:ln>
        </p:spPr>
        <p:txBody>
          <a:bodyPr/>
          <a:lstStyle/>
          <a:p>
            <a:endParaRPr lang="en-US"/>
          </a:p>
        </p:txBody>
      </p:sp>
      <p:sp>
        <p:nvSpPr>
          <p:cNvPr id="17" name="Text 13"/>
          <p:cNvSpPr txBox="1"/>
          <p:nvPr/>
        </p:nvSpPr>
        <p:spPr>
          <a:xfrm>
            <a:off x="2450592" y="2240280"/>
            <a:ext cx="365760" cy="182880"/>
          </a:xfrm>
          <a:prstGeom prst="rect">
            <a:avLst/>
          </a:prstGeom>
          <a:noFill/>
          <a:ln/>
        </p:spPr>
        <p:txBody>
          <a:bodyPr wrap="square" lIns="0" tIns="0" rIns="0" bIns="0" rtlCol="0" anchor="t"/>
          <a:lstStyle/>
          <a:p>
            <a:pPr marL="0" indent="0">
              <a:buNone/>
            </a:pPr>
            <a:r>
              <a:rPr lang="en-US" sz="900" b="1" dirty="0">
                <a:solidFill>
                  <a:srgbClr val="16A34A"/>
                </a:solidFill>
                <a:latin typeface="Inter" pitchFamily="34" charset="0"/>
                <a:ea typeface="Inter" pitchFamily="34" charset="-122"/>
                <a:cs typeface="Inter" pitchFamily="34" charset="-120"/>
              </a:rPr>
              <a:t>Yes</a:t>
            </a:r>
            <a:endParaRPr lang="en-US" sz="900" dirty="0"/>
          </a:p>
        </p:txBody>
      </p:sp>
      <p:sp>
        <p:nvSpPr>
          <p:cNvPr id="18" name="Shape 14"/>
          <p:cNvSpPr/>
          <p:nvPr/>
        </p:nvSpPr>
        <p:spPr>
          <a:xfrm>
            <a:off x="3044952" y="1517904"/>
            <a:ext cx="2167128" cy="768096"/>
          </a:xfrm>
          <a:prstGeom prst="roundRect">
            <a:avLst>
              <a:gd name="adj" fmla="val 9524"/>
            </a:avLst>
          </a:prstGeom>
          <a:solidFill>
            <a:srgbClr val="EFF6FF"/>
          </a:solidFill>
          <a:ln w="15875">
            <a:solidFill>
              <a:srgbClr val="1D4ED8"/>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3154680" y="1773936"/>
            <a:ext cx="256032" cy="256032"/>
          </a:xfrm>
          <a:prstGeom prst="rect">
            <a:avLst/>
          </a:prstGeom>
        </p:spPr>
      </p:pic>
      <p:sp>
        <p:nvSpPr>
          <p:cNvPr id="20" name="Text 15"/>
          <p:cNvSpPr txBox="1"/>
          <p:nvPr/>
        </p:nvSpPr>
        <p:spPr>
          <a:xfrm>
            <a:off x="3502152" y="1517904"/>
            <a:ext cx="1636776" cy="768096"/>
          </a:xfrm>
          <a:prstGeom prst="rect">
            <a:avLst/>
          </a:prstGeom>
          <a:noFill/>
          <a:ln/>
        </p:spPr>
        <p:txBody>
          <a:bodyPr wrap="square" lIns="0" tIns="0" rIns="0" bIns="0" rtlCol="0" anchor="ctr"/>
          <a:lstStyle/>
          <a:p>
            <a:pPr marL="0" indent="0">
              <a:buNone/>
            </a:pPr>
            <a:r>
              <a:rPr lang="en-US" sz="1050" b="1" dirty="0">
                <a:solidFill>
                  <a:srgbClr val="0A1F44"/>
                </a:solidFill>
                <a:latin typeface="Inter" pitchFamily="34" charset="0"/>
                <a:ea typeface="Inter" pitchFamily="34" charset="-122"/>
                <a:cs typeface="Inter" pitchFamily="34" charset="-120"/>
              </a:rPr>
              <a:t>Order ships</a:t>
            </a:r>
            <a:endParaRPr lang="en-US" sz="1050" dirty="0"/>
          </a:p>
          <a:p>
            <a:pPr marL="0" indent="0">
              <a:buNone/>
            </a:pPr>
            <a:r>
              <a:rPr lang="en-US" sz="850" dirty="0">
                <a:solidFill>
                  <a:srgbClr val="334155"/>
                </a:solidFill>
                <a:latin typeface="Inter" pitchFamily="34" charset="0"/>
                <a:ea typeface="Inter" pitchFamily="34" charset="-122"/>
                <a:cs typeface="Inter" pitchFamily="34" charset="-120"/>
              </a:rPr>
              <a:t>Passport card in the box; tracking opens in the app</a:t>
            </a:r>
            <a:endParaRPr lang="en-US" sz="1050" dirty="0"/>
          </a:p>
        </p:txBody>
      </p:sp>
      <p:sp>
        <p:nvSpPr>
          <p:cNvPr id="21" name="Shape 16"/>
          <p:cNvSpPr/>
          <p:nvPr/>
        </p:nvSpPr>
        <p:spPr>
          <a:xfrm>
            <a:off x="4114800" y="2286000"/>
            <a:ext cx="0" cy="118872"/>
          </a:xfrm>
          <a:prstGeom prst="line">
            <a:avLst/>
          </a:prstGeom>
          <a:noFill/>
          <a:ln w="15875">
            <a:solidFill>
              <a:srgbClr val="DC2626"/>
            </a:solidFill>
            <a:prstDash val="solid"/>
            <a:tailEnd type="triangle"/>
          </a:ln>
        </p:spPr>
        <p:txBody>
          <a:bodyPr/>
          <a:lstStyle/>
          <a:p>
            <a:endParaRPr lang="en-US"/>
          </a:p>
        </p:txBody>
      </p:sp>
      <p:sp>
        <p:nvSpPr>
          <p:cNvPr id="22" name="Shape 17"/>
          <p:cNvSpPr/>
          <p:nvPr/>
        </p:nvSpPr>
        <p:spPr>
          <a:xfrm>
            <a:off x="3044952" y="2395728"/>
            <a:ext cx="2167128" cy="457200"/>
          </a:xfrm>
          <a:prstGeom prst="roundRect">
            <a:avLst>
              <a:gd name="adj" fmla="val 16000"/>
            </a:avLst>
          </a:prstGeom>
          <a:solidFill>
            <a:srgbClr val="FEF2F2"/>
          </a:solidFill>
          <a:ln w="15875">
            <a:solidFill>
              <a:srgbClr val="DC2626"/>
            </a:solidFill>
            <a:prstDash val="solid"/>
          </a:ln>
        </p:spPr>
        <p:txBody>
          <a:bodyPr/>
          <a:lstStyle/>
          <a:p>
            <a:endParaRPr lang="en-US"/>
          </a:p>
        </p:txBody>
      </p:sp>
      <p:pic>
        <p:nvPicPr>
          <p:cNvPr id="23" name="Image 3" descr="preencoded.png"/>
          <p:cNvPicPr>
            <a:picLocks noChangeAspect="1"/>
          </p:cNvPicPr>
          <p:nvPr/>
        </p:nvPicPr>
        <p:blipFill>
          <a:blip r:embed="rId6"/>
          <a:stretch>
            <a:fillRect/>
          </a:stretch>
        </p:blipFill>
        <p:spPr>
          <a:xfrm>
            <a:off x="3154680" y="2496312"/>
            <a:ext cx="256032" cy="256032"/>
          </a:xfrm>
          <a:prstGeom prst="rect">
            <a:avLst/>
          </a:prstGeom>
        </p:spPr>
      </p:pic>
      <p:sp>
        <p:nvSpPr>
          <p:cNvPr id="24" name="Text 18"/>
          <p:cNvSpPr txBox="1"/>
          <p:nvPr/>
        </p:nvSpPr>
        <p:spPr>
          <a:xfrm>
            <a:off x="3502152" y="2395728"/>
            <a:ext cx="1636776" cy="457200"/>
          </a:xfrm>
          <a:prstGeom prst="rect">
            <a:avLst/>
          </a:prstGeom>
          <a:noFill/>
          <a:ln/>
        </p:spPr>
        <p:txBody>
          <a:bodyPr wrap="square" lIns="0" tIns="0" rIns="0" bIns="0" rtlCol="0" anchor="ctr"/>
          <a:lstStyle/>
          <a:p>
            <a:pPr marL="0" indent="0">
              <a:buNone/>
            </a:pPr>
            <a:r>
              <a:rPr lang="en-US" sz="1050" b="1" dirty="0">
                <a:solidFill>
                  <a:srgbClr val="DC2626"/>
                </a:solidFill>
                <a:latin typeface="Inter" pitchFamily="34" charset="0"/>
                <a:ea typeface="Inter" pitchFamily="34" charset="-122"/>
                <a:cs typeface="Inter" pitchFamily="34" charset="-120"/>
              </a:rPr>
              <a:t>Off retargeting; max one reminder</a:t>
            </a:r>
            <a:endParaRPr lang="en-US" sz="1050" dirty="0"/>
          </a:p>
        </p:txBody>
      </p:sp>
      <p:sp>
        <p:nvSpPr>
          <p:cNvPr id="25" name="Shape 19"/>
          <p:cNvSpPr/>
          <p:nvPr/>
        </p:nvSpPr>
        <p:spPr>
          <a:xfrm>
            <a:off x="5445252" y="1490472"/>
            <a:ext cx="1325880" cy="822960"/>
          </a:xfrm>
          <a:prstGeom prst="diamond">
            <a:avLst/>
          </a:prstGeom>
          <a:solidFill>
            <a:srgbClr val="FFFFFF"/>
          </a:solidFill>
          <a:ln w="15875">
            <a:solidFill>
              <a:srgbClr val="0A1F44"/>
            </a:solidFill>
            <a:prstDash val="solid"/>
          </a:ln>
        </p:spPr>
        <p:txBody>
          <a:bodyPr/>
          <a:lstStyle/>
          <a:p>
            <a:endParaRPr lang="en-US"/>
          </a:p>
        </p:txBody>
      </p:sp>
      <p:sp>
        <p:nvSpPr>
          <p:cNvPr id="26" name="Text 20"/>
          <p:cNvSpPr txBox="1"/>
          <p:nvPr/>
        </p:nvSpPr>
        <p:spPr>
          <a:xfrm>
            <a:off x="5554980" y="1490472"/>
            <a:ext cx="1106424" cy="822960"/>
          </a:xfrm>
          <a:prstGeom prst="rect">
            <a:avLst/>
          </a:prstGeom>
          <a:noFill/>
          <a:ln/>
        </p:spPr>
        <p:txBody>
          <a:bodyPr wrap="square" lIns="0" tIns="0" rIns="0" bIns="0" rtlCol="0" anchor="ctr"/>
          <a:lstStyle/>
          <a:p>
            <a:pPr marL="0" indent="0" algn="ctr">
              <a:buNone/>
            </a:pPr>
            <a:r>
              <a:rPr lang="en-US" sz="900" b="1" dirty="0">
                <a:solidFill>
                  <a:srgbClr val="0A1F44"/>
                </a:solidFill>
                <a:latin typeface="Inter" pitchFamily="34" charset="0"/>
                <a:ea typeface="Inter" pitchFamily="34" charset="-122"/>
                <a:cs typeface="Inter" pitchFamily="34" charset="-120"/>
              </a:rPr>
              <a:t>Engaged after order one?</a:t>
            </a:r>
            <a:endParaRPr lang="en-US" sz="900" dirty="0"/>
          </a:p>
        </p:txBody>
      </p:sp>
      <p:sp>
        <p:nvSpPr>
          <p:cNvPr id="27" name="Shape 21"/>
          <p:cNvSpPr/>
          <p:nvPr/>
        </p:nvSpPr>
        <p:spPr>
          <a:xfrm>
            <a:off x="5212080" y="1901952"/>
            <a:ext cx="228600" cy="0"/>
          </a:xfrm>
          <a:prstGeom prst="line">
            <a:avLst/>
          </a:prstGeom>
          <a:noFill/>
          <a:ln w="15875">
            <a:solidFill>
              <a:srgbClr val="0A1F44"/>
            </a:solidFill>
            <a:prstDash val="solid"/>
            <a:tailEnd type="triangle"/>
          </a:ln>
        </p:spPr>
        <p:txBody>
          <a:bodyPr/>
          <a:lstStyle/>
          <a:p>
            <a:endParaRPr lang="en-US"/>
          </a:p>
        </p:txBody>
      </p:sp>
      <p:sp>
        <p:nvSpPr>
          <p:cNvPr id="28" name="Shape 22"/>
          <p:cNvSpPr/>
          <p:nvPr/>
        </p:nvSpPr>
        <p:spPr>
          <a:xfrm>
            <a:off x="6775704" y="1901952"/>
            <a:ext cx="283464" cy="0"/>
          </a:xfrm>
          <a:prstGeom prst="line">
            <a:avLst/>
          </a:prstGeom>
          <a:noFill/>
          <a:ln w="15875">
            <a:solidFill>
              <a:srgbClr val="0A1F44"/>
            </a:solidFill>
            <a:prstDash val="solid"/>
            <a:tailEnd type="triangle"/>
          </a:ln>
        </p:spPr>
        <p:txBody>
          <a:bodyPr/>
          <a:lstStyle/>
          <a:p>
            <a:endParaRPr lang="en-US"/>
          </a:p>
        </p:txBody>
      </p:sp>
      <p:sp>
        <p:nvSpPr>
          <p:cNvPr id="29" name="Text 23"/>
          <p:cNvSpPr txBox="1"/>
          <p:nvPr/>
        </p:nvSpPr>
        <p:spPr>
          <a:xfrm>
            <a:off x="6784848" y="1664208"/>
            <a:ext cx="365760" cy="182880"/>
          </a:xfrm>
          <a:prstGeom prst="rect">
            <a:avLst/>
          </a:prstGeom>
          <a:noFill/>
          <a:ln/>
        </p:spPr>
        <p:txBody>
          <a:bodyPr wrap="square" lIns="0" tIns="0" rIns="0" bIns="0" rtlCol="0" anchor="t"/>
          <a:lstStyle/>
          <a:p>
            <a:pPr marL="0" indent="0">
              <a:buNone/>
            </a:pPr>
            <a:r>
              <a:rPr lang="en-US" sz="900" b="1" dirty="0">
                <a:solidFill>
                  <a:srgbClr val="16A34A"/>
                </a:solidFill>
                <a:latin typeface="Inter" pitchFamily="34" charset="0"/>
                <a:ea typeface="Inter" pitchFamily="34" charset="-122"/>
                <a:cs typeface="Inter" pitchFamily="34" charset="-120"/>
              </a:rPr>
              <a:t>Yes</a:t>
            </a:r>
            <a:endParaRPr lang="en-US" sz="900" dirty="0"/>
          </a:p>
        </p:txBody>
      </p:sp>
      <p:sp>
        <p:nvSpPr>
          <p:cNvPr id="30" name="Shape 24"/>
          <p:cNvSpPr/>
          <p:nvPr/>
        </p:nvSpPr>
        <p:spPr>
          <a:xfrm>
            <a:off x="7059168" y="1517904"/>
            <a:ext cx="2377440" cy="768096"/>
          </a:xfrm>
          <a:prstGeom prst="roundRect">
            <a:avLst>
              <a:gd name="adj" fmla="val 9524"/>
            </a:avLst>
          </a:prstGeom>
          <a:solidFill>
            <a:srgbClr val="EFF6FF"/>
          </a:solidFill>
          <a:ln w="15875">
            <a:solidFill>
              <a:srgbClr val="1D4ED8"/>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7168896" y="1773936"/>
            <a:ext cx="256032" cy="256032"/>
          </a:xfrm>
          <a:prstGeom prst="rect">
            <a:avLst/>
          </a:prstGeom>
        </p:spPr>
      </p:pic>
      <p:sp>
        <p:nvSpPr>
          <p:cNvPr id="32" name="Text 25"/>
          <p:cNvSpPr txBox="1"/>
          <p:nvPr/>
        </p:nvSpPr>
        <p:spPr>
          <a:xfrm>
            <a:off x="7516368" y="1517904"/>
            <a:ext cx="1847088" cy="768096"/>
          </a:xfrm>
          <a:prstGeom prst="rect">
            <a:avLst/>
          </a:prstGeom>
          <a:noFill/>
          <a:ln/>
        </p:spPr>
        <p:txBody>
          <a:bodyPr wrap="square" lIns="0" tIns="0" rIns="0" bIns="0" rtlCol="0" anchor="ctr"/>
          <a:lstStyle/>
          <a:p>
            <a:pPr marL="0" indent="0">
              <a:buNone/>
            </a:pPr>
            <a:r>
              <a:rPr lang="en-US" sz="1050" b="1" dirty="0">
                <a:solidFill>
                  <a:srgbClr val="0A1F44"/>
                </a:solidFill>
                <a:latin typeface="Inter" pitchFamily="34" charset="0"/>
                <a:ea typeface="Inter" pitchFamily="34" charset="-122"/>
                <a:cs typeface="Inter" pitchFamily="34" charset="-120"/>
              </a:rPr>
              <a:t>Golden Month, weeks 1–4</a:t>
            </a:r>
            <a:endParaRPr lang="en-US" sz="1050" dirty="0"/>
          </a:p>
          <a:p>
            <a:pPr marL="0" indent="0">
              <a:buNone/>
            </a:pPr>
            <a:r>
              <a:rPr lang="en-US" sz="850" dirty="0">
                <a:solidFill>
                  <a:srgbClr val="334155"/>
                </a:solidFill>
                <a:latin typeface="Inter" pitchFamily="34" charset="0"/>
                <a:ea typeface="Inter" pitchFamily="34" charset="-122"/>
                <a:cs typeface="Inter" pitchFamily="34" charset="-120"/>
              </a:rPr>
              <a:t>Care and fit, then a second category; cashmere → Material Journeys by day 21</a:t>
            </a:r>
            <a:endParaRPr lang="en-US" sz="1050" dirty="0"/>
          </a:p>
        </p:txBody>
      </p:sp>
      <p:sp>
        <p:nvSpPr>
          <p:cNvPr id="33" name="Shape 26"/>
          <p:cNvSpPr/>
          <p:nvPr/>
        </p:nvSpPr>
        <p:spPr>
          <a:xfrm>
            <a:off x="6108192" y="2313432"/>
            <a:ext cx="0" cy="402336"/>
          </a:xfrm>
          <a:prstGeom prst="line">
            <a:avLst/>
          </a:prstGeom>
          <a:noFill/>
          <a:ln w="15875">
            <a:solidFill>
              <a:srgbClr val="0A1F44"/>
            </a:solidFill>
            <a:prstDash val="solid"/>
            <a:tailEnd type="triangle"/>
          </a:ln>
        </p:spPr>
        <p:txBody>
          <a:bodyPr/>
          <a:lstStyle/>
          <a:p>
            <a:endParaRPr lang="en-US"/>
          </a:p>
        </p:txBody>
      </p:sp>
      <p:sp>
        <p:nvSpPr>
          <p:cNvPr id="34" name="Text 27"/>
          <p:cNvSpPr txBox="1"/>
          <p:nvPr/>
        </p:nvSpPr>
        <p:spPr>
          <a:xfrm>
            <a:off x="6172200" y="2377440"/>
            <a:ext cx="365760" cy="182880"/>
          </a:xfrm>
          <a:prstGeom prst="rect">
            <a:avLst/>
          </a:prstGeom>
          <a:noFill/>
          <a:ln/>
        </p:spPr>
        <p:txBody>
          <a:bodyPr wrap="square" lIns="0" tIns="0" rIns="0" bIns="0" rtlCol="0" anchor="t"/>
          <a:lstStyle/>
          <a:p>
            <a:pPr marL="0" indent="0">
              <a:buNone/>
            </a:pPr>
            <a:r>
              <a:rPr lang="en-US" sz="900" b="1" dirty="0">
                <a:solidFill>
                  <a:srgbClr val="DC2626"/>
                </a:solidFill>
                <a:latin typeface="Inter" pitchFamily="34" charset="0"/>
                <a:ea typeface="Inter" pitchFamily="34" charset="-122"/>
                <a:cs typeface="Inter" pitchFamily="34" charset="-120"/>
              </a:rPr>
              <a:t>No</a:t>
            </a:r>
            <a:endParaRPr lang="en-US" sz="900" dirty="0"/>
          </a:p>
        </p:txBody>
      </p:sp>
      <p:sp>
        <p:nvSpPr>
          <p:cNvPr id="35" name="Shape 28"/>
          <p:cNvSpPr/>
          <p:nvPr/>
        </p:nvSpPr>
        <p:spPr>
          <a:xfrm>
            <a:off x="5394960" y="2715768"/>
            <a:ext cx="2286000" cy="768096"/>
          </a:xfrm>
          <a:prstGeom prst="roundRect">
            <a:avLst>
              <a:gd name="adj" fmla="val 9524"/>
            </a:avLst>
          </a:prstGeom>
          <a:solidFill>
            <a:srgbClr val="EFF6FF"/>
          </a:solidFill>
          <a:ln w="15875">
            <a:solidFill>
              <a:srgbClr val="1D4ED8"/>
            </a:solidFill>
            <a:prstDash val="solid"/>
          </a:ln>
        </p:spPr>
        <p:txBody>
          <a:bodyPr/>
          <a:lstStyle/>
          <a:p>
            <a:endParaRPr lang="en-US"/>
          </a:p>
        </p:txBody>
      </p:sp>
      <p:pic>
        <p:nvPicPr>
          <p:cNvPr id="36" name="Image 5" descr="preencoded.png"/>
          <p:cNvPicPr>
            <a:picLocks noChangeAspect="1"/>
          </p:cNvPicPr>
          <p:nvPr/>
        </p:nvPicPr>
        <p:blipFill>
          <a:blip r:embed="rId8"/>
          <a:stretch>
            <a:fillRect/>
          </a:stretch>
        </p:blipFill>
        <p:spPr>
          <a:xfrm>
            <a:off x="5504688" y="2971800"/>
            <a:ext cx="256032" cy="256032"/>
          </a:xfrm>
          <a:prstGeom prst="rect">
            <a:avLst/>
          </a:prstGeom>
        </p:spPr>
      </p:pic>
      <p:sp>
        <p:nvSpPr>
          <p:cNvPr id="37" name="Text 29"/>
          <p:cNvSpPr txBox="1"/>
          <p:nvPr/>
        </p:nvSpPr>
        <p:spPr>
          <a:xfrm>
            <a:off x="5852160" y="2715768"/>
            <a:ext cx="1755648" cy="768096"/>
          </a:xfrm>
          <a:prstGeom prst="rect">
            <a:avLst/>
          </a:prstGeom>
          <a:noFill/>
          <a:ln/>
        </p:spPr>
        <p:txBody>
          <a:bodyPr wrap="square" lIns="0" tIns="0" rIns="0" bIns="0" rtlCol="0" anchor="ctr"/>
          <a:lstStyle/>
          <a:p>
            <a:pPr marL="0" indent="0">
              <a:buNone/>
            </a:pPr>
            <a:r>
              <a:rPr lang="en-US" sz="1050" b="1" dirty="0">
                <a:solidFill>
                  <a:srgbClr val="0A1F44"/>
                </a:solidFill>
                <a:latin typeface="Inter" pitchFamily="34" charset="0"/>
                <a:ea typeface="Inter" pitchFamily="34" charset="-122"/>
                <a:cs typeface="Inter" pitchFamily="34" charset="-120"/>
              </a:rPr>
              <a:t>Not engaged yet</a:t>
            </a:r>
            <a:endParaRPr lang="en-US" sz="1050" dirty="0"/>
          </a:p>
          <a:p>
            <a:pPr marL="0" indent="0">
              <a:buNone/>
            </a:pPr>
            <a:r>
              <a:rPr lang="en-US" sz="850" dirty="0">
                <a:solidFill>
                  <a:srgbClr val="334155"/>
                </a:solidFill>
                <a:latin typeface="Inter" pitchFamily="34" charset="0"/>
                <a:ea typeface="Inter" pitchFamily="34" charset="-122"/>
                <a:cs typeface="Inter" pitchFamily="34" charset="-120"/>
              </a:rPr>
              <a:t>One ask at delivery, day 7, day 21; without marketing consent, one capped paid reminder</a:t>
            </a:r>
            <a:endParaRPr lang="en-US" sz="1050" dirty="0"/>
          </a:p>
        </p:txBody>
      </p:sp>
      <p:sp>
        <p:nvSpPr>
          <p:cNvPr id="38" name="Shape 30"/>
          <p:cNvSpPr/>
          <p:nvPr/>
        </p:nvSpPr>
        <p:spPr>
          <a:xfrm>
            <a:off x="9436608" y="1901952"/>
            <a:ext cx="256032" cy="0"/>
          </a:xfrm>
          <a:prstGeom prst="line">
            <a:avLst/>
          </a:prstGeom>
          <a:noFill/>
          <a:ln w="15875">
            <a:solidFill>
              <a:srgbClr val="0A1F44"/>
            </a:solidFill>
            <a:prstDash val="solid"/>
          </a:ln>
        </p:spPr>
        <p:txBody>
          <a:bodyPr/>
          <a:lstStyle/>
          <a:p>
            <a:endParaRPr lang="en-US"/>
          </a:p>
        </p:txBody>
      </p:sp>
      <p:sp>
        <p:nvSpPr>
          <p:cNvPr id="39" name="Shape 31"/>
          <p:cNvSpPr/>
          <p:nvPr/>
        </p:nvSpPr>
        <p:spPr>
          <a:xfrm>
            <a:off x="9692640" y="1901952"/>
            <a:ext cx="0" cy="1197864"/>
          </a:xfrm>
          <a:prstGeom prst="line">
            <a:avLst/>
          </a:prstGeom>
          <a:noFill/>
          <a:ln w="15875">
            <a:solidFill>
              <a:srgbClr val="0A1F44"/>
            </a:solidFill>
            <a:prstDash val="solid"/>
          </a:ln>
        </p:spPr>
        <p:txBody>
          <a:bodyPr/>
          <a:lstStyle/>
          <a:p>
            <a:endParaRPr lang="en-US"/>
          </a:p>
        </p:txBody>
      </p:sp>
      <p:sp>
        <p:nvSpPr>
          <p:cNvPr id="40" name="Shape 32"/>
          <p:cNvSpPr/>
          <p:nvPr/>
        </p:nvSpPr>
        <p:spPr>
          <a:xfrm>
            <a:off x="7680960" y="3099816"/>
            <a:ext cx="2011680" cy="0"/>
          </a:xfrm>
          <a:prstGeom prst="line">
            <a:avLst/>
          </a:prstGeom>
          <a:noFill/>
          <a:ln w="15875">
            <a:solidFill>
              <a:srgbClr val="0A1F44"/>
            </a:solidFill>
            <a:prstDash val="solid"/>
          </a:ln>
        </p:spPr>
        <p:txBody>
          <a:bodyPr/>
          <a:lstStyle/>
          <a:p>
            <a:endParaRPr lang="en-US"/>
          </a:p>
        </p:txBody>
      </p:sp>
      <p:sp>
        <p:nvSpPr>
          <p:cNvPr id="41" name="Shape 33"/>
          <p:cNvSpPr/>
          <p:nvPr/>
        </p:nvSpPr>
        <p:spPr>
          <a:xfrm>
            <a:off x="9692640" y="2487168"/>
            <a:ext cx="201168" cy="0"/>
          </a:xfrm>
          <a:prstGeom prst="line">
            <a:avLst/>
          </a:prstGeom>
          <a:noFill/>
          <a:ln w="15875">
            <a:solidFill>
              <a:srgbClr val="0A1F44"/>
            </a:solidFill>
            <a:prstDash val="solid"/>
            <a:tailEnd type="triangle"/>
          </a:ln>
        </p:spPr>
        <p:txBody>
          <a:bodyPr/>
          <a:lstStyle/>
          <a:p>
            <a:endParaRPr lang="en-US"/>
          </a:p>
        </p:txBody>
      </p:sp>
      <p:sp>
        <p:nvSpPr>
          <p:cNvPr id="42" name="Shape 34"/>
          <p:cNvSpPr/>
          <p:nvPr/>
        </p:nvSpPr>
        <p:spPr>
          <a:xfrm>
            <a:off x="9898380" y="2084832"/>
            <a:ext cx="1325880" cy="804672"/>
          </a:xfrm>
          <a:prstGeom prst="diamond">
            <a:avLst/>
          </a:prstGeom>
          <a:solidFill>
            <a:srgbClr val="FFFFFF"/>
          </a:solidFill>
          <a:ln w="15875">
            <a:solidFill>
              <a:srgbClr val="0A1F44"/>
            </a:solidFill>
            <a:prstDash val="solid"/>
          </a:ln>
        </p:spPr>
        <p:txBody>
          <a:bodyPr/>
          <a:lstStyle/>
          <a:p>
            <a:endParaRPr lang="en-US"/>
          </a:p>
        </p:txBody>
      </p:sp>
      <p:sp>
        <p:nvSpPr>
          <p:cNvPr id="43" name="Text 35"/>
          <p:cNvSpPr txBox="1"/>
          <p:nvPr/>
        </p:nvSpPr>
        <p:spPr>
          <a:xfrm>
            <a:off x="10008108" y="2084832"/>
            <a:ext cx="1106424" cy="804672"/>
          </a:xfrm>
          <a:prstGeom prst="rect">
            <a:avLst/>
          </a:prstGeom>
          <a:noFill/>
          <a:ln/>
        </p:spPr>
        <p:txBody>
          <a:bodyPr wrap="square" lIns="0" tIns="0" rIns="0" bIns="0" rtlCol="0" anchor="ctr"/>
          <a:lstStyle/>
          <a:p>
            <a:pPr marL="0" indent="0" algn="ctr">
              <a:buNone/>
            </a:pPr>
            <a:r>
              <a:rPr lang="en-US" sz="900" b="1" dirty="0">
                <a:solidFill>
                  <a:srgbClr val="0A1F44"/>
                </a:solidFill>
                <a:latin typeface="Inter" pitchFamily="34" charset="0"/>
                <a:ea typeface="Inter" pitchFamily="34" charset="-122"/>
                <a:cs typeface="Inter" pitchFamily="34" charset="-120"/>
              </a:rPr>
              <a:t>Second order by day 60?</a:t>
            </a:r>
            <a:endParaRPr lang="en-US" sz="900" dirty="0"/>
          </a:p>
        </p:txBody>
      </p:sp>
      <p:sp>
        <p:nvSpPr>
          <p:cNvPr id="44" name="Shape 36"/>
          <p:cNvSpPr/>
          <p:nvPr/>
        </p:nvSpPr>
        <p:spPr>
          <a:xfrm>
            <a:off x="10561320" y="1828800"/>
            <a:ext cx="0" cy="256032"/>
          </a:xfrm>
          <a:prstGeom prst="line">
            <a:avLst/>
          </a:prstGeom>
          <a:noFill/>
          <a:ln w="15875">
            <a:solidFill>
              <a:srgbClr val="0A1F44"/>
            </a:solidFill>
            <a:prstDash val="solid"/>
            <a:headEnd type="triangle"/>
          </a:ln>
        </p:spPr>
        <p:txBody>
          <a:bodyPr/>
          <a:lstStyle/>
          <a:p>
            <a:endParaRPr lang="en-US"/>
          </a:p>
        </p:txBody>
      </p:sp>
      <p:sp>
        <p:nvSpPr>
          <p:cNvPr id="45" name="Text 37"/>
          <p:cNvSpPr txBox="1"/>
          <p:nvPr/>
        </p:nvSpPr>
        <p:spPr>
          <a:xfrm>
            <a:off x="10625328" y="1856232"/>
            <a:ext cx="365760" cy="182880"/>
          </a:xfrm>
          <a:prstGeom prst="rect">
            <a:avLst/>
          </a:prstGeom>
          <a:noFill/>
          <a:ln/>
        </p:spPr>
        <p:txBody>
          <a:bodyPr wrap="square" lIns="0" tIns="0" rIns="0" bIns="0" rtlCol="0" anchor="t"/>
          <a:lstStyle/>
          <a:p>
            <a:pPr marL="0" indent="0">
              <a:buNone/>
            </a:pPr>
            <a:r>
              <a:rPr lang="en-US" sz="900" b="1" dirty="0">
                <a:solidFill>
                  <a:srgbClr val="16A34A"/>
                </a:solidFill>
                <a:latin typeface="Inter" pitchFamily="34" charset="0"/>
                <a:ea typeface="Inter" pitchFamily="34" charset="-122"/>
                <a:cs typeface="Inter" pitchFamily="34" charset="-120"/>
              </a:rPr>
              <a:t>Yes</a:t>
            </a:r>
            <a:endParaRPr lang="en-US" sz="900" dirty="0"/>
          </a:p>
        </p:txBody>
      </p:sp>
      <p:sp>
        <p:nvSpPr>
          <p:cNvPr id="46" name="Shape 38"/>
          <p:cNvSpPr/>
          <p:nvPr/>
        </p:nvSpPr>
        <p:spPr>
          <a:xfrm>
            <a:off x="9930384" y="1261872"/>
            <a:ext cx="1755648" cy="566928"/>
          </a:xfrm>
          <a:prstGeom prst="roundRect">
            <a:avLst>
              <a:gd name="adj" fmla="val 12903"/>
            </a:avLst>
          </a:prstGeom>
          <a:solidFill>
            <a:srgbClr val="1D4ED8"/>
          </a:solidFill>
          <a:ln w="15875">
            <a:solidFill>
              <a:srgbClr val="1D4ED8"/>
            </a:solidFill>
            <a:prstDash val="solid"/>
          </a:ln>
        </p:spPr>
        <p:txBody>
          <a:bodyPr/>
          <a:lstStyle/>
          <a:p>
            <a:endParaRPr lang="en-US"/>
          </a:p>
        </p:txBody>
      </p:sp>
      <p:pic>
        <p:nvPicPr>
          <p:cNvPr id="47" name="Image 6" descr="preencoded.png"/>
          <p:cNvPicPr>
            <a:picLocks noChangeAspect="1"/>
          </p:cNvPicPr>
          <p:nvPr/>
        </p:nvPicPr>
        <p:blipFill>
          <a:blip r:embed="rId9"/>
          <a:stretch>
            <a:fillRect/>
          </a:stretch>
        </p:blipFill>
        <p:spPr>
          <a:xfrm>
            <a:off x="10040112" y="1417320"/>
            <a:ext cx="256032" cy="256032"/>
          </a:xfrm>
          <a:prstGeom prst="rect">
            <a:avLst/>
          </a:prstGeom>
        </p:spPr>
      </p:pic>
      <p:sp>
        <p:nvSpPr>
          <p:cNvPr id="48" name="Text 39"/>
          <p:cNvSpPr txBox="1"/>
          <p:nvPr/>
        </p:nvSpPr>
        <p:spPr>
          <a:xfrm>
            <a:off x="10387584" y="1261872"/>
            <a:ext cx="1225296" cy="566928"/>
          </a:xfrm>
          <a:prstGeom prst="rect">
            <a:avLst/>
          </a:prstGeom>
          <a:noFill/>
          <a:ln/>
        </p:spPr>
        <p:txBody>
          <a:bodyPr wrap="square" lIns="0" tIns="0" rIns="0" bIns="0" rtlCol="0" anchor="ctr"/>
          <a:lstStyle/>
          <a:p>
            <a:pPr marL="0" indent="0">
              <a:buNone/>
            </a:pPr>
            <a:r>
              <a:rPr lang="en-US" sz="1050" b="1" dirty="0">
                <a:solidFill>
                  <a:srgbClr val="FFFFFF"/>
                </a:solidFill>
                <a:latin typeface="Inter" pitchFamily="34" charset="0"/>
                <a:ea typeface="Inter" pitchFamily="34" charset="-122"/>
                <a:cs typeface="Inter" pitchFamily="34" charset="-120"/>
              </a:rPr>
              <a:t>Repeat buyer</a:t>
            </a:r>
            <a:endParaRPr lang="en-US" sz="1050" dirty="0"/>
          </a:p>
          <a:p>
            <a:pPr marL="0" indent="0">
              <a:buNone/>
            </a:pPr>
            <a:r>
              <a:rPr lang="en-US" sz="850" dirty="0">
                <a:solidFill>
                  <a:srgbClr val="DCE7FB"/>
                </a:solidFill>
                <a:latin typeface="Inter" pitchFamily="34" charset="0"/>
                <a:ea typeface="Inter" pitchFamily="34" charset="-122"/>
                <a:cs typeface="Inter" pitchFamily="34" charset="-120"/>
              </a:rPr>
              <a:t>Quince Insider early access</a:t>
            </a:r>
            <a:endParaRPr lang="en-US" sz="1050" dirty="0"/>
          </a:p>
        </p:txBody>
      </p:sp>
      <p:sp>
        <p:nvSpPr>
          <p:cNvPr id="49" name="Shape 40"/>
          <p:cNvSpPr/>
          <p:nvPr/>
        </p:nvSpPr>
        <p:spPr>
          <a:xfrm>
            <a:off x="10561320" y="2889504"/>
            <a:ext cx="0" cy="256032"/>
          </a:xfrm>
          <a:prstGeom prst="line">
            <a:avLst/>
          </a:prstGeom>
          <a:noFill/>
          <a:ln w="15875">
            <a:solidFill>
              <a:srgbClr val="0A1F44"/>
            </a:solidFill>
            <a:prstDash val="solid"/>
            <a:tailEnd type="triangle"/>
          </a:ln>
        </p:spPr>
        <p:txBody>
          <a:bodyPr/>
          <a:lstStyle/>
          <a:p>
            <a:endParaRPr lang="en-US"/>
          </a:p>
        </p:txBody>
      </p:sp>
      <p:sp>
        <p:nvSpPr>
          <p:cNvPr id="50" name="Text 41"/>
          <p:cNvSpPr txBox="1"/>
          <p:nvPr/>
        </p:nvSpPr>
        <p:spPr>
          <a:xfrm>
            <a:off x="10625328" y="2898648"/>
            <a:ext cx="365760" cy="182880"/>
          </a:xfrm>
          <a:prstGeom prst="rect">
            <a:avLst/>
          </a:prstGeom>
          <a:noFill/>
          <a:ln/>
        </p:spPr>
        <p:txBody>
          <a:bodyPr wrap="square" lIns="0" tIns="0" rIns="0" bIns="0" rtlCol="0" anchor="t"/>
          <a:lstStyle/>
          <a:p>
            <a:pPr marL="0" indent="0">
              <a:buNone/>
            </a:pPr>
            <a:r>
              <a:rPr lang="en-US" sz="900" b="1" dirty="0">
                <a:solidFill>
                  <a:srgbClr val="DC2626"/>
                </a:solidFill>
                <a:latin typeface="Inter" pitchFamily="34" charset="0"/>
                <a:ea typeface="Inter" pitchFamily="34" charset="-122"/>
                <a:cs typeface="Inter" pitchFamily="34" charset="-120"/>
              </a:rPr>
              <a:t>No</a:t>
            </a:r>
            <a:endParaRPr lang="en-US" sz="900" dirty="0"/>
          </a:p>
        </p:txBody>
      </p:sp>
      <p:sp>
        <p:nvSpPr>
          <p:cNvPr id="51" name="Shape 42"/>
          <p:cNvSpPr/>
          <p:nvPr/>
        </p:nvSpPr>
        <p:spPr>
          <a:xfrm>
            <a:off x="9930384" y="3145536"/>
            <a:ext cx="1755648" cy="566928"/>
          </a:xfrm>
          <a:prstGeom prst="roundRect">
            <a:avLst>
              <a:gd name="adj" fmla="val 12903"/>
            </a:avLst>
          </a:prstGeom>
          <a:solidFill>
            <a:srgbClr val="EFF6FF"/>
          </a:solidFill>
          <a:ln w="15875">
            <a:solidFill>
              <a:srgbClr val="1D4ED8"/>
            </a:solidFill>
            <a:prstDash val="solid"/>
          </a:ln>
        </p:spPr>
        <p:txBody>
          <a:bodyPr/>
          <a:lstStyle/>
          <a:p>
            <a:endParaRPr lang="en-US"/>
          </a:p>
        </p:txBody>
      </p:sp>
      <p:pic>
        <p:nvPicPr>
          <p:cNvPr id="52" name="Image 7" descr="preencoded.png"/>
          <p:cNvPicPr>
            <a:picLocks noChangeAspect="1"/>
          </p:cNvPicPr>
          <p:nvPr/>
        </p:nvPicPr>
        <p:blipFill>
          <a:blip r:embed="rId10"/>
          <a:stretch>
            <a:fillRect/>
          </a:stretch>
        </p:blipFill>
        <p:spPr>
          <a:xfrm>
            <a:off x="10040112" y="3300984"/>
            <a:ext cx="256032" cy="256032"/>
          </a:xfrm>
          <a:prstGeom prst="rect">
            <a:avLst/>
          </a:prstGeom>
        </p:spPr>
      </p:pic>
      <p:sp>
        <p:nvSpPr>
          <p:cNvPr id="53" name="Text 43"/>
          <p:cNvSpPr txBox="1"/>
          <p:nvPr/>
        </p:nvSpPr>
        <p:spPr>
          <a:xfrm>
            <a:off x="10387584" y="3145536"/>
            <a:ext cx="1225296" cy="566928"/>
          </a:xfrm>
          <a:prstGeom prst="rect">
            <a:avLst/>
          </a:prstGeom>
          <a:noFill/>
          <a:ln/>
        </p:spPr>
        <p:txBody>
          <a:bodyPr wrap="square" lIns="0" tIns="0" rIns="0" bIns="0" rtlCol="0" anchor="ctr"/>
          <a:lstStyle/>
          <a:p>
            <a:pPr marL="0" indent="0">
              <a:buNone/>
            </a:pPr>
            <a:r>
              <a:rPr lang="en-US" sz="1050" b="1" dirty="0">
                <a:solidFill>
                  <a:srgbClr val="0A1F44"/>
                </a:solidFill>
                <a:latin typeface="Inter" pitchFamily="34" charset="0"/>
                <a:ea typeface="Inter" pitchFamily="34" charset="-122"/>
                <a:cs typeface="Inter" pitchFamily="34" charset="-120"/>
              </a:rPr>
              <a:t>Day 60</a:t>
            </a:r>
            <a:endParaRPr lang="en-US" sz="1050" dirty="0"/>
          </a:p>
          <a:p>
            <a:pPr marL="0" indent="0">
              <a:buNone/>
            </a:pPr>
            <a:r>
              <a:rPr lang="en-US" sz="850" dirty="0">
                <a:solidFill>
                  <a:srgbClr val="334155"/>
                </a:solidFill>
                <a:latin typeface="Inter" pitchFamily="34" charset="0"/>
                <a:ea typeface="Inter" pitchFamily="34" charset="-122"/>
                <a:cs typeface="Inter" pitchFamily="34" charset="-120"/>
              </a:rPr>
              <a:t>Restock-first access</a:t>
            </a:r>
            <a:endParaRPr lang="en-US" sz="1050" dirty="0"/>
          </a:p>
        </p:txBody>
      </p:sp>
      <p:sp>
        <p:nvSpPr>
          <p:cNvPr id="54" name="Shape 44"/>
          <p:cNvSpPr/>
          <p:nvPr/>
        </p:nvSpPr>
        <p:spPr>
          <a:xfrm>
            <a:off x="2377440" y="3474720"/>
            <a:ext cx="0" cy="1115568"/>
          </a:xfrm>
          <a:prstGeom prst="line">
            <a:avLst/>
          </a:prstGeom>
          <a:noFill/>
          <a:ln w="15875">
            <a:solidFill>
              <a:srgbClr val="0A1F44"/>
            </a:solidFill>
            <a:prstDash val="solid"/>
          </a:ln>
        </p:spPr>
        <p:txBody>
          <a:bodyPr/>
          <a:lstStyle/>
          <a:p>
            <a:endParaRPr lang="en-US"/>
          </a:p>
        </p:txBody>
      </p:sp>
      <p:sp>
        <p:nvSpPr>
          <p:cNvPr id="55" name="Shape 45"/>
          <p:cNvSpPr/>
          <p:nvPr/>
        </p:nvSpPr>
        <p:spPr>
          <a:xfrm>
            <a:off x="2377440" y="4590288"/>
            <a:ext cx="685800" cy="0"/>
          </a:xfrm>
          <a:prstGeom prst="line">
            <a:avLst/>
          </a:prstGeom>
          <a:noFill/>
          <a:ln w="15875">
            <a:solidFill>
              <a:srgbClr val="0A1F44"/>
            </a:solidFill>
            <a:prstDash val="solid"/>
            <a:tailEnd type="triangle"/>
          </a:ln>
        </p:spPr>
        <p:txBody>
          <a:bodyPr/>
          <a:lstStyle/>
          <a:p>
            <a:endParaRPr lang="en-US"/>
          </a:p>
        </p:txBody>
      </p:sp>
      <p:sp>
        <p:nvSpPr>
          <p:cNvPr id="56" name="Text 46"/>
          <p:cNvSpPr txBox="1"/>
          <p:nvPr/>
        </p:nvSpPr>
        <p:spPr>
          <a:xfrm>
            <a:off x="2450592" y="3794760"/>
            <a:ext cx="365760" cy="182880"/>
          </a:xfrm>
          <a:prstGeom prst="rect">
            <a:avLst/>
          </a:prstGeom>
          <a:noFill/>
          <a:ln/>
        </p:spPr>
        <p:txBody>
          <a:bodyPr wrap="square" lIns="0" tIns="0" rIns="0" bIns="0" rtlCol="0" anchor="t"/>
          <a:lstStyle/>
          <a:p>
            <a:pPr marL="0" indent="0">
              <a:buNone/>
            </a:pPr>
            <a:r>
              <a:rPr lang="en-US" sz="900" b="1" dirty="0">
                <a:solidFill>
                  <a:srgbClr val="DC2626"/>
                </a:solidFill>
                <a:latin typeface="Inter" pitchFamily="34" charset="0"/>
                <a:ea typeface="Inter" pitchFamily="34" charset="-122"/>
                <a:cs typeface="Inter" pitchFamily="34" charset="-120"/>
              </a:rPr>
              <a:t>No</a:t>
            </a:r>
            <a:endParaRPr lang="en-US" sz="900" dirty="0"/>
          </a:p>
        </p:txBody>
      </p:sp>
      <p:sp>
        <p:nvSpPr>
          <p:cNvPr id="57" name="Shape 47"/>
          <p:cNvSpPr/>
          <p:nvPr/>
        </p:nvSpPr>
        <p:spPr>
          <a:xfrm>
            <a:off x="3063240" y="4133088"/>
            <a:ext cx="1463040" cy="914400"/>
          </a:xfrm>
          <a:prstGeom prst="diamond">
            <a:avLst/>
          </a:prstGeom>
          <a:solidFill>
            <a:srgbClr val="FFFFFF"/>
          </a:solidFill>
          <a:ln w="15875">
            <a:solidFill>
              <a:srgbClr val="0A1F44"/>
            </a:solidFill>
            <a:prstDash val="solid"/>
          </a:ln>
        </p:spPr>
        <p:txBody>
          <a:bodyPr/>
          <a:lstStyle/>
          <a:p>
            <a:endParaRPr lang="en-US"/>
          </a:p>
        </p:txBody>
      </p:sp>
      <p:sp>
        <p:nvSpPr>
          <p:cNvPr id="58" name="Text 48"/>
          <p:cNvSpPr txBox="1"/>
          <p:nvPr/>
        </p:nvSpPr>
        <p:spPr>
          <a:xfrm>
            <a:off x="3172968" y="4133088"/>
            <a:ext cx="1243584" cy="914400"/>
          </a:xfrm>
          <a:prstGeom prst="rect">
            <a:avLst/>
          </a:prstGeom>
          <a:noFill/>
          <a:ln/>
        </p:spPr>
        <p:txBody>
          <a:bodyPr wrap="square" lIns="0" tIns="0" rIns="0" bIns="0" rtlCol="0" anchor="ctr"/>
          <a:lstStyle/>
          <a:p>
            <a:pPr marL="0" indent="0" algn="ctr">
              <a:buNone/>
            </a:pPr>
            <a:r>
              <a:rPr lang="en-US" sz="900" b="1" dirty="0">
                <a:solidFill>
                  <a:srgbClr val="0A1F44"/>
                </a:solidFill>
                <a:latin typeface="Inter" pitchFamily="34" charset="0"/>
                <a:ea typeface="Inter" pitchFamily="34" charset="-122"/>
                <a:cs typeface="Inter" pitchFamily="34" charset="-120"/>
              </a:rPr>
              <a:t>Reachable by email, SMS or app?</a:t>
            </a:r>
            <a:endParaRPr lang="en-US" sz="900" dirty="0"/>
          </a:p>
        </p:txBody>
      </p:sp>
      <p:sp>
        <p:nvSpPr>
          <p:cNvPr id="59" name="Shape 49"/>
          <p:cNvSpPr/>
          <p:nvPr/>
        </p:nvSpPr>
        <p:spPr>
          <a:xfrm>
            <a:off x="4526280" y="4590288"/>
            <a:ext cx="137160" cy="0"/>
          </a:xfrm>
          <a:prstGeom prst="line">
            <a:avLst/>
          </a:prstGeom>
          <a:noFill/>
          <a:ln w="15875">
            <a:solidFill>
              <a:srgbClr val="0A1F44"/>
            </a:solidFill>
            <a:prstDash val="solid"/>
          </a:ln>
        </p:spPr>
        <p:txBody>
          <a:bodyPr/>
          <a:lstStyle/>
          <a:p>
            <a:endParaRPr lang="en-US"/>
          </a:p>
        </p:txBody>
      </p:sp>
      <p:sp>
        <p:nvSpPr>
          <p:cNvPr id="60" name="Shape 50"/>
          <p:cNvSpPr/>
          <p:nvPr/>
        </p:nvSpPr>
        <p:spPr>
          <a:xfrm>
            <a:off x="4663440" y="4389120"/>
            <a:ext cx="0" cy="685800"/>
          </a:xfrm>
          <a:prstGeom prst="line">
            <a:avLst/>
          </a:prstGeom>
          <a:noFill/>
          <a:ln w="15875">
            <a:solidFill>
              <a:srgbClr val="0A1F44"/>
            </a:solidFill>
            <a:prstDash val="solid"/>
          </a:ln>
        </p:spPr>
        <p:txBody>
          <a:bodyPr/>
          <a:lstStyle/>
          <a:p>
            <a:endParaRPr lang="en-US"/>
          </a:p>
        </p:txBody>
      </p:sp>
      <p:sp>
        <p:nvSpPr>
          <p:cNvPr id="61" name="Shape 51"/>
          <p:cNvSpPr/>
          <p:nvPr/>
        </p:nvSpPr>
        <p:spPr>
          <a:xfrm>
            <a:off x="4663440" y="4389120"/>
            <a:ext cx="164592" cy="0"/>
          </a:xfrm>
          <a:prstGeom prst="line">
            <a:avLst/>
          </a:prstGeom>
          <a:noFill/>
          <a:ln w="15875">
            <a:solidFill>
              <a:srgbClr val="0A1F44"/>
            </a:solidFill>
            <a:prstDash val="solid"/>
            <a:tailEnd type="triangle"/>
          </a:ln>
        </p:spPr>
        <p:txBody>
          <a:bodyPr/>
          <a:lstStyle/>
          <a:p>
            <a:endParaRPr lang="en-US"/>
          </a:p>
        </p:txBody>
      </p:sp>
      <p:sp>
        <p:nvSpPr>
          <p:cNvPr id="62" name="Text 52"/>
          <p:cNvSpPr txBox="1"/>
          <p:nvPr/>
        </p:nvSpPr>
        <p:spPr>
          <a:xfrm>
            <a:off x="4572000" y="4133088"/>
            <a:ext cx="365760" cy="182880"/>
          </a:xfrm>
          <a:prstGeom prst="rect">
            <a:avLst/>
          </a:prstGeom>
          <a:noFill/>
          <a:ln/>
        </p:spPr>
        <p:txBody>
          <a:bodyPr wrap="square" lIns="0" tIns="0" rIns="0" bIns="0" rtlCol="0" anchor="t"/>
          <a:lstStyle/>
          <a:p>
            <a:pPr marL="0" indent="0">
              <a:buNone/>
            </a:pPr>
            <a:r>
              <a:rPr lang="en-US" sz="900" b="1" dirty="0">
                <a:solidFill>
                  <a:srgbClr val="16A34A"/>
                </a:solidFill>
                <a:latin typeface="Inter" pitchFamily="34" charset="0"/>
                <a:ea typeface="Inter" pitchFamily="34" charset="-122"/>
                <a:cs typeface="Inter" pitchFamily="34" charset="-120"/>
              </a:rPr>
              <a:t>Yes</a:t>
            </a:r>
            <a:endParaRPr lang="en-US" sz="900" dirty="0"/>
          </a:p>
        </p:txBody>
      </p:sp>
      <p:sp>
        <p:nvSpPr>
          <p:cNvPr id="63" name="Shape 53"/>
          <p:cNvSpPr/>
          <p:nvPr/>
        </p:nvSpPr>
        <p:spPr>
          <a:xfrm>
            <a:off x="4663440" y="5074920"/>
            <a:ext cx="164592" cy="0"/>
          </a:xfrm>
          <a:prstGeom prst="line">
            <a:avLst/>
          </a:prstGeom>
          <a:noFill/>
          <a:ln w="15875">
            <a:solidFill>
              <a:srgbClr val="0A1F44"/>
            </a:solidFill>
            <a:prstDash val="solid"/>
            <a:tailEnd type="triangle"/>
          </a:ln>
        </p:spPr>
        <p:txBody>
          <a:bodyPr/>
          <a:lstStyle/>
          <a:p>
            <a:endParaRPr lang="en-US"/>
          </a:p>
        </p:txBody>
      </p:sp>
      <p:sp>
        <p:nvSpPr>
          <p:cNvPr id="64" name="Text 54"/>
          <p:cNvSpPr txBox="1"/>
          <p:nvPr/>
        </p:nvSpPr>
        <p:spPr>
          <a:xfrm>
            <a:off x="4572000" y="5120640"/>
            <a:ext cx="365760" cy="182880"/>
          </a:xfrm>
          <a:prstGeom prst="rect">
            <a:avLst/>
          </a:prstGeom>
          <a:noFill/>
          <a:ln/>
        </p:spPr>
        <p:txBody>
          <a:bodyPr wrap="square" lIns="0" tIns="0" rIns="0" bIns="0" rtlCol="0" anchor="t"/>
          <a:lstStyle/>
          <a:p>
            <a:pPr marL="0" indent="0">
              <a:buNone/>
            </a:pPr>
            <a:r>
              <a:rPr lang="en-US" sz="900" b="1" dirty="0">
                <a:solidFill>
                  <a:srgbClr val="DC2626"/>
                </a:solidFill>
                <a:latin typeface="Inter" pitchFamily="34" charset="0"/>
                <a:ea typeface="Inter" pitchFamily="34" charset="-122"/>
                <a:cs typeface="Inter" pitchFamily="34" charset="-120"/>
              </a:rPr>
              <a:t>No</a:t>
            </a:r>
            <a:endParaRPr lang="en-US" sz="900" dirty="0"/>
          </a:p>
        </p:txBody>
      </p:sp>
      <p:sp>
        <p:nvSpPr>
          <p:cNvPr id="65" name="Shape 55"/>
          <p:cNvSpPr/>
          <p:nvPr/>
        </p:nvSpPr>
        <p:spPr>
          <a:xfrm>
            <a:off x="4828032" y="4133088"/>
            <a:ext cx="2670048" cy="512064"/>
          </a:xfrm>
          <a:prstGeom prst="roundRect">
            <a:avLst>
              <a:gd name="adj" fmla="val 14286"/>
            </a:avLst>
          </a:prstGeom>
          <a:solidFill>
            <a:srgbClr val="EFF6FF"/>
          </a:solidFill>
          <a:ln w="15875">
            <a:solidFill>
              <a:srgbClr val="1D4ED8"/>
            </a:solidFill>
            <a:prstDash val="solid"/>
          </a:ln>
        </p:spPr>
        <p:txBody>
          <a:bodyPr/>
          <a:lstStyle/>
          <a:p>
            <a:endParaRPr lang="en-US"/>
          </a:p>
        </p:txBody>
      </p:sp>
      <p:pic>
        <p:nvPicPr>
          <p:cNvPr id="66" name="Image 8" descr="preencoded.png"/>
          <p:cNvPicPr>
            <a:picLocks noChangeAspect="1"/>
          </p:cNvPicPr>
          <p:nvPr/>
        </p:nvPicPr>
        <p:blipFill>
          <a:blip r:embed="rId11"/>
          <a:stretch>
            <a:fillRect/>
          </a:stretch>
        </p:blipFill>
        <p:spPr>
          <a:xfrm>
            <a:off x="4937760" y="4261104"/>
            <a:ext cx="256032" cy="256032"/>
          </a:xfrm>
          <a:prstGeom prst="rect">
            <a:avLst/>
          </a:prstGeom>
        </p:spPr>
      </p:pic>
      <p:sp>
        <p:nvSpPr>
          <p:cNvPr id="67" name="Text 56"/>
          <p:cNvSpPr txBox="1"/>
          <p:nvPr/>
        </p:nvSpPr>
        <p:spPr>
          <a:xfrm>
            <a:off x="5285232" y="4133088"/>
            <a:ext cx="2139696" cy="512064"/>
          </a:xfrm>
          <a:prstGeom prst="rect">
            <a:avLst/>
          </a:prstGeom>
          <a:noFill/>
          <a:ln/>
        </p:spPr>
        <p:txBody>
          <a:bodyPr wrap="square" lIns="0" tIns="0" rIns="0" bIns="0" rtlCol="0" anchor="ctr"/>
          <a:lstStyle/>
          <a:p>
            <a:pPr marL="0" indent="0">
              <a:buNone/>
            </a:pPr>
            <a:r>
              <a:rPr lang="en-US" sz="1050" b="1" dirty="0">
                <a:solidFill>
                  <a:srgbClr val="0A1F44"/>
                </a:solidFill>
                <a:latin typeface="Inter" pitchFamily="34" charset="0"/>
                <a:ea typeface="Inter" pitchFamily="34" charset="-122"/>
                <a:cs typeface="Inter" pitchFamily="34" charset="-120"/>
              </a:rPr>
              <a:t>Saved Cart</a:t>
            </a:r>
            <a:endParaRPr lang="en-US" sz="1050" dirty="0"/>
          </a:p>
          <a:p>
            <a:pPr marL="0" indent="0">
              <a:buNone/>
            </a:pPr>
            <a:r>
              <a:rPr lang="en-US" sz="850" dirty="0">
                <a:solidFill>
                  <a:srgbClr val="334155"/>
                </a:solidFill>
                <a:latin typeface="Inter" pitchFamily="34" charset="0"/>
                <a:ea typeface="Inter" pitchFamily="34" charset="-122"/>
                <a:cs typeface="Inter" pitchFamily="34" charset="-120"/>
              </a:rPr>
              <a:t>Reminder at 1h and again at 24h; never a discount</a:t>
            </a:r>
            <a:endParaRPr lang="en-US" sz="1050" dirty="0"/>
          </a:p>
        </p:txBody>
      </p:sp>
      <p:sp>
        <p:nvSpPr>
          <p:cNvPr id="68" name="Shape 57"/>
          <p:cNvSpPr/>
          <p:nvPr/>
        </p:nvSpPr>
        <p:spPr>
          <a:xfrm>
            <a:off x="4828032" y="4828032"/>
            <a:ext cx="2670048" cy="512064"/>
          </a:xfrm>
          <a:prstGeom prst="roundRect">
            <a:avLst>
              <a:gd name="adj" fmla="val 14286"/>
            </a:avLst>
          </a:prstGeom>
          <a:solidFill>
            <a:srgbClr val="F1F5F9"/>
          </a:solidFill>
          <a:ln w="15875">
            <a:solidFill>
              <a:srgbClr val="94A3B8"/>
            </a:solidFill>
            <a:prstDash val="solid"/>
          </a:ln>
        </p:spPr>
        <p:txBody>
          <a:bodyPr/>
          <a:lstStyle/>
          <a:p>
            <a:endParaRPr lang="en-US"/>
          </a:p>
        </p:txBody>
      </p:sp>
      <p:pic>
        <p:nvPicPr>
          <p:cNvPr id="69" name="Image 9" descr="preencoded.png"/>
          <p:cNvPicPr>
            <a:picLocks noChangeAspect="1"/>
          </p:cNvPicPr>
          <p:nvPr/>
        </p:nvPicPr>
        <p:blipFill>
          <a:blip r:embed="rId12"/>
          <a:stretch>
            <a:fillRect/>
          </a:stretch>
        </p:blipFill>
        <p:spPr>
          <a:xfrm>
            <a:off x="4937760" y="4956048"/>
            <a:ext cx="256032" cy="256032"/>
          </a:xfrm>
          <a:prstGeom prst="rect">
            <a:avLst/>
          </a:prstGeom>
        </p:spPr>
      </p:pic>
      <p:sp>
        <p:nvSpPr>
          <p:cNvPr id="70" name="Text 58"/>
          <p:cNvSpPr txBox="1"/>
          <p:nvPr/>
        </p:nvSpPr>
        <p:spPr>
          <a:xfrm>
            <a:off x="5285232" y="4828032"/>
            <a:ext cx="2139696" cy="512064"/>
          </a:xfrm>
          <a:prstGeom prst="rect">
            <a:avLst/>
          </a:prstGeom>
          <a:noFill/>
          <a:ln/>
        </p:spPr>
        <p:txBody>
          <a:bodyPr wrap="square" lIns="0" tIns="0" rIns="0" bIns="0" rtlCol="0" anchor="ctr"/>
          <a:lstStyle/>
          <a:p>
            <a:pPr marL="0" indent="0">
              <a:buNone/>
            </a:pPr>
            <a:r>
              <a:rPr lang="en-US" sz="1050" b="1" dirty="0">
                <a:solidFill>
                  <a:srgbClr val="0A1F44"/>
                </a:solidFill>
                <a:latin typeface="Inter" pitchFamily="34" charset="0"/>
                <a:ea typeface="Inter" pitchFamily="34" charset="-122"/>
                <a:cs typeface="Inter" pitchFamily="34" charset="-120"/>
              </a:rPr>
              <a:t>Paid retargeting, days 1–7</a:t>
            </a:r>
            <a:endParaRPr lang="en-US" sz="1050" dirty="0"/>
          </a:p>
          <a:p>
            <a:pPr marL="0" indent="0">
              <a:buNone/>
            </a:pPr>
            <a:r>
              <a:rPr lang="en-US" sz="850" dirty="0">
                <a:solidFill>
                  <a:srgbClr val="334155"/>
                </a:solidFill>
                <a:latin typeface="Inter" pitchFamily="34" charset="0"/>
                <a:ea typeface="Inter" pitchFamily="34" charset="-122"/>
                <a:cs typeface="Inter" pitchFamily="34" charset="-120"/>
              </a:rPr>
              <a:t>Capped; the one job we leave to retargeting</a:t>
            </a:r>
            <a:endParaRPr lang="en-US" sz="1050" dirty="0"/>
          </a:p>
        </p:txBody>
      </p:sp>
      <p:sp>
        <p:nvSpPr>
          <p:cNvPr id="71" name="Shape 59"/>
          <p:cNvSpPr/>
          <p:nvPr/>
        </p:nvSpPr>
        <p:spPr>
          <a:xfrm>
            <a:off x="6949440" y="3840480"/>
            <a:ext cx="0" cy="292608"/>
          </a:xfrm>
          <a:prstGeom prst="line">
            <a:avLst/>
          </a:prstGeom>
          <a:noFill/>
          <a:ln w="15875">
            <a:solidFill>
              <a:srgbClr val="1D4ED8"/>
            </a:solidFill>
            <a:prstDash val="dash"/>
          </a:ln>
        </p:spPr>
        <p:txBody>
          <a:bodyPr/>
          <a:lstStyle/>
          <a:p>
            <a:endParaRPr lang="en-US"/>
          </a:p>
        </p:txBody>
      </p:sp>
      <p:sp>
        <p:nvSpPr>
          <p:cNvPr id="72" name="Shape 60"/>
          <p:cNvSpPr/>
          <p:nvPr/>
        </p:nvSpPr>
        <p:spPr>
          <a:xfrm>
            <a:off x="3108960" y="3840480"/>
            <a:ext cx="3840480" cy="0"/>
          </a:xfrm>
          <a:prstGeom prst="line">
            <a:avLst/>
          </a:prstGeom>
          <a:noFill/>
          <a:ln w="15875">
            <a:solidFill>
              <a:srgbClr val="1D4ED8"/>
            </a:solidFill>
            <a:prstDash val="dash"/>
          </a:ln>
        </p:spPr>
        <p:txBody>
          <a:bodyPr/>
          <a:lstStyle/>
          <a:p>
            <a:endParaRPr lang="en-US"/>
          </a:p>
        </p:txBody>
      </p:sp>
      <p:sp>
        <p:nvSpPr>
          <p:cNvPr id="73" name="Shape 61"/>
          <p:cNvSpPr/>
          <p:nvPr/>
        </p:nvSpPr>
        <p:spPr>
          <a:xfrm>
            <a:off x="3108960" y="3118104"/>
            <a:ext cx="0" cy="731520"/>
          </a:xfrm>
          <a:prstGeom prst="line">
            <a:avLst/>
          </a:prstGeom>
          <a:noFill/>
          <a:ln w="15875">
            <a:solidFill>
              <a:srgbClr val="1D4ED8"/>
            </a:solidFill>
            <a:prstDash val="dash"/>
          </a:ln>
        </p:spPr>
        <p:txBody>
          <a:bodyPr/>
          <a:lstStyle/>
          <a:p>
            <a:endParaRPr lang="en-US" dirty="0"/>
          </a:p>
        </p:txBody>
      </p:sp>
      <p:sp>
        <p:nvSpPr>
          <p:cNvPr id="75" name="Text 63"/>
          <p:cNvSpPr txBox="1"/>
          <p:nvPr/>
        </p:nvSpPr>
        <p:spPr>
          <a:xfrm>
            <a:off x="4206240" y="3621024"/>
            <a:ext cx="2377440" cy="201168"/>
          </a:xfrm>
          <a:prstGeom prst="rect">
            <a:avLst/>
          </a:prstGeom>
          <a:noFill/>
          <a:ln/>
        </p:spPr>
        <p:txBody>
          <a:bodyPr wrap="square" lIns="0" tIns="0" rIns="0" bIns="0" rtlCol="0" anchor="t"/>
          <a:lstStyle/>
          <a:p>
            <a:pPr marL="0" indent="0">
              <a:buNone/>
            </a:pPr>
            <a:r>
              <a:rPr lang="en-US" sz="850" b="1" i="1" dirty="0">
                <a:solidFill>
                  <a:srgbClr val="1D4ED8"/>
                </a:solidFill>
                <a:latin typeface="Inter" pitchFamily="34" charset="0"/>
                <a:ea typeface="Inter" pitchFamily="34" charset="-122"/>
                <a:cs typeface="Inter" pitchFamily="34" charset="-120"/>
              </a:rPr>
              <a:t>orders later → joins the top path</a:t>
            </a:r>
            <a:endParaRPr lang="en-US" sz="850" dirty="0"/>
          </a:p>
        </p:txBody>
      </p:sp>
      <p:sp>
        <p:nvSpPr>
          <p:cNvPr id="76" name="Shape 64"/>
          <p:cNvSpPr/>
          <p:nvPr/>
        </p:nvSpPr>
        <p:spPr>
          <a:xfrm>
            <a:off x="7498080" y="5084064"/>
            <a:ext cx="228600" cy="0"/>
          </a:xfrm>
          <a:prstGeom prst="line">
            <a:avLst/>
          </a:prstGeom>
          <a:noFill/>
          <a:ln w="15875">
            <a:solidFill>
              <a:srgbClr val="94A3B8"/>
            </a:solidFill>
            <a:prstDash val="solid"/>
            <a:tailEnd type="triangle"/>
          </a:ln>
        </p:spPr>
        <p:txBody>
          <a:bodyPr/>
          <a:lstStyle/>
          <a:p>
            <a:endParaRPr lang="en-US"/>
          </a:p>
        </p:txBody>
      </p:sp>
      <p:sp>
        <p:nvSpPr>
          <p:cNvPr id="77" name="Text 65"/>
          <p:cNvSpPr txBox="1"/>
          <p:nvPr/>
        </p:nvSpPr>
        <p:spPr>
          <a:xfrm>
            <a:off x="7772400" y="4974336"/>
            <a:ext cx="1280160" cy="219456"/>
          </a:xfrm>
          <a:prstGeom prst="rect">
            <a:avLst/>
          </a:prstGeom>
          <a:noFill/>
          <a:ln/>
        </p:spPr>
        <p:txBody>
          <a:bodyPr wrap="square" lIns="0" tIns="0" rIns="0" bIns="0" rtlCol="0" anchor="ctr"/>
          <a:lstStyle/>
          <a:p>
            <a:pPr marL="0" indent="0">
              <a:buNone/>
            </a:pPr>
            <a:r>
              <a:rPr lang="en-US" sz="900" b="1" dirty="0">
                <a:solidFill>
                  <a:srgbClr val="64748B"/>
                </a:solidFill>
                <a:latin typeface="Inter" pitchFamily="34" charset="0"/>
                <a:ea typeface="Inter" pitchFamily="34" charset="-122"/>
                <a:cs typeface="Inter" pitchFamily="34" charset="-120"/>
              </a:rPr>
              <a:t>After day 7: stop</a:t>
            </a:r>
            <a:endParaRPr lang="en-US" sz="900" dirty="0"/>
          </a:p>
        </p:txBody>
      </p:sp>
      <p:sp>
        <p:nvSpPr>
          <p:cNvPr id="78" name="Text 66"/>
          <p:cNvSpPr txBox="1"/>
          <p:nvPr/>
        </p:nvSpPr>
        <p:spPr>
          <a:xfrm>
            <a:off x="9235440" y="4069080"/>
            <a:ext cx="1828800" cy="182880"/>
          </a:xfrm>
          <a:prstGeom prst="rect">
            <a:avLst/>
          </a:prstGeom>
          <a:noFill/>
          <a:ln/>
        </p:spPr>
        <p:txBody>
          <a:bodyPr wrap="square" lIns="0" tIns="0" rIns="0" bIns="0" rtlCol="0" anchor="t"/>
          <a:lstStyle/>
          <a:p>
            <a:pPr marL="0" indent="0">
              <a:buNone/>
            </a:pPr>
            <a:r>
              <a:rPr lang="en-US" sz="850" b="1" dirty="0">
                <a:solidFill>
                  <a:srgbClr val="1D4ED8"/>
                </a:solidFill>
                <a:latin typeface="Inter" pitchFamily="34" charset="0"/>
                <a:ea typeface="Inter" pitchFamily="34" charset="-122"/>
                <a:cs typeface="Inter" pitchFamily="34" charset="-120"/>
              </a:rPr>
              <a:t>LEGEND</a:t>
            </a:r>
            <a:endParaRPr lang="en-US" sz="850" dirty="0"/>
          </a:p>
        </p:txBody>
      </p:sp>
      <p:sp>
        <p:nvSpPr>
          <p:cNvPr id="79" name="Shape 67"/>
          <p:cNvSpPr/>
          <p:nvPr/>
        </p:nvSpPr>
        <p:spPr>
          <a:xfrm>
            <a:off x="9235440" y="4297680"/>
            <a:ext cx="237744" cy="164592"/>
          </a:xfrm>
          <a:prstGeom prst="diamond">
            <a:avLst/>
          </a:prstGeom>
          <a:solidFill>
            <a:srgbClr val="FFFFFF"/>
          </a:solidFill>
          <a:ln w="12700">
            <a:solidFill>
              <a:srgbClr val="0A1F44"/>
            </a:solidFill>
            <a:prstDash val="solid"/>
          </a:ln>
        </p:spPr>
        <p:txBody>
          <a:bodyPr/>
          <a:lstStyle/>
          <a:p>
            <a:endParaRPr lang="en-US"/>
          </a:p>
        </p:txBody>
      </p:sp>
      <p:sp>
        <p:nvSpPr>
          <p:cNvPr id="80" name="Text 68"/>
          <p:cNvSpPr txBox="1"/>
          <p:nvPr/>
        </p:nvSpPr>
        <p:spPr>
          <a:xfrm>
            <a:off x="9555480" y="4279392"/>
            <a:ext cx="2103120" cy="201168"/>
          </a:xfrm>
          <a:prstGeom prst="rect">
            <a:avLst/>
          </a:prstGeom>
          <a:noFill/>
          <a:ln/>
        </p:spPr>
        <p:txBody>
          <a:bodyPr wrap="square" lIns="0" tIns="0" rIns="0" bIns="0" rtlCol="0" anchor="ctr"/>
          <a:lstStyle/>
          <a:p>
            <a:pPr marL="0" indent="0">
              <a:buNone/>
            </a:pPr>
            <a:r>
              <a:rPr lang="en-US" sz="850" dirty="0">
                <a:solidFill>
                  <a:srgbClr val="0F172A"/>
                </a:solidFill>
                <a:latin typeface="Inter" pitchFamily="34" charset="0"/>
                <a:ea typeface="Inter" pitchFamily="34" charset="-122"/>
                <a:cs typeface="Inter" pitchFamily="34" charset="-120"/>
              </a:rPr>
              <a:t>Saved CJA segment test</a:t>
            </a:r>
            <a:endParaRPr lang="en-US" sz="850" dirty="0"/>
          </a:p>
        </p:txBody>
      </p:sp>
      <p:sp>
        <p:nvSpPr>
          <p:cNvPr id="81" name="Shape 69"/>
          <p:cNvSpPr/>
          <p:nvPr/>
        </p:nvSpPr>
        <p:spPr>
          <a:xfrm>
            <a:off x="9235440" y="4544568"/>
            <a:ext cx="237744" cy="164592"/>
          </a:xfrm>
          <a:prstGeom prst="roundRect">
            <a:avLst>
              <a:gd name="adj" fmla="val 22222"/>
            </a:avLst>
          </a:prstGeom>
          <a:solidFill>
            <a:srgbClr val="0A1F44"/>
          </a:solidFill>
          <a:ln w="6350">
            <a:solidFill>
              <a:srgbClr val="0A1F44"/>
            </a:solidFill>
            <a:prstDash val="solid"/>
          </a:ln>
        </p:spPr>
        <p:txBody>
          <a:bodyPr/>
          <a:lstStyle/>
          <a:p>
            <a:endParaRPr lang="en-US"/>
          </a:p>
        </p:txBody>
      </p:sp>
      <p:sp>
        <p:nvSpPr>
          <p:cNvPr id="82" name="Text 70"/>
          <p:cNvSpPr txBox="1"/>
          <p:nvPr/>
        </p:nvSpPr>
        <p:spPr>
          <a:xfrm>
            <a:off x="9555480" y="4526280"/>
            <a:ext cx="2103120" cy="201168"/>
          </a:xfrm>
          <a:prstGeom prst="rect">
            <a:avLst/>
          </a:prstGeom>
          <a:noFill/>
          <a:ln/>
        </p:spPr>
        <p:txBody>
          <a:bodyPr wrap="square" lIns="0" tIns="0" rIns="0" bIns="0" rtlCol="0" anchor="ctr"/>
          <a:lstStyle/>
          <a:p>
            <a:pPr marL="0" indent="0">
              <a:buNone/>
            </a:pPr>
            <a:r>
              <a:rPr lang="en-US" sz="850" dirty="0">
                <a:solidFill>
                  <a:srgbClr val="0F172A"/>
                </a:solidFill>
                <a:latin typeface="Inter" pitchFamily="34" charset="0"/>
                <a:ea typeface="Inter" pitchFamily="34" charset="-122"/>
                <a:cs typeface="Inter" pitchFamily="34" charset="-120"/>
              </a:rPr>
              <a:t>Start and outcome</a:t>
            </a:r>
            <a:endParaRPr lang="en-US" sz="850" dirty="0"/>
          </a:p>
        </p:txBody>
      </p:sp>
      <p:sp>
        <p:nvSpPr>
          <p:cNvPr id="83" name="Shape 71"/>
          <p:cNvSpPr/>
          <p:nvPr/>
        </p:nvSpPr>
        <p:spPr>
          <a:xfrm>
            <a:off x="9235440" y="4791456"/>
            <a:ext cx="237744" cy="164592"/>
          </a:xfrm>
          <a:prstGeom prst="roundRect">
            <a:avLst>
              <a:gd name="adj" fmla="val 22222"/>
            </a:avLst>
          </a:prstGeom>
          <a:solidFill>
            <a:srgbClr val="FFFFFF"/>
          </a:solidFill>
          <a:ln w="15875">
            <a:solidFill>
              <a:srgbClr val="1D4ED8"/>
            </a:solidFill>
            <a:prstDash val="solid"/>
          </a:ln>
        </p:spPr>
        <p:txBody>
          <a:bodyPr/>
          <a:lstStyle/>
          <a:p>
            <a:endParaRPr lang="en-US"/>
          </a:p>
        </p:txBody>
      </p:sp>
      <p:sp>
        <p:nvSpPr>
          <p:cNvPr id="84" name="Text 72"/>
          <p:cNvSpPr txBox="1"/>
          <p:nvPr/>
        </p:nvSpPr>
        <p:spPr>
          <a:xfrm>
            <a:off x="9555480" y="4773168"/>
            <a:ext cx="2103120" cy="201168"/>
          </a:xfrm>
          <a:prstGeom prst="rect">
            <a:avLst/>
          </a:prstGeom>
          <a:noFill/>
          <a:ln/>
        </p:spPr>
        <p:txBody>
          <a:bodyPr wrap="square" lIns="0" tIns="0" rIns="0" bIns="0" rtlCol="0" anchor="ctr"/>
          <a:lstStyle/>
          <a:p>
            <a:pPr marL="0" indent="0">
              <a:buNone/>
            </a:pPr>
            <a:r>
              <a:rPr lang="en-US" sz="850" dirty="0">
                <a:solidFill>
                  <a:srgbClr val="0F172A"/>
                </a:solidFill>
                <a:latin typeface="Inter" pitchFamily="34" charset="0"/>
                <a:ea typeface="Inter" pitchFamily="34" charset="-122"/>
                <a:cs typeface="Inter" pitchFamily="34" charset="-120"/>
              </a:rPr>
              <a:t>Owned channel: app, email, SMS, box</a:t>
            </a:r>
            <a:endParaRPr lang="en-US" sz="850" dirty="0"/>
          </a:p>
        </p:txBody>
      </p:sp>
      <p:sp>
        <p:nvSpPr>
          <p:cNvPr id="85" name="Shape 73"/>
          <p:cNvSpPr/>
          <p:nvPr/>
        </p:nvSpPr>
        <p:spPr>
          <a:xfrm>
            <a:off x="9235440" y="5038344"/>
            <a:ext cx="237744" cy="164592"/>
          </a:xfrm>
          <a:prstGeom prst="roundRect">
            <a:avLst>
              <a:gd name="adj" fmla="val 22222"/>
            </a:avLst>
          </a:prstGeom>
          <a:solidFill>
            <a:srgbClr val="FFFFFF"/>
          </a:solidFill>
          <a:ln w="15875">
            <a:solidFill>
              <a:srgbClr val="94A3B8"/>
            </a:solidFill>
            <a:prstDash val="solid"/>
          </a:ln>
        </p:spPr>
        <p:txBody>
          <a:bodyPr/>
          <a:lstStyle/>
          <a:p>
            <a:endParaRPr lang="en-US"/>
          </a:p>
        </p:txBody>
      </p:sp>
      <p:sp>
        <p:nvSpPr>
          <p:cNvPr id="86" name="Text 74"/>
          <p:cNvSpPr txBox="1"/>
          <p:nvPr/>
        </p:nvSpPr>
        <p:spPr>
          <a:xfrm>
            <a:off x="9555480" y="5020056"/>
            <a:ext cx="2103120" cy="201168"/>
          </a:xfrm>
          <a:prstGeom prst="rect">
            <a:avLst/>
          </a:prstGeom>
          <a:noFill/>
          <a:ln/>
        </p:spPr>
        <p:txBody>
          <a:bodyPr wrap="square" lIns="0" tIns="0" rIns="0" bIns="0" rtlCol="0" anchor="ctr"/>
          <a:lstStyle/>
          <a:p>
            <a:pPr marL="0" indent="0">
              <a:buNone/>
            </a:pPr>
            <a:r>
              <a:rPr lang="en-US" sz="850" dirty="0">
                <a:solidFill>
                  <a:srgbClr val="0F172A"/>
                </a:solidFill>
                <a:latin typeface="Inter" pitchFamily="34" charset="0"/>
                <a:ea typeface="Inter" pitchFamily="34" charset="-122"/>
                <a:cs typeface="Inter" pitchFamily="34" charset="-120"/>
              </a:rPr>
              <a:t>Paid media</a:t>
            </a:r>
            <a:endParaRPr lang="en-US" sz="850" dirty="0"/>
          </a:p>
        </p:txBody>
      </p:sp>
      <p:sp>
        <p:nvSpPr>
          <p:cNvPr id="87" name="Shape 75"/>
          <p:cNvSpPr/>
          <p:nvPr/>
        </p:nvSpPr>
        <p:spPr>
          <a:xfrm>
            <a:off x="9235440" y="5285232"/>
            <a:ext cx="237744" cy="164592"/>
          </a:xfrm>
          <a:prstGeom prst="roundRect">
            <a:avLst>
              <a:gd name="adj" fmla="val 22222"/>
            </a:avLst>
          </a:prstGeom>
          <a:solidFill>
            <a:srgbClr val="FFFFFF"/>
          </a:solidFill>
          <a:ln w="15875">
            <a:solidFill>
              <a:srgbClr val="DC2626"/>
            </a:solidFill>
            <a:prstDash val="solid"/>
          </a:ln>
        </p:spPr>
        <p:txBody>
          <a:bodyPr/>
          <a:lstStyle/>
          <a:p>
            <a:endParaRPr lang="en-US"/>
          </a:p>
        </p:txBody>
      </p:sp>
      <p:sp>
        <p:nvSpPr>
          <p:cNvPr id="88" name="Text 76"/>
          <p:cNvSpPr txBox="1"/>
          <p:nvPr/>
        </p:nvSpPr>
        <p:spPr>
          <a:xfrm>
            <a:off x="9555480" y="5266944"/>
            <a:ext cx="2103120" cy="201168"/>
          </a:xfrm>
          <a:prstGeom prst="rect">
            <a:avLst/>
          </a:prstGeom>
          <a:noFill/>
          <a:ln/>
        </p:spPr>
        <p:txBody>
          <a:bodyPr wrap="square" lIns="0" tIns="0" rIns="0" bIns="0" rtlCol="0" anchor="ctr"/>
          <a:lstStyle/>
          <a:p>
            <a:pPr marL="0" indent="0">
              <a:buNone/>
            </a:pPr>
            <a:r>
              <a:rPr lang="en-US" sz="850" dirty="0">
                <a:solidFill>
                  <a:srgbClr val="0F172A"/>
                </a:solidFill>
                <a:latin typeface="Inter" pitchFamily="34" charset="0"/>
                <a:ea typeface="Inter" pitchFamily="34" charset="-122"/>
                <a:cs typeface="Inter" pitchFamily="34" charset="-120"/>
              </a:rPr>
              <a:t>Removed from paid media</a:t>
            </a:r>
            <a:endParaRPr lang="en-US" sz="850" dirty="0"/>
          </a:p>
        </p:txBody>
      </p:sp>
      <p:sp>
        <p:nvSpPr>
          <p:cNvPr id="89" name="Shape 77"/>
          <p:cNvSpPr/>
          <p:nvPr/>
        </p:nvSpPr>
        <p:spPr>
          <a:xfrm>
            <a:off x="502920" y="5715000"/>
            <a:ext cx="11183112" cy="512064"/>
          </a:xfrm>
          <a:prstGeom prst="roundRect">
            <a:avLst>
              <a:gd name="adj" fmla="val 17857"/>
            </a:avLst>
          </a:prstGeom>
          <a:solidFill>
            <a:srgbClr val="EFF6FF"/>
          </a:solidFill>
          <a:ln w="6350">
            <a:solidFill>
              <a:srgbClr val="EFF6FF"/>
            </a:solidFill>
            <a:prstDash val="solid"/>
          </a:ln>
        </p:spPr>
        <p:txBody>
          <a:bodyPr/>
          <a:lstStyle/>
          <a:p>
            <a:endParaRPr lang="en-US"/>
          </a:p>
        </p:txBody>
      </p:sp>
      <p:sp>
        <p:nvSpPr>
          <p:cNvPr id="90" name="Shape 78"/>
          <p:cNvSpPr/>
          <p:nvPr/>
        </p:nvSpPr>
        <p:spPr>
          <a:xfrm>
            <a:off x="640080" y="5806440"/>
            <a:ext cx="329184" cy="329184"/>
          </a:xfrm>
          <a:prstGeom prst="ellipse">
            <a:avLst/>
          </a:prstGeom>
          <a:solidFill>
            <a:srgbClr val="1D4ED8"/>
          </a:solidFill>
          <a:ln w="6350">
            <a:solidFill>
              <a:srgbClr val="1D4ED8"/>
            </a:solidFill>
            <a:prstDash val="solid"/>
          </a:ln>
        </p:spPr>
        <p:txBody>
          <a:bodyPr/>
          <a:lstStyle/>
          <a:p>
            <a:endParaRPr lang="en-US"/>
          </a:p>
        </p:txBody>
      </p:sp>
      <p:pic>
        <p:nvPicPr>
          <p:cNvPr id="91" name="Image 10" descr="preencoded.png"/>
          <p:cNvPicPr>
            <a:picLocks noChangeAspect="1"/>
          </p:cNvPicPr>
          <p:nvPr/>
        </p:nvPicPr>
        <p:blipFill>
          <a:blip r:embed="rId13"/>
          <a:stretch>
            <a:fillRect/>
          </a:stretch>
        </p:blipFill>
        <p:spPr>
          <a:xfrm>
            <a:off x="712500" y="5878860"/>
            <a:ext cx="184343" cy="184343"/>
          </a:xfrm>
          <a:prstGeom prst="rect">
            <a:avLst/>
          </a:prstGeom>
        </p:spPr>
      </p:pic>
      <p:sp>
        <p:nvSpPr>
          <p:cNvPr id="92" name="Text 79"/>
          <p:cNvSpPr txBox="1"/>
          <p:nvPr/>
        </p:nvSpPr>
        <p:spPr>
          <a:xfrm>
            <a:off x="1097280" y="5715000"/>
            <a:ext cx="10424160" cy="512064"/>
          </a:xfrm>
          <a:prstGeom prst="rect">
            <a:avLst/>
          </a:prstGeom>
          <a:noFill/>
          <a:ln/>
        </p:spPr>
        <p:txBody>
          <a:bodyPr wrap="square" lIns="0" tIns="0" rIns="0" bIns="0" rtlCol="0" anchor="ctr"/>
          <a:lstStyle/>
          <a:p>
            <a:pPr marL="0" indent="0">
              <a:buNone/>
            </a:pPr>
            <a:r>
              <a:rPr lang="en-US" sz="1300" b="1" dirty="0">
                <a:solidFill>
                  <a:srgbClr val="0A1F44"/>
                </a:solidFill>
                <a:latin typeface="Inter" pitchFamily="34" charset="0"/>
                <a:ea typeface="Inter" pitchFamily="34" charset="-122"/>
                <a:cs typeface="Inter" pitchFamily="34" charset="-120"/>
              </a:rPr>
              <a:t>Each diamond is a saved CJA segment, so the same rule sends the message and measures it</a:t>
            </a:r>
            <a:endParaRPr lang="en-US" sz="1300" dirty="0"/>
          </a:p>
        </p:txBody>
      </p:sp>
      <p:cxnSp>
        <p:nvCxnSpPr>
          <p:cNvPr id="95" name="Straight Arrow Connector 94">
            <a:extLst>
              <a:ext uri="{FF2B5EF4-FFF2-40B4-BE49-F238E27FC236}">
                <a16:creationId xmlns:a16="http://schemas.microsoft.com/office/drawing/2014/main" id="{9F12595C-1DDA-D174-AB78-09D244E65FD9}"/>
              </a:ext>
            </a:extLst>
          </p:cNvPr>
          <p:cNvCxnSpPr>
            <a:cxnSpLocks/>
          </p:cNvCxnSpPr>
          <p:nvPr/>
        </p:nvCxnSpPr>
        <p:spPr>
          <a:xfrm flipH="1">
            <a:off x="2991545" y="3114929"/>
            <a:ext cx="111065" cy="0"/>
          </a:xfrm>
          <a:prstGeom prst="straightConnector1">
            <a:avLst/>
          </a:prstGeom>
          <a:ln w="19050">
            <a:solidFill>
              <a:srgbClr val="1C4ED8"/>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9326880" cy="841248"/>
          </a:xfrm>
          <a:prstGeom prst="rect">
            <a:avLst/>
          </a:prstGeom>
          <a:noFill/>
          <a:ln/>
        </p:spPr>
        <p:txBody>
          <a:bodyPr wrap="square" lIns="0" tIns="0" rIns="0" bIns="0" rtlCol="0" anchor="ctr"/>
          <a:lstStyle/>
          <a:p>
            <a:pPr marL="0" indent="0">
              <a:buNone/>
            </a:pPr>
            <a:r>
              <a:rPr lang="en-US" sz="2400" b="1" dirty="0">
                <a:solidFill>
                  <a:srgbClr val="0A1F44"/>
                </a:solidFill>
                <a:latin typeface="Inter" pitchFamily="34" charset="0"/>
                <a:ea typeface="Inter" pitchFamily="34" charset="-122"/>
                <a:cs typeface="Inter" pitchFamily="34" charset="-120"/>
              </a:rPr>
              <a:t>We stop paying for ads to customers we already have</a:t>
            </a:r>
            <a:endParaRPr lang="en-US" sz="2400" dirty="0"/>
          </a:p>
        </p:txBody>
      </p:sp>
      <p:pic>
        <p:nvPicPr>
          <p:cNvPr id="3" name="Image 0" descr="/tmp/claude-0/-home-user-Quince/7efe80ae-a049-50c2-9886-98bf7ca3a04a/scratchpad/assets/quince.png"/>
          <p:cNvPicPr>
            <a:picLocks noChangeAspect="1"/>
          </p:cNvPicPr>
          <p:nvPr/>
        </p:nvPicPr>
        <p:blipFill>
          <a:blip r:embed="rId3"/>
          <a:stretch>
            <a:fillRect/>
          </a:stretch>
        </p:blipFill>
        <p:spPr>
          <a:xfrm>
            <a:off x="10236708" y="615544"/>
            <a:ext cx="777240" cy="231951"/>
          </a:xfrm>
          <a:prstGeom prst="rect">
            <a:avLst/>
          </a:prstGeom>
        </p:spPr>
      </p:pic>
      <p:sp>
        <p:nvSpPr>
          <p:cNvPr id="4" name="Shape 1"/>
          <p:cNvSpPr/>
          <p:nvPr/>
        </p:nvSpPr>
        <p:spPr>
          <a:xfrm>
            <a:off x="11155680" y="603504"/>
            <a:ext cx="530352" cy="256032"/>
          </a:xfrm>
          <a:prstGeom prst="roundRect">
            <a:avLst>
              <a:gd name="adj" fmla="val 50000"/>
            </a:avLst>
          </a:prstGeom>
          <a:solidFill>
            <a:srgbClr val="0A1F44"/>
          </a:solidFill>
          <a:ln w="6350">
            <a:solidFill>
              <a:srgbClr val="0A1F44"/>
            </a:solidFill>
            <a:prstDash val="solid"/>
          </a:ln>
        </p:spPr>
        <p:txBody>
          <a:bodyPr/>
          <a:lstStyle/>
          <a:p>
            <a:endParaRPr lang="en-US"/>
          </a:p>
        </p:txBody>
      </p:sp>
      <p:sp>
        <p:nvSpPr>
          <p:cNvPr id="5" name="Text 2"/>
          <p:cNvSpPr txBox="1"/>
          <p:nvPr/>
        </p:nvSpPr>
        <p:spPr>
          <a:xfrm>
            <a:off x="11155680" y="603504"/>
            <a:ext cx="53035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G27</a:t>
            </a:r>
            <a:endParaRPr lang="en-US" sz="950" dirty="0"/>
          </a:p>
        </p:txBody>
      </p:sp>
      <p:sp>
        <p:nvSpPr>
          <p:cNvPr id="6" name="Shape 3"/>
          <p:cNvSpPr/>
          <p:nvPr/>
        </p:nvSpPr>
        <p:spPr>
          <a:xfrm>
            <a:off x="502920" y="6400800"/>
            <a:ext cx="11183112" cy="0"/>
          </a:xfrm>
          <a:prstGeom prst="line">
            <a:avLst/>
          </a:prstGeom>
          <a:noFill/>
          <a:ln w="9525">
            <a:solidFill>
              <a:srgbClr val="E2E8F0"/>
            </a:solidFill>
            <a:prstDash val="solid"/>
          </a:ln>
        </p:spPr>
        <p:txBody>
          <a:bodyPr/>
          <a:lstStyle/>
          <a:p>
            <a:endParaRPr lang="en-US"/>
          </a:p>
        </p:txBody>
      </p:sp>
      <p:sp>
        <p:nvSpPr>
          <p:cNvPr id="7" name="Text 4"/>
          <p:cNvSpPr txBox="1"/>
          <p:nvPr/>
        </p:nvSpPr>
        <p:spPr>
          <a:xfrm>
            <a:off x="502920" y="6464808"/>
            <a:ext cx="9418320" cy="256032"/>
          </a:xfrm>
          <a:prstGeom prst="rect">
            <a:avLst/>
          </a:prstGeom>
          <a:noFill/>
          <a:ln/>
        </p:spPr>
        <p:txBody>
          <a:bodyPr wrap="square" lIns="0" tIns="0" rIns="0" bIns="0" rtlCol="0" anchor="ctr"/>
          <a:lstStyle/>
          <a:p>
            <a:pPr marL="0" indent="0">
              <a:buNone/>
            </a:pPr>
            <a:r>
              <a:rPr lang="en-US" sz="800" dirty="0">
                <a:solidFill>
                  <a:srgbClr val="64748B"/>
                </a:solidFill>
                <a:latin typeface="Inter" pitchFamily="34" charset="0"/>
                <a:ea typeface="Inter" pitchFamily="34" charset="-122"/>
                <a:cs typeface="Inter" pitchFamily="34" charset="-120"/>
              </a:rPr>
              <a:t>Source: Adobe CJA, Quince Case Data View (125,521 events, 1 Jan–30 Apr 2026), segments A3b and A1; case Exhibits D, I, L; our design.</a:t>
            </a:r>
            <a:endParaRPr lang="en-US" sz="800" dirty="0"/>
          </a:p>
        </p:txBody>
      </p:sp>
      <p:sp>
        <p:nvSpPr>
          <p:cNvPr id="8" name="Text 5"/>
          <p:cNvSpPr txBox="1"/>
          <p:nvPr/>
        </p:nvSpPr>
        <p:spPr>
          <a:xfrm>
            <a:off x="9966960" y="6464808"/>
            <a:ext cx="1719072" cy="256032"/>
          </a:xfrm>
          <a:prstGeom prst="rect">
            <a:avLst/>
          </a:prstGeom>
          <a:noFill/>
          <a:ln/>
        </p:spPr>
        <p:txBody>
          <a:bodyPr wrap="square" lIns="0" tIns="0" rIns="0" bIns="0" rtlCol="0" anchor="ctr"/>
          <a:lstStyle/>
          <a:p>
            <a:pPr marL="0" indent="0" algn="r">
              <a:buNone/>
            </a:pPr>
            <a:r>
              <a:rPr lang="en-US" sz="800" dirty="0">
                <a:solidFill>
                  <a:srgbClr val="64748B"/>
                </a:solidFill>
                <a:latin typeface="Inter" pitchFamily="34" charset="0"/>
                <a:ea typeface="Inter" pitchFamily="34" charset="-122"/>
                <a:cs typeface="Inter" pitchFamily="34" charset="-120"/>
              </a:rPr>
              <a:t>Team G27  ·  18</a:t>
            </a:r>
            <a:endParaRPr lang="en-US" sz="800" dirty="0"/>
          </a:p>
        </p:txBody>
      </p:sp>
      <p:sp>
        <p:nvSpPr>
          <p:cNvPr id="9" name="Text 6"/>
          <p:cNvSpPr txBox="1"/>
          <p:nvPr/>
        </p:nvSpPr>
        <p:spPr>
          <a:xfrm>
            <a:off x="502920" y="1261872"/>
            <a:ext cx="2011680" cy="201168"/>
          </a:xfrm>
          <a:prstGeom prst="rect">
            <a:avLst/>
          </a:prstGeom>
          <a:noFill/>
          <a:ln/>
        </p:spPr>
        <p:txBody>
          <a:bodyPr wrap="square" lIns="0" tIns="0" rIns="0" bIns="0" rtlCol="0" anchor="t"/>
          <a:lstStyle/>
          <a:p>
            <a:pPr marL="0" indent="0">
              <a:buNone/>
            </a:pPr>
            <a:r>
              <a:rPr lang="en-US" sz="850" b="1" dirty="0">
                <a:solidFill>
                  <a:srgbClr val="1D4ED8"/>
                </a:solidFill>
                <a:latin typeface="Inter" pitchFamily="34" charset="0"/>
                <a:ea typeface="Inter" pitchFamily="34" charset="-122"/>
                <a:cs typeface="Inter" pitchFamily="34" charset="-120"/>
              </a:rPr>
              <a:t>DATA IN</a:t>
            </a:r>
            <a:endParaRPr lang="en-US" sz="850" dirty="0"/>
          </a:p>
        </p:txBody>
      </p:sp>
      <p:sp>
        <p:nvSpPr>
          <p:cNvPr id="10" name="Text 7"/>
          <p:cNvSpPr txBox="1"/>
          <p:nvPr/>
        </p:nvSpPr>
        <p:spPr>
          <a:xfrm>
            <a:off x="2743200" y="1261872"/>
            <a:ext cx="2011680" cy="201168"/>
          </a:xfrm>
          <a:prstGeom prst="rect">
            <a:avLst/>
          </a:prstGeom>
          <a:noFill/>
          <a:ln/>
        </p:spPr>
        <p:txBody>
          <a:bodyPr wrap="square" lIns="0" tIns="0" rIns="0" bIns="0" rtlCol="0" anchor="t"/>
          <a:lstStyle/>
          <a:p>
            <a:pPr marL="0" indent="0">
              <a:buNone/>
            </a:pPr>
            <a:r>
              <a:rPr lang="en-US" sz="850" b="1" dirty="0">
                <a:solidFill>
                  <a:srgbClr val="1D4ED8"/>
                </a:solidFill>
                <a:latin typeface="Inter" pitchFamily="34" charset="0"/>
                <a:ea typeface="Inter" pitchFamily="34" charset="-122"/>
                <a:cs typeface="Inter" pitchFamily="34" charset="-120"/>
              </a:rPr>
              <a:t>IDENTITY</a:t>
            </a:r>
            <a:endParaRPr lang="en-US" sz="850" dirty="0"/>
          </a:p>
        </p:txBody>
      </p:sp>
      <p:sp>
        <p:nvSpPr>
          <p:cNvPr id="11" name="Text 8"/>
          <p:cNvSpPr txBox="1"/>
          <p:nvPr/>
        </p:nvSpPr>
        <p:spPr>
          <a:xfrm>
            <a:off x="4983480" y="1261872"/>
            <a:ext cx="2011680" cy="201168"/>
          </a:xfrm>
          <a:prstGeom prst="rect">
            <a:avLst/>
          </a:prstGeom>
          <a:noFill/>
          <a:ln/>
        </p:spPr>
        <p:txBody>
          <a:bodyPr wrap="square" lIns="0" tIns="0" rIns="0" bIns="0" rtlCol="0" anchor="t"/>
          <a:lstStyle/>
          <a:p>
            <a:pPr marL="0" indent="0">
              <a:buNone/>
            </a:pPr>
            <a:r>
              <a:rPr lang="en-US" sz="850" b="1" dirty="0">
                <a:solidFill>
                  <a:srgbClr val="1D4ED8"/>
                </a:solidFill>
                <a:latin typeface="Inter" pitchFamily="34" charset="0"/>
                <a:ea typeface="Inter" pitchFamily="34" charset="-122"/>
                <a:cs typeface="Inter" pitchFamily="34" charset="-120"/>
              </a:rPr>
              <a:t>AUDIENCES IN CJA</a:t>
            </a:r>
            <a:endParaRPr lang="en-US" sz="850" dirty="0"/>
          </a:p>
        </p:txBody>
      </p:sp>
      <p:sp>
        <p:nvSpPr>
          <p:cNvPr id="12" name="Text 9"/>
          <p:cNvSpPr txBox="1"/>
          <p:nvPr/>
        </p:nvSpPr>
        <p:spPr>
          <a:xfrm>
            <a:off x="7315200" y="1261872"/>
            <a:ext cx="2011680" cy="201168"/>
          </a:xfrm>
          <a:prstGeom prst="rect">
            <a:avLst/>
          </a:prstGeom>
          <a:noFill/>
          <a:ln/>
        </p:spPr>
        <p:txBody>
          <a:bodyPr wrap="square" lIns="0" tIns="0" rIns="0" bIns="0" rtlCol="0" anchor="t"/>
          <a:lstStyle/>
          <a:p>
            <a:pPr marL="0" indent="0">
              <a:buNone/>
            </a:pPr>
            <a:r>
              <a:rPr lang="en-US" sz="850" b="1" dirty="0">
                <a:solidFill>
                  <a:srgbClr val="1D4ED8"/>
                </a:solidFill>
                <a:latin typeface="Inter" pitchFamily="34" charset="0"/>
                <a:ea typeface="Inter" pitchFamily="34" charset="-122"/>
                <a:cs typeface="Inter" pitchFamily="34" charset="-120"/>
              </a:rPr>
              <a:t>ACTIVATION, DAILY</a:t>
            </a:r>
            <a:endParaRPr lang="en-US" sz="850" dirty="0"/>
          </a:p>
        </p:txBody>
      </p:sp>
      <p:sp>
        <p:nvSpPr>
          <p:cNvPr id="13" name="Text 10"/>
          <p:cNvSpPr txBox="1"/>
          <p:nvPr/>
        </p:nvSpPr>
        <p:spPr>
          <a:xfrm>
            <a:off x="9646920" y="1261872"/>
            <a:ext cx="2011680" cy="201168"/>
          </a:xfrm>
          <a:prstGeom prst="rect">
            <a:avLst/>
          </a:prstGeom>
          <a:noFill/>
          <a:ln/>
        </p:spPr>
        <p:txBody>
          <a:bodyPr wrap="square" lIns="0" tIns="0" rIns="0" bIns="0" rtlCol="0" anchor="t"/>
          <a:lstStyle/>
          <a:p>
            <a:pPr marL="0" indent="0">
              <a:buNone/>
            </a:pPr>
            <a:r>
              <a:rPr lang="en-US" sz="850" b="1" dirty="0">
                <a:solidFill>
                  <a:srgbClr val="1D4ED8"/>
                </a:solidFill>
                <a:latin typeface="Inter" pitchFamily="34" charset="0"/>
                <a:ea typeface="Inter" pitchFamily="34" charset="-122"/>
                <a:cs typeface="Inter" pitchFamily="34" charset="-120"/>
              </a:rPr>
              <a:t>OUTCOME</a:t>
            </a:r>
            <a:endParaRPr lang="en-US" sz="850" dirty="0"/>
          </a:p>
        </p:txBody>
      </p:sp>
      <p:sp>
        <p:nvSpPr>
          <p:cNvPr id="14" name="Shape 11"/>
          <p:cNvSpPr/>
          <p:nvPr/>
        </p:nvSpPr>
        <p:spPr>
          <a:xfrm>
            <a:off x="502920" y="1554480"/>
            <a:ext cx="2039112" cy="2743200"/>
          </a:xfrm>
          <a:prstGeom prst="roundRect">
            <a:avLst>
              <a:gd name="adj" fmla="val 5381"/>
            </a:avLst>
          </a:prstGeom>
          <a:solidFill>
            <a:srgbClr val="F8FAFC"/>
          </a:solidFill>
          <a:ln w="9525">
            <a:solidFill>
              <a:srgbClr val="E2E8F0"/>
            </a:solidFill>
            <a:prstDash val="solid"/>
          </a:ln>
        </p:spPr>
        <p:txBody>
          <a:bodyPr/>
          <a:lstStyle/>
          <a:p>
            <a:endParaRPr lang="en-US"/>
          </a:p>
        </p:txBody>
      </p:sp>
      <p:sp>
        <p:nvSpPr>
          <p:cNvPr id="15" name="Shape 12"/>
          <p:cNvSpPr/>
          <p:nvPr/>
        </p:nvSpPr>
        <p:spPr>
          <a:xfrm>
            <a:off x="640080" y="1737360"/>
            <a:ext cx="384048" cy="384048"/>
          </a:xfrm>
          <a:prstGeom prst="ellipse">
            <a:avLst/>
          </a:prstGeom>
          <a:solidFill>
            <a:srgbClr val="EFF6FF"/>
          </a:solidFill>
          <a:ln w="6350">
            <a:solidFill>
              <a:srgbClr val="EFF6FF"/>
            </a:solidFill>
            <a:prstDash val="solid"/>
          </a:ln>
        </p:spPr>
        <p:txBody>
          <a:bodyPr/>
          <a:lstStyle/>
          <a:p>
            <a:endParaRPr lang="en-US"/>
          </a:p>
        </p:txBody>
      </p:sp>
      <p:pic>
        <p:nvPicPr>
          <p:cNvPr id="16" name="Image 1" descr="preencoded.png"/>
          <p:cNvPicPr>
            <a:picLocks noChangeAspect="1"/>
          </p:cNvPicPr>
          <p:nvPr/>
        </p:nvPicPr>
        <p:blipFill>
          <a:blip r:embed="rId4"/>
          <a:stretch>
            <a:fillRect/>
          </a:stretch>
        </p:blipFill>
        <p:spPr>
          <a:xfrm>
            <a:off x="724571" y="1821851"/>
            <a:ext cx="215067" cy="215067"/>
          </a:xfrm>
          <a:prstGeom prst="rect">
            <a:avLst/>
          </a:prstGeom>
        </p:spPr>
      </p:pic>
      <p:sp>
        <p:nvSpPr>
          <p:cNvPr id="17" name="Text 13"/>
          <p:cNvSpPr txBox="1"/>
          <p:nvPr/>
        </p:nvSpPr>
        <p:spPr>
          <a:xfrm>
            <a:off x="640080" y="2286000"/>
            <a:ext cx="1764792" cy="1463040"/>
          </a:xfrm>
          <a:prstGeom prst="rect">
            <a:avLst/>
          </a:prstGeom>
          <a:noFill/>
          <a:ln/>
        </p:spPr>
        <p:txBody>
          <a:bodyPr wrap="square" lIns="0" tIns="0" rIns="0" bIns="0" rtlCol="0" anchor="t"/>
          <a:lstStyle/>
          <a:p>
            <a:pPr marL="0" indent="0">
              <a:buNone/>
            </a:pPr>
            <a:r>
              <a:rPr lang="en-US" sz="1100" b="1" dirty="0">
                <a:solidFill>
                  <a:srgbClr val="0A1F44"/>
                </a:solidFill>
                <a:latin typeface="Inter" pitchFamily="34" charset="0"/>
                <a:ea typeface="Inter" pitchFamily="34" charset="-122"/>
                <a:cs typeface="Inter" pitchFamily="34" charset="-120"/>
              </a:rPr>
              <a:t>Every touchpoint</a:t>
            </a:r>
            <a:endParaRPr lang="en-US" sz="1100" dirty="0"/>
          </a:p>
          <a:p>
            <a:pPr marL="0" indent="0">
              <a:buNone/>
            </a:pPr>
            <a:r>
              <a:rPr lang="en-US" sz="900" dirty="0">
                <a:solidFill>
                  <a:srgbClr val="334155"/>
                </a:solidFill>
                <a:latin typeface="Inter" pitchFamily="34" charset="0"/>
                <a:ea typeface="Inter" pitchFamily="34" charset="-122"/>
                <a:cs typeface="Inter" pitchFamily="34" charset="-120"/>
              </a:rPr>
              <a:t>Web and app events, email, SMS and paid-media touches: 125,521 events in the CJA view</a:t>
            </a:r>
            <a:endParaRPr lang="en-US" sz="1100" dirty="0"/>
          </a:p>
        </p:txBody>
      </p:sp>
      <p:sp>
        <p:nvSpPr>
          <p:cNvPr id="18" name="Shape 14"/>
          <p:cNvSpPr/>
          <p:nvPr/>
        </p:nvSpPr>
        <p:spPr>
          <a:xfrm>
            <a:off x="2743200" y="1554480"/>
            <a:ext cx="2039112" cy="2743200"/>
          </a:xfrm>
          <a:prstGeom prst="roundRect">
            <a:avLst>
              <a:gd name="adj" fmla="val 5381"/>
            </a:avLst>
          </a:prstGeom>
          <a:solidFill>
            <a:srgbClr val="0A1F44"/>
          </a:solidFill>
          <a:ln w="6350">
            <a:solidFill>
              <a:srgbClr val="0A1F44"/>
            </a:solidFill>
            <a:prstDash val="solid"/>
          </a:ln>
        </p:spPr>
        <p:txBody>
          <a:bodyPr/>
          <a:lstStyle/>
          <a:p>
            <a:endParaRPr lang="en-US"/>
          </a:p>
        </p:txBody>
      </p:sp>
      <p:sp>
        <p:nvSpPr>
          <p:cNvPr id="19" name="Shape 15"/>
          <p:cNvSpPr/>
          <p:nvPr/>
        </p:nvSpPr>
        <p:spPr>
          <a:xfrm>
            <a:off x="2880360" y="1737360"/>
            <a:ext cx="384048" cy="384048"/>
          </a:xfrm>
          <a:prstGeom prst="ellipse">
            <a:avLst/>
          </a:prstGeom>
          <a:solidFill>
            <a:srgbClr val="1D4ED8"/>
          </a:solidFill>
          <a:ln w="6350">
            <a:solidFill>
              <a:srgbClr val="1D4ED8"/>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2964851" y="1821851"/>
            <a:ext cx="215067" cy="215067"/>
          </a:xfrm>
          <a:prstGeom prst="rect">
            <a:avLst/>
          </a:prstGeom>
        </p:spPr>
      </p:pic>
      <p:sp>
        <p:nvSpPr>
          <p:cNvPr id="21" name="Text 16"/>
          <p:cNvSpPr txBox="1"/>
          <p:nvPr/>
        </p:nvSpPr>
        <p:spPr>
          <a:xfrm>
            <a:off x="2880360" y="2286000"/>
            <a:ext cx="1764792" cy="1463040"/>
          </a:xfrm>
          <a:prstGeom prst="rect">
            <a:avLst/>
          </a:prstGeom>
          <a:noFill/>
          <a:ln/>
        </p:spPr>
        <p:txBody>
          <a:bodyPr wrap="square" lIns="0" tIns="0" rIns="0" bIns="0" rtlCol="0" anchor="t"/>
          <a:lstStyle/>
          <a:p>
            <a:pPr marL="0" indent="0">
              <a:buNone/>
            </a:pPr>
            <a:r>
              <a:rPr lang="en-US" sz="1100" b="1" dirty="0">
                <a:solidFill>
                  <a:srgbClr val="FFFFFF"/>
                </a:solidFill>
                <a:latin typeface="Inter" pitchFamily="34" charset="0"/>
                <a:ea typeface="Inter" pitchFamily="34" charset="-122"/>
                <a:cs typeface="Inter" pitchFamily="34" charset="-120"/>
              </a:rPr>
              <a:t>One stitched person ID</a:t>
            </a:r>
            <a:endParaRPr lang="en-US" sz="1100" dirty="0"/>
          </a:p>
          <a:p>
            <a:pPr marL="0" indent="0">
              <a:buNone/>
            </a:pPr>
            <a:r>
              <a:rPr lang="en-US" sz="900" dirty="0">
                <a:solidFill>
                  <a:srgbClr val="C7D7F5"/>
                </a:solidFill>
                <a:latin typeface="Inter" pitchFamily="34" charset="0"/>
                <a:ea typeface="Inter" pitchFamily="34" charset="-122"/>
                <a:cs typeface="Inter" pitchFamily="34" charset="-120"/>
              </a:rPr>
              <a:t>The same customer across web, app, email and SMS; ready today (Exhibit L)</a:t>
            </a:r>
            <a:endParaRPr lang="en-US" sz="1100" dirty="0"/>
          </a:p>
        </p:txBody>
      </p:sp>
      <p:sp>
        <p:nvSpPr>
          <p:cNvPr id="22" name="Shape 17"/>
          <p:cNvSpPr/>
          <p:nvPr/>
        </p:nvSpPr>
        <p:spPr>
          <a:xfrm>
            <a:off x="4983480" y="1554480"/>
            <a:ext cx="2039112" cy="859536"/>
          </a:xfrm>
          <a:prstGeom prst="roundRect">
            <a:avLst>
              <a:gd name="adj" fmla="val 8511"/>
            </a:avLst>
          </a:prstGeom>
          <a:solidFill>
            <a:srgbClr val="FEF2F2"/>
          </a:solidFill>
          <a:ln w="12700">
            <a:solidFill>
              <a:srgbClr val="DC2626"/>
            </a:solidFill>
            <a:prstDash val="solid"/>
          </a:ln>
        </p:spPr>
        <p:txBody>
          <a:bodyPr/>
          <a:lstStyle/>
          <a:p>
            <a:endParaRPr lang="en-US"/>
          </a:p>
        </p:txBody>
      </p:sp>
      <p:sp>
        <p:nvSpPr>
          <p:cNvPr id="23" name="Text 18"/>
          <p:cNvSpPr txBox="1"/>
          <p:nvPr/>
        </p:nvSpPr>
        <p:spPr>
          <a:xfrm>
            <a:off x="5120640" y="1554480"/>
            <a:ext cx="1810512" cy="859536"/>
          </a:xfrm>
          <a:prstGeom prst="rect">
            <a:avLst/>
          </a:prstGeom>
          <a:noFill/>
          <a:ln/>
        </p:spPr>
        <p:txBody>
          <a:bodyPr wrap="square" lIns="0" tIns="0" rIns="0" bIns="0" rtlCol="0" anchor="ctr"/>
          <a:lstStyle/>
          <a:p>
            <a:pPr marL="0" indent="0">
              <a:buNone/>
            </a:pPr>
            <a:r>
              <a:rPr lang="en-US" sz="1050" b="1" dirty="0">
                <a:solidFill>
                  <a:srgbClr val="991B1B"/>
                </a:solidFill>
                <a:latin typeface="Inter" pitchFamily="34" charset="0"/>
                <a:ea typeface="Inter" pitchFamily="34" charset="-122"/>
                <a:cs typeface="Inter" pitchFamily="34" charset="-120"/>
              </a:rPr>
              <a:t>Recent buyers</a:t>
            </a:r>
            <a:endParaRPr lang="en-US" sz="1050" dirty="0"/>
          </a:p>
          <a:p>
            <a:pPr marL="0" indent="0">
              <a:buNone/>
            </a:pPr>
            <a:r>
              <a:rPr lang="en-US" sz="900" dirty="0">
                <a:solidFill>
                  <a:srgbClr val="334155"/>
                </a:solidFill>
                <a:latin typeface="Inter" pitchFamily="34" charset="0"/>
                <a:ea typeface="Inter" pitchFamily="34" charset="-122"/>
                <a:cs typeface="Inter" pitchFamily="34" charset="-120"/>
              </a:rPr>
              <a:t>ordered in the last 30 days</a:t>
            </a:r>
            <a:endParaRPr lang="en-US" sz="1050" dirty="0"/>
          </a:p>
        </p:txBody>
      </p:sp>
      <p:sp>
        <p:nvSpPr>
          <p:cNvPr id="24" name="Shape 19"/>
          <p:cNvSpPr/>
          <p:nvPr/>
        </p:nvSpPr>
        <p:spPr>
          <a:xfrm>
            <a:off x="4983480" y="2496312"/>
            <a:ext cx="2039112" cy="859536"/>
          </a:xfrm>
          <a:prstGeom prst="roundRect">
            <a:avLst>
              <a:gd name="adj" fmla="val 8511"/>
            </a:avLst>
          </a:prstGeom>
          <a:solidFill>
            <a:srgbClr val="FEF2F2"/>
          </a:solidFill>
          <a:ln w="12700">
            <a:solidFill>
              <a:srgbClr val="DC2626"/>
            </a:solidFill>
            <a:prstDash val="solid"/>
          </a:ln>
        </p:spPr>
        <p:txBody>
          <a:bodyPr/>
          <a:lstStyle/>
          <a:p>
            <a:endParaRPr lang="en-US"/>
          </a:p>
        </p:txBody>
      </p:sp>
      <p:sp>
        <p:nvSpPr>
          <p:cNvPr id="25" name="Text 20"/>
          <p:cNvSpPr txBox="1"/>
          <p:nvPr/>
        </p:nvSpPr>
        <p:spPr>
          <a:xfrm>
            <a:off x="5120640" y="2496312"/>
            <a:ext cx="1810512" cy="859536"/>
          </a:xfrm>
          <a:prstGeom prst="rect">
            <a:avLst/>
          </a:prstGeom>
          <a:noFill/>
          <a:ln/>
        </p:spPr>
        <p:txBody>
          <a:bodyPr wrap="square" lIns="0" tIns="0" rIns="0" bIns="0" rtlCol="0" anchor="ctr"/>
          <a:lstStyle/>
          <a:p>
            <a:pPr marL="0" indent="0">
              <a:buNone/>
            </a:pPr>
            <a:r>
              <a:rPr lang="en-US" sz="1050" b="1" dirty="0">
                <a:solidFill>
                  <a:srgbClr val="991B1B"/>
                </a:solidFill>
                <a:latin typeface="Inter" pitchFamily="34" charset="0"/>
                <a:ea typeface="Inter" pitchFamily="34" charset="-122"/>
                <a:cs typeface="Inter" pitchFamily="34" charset="-120"/>
              </a:rPr>
              <a:t>Owned-reachable</a:t>
            </a:r>
            <a:endParaRPr lang="en-US" sz="1050" dirty="0"/>
          </a:p>
          <a:p>
            <a:pPr marL="0" indent="0">
              <a:buNone/>
            </a:pPr>
            <a:r>
              <a:rPr lang="en-US" sz="900" dirty="0">
                <a:solidFill>
                  <a:srgbClr val="334155"/>
                </a:solidFill>
                <a:latin typeface="Inter" pitchFamily="34" charset="0"/>
                <a:ea typeface="Inter" pitchFamily="34" charset="-122"/>
                <a:cs typeface="Inter" pitchFamily="34" charset="-120"/>
              </a:rPr>
              <a:t>has email, SMS or the app</a:t>
            </a:r>
            <a:endParaRPr lang="en-US" sz="1050" dirty="0"/>
          </a:p>
        </p:txBody>
      </p:sp>
      <p:sp>
        <p:nvSpPr>
          <p:cNvPr id="26" name="Shape 21"/>
          <p:cNvSpPr/>
          <p:nvPr/>
        </p:nvSpPr>
        <p:spPr>
          <a:xfrm>
            <a:off x="4983480" y="3438144"/>
            <a:ext cx="2039112" cy="859536"/>
          </a:xfrm>
          <a:prstGeom prst="roundRect">
            <a:avLst>
              <a:gd name="adj" fmla="val 8511"/>
            </a:avLst>
          </a:prstGeom>
          <a:solidFill>
            <a:srgbClr val="FEF2F2"/>
          </a:solidFill>
          <a:ln w="12700">
            <a:solidFill>
              <a:srgbClr val="DC2626"/>
            </a:solidFill>
            <a:prstDash val="solid"/>
          </a:ln>
        </p:spPr>
        <p:txBody>
          <a:bodyPr/>
          <a:lstStyle/>
          <a:p>
            <a:endParaRPr lang="en-US"/>
          </a:p>
        </p:txBody>
      </p:sp>
      <p:sp>
        <p:nvSpPr>
          <p:cNvPr id="27" name="Text 22"/>
          <p:cNvSpPr txBox="1"/>
          <p:nvPr/>
        </p:nvSpPr>
        <p:spPr>
          <a:xfrm>
            <a:off x="5120640" y="3438144"/>
            <a:ext cx="1810512" cy="859536"/>
          </a:xfrm>
          <a:prstGeom prst="rect">
            <a:avLst/>
          </a:prstGeom>
          <a:noFill/>
          <a:ln/>
        </p:spPr>
        <p:txBody>
          <a:bodyPr wrap="square" lIns="0" tIns="0" rIns="0" bIns="0" rtlCol="0" anchor="ctr"/>
          <a:lstStyle/>
          <a:p>
            <a:pPr marL="0" indent="0">
              <a:buNone/>
            </a:pPr>
            <a:r>
              <a:rPr lang="en-US" sz="1050" b="1" dirty="0">
                <a:solidFill>
                  <a:srgbClr val="991B1B"/>
                </a:solidFill>
                <a:latin typeface="Inter" pitchFamily="34" charset="0"/>
                <a:ea typeface="Inter" pitchFamily="34" charset="-122"/>
                <a:cs typeface="Inter" pitchFamily="34" charset="-120"/>
              </a:rPr>
              <a:t>Single-page bouncers</a:t>
            </a:r>
            <a:endParaRPr lang="en-US" sz="1050" dirty="0"/>
          </a:p>
          <a:p>
            <a:pPr marL="0" indent="0">
              <a:buNone/>
            </a:pPr>
            <a:r>
              <a:rPr lang="en-US" sz="900" dirty="0">
                <a:solidFill>
                  <a:srgbClr val="334155"/>
                </a:solidFill>
                <a:latin typeface="Inter" pitchFamily="34" charset="0"/>
                <a:ea typeface="Inter" pitchFamily="34" charset="-122"/>
                <a:cs typeface="Inter" pitchFamily="34" charset="-120"/>
              </a:rPr>
              <a:t>lowest intent: left after one page</a:t>
            </a:r>
            <a:endParaRPr lang="en-US" sz="1050" dirty="0"/>
          </a:p>
        </p:txBody>
      </p:sp>
      <p:sp>
        <p:nvSpPr>
          <p:cNvPr id="28" name="Shape 23"/>
          <p:cNvSpPr/>
          <p:nvPr/>
        </p:nvSpPr>
        <p:spPr>
          <a:xfrm>
            <a:off x="7315200" y="1554480"/>
            <a:ext cx="2039112" cy="859536"/>
          </a:xfrm>
          <a:prstGeom prst="roundRect">
            <a:avLst>
              <a:gd name="adj" fmla="val 8511"/>
            </a:avLst>
          </a:prstGeom>
          <a:solidFill>
            <a:srgbClr val="FEF2F2"/>
          </a:solidFill>
          <a:ln w="12700">
            <a:solidFill>
              <a:srgbClr val="DC2626"/>
            </a:solidFill>
            <a:prstDash val="solid"/>
          </a:ln>
        </p:spPr>
        <p:txBody>
          <a:bodyPr/>
          <a:lstStyle/>
          <a:p>
            <a:endParaRPr lang="en-US"/>
          </a:p>
        </p:txBody>
      </p:sp>
      <p:sp>
        <p:nvSpPr>
          <p:cNvPr id="29" name="Text 24"/>
          <p:cNvSpPr txBox="1"/>
          <p:nvPr/>
        </p:nvSpPr>
        <p:spPr>
          <a:xfrm>
            <a:off x="7452360" y="1554480"/>
            <a:ext cx="1810512" cy="859536"/>
          </a:xfrm>
          <a:prstGeom prst="rect">
            <a:avLst/>
          </a:prstGeom>
          <a:noFill/>
          <a:ln/>
        </p:spPr>
        <p:txBody>
          <a:bodyPr wrap="square" lIns="0" tIns="0" rIns="0" bIns="0" rtlCol="0" anchor="ctr"/>
          <a:lstStyle/>
          <a:p>
            <a:pPr marL="0" indent="0">
              <a:buNone/>
            </a:pPr>
            <a:r>
              <a:rPr lang="en-US" sz="1050" b="1" dirty="0">
                <a:solidFill>
                  <a:srgbClr val="991B1B"/>
                </a:solidFill>
                <a:latin typeface="Inter" pitchFamily="34" charset="0"/>
                <a:ea typeface="Inter" pitchFamily="34" charset="-122"/>
                <a:cs typeface="Inter" pitchFamily="34" charset="-120"/>
              </a:rPr>
              <a:t>Suppression lists</a:t>
            </a:r>
            <a:endParaRPr lang="en-US" sz="1050" dirty="0"/>
          </a:p>
          <a:p>
            <a:pPr marL="0" indent="0">
              <a:buNone/>
            </a:pPr>
            <a:r>
              <a:rPr lang="en-US" sz="900" dirty="0">
                <a:solidFill>
                  <a:srgbClr val="334155"/>
                </a:solidFill>
                <a:latin typeface="Inter" pitchFamily="34" charset="0"/>
                <a:ea typeface="Inter" pitchFamily="34" charset="-122"/>
                <a:cs typeface="Inter" pitchFamily="34" charset="-120"/>
              </a:rPr>
              <a:t>to Meta, Google and TikTok daily, via Real-Time CDP</a:t>
            </a:r>
            <a:endParaRPr lang="en-US" sz="1050" dirty="0"/>
          </a:p>
        </p:txBody>
      </p:sp>
      <p:sp>
        <p:nvSpPr>
          <p:cNvPr id="30" name="Shape 25"/>
          <p:cNvSpPr/>
          <p:nvPr/>
        </p:nvSpPr>
        <p:spPr>
          <a:xfrm>
            <a:off x="7315200" y="2496312"/>
            <a:ext cx="2039112" cy="859536"/>
          </a:xfrm>
          <a:prstGeom prst="roundRect">
            <a:avLst>
              <a:gd name="adj" fmla="val 8511"/>
            </a:avLst>
          </a:prstGeom>
          <a:solidFill>
            <a:srgbClr val="F1F5F9"/>
          </a:solidFill>
          <a:ln w="12700">
            <a:solidFill>
              <a:srgbClr val="94A3B8"/>
            </a:solidFill>
            <a:prstDash val="solid"/>
          </a:ln>
        </p:spPr>
        <p:txBody>
          <a:bodyPr/>
          <a:lstStyle/>
          <a:p>
            <a:endParaRPr lang="en-US"/>
          </a:p>
        </p:txBody>
      </p:sp>
      <p:sp>
        <p:nvSpPr>
          <p:cNvPr id="31" name="Text 26"/>
          <p:cNvSpPr txBox="1"/>
          <p:nvPr/>
        </p:nvSpPr>
        <p:spPr>
          <a:xfrm>
            <a:off x="7452360" y="2496312"/>
            <a:ext cx="1810512" cy="859536"/>
          </a:xfrm>
          <a:prstGeom prst="rect">
            <a:avLst/>
          </a:prstGeom>
          <a:noFill/>
          <a:ln/>
        </p:spPr>
        <p:txBody>
          <a:bodyPr wrap="square" lIns="0" tIns="0" rIns="0" bIns="0" rtlCol="0" anchor="ctr"/>
          <a:lstStyle/>
          <a:p>
            <a:pPr marL="0" indent="0">
              <a:buNone/>
            </a:pPr>
            <a:r>
              <a:rPr lang="en-US" sz="1050" b="1" dirty="0">
                <a:solidFill>
                  <a:srgbClr val="0A1F44"/>
                </a:solidFill>
                <a:latin typeface="Inter" pitchFamily="34" charset="0"/>
                <a:ea typeface="Inter" pitchFamily="34" charset="-122"/>
                <a:cs typeface="Inter" pitchFamily="34" charset="-120"/>
              </a:rPr>
              <a:t>Frequency cap</a:t>
            </a:r>
            <a:endParaRPr lang="en-US" sz="1050" dirty="0"/>
          </a:p>
          <a:p>
            <a:pPr marL="0" indent="0">
              <a:buNone/>
            </a:pPr>
            <a:r>
              <a:rPr lang="en-US" sz="900" dirty="0">
                <a:solidFill>
                  <a:srgbClr val="334155"/>
                </a:solidFill>
                <a:latin typeface="Inter" pitchFamily="34" charset="0"/>
                <a:ea typeface="Inter" pitchFamily="34" charset="-122"/>
                <a:cs typeface="Inter" pitchFamily="34" charset="-120"/>
              </a:rPr>
              <a:t>per person, across platforms</a:t>
            </a:r>
            <a:endParaRPr lang="en-US" sz="1050" dirty="0"/>
          </a:p>
        </p:txBody>
      </p:sp>
      <p:sp>
        <p:nvSpPr>
          <p:cNvPr id="32" name="Shape 27"/>
          <p:cNvSpPr/>
          <p:nvPr/>
        </p:nvSpPr>
        <p:spPr>
          <a:xfrm>
            <a:off x="7315200" y="3438144"/>
            <a:ext cx="2039112" cy="859536"/>
          </a:xfrm>
          <a:prstGeom prst="roundRect">
            <a:avLst>
              <a:gd name="adj" fmla="val 8511"/>
            </a:avLst>
          </a:prstGeom>
          <a:solidFill>
            <a:srgbClr val="F1F5F9"/>
          </a:solidFill>
          <a:ln w="12700">
            <a:solidFill>
              <a:srgbClr val="94A3B8"/>
            </a:solidFill>
            <a:prstDash val="solid"/>
          </a:ln>
        </p:spPr>
        <p:txBody>
          <a:bodyPr/>
          <a:lstStyle/>
          <a:p>
            <a:endParaRPr lang="en-US"/>
          </a:p>
        </p:txBody>
      </p:sp>
      <p:sp>
        <p:nvSpPr>
          <p:cNvPr id="33" name="Text 28"/>
          <p:cNvSpPr txBox="1"/>
          <p:nvPr/>
        </p:nvSpPr>
        <p:spPr>
          <a:xfrm>
            <a:off x="7452360" y="3438144"/>
            <a:ext cx="1810512" cy="859536"/>
          </a:xfrm>
          <a:prstGeom prst="rect">
            <a:avLst/>
          </a:prstGeom>
          <a:noFill/>
          <a:ln/>
        </p:spPr>
        <p:txBody>
          <a:bodyPr wrap="square" lIns="0" tIns="0" rIns="0" bIns="0" rtlCol="0" anchor="ctr"/>
          <a:lstStyle/>
          <a:p>
            <a:pPr marL="0" indent="0">
              <a:buNone/>
            </a:pPr>
            <a:r>
              <a:rPr lang="en-US" sz="1050" b="1" dirty="0">
                <a:solidFill>
                  <a:srgbClr val="0A1F44"/>
                </a:solidFill>
                <a:latin typeface="Inter" pitchFamily="34" charset="0"/>
                <a:ea typeface="Inter" pitchFamily="34" charset="-122"/>
                <a:cs typeface="Inter" pitchFamily="34" charset="-120"/>
              </a:rPr>
              <a:t>Prospecting exclusions</a:t>
            </a:r>
            <a:endParaRPr lang="en-US" sz="1050" dirty="0"/>
          </a:p>
          <a:p>
            <a:pPr marL="0" indent="0">
              <a:buNone/>
            </a:pPr>
            <a:r>
              <a:rPr lang="en-US" sz="900" dirty="0">
                <a:solidFill>
                  <a:srgbClr val="334155"/>
                </a:solidFill>
                <a:latin typeface="Inter" pitchFamily="34" charset="0"/>
                <a:ea typeface="Inter" pitchFamily="34" charset="-122"/>
                <a:cs typeface="Inter" pitchFamily="34" charset="-120"/>
              </a:rPr>
              <a:t>existing buyers kept out of new-customer campaigns</a:t>
            </a:r>
            <a:endParaRPr lang="en-US" sz="1050" dirty="0"/>
          </a:p>
        </p:txBody>
      </p:sp>
      <p:sp>
        <p:nvSpPr>
          <p:cNvPr id="34" name="Shape 29"/>
          <p:cNvSpPr/>
          <p:nvPr/>
        </p:nvSpPr>
        <p:spPr>
          <a:xfrm>
            <a:off x="9646920" y="1554480"/>
            <a:ext cx="2039112" cy="2743200"/>
          </a:xfrm>
          <a:prstGeom prst="roundRect">
            <a:avLst>
              <a:gd name="adj" fmla="val 5381"/>
            </a:avLst>
          </a:prstGeom>
          <a:solidFill>
            <a:srgbClr val="1D4ED8"/>
          </a:solidFill>
          <a:ln w="6350">
            <a:solidFill>
              <a:srgbClr val="1D4ED8"/>
            </a:solidFill>
            <a:prstDash val="solid"/>
          </a:ln>
        </p:spPr>
        <p:txBody>
          <a:bodyPr/>
          <a:lstStyle/>
          <a:p>
            <a:endParaRPr lang="en-US"/>
          </a:p>
        </p:txBody>
      </p:sp>
      <p:sp>
        <p:nvSpPr>
          <p:cNvPr id="35" name="Shape 30"/>
          <p:cNvSpPr/>
          <p:nvPr/>
        </p:nvSpPr>
        <p:spPr>
          <a:xfrm>
            <a:off x="9784080" y="1737360"/>
            <a:ext cx="384048" cy="384048"/>
          </a:xfrm>
          <a:prstGeom prst="ellipse">
            <a:avLst/>
          </a:prstGeom>
          <a:solidFill>
            <a:srgbClr val="FFFFFF"/>
          </a:solidFill>
          <a:ln w="6350">
            <a:solidFill>
              <a:srgbClr val="FFFFFF"/>
            </a:solidFill>
            <a:prstDash val="solid"/>
          </a:ln>
        </p:spPr>
        <p:txBody>
          <a:bodyPr/>
          <a:lstStyle/>
          <a:p>
            <a:endParaRPr lang="en-US"/>
          </a:p>
        </p:txBody>
      </p:sp>
      <p:pic>
        <p:nvPicPr>
          <p:cNvPr id="36" name="Image 3" descr="preencoded.png"/>
          <p:cNvPicPr>
            <a:picLocks noChangeAspect="1"/>
          </p:cNvPicPr>
          <p:nvPr/>
        </p:nvPicPr>
        <p:blipFill>
          <a:blip r:embed="rId6"/>
          <a:stretch>
            <a:fillRect/>
          </a:stretch>
        </p:blipFill>
        <p:spPr>
          <a:xfrm>
            <a:off x="9868571" y="1821851"/>
            <a:ext cx="215067" cy="215067"/>
          </a:xfrm>
          <a:prstGeom prst="rect">
            <a:avLst/>
          </a:prstGeom>
        </p:spPr>
      </p:pic>
      <p:sp>
        <p:nvSpPr>
          <p:cNvPr id="37" name="Text 31"/>
          <p:cNvSpPr txBox="1"/>
          <p:nvPr/>
        </p:nvSpPr>
        <p:spPr>
          <a:xfrm>
            <a:off x="9784080" y="2286000"/>
            <a:ext cx="1764792" cy="1645920"/>
          </a:xfrm>
          <a:prstGeom prst="rect">
            <a:avLst/>
          </a:prstGeom>
          <a:noFill/>
          <a:ln/>
        </p:spPr>
        <p:txBody>
          <a:bodyPr wrap="square" lIns="0" tIns="0" rIns="0" bIns="0" rtlCol="0" anchor="t"/>
          <a:lstStyle/>
          <a:p>
            <a:pPr marL="0" indent="0">
              <a:buNone/>
            </a:pPr>
            <a:r>
              <a:rPr lang="en-US" sz="1100" b="1" dirty="0">
                <a:solidFill>
                  <a:srgbClr val="FFFFFF"/>
                </a:solidFill>
                <a:latin typeface="Inter" pitchFamily="34" charset="0"/>
                <a:ea typeface="Inter" pitchFamily="34" charset="-122"/>
                <a:cs typeface="Inter" pitchFamily="34" charset="-120"/>
              </a:rPr>
              <a:t>Retargeting's one job</a:t>
            </a:r>
            <a:endParaRPr lang="en-US" sz="1100" dirty="0"/>
          </a:p>
          <a:p>
            <a:pPr marL="0" indent="0">
              <a:buNone/>
            </a:pPr>
            <a:r>
              <a:rPr lang="en-US" sz="900" dirty="0">
                <a:solidFill>
                  <a:srgbClr val="DCE7FB"/>
                </a:solidFill>
                <a:latin typeface="Inter" pitchFamily="34" charset="0"/>
                <a:ea typeface="Inter" pitchFamily="34" charset="-122"/>
                <a:cs typeface="Inter" pitchFamily="34" charset="-120"/>
              </a:rPr>
              <a:t>reaching interested shoppers we have no other way to contact, inside the same $14M line ($0 extra, Exhibit I)</a:t>
            </a:r>
            <a:endParaRPr lang="en-US" sz="1100" dirty="0"/>
          </a:p>
        </p:txBody>
      </p:sp>
      <p:sp>
        <p:nvSpPr>
          <p:cNvPr id="38" name="Shape 32"/>
          <p:cNvSpPr/>
          <p:nvPr/>
        </p:nvSpPr>
        <p:spPr>
          <a:xfrm>
            <a:off x="2560320" y="2834640"/>
            <a:ext cx="164592" cy="182880"/>
          </a:xfrm>
          <a:prstGeom prst="rightArrow">
            <a:avLst/>
          </a:prstGeom>
          <a:solidFill>
            <a:srgbClr val="1D4ED8"/>
          </a:solidFill>
          <a:ln w="6350">
            <a:solidFill>
              <a:srgbClr val="1D4ED8"/>
            </a:solidFill>
            <a:prstDash val="solid"/>
          </a:ln>
        </p:spPr>
        <p:txBody>
          <a:bodyPr/>
          <a:lstStyle/>
          <a:p>
            <a:endParaRPr lang="en-US"/>
          </a:p>
        </p:txBody>
      </p:sp>
      <p:sp>
        <p:nvSpPr>
          <p:cNvPr id="39" name="Shape 33"/>
          <p:cNvSpPr/>
          <p:nvPr/>
        </p:nvSpPr>
        <p:spPr>
          <a:xfrm>
            <a:off x="4800600" y="2834640"/>
            <a:ext cx="164592" cy="182880"/>
          </a:xfrm>
          <a:prstGeom prst="rightArrow">
            <a:avLst/>
          </a:prstGeom>
          <a:solidFill>
            <a:srgbClr val="1D4ED8"/>
          </a:solidFill>
          <a:ln w="6350">
            <a:solidFill>
              <a:srgbClr val="1D4ED8"/>
            </a:solidFill>
            <a:prstDash val="solid"/>
          </a:ln>
        </p:spPr>
        <p:txBody>
          <a:bodyPr/>
          <a:lstStyle/>
          <a:p>
            <a:endParaRPr lang="en-US"/>
          </a:p>
        </p:txBody>
      </p:sp>
      <p:sp>
        <p:nvSpPr>
          <p:cNvPr id="40" name="Shape 34"/>
          <p:cNvSpPr/>
          <p:nvPr/>
        </p:nvSpPr>
        <p:spPr>
          <a:xfrm>
            <a:off x="7040880" y="2834640"/>
            <a:ext cx="164592" cy="182880"/>
          </a:xfrm>
          <a:prstGeom prst="rightArrow">
            <a:avLst/>
          </a:prstGeom>
          <a:solidFill>
            <a:srgbClr val="1D4ED8"/>
          </a:solidFill>
          <a:ln w="6350">
            <a:solidFill>
              <a:srgbClr val="1D4ED8"/>
            </a:solidFill>
            <a:prstDash val="solid"/>
          </a:ln>
        </p:spPr>
        <p:txBody>
          <a:bodyPr/>
          <a:lstStyle/>
          <a:p>
            <a:endParaRPr lang="en-US"/>
          </a:p>
        </p:txBody>
      </p:sp>
      <p:sp>
        <p:nvSpPr>
          <p:cNvPr id="41" name="Shape 35"/>
          <p:cNvSpPr/>
          <p:nvPr/>
        </p:nvSpPr>
        <p:spPr>
          <a:xfrm>
            <a:off x="9372600" y="2834640"/>
            <a:ext cx="164592" cy="182880"/>
          </a:xfrm>
          <a:prstGeom prst="rightArrow">
            <a:avLst/>
          </a:prstGeom>
          <a:solidFill>
            <a:srgbClr val="1D4ED8"/>
          </a:solidFill>
          <a:ln w="6350">
            <a:solidFill>
              <a:srgbClr val="1D4ED8"/>
            </a:solidFill>
            <a:prstDash val="solid"/>
          </a:ln>
        </p:spPr>
        <p:txBody>
          <a:bodyPr/>
          <a:lstStyle/>
          <a:p>
            <a:endParaRPr lang="en-US"/>
          </a:p>
        </p:txBody>
      </p:sp>
      <p:sp>
        <p:nvSpPr>
          <p:cNvPr id="42" name="Shape 36"/>
          <p:cNvSpPr/>
          <p:nvPr/>
        </p:nvSpPr>
        <p:spPr>
          <a:xfrm>
            <a:off x="10661904" y="4297680"/>
            <a:ext cx="0" cy="411480"/>
          </a:xfrm>
          <a:prstGeom prst="line">
            <a:avLst/>
          </a:prstGeom>
          <a:noFill/>
          <a:ln w="15875">
            <a:solidFill>
              <a:srgbClr val="1D4ED8"/>
            </a:solidFill>
            <a:prstDash val="solid"/>
          </a:ln>
        </p:spPr>
        <p:txBody>
          <a:bodyPr/>
          <a:lstStyle/>
          <a:p>
            <a:endParaRPr lang="en-US"/>
          </a:p>
        </p:txBody>
      </p:sp>
      <p:sp>
        <p:nvSpPr>
          <p:cNvPr id="43" name="Shape 37"/>
          <p:cNvSpPr/>
          <p:nvPr/>
        </p:nvSpPr>
        <p:spPr>
          <a:xfrm>
            <a:off x="5998464" y="4709160"/>
            <a:ext cx="4663440" cy="0"/>
          </a:xfrm>
          <a:prstGeom prst="line">
            <a:avLst/>
          </a:prstGeom>
          <a:noFill/>
          <a:ln w="15875">
            <a:solidFill>
              <a:srgbClr val="1D4ED8"/>
            </a:solidFill>
            <a:prstDash val="solid"/>
          </a:ln>
        </p:spPr>
        <p:txBody>
          <a:bodyPr/>
          <a:lstStyle/>
          <a:p>
            <a:endParaRPr lang="en-US"/>
          </a:p>
        </p:txBody>
      </p:sp>
      <p:sp>
        <p:nvSpPr>
          <p:cNvPr id="44" name="Shape 38"/>
          <p:cNvSpPr/>
          <p:nvPr/>
        </p:nvSpPr>
        <p:spPr>
          <a:xfrm>
            <a:off x="5998464" y="4297680"/>
            <a:ext cx="0" cy="411480"/>
          </a:xfrm>
          <a:prstGeom prst="line">
            <a:avLst/>
          </a:prstGeom>
          <a:noFill/>
          <a:ln w="15875">
            <a:solidFill>
              <a:srgbClr val="1D4ED8"/>
            </a:solidFill>
            <a:prstDash val="solid"/>
            <a:headEnd type="triangle"/>
          </a:ln>
        </p:spPr>
        <p:txBody>
          <a:bodyPr/>
          <a:lstStyle/>
          <a:p>
            <a:endParaRPr lang="en-US"/>
          </a:p>
        </p:txBody>
      </p:sp>
      <p:sp>
        <p:nvSpPr>
          <p:cNvPr id="45" name="Shape 39"/>
          <p:cNvSpPr/>
          <p:nvPr/>
        </p:nvSpPr>
        <p:spPr>
          <a:xfrm>
            <a:off x="6675120" y="4572000"/>
            <a:ext cx="3291840" cy="274320"/>
          </a:xfrm>
          <a:prstGeom prst="roundRect">
            <a:avLst>
              <a:gd name="adj" fmla="val 26667"/>
            </a:avLst>
          </a:prstGeom>
          <a:solidFill>
            <a:srgbClr val="FFFFFF"/>
          </a:solidFill>
          <a:ln w="6350">
            <a:solidFill>
              <a:srgbClr val="FFFFFF"/>
            </a:solidFill>
            <a:prstDash val="solid"/>
          </a:ln>
        </p:spPr>
        <p:txBody>
          <a:bodyPr/>
          <a:lstStyle/>
          <a:p>
            <a:endParaRPr lang="en-US"/>
          </a:p>
        </p:txBody>
      </p:sp>
      <p:sp>
        <p:nvSpPr>
          <p:cNvPr id="46" name="Text 40"/>
          <p:cNvSpPr txBox="1"/>
          <p:nvPr/>
        </p:nvSpPr>
        <p:spPr>
          <a:xfrm>
            <a:off x="6675120" y="4572000"/>
            <a:ext cx="3291840" cy="274320"/>
          </a:xfrm>
          <a:prstGeom prst="rect">
            <a:avLst/>
          </a:prstGeom>
          <a:noFill/>
          <a:ln/>
        </p:spPr>
        <p:txBody>
          <a:bodyPr wrap="square" lIns="0" tIns="0" rIns="0" bIns="0" rtlCol="0" anchor="ctr"/>
          <a:lstStyle/>
          <a:p>
            <a:pPr marL="0" indent="0" algn="ctr">
              <a:buNone/>
            </a:pPr>
            <a:r>
              <a:rPr lang="en-US" sz="950" b="1" dirty="0">
                <a:solidFill>
                  <a:srgbClr val="1D4ED8"/>
                </a:solidFill>
                <a:latin typeface="Inter" pitchFamily="34" charset="0"/>
                <a:ea typeface="Inter" pitchFamily="34" charset="-122"/>
                <a:cs typeface="Inter" pitchFamily="34" charset="-120"/>
              </a:rPr>
              <a:t>Prove: incremental orders per retargeting $ vs holdout</a:t>
            </a:r>
            <a:endParaRPr lang="en-US" sz="950" dirty="0"/>
          </a:p>
        </p:txBody>
      </p:sp>
      <p:sp>
        <p:nvSpPr>
          <p:cNvPr id="47" name="Text 41"/>
          <p:cNvSpPr txBox="1"/>
          <p:nvPr/>
        </p:nvSpPr>
        <p:spPr>
          <a:xfrm>
            <a:off x="502920" y="4892040"/>
            <a:ext cx="11183112" cy="548640"/>
          </a:xfrm>
          <a:prstGeom prst="rect">
            <a:avLst/>
          </a:prstGeom>
          <a:noFill/>
          <a:ln/>
        </p:spPr>
        <p:txBody>
          <a:bodyPr wrap="square" lIns="0" tIns="0" rIns="0" bIns="0" rtlCol="0" anchor="ctr"/>
          <a:lstStyle/>
          <a:p>
            <a:pPr marL="0" indent="0">
              <a:buNone/>
            </a:pPr>
            <a:r>
              <a:rPr lang="en-US" sz="1000" b="1" dirty="0">
                <a:solidFill>
                  <a:srgbClr val="0A1F44"/>
                </a:solidFill>
                <a:latin typeface="Inter" pitchFamily="34" charset="0"/>
                <a:ea typeface="Inter" pitchFamily="34" charset="-122"/>
                <a:cs typeface="Inter" pitchFamily="34" charset="-120"/>
              </a:rPr>
              <a:t>Why test it:  </a:t>
            </a:r>
            <a:r>
              <a:rPr lang="en-US" sz="1000" dirty="0">
                <a:solidFill>
                  <a:srgbClr val="334155"/>
                </a:solidFill>
                <a:latin typeface="Inter" pitchFamily="34" charset="0"/>
                <a:ea typeface="Inter" pitchFamily="34" charset="-122"/>
                <a:cs typeface="Inter" pitchFamily="34" charset="-120"/>
              </a:rPr>
              <a:t>retargeted buyers repeat no better than organic (23.0% vs 23.4%, A3b) and attribution barely moves, so only a holdout can show what retargeting is worth. We leave the prospecting budget, which brings 45.5% of buyers, unchanged.</a:t>
            </a:r>
            <a:endParaRPr lang="en-US" sz="1000" dirty="0"/>
          </a:p>
        </p:txBody>
      </p:sp>
      <p:sp>
        <p:nvSpPr>
          <p:cNvPr id="48" name="Shape 42"/>
          <p:cNvSpPr/>
          <p:nvPr/>
        </p:nvSpPr>
        <p:spPr>
          <a:xfrm>
            <a:off x="502920" y="5715000"/>
            <a:ext cx="11183112" cy="512064"/>
          </a:xfrm>
          <a:prstGeom prst="roundRect">
            <a:avLst>
              <a:gd name="adj" fmla="val 17857"/>
            </a:avLst>
          </a:prstGeom>
          <a:solidFill>
            <a:srgbClr val="EFF6FF"/>
          </a:solidFill>
          <a:ln w="6350">
            <a:solidFill>
              <a:srgbClr val="EFF6FF"/>
            </a:solidFill>
            <a:prstDash val="solid"/>
          </a:ln>
        </p:spPr>
        <p:txBody>
          <a:bodyPr/>
          <a:lstStyle/>
          <a:p>
            <a:endParaRPr lang="en-US"/>
          </a:p>
        </p:txBody>
      </p:sp>
      <p:sp>
        <p:nvSpPr>
          <p:cNvPr id="49" name="Shape 43"/>
          <p:cNvSpPr/>
          <p:nvPr/>
        </p:nvSpPr>
        <p:spPr>
          <a:xfrm>
            <a:off x="640080" y="5806440"/>
            <a:ext cx="329184" cy="329184"/>
          </a:xfrm>
          <a:prstGeom prst="ellipse">
            <a:avLst/>
          </a:prstGeom>
          <a:solidFill>
            <a:srgbClr val="1D4ED8"/>
          </a:solidFill>
          <a:ln w="6350">
            <a:solidFill>
              <a:srgbClr val="1D4ED8"/>
            </a:solidFill>
            <a:prstDash val="solid"/>
          </a:ln>
        </p:spPr>
        <p:txBody>
          <a:bodyPr/>
          <a:lstStyle/>
          <a:p>
            <a:endParaRPr lang="en-US"/>
          </a:p>
        </p:txBody>
      </p:sp>
      <p:pic>
        <p:nvPicPr>
          <p:cNvPr id="50" name="Image 4" descr="preencoded.png"/>
          <p:cNvPicPr>
            <a:picLocks noChangeAspect="1"/>
          </p:cNvPicPr>
          <p:nvPr/>
        </p:nvPicPr>
        <p:blipFill>
          <a:blip r:embed="rId7"/>
          <a:stretch>
            <a:fillRect/>
          </a:stretch>
        </p:blipFill>
        <p:spPr>
          <a:xfrm>
            <a:off x="712500" y="5878860"/>
            <a:ext cx="184343" cy="184343"/>
          </a:xfrm>
          <a:prstGeom prst="rect">
            <a:avLst/>
          </a:prstGeom>
        </p:spPr>
      </p:pic>
      <p:sp>
        <p:nvSpPr>
          <p:cNvPr id="51" name="Text 44"/>
          <p:cNvSpPr txBox="1"/>
          <p:nvPr/>
        </p:nvSpPr>
        <p:spPr>
          <a:xfrm>
            <a:off x="1097280" y="5715000"/>
            <a:ext cx="10424160" cy="512064"/>
          </a:xfrm>
          <a:prstGeom prst="rect">
            <a:avLst/>
          </a:prstGeom>
          <a:noFill/>
          <a:ln/>
        </p:spPr>
        <p:txBody>
          <a:bodyPr wrap="square" lIns="0" tIns="0" rIns="0" bIns="0" rtlCol="0" anchor="ctr"/>
          <a:lstStyle/>
          <a:p>
            <a:pPr marL="0" indent="0">
              <a:buNone/>
            </a:pPr>
            <a:r>
              <a:rPr lang="en-US" sz="1300" b="1" dirty="0">
                <a:solidFill>
                  <a:srgbClr val="0A1F44"/>
                </a:solidFill>
                <a:latin typeface="Inter" pitchFamily="34" charset="0"/>
                <a:ea typeface="Inter" pitchFamily="34" charset="-122"/>
                <a:cs typeface="Inter" pitchFamily="34" charset="-120"/>
              </a:rPr>
              <a:t>We stop paying to reach customers we can already message; the prospecting budget stays the same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9326880" cy="841248"/>
          </a:xfrm>
          <a:prstGeom prst="rect">
            <a:avLst/>
          </a:prstGeom>
          <a:noFill/>
          <a:ln/>
        </p:spPr>
        <p:txBody>
          <a:bodyPr wrap="square" lIns="0" tIns="0" rIns="0" bIns="0" rtlCol="0" anchor="ctr"/>
          <a:lstStyle/>
          <a:p>
            <a:pPr marL="0" indent="0">
              <a:buNone/>
            </a:pPr>
            <a:r>
              <a:rPr lang="en-US" sz="2400" b="1" dirty="0">
                <a:solidFill>
                  <a:srgbClr val="0A1F44"/>
                </a:solidFill>
                <a:latin typeface="Inter" pitchFamily="34" charset="0"/>
                <a:ea typeface="Inter" pitchFamily="34" charset="-122"/>
                <a:cs typeface="Inter" pitchFamily="34" charset="-120"/>
              </a:rPr>
              <a:t>Our weekly loop: how analytics and growth work together</a:t>
            </a:r>
            <a:endParaRPr lang="en-US" sz="2400" dirty="0"/>
          </a:p>
        </p:txBody>
      </p:sp>
      <p:pic>
        <p:nvPicPr>
          <p:cNvPr id="3" name="Image 0" descr="/tmp/claude-0/-home-user-Quince/7efe80ae-a049-50c2-9886-98bf7ca3a04a/scratchpad/assets/quince.png"/>
          <p:cNvPicPr>
            <a:picLocks noChangeAspect="1"/>
          </p:cNvPicPr>
          <p:nvPr/>
        </p:nvPicPr>
        <p:blipFill>
          <a:blip r:embed="rId3"/>
          <a:stretch>
            <a:fillRect/>
          </a:stretch>
        </p:blipFill>
        <p:spPr>
          <a:xfrm>
            <a:off x="10236708" y="615544"/>
            <a:ext cx="777240" cy="231951"/>
          </a:xfrm>
          <a:prstGeom prst="rect">
            <a:avLst/>
          </a:prstGeom>
        </p:spPr>
      </p:pic>
      <p:sp>
        <p:nvSpPr>
          <p:cNvPr id="4" name="Shape 1"/>
          <p:cNvSpPr/>
          <p:nvPr/>
        </p:nvSpPr>
        <p:spPr>
          <a:xfrm>
            <a:off x="11155680" y="603504"/>
            <a:ext cx="530352" cy="256032"/>
          </a:xfrm>
          <a:prstGeom prst="roundRect">
            <a:avLst>
              <a:gd name="adj" fmla="val 50000"/>
            </a:avLst>
          </a:prstGeom>
          <a:solidFill>
            <a:srgbClr val="0A1F44"/>
          </a:solidFill>
          <a:ln w="6350">
            <a:solidFill>
              <a:srgbClr val="0A1F44"/>
            </a:solidFill>
            <a:prstDash val="solid"/>
          </a:ln>
        </p:spPr>
        <p:txBody>
          <a:bodyPr/>
          <a:lstStyle/>
          <a:p>
            <a:endParaRPr lang="en-US"/>
          </a:p>
        </p:txBody>
      </p:sp>
      <p:sp>
        <p:nvSpPr>
          <p:cNvPr id="5" name="Text 2"/>
          <p:cNvSpPr txBox="1"/>
          <p:nvPr/>
        </p:nvSpPr>
        <p:spPr>
          <a:xfrm>
            <a:off x="11155680" y="603504"/>
            <a:ext cx="53035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G27</a:t>
            </a:r>
            <a:endParaRPr lang="en-US" sz="950" dirty="0"/>
          </a:p>
        </p:txBody>
      </p:sp>
      <p:sp>
        <p:nvSpPr>
          <p:cNvPr id="6" name="Shape 3"/>
          <p:cNvSpPr/>
          <p:nvPr/>
        </p:nvSpPr>
        <p:spPr>
          <a:xfrm>
            <a:off x="502920" y="6400800"/>
            <a:ext cx="11183112" cy="0"/>
          </a:xfrm>
          <a:prstGeom prst="line">
            <a:avLst/>
          </a:prstGeom>
          <a:noFill/>
          <a:ln w="9525">
            <a:solidFill>
              <a:srgbClr val="E2E8F0"/>
            </a:solidFill>
            <a:prstDash val="solid"/>
          </a:ln>
        </p:spPr>
        <p:txBody>
          <a:bodyPr/>
          <a:lstStyle/>
          <a:p>
            <a:endParaRPr lang="en-US"/>
          </a:p>
        </p:txBody>
      </p:sp>
      <p:sp>
        <p:nvSpPr>
          <p:cNvPr id="7" name="Text 4"/>
          <p:cNvSpPr txBox="1"/>
          <p:nvPr/>
        </p:nvSpPr>
        <p:spPr>
          <a:xfrm>
            <a:off x="502920" y="6464808"/>
            <a:ext cx="9418320" cy="256032"/>
          </a:xfrm>
          <a:prstGeom prst="rect">
            <a:avLst/>
          </a:prstGeom>
          <a:noFill/>
          <a:ln/>
        </p:spPr>
        <p:txBody>
          <a:bodyPr wrap="square" lIns="0" tIns="0" rIns="0" bIns="0" rtlCol="0" anchor="ctr"/>
          <a:lstStyle/>
          <a:p>
            <a:pPr marL="0" indent="0">
              <a:buNone/>
            </a:pPr>
            <a:r>
              <a:rPr lang="en-US" sz="800" dirty="0">
                <a:solidFill>
                  <a:srgbClr val="64748B"/>
                </a:solidFill>
                <a:latin typeface="Inter" pitchFamily="34" charset="0"/>
                <a:ea typeface="Inter" pitchFamily="34" charset="-122"/>
                <a:cs typeface="Inter" pitchFamily="34" charset="-120"/>
              </a:rPr>
              <a:t>Source: case section 4 (Options A, B, C), Exhibits I and L; owners and rhythm are our operating design.</a:t>
            </a:r>
            <a:endParaRPr lang="en-US" sz="800" dirty="0"/>
          </a:p>
        </p:txBody>
      </p:sp>
      <p:sp>
        <p:nvSpPr>
          <p:cNvPr id="8" name="Text 5"/>
          <p:cNvSpPr txBox="1"/>
          <p:nvPr/>
        </p:nvSpPr>
        <p:spPr>
          <a:xfrm>
            <a:off x="9966960" y="6464808"/>
            <a:ext cx="1719072" cy="256032"/>
          </a:xfrm>
          <a:prstGeom prst="rect">
            <a:avLst/>
          </a:prstGeom>
          <a:noFill/>
          <a:ln/>
        </p:spPr>
        <p:txBody>
          <a:bodyPr wrap="square" lIns="0" tIns="0" rIns="0" bIns="0" rtlCol="0" anchor="ctr"/>
          <a:lstStyle/>
          <a:p>
            <a:pPr marL="0" indent="0" algn="r">
              <a:buNone/>
            </a:pPr>
            <a:r>
              <a:rPr lang="en-US" sz="800" dirty="0">
                <a:solidFill>
                  <a:srgbClr val="64748B"/>
                </a:solidFill>
                <a:latin typeface="Inter" pitchFamily="34" charset="0"/>
                <a:ea typeface="Inter" pitchFamily="34" charset="-122"/>
                <a:cs typeface="Inter" pitchFamily="34" charset="-120"/>
              </a:rPr>
              <a:t>Team G27  ·  19</a:t>
            </a:r>
            <a:endParaRPr lang="en-US" sz="800" dirty="0"/>
          </a:p>
        </p:txBody>
      </p:sp>
      <p:sp>
        <p:nvSpPr>
          <p:cNvPr id="9" name="Shape 6"/>
          <p:cNvSpPr/>
          <p:nvPr/>
        </p:nvSpPr>
        <p:spPr>
          <a:xfrm>
            <a:off x="502920" y="1371600"/>
            <a:ext cx="2103120" cy="3063240"/>
          </a:xfrm>
          <a:prstGeom prst="roundRect">
            <a:avLst>
              <a:gd name="adj" fmla="val 4348"/>
            </a:avLst>
          </a:prstGeom>
          <a:solidFill>
            <a:srgbClr val="F8FAFC"/>
          </a:solidFill>
          <a:ln w="9525">
            <a:solidFill>
              <a:srgbClr val="E2E8F0"/>
            </a:solidFill>
            <a:prstDash val="solid"/>
          </a:ln>
        </p:spPr>
        <p:txBody>
          <a:bodyPr/>
          <a:lstStyle/>
          <a:p>
            <a:endParaRPr lang="en-US"/>
          </a:p>
        </p:txBody>
      </p:sp>
      <p:sp>
        <p:nvSpPr>
          <p:cNvPr id="10" name="Shape 7"/>
          <p:cNvSpPr/>
          <p:nvPr/>
        </p:nvSpPr>
        <p:spPr>
          <a:xfrm>
            <a:off x="649224" y="1536192"/>
            <a:ext cx="329184" cy="329184"/>
          </a:xfrm>
          <a:prstGeom prst="ellipse">
            <a:avLst/>
          </a:prstGeom>
          <a:solidFill>
            <a:srgbClr val="1D4ED8"/>
          </a:solidFill>
          <a:ln w="6350">
            <a:solidFill>
              <a:srgbClr val="1D4ED8"/>
            </a:solidFill>
            <a:prstDash val="solid"/>
          </a:ln>
        </p:spPr>
        <p:txBody>
          <a:bodyPr/>
          <a:lstStyle/>
          <a:p>
            <a:endParaRPr lang="en-US"/>
          </a:p>
        </p:txBody>
      </p:sp>
      <p:sp>
        <p:nvSpPr>
          <p:cNvPr id="11" name="Text 8"/>
          <p:cNvSpPr txBox="1"/>
          <p:nvPr/>
        </p:nvSpPr>
        <p:spPr>
          <a:xfrm>
            <a:off x="649224" y="153619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Inter" pitchFamily="34" charset="0"/>
                <a:ea typeface="Inter" pitchFamily="34" charset="-122"/>
                <a:cs typeface="Inter" pitchFamily="34" charset="-120"/>
              </a:rPr>
              <a:t>1</a:t>
            </a:r>
            <a:endParaRPr lang="en-US" sz="1200" dirty="0"/>
          </a:p>
        </p:txBody>
      </p:sp>
      <p:sp>
        <p:nvSpPr>
          <p:cNvPr id="12" name="Text 9"/>
          <p:cNvSpPr txBox="1"/>
          <p:nvPr/>
        </p:nvSpPr>
        <p:spPr>
          <a:xfrm>
            <a:off x="1069848" y="1499616"/>
            <a:ext cx="1463040" cy="384048"/>
          </a:xfrm>
          <a:prstGeom prst="rect">
            <a:avLst/>
          </a:prstGeom>
          <a:noFill/>
          <a:ln/>
        </p:spPr>
        <p:txBody>
          <a:bodyPr wrap="square" lIns="0" tIns="0" rIns="0" bIns="0" rtlCol="0" anchor="ctr"/>
          <a:lstStyle/>
          <a:p>
            <a:pPr marL="0" indent="0">
              <a:buNone/>
            </a:pPr>
            <a:r>
              <a:rPr lang="en-US" sz="1500" b="1" dirty="0">
                <a:solidFill>
                  <a:srgbClr val="0A1F44"/>
                </a:solidFill>
                <a:latin typeface="Inter" pitchFamily="34" charset="0"/>
                <a:ea typeface="Inter" pitchFamily="34" charset="-122"/>
                <a:cs typeface="Inter" pitchFamily="34" charset="-120"/>
              </a:rPr>
              <a:t>Diagnose</a:t>
            </a:r>
            <a:endParaRPr lang="en-US" sz="1500" dirty="0"/>
          </a:p>
        </p:txBody>
      </p:sp>
      <p:sp>
        <p:nvSpPr>
          <p:cNvPr id="13" name="Shape 10"/>
          <p:cNvSpPr/>
          <p:nvPr/>
        </p:nvSpPr>
        <p:spPr>
          <a:xfrm>
            <a:off x="649224" y="1975104"/>
            <a:ext cx="822960" cy="237744"/>
          </a:xfrm>
          <a:prstGeom prst="roundRect">
            <a:avLst>
              <a:gd name="adj" fmla="val 50000"/>
            </a:avLst>
          </a:prstGeom>
          <a:solidFill>
            <a:srgbClr val="FFFFFF"/>
          </a:solidFill>
          <a:ln w="12700">
            <a:solidFill>
              <a:srgbClr val="1D4ED8"/>
            </a:solidFill>
            <a:prstDash val="solid"/>
          </a:ln>
        </p:spPr>
        <p:txBody>
          <a:bodyPr/>
          <a:lstStyle/>
          <a:p>
            <a:endParaRPr lang="en-US"/>
          </a:p>
        </p:txBody>
      </p:sp>
      <p:sp>
        <p:nvSpPr>
          <p:cNvPr id="14" name="Text 11"/>
          <p:cNvSpPr txBox="1"/>
          <p:nvPr/>
        </p:nvSpPr>
        <p:spPr>
          <a:xfrm>
            <a:off x="649224" y="1975104"/>
            <a:ext cx="822960" cy="237744"/>
          </a:xfrm>
          <a:prstGeom prst="rect">
            <a:avLst/>
          </a:prstGeom>
          <a:noFill/>
          <a:ln/>
        </p:spPr>
        <p:txBody>
          <a:bodyPr wrap="square" lIns="0" tIns="0" rIns="0" bIns="0" rtlCol="0" anchor="ctr"/>
          <a:lstStyle/>
          <a:p>
            <a:pPr marL="0" indent="0" algn="ctr">
              <a:buNone/>
            </a:pPr>
            <a:r>
              <a:rPr lang="en-US" sz="800" b="1" dirty="0">
                <a:solidFill>
                  <a:srgbClr val="1D4ED8"/>
                </a:solidFill>
                <a:latin typeface="Inter" pitchFamily="34" charset="0"/>
                <a:ea typeface="Inter" pitchFamily="34" charset="-122"/>
                <a:cs typeface="Inter" pitchFamily="34" charset="-120"/>
              </a:rPr>
              <a:t>Option C</a:t>
            </a:r>
            <a:endParaRPr lang="en-US" sz="800" dirty="0"/>
          </a:p>
        </p:txBody>
      </p:sp>
      <p:sp>
        <p:nvSpPr>
          <p:cNvPr id="15" name="Text 12"/>
          <p:cNvSpPr txBox="1"/>
          <p:nvPr/>
        </p:nvSpPr>
        <p:spPr>
          <a:xfrm>
            <a:off x="649224" y="2304288"/>
            <a:ext cx="1828800" cy="1097280"/>
          </a:xfrm>
          <a:prstGeom prst="rect">
            <a:avLst/>
          </a:prstGeom>
          <a:noFill/>
          <a:ln/>
        </p:spPr>
        <p:txBody>
          <a:bodyPr wrap="square" lIns="0" tIns="0" rIns="0" bIns="0" rtlCol="0" anchor="t"/>
          <a:lstStyle/>
          <a:p>
            <a:pPr marL="0" indent="0">
              <a:buNone/>
            </a:pPr>
            <a:r>
              <a:rPr lang="en-US" sz="1000" dirty="0">
                <a:solidFill>
                  <a:srgbClr val="0F172A"/>
                </a:solidFill>
                <a:latin typeface="Inter" pitchFamily="34" charset="0"/>
                <a:ea typeface="Inter" pitchFamily="34" charset="-122"/>
                <a:cs typeface="Inter" pitchFamily="34" charset="-120"/>
              </a:rPr>
              <a:t>Read Fallout, Flow, Cohort Table and Attribution IQ on one stitched person ID</a:t>
            </a:r>
            <a:endParaRPr lang="en-US" sz="1000" dirty="0"/>
          </a:p>
        </p:txBody>
      </p:sp>
      <p:sp>
        <p:nvSpPr>
          <p:cNvPr id="16" name="Shape 13"/>
          <p:cNvSpPr/>
          <p:nvPr/>
        </p:nvSpPr>
        <p:spPr>
          <a:xfrm>
            <a:off x="649224" y="3520440"/>
            <a:ext cx="1810512" cy="0"/>
          </a:xfrm>
          <a:prstGeom prst="line">
            <a:avLst/>
          </a:prstGeom>
          <a:noFill/>
          <a:ln w="9525">
            <a:solidFill>
              <a:srgbClr val="E2E8F0"/>
            </a:solidFill>
            <a:prstDash val="solid"/>
          </a:ln>
        </p:spPr>
        <p:txBody>
          <a:bodyPr/>
          <a:lstStyle/>
          <a:p>
            <a:endParaRPr lang="en-US"/>
          </a:p>
        </p:txBody>
      </p:sp>
      <p:sp>
        <p:nvSpPr>
          <p:cNvPr id="17" name="Text 14"/>
          <p:cNvSpPr txBox="1"/>
          <p:nvPr/>
        </p:nvSpPr>
        <p:spPr>
          <a:xfrm>
            <a:off x="649224" y="3584448"/>
            <a:ext cx="1828800" cy="731520"/>
          </a:xfrm>
          <a:prstGeom prst="rect">
            <a:avLst/>
          </a:prstGeom>
          <a:noFill/>
          <a:ln/>
        </p:spPr>
        <p:txBody>
          <a:bodyPr wrap="square" lIns="0" tIns="0" rIns="0" bIns="0" rtlCol="0" anchor="t"/>
          <a:lstStyle/>
          <a:p>
            <a:pPr marL="0" indent="0">
              <a:buNone/>
            </a:pPr>
            <a:r>
              <a:rPr lang="en-US" sz="750" b="1" dirty="0">
                <a:solidFill>
                  <a:srgbClr val="1D4ED8"/>
                </a:solidFill>
                <a:latin typeface="Inter" pitchFamily="34" charset="0"/>
                <a:ea typeface="Inter" pitchFamily="34" charset="-122"/>
                <a:cs typeface="Inter" pitchFamily="34" charset="-120"/>
              </a:rPr>
              <a:t>OWNER  </a:t>
            </a:r>
            <a:r>
              <a:rPr lang="en-US" sz="950" b="1" dirty="0">
                <a:solidFill>
                  <a:srgbClr val="0A1F44"/>
                </a:solidFill>
                <a:latin typeface="Inter" pitchFamily="34" charset="0"/>
                <a:ea typeface="Inter" pitchFamily="34" charset="-122"/>
                <a:cs typeface="Inter" pitchFamily="34" charset="-120"/>
              </a:rPr>
              <a:t>Head of Analytics</a:t>
            </a:r>
            <a:endParaRPr lang="en-US" sz="950" dirty="0"/>
          </a:p>
          <a:p>
            <a:pPr marL="0" indent="0">
              <a:buNone/>
            </a:pPr>
            <a:r>
              <a:rPr lang="en-US" sz="750" b="1" dirty="0">
                <a:solidFill>
                  <a:srgbClr val="1D4ED8"/>
                </a:solidFill>
                <a:latin typeface="Inter" pitchFamily="34" charset="0"/>
                <a:ea typeface="Inter" pitchFamily="34" charset="-122"/>
                <a:cs typeface="Inter" pitchFamily="34" charset="-120"/>
              </a:rPr>
              <a:t>RHYTHM  </a:t>
            </a:r>
            <a:r>
              <a:rPr lang="en-US" sz="950" dirty="0">
                <a:solidFill>
                  <a:srgbClr val="0F172A"/>
                </a:solidFill>
                <a:latin typeface="Inter" pitchFamily="34" charset="0"/>
                <a:ea typeface="Inter" pitchFamily="34" charset="-122"/>
                <a:cs typeface="Inter" pitchFamily="34" charset="-120"/>
              </a:rPr>
              <a:t>Weekly</a:t>
            </a:r>
            <a:endParaRPr lang="en-US" sz="950" dirty="0"/>
          </a:p>
        </p:txBody>
      </p:sp>
      <p:sp>
        <p:nvSpPr>
          <p:cNvPr id="18" name="Shape 15"/>
          <p:cNvSpPr/>
          <p:nvPr/>
        </p:nvSpPr>
        <p:spPr>
          <a:xfrm>
            <a:off x="2615184" y="2788920"/>
            <a:ext cx="146304" cy="182880"/>
          </a:xfrm>
          <a:prstGeom prst="rightArrow">
            <a:avLst/>
          </a:prstGeom>
          <a:solidFill>
            <a:srgbClr val="1D4ED8"/>
          </a:solidFill>
          <a:ln w="6350">
            <a:solidFill>
              <a:srgbClr val="1D4ED8"/>
            </a:solidFill>
            <a:prstDash val="solid"/>
          </a:ln>
        </p:spPr>
        <p:txBody>
          <a:bodyPr/>
          <a:lstStyle/>
          <a:p>
            <a:endParaRPr lang="en-US"/>
          </a:p>
        </p:txBody>
      </p:sp>
      <p:sp>
        <p:nvSpPr>
          <p:cNvPr id="19" name="Shape 16"/>
          <p:cNvSpPr/>
          <p:nvPr/>
        </p:nvSpPr>
        <p:spPr>
          <a:xfrm>
            <a:off x="2770632" y="1371600"/>
            <a:ext cx="2103120" cy="3063240"/>
          </a:xfrm>
          <a:prstGeom prst="roundRect">
            <a:avLst>
              <a:gd name="adj" fmla="val 4348"/>
            </a:avLst>
          </a:prstGeom>
          <a:solidFill>
            <a:srgbClr val="F8FAFC"/>
          </a:solidFill>
          <a:ln w="9525">
            <a:solidFill>
              <a:srgbClr val="E2E8F0"/>
            </a:solidFill>
            <a:prstDash val="solid"/>
          </a:ln>
        </p:spPr>
        <p:txBody>
          <a:bodyPr/>
          <a:lstStyle/>
          <a:p>
            <a:endParaRPr lang="en-US"/>
          </a:p>
        </p:txBody>
      </p:sp>
      <p:sp>
        <p:nvSpPr>
          <p:cNvPr id="20" name="Shape 17"/>
          <p:cNvSpPr/>
          <p:nvPr/>
        </p:nvSpPr>
        <p:spPr>
          <a:xfrm>
            <a:off x="2916936" y="1536192"/>
            <a:ext cx="329184" cy="329184"/>
          </a:xfrm>
          <a:prstGeom prst="ellipse">
            <a:avLst/>
          </a:prstGeom>
          <a:solidFill>
            <a:srgbClr val="1D4ED8"/>
          </a:solidFill>
          <a:ln w="6350">
            <a:solidFill>
              <a:srgbClr val="1D4ED8"/>
            </a:solidFill>
            <a:prstDash val="solid"/>
          </a:ln>
        </p:spPr>
        <p:txBody>
          <a:bodyPr/>
          <a:lstStyle/>
          <a:p>
            <a:endParaRPr lang="en-US"/>
          </a:p>
        </p:txBody>
      </p:sp>
      <p:sp>
        <p:nvSpPr>
          <p:cNvPr id="21" name="Text 18"/>
          <p:cNvSpPr txBox="1"/>
          <p:nvPr/>
        </p:nvSpPr>
        <p:spPr>
          <a:xfrm>
            <a:off x="2916936" y="153619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Inter" pitchFamily="34" charset="0"/>
                <a:ea typeface="Inter" pitchFamily="34" charset="-122"/>
                <a:cs typeface="Inter" pitchFamily="34" charset="-120"/>
              </a:rPr>
              <a:t>2</a:t>
            </a:r>
            <a:endParaRPr lang="en-US" sz="1200" dirty="0"/>
          </a:p>
        </p:txBody>
      </p:sp>
      <p:sp>
        <p:nvSpPr>
          <p:cNvPr id="22" name="Text 19"/>
          <p:cNvSpPr txBox="1"/>
          <p:nvPr/>
        </p:nvSpPr>
        <p:spPr>
          <a:xfrm>
            <a:off x="3337560" y="1499616"/>
            <a:ext cx="1463040" cy="384048"/>
          </a:xfrm>
          <a:prstGeom prst="rect">
            <a:avLst/>
          </a:prstGeom>
          <a:noFill/>
          <a:ln/>
        </p:spPr>
        <p:txBody>
          <a:bodyPr wrap="square" lIns="0" tIns="0" rIns="0" bIns="0" rtlCol="0" anchor="ctr"/>
          <a:lstStyle/>
          <a:p>
            <a:pPr marL="0" indent="0">
              <a:buNone/>
            </a:pPr>
            <a:r>
              <a:rPr lang="en-US" sz="1500" b="1" dirty="0">
                <a:solidFill>
                  <a:srgbClr val="0A1F44"/>
                </a:solidFill>
                <a:latin typeface="Inter" pitchFamily="34" charset="0"/>
                <a:ea typeface="Inter" pitchFamily="34" charset="-122"/>
                <a:cs typeface="Inter" pitchFamily="34" charset="-120"/>
              </a:rPr>
              <a:t>Target</a:t>
            </a:r>
            <a:endParaRPr lang="en-US" sz="1500" dirty="0"/>
          </a:p>
        </p:txBody>
      </p:sp>
      <p:sp>
        <p:nvSpPr>
          <p:cNvPr id="23" name="Shape 20"/>
          <p:cNvSpPr/>
          <p:nvPr/>
        </p:nvSpPr>
        <p:spPr>
          <a:xfrm>
            <a:off x="2916936" y="1975104"/>
            <a:ext cx="1143000" cy="237744"/>
          </a:xfrm>
          <a:prstGeom prst="roundRect">
            <a:avLst>
              <a:gd name="adj" fmla="val 50000"/>
            </a:avLst>
          </a:prstGeom>
          <a:solidFill>
            <a:srgbClr val="FFFFFF"/>
          </a:solidFill>
          <a:ln w="12700">
            <a:solidFill>
              <a:srgbClr val="1D4ED8"/>
            </a:solidFill>
            <a:prstDash val="solid"/>
          </a:ln>
        </p:spPr>
        <p:txBody>
          <a:bodyPr/>
          <a:lstStyle/>
          <a:p>
            <a:endParaRPr lang="en-US"/>
          </a:p>
        </p:txBody>
      </p:sp>
      <p:sp>
        <p:nvSpPr>
          <p:cNvPr id="24" name="Text 21"/>
          <p:cNvSpPr txBox="1"/>
          <p:nvPr/>
        </p:nvSpPr>
        <p:spPr>
          <a:xfrm>
            <a:off x="2916936" y="1975104"/>
            <a:ext cx="1143000" cy="237744"/>
          </a:xfrm>
          <a:prstGeom prst="rect">
            <a:avLst/>
          </a:prstGeom>
          <a:noFill/>
          <a:ln/>
        </p:spPr>
        <p:txBody>
          <a:bodyPr wrap="square" lIns="0" tIns="0" rIns="0" bIns="0" rtlCol="0" anchor="ctr"/>
          <a:lstStyle/>
          <a:p>
            <a:pPr marL="0" indent="0" algn="ctr">
              <a:buNone/>
            </a:pPr>
            <a:r>
              <a:rPr lang="en-US" sz="800" b="1" dirty="0">
                <a:solidFill>
                  <a:srgbClr val="1D4ED8"/>
                </a:solidFill>
                <a:latin typeface="Inter" pitchFamily="34" charset="0"/>
                <a:ea typeface="Inter" pitchFamily="34" charset="-122"/>
                <a:cs typeface="Inter" pitchFamily="34" charset="-120"/>
              </a:rPr>
              <a:t>Options A + B</a:t>
            </a:r>
            <a:endParaRPr lang="en-US" sz="800" dirty="0"/>
          </a:p>
        </p:txBody>
      </p:sp>
      <p:sp>
        <p:nvSpPr>
          <p:cNvPr id="25" name="Text 22"/>
          <p:cNvSpPr txBox="1"/>
          <p:nvPr/>
        </p:nvSpPr>
        <p:spPr>
          <a:xfrm>
            <a:off x="2916936" y="2304288"/>
            <a:ext cx="1828800" cy="1097280"/>
          </a:xfrm>
          <a:prstGeom prst="rect">
            <a:avLst/>
          </a:prstGeom>
          <a:noFill/>
          <a:ln/>
        </p:spPr>
        <p:txBody>
          <a:bodyPr wrap="square" lIns="0" tIns="0" rIns="0" bIns="0" rtlCol="0" anchor="t"/>
          <a:lstStyle/>
          <a:p>
            <a:pPr marL="0" indent="0">
              <a:buNone/>
            </a:pPr>
            <a:r>
              <a:rPr lang="en-US" sz="1000" dirty="0">
                <a:solidFill>
                  <a:srgbClr val="0F172A"/>
                </a:solidFill>
                <a:latin typeface="Inter" pitchFamily="34" charset="0"/>
                <a:ea typeface="Inter" pitchFamily="34" charset="-122"/>
                <a:cs typeface="Inter" pitchFamily="34" charset="-120"/>
              </a:rPr>
              <a:t>Turn findings into saved CJA segments: abandoners, engaged, cashmere-first, recent buyers</a:t>
            </a:r>
            <a:endParaRPr lang="en-US" sz="1000" dirty="0"/>
          </a:p>
        </p:txBody>
      </p:sp>
      <p:sp>
        <p:nvSpPr>
          <p:cNvPr id="26" name="Shape 23"/>
          <p:cNvSpPr/>
          <p:nvPr/>
        </p:nvSpPr>
        <p:spPr>
          <a:xfrm>
            <a:off x="2916936" y="3520440"/>
            <a:ext cx="1810512" cy="0"/>
          </a:xfrm>
          <a:prstGeom prst="line">
            <a:avLst/>
          </a:prstGeom>
          <a:noFill/>
          <a:ln w="9525">
            <a:solidFill>
              <a:srgbClr val="E2E8F0"/>
            </a:solidFill>
            <a:prstDash val="solid"/>
          </a:ln>
        </p:spPr>
        <p:txBody>
          <a:bodyPr/>
          <a:lstStyle/>
          <a:p>
            <a:endParaRPr lang="en-US"/>
          </a:p>
        </p:txBody>
      </p:sp>
      <p:sp>
        <p:nvSpPr>
          <p:cNvPr id="27" name="Text 24"/>
          <p:cNvSpPr txBox="1"/>
          <p:nvPr/>
        </p:nvSpPr>
        <p:spPr>
          <a:xfrm>
            <a:off x="2916936" y="3584448"/>
            <a:ext cx="1828800" cy="731520"/>
          </a:xfrm>
          <a:prstGeom prst="rect">
            <a:avLst/>
          </a:prstGeom>
          <a:noFill/>
          <a:ln/>
        </p:spPr>
        <p:txBody>
          <a:bodyPr wrap="square" lIns="0" tIns="0" rIns="0" bIns="0" rtlCol="0" anchor="t"/>
          <a:lstStyle/>
          <a:p>
            <a:pPr marL="0" indent="0">
              <a:buNone/>
            </a:pPr>
            <a:r>
              <a:rPr lang="en-US" sz="750" b="1" dirty="0">
                <a:solidFill>
                  <a:srgbClr val="1D4ED8"/>
                </a:solidFill>
                <a:latin typeface="Inter" pitchFamily="34" charset="0"/>
                <a:ea typeface="Inter" pitchFamily="34" charset="-122"/>
                <a:cs typeface="Inter" pitchFamily="34" charset="-120"/>
              </a:rPr>
              <a:t>OWNER  </a:t>
            </a:r>
            <a:r>
              <a:rPr lang="en-US" sz="950" b="1" dirty="0">
                <a:solidFill>
                  <a:srgbClr val="0A1F44"/>
                </a:solidFill>
                <a:latin typeface="Inter" pitchFamily="34" charset="0"/>
                <a:ea typeface="Inter" pitchFamily="34" charset="-122"/>
                <a:cs typeface="Inter" pitchFamily="34" charset="-120"/>
              </a:rPr>
              <a:t>Analytics + CRM</a:t>
            </a:r>
            <a:endParaRPr lang="en-US" sz="950" dirty="0"/>
          </a:p>
          <a:p>
            <a:pPr marL="0" indent="0">
              <a:buNone/>
            </a:pPr>
            <a:r>
              <a:rPr lang="en-US" sz="750" b="1" dirty="0">
                <a:solidFill>
                  <a:srgbClr val="1D4ED8"/>
                </a:solidFill>
                <a:latin typeface="Inter" pitchFamily="34" charset="0"/>
                <a:ea typeface="Inter" pitchFamily="34" charset="-122"/>
                <a:cs typeface="Inter" pitchFamily="34" charset="-120"/>
              </a:rPr>
              <a:t>RHYTHM  </a:t>
            </a:r>
            <a:r>
              <a:rPr lang="en-US" sz="950" dirty="0">
                <a:solidFill>
                  <a:srgbClr val="0F172A"/>
                </a:solidFill>
                <a:latin typeface="Inter" pitchFamily="34" charset="0"/>
                <a:ea typeface="Inter" pitchFamily="34" charset="-122"/>
                <a:cs typeface="Inter" pitchFamily="34" charset="-120"/>
              </a:rPr>
              <a:t>Weekly</a:t>
            </a:r>
            <a:endParaRPr lang="en-US" sz="950" dirty="0"/>
          </a:p>
        </p:txBody>
      </p:sp>
      <p:sp>
        <p:nvSpPr>
          <p:cNvPr id="28" name="Shape 25"/>
          <p:cNvSpPr/>
          <p:nvPr/>
        </p:nvSpPr>
        <p:spPr>
          <a:xfrm>
            <a:off x="4882896" y="2788920"/>
            <a:ext cx="146304" cy="182880"/>
          </a:xfrm>
          <a:prstGeom prst="rightArrow">
            <a:avLst/>
          </a:prstGeom>
          <a:solidFill>
            <a:srgbClr val="1D4ED8"/>
          </a:solidFill>
          <a:ln w="6350">
            <a:solidFill>
              <a:srgbClr val="1D4ED8"/>
            </a:solidFill>
            <a:prstDash val="solid"/>
          </a:ln>
        </p:spPr>
        <p:txBody>
          <a:bodyPr/>
          <a:lstStyle/>
          <a:p>
            <a:endParaRPr lang="en-US"/>
          </a:p>
        </p:txBody>
      </p:sp>
      <p:sp>
        <p:nvSpPr>
          <p:cNvPr id="29" name="Shape 26"/>
          <p:cNvSpPr/>
          <p:nvPr/>
        </p:nvSpPr>
        <p:spPr>
          <a:xfrm>
            <a:off x="5038344" y="1371600"/>
            <a:ext cx="2103120" cy="3063240"/>
          </a:xfrm>
          <a:prstGeom prst="roundRect">
            <a:avLst>
              <a:gd name="adj" fmla="val 4348"/>
            </a:avLst>
          </a:prstGeom>
          <a:solidFill>
            <a:srgbClr val="F8FAFC"/>
          </a:solidFill>
          <a:ln w="9525">
            <a:solidFill>
              <a:srgbClr val="E2E8F0"/>
            </a:solidFill>
            <a:prstDash val="solid"/>
          </a:ln>
        </p:spPr>
        <p:txBody>
          <a:bodyPr/>
          <a:lstStyle/>
          <a:p>
            <a:endParaRPr lang="en-US"/>
          </a:p>
        </p:txBody>
      </p:sp>
      <p:sp>
        <p:nvSpPr>
          <p:cNvPr id="30" name="Shape 27"/>
          <p:cNvSpPr/>
          <p:nvPr/>
        </p:nvSpPr>
        <p:spPr>
          <a:xfrm>
            <a:off x="5184648" y="1536192"/>
            <a:ext cx="329184" cy="329184"/>
          </a:xfrm>
          <a:prstGeom prst="ellipse">
            <a:avLst/>
          </a:prstGeom>
          <a:solidFill>
            <a:srgbClr val="1D4ED8"/>
          </a:solidFill>
          <a:ln w="6350">
            <a:solidFill>
              <a:srgbClr val="1D4ED8"/>
            </a:solidFill>
            <a:prstDash val="solid"/>
          </a:ln>
        </p:spPr>
        <p:txBody>
          <a:bodyPr/>
          <a:lstStyle/>
          <a:p>
            <a:endParaRPr lang="en-US"/>
          </a:p>
        </p:txBody>
      </p:sp>
      <p:sp>
        <p:nvSpPr>
          <p:cNvPr id="31" name="Text 28"/>
          <p:cNvSpPr txBox="1"/>
          <p:nvPr/>
        </p:nvSpPr>
        <p:spPr>
          <a:xfrm>
            <a:off x="5184648" y="153619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Inter" pitchFamily="34" charset="0"/>
                <a:ea typeface="Inter" pitchFamily="34" charset="-122"/>
                <a:cs typeface="Inter" pitchFamily="34" charset="-120"/>
              </a:rPr>
              <a:t>3</a:t>
            </a:r>
            <a:endParaRPr lang="en-US" sz="1200" dirty="0"/>
          </a:p>
        </p:txBody>
      </p:sp>
      <p:sp>
        <p:nvSpPr>
          <p:cNvPr id="32" name="Text 29"/>
          <p:cNvSpPr txBox="1"/>
          <p:nvPr/>
        </p:nvSpPr>
        <p:spPr>
          <a:xfrm>
            <a:off x="5605272" y="1499616"/>
            <a:ext cx="1463040" cy="384048"/>
          </a:xfrm>
          <a:prstGeom prst="rect">
            <a:avLst/>
          </a:prstGeom>
          <a:noFill/>
          <a:ln/>
        </p:spPr>
        <p:txBody>
          <a:bodyPr wrap="square" lIns="0" tIns="0" rIns="0" bIns="0" rtlCol="0" anchor="ctr"/>
          <a:lstStyle/>
          <a:p>
            <a:pPr marL="0" indent="0">
              <a:buNone/>
            </a:pPr>
            <a:r>
              <a:rPr lang="en-US" sz="1500" b="1" dirty="0">
                <a:solidFill>
                  <a:srgbClr val="0A1F44"/>
                </a:solidFill>
                <a:latin typeface="Inter" pitchFamily="34" charset="0"/>
                <a:ea typeface="Inter" pitchFamily="34" charset="-122"/>
                <a:cs typeface="Inter" pitchFamily="34" charset="-120"/>
              </a:rPr>
              <a:t>Activate</a:t>
            </a:r>
            <a:endParaRPr lang="en-US" sz="1500" dirty="0"/>
          </a:p>
        </p:txBody>
      </p:sp>
      <p:sp>
        <p:nvSpPr>
          <p:cNvPr id="33" name="Shape 30"/>
          <p:cNvSpPr/>
          <p:nvPr/>
        </p:nvSpPr>
        <p:spPr>
          <a:xfrm>
            <a:off x="5184648" y="1975104"/>
            <a:ext cx="1143000" cy="237744"/>
          </a:xfrm>
          <a:prstGeom prst="roundRect">
            <a:avLst>
              <a:gd name="adj" fmla="val 50000"/>
            </a:avLst>
          </a:prstGeom>
          <a:solidFill>
            <a:srgbClr val="FFFFFF"/>
          </a:solidFill>
          <a:ln w="12700">
            <a:solidFill>
              <a:srgbClr val="1D4ED8"/>
            </a:solidFill>
            <a:prstDash val="solid"/>
          </a:ln>
        </p:spPr>
        <p:txBody>
          <a:bodyPr/>
          <a:lstStyle/>
          <a:p>
            <a:endParaRPr lang="en-US"/>
          </a:p>
        </p:txBody>
      </p:sp>
      <p:sp>
        <p:nvSpPr>
          <p:cNvPr id="34" name="Text 31"/>
          <p:cNvSpPr txBox="1"/>
          <p:nvPr/>
        </p:nvSpPr>
        <p:spPr>
          <a:xfrm>
            <a:off x="5184648" y="1975104"/>
            <a:ext cx="1143000" cy="237744"/>
          </a:xfrm>
          <a:prstGeom prst="rect">
            <a:avLst/>
          </a:prstGeom>
          <a:noFill/>
          <a:ln/>
        </p:spPr>
        <p:txBody>
          <a:bodyPr wrap="square" lIns="0" tIns="0" rIns="0" bIns="0" rtlCol="0" anchor="ctr"/>
          <a:lstStyle/>
          <a:p>
            <a:pPr marL="0" indent="0" algn="ctr">
              <a:buNone/>
            </a:pPr>
            <a:r>
              <a:rPr lang="en-US" sz="800" b="1" dirty="0">
                <a:solidFill>
                  <a:srgbClr val="1D4ED8"/>
                </a:solidFill>
                <a:latin typeface="Inter" pitchFamily="34" charset="0"/>
                <a:ea typeface="Inter" pitchFamily="34" charset="-122"/>
                <a:cs typeface="Inter" pitchFamily="34" charset="-120"/>
              </a:rPr>
              <a:t>Options A + B</a:t>
            </a:r>
            <a:endParaRPr lang="en-US" sz="800" dirty="0"/>
          </a:p>
        </p:txBody>
      </p:sp>
      <p:sp>
        <p:nvSpPr>
          <p:cNvPr id="35" name="Text 32"/>
          <p:cNvSpPr txBox="1"/>
          <p:nvPr/>
        </p:nvSpPr>
        <p:spPr>
          <a:xfrm>
            <a:off x="5184648" y="2304288"/>
            <a:ext cx="1828800" cy="1097280"/>
          </a:xfrm>
          <a:prstGeom prst="rect">
            <a:avLst/>
          </a:prstGeom>
          <a:noFill/>
          <a:ln/>
        </p:spPr>
        <p:txBody>
          <a:bodyPr wrap="square" lIns="0" tIns="0" rIns="0" bIns="0" rtlCol="0" anchor="t"/>
          <a:lstStyle/>
          <a:p>
            <a:pPr marL="0" indent="0">
              <a:buNone/>
            </a:pPr>
            <a:r>
              <a:rPr lang="en-US" sz="1000" dirty="0">
                <a:solidFill>
                  <a:srgbClr val="0F172A"/>
                </a:solidFill>
                <a:latin typeface="Inter" pitchFamily="34" charset="0"/>
                <a:ea typeface="Inter" pitchFamily="34" charset="-122"/>
                <a:cs typeface="Inter" pitchFamily="34" charset="-120"/>
              </a:rPr>
              <a:t>Send segments to lifecycle journeys and to paid-media suppression lists</a:t>
            </a:r>
            <a:endParaRPr lang="en-US" sz="1000" dirty="0"/>
          </a:p>
        </p:txBody>
      </p:sp>
      <p:sp>
        <p:nvSpPr>
          <p:cNvPr id="36" name="Shape 33"/>
          <p:cNvSpPr/>
          <p:nvPr/>
        </p:nvSpPr>
        <p:spPr>
          <a:xfrm>
            <a:off x="5184648" y="3520440"/>
            <a:ext cx="1810512" cy="0"/>
          </a:xfrm>
          <a:prstGeom prst="line">
            <a:avLst/>
          </a:prstGeom>
          <a:noFill/>
          <a:ln w="9525">
            <a:solidFill>
              <a:srgbClr val="E2E8F0"/>
            </a:solidFill>
            <a:prstDash val="solid"/>
          </a:ln>
        </p:spPr>
        <p:txBody>
          <a:bodyPr/>
          <a:lstStyle/>
          <a:p>
            <a:endParaRPr lang="en-US"/>
          </a:p>
        </p:txBody>
      </p:sp>
      <p:sp>
        <p:nvSpPr>
          <p:cNvPr id="37" name="Text 34"/>
          <p:cNvSpPr txBox="1"/>
          <p:nvPr/>
        </p:nvSpPr>
        <p:spPr>
          <a:xfrm>
            <a:off x="5184648" y="3584448"/>
            <a:ext cx="1828800" cy="731520"/>
          </a:xfrm>
          <a:prstGeom prst="rect">
            <a:avLst/>
          </a:prstGeom>
          <a:noFill/>
          <a:ln/>
        </p:spPr>
        <p:txBody>
          <a:bodyPr wrap="square" lIns="0" tIns="0" rIns="0" bIns="0" rtlCol="0" anchor="t"/>
          <a:lstStyle/>
          <a:p>
            <a:pPr marL="0" indent="0">
              <a:buNone/>
            </a:pPr>
            <a:r>
              <a:rPr lang="en-US" sz="750" b="1" dirty="0">
                <a:solidFill>
                  <a:srgbClr val="1D4ED8"/>
                </a:solidFill>
                <a:latin typeface="Inter" pitchFamily="34" charset="0"/>
                <a:ea typeface="Inter" pitchFamily="34" charset="-122"/>
                <a:cs typeface="Inter" pitchFamily="34" charset="-120"/>
              </a:rPr>
              <a:t>OWNER  </a:t>
            </a:r>
            <a:r>
              <a:rPr lang="en-US" sz="950" b="1" dirty="0">
                <a:solidFill>
                  <a:srgbClr val="0A1F44"/>
                </a:solidFill>
                <a:latin typeface="Inter" pitchFamily="34" charset="0"/>
                <a:ea typeface="Inter" pitchFamily="34" charset="-122"/>
                <a:cs typeface="Inter" pitchFamily="34" charset="-120"/>
              </a:rPr>
              <a:t>Marketing ops</a:t>
            </a:r>
            <a:endParaRPr lang="en-US" sz="950" dirty="0"/>
          </a:p>
          <a:p>
            <a:pPr marL="0" indent="0">
              <a:buNone/>
            </a:pPr>
            <a:r>
              <a:rPr lang="en-US" sz="750" b="1" dirty="0">
                <a:solidFill>
                  <a:srgbClr val="1D4ED8"/>
                </a:solidFill>
                <a:latin typeface="Inter" pitchFamily="34" charset="0"/>
                <a:ea typeface="Inter" pitchFamily="34" charset="-122"/>
                <a:cs typeface="Inter" pitchFamily="34" charset="-120"/>
              </a:rPr>
              <a:t>RHYTHM  </a:t>
            </a:r>
            <a:r>
              <a:rPr lang="en-US" sz="950" dirty="0">
                <a:solidFill>
                  <a:srgbClr val="0F172A"/>
                </a:solidFill>
                <a:latin typeface="Inter" pitchFamily="34" charset="0"/>
                <a:ea typeface="Inter" pitchFamily="34" charset="-122"/>
                <a:cs typeface="Inter" pitchFamily="34" charset="-120"/>
              </a:rPr>
              <a:t>Daily sync</a:t>
            </a:r>
            <a:endParaRPr lang="en-US" sz="950" dirty="0"/>
          </a:p>
        </p:txBody>
      </p:sp>
      <p:sp>
        <p:nvSpPr>
          <p:cNvPr id="38" name="Shape 35"/>
          <p:cNvSpPr/>
          <p:nvPr/>
        </p:nvSpPr>
        <p:spPr>
          <a:xfrm>
            <a:off x="7150608" y="2788920"/>
            <a:ext cx="146304" cy="182880"/>
          </a:xfrm>
          <a:prstGeom prst="rightArrow">
            <a:avLst/>
          </a:prstGeom>
          <a:solidFill>
            <a:srgbClr val="1D4ED8"/>
          </a:solidFill>
          <a:ln w="6350">
            <a:solidFill>
              <a:srgbClr val="1D4ED8"/>
            </a:solidFill>
            <a:prstDash val="solid"/>
          </a:ln>
        </p:spPr>
        <p:txBody>
          <a:bodyPr/>
          <a:lstStyle/>
          <a:p>
            <a:endParaRPr lang="en-US"/>
          </a:p>
        </p:txBody>
      </p:sp>
      <p:sp>
        <p:nvSpPr>
          <p:cNvPr id="39" name="Shape 36"/>
          <p:cNvSpPr/>
          <p:nvPr/>
        </p:nvSpPr>
        <p:spPr>
          <a:xfrm>
            <a:off x="7306056" y="1371600"/>
            <a:ext cx="2103120" cy="3063240"/>
          </a:xfrm>
          <a:prstGeom prst="roundRect">
            <a:avLst>
              <a:gd name="adj" fmla="val 4348"/>
            </a:avLst>
          </a:prstGeom>
          <a:solidFill>
            <a:srgbClr val="F8FAFC"/>
          </a:solidFill>
          <a:ln w="9525">
            <a:solidFill>
              <a:srgbClr val="E2E8F0"/>
            </a:solidFill>
            <a:prstDash val="solid"/>
          </a:ln>
        </p:spPr>
        <p:txBody>
          <a:bodyPr/>
          <a:lstStyle/>
          <a:p>
            <a:endParaRPr lang="en-US"/>
          </a:p>
        </p:txBody>
      </p:sp>
      <p:sp>
        <p:nvSpPr>
          <p:cNvPr id="40" name="Shape 37"/>
          <p:cNvSpPr/>
          <p:nvPr/>
        </p:nvSpPr>
        <p:spPr>
          <a:xfrm>
            <a:off x="7452360" y="1536192"/>
            <a:ext cx="329184" cy="329184"/>
          </a:xfrm>
          <a:prstGeom prst="ellipse">
            <a:avLst/>
          </a:prstGeom>
          <a:solidFill>
            <a:srgbClr val="1D4ED8"/>
          </a:solidFill>
          <a:ln w="6350">
            <a:solidFill>
              <a:srgbClr val="1D4ED8"/>
            </a:solidFill>
            <a:prstDash val="solid"/>
          </a:ln>
        </p:spPr>
        <p:txBody>
          <a:bodyPr/>
          <a:lstStyle/>
          <a:p>
            <a:endParaRPr lang="en-US"/>
          </a:p>
        </p:txBody>
      </p:sp>
      <p:sp>
        <p:nvSpPr>
          <p:cNvPr id="41" name="Text 38"/>
          <p:cNvSpPr txBox="1"/>
          <p:nvPr/>
        </p:nvSpPr>
        <p:spPr>
          <a:xfrm>
            <a:off x="7452360" y="153619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Inter" pitchFamily="34" charset="0"/>
                <a:ea typeface="Inter" pitchFamily="34" charset="-122"/>
                <a:cs typeface="Inter" pitchFamily="34" charset="-120"/>
              </a:rPr>
              <a:t>4</a:t>
            </a:r>
            <a:endParaRPr lang="en-US" sz="1200" dirty="0"/>
          </a:p>
        </p:txBody>
      </p:sp>
      <p:sp>
        <p:nvSpPr>
          <p:cNvPr id="42" name="Text 39"/>
          <p:cNvSpPr txBox="1"/>
          <p:nvPr/>
        </p:nvSpPr>
        <p:spPr>
          <a:xfrm>
            <a:off x="7872984" y="1499616"/>
            <a:ext cx="1463040" cy="384048"/>
          </a:xfrm>
          <a:prstGeom prst="rect">
            <a:avLst/>
          </a:prstGeom>
          <a:noFill/>
          <a:ln/>
        </p:spPr>
        <p:txBody>
          <a:bodyPr wrap="square" lIns="0" tIns="0" rIns="0" bIns="0" rtlCol="0" anchor="ctr"/>
          <a:lstStyle/>
          <a:p>
            <a:pPr marL="0" indent="0">
              <a:buNone/>
            </a:pPr>
            <a:r>
              <a:rPr lang="en-US" sz="1500" b="1" dirty="0">
                <a:solidFill>
                  <a:srgbClr val="0A1F44"/>
                </a:solidFill>
                <a:latin typeface="Inter" pitchFamily="34" charset="0"/>
                <a:ea typeface="Inter" pitchFamily="34" charset="-122"/>
                <a:cs typeface="Inter" pitchFamily="34" charset="-120"/>
              </a:rPr>
              <a:t>Prove</a:t>
            </a:r>
            <a:endParaRPr lang="en-US" sz="1500" dirty="0"/>
          </a:p>
        </p:txBody>
      </p:sp>
      <p:sp>
        <p:nvSpPr>
          <p:cNvPr id="43" name="Shape 40"/>
          <p:cNvSpPr/>
          <p:nvPr/>
        </p:nvSpPr>
        <p:spPr>
          <a:xfrm>
            <a:off x="7452360" y="1975104"/>
            <a:ext cx="822960" cy="237744"/>
          </a:xfrm>
          <a:prstGeom prst="roundRect">
            <a:avLst>
              <a:gd name="adj" fmla="val 50000"/>
            </a:avLst>
          </a:prstGeom>
          <a:solidFill>
            <a:srgbClr val="FFFFFF"/>
          </a:solidFill>
          <a:ln w="12700">
            <a:solidFill>
              <a:srgbClr val="1D4ED8"/>
            </a:solidFill>
            <a:prstDash val="solid"/>
          </a:ln>
        </p:spPr>
        <p:txBody>
          <a:bodyPr/>
          <a:lstStyle/>
          <a:p>
            <a:endParaRPr lang="en-US"/>
          </a:p>
        </p:txBody>
      </p:sp>
      <p:sp>
        <p:nvSpPr>
          <p:cNvPr id="44" name="Text 41"/>
          <p:cNvSpPr txBox="1"/>
          <p:nvPr/>
        </p:nvSpPr>
        <p:spPr>
          <a:xfrm>
            <a:off x="7452360" y="1975104"/>
            <a:ext cx="822960" cy="237744"/>
          </a:xfrm>
          <a:prstGeom prst="rect">
            <a:avLst/>
          </a:prstGeom>
          <a:noFill/>
          <a:ln/>
        </p:spPr>
        <p:txBody>
          <a:bodyPr wrap="square" lIns="0" tIns="0" rIns="0" bIns="0" rtlCol="0" anchor="ctr"/>
          <a:lstStyle/>
          <a:p>
            <a:pPr marL="0" indent="0" algn="ctr">
              <a:buNone/>
            </a:pPr>
            <a:r>
              <a:rPr lang="en-US" sz="800" b="1" dirty="0">
                <a:solidFill>
                  <a:srgbClr val="1D4ED8"/>
                </a:solidFill>
                <a:latin typeface="Inter" pitchFamily="34" charset="0"/>
                <a:ea typeface="Inter" pitchFamily="34" charset="-122"/>
                <a:cs typeface="Inter" pitchFamily="34" charset="-120"/>
              </a:rPr>
              <a:t>Option C</a:t>
            </a:r>
            <a:endParaRPr lang="en-US" sz="800" dirty="0"/>
          </a:p>
        </p:txBody>
      </p:sp>
      <p:sp>
        <p:nvSpPr>
          <p:cNvPr id="45" name="Text 42"/>
          <p:cNvSpPr txBox="1"/>
          <p:nvPr/>
        </p:nvSpPr>
        <p:spPr>
          <a:xfrm>
            <a:off x="7452360" y="2304288"/>
            <a:ext cx="1828800" cy="1097280"/>
          </a:xfrm>
          <a:prstGeom prst="rect">
            <a:avLst/>
          </a:prstGeom>
          <a:noFill/>
          <a:ln/>
        </p:spPr>
        <p:txBody>
          <a:bodyPr wrap="square" lIns="0" tIns="0" rIns="0" bIns="0" rtlCol="0" anchor="t"/>
          <a:lstStyle/>
          <a:p>
            <a:pPr marL="0" indent="0">
              <a:buNone/>
            </a:pPr>
            <a:r>
              <a:rPr lang="en-US" sz="1000" dirty="0">
                <a:solidFill>
                  <a:srgbClr val="0F172A"/>
                </a:solidFill>
                <a:latin typeface="Inter" pitchFamily="34" charset="0"/>
                <a:ea typeface="Inter" pitchFamily="34" charset="-122"/>
                <a:cs typeface="Inter" pitchFamily="34" charset="-120"/>
              </a:rPr>
              <a:t>Read every move against a randomized holdout: 10% in the South pilot</a:t>
            </a:r>
            <a:endParaRPr lang="en-US" sz="1000" dirty="0"/>
          </a:p>
        </p:txBody>
      </p:sp>
      <p:sp>
        <p:nvSpPr>
          <p:cNvPr id="46" name="Shape 43"/>
          <p:cNvSpPr/>
          <p:nvPr/>
        </p:nvSpPr>
        <p:spPr>
          <a:xfrm>
            <a:off x="7452360" y="3520440"/>
            <a:ext cx="1810512" cy="0"/>
          </a:xfrm>
          <a:prstGeom prst="line">
            <a:avLst/>
          </a:prstGeom>
          <a:noFill/>
          <a:ln w="9525">
            <a:solidFill>
              <a:srgbClr val="E2E8F0"/>
            </a:solidFill>
            <a:prstDash val="solid"/>
          </a:ln>
        </p:spPr>
        <p:txBody>
          <a:bodyPr/>
          <a:lstStyle/>
          <a:p>
            <a:endParaRPr lang="en-US"/>
          </a:p>
        </p:txBody>
      </p:sp>
      <p:sp>
        <p:nvSpPr>
          <p:cNvPr id="47" name="Text 44"/>
          <p:cNvSpPr txBox="1"/>
          <p:nvPr/>
        </p:nvSpPr>
        <p:spPr>
          <a:xfrm>
            <a:off x="7452360" y="3584448"/>
            <a:ext cx="1828800" cy="731520"/>
          </a:xfrm>
          <a:prstGeom prst="rect">
            <a:avLst/>
          </a:prstGeom>
          <a:noFill/>
          <a:ln/>
        </p:spPr>
        <p:txBody>
          <a:bodyPr wrap="square" lIns="0" tIns="0" rIns="0" bIns="0" rtlCol="0" anchor="t"/>
          <a:lstStyle/>
          <a:p>
            <a:pPr marL="0" indent="0">
              <a:buNone/>
            </a:pPr>
            <a:r>
              <a:rPr lang="en-US" sz="750" b="1" dirty="0">
                <a:solidFill>
                  <a:srgbClr val="1D4ED8"/>
                </a:solidFill>
                <a:latin typeface="Inter" pitchFamily="34" charset="0"/>
                <a:ea typeface="Inter" pitchFamily="34" charset="-122"/>
                <a:cs typeface="Inter" pitchFamily="34" charset="-120"/>
              </a:rPr>
              <a:t>OWNER  </a:t>
            </a:r>
            <a:r>
              <a:rPr lang="en-US" sz="950" b="1" dirty="0">
                <a:solidFill>
                  <a:srgbClr val="0A1F44"/>
                </a:solidFill>
                <a:latin typeface="Inter" pitchFamily="34" charset="0"/>
                <a:ea typeface="Inter" pitchFamily="34" charset="-122"/>
                <a:cs typeface="Inter" pitchFamily="34" charset="-120"/>
              </a:rPr>
              <a:t>Head of Analytics</a:t>
            </a:r>
            <a:endParaRPr lang="en-US" sz="950" dirty="0"/>
          </a:p>
          <a:p>
            <a:pPr marL="0" indent="0">
              <a:buNone/>
            </a:pPr>
            <a:r>
              <a:rPr lang="en-US" sz="750" b="1" dirty="0">
                <a:solidFill>
                  <a:srgbClr val="1D4ED8"/>
                </a:solidFill>
                <a:latin typeface="Inter" pitchFamily="34" charset="0"/>
                <a:ea typeface="Inter" pitchFamily="34" charset="-122"/>
                <a:cs typeface="Inter" pitchFamily="34" charset="-120"/>
              </a:rPr>
              <a:t>RHYTHM  </a:t>
            </a:r>
            <a:r>
              <a:rPr lang="en-US" sz="950" dirty="0">
                <a:solidFill>
                  <a:srgbClr val="0F172A"/>
                </a:solidFill>
                <a:latin typeface="Inter" pitchFamily="34" charset="0"/>
                <a:ea typeface="Inter" pitchFamily="34" charset="-122"/>
                <a:cs typeface="Inter" pitchFamily="34" charset="-120"/>
              </a:rPr>
              <a:t>Weekly council</a:t>
            </a:r>
            <a:endParaRPr lang="en-US" sz="950" dirty="0"/>
          </a:p>
        </p:txBody>
      </p:sp>
      <p:sp>
        <p:nvSpPr>
          <p:cNvPr id="48" name="Shape 45"/>
          <p:cNvSpPr/>
          <p:nvPr/>
        </p:nvSpPr>
        <p:spPr>
          <a:xfrm>
            <a:off x="9418320" y="2788920"/>
            <a:ext cx="146304" cy="182880"/>
          </a:xfrm>
          <a:prstGeom prst="rightArrow">
            <a:avLst/>
          </a:prstGeom>
          <a:solidFill>
            <a:srgbClr val="1D4ED8"/>
          </a:solidFill>
          <a:ln w="6350">
            <a:solidFill>
              <a:srgbClr val="1D4ED8"/>
            </a:solidFill>
            <a:prstDash val="solid"/>
          </a:ln>
        </p:spPr>
        <p:txBody>
          <a:bodyPr/>
          <a:lstStyle/>
          <a:p>
            <a:endParaRPr lang="en-US"/>
          </a:p>
        </p:txBody>
      </p:sp>
      <p:sp>
        <p:nvSpPr>
          <p:cNvPr id="49" name="Shape 46"/>
          <p:cNvSpPr/>
          <p:nvPr/>
        </p:nvSpPr>
        <p:spPr>
          <a:xfrm>
            <a:off x="9573768" y="1371600"/>
            <a:ext cx="2103120" cy="3063240"/>
          </a:xfrm>
          <a:prstGeom prst="roundRect">
            <a:avLst>
              <a:gd name="adj" fmla="val 4348"/>
            </a:avLst>
          </a:prstGeom>
          <a:solidFill>
            <a:srgbClr val="F8FAFC"/>
          </a:solidFill>
          <a:ln w="9525">
            <a:solidFill>
              <a:srgbClr val="E2E8F0"/>
            </a:solidFill>
            <a:prstDash val="solid"/>
          </a:ln>
        </p:spPr>
        <p:txBody>
          <a:bodyPr/>
          <a:lstStyle/>
          <a:p>
            <a:endParaRPr lang="en-US"/>
          </a:p>
        </p:txBody>
      </p:sp>
      <p:sp>
        <p:nvSpPr>
          <p:cNvPr id="50" name="Shape 47"/>
          <p:cNvSpPr/>
          <p:nvPr/>
        </p:nvSpPr>
        <p:spPr>
          <a:xfrm>
            <a:off x="9720072" y="1536192"/>
            <a:ext cx="329184" cy="329184"/>
          </a:xfrm>
          <a:prstGeom prst="ellipse">
            <a:avLst/>
          </a:prstGeom>
          <a:solidFill>
            <a:srgbClr val="0A1F44"/>
          </a:solidFill>
          <a:ln w="6350">
            <a:solidFill>
              <a:srgbClr val="0A1F44"/>
            </a:solidFill>
            <a:prstDash val="solid"/>
          </a:ln>
        </p:spPr>
        <p:txBody>
          <a:bodyPr/>
          <a:lstStyle/>
          <a:p>
            <a:endParaRPr lang="en-US"/>
          </a:p>
        </p:txBody>
      </p:sp>
      <p:sp>
        <p:nvSpPr>
          <p:cNvPr id="51" name="Text 48"/>
          <p:cNvSpPr txBox="1"/>
          <p:nvPr/>
        </p:nvSpPr>
        <p:spPr>
          <a:xfrm>
            <a:off x="9720072" y="153619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Inter" pitchFamily="34" charset="0"/>
                <a:ea typeface="Inter" pitchFamily="34" charset="-122"/>
                <a:cs typeface="Inter" pitchFamily="34" charset="-120"/>
              </a:rPr>
              <a:t>5</a:t>
            </a:r>
            <a:endParaRPr lang="en-US" sz="1200" dirty="0"/>
          </a:p>
        </p:txBody>
      </p:sp>
      <p:sp>
        <p:nvSpPr>
          <p:cNvPr id="52" name="Text 49"/>
          <p:cNvSpPr txBox="1"/>
          <p:nvPr/>
        </p:nvSpPr>
        <p:spPr>
          <a:xfrm>
            <a:off x="10140696" y="1499616"/>
            <a:ext cx="1463040" cy="384048"/>
          </a:xfrm>
          <a:prstGeom prst="rect">
            <a:avLst/>
          </a:prstGeom>
          <a:noFill/>
          <a:ln/>
        </p:spPr>
        <p:txBody>
          <a:bodyPr wrap="square" lIns="0" tIns="0" rIns="0" bIns="0" rtlCol="0" anchor="ctr"/>
          <a:lstStyle/>
          <a:p>
            <a:pPr marL="0" indent="0">
              <a:buNone/>
            </a:pPr>
            <a:r>
              <a:rPr lang="en-US" sz="1500" b="1" dirty="0">
                <a:solidFill>
                  <a:srgbClr val="0A1F44"/>
                </a:solidFill>
                <a:latin typeface="Inter" pitchFamily="34" charset="0"/>
                <a:ea typeface="Inter" pitchFamily="34" charset="-122"/>
                <a:cs typeface="Inter" pitchFamily="34" charset="-120"/>
              </a:rPr>
              <a:t>Reallocate</a:t>
            </a:r>
            <a:endParaRPr lang="en-US" sz="1500" dirty="0"/>
          </a:p>
        </p:txBody>
      </p:sp>
      <p:sp>
        <p:nvSpPr>
          <p:cNvPr id="53" name="Shape 50"/>
          <p:cNvSpPr/>
          <p:nvPr/>
        </p:nvSpPr>
        <p:spPr>
          <a:xfrm>
            <a:off x="9720072" y="1975104"/>
            <a:ext cx="822960" cy="237744"/>
          </a:xfrm>
          <a:prstGeom prst="roundRect">
            <a:avLst>
              <a:gd name="adj" fmla="val 50000"/>
            </a:avLst>
          </a:prstGeom>
          <a:solidFill>
            <a:srgbClr val="FFFFFF"/>
          </a:solidFill>
          <a:ln w="12700">
            <a:solidFill>
              <a:srgbClr val="1D4ED8"/>
            </a:solidFill>
            <a:prstDash val="solid"/>
          </a:ln>
        </p:spPr>
        <p:txBody>
          <a:bodyPr/>
          <a:lstStyle/>
          <a:p>
            <a:endParaRPr lang="en-US"/>
          </a:p>
        </p:txBody>
      </p:sp>
      <p:sp>
        <p:nvSpPr>
          <p:cNvPr id="54" name="Text 51"/>
          <p:cNvSpPr txBox="1"/>
          <p:nvPr/>
        </p:nvSpPr>
        <p:spPr>
          <a:xfrm>
            <a:off x="9720072" y="1975104"/>
            <a:ext cx="822960" cy="237744"/>
          </a:xfrm>
          <a:prstGeom prst="rect">
            <a:avLst/>
          </a:prstGeom>
          <a:noFill/>
          <a:ln/>
        </p:spPr>
        <p:txBody>
          <a:bodyPr wrap="square" lIns="0" tIns="0" rIns="0" bIns="0" rtlCol="0" anchor="ctr"/>
          <a:lstStyle/>
          <a:p>
            <a:pPr marL="0" indent="0" algn="ctr">
              <a:buNone/>
            </a:pPr>
            <a:r>
              <a:rPr lang="en-US" sz="800" b="1" dirty="0">
                <a:solidFill>
                  <a:srgbClr val="1D4ED8"/>
                </a:solidFill>
                <a:latin typeface="Inter" pitchFamily="34" charset="0"/>
                <a:ea typeface="Inter" pitchFamily="34" charset="-122"/>
                <a:cs typeface="Inter" pitchFamily="34" charset="-120"/>
              </a:rPr>
              <a:t>Option C</a:t>
            </a:r>
            <a:endParaRPr lang="en-US" sz="800" dirty="0"/>
          </a:p>
        </p:txBody>
      </p:sp>
      <p:sp>
        <p:nvSpPr>
          <p:cNvPr id="55" name="Text 52"/>
          <p:cNvSpPr txBox="1"/>
          <p:nvPr/>
        </p:nvSpPr>
        <p:spPr>
          <a:xfrm>
            <a:off x="9720072" y="2304288"/>
            <a:ext cx="1828800" cy="1097280"/>
          </a:xfrm>
          <a:prstGeom prst="rect">
            <a:avLst/>
          </a:prstGeom>
          <a:noFill/>
          <a:ln/>
        </p:spPr>
        <p:txBody>
          <a:bodyPr wrap="square" lIns="0" tIns="0" rIns="0" bIns="0" rtlCol="0" anchor="t"/>
          <a:lstStyle/>
          <a:p>
            <a:pPr marL="0" indent="0">
              <a:buNone/>
            </a:pPr>
            <a:r>
              <a:rPr lang="en-US" sz="1000" dirty="0">
                <a:solidFill>
                  <a:srgbClr val="0F172A"/>
                </a:solidFill>
                <a:latin typeface="Inter" pitchFamily="34" charset="0"/>
                <a:ea typeface="Inter" pitchFamily="34" charset="-122"/>
                <a:cs typeface="Inter" pitchFamily="34" charset="-120"/>
              </a:rPr>
              <a:t>Move money across lines only when the holdout proves it; otherwise it stays</a:t>
            </a:r>
            <a:endParaRPr lang="en-US" sz="1000" dirty="0"/>
          </a:p>
        </p:txBody>
      </p:sp>
      <p:sp>
        <p:nvSpPr>
          <p:cNvPr id="56" name="Shape 53"/>
          <p:cNvSpPr/>
          <p:nvPr/>
        </p:nvSpPr>
        <p:spPr>
          <a:xfrm>
            <a:off x="9720072" y="3520440"/>
            <a:ext cx="1810512" cy="0"/>
          </a:xfrm>
          <a:prstGeom prst="line">
            <a:avLst/>
          </a:prstGeom>
          <a:noFill/>
          <a:ln w="9525">
            <a:solidFill>
              <a:srgbClr val="E2E8F0"/>
            </a:solidFill>
            <a:prstDash val="solid"/>
          </a:ln>
        </p:spPr>
        <p:txBody>
          <a:bodyPr/>
          <a:lstStyle/>
          <a:p>
            <a:endParaRPr lang="en-US"/>
          </a:p>
        </p:txBody>
      </p:sp>
      <p:sp>
        <p:nvSpPr>
          <p:cNvPr id="57" name="Text 54"/>
          <p:cNvSpPr txBox="1"/>
          <p:nvPr/>
        </p:nvSpPr>
        <p:spPr>
          <a:xfrm>
            <a:off x="9720072" y="3584448"/>
            <a:ext cx="1828800" cy="731520"/>
          </a:xfrm>
          <a:prstGeom prst="rect">
            <a:avLst/>
          </a:prstGeom>
          <a:noFill/>
          <a:ln/>
        </p:spPr>
        <p:txBody>
          <a:bodyPr wrap="square" lIns="0" tIns="0" rIns="0" bIns="0" rtlCol="0" anchor="t"/>
          <a:lstStyle/>
          <a:p>
            <a:pPr marL="0" indent="0">
              <a:buNone/>
            </a:pPr>
            <a:r>
              <a:rPr lang="en-US" sz="750" b="1" dirty="0">
                <a:solidFill>
                  <a:srgbClr val="1D4ED8"/>
                </a:solidFill>
                <a:latin typeface="Inter" pitchFamily="34" charset="0"/>
                <a:ea typeface="Inter" pitchFamily="34" charset="-122"/>
                <a:cs typeface="Inter" pitchFamily="34" charset="-120"/>
              </a:rPr>
              <a:t>OWNER  </a:t>
            </a:r>
            <a:r>
              <a:rPr lang="en-US" sz="950" b="1" dirty="0">
                <a:solidFill>
                  <a:srgbClr val="0A1F44"/>
                </a:solidFill>
                <a:latin typeface="Inter" pitchFamily="34" charset="0"/>
                <a:ea typeface="Inter" pitchFamily="34" charset="-122"/>
                <a:cs typeface="Inter" pitchFamily="34" charset="-120"/>
              </a:rPr>
              <a:t>CMO + CFO</a:t>
            </a:r>
            <a:endParaRPr lang="en-US" sz="950" dirty="0"/>
          </a:p>
          <a:p>
            <a:pPr marL="0" indent="0">
              <a:buNone/>
            </a:pPr>
            <a:r>
              <a:rPr lang="en-US" sz="750" b="1" dirty="0">
                <a:solidFill>
                  <a:srgbClr val="1D4ED8"/>
                </a:solidFill>
                <a:latin typeface="Inter" pitchFamily="34" charset="0"/>
                <a:ea typeface="Inter" pitchFamily="34" charset="-122"/>
                <a:cs typeface="Inter" pitchFamily="34" charset="-120"/>
              </a:rPr>
              <a:t>RHYTHM  </a:t>
            </a:r>
            <a:r>
              <a:rPr lang="en-US" sz="950" dirty="0">
                <a:solidFill>
                  <a:srgbClr val="0F172A"/>
                </a:solidFill>
                <a:latin typeface="Inter" pitchFamily="34" charset="0"/>
                <a:ea typeface="Inter" pitchFamily="34" charset="-122"/>
                <a:cs typeface="Inter" pitchFamily="34" charset="-120"/>
              </a:rPr>
              <a:t>Gates: months 3, 9</a:t>
            </a:r>
            <a:endParaRPr lang="en-US" sz="950" dirty="0"/>
          </a:p>
        </p:txBody>
      </p:sp>
      <p:sp>
        <p:nvSpPr>
          <p:cNvPr id="58" name="Shape 55"/>
          <p:cNvSpPr/>
          <p:nvPr/>
        </p:nvSpPr>
        <p:spPr>
          <a:xfrm>
            <a:off x="10652760" y="4434840"/>
            <a:ext cx="0" cy="384048"/>
          </a:xfrm>
          <a:prstGeom prst="line">
            <a:avLst/>
          </a:prstGeom>
          <a:noFill/>
          <a:ln w="15875">
            <a:solidFill>
              <a:srgbClr val="1D4ED8"/>
            </a:solidFill>
            <a:prstDash val="solid"/>
          </a:ln>
        </p:spPr>
        <p:txBody>
          <a:bodyPr/>
          <a:lstStyle/>
          <a:p>
            <a:endParaRPr lang="en-US"/>
          </a:p>
        </p:txBody>
      </p:sp>
      <p:sp>
        <p:nvSpPr>
          <p:cNvPr id="59" name="Shape 56"/>
          <p:cNvSpPr/>
          <p:nvPr/>
        </p:nvSpPr>
        <p:spPr>
          <a:xfrm>
            <a:off x="1554480" y="4818888"/>
            <a:ext cx="9098280" cy="0"/>
          </a:xfrm>
          <a:prstGeom prst="line">
            <a:avLst/>
          </a:prstGeom>
          <a:noFill/>
          <a:ln w="15875">
            <a:solidFill>
              <a:srgbClr val="1D4ED8"/>
            </a:solidFill>
            <a:prstDash val="solid"/>
          </a:ln>
        </p:spPr>
        <p:txBody>
          <a:bodyPr/>
          <a:lstStyle/>
          <a:p>
            <a:endParaRPr lang="en-US"/>
          </a:p>
        </p:txBody>
      </p:sp>
      <p:sp>
        <p:nvSpPr>
          <p:cNvPr id="60" name="Shape 57"/>
          <p:cNvSpPr/>
          <p:nvPr/>
        </p:nvSpPr>
        <p:spPr>
          <a:xfrm>
            <a:off x="1554480" y="4434840"/>
            <a:ext cx="0" cy="384048"/>
          </a:xfrm>
          <a:prstGeom prst="line">
            <a:avLst/>
          </a:prstGeom>
          <a:noFill/>
          <a:ln w="15875">
            <a:solidFill>
              <a:srgbClr val="1D4ED8"/>
            </a:solidFill>
            <a:prstDash val="solid"/>
            <a:headEnd type="triangle"/>
          </a:ln>
        </p:spPr>
        <p:txBody>
          <a:bodyPr/>
          <a:lstStyle/>
          <a:p>
            <a:endParaRPr lang="en-US"/>
          </a:p>
        </p:txBody>
      </p:sp>
      <p:sp>
        <p:nvSpPr>
          <p:cNvPr id="61" name="Shape 58"/>
          <p:cNvSpPr/>
          <p:nvPr/>
        </p:nvSpPr>
        <p:spPr>
          <a:xfrm>
            <a:off x="4206240" y="4681728"/>
            <a:ext cx="3840480" cy="274320"/>
          </a:xfrm>
          <a:prstGeom prst="roundRect">
            <a:avLst>
              <a:gd name="adj" fmla="val 26667"/>
            </a:avLst>
          </a:prstGeom>
          <a:solidFill>
            <a:srgbClr val="FFFFFF"/>
          </a:solidFill>
          <a:ln w="6350">
            <a:solidFill>
              <a:srgbClr val="FFFFFF"/>
            </a:solidFill>
            <a:prstDash val="solid"/>
          </a:ln>
        </p:spPr>
        <p:txBody>
          <a:bodyPr/>
          <a:lstStyle/>
          <a:p>
            <a:endParaRPr lang="en-US"/>
          </a:p>
        </p:txBody>
      </p:sp>
      <p:sp>
        <p:nvSpPr>
          <p:cNvPr id="62" name="Text 59"/>
          <p:cNvSpPr txBox="1"/>
          <p:nvPr/>
        </p:nvSpPr>
        <p:spPr>
          <a:xfrm>
            <a:off x="4206240" y="4681728"/>
            <a:ext cx="3840480" cy="274320"/>
          </a:xfrm>
          <a:prstGeom prst="rect">
            <a:avLst/>
          </a:prstGeom>
          <a:noFill/>
          <a:ln/>
        </p:spPr>
        <p:txBody>
          <a:bodyPr wrap="square" lIns="0" tIns="0" rIns="0" bIns="0" rtlCol="0" anchor="ctr"/>
          <a:lstStyle/>
          <a:p>
            <a:pPr marL="0" indent="0" algn="ctr">
              <a:buNone/>
            </a:pPr>
            <a:r>
              <a:rPr lang="en-US" sz="950" b="1" dirty="0">
                <a:solidFill>
                  <a:srgbClr val="1D4ED8"/>
                </a:solidFill>
                <a:latin typeface="Inter" pitchFamily="34" charset="0"/>
                <a:ea typeface="Inter" pitchFamily="34" charset="-122"/>
                <a:cs typeface="Inter" pitchFamily="34" charset="-120"/>
              </a:rPr>
              <a:t>What CJA proves tells us where to look next and what to do next</a:t>
            </a:r>
            <a:endParaRPr lang="en-US" sz="950" dirty="0"/>
          </a:p>
        </p:txBody>
      </p:sp>
      <p:sp>
        <p:nvSpPr>
          <p:cNvPr id="63" name="Text 60"/>
          <p:cNvSpPr txBox="1"/>
          <p:nvPr/>
        </p:nvSpPr>
        <p:spPr>
          <a:xfrm>
            <a:off x="502920" y="5102352"/>
            <a:ext cx="11183112" cy="457200"/>
          </a:xfrm>
          <a:prstGeom prst="rect">
            <a:avLst/>
          </a:prstGeom>
          <a:noFill/>
          <a:ln/>
        </p:spPr>
        <p:txBody>
          <a:bodyPr wrap="square" lIns="0" tIns="0" rIns="0" bIns="0" rtlCol="0" anchor="ctr"/>
          <a:lstStyle/>
          <a:p>
            <a:pPr marL="0" indent="0">
              <a:buNone/>
            </a:pPr>
            <a:r>
              <a:rPr lang="en-US" sz="1000" b="1" dirty="0">
                <a:solidFill>
                  <a:srgbClr val="0A1F44"/>
                </a:solidFill>
                <a:latin typeface="Inter" pitchFamily="34" charset="0"/>
                <a:ea typeface="Inter" pitchFamily="34" charset="-122"/>
                <a:cs typeface="Inter" pitchFamily="34" charset="-120"/>
              </a:rPr>
              <a:t>Why it matters:  </a:t>
            </a:r>
            <a:r>
              <a:rPr lang="en-US" sz="1000" dirty="0">
                <a:solidFill>
                  <a:srgbClr val="334155"/>
                </a:solidFill>
                <a:latin typeface="Inter" pitchFamily="34" charset="0"/>
                <a:ea typeface="Inter" pitchFamily="34" charset="-122"/>
                <a:cs typeface="Inter" pitchFamily="34" charset="-120"/>
              </a:rPr>
              <a:t>On its own, Option C takes 6–12 months to trust (Exhibit I). Running it as a weekly loop from day one lets A and B act within weeks, while C decides every budget move.</a:t>
            </a:r>
            <a:endParaRPr lang="en-US" sz="1000" dirty="0"/>
          </a:p>
        </p:txBody>
      </p:sp>
      <p:sp>
        <p:nvSpPr>
          <p:cNvPr id="64" name="Shape 61"/>
          <p:cNvSpPr/>
          <p:nvPr/>
        </p:nvSpPr>
        <p:spPr>
          <a:xfrm>
            <a:off x="502920" y="5715000"/>
            <a:ext cx="11183112" cy="512064"/>
          </a:xfrm>
          <a:prstGeom prst="roundRect">
            <a:avLst>
              <a:gd name="adj" fmla="val 17857"/>
            </a:avLst>
          </a:prstGeom>
          <a:solidFill>
            <a:srgbClr val="EFF6FF"/>
          </a:solidFill>
          <a:ln w="6350">
            <a:solidFill>
              <a:srgbClr val="EFF6FF"/>
            </a:solidFill>
            <a:prstDash val="solid"/>
          </a:ln>
        </p:spPr>
        <p:txBody>
          <a:bodyPr/>
          <a:lstStyle/>
          <a:p>
            <a:endParaRPr lang="en-US"/>
          </a:p>
        </p:txBody>
      </p:sp>
      <p:sp>
        <p:nvSpPr>
          <p:cNvPr id="65" name="Shape 62"/>
          <p:cNvSpPr/>
          <p:nvPr/>
        </p:nvSpPr>
        <p:spPr>
          <a:xfrm>
            <a:off x="640080" y="5806440"/>
            <a:ext cx="329184" cy="329184"/>
          </a:xfrm>
          <a:prstGeom prst="ellipse">
            <a:avLst/>
          </a:prstGeom>
          <a:solidFill>
            <a:srgbClr val="1D4ED8"/>
          </a:solidFill>
          <a:ln w="6350">
            <a:solidFill>
              <a:srgbClr val="1D4ED8"/>
            </a:solidFill>
            <a:prstDash val="solid"/>
          </a:ln>
        </p:spPr>
        <p:txBody>
          <a:bodyPr/>
          <a:lstStyle/>
          <a:p>
            <a:endParaRPr lang="en-US"/>
          </a:p>
        </p:txBody>
      </p:sp>
      <p:pic>
        <p:nvPicPr>
          <p:cNvPr id="66" name="Image 1" descr="preencoded.png"/>
          <p:cNvPicPr>
            <a:picLocks noChangeAspect="1"/>
          </p:cNvPicPr>
          <p:nvPr/>
        </p:nvPicPr>
        <p:blipFill>
          <a:blip r:embed="rId4"/>
          <a:stretch>
            <a:fillRect/>
          </a:stretch>
        </p:blipFill>
        <p:spPr>
          <a:xfrm>
            <a:off x="712500" y="5878860"/>
            <a:ext cx="184343" cy="184343"/>
          </a:xfrm>
          <a:prstGeom prst="rect">
            <a:avLst/>
          </a:prstGeom>
        </p:spPr>
      </p:pic>
      <p:sp>
        <p:nvSpPr>
          <p:cNvPr id="67" name="Text 63"/>
          <p:cNvSpPr txBox="1"/>
          <p:nvPr/>
        </p:nvSpPr>
        <p:spPr>
          <a:xfrm>
            <a:off x="1097280" y="5715000"/>
            <a:ext cx="10424160" cy="512064"/>
          </a:xfrm>
          <a:prstGeom prst="rect">
            <a:avLst/>
          </a:prstGeom>
          <a:noFill/>
          <a:ln/>
        </p:spPr>
        <p:txBody>
          <a:bodyPr wrap="square" lIns="0" tIns="0" rIns="0" bIns="0" rtlCol="0" anchor="ctr"/>
          <a:lstStyle/>
          <a:p>
            <a:pPr marL="0" indent="0">
              <a:buNone/>
            </a:pPr>
            <a:r>
              <a:rPr lang="en-US" sz="1300" b="1" dirty="0">
                <a:solidFill>
                  <a:srgbClr val="0A1F44"/>
                </a:solidFill>
                <a:latin typeface="Inter" pitchFamily="34" charset="0"/>
                <a:ea typeface="Inter" pitchFamily="34" charset="-122"/>
                <a:cs typeface="Inter" pitchFamily="34" charset="-120"/>
              </a:rPr>
              <a:t>Growth and analytics share one workspace, one holdout and one way of deciding</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9326880" cy="841248"/>
          </a:xfrm>
          <a:prstGeom prst="rect">
            <a:avLst/>
          </a:prstGeom>
          <a:noFill/>
          <a:ln/>
        </p:spPr>
        <p:txBody>
          <a:bodyPr wrap="square" lIns="0" tIns="0" rIns="0" bIns="0" rtlCol="0" anchor="ctr"/>
          <a:lstStyle/>
          <a:p>
            <a:pPr marL="0" indent="0">
              <a:buNone/>
            </a:pPr>
            <a:r>
              <a:rPr lang="en-US" sz="2400" b="1" dirty="0">
                <a:solidFill>
                  <a:srgbClr val="0A1F44"/>
                </a:solidFill>
                <a:latin typeface="Inter" pitchFamily="34" charset="0"/>
                <a:ea typeface="Inter" pitchFamily="34" charset="-122"/>
                <a:cs typeface="Inter" pitchFamily="34" charset="-120"/>
              </a:rPr>
              <a:t>14 programs, zero discounts, no new budget</a:t>
            </a:r>
            <a:endParaRPr lang="en-US" sz="2400" dirty="0"/>
          </a:p>
        </p:txBody>
      </p:sp>
      <p:pic>
        <p:nvPicPr>
          <p:cNvPr id="3" name="Image 0" descr="/tmp/claude-0/-home-user-Quince/7efe80ae-a049-50c2-9886-98bf7ca3a04a/scratchpad/assets/quince.png"/>
          <p:cNvPicPr>
            <a:picLocks noChangeAspect="1"/>
          </p:cNvPicPr>
          <p:nvPr/>
        </p:nvPicPr>
        <p:blipFill>
          <a:blip r:embed="rId3"/>
          <a:stretch>
            <a:fillRect/>
          </a:stretch>
        </p:blipFill>
        <p:spPr>
          <a:xfrm>
            <a:off x="10236708" y="615544"/>
            <a:ext cx="777240" cy="231951"/>
          </a:xfrm>
          <a:prstGeom prst="rect">
            <a:avLst/>
          </a:prstGeom>
        </p:spPr>
      </p:pic>
      <p:sp>
        <p:nvSpPr>
          <p:cNvPr id="4" name="Shape 1"/>
          <p:cNvSpPr/>
          <p:nvPr/>
        </p:nvSpPr>
        <p:spPr>
          <a:xfrm>
            <a:off x="11155680" y="603504"/>
            <a:ext cx="530352" cy="256032"/>
          </a:xfrm>
          <a:prstGeom prst="roundRect">
            <a:avLst>
              <a:gd name="adj" fmla="val 50000"/>
            </a:avLst>
          </a:prstGeom>
          <a:solidFill>
            <a:srgbClr val="0A1F44"/>
          </a:solidFill>
          <a:ln w="6350">
            <a:solidFill>
              <a:srgbClr val="0A1F44"/>
            </a:solidFill>
            <a:prstDash val="solid"/>
          </a:ln>
        </p:spPr>
        <p:txBody>
          <a:bodyPr/>
          <a:lstStyle/>
          <a:p>
            <a:endParaRPr lang="en-US"/>
          </a:p>
        </p:txBody>
      </p:sp>
      <p:sp>
        <p:nvSpPr>
          <p:cNvPr id="5" name="Text 2"/>
          <p:cNvSpPr txBox="1"/>
          <p:nvPr/>
        </p:nvSpPr>
        <p:spPr>
          <a:xfrm>
            <a:off x="11155680" y="603504"/>
            <a:ext cx="53035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G27</a:t>
            </a:r>
            <a:endParaRPr lang="en-US" sz="950" dirty="0"/>
          </a:p>
        </p:txBody>
      </p:sp>
      <p:sp>
        <p:nvSpPr>
          <p:cNvPr id="6" name="Shape 3"/>
          <p:cNvSpPr/>
          <p:nvPr/>
        </p:nvSpPr>
        <p:spPr>
          <a:xfrm>
            <a:off x="502920" y="6400800"/>
            <a:ext cx="11183112" cy="0"/>
          </a:xfrm>
          <a:prstGeom prst="line">
            <a:avLst/>
          </a:prstGeom>
          <a:noFill/>
          <a:ln w="9525">
            <a:solidFill>
              <a:srgbClr val="E2E8F0"/>
            </a:solidFill>
            <a:prstDash val="solid"/>
          </a:ln>
        </p:spPr>
        <p:txBody>
          <a:bodyPr/>
          <a:lstStyle/>
          <a:p>
            <a:endParaRPr lang="en-US"/>
          </a:p>
        </p:txBody>
      </p:sp>
      <p:sp>
        <p:nvSpPr>
          <p:cNvPr id="7" name="Text 4"/>
          <p:cNvSpPr txBox="1"/>
          <p:nvPr/>
        </p:nvSpPr>
        <p:spPr>
          <a:xfrm>
            <a:off x="502920" y="6464808"/>
            <a:ext cx="9418320" cy="256032"/>
          </a:xfrm>
          <a:prstGeom prst="rect">
            <a:avLst/>
          </a:prstGeom>
          <a:noFill/>
          <a:ln/>
        </p:spPr>
        <p:txBody>
          <a:bodyPr wrap="square" lIns="0" tIns="0" rIns="0" bIns="0" rtlCol="0" anchor="ctr"/>
          <a:lstStyle/>
          <a:p>
            <a:pPr marL="0" indent="0">
              <a:buNone/>
            </a:pPr>
            <a:r>
              <a:rPr lang="en-US" sz="800" dirty="0">
                <a:solidFill>
                  <a:srgbClr val="64748B"/>
                </a:solidFill>
                <a:latin typeface="Inter" pitchFamily="34" charset="0"/>
                <a:ea typeface="Inter" pitchFamily="34" charset="-122"/>
                <a:cs typeface="Inter" pitchFamily="34" charset="-120"/>
              </a:rPr>
              <a:t>Source: our strategy. Each program sits in one lever, targets one behaviour, and has a KPI we can read in CJA. None of them cuts price.</a:t>
            </a:r>
            <a:endParaRPr lang="en-US" sz="800" dirty="0"/>
          </a:p>
        </p:txBody>
      </p:sp>
      <p:sp>
        <p:nvSpPr>
          <p:cNvPr id="8" name="Text 5"/>
          <p:cNvSpPr txBox="1"/>
          <p:nvPr/>
        </p:nvSpPr>
        <p:spPr>
          <a:xfrm>
            <a:off x="9966960" y="6464808"/>
            <a:ext cx="1719072" cy="256032"/>
          </a:xfrm>
          <a:prstGeom prst="rect">
            <a:avLst/>
          </a:prstGeom>
          <a:noFill/>
          <a:ln/>
        </p:spPr>
        <p:txBody>
          <a:bodyPr wrap="square" lIns="0" tIns="0" rIns="0" bIns="0" rtlCol="0" anchor="ctr"/>
          <a:lstStyle/>
          <a:p>
            <a:pPr marL="0" indent="0" algn="r">
              <a:buNone/>
            </a:pPr>
            <a:r>
              <a:rPr lang="en-US" sz="800" dirty="0">
                <a:solidFill>
                  <a:srgbClr val="64748B"/>
                </a:solidFill>
                <a:latin typeface="Inter" pitchFamily="34" charset="0"/>
                <a:ea typeface="Inter" pitchFamily="34" charset="-122"/>
                <a:cs typeface="Inter" pitchFamily="34" charset="-120"/>
              </a:rPr>
              <a:t>Team G27  ·  20</a:t>
            </a:r>
            <a:endParaRPr lang="en-US" sz="800" dirty="0"/>
          </a:p>
        </p:txBody>
      </p:sp>
      <p:sp>
        <p:nvSpPr>
          <p:cNvPr id="9" name="Shape 6"/>
          <p:cNvSpPr/>
          <p:nvPr/>
        </p:nvSpPr>
        <p:spPr>
          <a:xfrm>
            <a:off x="502920" y="1243584"/>
            <a:ext cx="3611880" cy="384048"/>
          </a:xfrm>
          <a:prstGeom prst="roundRect">
            <a:avLst>
              <a:gd name="adj" fmla="val 50000"/>
            </a:avLst>
          </a:prstGeom>
          <a:solidFill>
            <a:srgbClr val="EFF6FF"/>
          </a:solidFill>
          <a:ln w="6350">
            <a:solidFill>
              <a:srgbClr val="EFF6FF"/>
            </a:solidFill>
            <a:prstDash val="solid"/>
          </a:ln>
        </p:spPr>
        <p:txBody>
          <a:bodyPr/>
          <a:lstStyle/>
          <a:p>
            <a:endParaRPr lang="en-US"/>
          </a:p>
        </p:txBody>
      </p:sp>
      <p:sp>
        <p:nvSpPr>
          <p:cNvPr id="10" name="Text 7"/>
          <p:cNvSpPr txBox="1"/>
          <p:nvPr/>
        </p:nvSpPr>
        <p:spPr>
          <a:xfrm>
            <a:off x="502920" y="1243584"/>
            <a:ext cx="3611880" cy="384048"/>
          </a:xfrm>
          <a:prstGeom prst="rect">
            <a:avLst/>
          </a:prstGeom>
          <a:noFill/>
          <a:ln/>
        </p:spPr>
        <p:txBody>
          <a:bodyPr wrap="square" lIns="0" tIns="0" rIns="0" bIns="0" rtlCol="0" anchor="ctr"/>
          <a:lstStyle/>
          <a:p>
            <a:pPr marL="0" indent="0" algn="ctr">
              <a:buNone/>
            </a:pPr>
            <a:r>
              <a:rPr lang="en-US" sz="1200" b="1" dirty="0">
                <a:solidFill>
                  <a:srgbClr val="1D4ED8"/>
                </a:solidFill>
                <a:latin typeface="Inter" pitchFamily="34" charset="0"/>
                <a:ea typeface="Inter" pitchFamily="34" charset="-122"/>
                <a:cs typeface="Inter" pitchFamily="34" charset="-120"/>
              </a:rPr>
              <a:t>1  Capture every buyer</a:t>
            </a:r>
            <a:endParaRPr lang="en-US" sz="1200" dirty="0"/>
          </a:p>
        </p:txBody>
      </p:sp>
      <p:sp>
        <p:nvSpPr>
          <p:cNvPr id="11" name="Shape 8"/>
          <p:cNvSpPr/>
          <p:nvPr/>
        </p:nvSpPr>
        <p:spPr>
          <a:xfrm>
            <a:off x="502920" y="1755648"/>
            <a:ext cx="3611880" cy="914400"/>
          </a:xfrm>
          <a:prstGeom prst="roundRect">
            <a:avLst>
              <a:gd name="adj" fmla="val 6000"/>
            </a:avLst>
          </a:prstGeom>
          <a:solidFill>
            <a:srgbClr val="0A1F44"/>
          </a:solidFill>
          <a:ln w="6350">
            <a:solidFill>
              <a:srgbClr val="0A1F44"/>
            </a:solidFill>
            <a:prstDash val="solid"/>
          </a:ln>
        </p:spPr>
        <p:txBody>
          <a:bodyPr/>
          <a:lstStyle/>
          <a:p>
            <a:endParaRPr lang="en-US"/>
          </a:p>
        </p:txBody>
      </p:sp>
      <p:sp>
        <p:nvSpPr>
          <p:cNvPr id="12" name="Text 9"/>
          <p:cNvSpPr txBox="1"/>
          <p:nvPr/>
        </p:nvSpPr>
        <p:spPr>
          <a:xfrm>
            <a:off x="630936" y="1755648"/>
            <a:ext cx="3355848" cy="914400"/>
          </a:xfrm>
          <a:prstGeom prst="rect">
            <a:avLst/>
          </a:prstGeom>
          <a:noFill/>
          <a:ln/>
        </p:spPr>
        <p:txBody>
          <a:bodyPr wrap="square" lIns="0" tIns="0" rIns="0" bIns="0" rtlCol="0" anchor="ctr"/>
          <a:lstStyle/>
          <a:p>
            <a:pPr marL="0" indent="0">
              <a:buNone/>
            </a:pPr>
            <a:r>
              <a:rPr lang="en-US" sz="1100" b="1" dirty="0">
                <a:solidFill>
                  <a:srgbClr val="FFFFFF"/>
                </a:solidFill>
                <a:latin typeface="Inter" pitchFamily="34" charset="0"/>
                <a:ea typeface="Inter" pitchFamily="34" charset="-122"/>
                <a:cs typeface="Inter" pitchFamily="34" charset="-120"/>
              </a:rPr>
              <a:t>Quince Passport</a:t>
            </a:r>
            <a:endParaRPr lang="en-US" sz="1200" dirty="0"/>
          </a:p>
          <a:p>
            <a:pPr marL="0" indent="0">
              <a:buNone/>
            </a:pPr>
            <a:r>
              <a:rPr lang="en-US" sz="850" dirty="0">
                <a:solidFill>
                  <a:srgbClr val="C7D7F5"/>
                </a:solidFill>
                <a:latin typeface="Inter" pitchFamily="34" charset="0"/>
                <a:ea typeface="Inter" pitchFamily="34" charset="-122"/>
                <a:cs typeface="Inter" pitchFamily="34" charset="-120"/>
              </a:rPr>
              <a:t>A card in every box: scan it to register the piece for care tips, easy exchanges and restock alerts, and we ask for SMS or the app</a:t>
            </a:r>
            <a:endParaRPr lang="en-US" sz="1200" dirty="0"/>
          </a:p>
        </p:txBody>
      </p:sp>
      <p:sp>
        <p:nvSpPr>
          <p:cNvPr id="13" name="Shape 10"/>
          <p:cNvSpPr/>
          <p:nvPr/>
        </p:nvSpPr>
        <p:spPr>
          <a:xfrm>
            <a:off x="502920" y="2743200"/>
            <a:ext cx="3611880" cy="880872"/>
          </a:xfrm>
          <a:prstGeom prst="roundRect">
            <a:avLst>
              <a:gd name="adj" fmla="val 6228"/>
            </a:avLst>
          </a:prstGeom>
          <a:solidFill>
            <a:srgbClr val="FFFFFF"/>
          </a:solidFill>
          <a:ln w="9525">
            <a:solidFill>
              <a:srgbClr val="E2E8F0"/>
            </a:solidFill>
            <a:prstDash val="solid"/>
          </a:ln>
        </p:spPr>
        <p:txBody>
          <a:bodyPr/>
          <a:lstStyle/>
          <a:p>
            <a:endParaRPr lang="en-US"/>
          </a:p>
        </p:txBody>
      </p:sp>
      <p:sp>
        <p:nvSpPr>
          <p:cNvPr id="14" name="Text 11"/>
          <p:cNvSpPr txBox="1"/>
          <p:nvPr/>
        </p:nvSpPr>
        <p:spPr>
          <a:xfrm>
            <a:off x="630936" y="2743200"/>
            <a:ext cx="3355848" cy="880872"/>
          </a:xfrm>
          <a:prstGeom prst="rect">
            <a:avLst/>
          </a:prstGeom>
          <a:noFill/>
          <a:ln/>
        </p:spPr>
        <p:txBody>
          <a:bodyPr wrap="square" lIns="0" tIns="0" rIns="0" bIns="0" rtlCol="0" anchor="ctr"/>
          <a:lstStyle/>
          <a:p>
            <a:pPr marL="0" indent="0">
              <a:buNone/>
            </a:pPr>
            <a:r>
              <a:rPr lang="en-US" sz="1000" b="1" dirty="0">
                <a:solidFill>
                  <a:srgbClr val="0F172A"/>
                </a:solidFill>
                <a:latin typeface="Inter" pitchFamily="34" charset="0"/>
                <a:ea typeface="Inter" pitchFamily="34" charset="-122"/>
                <a:cs typeface="Inter" pitchFamily="34" charset="-120"/>
              </a:rPr>
              <a:t>Track It in the App</a:t>
            </a:r>
            <a:endParaRPr lang="en-US" sz="1200" dirty="0"/>
          </a:p>
          <a:p>
            <a:pPr marL="0" indent="0">
              <a:buNone/>
            </a:pPr>
            <a:r>
              <a:rPr lang="en-US" sz="950" dirty="0">
                <a:solidFill>
                  <a:srgbClr val="334155"/>
                </a:solidFill>
                <a:latin typeface="Inter" pitchFamily="34" charset="0"/>
                <a:ea typeface="Inter" pitchFamily="34" charset="-122"/>
                <a:cs typeface="Inter" pitchFamily="34" charset="-120"/>
              </a:rPr>
              <a:t>Order tracking opens in the app, where carts convert at 27.1% vs 22.7% on web (A1)</a:t>
            </a:r>
            <a:endParaRPr lang="en-US" sz="1200" dirty="0"/>
          </a:p>
        </p:txBody>
      </p:sp>
      <p:sp>
        <p:nvSpPr>
          <p:cNvPr id="15" name="Shape 12"/>
          <p:cNvSpPr/>
          <p:nvPr/>
        </p:nvSpPr>
        <p:spPr>
          <a:xfrm>
            <a:off x="502920" y="3697224"/>
            <a:ext cx="3611880" cy="880872"/>
          </a:xfrm>
          <a:prstGeom prst="roundRect">
            <a:avLst>
              <a:gd name="adj" fmla="val 6228"/>
            </a:avLst>
          </a:prstGeom>
          <a:solidFill>
            <a:srgbClr val="FFFFFF"/>
          </a:solidFill>
          <a:ln w="9525">
            <a:solidFill>
              <a:srgbClr val="E2E8F0"/>
            </a:solidFill>
            <a:prstDash val="solid"/>
          </a:ln>
        </p:spPr>
        <p:txBody>
          <a:bodyPr/>
          <a:lstStyle/>
          <a:p>
            <a:endParaRPr lang="en-US"/>
          </a:p>
        </p:txBody>
      </p:sp>
      <p:sp>
        <p:nvSpPr>
          <p:cNvPr id="16" name="Text 13"/>
          <p:cNvSpPr txBox="1"/>
          <p:nvPr/>
        </p:nvSpPr>
        <p:spPr>
          <a:xfrm>
            <a:off x="630936" y="3697224"/>
            <a:ext cx="3355848" cy="880872"/>
          </a:xfrm>
          <a:prstGeom prst="rect">
            <a:avLst/>
          </a:prstGeom>
          <a:noFill/>
          <a:ln/>
        </p:spPr>
        <p:txBody>
          <a:bodyPr wrap="square" lIns="0" tIns="0" rIns="0" bIns="0" rtlCol="0" anchor="ctr"/>
          <a:lstStyle/>
          <a:p>
            <a:pPr marL="0" indent="0">
              <a:buNone/>
            </a:pPr>
            <a:r>
              <a:rPr lang="en-US" sz="1000" b="1" dirty="0">
                <a:solidFill>
                  <a:srgbClr val="0F172A"/>
                </a:solidFill>
                <a:latin typeface="Inter" pitchFamily="34" charset="0"/>
                <a:ea typeface="Inter" pitchFamily="34" charset="-122"/>
                <a:cs typeface="Inter" pitchFamily="34" charset="-120"/>
              </a:rPr>
              <a:t>Saved Cart</a:t>
            </a:r>
            <a:endParaRPr lang="en-US" sz="1200" dirty="0"/>
          </a:p>
          <a:p>
            <a:pPr marL="0" indent="0">
              <a:buNone/>
            </a:pPr>
            <a:r>
              <a:rPr lang="en-US" sz="950" dirty="0">
                <a:solidFill>
                  <a:srgbClr val="334155"/>
                </a:solidFill>
                <a:latin typeface="Inter" pitchFamily="34" charset="0"/>
                <a:ea typeface="Inter" pitchFamily="34" charset="-122"/>
                <a:cs typeface="Inter" pitchFamily="34" charset="-120"/>
              </a:rPr>
              <a:t>A reminder within hours, with fit and return promises, never a discount</a:t>
            </a:r>
            <a:endParaRPr lang="en-US" sz="1200" dirty="0"/>
          </a:p>
        </p:txBody>
      </p:sp>
      <p:sp>
        <p:nvSpPr>
          <p:cNvPr id="17" name="Shape 14"/>
          <p:cNvSpPr/>
          <p:nvPr/>
        </p:nvSpPr>
        <p:spPr>
          <a:xfrm>
            <a:off x="502920" y="4651248"/>
            <a:ext cx="3611880" cy="880872"/>
          </a:xfrm>
          <a:prstGeom prst="roundRect">
            <a:avLst>
              <a:gd name="adj" fmla="val 6228"/>
            </a:avLst>
          </a:prstGeom>
          <a:solidFill>
            <a:srgbClr val="FFFFFF"/>
          </a:solidFill>
          <a:ln w="9525">
            <a:solidFill>
              <a:srgbClr val="E2E8F0"/>
            </a:solidFill>
            <a:prstDash val="solid"/>
          </a:ln>
        </p:spPr>
        <p:txBody>
          <a:bodyPr/>
          <a:lstStyle/>
          <a:p>
            <a:endParaRPr lang="en-US"/>
          </a:p>
        </p:txBody>
      </p:sp>
      <p:sp>
        <p:nvSpPr>
          <p:cNvPr id="18" name="Text 15"/>
          <p:cNvSpPr txBox="1"/>
          <p:nvPr/>
        </p:nvSpPr>
        <p:spPr>
          <a:xfrm>
            <a:off x="630936" y="4651248"/>
            <a:ext cx="3355848" cy="880872"/>
          </a:xfrm>
          <a:prstGeom prst="rect">
            <a:avLst/>
          </a:prstGeom>
          <a:noFill/>
          <a:ln/>
        </p:spPr>
        <p:txBody>
          <a:bodyPr wrap="square" lIns="0" tIns="0" rIns="0" bIns="0" rtlCol="0" anchor="ctr"/>
          <a:lstStyle/>
          <a:p>
            <a:pPr marL="0" indent="0">
              <a:buNone/>
            </a:pPr>
            <a:r>
              <a:rPr lang="en-US" sz="1000" b="1" dirty="0">
                <a:solidFill>
                  <a:srgbClr val="0F172A"/>
                </a:solidFill>
                <a:latin typeface="Inter" pitchFamily="34" charset="0"/>
                <a:ea typeface="Inter" pitchFamily="34" charset="-122"/>
                <a:cs typeface="Inter" pitchFamily="34" charset="-120"/>
              </a:rPr>
              <a:t>Restock-First Waitlist</a:t>
            </a:r>
            <a:endParaRPr lang="en-US" sz="1200" dirty="0"/>
          </a:p>
          <a:p>
            <a:pPr marL="0" indent="0">
              <a:buNone/>
            </a:pPr>
            <a:r>
              <a:rPr lang="en-US" sz="950" dirty="0">
                <a:solidFill>
                  <a:srgbClr val="334155"/>
                </a:solidFill>
                <a:latin typeface="Inter" pitchFamily="34" charset="0"/>
                <a:ea typeface="Inter" pitchFamily="34" charset="-122"/>
                <a:cs typeface="Inter" pitchFamily="34" charset="-120"/>
              </a:rPr>
              <a:t>"Text me when it's back" on real sell-outs gives people a reason to opt in</a:t>
            </a:r>
            <a:endParaRPr lang="en-US" sz="1200" dirty="0"/>
          </a:p>
        </p:txBody>
      </p:sp>
      <p:sp>
        <p:nvSpPr>
          <p:cNvPr id="19" name="Shape 16"/>
          <p:cNvSpPr/>
          <p:nvPr/>
        </p:nvSpPr>
        <p:spPr>
          <a:xfrm>
            <a:off x="4288536" y="1243584"/>
            <a:ext cx="3611880" cy="384048"/>
          </a:xfrm>
          <a:prstGeom prst="roundRect">
            <a:avLst>
              <a:gd name="adj" fmla="val 50000"/>
            </a:avLst>
          </a:prstGeom>
          <a:solidFill>
            <a:srgbClr val="EFF6FF"/>
          </a:solidFill>
          <a:ln w="6350">
            <a:solidFill>
              <a:srgbClr val="EFF6FF"/>
            </a:solidFill>
            <a:prstDash val="solid"/>
          </a:ln>
        </p:spPr>
        <p:txBody>
          <a:bodyPr/>
          <a:lstStyle/>
          <a:p>
            <a:endParaRPr lang="en-US"/>
          </a:p>
        </p:txBody>
      </p:sp>
      <p:sp>
        <p:nvSpPr>
          <p:cNvPr id="20" name="Text 17"/>
          <p:cNvSpPr txBox="1"/>
          <p:nvPr/>
        </p:nvSpPr>
        <p:spPr>
          <a:xfrm>
            <a:off x="4288536" y="1243584"/>
            <a:ext cx="3611880" cy="384048"/>
          </a:xfrm>
          <a:prstGeom prst="rect">
            <a:avLst/>
          </a:prstGeom>
          <a:noFill/>
          <a:ln/>
        </p:spPr>
        <p:txBody>
          <a:bodyPr wrap="square" lIns="0" tIns="0" rIns="0" bIns="0" rtlCol="0" anchor="ctr"/>
          <a:lstStyle/>
          <a:p>
            <a:pPr marL="0" indent="0" algn="ctr">
              <a:buNone/>
            </a:pPr>
            <a:r>
              <a:rPr lang="en-US" sz="1200" b="1" dirty="0">
                <a:solidFill>
                  <a:srgbClr val="1D4ED8"/>
                </a:solidFill>
                <a:latin typeface="Inter" pitchFamily="34" charset="0"/>
                <a:ea typeface="Inter" pitchFamily="34" charset="-122"/>
                <a:cs typeface="Inter" pitchFamily="34" charset="-120"/>
              </a:rPr>
              <a:t>2  Win the Golden Month</a:t>
            </a:r>
            <a:endParaRPr lang="en-US" sz="1200" dirty="0"/>
          </a:p>
        </p:txBody>
      </p:sp>
      <p:sp>
        <p:nvSpPr>
          <p:cNvPr id="21" name="Shape 18"/>
          <p:cNvSpPr/>
          <p:nvPr/>
        </p:nvSpPr>
        <p:spPr>
          <a:xfrm>
            <a:off x="4288536" y="1755648"/>
            <a:ext cx="3611880" cy="914400"/>
          </a:xfrm>
          <a:prstGeom prst="roundRect">
            <a:avLst>
              <a:gd name="adj" fmla="val 6000"/>
            </a:avLst>
          </a:prstGeom>
          <a:solidFill>
            <a:srgbClr val="0A1F44"/>
          </a:solidFill>
          <a:ln w="6350">
            <a:solidFill>
              <a:srgbClr val="0A1F44"/>
            </a:solidFill>
            <a:prstDash val="solid"/>
          </a:ln>
        </p:spPr>
        <p:txBody>
          <a:bodyPr/>
          <a:lstStyle/>
          <a:p>
            <a:endParaRPr lang="en-US"/>
          </a:p>
        </p:txBody>
      </p:sp>
      <p:sp>
        <p:nvSpPr>
          <p:cNvPr id="22" name="Text 19"/>
          <p:cNvSpPr txBox="1"/>
          <p:nvPr/>
        </p:nvSpPr>
        <p:spPr>
          <a:xfrm>
            <a:off x="4416552" y="1755648"/>
            <a:ext cx="3355848" cy="914400"/>
          </a:xfrm>
          <a:prstGeom prst="rect">
            <a:avLst/>
          </a:prstGeom>
          <a:noFill/>
          <a:ln/>
        </p:spPr>
        <p:txBody>
          <a:bodyPr wrap="square" lIns="0" tIns="0" rIns="0" bIns="0" rtlCol="0" anchor="ctr"/>
          <a:lstStyle/>
          <a:p>
            <a:pPr marL="0" indent="0">
              <a:buNone/>
            </a:pPr>
            <a:r>
              <a:rPr lang="en-US" sz="1100" b="1" dirty="0">
                <a:solidFill>
                  <a:srgbClr val="FFFFFF"/>
                </a:solidFill>
                <a:latin typeface="Inter" pitchFamily="34" charset="0"/>
                <a:ea typeface="Inter" pitchFamily="34" charset="-122"/>
                <a:cs typeface="Inter" pitchFamily="34" charset="-120"/>
              </a:rPr>
              <a:t>Material Journeys</a:t>
            </a:r>
            <a:endParaRPr lang="en-US" sz="1200" dirty="0"/>
          </a:p>
          <a:p>
            <a:pPr marL="0" indent="0">
              <a:buNone/>
            </a:pPr>
            <a:r>
              <a:rPr lang="en-US" sz="850" dirty="0">
                <a:solidFill>
                  <a:srgbClr val="C7D7F5"/>
                </a:solidFill>
                <a:latin typeface="Inter" pitchFamily="34" charset="0"/>
                <a:ea typeface="Inter" pitchFamily="34" charset="-122"/>
                <a:cs typeface="Inter" pitchFamily="34" charset="-120"/>
              </a:rPr>
              <a:t>Before it arrives, we explain how the material is made and how to care for it (no supplier names); by day 21, a second category (cashmere → home)</a:t>
            </a:r>
            <a:endParaRPr lang="en-US" sz="1200" dirty="0"/>
          </a:p>
        </p:txBody>
      </p:sp>
      <p:sp>
        <p:nvSpPr>
          <p:cNvPr id="23" name="Shape 20"/>
          <p:cNvSpPr/>
          <p:nvPr/>
        </p:nvSpPr>
        <p:spPr>
          <a:xfrm>
            <a:off x="4288536" y="2743200"/>
            <a:ext cx="3611880" cy="499262"/>
          </a:xfrm>
          <a:prstGeom prst="roundRect">
            <a:avLst>
              <a:gd name="adj" fmla="val 10989"/>
            </a:avLst>
          </a:prstGeom>
          <a:solidFill>
            <a:srgbClr val="FFFFFF"/>
          </a:solidFill>
          <a:ln w="9525">
            <a:solidFill>
              <a:srgbClr val="E2E8F0"/>
            </a:solidFill>
            <a:prstDash val="solid"/>
          </a:ln>
        </p:spPr>
        <p:txBody>
          <a:bodyPr/>
          <a:lstStyle/>
          <a:p>
            <a:endParaRPr lang="en-US"/>
          </a:p>
        </p:txBody>
      </p:sp>
      <p:sp>
        <p:nvSpPr>
          <p:cNvPr id="24" name="Text 21"/>
          <p:cNvSpPr txBox="1"/>
          <p:nvPr/>
        </p:nvSpPr>
        <p:spPr>
          <a:xfrm>
            <a:off x="4416552" y="2743200"/>
            <a:ext cx="3355848" cy="499262"/>
          </a:xfrm>
          <a:prstGeom prst="rect">
            <a:avLst/>
          </a:prstGeom>
          <a:noFill/>
          <a:ln/>
        </p:spPr>
        <p:txBody>
          <a:bodyPr wrap="square" lIns="0" tIns="0" rIns="0" bIns="0" rtlCol="0" anchor="ctr"/>
          <a:lstStyle/>
          <a:p>
            <a:pPr marL="0" indent="0">
              <a:buNone/>
            </a:pPr>
            <a:r>
              <a:rPr lang="en-US" sz="1000" b="1" dirty="0">
                <a:solidFill>
                  <a:srgbClr val="0F172A"/>
                </a:solidFill>
                <a:latin typeface="Inter" pitchFamily="34" charset="0"/>
                <a:ea typeface="Inter" pitchFamily="34" charset="-122"/>
                <a:cs typeface="Inter" pitchFamily="34" charset="-120"/>
              </a:rPr>
              <a:t>Care Calendar</a:t>
            </a:r>
            <a:endParaRPr lang="en-US" sz="1200" dirty="0"/>
          </a:p>
          <a:p>
            <a:pPr marL="0" indent="0">
              <a:buNone/>
            </a:pPr>
            <a:r>
              <a:rPr lang="en-US" sz="950" dirty="0">
                <a:solidFill>
                  <a:srgbClr val="334155"/>
                </a:solidFill>
                <a:latin typeface="Inter" pitchFamily="34" charset="0"/>
                <a:ea typeface="Inter" pitchFamily="34" charset="-122"/>
                <a:cs typeface="Inter" pitchFamily="34" charset="-120"/>
              </a:rPr>
              <a:t>Seasonal care reminders keep us in touch with cashmere buyers</a:t>
            </a:r>
            <a:endParaRPr lang="en-US" sz="1200" dirty="0"/>
          </a:p>
        </p:txBody>
      </p:sp>
      <p:sp>
        <p:nvSpPr>
          <p:cNvPr id="25" name="Shape 22"/>
          <p:cNvSpPr/>
          <p:nvPr/>
        </p:nvSpPr>
        <p:spPr>
          <a:xfrm>
            <a:off x="4288536" y="3315614"/>
            <a:ext cx="3611880" cy="499262"/>
          </a:xfrm>
          <a:prstGeom prst="roundRect">
            <a:avLst>
              <a:gd name="adj" fmla="val 10989"/>
            </a:avLst>
          </a:prstGeom>
          <a:solidFill>
            <a:srgbClr val="FFFFFF"/>
          </a:solidFill>
          <a:ln w="9525">
            <a:solidFill>
              <a:srgbClr val="E2E8F0"/>
            </a:solidFill>
            <a:prstDash val="solid"/>
          </a:ln>
        </p:spPr>
        <p:txBody>
          <a:bodyPr/>
          <a:lstStyle/>
          <a:p>
            <a:endParaRPr lang="en-US"/>
          </a:p>
        </p:txBody>
      </p:sp>
      <p:sp>
        <p:nvSpPr>
          <p:cNvPr id="26" name="Text 23"/>
          <p:cNvSpPr txBox="1"/>
          <p:nvPr/>
        </p:nvSpPr>
        <p:spPr>
          <a:xfrm>
            <a:off x="4416552" y="3315614"/>
            <a:ext cx="3355848" cy="499262"/>
          </a:xfrm>
          <a:prstGeom prst="rect">
            <a:avLst/>
          </a:prstGeom>
          <a:noFill/>
          <a:ln/>
        </p:spPr>
        <p:txBody>
          <a:bodyPr wrap="square" lIns="0" tIns="0" rIns="0" bIns="0" rtlCol="0" anchor="ctr"/>
          <a:lstStyle/>
          <a:p>
            <a:pPr marL="0" indent="0">
              <a:buNone/>
            </a:pPr>
            <a:r>
              <a:rPr lang="en-US" sz="1000" b="1" dirty="0">
                <a:solidFill>
                  <a:srgbClr val="0F172A"/>
                </a:solidFill>
                <a:latin typeface="Inter" pitchFamily="34" charset="0"/>
                <a:ea typeface="Inter" pitchFamily="34" charset="-122"/>
                <a:cs typeface="Inter" pitchFamily="34" charset="-120"/>
              </a:rPr>
              <a:t>Gift Ledger</a:t>
            </a:r>
            <a:endParaRPr lang="en-US" sz="1200" dirty="0"/>
          </a:p>
          <a:p>
            <a:pPr marL="0" indent="0">
              <a:buNone/>
            </a:pPr>
            <a:r>
              <a:rPr lang="en-US" sz="950" dirty="0">
                <a:solidFill>
                  <a:srgbClr val="334155"/>
                </a:solidFill>
                <a:latin typeface="Inter" pitchFamily="34" charset="0"/>
                <a:ea typeface="Inter" pitchFamily="34" charset="-122"/>
                <a:cs typeface="Inter" pitchFamily="34" charset="-120"/>
              </a:rPr>
              <a:t>Customers save gift dates, and we send picks 14 days before</a:t>
            </a:r>
            <a:endParaRPr lang="en-US" sz="1200" dirty="0"/>
          </a:p>
        </p:txBody>
      </p:sp>
      <p:sp>
        <p:nvSpPr>
          <p:cNvPr id="27" name="Shape 24"/>
          <p:cNvSpPr/>
          <p:nvPr/>
        </p:nvSpPr>
        <p:spPr>
          <a:xfrm>
            <a:off x="4288536" y="3888029"/>
            <a:ext cx="3611880" cy="499262"/>
          </a:xfrm>
          <a:prstGeom prst="roundRect">
            <a:avLst>
              <a:gd name="adj" fmla="val 10989"/>
            </a:avLst>
          </a:prstGeom>
          <a:solidFill>
            <a:srgbClr val="FFFFFF"/>
          </a:solidFill>
          <a:ln w="9525">
            <a:solidFill>
              <a:srgbClr val="E2E8F0"/>
            </a:solidFill>
            <a:prstDash val="solid"/>
          </a:ln>
        </p:spPr>
        <p:txBody>
          <a:bodyPr/>
          <a:lstStyle/>
          <a:p>
            <a:endParaRPr lang="en-US"/>
          </a:p>
        </p:txBody>
      </p:sp>
      <p:sp>
        <p:nvSpPr>
          <p:cNvPr id="28" name="Text 25"/>
          <p:cNvSpPr txBox="1"/>
          <p:nvPr/>
        </p:nvSpPr>
        <p:spPr>
          <a:xfrm>
            <a:off x="4416552" y="3888029"/>
            <a:ext cx="3355848" cy="499262"/>
          </a:xfrm>
          <a:prstGeom prst="rect">
            <a:avLst/>
          </a:prstGeom>
          <a:noFill/>
          <a:ln/>
        </p:spPr>
        <p:txBody>
          <a:bodyPr wrap="square" lIns="0" tIns="0" rIns="0" bIns="0" rtlCol="0" anchor="ctr"/>
          <a:lstStyle/>
          <a:p>
            <a:pPr marL="0" indent="0">
              <a:buNone/>
            </a:pPr>
            <a:r>
              <a:rPr lang="en-US" sz="1000" b="1" dirty="0">
                <a:solidFill>
                  <a:srgbClr val="0F172A"/>
                </a:solidFill>
                <a:latin typeface="Inter" pitchFamily="34" charset="0"/>
                <a:ea typeface="Inter" pitchFamily="34" charset="-122"/>
                <a:cs typeface="Inter" pitchFamily="34" charset="-120"/>
              </a:rPr>
              <a:t>Quince Insider</a:t>
            </a:r>
            <a:endParaRPr lang="en-US" sz="1200" dirty="0"/>
          </a:p>
          <a:p>
            <a:pPr marL="0" indent="0">
              <a:buNone/>
            </a:pPr>
            <a:r>
              <a:rPr lang="en-US" sz="950" dirty="0">
                <a:solidFill>
                  <a:srgbClr val="334155"/>
                </a:solidFill>
                <a:latin typeface="Inter" pitchFamily="34" charset="0"/>
                <a:ea typeface="Inter" pitchFamily="34" charset="-122"/>
                <a:cs typeface="Inter" pitchFamily="34" charset="-120"/>
              </a:rPr>
              <a:t>Early access earned by engagement, not spend</a:t>
            </a:r>
            <a:endParaRPr lang="en-US" sz="1200" dirty="0"/>
          </a:p>
        </p:txBody>
      </p:sp>
      <p:sp>
        <p:nvSpPr>
          <p:cNvPr id="29" name="Shape 26"/>
          <p:cNvSpPr/>
          <p:nvPr/>
        </p:nvSpPr>
        <p:spPr>
          <a:xfrm>
            <a:off x="4288536" y="4460443"/>
            <a:ext cx="3611880" cy="499262"/>
          </a:xfrm>
          <a:prstGeom prst="roundRect">
            <a:avLst>
              <a:gd name="adj" fmla="val 10989"/>
            </a:avLst>
          </a:prstGeom>
          <a:solidFill>
            <a:srgbClr val="FFFFFF"/>
          </a:solidFill>
          <a:ln w="9525">
            <a:solidFill>
              <a:srgbClr val="E2E8F0"/>
            </a:solidFill>
            <a:prstDash val="solid"/>
          </a:ln>
        </p:spPr>
        <p:txBody>
          <a:bodyPr/>
          <a:lstStyle/>
          <a:p>
            <a:endParaRPr lang="en-US"/>
          </a:p>
        </p:txBody>
      </p:sp>
      <p:sp>
        <p:nvSpPr>
          <p:cNvPr id="30" name="Text 27"/>
          <p:cNvSpPr txBox="1"/>
          <p:nvPr/>
        </p:nvSpPr>
        <p:spPr>
          <a:xfrm>
            <a:off x="4416552" y="4460443"/>
            <a:ext cx="3355848" cy="499262"/>
          </a:xfrm>
          <a:prstGeom prst="rect">
            <a:avLst/>
          </a:prstGeom>
          <a:noFill/>
          <a:ln/>
        </p:spPr>
        <p:txBody>
          <a:bodyPr wrap="square" lIns="0" tIns="0" rIns="0" bIns="0" rtlCol="0" anchor="ctr"/>
          <a:lstStyle/>
          <a:p>
            <a:pPr marL="0" indent="0">
              <a:buNone/>
            </a:pPr>
            <a:r>
              <a:rPr lang="en-US" sz="1000" b="1" dirty="0">
                <a:solidFill>
                  <a:srgbClr val="0F172A"/>
                </a:solidFill>
                <a:latin typeface="Inter" pitchFamily="34" charset="0"/>
                <a:ea typeface="Inter" pitchFamily="34" charset="-122"/>
                <a:cs typeface="Inter" pitchFamily="34" charset="-120"/>
              </a:rPr>
              <a:t>Beauty Refill</a:t>
            </a:r>
            <a:endParaRPr lang="en-US" sz="1200" dirty="0"/>
          </a:p>
          <a:p>
            <a:pPr marL="0" indent="0">
              <a:buNone/>
            </a:pPr>
            <a:r>
              <a:rPr lang="en-US" sz="950" dirty="0">
                <a:solidFill>
                  <a:srgbClr val="334155"/>
                </a:solidFill>
                <a:latin typeface="Inter" pitchFamily="34" charset="0"/>
                <a:ea typeface="Inter" pitchFamily="34" charset="-122"/>
                <a:cs typeface="Inter" pitchFamily="34" charset="-120"/>
              </a:rPr>
              <a:t>Refill reminders timed to each product's use cycle</a:t>
            </a:r>
            <a:endParaRPr lang="en-US" sz="1200" dirty="0"/>
          </a:p>
        </p:txBody>
      </p:sp>
      <p:sp>
        <p:nvSpPr>
          <p:cNvPr id="31" name="Shape 28"/>
          <p:cNvSpPr/>
          <p:nvPr/>
        </p:nvSpPr>
        <p:spPr>
          <a:xfrm>
            <a:off x="4288536" y="5032858"/>
            <a:ext cx="3611880" cy="499262"/>
          </a:xfrm>
          <a:prstGeom prst="roundRect">
            <a:avLst>
              <a:gd name="adj" fmla="val 10989"/>
            </a:avLst>
          </a:prstGeom>
          <a:solidFill>
            <a:srgbClr val="FFFFFF"/>
          </a:solidFill>
          <a:ln w="9525">
            <a:solidFill>
              <a:srgbClr val="E2E8F0"/>
            </a:solidFill>
            <a:prstDash val="solid"/>
          </a:ln>
        </p:spPr>
        <p:txBody>
          <a:bodyPr/>
          <a:lstStyle/>
          <a:p>
            <a:endParaRPr lang="en-US"/>
          </a:p>
        </p:txBody>
      </p:sp>
      <p:sp>
        <p:nvSpPr>
          <p:cNvPr id="32" name="Text 29"/>
          <p:cNvSpPr txBox="1"/>
          <p:nvPr/>
        </p:nvSpPr>
        <p:spPr>
          <a:xfrm>
            <a:off x="4416552" y="5032858"/>
            <a:ext cx="3355848" cy="499262"/>
          </a:xfrm>
          <a:prstGeom prst="rect">
            <a:avLst/>
          </a:prstGeom>
          <a:noFill/>
          <a:ln/>
        </p:spPr>
        <p:txBody>
          <a:bodyPr wrap="square" lIns="0" tIns="0" rIns="0" bIns="0" rtlCol="0" anchor="ctr"/>
          <a:lstStyle/>
          <a:p>
            <a:pPr marL="0" indent="0">
              <a:buNone/>
            </a:pPr>
            <a:r>
              <a:rPr lang="en-US" sz="1000" b="1" dirty="0">
                <a:solidFill>
                  <a:srgbClr val="0F172A"/>
                </a:solidFill>
                <a:latin typeface="Inter" pitchFamily="34" charset="0"/>
                <a:ea typeface="Inter" pitchFamily="34" charset="-122"/>
                <a:cs typeface="Inter" pitchFamily="34" charset="-120"/>
              </a:rPr>
              <a:t>Cashmere Second Life</a:t>
            </a:r>
            <a:endParaRPr lang="en-US" sz="1200" dirty="0"/>
          </a:p>
          <a:p>
            <a:pPr marL="0" indent="0">
              <a:buNone/>
            </a:pPr>
            <a:r>
              <a:rPr lang="en-US" sz="950" dirty="0">
                <a:solidFill>
                  <a:srgbClr val="334155"/>
                </a:solidFill>
                <a:latin typeface="Inter" pitchFamily="34" charset="0"/>
                <a:ea typeface="Inter" pitchFamily="34" charset="-122"/>
                <a:cs typeface="Inter" pitchFamily="34" charset="-120"/>
              </a:rPr>
              <a:t>Take-back for recycling, rewarded with early access</a:t>
            </a:r>
            <a:endParaRPr lang="en-US" sz="1200" dirty="0"/>
          </a:p>
        </p:txBody>
      </p:sp>
      <p:sp>
        <p:nvSpPr>
          <p:cNvPr id="33" name="Shape 30"/>
          <p:cNvSpPr/>
          <p:nvPr/>
        </p:nvSpPr>
        <p:spPr>
          <a:xfrm>
            <a:off x="8074152" y="1243584"/>
            <a:ext cx="3611880" cy="384048"/>
          </a:xfrm>
          <a:prstGeom prst="roundRect">
            <a:avLst>
              <a:gd name="adj" fmla="val 50000"/>
            </a:avLst>
          </a:prstGeom>
          <a:solidFill>
            <a:srgbClr val="EFF6FF"/>
          </a:solidFill>
          <a:ln w="6350">
            <a:solidFill>
              <a:srgbClr val="EFF6FF"/>
            </a:solidFill>
            <a:prstDash val="solid"/>
          </a:ln>
        </p:spPr>
        <p:txBody>
          <a:bodyPr/>
          <a:lstStyle/>
          <a:p>
            <a:endParaRPr lang="en-US"/>
          </a:p>
        </p:txBody>
      </p:sp>
      <p:sp>
        <p:nvSpPr>
          <p:cNvPr id="34" name="Text 31"/>
          <p:cNvSpPr txBox="1"/>
          <p:nvPr/>
        </p:nvSpPr>
        <p:spPr>
          <a:xfrm>
            <a:off x="8074152" y="1243584"/>
            <a:ext cx="3611880" cy="384048"/>
          </a:xfrm>
          <a:prstGeom prst="rect">
            <a:avLst/>
          </a:prstGeom>
          <a:noFill/>
          <a:ln/>
        </p:spPr>
        <p:txBody>
          <a:bodyPr wrap="square" lIns="0" tIns="0" rIns="0" bIns="0" rtlCol="0" anchor="ctr"/>
          <a:lstStyle/>
          <a:p>
            <a:pPr marL="0" indent="0" algn="ctr">
              <a:buNone/>
            </a:pPr>
            <a:r>
              <a:rPr lang="en-US" sz="1200" b="1" dirty="0">
                <a:solidFill>
                  <a:srgbClr val="1D4ED8"/>
                </a:solidFill>
                <a:latin typeface="Inter" pitchFamily="34" charset="0"/>
                <a:ea typeface="Inter" pitchFamily="34" charset="-122"/>
                <a:cs typeface="Inter" pitchFamily="34" charset="-120"/>
              </a:rPr>
              <a:t>3  Never pay twice</a:t>
            </a:r>
            <a:endParaRPr lang="en-US" sz="1200" dirty="0"/>
          </a:p>
        </p:txBody>
      </p:sp>
      <p:sp>
        <p:nvSpPr>
          <p:cNvPr id="35" name="Shape 32"/>
          <p:cNvSpPr/>
          <p:nvPr/>
        </p:nvSpPr>
        <p:spPr>
          <a:xfrm>
            <a:off x="8074152" y="1755648"/>
            <a:ext cx="3611880" cy="914400"/>
          </a:xfrm>
          <a:prstGeom prst="roundRect">
            <a:avLst>
              <a:gd name="adj" fmla="val 6000"/>
            </a:avLst>
          </a:prstGeom>
          <a:solidFill>
            <a:srgbClr val="0A1F44"/>
          </a:solidFill>
          <a:ln w="6350">
            <a:solidFill>
              <a:srgbClr val="0A1F44"/>
            </a:solidFill>
            <a:prstDash val="solid"/>
          </a:ln>
        </p:spPr>
        <p:txBody>
          <a:bodyPr/>
          <a:lstStyle/>
          <a:p>
            <a:endParaRPr lang="en-US"/>
          </a:p>
        </p:txBody>
      </p:sp>
      <p:sp>
        <p:nvSpPr>
          <p:cNvPr id="36" name="Text 33"/>
          <p:cNvSpPr txBox="1"/>
          <p:nvPr/>
        </p:nvSpPr>
        <p:spPr>
          <a:xfrm>
            <a:off x="8202168" y="1755648"/>
            <a:ext cx="3355848" cy="914400"/>
          </a:xfrm>
          <a:prstGeom prst="rect">
            <a:avLst/>
          </a:prstGeom>
          <a:noFill/>
          <a:ln/>
        </p:spPr>
        <p:txBody>
          <a:bodyPr wrap="square" lIns="0" tIns="0" rIns="0" bIns="0" rtlCol="0" anchor="ctr"/>
          <a:lstStyle/>
          <a:p>
            <a:pPr marL="0" indent="0">
              <a:buNone/>
            </a:pPr>
            <a:r>
              <a:rPr lang="en-US" sz="1100" b="1" dirty="0">
                <a:solidFill>
                  <a:srgbClr val="FFFFFF"/>
                </a:solidFill>
                <a:latin typeface="Inter" pitchFamily="34" charset="0"/>
                <a:ea typeface="Inter" pitchFamily="34" charset="-122"/>
                <a:cs typeface="Inter" pitchFamily="34" charset="-120"/>
              </a:rPr>
              <a:t>Never Pay Twice Engine</a:t>
            </a:r>
            <a:endParaRPr lang="en-US" sz="1200" dirty="0"/>
          </a:p>
          <a:p>
            <a:pPr marL="0" indent="0">
              <a:buNone/>
            </a:pPr>
            <a:r>
              <a:rPr lang="en-US" sz="850" dirty="0">
                <a:solidFill>
                  <a:srgbClr val="C7D7F5"/>
                </a:solidFill>
                <a:latin typeface="Inter" pitchFamily="34" charset="0"/>
                <a:ea typeface="Inter" pitchFamily="34" charset="-122"/>
                <a:cs typeface="Inter" pitchFamily="34" charset="-120"/>
              </a:rPr>
              <a:t>Daily CJA lists tell Meta, Google and TikTok which buyers we can already reach, so we stop paying to retarget them</a:t>
            </a:r>
            <a:endParaRPr lang="en-US" sz="1200" dirty="0"/>
          </a:p>
        </p:txBody>
      </p:sp>
      <p:sp>
        <p:nvSpPr>
          <p:cNvPr id="37" name="Shape 34"/>
          <p:cNvSpPr/>
          <p:nvPr/>
        </p:nvSpPr>
        <p:spPr>
          <a:xfrm>
            <a:off x="8074152" y="2743200"/>
            <a:ext cx="3611880" cy="880872"/>
          </a:xfrm>
          <a:prstGeom prst="roundRect">
            <a:avLst>
              <a:gd name="adj" fmla="val 6228"/>
            </a:avLst>
          </a:prstGeom>
          <a:solidFill>
            <a:srgbClr val="FFFFFF"/>
          </a:solidFill>
          <a:ln w="9525">
            <a:solidFill>
              <a:srgbClr val="E2E8F0"/>
            </a:solidFill>
            <a:prstDash val="solid"/>
          </a:ln>
        </p:spPr>
        <p:txBody>
          <a:bodyPr/>
          <a:lstStyle/>
          <a:p>
            <a:endParaRPr lang="en-US"/>
          </a:p>
        </p:txBody>
      </p:sp>
      <p:sp>
        <p:nvSpPr>
          <p:cNvPr id="38" name="Text 35"/>
          <p:cNvSpPr txBox="1"/>
          <p:nvPr/>
        </p:nvSpPr>
        <p:spPr>
          <a:xfrm>
            <a:off x="8202168" y="2743200"/>
            <a:ext cx="3355848" cy="880872"/>
          </a:xfrm>
          <a:prstGeom prst="rect">
            <a:avLst/>
          </a:prstGeom>
          <a:noFill/>
          <a:ln/>
        </p:spPr>
        <p:txBody>
          <a:bodyPr wrap="square" lIns="0" tIns="0" rIns="0" bIns="0" rtlCol="0" anchor="ctr"/>
          <a:lstStyle/>
          <a:p>
            <a:pPr marL="0" indent="0">
              <a:buNone/>
            </a:pPr>
            <a:r>
              <a:rPr lang="en-US" sz="1000" b="1" dirty="0">
                <a:solidFill>
                  <a:srgbClr val="0F172A"/>
                </a:solidFill>
                <a:latin typeface="Inter" pitchFamily="34" charset="0"/>
                <a:ea typeface="Inter" pitchFamily="34" charset="-122"/>
                <a:cs typeface="Inter" pitchFamily="34" charset="-120"/>
              </a:rPr>
              <a:t>Loyalist Lookalikes</a:t>
            </a:r>
            <a:endParaRPr lang="en-US" sz="1200" dirty="0"/>
          </a:p>
          <a:p>
            <a:pPr marL="0" indent="0">
              <a:buNone/>
            </a:pPr>
            <a:r>
              <a:rPr lang="en-US" sz="950" dirty="0">
                <a:solidFill>
                  <a:srgbClr val="334155"/>
                </a:solidFill>
                <a:latin typeface="Inter" pitchFamily="34" charset="0"/>
                <a:ea typeface="Inter" pitchFamily="34" charset="-122"/>
                <a:cs typeface="Inter" pitchFamily="34" charset="-120"/>
              </a:rPr>
              <a:t>We model new prospects on repeat buyers, not one-time buyers</a:t>
            </a:r>
            <a:endParaRPr lang="en-US" sz="1200" dirty="0"/>
          </a:p>
        </p:txBody>
      </p:sp>
      <p:sp>
        <p:nvSpPr>
          <p:cNvPr id="39" name="Shape 36"/>
          <p:cNvSpPr/>
          <p:nvPr/>
        </p:nvSpPr>
        <p:spPr>
          <a:xfrm>
            <a:off x="8074152" y="3697224"/>
            <a:ext cx="3611880" cy="880872"/>
          </a:xfrm>
          <a:prstGeom prst="roundRect">
            <a:avLst>
              <a:gd name="adj" fmla="val 6228"/>
            </a:avLst>
          </a:prstGeom>
          <a:solidFill>
            <a:srgbClr val="FFFFFF"/>
          </a:solidFill>
          <a:ln w="9525">
            <a:solidFill>
              <a:srgbClr val="E2E8F0"/>
            </a:solidFill>
            <a:prstDash val="solid"/>
          </a:ln>
        </p:spPr>
        <p:txBody>
          <a:bodyPr/>
          <a:lstStyle/>
          <a:p>
            <a:endParaRPr lang="en-US"/>
          </a:p>
        </p:txBody>
      </p:sp>
      <p:sp>
        <p:nvSpPr>
          <p:cNvPr id="40" name="Text 37"/>
          <p:cNvSpPr txBox="1"/>
          <p:nvPr/>
        </p:nvSpPr>
        <p:spPr>
          <a:xfrm>
            <a:off x="8202168" y="3697224"/>
            <a:ext cx="3355848" cy="880872"/>
          </a:xfrm>
          <a:prstGeom prst="rect">
            <a:avLst/>
          </a:prstGeom>
          <a:noFill/>
          <a:ln/>
        </p:spPr>
        <p:txBody>
          <a:bodyPr wrap="square" lIns="0" tIns="0" rIns="0" bIns="0" rtlCol="0" anchor="ctr"/>
          <a:lstStyle/>
          <a:p>
            <a:pPr marL="0" indent="0">
              <a:buNone/>
            </a:pPr>
            <a:r>
              <a:rPr lang="en-US" sz="1000" b="1" dirty="0">
                <a:solidFill>
                  <a:srgbClr val="0F172A"/>
                </a:solidFill>
                <a:latin typeface="Inter" pitchFamily="34" charset="0"/>
                <a:ea typeface="Inter" pitchFamily="34" charset="-122"/>
                <a:cs typeface="Inter" pitchFamily="34" charset="-120"/>
              </a:rPr>
              <a:t>Proof Creators</a:t>
            </a:r>
            <a:endParaRPr lang="en-US" sz="1200" dirty="0"/>
          </a:p>
          <a:p>
            <a:pPr marL="0" indent="0">
              <a:buNone/>
            </a:pPr>
            <a:r>
              <a:rPr lang="en-US" sz="950" dirty="0">
                <a:solidFill>
                  <a:srgbClr val="334155"/>
                </a:solidFill>
                <a:latin typeface="Inter" pitchFamily="34" charset="0"/>
                <a:ea typeface="Inter" pitchFamily="34" charset="-122"/>
                <a:cs typeface="Inter" pitchFamily="34" charset="-120"/>
              </a:rPr>
              <a:t>Wear-tests and fabric close-ups instead of discount codes</a:t>
            </a:r>
            <a:endParaRPr lang="en-US" sz="1200" dirty="0"/>
          </a:p>
        </p:txBody>
      </p:sp>
      <p:sp>
        <p:nvSpPr>
          <p:cNvPr id="41" name="Shape 38"/>
          <p:cNvSpPr/>
          <p:nvPr/>
        </p:nvSpPr>
        <p:spPr>
          <a:xfrm>
            <a:off x="8074152" y="4651248"/>
            <a:ext cx="3611880" cy="880872"/>
          </a:xfrm>
          <a:prstGeom prst="roundRect">
            <a:avLst>
              <a:gd name="adj" fmla="val 6228"/>
            </a:avLst>
          </a:prstGeom>
          <a:solidFill>
            <a:srgbClr val="FFFFFF"/>
          </a:solidFill>
          <a:ln w="9525">
            <a:solidFill>
              <a:srgbClr val="E2E8F0"/>
            </a:solidFill>
            <a:prstDash val="solid"/>
          </a:ln>
        </p:spPr>
        <p:txBody>
          <a:bodyPr/>
          <a:lstStyle/>
          <a:p>
            <a:endParaRPr lang="en-US"/>
          </a:p>
        </p:txBody>
      </p:sp>
      <p:sp>
        <p:nvSpPr>
          <p:cNvPr id="42" name="Text 39"/>
          <p:cNvSpPr txBox="1"/>
          <p:nvPr/>
        </p:nvSpPr>
        <p:spPr>
          <a:xfrm>
            <a:off x="8202168" y="4651248"/>
            <a:ext cx="3355848" cy="880872"/>
          </a:xfrm>
          <a:prstGeom prst="rect">
            <a:avLst/>
          </a:prstGeom>
          <a:noFill/>
          <a:ln/>
        </p:spPr>
        <p:txBody>
          <a:bodyPr wrap="square" lIns="0" tIns="0" rIns="0" bIns="0" rtlCol="0" anchor="ctr"/>
          <a:lstStyle/>
          <a:p>
            <a:pPr marL="0" indent="0">
              <a:buNone/>
            </a:pPr>
            <a:r>
              <a:rPr lang="en-US" sz="1000" b="1" dirty="0">
                <a:solidFill>
                  <a:srgbClr val="0F172A"/>
                </a:solidFill>
                <a:latin typeface="Inter" pitchFamily="34" charset="0"/>
                <a:ea typeface="Inter" pitchFamily="34" charset="-122"/>
                <a:cs typeface="Inter" pitchFamily="34" charset="-120"/>
              </a:rPr>
              <a:t>The Fitting Room</a:t>
            </a:r>
            <a:endParaRPr lang="en-US" sz="1200" dirty="0"/>
          </a:p>
          <a:p>
            <a:pPr marL="0" indent="0">
              <a:buNone/>
            </a:pPr>
            <a:r>
              <a:rPr lang="en-US" sz="950" dirty="0">
                <a:solidFill>
                  <a:srgbClr val="334155"/>
                </a:solidFill>
                <a:latin typeface="Inter" pitchFamily="34" charset="0"/>
                <a:ea typeface="Inter" pitchFamily="34" charset="-122"/>
                <a:cs typeface="Inter" pitchFamily="34" charset="-120"/>
              </a:rPr>
              <a:t>A members-only pop-up for app users, one city, one season, to try fabrics in person; light on assets, no store</a:t>
            </a:r>
            <a:endParaRPr lang="en-US" sz="1200" dirty="0"/>
          </a:p>
        </p:txBody>
      </p:sp>
      <p:sp>
        <p:nvSpPr>
          <p:cNvPr id="43" name="Text 40"/>
          <p:cNvSpPr txBox="1"/>
          <p:nvPr/>
        </p:nvSpPr>
        <p:spPr>
          <a:xfrm>
            <a:off x="502920" y="5760720"/>
            <a:ext cx="3657600" cy="411480"/>
          </a:xfrm>
          <a:prstGeom prst="rect">
            <a:avLst/>
          </a:prstGeom>
          <a:noFill/>
          <a:ln/>
        </p:spPr>
        <p:txBody>
          <a:bodyPr wrap="square" lIns="0" tIns="0" rIns="0" bIns="0" rtlCol="0" anchor="ctr"/>
          <a:lstStyle/>
          <a:p>
            <a:pPr marL="0" indent="0">
              <a:buNone/>
            </a:pPr>
            <a:r>
              <a:rPr lang="en-US" sz="1800" b="1" dirty="0">
                <a:solidFill>
                  <a:srgbClr val="1D4ED8"/>
                </a:solidFill>
                <a:latin typeface="Inter" pitchFamily="34" charset="0"/>
                <a:ea typeface="Inter" pitchFamily="34" charset="-122"/>
                <a:cs typeface="Inter" pitchFamily="34" charset="-120"/>
              </a:rPr>
              <a:t>0  </a:t>
            </a:r>
            <a:r>
              <a:rPr lang="en-US" sz="1100" dirty="0">
                <a:solidFill>
                  <a:srgbClr val="64748B"/>
                </a:solidFill>
                <a:latin typeface="Inter" pitchFamily="34" charset="0"/>
                <a:ea typeface="Inter" pitchFamily="34" charset="-122"/>
                <a:cs typeface="Inter" pitchFamily="34" charset="-120"/>
              </a:rPr>
              <a:t>discounts</a:t>
            </a:r>
            <a:endParaRPr lang="en-US" sz="1200" dirty="0"/>
          </a:p>
        </p:txBody>
      </p:sp>
      <p:sp>
        <p:nvSpPr>
          <p:cNvPr id="44" name="Text 41"/>
          <p:cNvSpPr txBox="1"/>
          <p:nvPr/>
        </p:nvSpPr>
        <p:spPr>
          <a:xfrm>
            <a:off x="4251960" y="5760720"/>
            <a:ext cx="3657600" cy="411480"/>
          </a:xfrm>
          <a:prstGeom prst="rect">
            <a:avLst/>
          </a:prstGeom>
          <a:noFill/>
          <a:ln/>
        </p:spPr>
        <p:txBody>
          <a:bodyPr wrap="square" lIns="0" tIns="0" rIns="0" bIns="0" rtlCol="0" anchor="ctr"/>
          <a:lstStyle/>
          <a:p>
            <a:pPr marL="0" indent="0">
              <a:buNone/>
            </a:pPr>
            <a:r>
              <a:rPr lang="en-US" sz="1800" b="1" dirty="0">
                <a:solidFill>
                  <a:srgbClr val="1D4ED8"/>
                </a:solidFill>
                <a:latin typeface="Inter" pitchFamily="34" charset="0"/>
                <a:ea typeface="Inter" pitchFamily="34" charset="-122"/>
                <a:cs typeface="Inter" pitchFamily="34" charset="-120"/>
              </a:rPr>
              <a:t>14  </a:t>
            </a:r>
            <a:r>
              <a:rPr lang="en-US" sz="1100" dirty="0">
                <a:solidFill>
                  <a:srgbClr val="64748B"/>
                </a:solidFill>
                <a:latin typeface="Inter" pitchFamily="34" charset="0"/>
                <a:ea typeface="Inter" pitchFamily="34" charset="-122"/>
                <a:cs typeface="Inter" pitchFamily="34" charset="-120"/>
              </a:rPr>
              <a:t>programs tested against a holdout</a:t>
            </a:r>
            <a:endParaRPr lang="en-US" sz="1200" dirty="0"/>
          </a:p>
        </p:txBody>
      </p:sp>
      <p:sp>
        <p:nvSpPr>
          <p:cNvPr id="45" name="Text 42"/>
          <p:cNvSpPr txBox="1"/>
          <p:nvPr/>
        </p:nvSpPr>
        <p:spPr>
          <a:xfrm>
            <a:off x="8001000" y="5760720"/>
            <a:ext cx="3657600" cy="411480"/>
          </a:xfrm>
          <a:prstGeom prst="rect">
            <a:avLst/>
          </a:prstGeom>
          <a:noFill/>
          <a:ln/>
        </p:spPr>
        <p:txBody>
          <a:bodyPr wrap="square" lIns="0" tIns="0" rIns="0" bIns="0" rtlCol="0" anchor="ctr"/>
          <a:lstStyle/>
          <a:p>
            <a:pPr marL="0" indent="0">
              <a:buNone/>
            </a:pPr>
            <a:r>
              <a:rPr lang="en-US" sz="1800" b="1" dirty="0">
                <a:solidFill>
                  <a:srgbClr val="1D4ED8"/>
                </a:solidFill>
                <a:latin typeface="Inter" pitchFamily="34" charset="0"/>
                <a:ea typeface="Inter" pitchFamily="34" charset="-122"/>
                <a:cs typeface="Inter" pitchFamily="34" charset="-120"/>
              </a:rPr>
              <a:t>$0  </a:t>
            </a:r>
            <a:r>
              <a:rPr lang="en-US" sz="1100" dirty="0">
                <a:solidFill>
                  <a:srgbClr val="64748B"/>
                </a:solidFill>
                <a:latin typeface="Inter" pitchFamily="34" charset="0"/>
                <a:ea typeface="Inter" pitchFamily="34" charset="-122"/>
                <a:cs typeface="Inter" pitchFamily="34" charset="-120"/>
              </a:rPr>
              <a:t>new budget</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9326880" cy="841248"/>
          </a:xfrm>
          <a:prstGeom prst="rect">
            <a:avLst/>
          </a:prstGeom>
          <a:noFill/>
          <a:ln/>
        </p:spPr>
        <p:txBody>
          <a:bodyPr wrap="square" lIns="0" tIns="0" rIns="0" bIns="0" rtlCol="0" anchor="ctr"/>
          <a:lstStyle/>
          <a:p>
            <a:pPr marL="0" indent="0">
              <a:buNone/>
            </a:pPr>
            <a:r>
              <a:rPr lang="en-US" sz="2400" b="1" dirty="0">
                <a:solidFill>
                  <a:srgbClr val="0A1F44"/>
                </a:solidFill>
                <a:latin typeface="Inter" pitchFamily="34" charset="0"/>
                <a:ea typeface="Inter" pitchFamily="34" charset="-122"/>
                <a:cs typeface="Inter" pitchFamily="34" charset="-120"/>
              </a:rPr>
              <a:t>We move $9M out of rented lines, but only when holdouts prove it</a:t>
            </a:r>
            <a:endParaRPr lang="en-US" sz="2400" dirty="0"/>
          </a:p>
        </p:txBody>
      </p:sp>
      <p:pic>
        <p:nvPicPr>
          <p:cNvPr id="3" name="Image 0" descr="/tmp/claude-0/-home-user-Quince/7efe80ae-a049-50c2-9886-98bf7ca3a04a/scratchpad/assets/quince.png"/>
          <p:cNvPicPr>
            <a:picLocks noChangeAspect="1"/>
          </p:cNvPicPr>
          <p:nvPr/>
        </p:nvPicPr>
        <p:blipFill>
          <a:blip r:embed="rId3"/>
          <a:stretch>
            <a:fillRect/>
          </a:stretch>
        </p:blipFill>
        <p:spPr>
          <a:xfrm>
            <a:off x="10236708" y="615544"/>
            <a:ext cx="777240" cy="231951"/>
          </a:xfrm>
          <a:prstGeom prst="rect">
            <a:avLst/>
          </a:prstGeom>
        </p:spPr>
      </p:pic>
      <p:sp>
        <p:nvSpPr>
          <p:cNvPr id="4" name="Shape 1"/>
          <p:cNvSpPr/>
          <p:nvPr/>
        </p:nvSpPr>
        <p:spPr>
          <a:xfrm>
            <a:off x="11155680" y="603504"/>
            <a:ext cx="530352" cy="256032"/>
          </a:xfrm>
          <a:prstGeom prst="roundRect">
            <a:avLst>
              <a:gd name="adj" fmla="val 50000"/>
            </a:avLst>
          </a:prstGeom>
          <a:solidFill>
            <a:srgbClr val="0A1F44"/>
          </a:solidFill>
          <a:ln w="6350">
            <a:solidFill>
              <a:srgbClr val="0A1F44"/>
            </a:solidFill>
            <a:prstDash val="solid"/>
          </a:ln>
        </p:spPr>
        <p:txBody>
          <a:bodyPr/>
          <a:lstStyle/>
          <a:p>
            <a:endParaRPr lang="en-US"/>
          </a:p>
        </p:txBody>
      </p:sp>
      <p:sp>
        <p:nvSpPr>
          <p:cNvPr id="5" name="Text 2"/>
          <p:cNvSpPr txBox="1"/>
          <p:nvPr/>
        </p:nvSpPr>
        <p:spPr>
          <a:xfrm>
            <a:off x="11155680" y="603504"/>
            <a:ext cx="53035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G27</a:t>
            </a:r>
            <a:endParaRPr lang="en-US" sz="950" dirty="0"/>
          </a:p>
        </p:txBody>
      </p:sp>
      <p:sp>
        <p:nvSpPr>
          <p:cNvPr id="6" name="Shape 3"/>
          <p:cNvSpPr/>
          <p:nvPr/>
        </p:nvSpPr>
        <p:spPr>
          <a:xfrm>
            <a:off x="502920" y="6400800"/>
            <a:ext cx="11183112" cy="0"/>
          </a:xfrm>
          <a:prstGeom prst="line">
            <a:avLst/>
          </a:prstGeom>
          <a:noFill/>
          <a:ln w="9525">
            <a:solidFill>
              <a:srgbClr val="E2E8F0"/>
            </a:solidFill>
            <a:prstDash val="solid"/>
          </a:ln>
        </p:spPr>
        <p:txBody>
          <a:bodyPr/>
          <a:lstStyle/>
          <a:p>
            <a:endParaRPr lang="en-US"/>
          </a:p>
        </p:txBody>
      </p:sp>
      <p:sp>
        <p:nvSpPr>
          <p:cNvPr id="7" name="Text 4"/>
          <p:cNvSpPr txBox="1"/>
          <p:nvPr/>
        </p:nvSpPr>
        <p:spPr>
          <a:xfrm>
            <a:off x="502920" y="6464808"/>
            <a:ext cx="9418320" cy="256032"/>
          </a:xfrm>
          <a:prstGeom prst="rect">
            <a:avLst/>
          </a:prstGeom>
          <a:noFill/>
          <a:ln/>
        </p:spPr>
        <p:txBody>
          <a:bodyPr wrap="square" lIns="0" tIns="0" rIns="0" bIns="0" rtlCol="0" anchor="ctr"/>
          <a:lstStyle/>
          <a:p>
            <a:pPr marL="0" indent="0">
              <a:buNone/>
            </a:pPr>
            <a:r>
              <a:rPr lang="en-US" sz="800" dirty="0">
                <a:solidFill>
                  <a:srgbClr val="64748B"/>
                </a:solidFill>
                <a:latin typeface="Inter" pitchFamily="34" charset="0"/>
                <a:ea typeface="Inter" pitchFamily="34" charset="-122"/>
                <a:cs typeface="Inter" pitchFamily="34" charset="-120"/>
              </a:rPr>
              <a:t>Source: case Exhibits G (budget), I (cost by option), D (channel CAC), N (regions); Adobe CJA A3b, A2 and Attribution IQ. Targets are our base case; South test cells assume spend follows the customer split (28%). Each step moves only on holdout proof.</a:t>
            </a:r>
            <a:endParaRPr lang="en-US" sz="800" dirty="0"/>
          </a:p>
        </p:txBody>
      </p:sp>
      <p:sp>
        <p:nvSpPr>
          <p:cNvPr id="8" name="Text 5"/>
          <p:cNvSpPr txBox="1"/>
          <p:nvPr/>
        </p:nvSpPr>
        <p:spPr>
          <a:xfrm>
            <a:off x="9966960" y="6464808"/>
            <a:ext cx="1719072" cy="256032"/>
          </a:xfrm>
          <a:prstGeom prst="rect">
            <a:avLst/>
          </a:prstGeom>
          <a:noFill/>
          <a:ln/>
        </p:spPr>
        <p:txBody>
          <a:bodyPr wrap="square" lIns="0" tIns="0" rIns="0" bIns="0" rtlCol="0" anchor="ctr"/>
          <a:lstStyle/>
          <a:p>
            <a:pPr marL="0" indent="0" algn="r">
              <a:buNone/>
            </a:pPr>
            <a:r>
              <a:rPr lang="en-US" sz="800" dirty="0">
                <a:solidFill>
                  <a:srgbClr val="64748B"/>
                </a:solidFill>
                <a:latin typeface="Inter" pitchFamily="34" charset="0"/>
                <a:ea typeface="Inter" pitchFamily="34" charset="-122"/>
                <a:cs typeface="Inter" pitchFamily="34" charset="-120"/>
              </a:rPr>
              <a:t>Team G27  ·  21</a:t>
            </a:r>
            <a:endParaRPr lang="en-US" sz="800" dirty="0"/>
          </a:p>
        </p:txBody>
      </p:sp>
      <p:sp>
        <p:nvSpPr>
          <p:cNvPr id="9" name="Text 6"/>
          <p:cNvSpPr txBox="1"/>
          <p:nvPr/>
        </p:nvSpPr>
        <p:spPr>
          <a:xfrm>
            <a:off x="502920" y="1243584"/>
            <a:ext cx="2560320" cy="201168"/>
          </a:xfrm>
          <a:prstGeom prst="rect">
            <a:avLst/>
          </a:prstGeom>
          <a:noFill/>
          <a:ln/>
        </p:spPr>
        <p:txBody>
          <a:bodyPr wrap="square" lIns="0" tIns="0" rIns="0" bIns="0" rtlCol="0" anchor="t"/>
          <a:lstStyle/>
          <a:p>
            <a:pPr marL="0" indent="0">
              <a:buNone/>
            </a:pPr>
            <a:r>
              <a:rPr lang="en-US" sz="850" b="1" dirty="0">
                <a:solidFill>
                  <a:srgbClr val="1D4ED8"/>
                </a:solidFill>
                <a:latin typeface="Inter" pitchFamily="34" charset="0"/>
                <a:ea typeface="Inter" pitchFamily="34" charset="-122"/>
                <a:cs typeface="Inter" pitchFamily="34" charset="-120"/>
              </a:rPr>
              <a:t>LINE: TODAY → TARGET</a:t>
            </a:r>
            <a:endParaRPr lang="en-US" sz="850" dirty="0"/>
          </a:p>
        </p:txBody>
      </p:sp>
      <p:sp>
        <p:nvSpPr>
          <p:cNvPr id="10" name="Text 7"/>
          <p:cNvSpPr txBox="1"/>
          <p:nvPr/>
        </p:nvSpPr>
        <p:spPr>
          <a:xfrm>
            <a:off x="3931920" y="1243584"/>
            <a:ext cx="2560320" cy="201168"/>
          </a:xfrm>
          <a:prstGeom prst="rect">
            <a:avLst/>
          </a:prstGeom>
          <a:noFill/>
          <a:ln/>
        </p:spPr>
        <p:txBody>
          <a:bodyPr wrap="square" lIns="0" tIns="0" rIns="0" bIns="0" rtlCol="0" anchor="t"/>
          <a:lstStyle/>
          <a:p>
            <a:pPr marL="0" indent="0">
              <a:buNone/>
            </a:pPr>
            <a:r>
              <a:rPr lang="en-US" sz="850" b="1" dirty="0">
                <a:solidFill>
                  <a:srgbClr val="1D4ED8"/>
                </a:solidFill>
                <a:latin typeface="Inter" pitchFamily="34" charset="0"/>
                <a:ea typeface="Inter" pitchFamily="34" charset="-122"/>
                <a:cs typeface="Inter" pitchFamily="34" charset="-120"/>
              </a:rPr>
              <a:t>WHAT CHANGES</a:t>
            </a:r>
            <a:endParaRPr lang="en-US" sz="850" dirty="0"/>
          </a:p>
        </p:txBody>
      </p:sp>
      <p:sp>
        <p:nvSpPr>
          <p:cNvPr id="11" name="Text 8"/>
          <p:cNvSpPr txBox="1"/>
          <p:nvPr/>
        </p:nvSpPr>
        <p:spPr>
          <a:xfrm>
            <a:off x="6537960" y="1243584"/>
            <a:ext cx="2560320" cy="201168"/>
          </a:xfrm>
          <a:prstGeom prst="rect">
            <a:avLst/>
          </a:prstGeom>
          <a:noFill/>
          <a:ln/>
        </p:spPr>
        <p:txBody>
          <a:bodyPr wrap="square" lIns="0" tIns="0" rIns="0" bIns="0" rtlCol="0" anchor="t"/>
          <a:lstStyle/>
          <a:p>
            <a:pPr marL="0" indent="0">
              <a:buNone/>
            </a:pPr>
            <a:r>
              <a:rPr lang="en-US" sz="850" b="1" dirty="0">
                <a:solidFill>
                  <a:srgbClr val="1D4ED8"/>
                </a:solidFill>
                <a:latin typeface="Inter" pitchFamily="34" charset="0"/>
                <a:ea typeface="Inter" pitchFamily="34" charset="-122"/>
                <a:cs typeface="Inter" pitchFamily="34" charset="-120"/>
              </a:rPr>
              <a:t>EVIDENCE</a:t>
            </a:r>
            <a:endParaRPr lang="en-US" sz="850" dirty="0"/>
          </a:p>
        </p:txBody>
      </p:sp>
      <p:sp>
        <p:nvSpPr>
          <p:cNvPr id="12" name="Text 9"/>
          <p:cNvSpPr txBox="1"/>
          <p:nvPr/>
        </p:nvSpPr>
        <p:spPr>
          <a:xfrm>
            <a:off x="9098280" y="1243584"/>
            <a:ext cx="2560320" cy="201168"/>
          </a:xfrm>
          <a:prstGeom prst="rect">
            <a:avLst/>
          </a:prstGeom>
          <a:noFill/>
          <a:ln/>
        </p:spPr>
        <p:txBody>
          <a:bodyPr wrap="square" lIns="0" tIns="0" rIns="0" bIns="0" rtlCol="0" anchor="t"/>
          <a:lstStyle/>
          <a:p>
            <a:pPr marL="0" indent="0">
              <a:buNone/>
            </a:pPr>
            <a:r>
              <a:rPr lang="en-US" sz="850" b="1" dirty="0">
                <a:solidFill>
                  <a:srgbClr val="1D4ED8"/>
                </a:solidFill>
                <a:latin typeface="Inter" pitchFamily="34" charset="0"/>
                <a:ea typeface="Inter" pitchFamily="34" charset="-122"/>
                <a:cs typeface="Inter" pitchFamily="34" charset="-120"/>
              </a:rPr>
              <a:t>DECISION RULE</a:t>
            </a:r>
            <a:endParaRPr lang="en-US" sz="850" dirty="0"/>
          </a:p>
        </p:txBody>
      </p:sp>
      <p:sp>
        <p:nvSpPr>
          <p:cNvPr id="13" name="Shape 10"/>
          <p:cNvSpPr/>
          <p:nvPr/>
        </p:nvSpPr>
        <p:spPr>
          <a:xfrm>
            <a:off x="502920" y="1517904"/>
            <a:ext cx="11183112" cy="566928"/>
          </a:xfrm>
          <a:prstGeom prst="roundRect">
            <a:avLst>
              <a:gd name="adj" fmla="val 8065"/>
            </a:avLst>
          </a:prstGeom>
          <a:solidFill>
            <a:srgbClr val="F8FAFC"/>
          </a:solidFill>
          <a:ln w="6350">
            <a:solidFill>
              <a:srgbClr val="F8FAFC"/>
            </a:solidFill>
            <a:prstDash val="solid"/>
          </a:ln>
        </p:spPr>
        <p:txBody>
          <a:bodyPr/>
          <a:lstStyle/>
          <a:p>
            <a:endParaRPr lang="en-US"/>
          </a:p>
        </p:txBody>
      </p:sp>
      <p:sp>
        <p:nvSpPr>
          <p:cNvPr id="14" name="Text 11"/>
          <p:cNvSpPr txBox="1"/>
          <p:nvPr/>
        </p:nvSpPr>
        <p:spPr>
          <a:xfrm>
            <a:off x="594360" y="1545336"/>
            <a:ext cx="1828800" cy="274320"/>
          </a:xfrm>
          <a:prstGeom prst="rect">
            <a:avLst/>
          </a:prstGeom>
          <a:noFill/>
          <a:ln/>
        </p:spPr>
        <p:txBody>
          <a:bodyPr wrap="square" lIns="0" tIns="0" rIns="0" bIns="0" rtlCol="0" anchor="ctr"/>
          <a:lstStyle/>
          <a:p>
            <a:pPr marL="0" indent="0">
              <a:buNone/>
            </a:pPr>
            <a:r>
              <a:rPr lang="en-US" sz="1000" b="1" dirty="0">
                <a:solidFill>
                  <a:srgbClr val="0A1F44"/>
                </a:solidFill>
                <a:latin typeface="Inter" pitchFamily="34" charset="0"/>
                <a:ea typeface="Inter" pitchFamily="34" charset="-122"/>
                <a:cs typeface="Inter" pitchFamily="34" charset="-120"/>
              </a:rPr>
              <a:t>Paid social prospecting</a:t>
            </a:r>
            <a:endParaRPr lang="en-US" sz="1000" dirty="0"/>
          </a:p>
        </p:txBody>
      </p:sp>
      <p:sp>
        <p:nvSpPr>
          <p:cNvPr id="15" name="Shape 12"/>
          <p:cNvSpPr/>
          <p:nvPr/>
        </p:nvSpPr>
        <p:spPr>
          <a:xfrm>
            <a:off x="594360" y="1865376"/>
            <a:ext cx="1737360" cy="128016"/>
          </a:xfrm>
          <a:prstGeom prst="rect">
            <a:avLst/>
          </a:prstGeom>
          <a:solidFill>
            <a:srgbClr val="93B4F5"/>
          </a:solidFill>
          <a:ln w="6350">
            <a:solidFill>
              <a:srgbClr val="93B4F5"/>
            </a:solidFill>
            <a:prstDash val="solid"/>
          </a:ln>
        </p:spPr>
        <p:txBody>
          <a:bodyPr/>
          <a:lstStyle/>
          <a:p>
            <a:endParaRPr lang="en-US"/>
          </a:p>
        </p:txBody>
      </p:sp>
      <p:sp>
        <p:nvSpPr>
          <p:cNvPr id="16" name="Text 13"/>
          <p:cNvSpPr txBox="1"/>
          <p:nvPr/>
        </p:nvSpPr>
        <p:spPr>
          <a:xfrm>
            <a:off x="2386584" y="1810512"/>
            <a:ext cx="1498600" cy="219456"/>
          </a:xfrm>
          <a:prstGeom prst="rect">
            <a:avLst/>
          </a:prstGeom>
          <a:noFill/>
          <a:ln/>
        </p:spPr>
        <p:txBody>
          <a:bodyPr wrap="square" lIns="0" tIns="0" rIns="0" bIns="0" rtlCol="0" anchor="ctr"/>
          <a:lstStyle/>
          <a:p>
            <a:pPr marL="0" indent="0">
              <a:buNone/>
            </a:pPr>
            <a:r>
              <a:rPr lang="en-US" sz="850" b="1" dirty="0">
                <a:solidFill>
                  <a:srgbClr val="0A1F44"/>
                </a:solidFill>
                <a:latin typeface="Inter" pitchFamily="34" charset="0"/>
                <a:ea typeface="Inter" pitchFamily="34" charset="-122"/>
                <a:cs typeface="Inter" pitchFamily="34" charset="-120"/>
              </a:rPr>
              <a:t>$58M → $56M if proven</a:t>
            </a:r>
            <a:endParaRPr lang="en-US" sz="850" dirty="0"/>
          </a:p>
        </p:txBody>
      </p:sp>
      <p:sp>
        <p:nvSpPr>
          <p:cNvPr id="17" name="Text 14"/>
          <p:cNvSpPr txBox="1"/>
          <p:nvPr/>
        </p:nvSpPr>
        <p:spPr>
          <a:xfrm>
            <a:off x="3931920" y="1517904"/>
            <a:ext cx="2514600" cy="566928"/>
          </a:xfrm>
          <a:prstGeom prst="rect">
            <a:avLst/>
          </a:prstGeom>
          <a:noFill/>
          <a:ln/>
        </p:spPr>
        <p:txBody>
          <a:bodyPr wrap="square" lIns="0" tIns="0" rIns="0" bIns="0" rtlCol="0" anchor="ctr"/>
          <a:lstStyle/>
          <a:p>
            <a:pPr marL="0" indent="0">
              <a:buNone/>
            </a:pPr>
            <a:r>
              <a:rPr lang="en-US" sz="900" dirty="0">
                <a:solidFill>
                  <a:srgbClr val="0F172A"/>
                </a:solidFill>
                <a:latin typeface="Inter" pitchFamily="34" charset="0"/>
                <a:ea typeface="Inter" pitchFamily="34" charset="-122"/>
                <a:cs typeface="Inter" pitchFamily="34" charset="-120"/>
              </a:rPr>
              <a:t>Months 7–9: South test on ~$16.2M; existing buyers excluded, lookalikes on repeaters</a:t>
            </a:r>
            <a:endParaRPr lang="en-US" sz="900" dirty="0"/>
          </a:p>
        </p:txBody>
      </p:sp>
      <p:sp>
        <p:nvSpPr>
          <p:cNvPr id="18" name="Text 15"/>
          <p:cNvSpPr txBox="1"/>
          <p:nvPr/>
        </p:nvSpPr>
        <p:spPr>
          <a:xfrm>
            <a:off x="6537960" y="1517904"/>
            <a:ext cx="2468880" cy="566928"/>
          </a:xfrm>
          <a:prstGeom prst="rect">
            <a:avLst/>
          </a:prstGeom>
          <a:noFill/>
          <a:ln/>
        </p:spPr>
        <p:txBody>
          <a:bodyPr wrap="square" lIns="0" tIns="0" rIns="0" bIns="0" rtlCol="0" anchor="ctr"/>
          <a:lstStyle/>
          <a:p>
            <a:pPr marL="0" indent="0">
              <a:buNone/>
            </a:pPr>
            <a:r>
              <a:rPr lang="en-US" sz="900" dirty="0">
                <a:solidFill>
                  <a:srgbClr val="334155"/>
                </a:solidFill>
                <a:latin typeface="Inter" pitchFamily="34" charset="0"/>
                <a:ea typeface="Inter" pitchFamily="34" charset="-122"/>
                <a:cs typeface="Inter" pitchFamily="34" charset="-120"/>
              </a:rPr>
              <a:t>Brings 45.5% of buyers (A3b) but its buyers repeat least, 18% (Exhibit D)</a:t>
            </a:r>
            <a:endParaRPr lang="en-US" sz="900" dirty="0"/>
          </a:p>
        </p:txBody>
      </p:sp>
      <p:sp>
        <p:nvSpPr>
          <p:cNvPr id="19" name="Text 16"/>
          <p:cNvSpPr txBox="1"/>
          <p:nvPr/>
        </p:nvSpPr>
        <p:spPr>
          <a:xfrm>
            <a:off x="9098280" y="1517904"/>
            <a:ext cx="2514600" cy="566928"/>
          </a:xfrm>
          <a:prstGeom prst="rect">
            <a:avLst/>
          </a:prstGeom>
          <a:noFill/>
          <a:ln/>
        </p:spPr>
        <p:txBody>
          <a:bodyPr wrap="square" lIns="0" tIns="0" rIns="0" bIns="0" rtlCol="0" anchor="ctr"/>
          <a:lstStyle/>
          <a:p>
            <a:pPr marL="0" indent="0">
              <a:buNone/>
            </a:pPr>
            <a:r>
              <a:rPr lang="en-US" sz="900" b="1" dirty="0">
                <a:solidFill>
                  <a:srgbClr val="0A1F44"/>
                </a:solidFill>
                <a:latin typeface="Inter" pitchFamily="34" charset="0"/>
                <a:ea typeface="Inter" pitchFamily="34" charset="-122"/>
                <a:cs typeface="Inter" pitchFamily="34" charset="-120"/>
              </a:rPr>
              <a:t>Months 7–9: up to $2M moves to owned only if the holdout shows over-credit; else stays $58M</a:t>
            </a:r>
            <a:endParaRPr lang="en-US" sz="900" dirty="0"/>
          </a:p>
        </p:txBody>
      </p:sp>
      <p:sp>
        <p:nvSpPr>
          <p:cNvPr id="20" name="Shape 17"/>
          <p:cNvSpPr/>
          <p:nvPr/>
        </p:nvSpPr>
        <p:spPr>
          <a:xfrm>
            <a:off x="502920" y="2157984"/>
            <a:ext cx="11183112" cy="566928"/>
          </a:xfrm>
          <a:prstGeom prst="roundRect">
            <a:avLst>
              <a:gd name="adj" fmla="val 8065"/>
            </a:avLst>
          </a:prstGeom>
          <a:solidFill>
            <a:srgbClr val="FFFFFF"/>
          </a:solidFill>
          <a:ln w="6350">
            <a:solidFill>
              <a:srgbClr val="FFFFFF"/>
            </a:solidFill>
            <a:prstDash val="solid"/>
          </a:ln>
        </p:spPr>
        <p:txBody>
          <a:bodyPr/>
          <a:lstStyle/>
          <a:p>
            <a:endParaRPr lang="en-US"/>
          </a:p>
        </p:txBody>
      </p:sp>
      <p:sp>
        <p:nvSpPr>
          <p:cNvPr id="21" name="Text 18"/>
          <p:cNvSpPr txBox="1"/>
          <p:nvPr/>
        </p:nvSpPr>
        <p:spPr>
          <a:xfrm>
            <a:off x="594360" y="2185416"/>
            <a:ext cx="1828800" cy="274320"/>
          </a:xfrm>
          <a:prstGeom prst="rect">
            <a:avLst/>
          </a:prstGeom>
          <a:noFill/>
          <a:ln/>
        </p:spPr>
        <p:txBody>
          <a:bodyPr wrap="square" lIns="0" tIns="0" rIns="0" bIns="0" rtlCol="0" anchor="ctr"/>
          <a:lstStyle/>
          <a:p>
            <a:pPr marL="0" indent="0">
              <a:buNone/>
            </a:pPr>
            <a:r>
              <a:rPr lang="en-US" sz="1000" b="1" dirty="0">
                <a:solidFill>
                  <a:srgbClr val="0A1F44"/>
                </a:solidFill>
                <a:latin typeface="Inter" pitchFamily="34" charset="0"/>
                <a:ea typeface="Inter" pitchFamily="34" charset="-122"/>
                <a:cs typeface="Inter" pitchFamily="34" charset="-120"/>
              </a:rPr>
              <a:t>Paid search</a:t>
            </a:r>
            <a:endParaRPr lang="en-US" sz="1000" dirty="0"/>
          </a:p>
        </p:txBody>
      </p:sp>
      <p:sp>
        <p:nvSpPr>
          <p:cNvPr id="22" name="Shape 19"/>
          <p:cNvSpPr/>
          <p:nvPr/>
        </p:nvSpPr>
        <p:spPr>
          <a:xfrm>
            <a:off x="594360" y="2505456"/>
            <a:ext cx="658999" cy="128016"/>
          </a:xfrm>
          <a:prstGeom prst="rect">
            <a:avLst/>
          </a:prstGeom>
          <a:solidFill>
            <a:srgbClr val="93B4F5"/>
          </a:solidFill>
          <a:ln w="6350">
            <a:solidFill>
              <a:srgbClr val="93B4F5"/>
            </a:solidFill>
            <a:prstDash val="solid"/>
          </a:ln>
        </p:spPr>
        <p:txBody>
          <a:bodyPr/>
          <a:lstStyle/>
          <a:p>
            <a:endParaRPr lang="en-US"/>
          </a:p>
        </p:txBody>
      </p:sp>
      <p:sp>
        <p:nvSpPr>
          <p:cNvPr id="23" name="Text 20"/>
          <p:cNvSpPr txBox="1"/>
          <p:nvPr/>
        </p:nvSpPr>
        <p:spPr>
          <a:xfrm>
            <a:off x="1308223" y="2450592"/>
            <a:ext cx="1498600" cy="219456"/>
          </a:xfrm>
          <a:prstGeom prst="rect">
            <a:avLst/>
          </a:prstGeom>
          <a:noFill/>
          <a:ln/>
        </p:spPr>
        <p:txBody>
          <a:bodyPr wrap="square" lIns="0" tIns="0" rIns="0" bIns="0" rtlCol="0" anchor="ctr"/>
          <a:lstStyle/>
          <a:p>
            <a:pPr marL="0" indent="0">
              <a:buNone/>
            </a:pPr>
            <a:r>
              <a:rPr lang="en-US" sz="850" b="1" dirty="0">
                <a:solidFill>
                  <a:srgbClr val="0A1F44"/>
                </a:solidFill>
                <a:latin typeface="Inter" pitchFamily="34" charset="0"/>
                <a:ea typeface="Inter" pitchFamily="34" charset="-122"/>
                <a:cs typeface="Inter" pitchFamily="34" charset="-120"/>
              </a:rPr>
              <a:t>$22M → $19M</a:t>
            </a:r>
            <a:endParaRPr lang="en-US" sz="850" dirty="0"/>
          </a:p>
        </p:txBody>
      </p:sp>
      <p:sp>
        <p:nvSpPr>
          <p:cNvPr id="24" name="Text 21"/>
          <p:cNvSpPr txBox="1"/>
          <p:nvPr/>
        </p:nvSpPr>
        <p:spPr>
          <a:xfrm>
            <a:off x="3931920" y="2157984"/>
            <a:ext cx="2514600" cy="566928"/>
          </a:xfrm>
          <a:prstGeom prst="rect">
            <a:avLst/>
          </a:prstGeom>
          <a:noFill/>
          <a:ln/>
        </p:spPr>
        <p:txBody>
          <a:bodyPr wrap="square" lIns="0" tIns="0" rIns="0" bIns="0" rtlCol="0" anchor="ctr"/>
          <a:lstStyle/>
          <a:p>
            <a:pPr marL="0" indent="0">
              <a:buNone/>
            </a:pPr>
            <a:r>
              <a:rPr lang="en-US" sz="900" dirty="0">
                <a:solidFill>
                  <a:srgbClr val="0F172A"/>
                </a:solidFill>
                <a:latin typeface="Inter" pitchFamily="34" charset="0"/>
                <a:ea typeface="Inter" pitchFamily="34" charset="-122"/>
                <a:cs typeface="Inter" pitchFamily="34" charset="-120"/>
              </a:rPr>
              <a:t>Months 4–6: South geo test on ~$6.2M of branded terms</a:t>
            </a:r>
            <a:endParaRPr lang="en-US" sz="900" dirty="0"/>
          </a:p>
        </p:txBody>
      </p:sp>
      <p:sp>
        <p:nvSpPr>
          <p:cNvPr id="25" name="Text 22"/>
          <p:cNvSpPr txBox="1"/>
          <p:nvPr/>
        </p:nvSpPr>
        <p:spPr>
          <a:xfrm>
            <a:off x="6537960" y="2157984"/>
            <a:ext cx="2468880" cy="566928"/>
          </a:xfrm>
          <a:prstGeom prst="rect">
            <a:avLst/>
          </a:prstGeom>
          <a:noFill/>
          <a:ln/>
        </p:spPr>
        <p:txBody>
          <a:bodyPr wrap="square" lIns="0" tIns="0" rIns="0" bIns="0" rtlCol="0" anchor="ctr"/>
          <a:lstStyle/>
          <a:p>
            <a:pPr marL="0" indent="0">
              <a:buNone/>
            </a:pPr>
            <a:r>
              <a:rPr lang="en-US" sz="900" dirty="0">
                <a:solidFill>
                  <a:srgbClr val="334155"/>
                </a:solidFill>
                <a:latin typeface="Inter" pitchFamily="34" charset="0"/>
                <a:ea typeface="Inter" pitchFamily="34" charset="-122"/>
                <a:cs typeface="Inter" pitchFamily="34" charset="-120"/>
              </a:rPr>
              <a:t>Brand-keyword ads showed no short-term lift at eBay (Blake et al. 2015)</a:t>
            </a:r>
            <a:endParaRPr lang="en-US" sz="900" dirty="0"/>
          </a:p>
        </p:txBody>
      </p:sp>
      <p:sp>
        <p:nvSpPr>
          <p:cNvPr id="26" name="Text 23"/>
          <p:cNvSpPr txBox="1"/>
          <p:nvPr/>
        </p:nvSpPr>
        <p:spPr>
          <a:xfrm>
            <a:off x="9098280" y="2157984"/>
            <a:ext cx="2514600" cy="566928"/>
          </a:xfrm>
          <a:prstGeom prst="rect">
            <a:avLst/>
          </a:prstGeom>
          <a:noFill/>
          <a:ln/>
        </p:spPr>
        <p:txBody>
          <a:bodyPr wrap="square" lIns="0" tIns="0" rIns="0" bIns="0" rtlCol="0" anchor="ctr"/>
          <a:lstStyle/>
          <a:p>
            <a:pPr marL="0" indent="0">
              <a:buNone/>
            </a:pPr>
            <a:r>
              <a:rPr lang="en-US" sz="900" b="1" dirty="0">
                <a:solidFill>
                  <a:srgbClr val="0A1F44"/>
                </a:solidFill>
                <a:latin typeface="Inter" pitchFamily="34" charset="0"/>
                <a:ea typeface="Inter" pitchFamily="34" charset="-122"/>
                <a:cs typeface="Inter" pitchFamily="34" charset="-120"/>
              </a:rPr>
              <a:t>Months 4–6: $3M moves ($1.5M owned, $1.5M creators) if organic recovers the traffic</a:t>
            </a:r>
            <a:endParaRPr lang="en-US" sz="900" dirty="0"/>
          </a:p>
        </p:txBody>
      </p:sp>
      <p:sp>
        <p:nvSpPr>
          <p:cNvPr id="27" name="Shape 24"/>
          <p:cNvSpPr/>
          <p:nvPr/>
        </p:nvSpPr>
        <p:spPr>
          <a:xfrm>
            <a:off x="502920" y="2798064"/>
            <a:ext cx="11183112" cy="566928"/>
          </a:xfrm>
          <a:prstGeom prst="roundRect">
            <a:avLst>
              <a:gd name="adj" fmla="val 8065"/>
            </a:avLst>
          </a:prstGeom>
          <a:solidFill>
            <a:srgbClr val="F8FAFC"/>
          </a:solidFill>
          <a:ln w="6350">
            <a:solidFill>
              <a:srgbClr val="F8FAFC"/>
            </a:solidFill>
            <a:prstDash val="solid"/>
          </a:ln>
        </p:spPr>
        <p:txBody>
          <a:bodyPr/>
          <a:lstStyle/>
          <a:p>
            <a:endParaRPr lang="en-US"/>
          </a:p>
        </p:txBody>
      </p:sp>
      <p:sp>
        <p:nvSpPr>
          <p:cNvPr id="28" name="Text 25"/>
          <p:cNvSpPr txBox="1"/>
          <p:nvPr/>
        </p:nvSpPr>
        <p:spPr>
          <a:xfrm>
            <a:off x="594360" y="2825496"/>
            <a:ext cx="1828800" cy="274320"/>
          </a:xfrm>
          <a:prstGeom prst="rect">
            <a:avLst/>
          </a:prstGeom>
          <a:noFill/>
          <a:ln/>
        </p:spPr>
        <p:txBody>
          <a:bodyPr wrap="square" lIns="0" tIns="0" rIns="0" bIns="0" rtlCol="0" anchor="ctr"/>
          <a:lstStyle/>
          <a:p>
            <a:pPr marL="0" indent="0">
              <a:buNone/>
            </a:pPr>
            <a:r>
              <a:rPr lang="en-US" sz="1000" b="1" dirty="0">
                <a:solidFill>
                  <a:srgbClr val="0A1F44"/>
                </a:solidFill>
                <a:latin typeface="Inter" pitchFamily="34" charset="0"/>
                <a:ea typeface="Inter" pitchFamily="34" charset="-122"/>
                <a:cs typeface="Inter" pitchFamily="34" charset="-120"/>
              </a:rPr>
              <a:t>Influencer / affiliate</a:t>
            </a:r>
            <a:endParaRPr lang="en-US" sz="1000" dirty="0"/>
          </a:p>
        </p:txBody>
      </p:sp>
      <p:sp>
        <p:nvSpPr>
          <p:cNvPr id="29" name="Shape 26"/>
          <p:cNvSpPr/>
          <p:nvPr/>
        </p:nvSpPr>
        <p:spPr>
          <a:xfrm>
            <a:off x="594360" y="3145536"/>
            <a:ext cx="479272" cy="128016"/>
          </a:xfrm>
          <a:prstGeom prst="rect">
            <a:avLst/>
          </a:prstGeom>
          <a:solidFill>
            <a:srgbClr val="93B4F5"/>
          </a:solidFill>
          <a:ln w="6350">
            <a:solidFill>
              <a:srgbClr val="93B4F5"/>
            </a:solidFill>
            <a:prstDash val="solid"/>
          </a:ln>
        </p:spPr>
        <p:txBody>
          <a:bodyPr/>
          <a:lstStyle/>
          <a:p>
            <a:endParaRPr lang="en-US"/>
          </a:p>
        </p:txBody>
      </p:sp>
      <p:sp>
        <p:nvSpPr>
          <p:cNvPr id="30" name="Text 27"/>
          <p:cNvSpPr txBox="1"/>
          <p:nvPr/>
        </p:nvSpPr>
        <p:spPr>
          <a:xfrm>
            <a:off x="1128496" y="3090672"/>
            <a:ext cx="1498600" cy="219456"/>
          </a:xfrm>
          <a:prstGeom prst="rect">
            <a:avLst/>
          </a:prstGeom>
          <a:noFill/>
          <a:ln/>
        </p:spPr>
        <p:txBody>
          <a:bodyPr wrap="square" lIns="0" tIns="0" rIns="0" bIns="0" rtlCol="0" anchor="ctr"/>
          <a:lstStyle/>
          <a:p>
            <a:pPr marL="0" indent="0">
              <a:buNone/>
            </a:pPr>
            <a:r>
              <a:rPr lang="en-US" sz="850" b="1" dirty="0">
                <a:solidFill>
                  <a:srgbClr val="0A1F44"/>
                </a:solidFill>
                <a:latin typeface="Inter" pitchFamily="34" charset="0"/>
                <a:ea typeface="Inter" pitchFamily="34" charset="-122"/>
                <a:cs typeface="Inter" pitchFamily="34" charset="-120"/>
              </a:rPr>
              <a:t>$16M → $17.5M</a:t>
            </a:r>
            <a:endParaRPr lang="en-US" sz="850" dirty="0"/>
          </a:p>
        </p:txBody>
      </p:sp>
      <p:sp>
        <p:nvSpPr>
          <p:cNvPr id="31" name="Text 28"/>
          <p:cNvSpPr txBox="1"/>
          <p:nvPr/>
        </p:nvSpPr>
        <p:spPr>
          <a:xfrm>
            <a:off x="3931920" y="2798064"/>
            <a:ext cx="2514600" cy="566928"/>
          </a:xfrm>
          <a:prstGeom prst="rect">
            <a:avLst/>
          </a:prstGeom>
          <a:noFill/>
          <a:ln/>
        </p:spPr>
        <p:txBody>
          <a:bodyPr wrap="square" lIns="0" tIns="0" rIns="0" bIns="0" rtlCol="0" anchor="ctr"/>
          <a:lstStyle/>
          <a:p>
            <a:pPr marL="0" indent="0">
              <a:buNone/>
            </a:pPr>
            <a:r>
              <a:rPr lang="en-US" sz="900" dirty="0">
                <a:solidFill>
                  <a:srgbClr val="0F172A"/>
                </a:solidFill>
                <a:latin typeface="Inter" pitchFamily="34" charset="0"/>
                <a:ea typeface="Inter" pitchFamily="34" charset="-122"/>
                <a:cs typeface="Inter" pitchFamily="34" charset="-120"/>
              </a:rPr>
              <a:t>Briefs shift to proof: wear-tests and fabric close-ups</a:t>
            </a:r>
            <a:endParaRPr lang="en-US" sz="900" dirty="0"/>
          </a:p>
        </p:txBody>
      </p:sp>
      <p:sp>
        <p:nvSpPr>
          <p:cNvPr id="32" name="Text 29"/>
          <p:cNvSpPr txBox="1"/>
          <p:nvPr/>
        </p:nvSpPr>
        <p:spPr>
          <a:xfrm>
            <a:off x="6537960" y="2798064"/>
            <a:ext cx="2468880" cy="566928"/>
          </a:xfrm>
          <a:prstGeom prst="rect">
            <a:avLst/>
          </a:prstGeom>
          <a:noFill/>
          <a:ln/>
        </p:spPr>
        <p:txBody>
          <a:bodyPr wrap="square" lIns="0" tIns="0" rIns="0" bIns="0" rtlCol="0" anchor="ctr"/>
          <a:lstStyle/>
          <a:p>
            <a:pPr marL="0" indent="0">
              <a:buNone/>
            </a:pPr>
            <a:r>
              <a:rPr lang="en-US" sz="900" dirty="0">
                <a:solidFill>
                  <a:srgbClr val="334155"/>
                </a:solidFill>
                <a:latin typeface="Inter" pitchFamily="34" charset="0"/>
                <a:ea typeface="Inter" pitchFamily="34" charset="-122"/>
                <a:cs typeface="Inter" pitchFamily="34" charset="-120"/>
              </a:rPr>
              <a:t>Hypothesis; 69% product → cart drop (A1)</a:t>
            </a:r>
            <a:endParaRPr lang="en-US" sz="900" dirty="0"/>
          </a:p>
        </p:txBody>
      </p:sp>
      <p:sp>
        <p:nvSpPr>
          <p:cNvPr id="33" name="Text 30"/>
          <p:cNvSpPr txBox="1"/>
          <p:nvPr/>
        </p:nvSpPr>
        <p:spPr>
          <a:xfrm>
            <a:off x="9098280" y="2798064"/>
            <a:ext cx="2514600" cy="566928"/>
          </a:xfrm>
          <a:prstGeom prst="rect">
            <a:avLst/>
          </a:prstGeom>
          <a:noFill/>
          <a:ln/>
        </p:spPr>
        <p:txBody>
          <a:bodyPr wrap="square" lIns="0" tIns="0" rIns="0" bIns="0" rtlCol="0" anchor="ctr"/>
          <a:lstStyle/>
          <a:p>
            <a:pPr marL="0" indent="0">
              <a:buNone/>
            </a:pPr>
            <a:r>
              <a:rPr lang="en-US" sz="900" b="1" dirty="0">
                <a:solidFill>
                  <a:srgbClr val="0A1F44"/>
                </a:solidFill>
                <a:latin typeface="Inter" pitchFamily="34" charset="0"/>
                <a:ea typeface="Inter" pitchFamily="34" charset="-122"/>
                <a:cs typeface="Inter" pitchFamily="34" charset="-120"/>
              </a:rPr>
              <a:t>+$1.5M from search for proof creators, with the search step</a:t>
            </a:r>
            <a:endParaRPr lang="en-US" sz="900" dirty="0"/>
          </a:p>
        </p:txBody>
      </p:sp>
      <p:sp>
        <p:nvSpPr>
          <p:cNvPr id="34" name="Shape 31"/>
          <p:cNvSpPr/>
          <p:nvPr/>
        </p:nvSpPr>
        <p:spPr>
          <a:xfrm>
            <a:off x="502920" y="3438144"/>
            <a:ext cx="11183112" cy="566928"/>
          </a:xfrm>
          <a:prstGeom prst="roundRect">
            <a:avLst>
              <a:gd name="adj" fmla="val 8065"/>
            </a:avLst>
          </a:prstGeom>
          <a:solidFill>
            <a:srgbClr val="FFFFFF"/>
          </a:solidFill>
          <a:ln w="6350">
            <a:solidFill>
              <a:srgbClr val="FFFFFF"/>
            </a:solidFill>
            <a:prstDash val="solid"/>
          </a:ln>
        </p:spPr>
        <p:txBody>
          <a:bodyPr/>
          <a:lstStyle/>
          <a:p>
            <a:endParaRPr lang="en-US"/>
          </a:p>
        </p:txBody>
      </p:sp>
      <p:sp>
        <p:nvSpPr>
          <p:cNvPr id="35" name="Text 32"/>
          <p:cNvSpPr txBox="1"/>
          <p:nvPr/>
        </p:nvSpPr>
        <p:spPr>
          <a:xfrm>
            <a:off x="594360" y="3465576"/>
            <a:ext cx="1828800" cy="274320"/>
          </a:xfrm>
          <a:prstGeom prst="rect">
            <a:avLst/>
          </a:prstGeom>
          <a:noFill/>
          <a:ln/>
        </p:spPr>
        <p:txBody>
          <a:bodyPr wrap="square" lIns="0" tIns="0" rIns="0" bIns="0" rtlCol="0" anchor="ctr"/>
          <a:lstStyle/>
          <a:p>
            <a:pPr marL="0" indent="0">
              <a:buNone/>
            </a:pPr>
            <a:r>
              <a:rPr lang="en-US" sz="1000" b="1" dirty="0">
                <a:solidFill>
                  <a:srgbClr val="0A1F44"/>
                </a:solidFill>
                <a:latin typeface="Inter" pitchFamily="34" charset="0"/>
                <a:ea typeface="Inter" pitchFamily="34" charset="-122"/>
                <a:cs typeface="Inter" pitchFamily="34" charset="-120"/>
              </a:rPr>
              <a:t>Paid social retargeting</a:t>
            </a:r>
            <a:endParaRPr lang="en-US" sz="1000" dirty="0"/>
          </a:p>
        </p:txBody>
      </p:sp>
      <p:sp>
        <p:nvSpPr>
          <p:cNvPr id="36" name="Shape 33"/>
          <p:cNvSpPr/>
          <p:nvPr/>
        </p:nvSpPr>
        <p:spPr>
          <a:xfrm>
            <a:off x="594360" y="3785616"/>
            <a:ext cx="419363" cy="128016"/>
          </a:xfrm>
          <a:prstGeom prst="rect">
            <a:avLst/>
          </a:prstGeom>
          <a:solidFill>
            <a:srgbClr val="93B4F5"/>
          </a:solidFill>
          <a:ln w="6350">
            <a:solidFill>
              <a:srgbClr val="93B4F5"/>
            </a:solidFill>
            <a:prstDash val="solid"/>
          </a:ln>
        </p:spPr>
        <p:txBody>
          <a:bodyPr/>
          <a:lstStyle/>
          <a:p>
            <a:endParaRPr lang="en-US"/>
          </a:p>
        </p:txBody>
      </p:sp>
      <p:sp>
        <p:nvSpPr>
          <p:cNvPr id="37" name="Text 34"/>
          <p:cNvSpPr txBox="1"/>
          <p:nvPr/>
        </p:nvSpPr>
        <p:spPr>
          <a:xfrm>
            <a:off x="1068587" y="3730752"/>
            <a:ext cx="1498600" cy="219456"/>
          </a:xfrm>
          <a:prstGeom prst="rect">
            <a:avLst/>
          </a:prstGeom>
          <a:noFill/>
          <a:ln/>
        </p:spPr>
        <p:txBody>
          <a:bodyPr wrap="square" lIns="0" tIns="0" rIns="0" bIns="0" rtlCol="0" anchor="ctr"/>
          <a:lstStyle/>
          <a:p>
            <a:pPr marL="0" indent="0">
              <a:buNone/>
            </a:pPr>
            <a:r>
              <a:rPr lang="en-US" sz="850" b="1" dirty="0">
                <a:solidFill>
                  <a:srgbClr val="0A1F44"/>
                </a:solidFill>
                <a:latin typeface="Inter" pitchFamily="34" charset="0"/>
                <a:ea typeface="Inter" pitchFamily="34" charset="-122"/>
                <a:cs typeface="Inter" pitchFamily="34" charset="-120"/>
              </a:rPr>
              <a:t>$14M → $10M</a:t>
            </a:r>
            <a:endParaRPr lang="en-US" sz="850" dirty="0"/>
          </a:p>
        </p:txBody>
      </p:sp>
      <p:sp>
        <p:nvSpPr>
          <p:cNvPr id="38" name="Text 35"/>
          <p:cNvSpPr txBox="1"/>
          <p:nvPr/>
        </p:nvSpPr>
        <p:spPr>
          <a:xfrm>
            <a:off x="3931920" y="3438144"/>
            <a:ext cx="2514600" cy="566928"/>
          </a:xfrm>
          <a:prstGeom prst="rect">
            <a:avLst/>
          </a:prstGeom>
          <a:noFill/>
          <a:ln/>
        </p:spPr>
        <p:txBody>
          <a:bodyPr wrap="square" lIns="0" tIns="0" rIns="0" bIns="0" rtlCol="0" anchor="ctr"/>
          <a:lstStyle/>
          <a:p>
            <a:pPr marL="0" indent="0">
              <a:buNone/>
            </a:pPr>
            <a:r>
              <a:rPr lang="en-US" sz="900" dirty="0">
                <a:solidFill>
                  <a:srgbClr val="0F172A"/>
                </a:solidFill>
                <a:latin typeface="Inter" pitchFamily="34" charset="0"/>
                <a:ea typeface="Inter" pitchFamily="34" charset="-122"/>
                <a:cs typeface="Inter" pitchFamily="34" charset="-120"/>
              </a:rPr>
              <a:t>Re-aimed inside the line: suppression and frequency caps</a:t>
            </a:r>
            <a:endParaRPr lang="en-US" sz="900" dirty="0"/>
          </a:p>
        </p:txBody>
      </p:sp>
      <p:sp>
        <p:nvSpPr>
          <p:cNvPr id="39" name="Text 36"/>
          <p:cNvSpPr txBox="1"/>
          <p:nvPr/>
        </p:nvSpPr>
        <p:spPr>
          <a:xfrm>
            <a:off x="6537960" y="3438144"/>
            <a:ext cx="2468880" cy="566928"/>
          </a:xfrm>
          <a:prstGeom prst="rect">
            <a:avLst/>
          </a:prstGeom>
          <a:noFill/>
          <a:ln/>
        </p:spPr>
        <p:txBody>
          <a:bodyPr wrap="square" lIns="0" tIns="0" rIns="0" bIns="0" rtlCol="0" anchor="ctr"/>
          <a:lstStyle/>
          <a:p>
            <a:pPr marL="0" indent="0">
              <a:buNone/>
            </a:pPr>
            <a:r>
              <a:rPr lang="en-US" sz="900" dirty="0">
                <a:solidFill>
                  <a:srgbClr val="334155"/>
                </a:solidFill>
                <a:latin typeface="Inter" pitchFamily="34" charset="0"/>
                <a:ea typeface="Inter" pitchFamily="34" charset="-122"/>
                <a:cs typeface="Inter" pitchFamily="34" charset="-120"/>
              </a:rPr>
              <a:t>No repeat advantage over organic, 23.0% vs 23.4% (A3b); the holdout tests incrementality</a:t>
            </a:r>
            <a:endParaRPr lang="en-US" sz="900" dirty="0"/>
          </a:p>
        </p:txBody>
      </p:sp>
      <p:sp>
        <p:nvSpPr>
          <p:cNvPr id="40" name="Text 37"/>
          <p:cNvSpPr txBox="1"/>
          <p:nvPr/>
        </p:nvSpPr>
        <p:spPr>
          <a:xfrm>
            <a:off x="9098280" y="3438144"/>
            <a:ext cx="2514600" cy="566928"/>
          </a:xfrm>
          <a:prstGeom prst="rect">
            <a:avLst/>
          </a:prstGeom>
          <a:noFill/>
          <a:ln/>
        </p:spPr>
        <p:txBody>
          <a:bodyPr wrap="square" lIns="0" tIns="0" rIns="0" bIns="0" rtlCol="0" anchor="ctr"/>
          <a:lstStyle/>
          <a:p>
            <a:pPr marL="0" indent="0">
              <a:buNone/>
            </a:pPr>
            <a:r>
              <a:rPr lang="en-US" sz="900" b="1" dirty="0">
                <a:solidFill>
                  <a:srgbClr val="0A1F44"/>
                </a:solidFill>
                <a:latin typeface="Inter" pitchFamily="34" charset="0"/>
                <a:ea typeface="Inter" pitchFamily="34" charset="-122"/>
                <a:cs typeface="Inter" pitchFamily="34" charset="-120"/>
              </a:rPr>
              <a:t>Month 3: $4M moves to owned if Gate 1 passes; the holdout sizes anything more</a:t>
            </a:r>
            <a:endParaRPr lang="en-US" sz="900" dirty="0"/>
          </a:p>
        </p:txBody>
      </p:sp>
      <p:sp>
        <p:nvSpPr>
          <p:cNvPr id="41" name="Shape 38"/>
          <p:cNvSpPr/>
          <p:nvPr/>
        </p:nvSpPr>
        <p:spPr>
          <a:xfrm>
            <a:off x="502920" y="4078224"/>
            <a:ext cx="11183112" cy="566928"/>
          </a:xfrm>
          <a:prstGeom prst="roundRect">
            <a:avLst>
              <a:gd name="adj" fmla="val 8065"/>
            </a:avLst>
          </a:prstGeom>
          <a:solidFill>
            <a:srgbClr val="F8FAFC"/>
          </a:solidFill>
          <a:ln w="6350">
            <a:solidFill>
              <a:srgbClr val="F8FAFC"/>
            </a:solidFill>
            <a:prstDash val="solid"/>
          </a:ln>
        </p:spPr>
        <p:txBody>
          <a:bodyPr/>
          <a:lstStyle/>
          <a:p>
            <a:endParaRPr lang="en-US"/>
          </a:p>
        </p:txBody>
      </p:sp>
      <p:sp>
        <p:nvSpPr>
          <p:cNvPr id="42" name="Text 39"/>
          <p:cNvSpPr txBox="1"/>
          <p:nvPr/>
        </p:nvSpPr>
        <p:spPr>
          <a:xfrm>
            <a:off x="594360" y="4105656"/>
            <a:ext cx="1828800" cy="274320"/>
          </a:xfrm>
          <a:prstGeom prst="rect">
            <a:avLst/>
          </a:prstGeom>
          <a:noFill/>
          <a:ln/>
        </p:spPr>
        <p:txBody>
          <a:bodyPr wrap="square" lIns="0" tIns="0" rIns="0" bIns="0" rtlCol="0" anchor="ctr"/>
          <a:lstStyle/>
          <a:p>
            <a:pPr marL="0" indent="0">
              <a:buNone/>
            </a:pPr>
            <a:r>
              <a:rPr lang="en-US" sz="1000" b="1" dirty="0">
                <a:solidFill>
                  <a:srgbClr val="0A1F44"/>
                </a:solidFill>
                <a:latin typeface="Inter" pitchFamily="34" charset="0"/>
                <a:ea typeface="Inter" pitchFamily="34" charset="-122"/>
                <a:cs typeface="Inter" pitchFamily="34" charset="-120"/>
              </a:rPr>
              <a:t>Email, SMS, app</a:t>
            </a:r>
            <a:endParaRPr lang="en-US" sz="1000" dirty="0"/>
          </a:p>
        </p:txBody>
      </p:sp>
      <p:sp>
        <p:nvSpPr>
          <p:cNvPr id="43" name="Shape 40"/>
          <p:cNvSpPr/>
          <p:nvPr/>
        </p:nvSpPr>
        <p:spPr>
          <a:xfrm>
            <a:off x="594360" y="4425696"/>
            <a:ext cx="179727" cy="128016"/>
          </a:xfrm>
          <a:prstGeom prst="rect">
            <a:avLst/>
          </a:prstGeom>
          <a:solidFill>
            <a:srgbClr val="1D4ED8"/>
          </a:solidFill>
          <a:ln w="6350">
            <a:solidFill>
              <a:srgbClr val="1D4ED8"/>
            </a:solidFill>
            <a:prstDash val="solid"/>
          </a:ln>
        </p:spPr>
        <p:txBody>
          <a:bodyPr/>
          <a:lstStyle/>
          <a:p>
            <a:endParaRPr lang="en-US"/>
          </a:p>
        </p:txBody>
      </p:sp>
      <p:sp>
        <p:nvSpPr>
          <p:cNvPr id="44" name="Text 41"/>
          <p:cNvSpPr txBox="1"/>
          <p:nvPr/>
        </p:nvSpPr>
        <p:spPr>
          <a:xfrm>
            <a:off x="828951" y="4370832"/>
            <a:ext cx="1498600" cy="219456"/>
          </a:xfrm>
          <a:prstGeom prst="rect">
            <a:avLst/>
          </a:prstGeom>
          <a:noFill/>
          <a:ln/>
        </p:spPr>
        <p:txBody>
          <a:bodyPr wrap="square" lIns="0" tIns="0" rIns="0" bIns="0" rtlCol="0" anchor="ctr"/>
          <a:lstStyle/>
          <a:p>
            <a:pPr marL="0" indent="0">
              <a:buNone/>
            </a:pPr>
            <a:r>
              <a:rPr lang="en-US" sz="850" b="1" dirty="0">
                <a:solidFill>
                  <a:srgbClr val="0A1F44"/>
                </a:solidFill>
                <a:latin typeface="Inter" pitchFamily="34" charset="0"/>
                <a:ea typeface="Inter" pitchFamily="34" charset="-122"/>
                <a:cs typeface="Inter" pitchFamily="34" charset="-120"/>
              </a:rPr>
              <a:t>$6M → $13.5M</a:t>
            </a:r>
            <a:endParaRPr lang="en-US" sz="850" dirty="0"/>
          </a:p>
        </p:txBody>
      </p:sp>
      <p:sp>
        <p:nvSpPr>
          <p:cNvPr id="45" name="Text 42"/>
          <p:cNvSpPr txBox="1"/>
          <p:nvPr/>
        </p:nvSpPr>
        <p:spPr>
          <a:xfrm>
            <a:off x="3931920" y="4078224"/>
            <a:ext cx="2514600" cy="566928"/>
          </a:xfrm>
          <a:prstGeom prst="rect">
            <a:avLst/>
          </a:prstGeom>
          <a:noFill/>
          <a:ln/>
        </p:spPr>
        <p:txBody>
          <a:bodyPr wrap="square" lIns="0" tIns="0" rIns="0" bIns="0" rtlCol="0" anchor="ctr"/>
          <a:lstStyle/>
          <a:p>
            <a:pPr marL="0" indent="0">
              <a:buNone/>
            </a:pPr>
            <a:r>
              <a:rPr lang="en-US" sz="900" dirty="0">
                <a:solidFill>
                  <a:srgbClr val="0F172A"/>
                </a:solidFill>
                <a:latin typeface="Inter" pitchFamily="34" charset="0"/>
                <a:ea typeface="Inter" pitchFamily="34" charset="-122"/>
                <a:cs typeface="Inter" pitchFamily="34" charset="-120"/>
              </a:rPr>
              <a:t>Pilot: Option A's $2–3M inside $6M; grows as tranches prove (team, activation, app, creative)</a:t>
            </a:r>
            <a:endParaRPr lang="en-US" sz="900" dirty="0"/>
          </a:p>
        </p:txBody>
      </p:sp>
      <p:sp>
        <p:nvSpPr>
          <p:cNvPr id="46" name="Text 43"/>
          <p:cNvSpPr txBox="1"/>
          <p:nvPr/>
        </p:nvSpPr>
        <p:spPr>
          <a:xfrm>
            <a:off x="6537960" y="4078224"/>
            <a:ext cx="2468880" cy="566928"/>
          </a:xfrm>
          <a:prstGeom prst="rect">
            <a:avLst/>
          </a:prstGeom>
          <a:noFill/>
          <a:ln/>
        </p:spPr>
        <p:txBody>
          <a:bodyPr wrap="square" lIns="0" tIns="0" rIns="0" bIns="0" rtlCol="0" anchor="ctr"/>
          <a:lstStyle/>
          <a:p>
            <a:pPr marL="0" indent="0">
              <a:buNone/>
            </a:pPr>
            <a:r>
              <a:rPr lang="en-US" sz="900" dirty="0">
                <a:solidFill>
                  <a:srgbClr val="334155"/>
                </a:solidFill>
                <a:latin typeface="Inter" pitchFamily="34" charset="0"/>
                <a:ea typeface="Inter" pitchFamily="34" charset="-122"/>
                <a:cs typeface="Inter" pitchFamily="34" charset="-120"/>
              </a:rPr>
              <a:t>Engaged buyers repeat 28.1% vs 4.7% (A2)</a:t>
            </a:r>
            <a:endParaRPr lang="en-US" sz="900" dirty="0"/>
          </a:p>
        </p:txBody>
      </p:sp>
      <p:sp>
        <p:nvSpPr>
          <p:cNvPr id="47" name="Text 44"/>
          <p:cNvSpPr txBox="1"/>
          <p:nvPr/>
        </p:nvSpPr>
        <p:spPr>
          <a:xfrm>
            <a:off x="9098280" y="4078224"/>
            <a:ext cx="2514600" cy="566928"/>
          </a:xfrm>
          <a:prstGeom prst="rect">
            <a:avLst/>
          </a:prstGeom>
          <a:noFill/>
          <a:ln/>
        </p:spPr>
        <p:txBody>
          <a:bodyPr wrap="square" lIns="0" tIns="0" rIns="0" bIns="0" rtlCol="0" anchor="ctr"/>
          <a:lstStyle/>
          <a:p>
            <a:pPr marL="0" indent="0">
              <a:buNone/>
            </a:pPr>
            <a:r>
              <a:rPr lang="en-US" sz="900" b="1" dirty="0">
                <a:solidFill>
                  <a:srgbClr val="0A1F44"/>
                </a:solidFill>
                <a:latin typeface="Inter" pitchFamily="34" charset="0"/>
                <a:ea typeface="Inter" pitchFamily="34" charset="-122"/>
                <a:cs typeface="Inter" pitchFamily="34" charset="-120"/>
              </a:rPr>
              <a:t>Receives each step: owned share 5% → 11%</a:t>
            </a:r>
            <a:endParaRPr lang="en-US" sz="900" dirty="0"/>
          </a:p>
        </p:txBody>
      </p:sp>
      <p:sp>
        <p:nvSpPr>
          <p:cNvPr id="48" name="Shape 45"/>
          <p:cNvSpPr/>
          <p:nvPr/>
        </p:nvSpPr>
        <p:spPr>
          <a:xfrm>
            <a:off x="502920" y="4718304"/>
            <a:ext cx="11183112" cy="566928"/>
          </a:xfrm>
          <a:prstGeom prst="roundRect">
            <a:avLst>
              <a:gd name="adj" fmla="val 8065"/>
            </a:avLst>
          </a:prstGeom>
          <a:solidFill>
            <a:srgbClr val="FFFFFF"/>
          </a:solidFill>
          <a:ln w="6350">
            <a:solidFill>
              <a:srgbClr val="FFFFFF"/>
            </a:solidFill>
            <a:prstDash val="solid"/>
          </a:ln>
        </p:spPr>
        <p:txBody>
          <a:bodyPr/>
          <a:lstStyle/>
          <a:p>
            <a:endParaRPr lang="en-US"/>
          </a:p>
        </p:txBody>
      </p:sp>
      <p:sp>
        <p:nvSpPr>
          <p:cNvPr id="49" name="Text 46"/>
          <p:cNvSpPr txBox="1"/>
          <p:nvPr/>
        </p:nvSpPr>
        <p:spPr>
          <a:xfrm>
            <a:off x="594360" y="4745736"/>
            <a:ext cx="1828800" cy="274320"/>
          </a:xfrm>
          <a:prstGeom prst="rect">
            <a:avLst/>
          </a:prstGeom>
          <a:noFill/>
          <a:ln/>
        </p:spPr>
        <p:txBody>
          <a:bodyPr wrap="square" lIns="0" tIns="0" rIns="0" bIns="0" rtlCol="0" anchor="ctr"/>
          <a:lstStyle/>
          <a:p>
            <a:pPr marL="0" indent="0">
              <a:buNone/>
            </a:pPr>
            <a:r>
              <a:rPr lang="en-US" sz="1000" b="1" dirty="0">
                <a:solidFill>
                  <a:srgbClr val="0A1F44"/>
                </a:solidFill>
                <a:latin typeface="Inter" pitchFamily="34" charset="0"/>
                <a:ea typeface="Inter" pitchFamily="34" charset="-122"/>
                <a:cs typeface="Inter" pitchFamily="34" charset="-120"/>
              </a:rPr>
              <a:t>Brand / other</a:t>
            </a:r>
            <a:endParaRPr lang="en-US" sz="1000" dirty="0"/>
          </a:p>
        </p:txBody>
      </p:sp>
      <p:sp>
        <p:nvSpPr>
          <p:cNvPr id="50" name="Shape 47"/>
          <p:cNvSpPr/>
          <p:nvPr/>
        </p:nvSpPr>
        <p:spPr>
          <a:xfrm>
            <a:off x="594360" y="5065776"/>
            <a:ext cx="119818" cy="128016"/>
          </a:xfrm>
          <a:prstGeom prst="rect">
            <a:avLst/>
          </a:prstGeom>
          <a:solidFill>
            <a:srgbClr val="93B4F5"/>
          </a:solidFill>
          <a:ln w="6350">
            <a:solidFill>
              <a:srgbClr val="93B4F5"/>
            </a:solidFill>
            <a:prstDash val="solid"/>
          </a:ln>
        </p:spPr>
        <p:txBody>
          <a:bodyPr/>
          <a:lstStyle/>
          <a:p>
            <a:endParaRPr lang="en-US"/>
          </a:p>
        </p:txBody>
      </p:sp>
      <p:sp>
        <p:nvSpPr>
          <p:cNvPr id="51" name="Text 48"/>
          <p:cNvSpPr txBox="1"/>
          <p:nvPr/>
        </p:nvSpPr>
        <p:spPr>
          <a:xfrm>
            <a:off x="769042" y="5010912"/>
            <a:ext cx="1498600" cy="219456"/>
          </a:xfrm>
          <a:prstGeom prst="rect">
            <a:avLst/>
          </a:prstGeom>
          <a:noFill/>
          <a:ln/>
        </p:spPr>
        <p:txBody>
          <a:bodyPr wrap="square" lIns="0" tIns="0" rIns="0" bIns="0" rtlCol="0" anchor="ctr"/>
          <a:lstStyle/>
          <a:p>
            <a:pPr marL="0" indent="0">
              <a:buNone/>
            </a:pPr>
            <a:r>
              <a:rPr lang="en-US" sz="850" b="1" dirty="0">
                <a:solidFill>
                  <a:srgbClr val="0A1F44"/>
                </a:solidFill>
                <a:latin typeface="Inter" pitchFamily="34" charset="0"/>
                <a:ea typeface="Inter" pitchFamily="34" charset="-122"/>
                <a:cs typeface="Inter" pitchFamily="34" charset="-120"/>
              </a:rPr>
              <a:t>$4M, unchanged</a:t>
            </a:r>
            <a:endParaRPr lang="en-US" sz="850" dirty="0"/>
          </a:p>
        </p:txBody>
      </p:sp>
      <p:sp>
        <p:nvSpPr>
          <p:cNvPr id="52" name="Text 49"/>
          <p:cNvSpPr txBox="1"/>
          <p:nvPr/>
        </p:nvSpPr>
        <p:spPr>
          <a:xfrm>
            <a:off x="3931920" y="4718304"/>
            <a:ext cx="2514600" cy="566928"/>
          </a:xfrm>
          <a:prstGeom prst="rect">
            <a:avLst/>
          </a:prstGeom>
          <a:noFill/>
          <a:ln/>
        </p:spPr>
        <p:txBody>
          <a:bodyPr wrap="square" lIns="0" tIns="0" rIns="0" bIns="0" rtlCol="0" anchor="ctr"/>
          <a:lstStyle/>
          <a:p>
            <a:pPr marL="0" indent="0">
              <a:buNone/>
            </a:pPr>
            <a:r>
              <a:rPr lang="en-US" sz="900" dirty="0">
                <a:solidFill>
                  <a:srgbClr val="0F172A"/>
                </a:solidFill>
                <a:latin typeface="Inter" pitchFamily="34" charset="0"/>
                <a:ea typeface="Inter" pitchFamily="34" charset="-122"/>
                <a:cs typeface="Inter" pitchFamily="34" charset="-120"/>
              </a:rPr>
              <a:t>Unchanged; $1.0M funds one Fitting Room test</a:t>
            </a:r>
            <a:endParaRPr lang="en-US" sz="900" dirty="0"/>
          </a:p>
        </p:txBody>
      </p:sp>
      <p:sp>
        <p:nvSpPr>
          <p:cNvPr id="53" name="Text 50"/>
          <p:cNvSpPr txBox="1"/>
          <p:nvPr/>
        </p:nvSpPr>
        <p:spPr>
          <a:xfrm>
            <a:off x="6537960" y="4718304"/>
            <a:ext cx="2468880" cy="566928"/>
          </a:xfrm>
          <a:prstGeom prst="rect">
            <a:avLst/>
          </a:prstGeom>
          <a:noFill/>
          <a:ln/>
        </p:spPr>
        <p:txBody>
          <a:bodyPr wrap="square" lIns="0" tIns="0" rIns="0" bIns="0" rtlCol="0" anchor="ctr"/>
          <a:lstStyle/>
          <a:p>
            <a:pPr marL="0" indent="0">
              <a:buNone/>
            </a:pPr>
            <a:r>
              <a:rPr lang="en-US" sz="900" dirty="0">
                <a:solidFill>
                  <a:srgbClr val="334155"/>
                </a:solidFill>
                <a:latin typeface="Inter" pitchFamily="34" charset="0"/>
                <a:ea typeface="Inter" pitchFamily="34" charset="-122"/>
                <a:cs typeface="Inter" pitchFamily="34" charset="-120"/>
              </a:rPr>
              <a:t>Asset-light pop-up, no store</a:t>
            </a:r>
            <a:endParaRPr lang="en-US" sz="900" dirty="0"/>
          </a:p>
        </p:txBody>
      </p:sp>
      <p:sp>
        <p:nvSpPr>
          <p:cNvPr id="54" name="Text 51"/>
          <p:cNvSpPr txBox="1"/>
          <p:nvPr/>
        </p:nvSpPr>
        <p:spPr>
          <a:xfrm>
            <a:off x="9098280" y="4718304"/>
            <a:ext cx="2514600" cy="566928"/>
          </a:xfrm>
          <a:prstGeom prst="rect">
            <a:avLst/>
          </a:prstGeom>
          <a:noFill/>
          <a:ln/>
        </p:spPr>
        <p:txBody>
          <a:bodyPr wrap="square" lIns="0" tIns="0" rIns="0" bIns="0" rtlCol="0" anchor="ctr"/>
          <a:lstStyle/>
          <a:p>
            <a:pPr marL="0" indent="0">
              <a:buNone/>
            </a:pPr>
            <a:r>
              <a:rPr lang="en-US" sz="900" b="1" dirty="0">
                <a:solidFill>
                  <a:srgbClr val="0A1F44"/>
                </a:solidFill>
                <a:latin typeface="Inter" pitchFamily="34" charset="0"/>
                <a:ea typeface="Inter" pitchFamily="34" charset="-122"/>
                <a:cs typeface="Inter" pitchFamily="34" charset="-120"/>
              </a:rPr>
              <a:t>One-season test; stopped if attendee repeat doesn't beat a matched holdout</a:t>
            </a:r>
            <a:endParaRPr lang="en-US" sz="900" dirty="0"/>
          </a:p>
        </p:txBody>
      </p:sp>
      <p:sp>
        <p:nvSpPr>
          <p:cNvPr id="55" name="Shape 52"/>
          <p:cNvSpPr/>
          <p:nvPr/>
        </p:nvSpPr>
        <p:spPr>
          <a:xfrm>
            <a:off x="502920" y="5486400"/>
            <a:ext cx="11183112" cy="512064"/>
          </a:xfrm>
          <a:prstGeom prst="roundRect">
            <a:avLst>
              <a:gd name="adj" fmla="val 17857"/>
            </a:avLst>
          </a:prstGeom>
          <a:solidFill>
            <a:srgbClr val="EFF6FF"/>
          </a:solidFill>
          <a:ln w="6350">
            <a:solidFill>
              <a:srgbClr val="EFF6FF"/>
            </a:solidFill>
            <a:prstDash val="solid"/>
          </a:ln>
        </p:spPr>
        <p:txBody>
          <a:bodyPr/>
          <a:lstStyle/>
          <a:p>
            <a:endParaRPr lang="en-US"/>
          </a:p>
        </p:txBody>
      </p:sp>
      <p:sp>
        <p:nvSpPr>
          <p:cNvPr id="56" name="Shape 53"/>
          <p:cNvSpPr/>
          <p:nvPr/>
        </p:nvSpPr>
        <p:spPr>
          <a:xfrm>
            <a:off x="640080" y="5577840"/>
            <a:ext cx="329184" cy="329184"/>
          </a:xfrm>
          <a:prstGeom prst="ellipse">
            <a:avLst/>
          </a:prstGeom>
          <a:solidFill>
            <a:srgbClr val="1D4ED8"/>
          </a:solidFill>
          <a:ln w="6350">
            <a:solidFill>
              <a:srgbClr val="1D4ED8"/>
            </a:solidFill>
            <a:prstDash val="solid"/>
          </a:ln>
        </p:spPr>
        <p:txBody>
          <a:bodyPr/>
          <a:lstStyle/>
          <a:p>
            <a:endParaRPr lang="en-US"/>
          </a:p>
        </p:txBody>
      </p:sp>
      <p:pic>
        <p:nvPicPr>
          <p:cNvPr id="57" name="Image 1" descr="preencoded.png"/>
          <p:cNvPicPr>
            <a:picLocks noChangeAspect="1"/>
          </p:cNvPicPr>
          <p:nvPr/>
        </p:nvPicPr>
        <p:blipFill>
          <a:blip r:embed="rId4"/>
          <a:stretch>
            <a:fillRect/>
          </a:stretch>
        </p:blipFill>
        <p:spPr>
          <a:xfrm>
            <a:off x="712500" y="5650260"/>
            <a:ext cx="184343" cy="184343"/>
          </a:xfrm>
          <a:prstGeom prst="rect">
            <a:avLst/>
          </a:prstGeom>
        </p:spPr>
      </p:pic>
      <p:sp>
        <p:nvSpPr>
          <p:cNvPr id="58" name="Text 54"/>
          <p:cNvSpPr txBox="1"/>
          <p:nvPr/>
        </p:nvSpPr>
        <p:spPr>
          <a:xfrm>
            <a:off x="1097280" y="5486400"/>
            <a:ext cx="10424160" cy="512064"/>
          </a:xfrm>
          <a:prstGeom prst="rect">
            <a:avLst/>
          </a:prstGeom>
          <a:noFill/>
          <a:ln/>
        </p:spPr>
        <p:txBody>
          <a:bodyPr wrap="square" lIns="0" tIns="0" rIns="0" bIns="0" rtlCol="0" anchor="ctr"/>
          <a:lstStyle/>
          <a:p>
            <a:pPr marL="0" indent="0">
              <a:buNone/>
            </a:pPr>
            <a:r>
              <a:rPr lang="en-US" sz="1300" b="1" dirty="0">
                <a:solidFill>
                  <a:srgbClr val="0A1F44"/>
                </a:solidFill>
                <a:latin typeface="Inter" pitchFamily="34" charset="0"/>
                <a:ea typeface="Inter" pitchFamily="34" charset="-122"/>
                <a:cs typeface="Inter" pitchFamily="34" charset="-120"/>
              </a:rPr>
              <a:t>Net change: $0. Up to $9M leaves rented lines in three steps, and each one moves only if its holdout proves it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9326880" cy="841248"/>
          </a:xfrm>
          <a:prstGeom prst="rect">
            <a:avLst/>
          </a:prstGeom>
          <a:noFill/>
          <a:ln/>
        </p:spPr>
        <p:txBody>
          <a:bodyPr wrap="square" lIns="0" tIns="0" rIns="0" bIns="0" rtlCol="0" anchor="ctr"/>
          <a:lstStyle/>
          <a:p>
            <a:pPr marL="0" indent="0">
              <a:buNone/>
            </a:pPr>
            <a:r>
              <a:rPr lang="en-US" sz="2400" b="1" dirty="0">
                <a:solidFill>
                  <a:srgbClr val="0A1F44"/>
                </a:solidFill>
                <a:latin typeface="Inter" pitchFamily="34" charset="0"/>
                <a:ea typeface="Inter" pitchFamily="34" charset="-122"/>
                <a:cs typeface="Inter" pitchFamily="34" charset="-120"/>
              </a:rPr>
              <a:t>How our levers add up to ~31% repeat</a:t>
            </a:r>
            <a:endParaRPr lang="en-US" sz="2400" dirty="0"/>
          </a:p>
        </p:txBody>
      </p:sp>
      <p:pic>
        <p:nvPicPr>
          <p:cNvPr id="3" name="Image 0" descr="/tmp/claude-0/-home-user-Quince/7efe80ae-a049-50c2-9886-98bf7ca3a04a/scratchpad/assets/quince.png"/>
          <p:cNvPicPr>
            <a:picLocks noChangeAspect="1"/>
          </p:cNvPicPr>
          <p:nvPr/>
        </p:nvPicPr>
        <p:blipFill>
          <a:blip r:embed="rId3"/>
          <a:stretch>
            <a:fillRect/>
          </a:stretch>
        </p:blipFill>
        <p:spPr>
          <a:xfrm>
            <a:off x="10236708" y="615544"/>
            <a:ext cx="777240" cy="231951"/>
          </a:xfrm>
          <a:prstGeom prst="rect">
            <a:avLst/>
          </a:prstGeom>
        </p:spPr>
      </p:pic>
      <p:sp>
        <p:nvSpPr>
          <p:cNvPr id="4" name="Shape 1"/>
          <p:cNvSpPr/>
          <p:nvPr/>
        </p:nvSpPr>
        <p:spPr>
          <a:xfrm>
            <a:off x="11155680" y="603504"/>
            <a:ext cx="530352" cy="256032"/>
          </a:xfrm>
          <a:prstGeom prst="roundRect">
            <a:avLst>
              <a:gd name="adj" fmla="val 50000"/>
            </a:avLst>
          </a:prstGeom>
          <a:solidFill>
            <a:srgbClr val="0A1F44"/>
          </a:solidFill>
          <a:ln w="6350">
            <a:solidFill>
              <a:srgbClr val="0A1F44"/>
            </a:solidFill>
            <a:prstDash val="solid"/>
          </a:ln>
        </p:spPr>
        <p:txBody>
          <a:bodyPr/>
          <a:lstStyle/>
          <a:p>
            <a:endParaRPr lang="en-US"/>
          </a:p>
        </p:txBody>
      </p:sp>
      <p:sp>
        <p:nvSpPr>
          <p:cNvPr id="5" name="Text 2"/>
          <p:cNvSpPr txBox="1"/>
          <p:nvPr/>
        </p:nvSpPr>
        <p:spPr>
          <a:xfrm>
            <a:off x="11155680" y="603504"/>
            <a:ext cx="53035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G27</a:t>
            </a:r>
            <a:endParaRPr lang="en-US" sz="950" dirty="0"/>
          </a:p>
        </p:txBody>
      </p:sp>
      <p:sp>
        <p:nvSpPr>
          <p:cNvPr id="6" name="Shape 3"/>
          <p:cNvSpPr/>
          <p:nvPr/>
        </p:nvSpPr>
        <p:spPr>
          <a:xfrm>
            <a:off x="502920" y="6400800"/>
            <a:ext cx="11183112" cy="0"/>
          </a:xfrm>
          <a:prstGeom prst="line">
            <a:avLst/>
          </a:prstGeom>
          <a:noFill/>
          <a:ln w="9525">
            <a:solidFill>
              <a:srgbClr val="E2E8F0"/>
            </a:solidFill>
            <a:prstDash val="solid"/>
          </a:ln>
        </p:spPr>
        <p:txBody>
          <a:bodyPr/>
          <a:lstStyle/>
          <a:p>
            <a:endParaRPr lang="en-US"/>
          </a:p>
        </p:txBody>
      </p:sp>
      <p:sp>
        <p:nvSpPr>
          <p:cNvPr id="7" name="Text 4"/>
          <p:cNvSpPr txBox="1"/>
          <p:nvPr/>
        </p:nvSpPr>
        <p:spPr>
          <a:xfrm>
            <a:off x="502920" y="6464808"/>
            <a:ext cx="9418320" cy="256032"/>
          </a:xfrm>
          <a:prstGeom prst="rect">
            <a:avLst/>
          </a:prstGeom>
          <a:noFill/>
          <a:ln/>
        </p:spPr>
        <p:txBody>
          <a:bodyPr wrap="square" lIns="0" tIns="0" rIns="0" bIns="0" rtlCol="0" anchor="ctr"/>
          <a:lstStyle/>
          <a:p>
            <a:pPr marL="0" indent="0">
              <a:buNone/>
            </a:pPr>
            <a:r>
              <a:rPr lang="en-US" sz="800" dirty="0">
                <a:solidFill>
                  <a:srgbClr val="64748B"/>
                </a:solidFill>
                <a:latin typeface="Inter" pitchFamily="34" charset="0"/>
                <a:ea typeface="Inter" pitchFamily="34" charset="-122"/>
                <a:cs typeface="Inter" pitchFamily="34" charset="-120"/>
              </a:rPr>
              <a:t>Source: case Exhibits E (90-day repeat by engagement type) and J (impact of a 6-point gain); Adobe CJA A2, A5; lever effects are our estimates calibrated on CJA, not case figures.</a:t>
            </a:r>
            <a:endParaRPr lang="en-US" sz="800" dirty="0"/>
          </a:p>
        </p:txBody>
      </p:sp>
      <p:sp>
        <p:nvSpPr>
          <p:cNvPr id="8" name="Text 5"/>
          <p:cNvSpPr txBox="1"/>
          <p:nvPr/>
        </p:nvSpPr>
        <p:spPr>
          <a:xfrm>
            <a:off x="9966960" y="6464808"/>
            <a:ext cx="1719072" cy="256032"/>
          </a:xfrm>
          <a:prstGeom prst="rect">
            <a:avLst/>
          </a:prstGeom>
          <a:noFill/>
          <a:ln/>
        </p:spPr>
        <p:txBody>
          <a:bodyPr wrap="square" lIns="0" tIns="0" rIns="0" bIns="0" rtlCol="0" anchor="ctr"/>
          <a:lstStyle/>
          <a:p>
            <a:pPr marL="0" indent="0" algn="r">
              <a:buNone/>
            </a:pPr>
            <a:r>
              <a:rPr lang="en-US" sz="800" dirty="0">
                <a:solidFill>
                  <a:srgbClr val="64748B"/>
                </a:solidFill>
                <a:latin typeface="Inter" pitchFamily="34" charset="0"/>
                <a:ea typeface="Inter" pitchFamily="34" charset="-122"/>
                <a:cs typeface="Inter" pitchFamily="34" charset="-120"/>
              </a:rPr>
              <a:t>Team G27  ·  22</a:t>
            </a:r>
            <a:endParaRPr lang="en-US" sz="800" dirty="0"/>
          </a:p>
        </p:txBody>
      </p:sp>
      <p:sp>
        <p:nvSpPr>
          <p:cNvPr id="9" name="Text 6"/>
          <p:cNvSpPr txBox="1"/>
          <p:nvPr/>
        </p:nvSpPr>
        <p:spPr>
          <a:xfrm>
            <a:off x="502920" y="1261872"/>
            <a:ext cx="4023360" cy="274320"/>
          </a:xfrm>
          <a:prstGeom prst="rect">
            <a:avLst/>
          </a:prstGeom>
          <a:noFill/>
          <a:ln/>
        </p:spPr>
        <p:txBody>
          <a:bodyPr wrap="square" lIns="0" tIns="0" rIns="0" bIns="0" rtlCol="0" anchor="t"/>
          <a:lstStyle/>
          <a:p>
            <a:pPr marL="0" indent="0">
              <a:buNone/>
            </a:pPr>
            <a:r>
              <a:rPr lang="en-US" sz="1200" b="1" dirty="0">
                <a:solidFill>
                  <a:srgbClr val="0A1F44"/>
                </a:solidFill>
                <a:latin typeface="Inter" pitchFamily="34" charset="0"/>
                <a:ea typeface="Inter" pitchFamily="34" charset="-122"/>
                <a:cs typeface="Inter" pitchFamily="34" charset="-120"/>
              </a:rPr>
              <a:t>90-day repeat by engagement (Exhibit E)</a:t>
            </a:r>
            <a:endParaRPr lang="en-US" sz="1200" dirty="0"/>
          </a:p>
        </p:txBody>
      </p:sp>
      <p:sp>
        <p:nvSpPr>
          <p:cNvPr id="10" name="Text 7"/>
          <p:cNvSpPr txBox="1"/>
          <p:nvPr/>
        </p:nvSpPr>
        <p:spPr>
          <a:xfrm>
            <a:off x="502920" y="1737360"/>
            <a:ext cx="3931920" cy="256032"/>
          </a:xfrm>
          <a:prstGeom prst="rect">
            <a:avLst/>
          </a:prstGeom>
          <a:noFill/>
          <a:ln/>
        </p:spPr>
        <p:txBody>
          <a:bodyPr wrap="square" lIns="0" tIns="0" rIns="0" bIns="0" rtlCol="0" anchor="t"/>
          <a:lstStyle/>
          <a:p>
            <a:pPr marL="0" indent="0">
              <a:buNone/>
            </a:pPr>
            <a:r>
              <a:rPr lang="en-US" sz="1050" dirty="0">
                <a:solidFill>
                  <a:srgbClr val="0F172A"/>
                </a:solidFill>
                <a:latin typeface="Inter" pitchFamily="34" charset="0"/>
                <a:ea typeface="Inter" pitchFamily="34" charset="-122"/>
                <a:cs typeface="Inter" pitchFamily="34" charset="-120"/>
              </a:rPr>
              <a:t>App-installed</a:t>
            </a:r>
            <a:endParaRPr lang="en-US" sz="1050" dirty="0"/>
          </a:p>
        </p:txBody>
      </p:sp>
      <p:sp>
        <p:nvSpPr>
          <p:cNvPr id="11" name="Shape 8"/>
          <p:cNvSpPr/>
          <p:nvPr/>
        </p:nvSpPr>
        <p:spPr>
          <a:xfrm>
            <a:off x="502920" y="2029968"/>
            <a:ext cx="3108960" cy="292608"/>
          </a:xfrm>
          <a:prstGeom prst="rect">
            <a:avLst/>
          </a:prstGeom>
          <a:solidFill>
            <a:srgbClr val="1D4ED8"/>
          </a:solidFill>
          <a:ln w="6350">
            <a:solidFill>
              <a:srgbClr val="1D4ED8"/>
            </a:solidFill>
            <a:prstDash val="solid"/>
          </a:ln>
        </p:spPr>
        <p:txBody>
          <a:bodyPr/>
          <a:lstStyle/>
          <a:p>
            <a:endParaRPr lang="en-US"/>
          </a:p>
        </p:txBody>
      </p:sp>
      <p:sp>
        <p:nvSpPr>
          <p:cNvPr id="12" name="Text 9"/>
          <p:cNvSpPr txBox="1"/>
          <p:nvPr/>
        </p:nvSpPr>
        <p:spPr>
          <a:xfrm>
            <a:off x="3685032" y="2011680"/>
            <a:ext cx="640080" cy="329184"/>
          </a:xfrm>
          <a:prstGeom prst="rect">
            <a:avLst/>
          </a:prstGeom>
          <a:noFill/>
          <a:ln/>
        </p:spPr>
        <p:txBody>
          <a:bodyPr wrap="square" lIns="0" tIns="0" rIns="0" bIns="0" rtlCol="0" anchor="ctr"/>
          <a:lstStyle/>
          <a:p>
            <a:pPr marL="0" indent="0">
              <a:buNone/>
            </a:pPr>
            <a:r>
              <a:rPr lang="en-US" sz="1200" b="1" dirty="0">
                <a:solidFill>
                  <a:srgbClr val="0A1F44"/>
                </a:solidFill>
                <a:latin typeface="Inter" pitchFamily="34" charset="0"/>
                <a:ea typeface="Inter" pitchFamily="34" charset="-122"/>
                <a:cs typeface="Inter" pitchFamily="34" charset="-120"/>
              </a:rPr>
              <a:t>38%</a:t>
            </a:r>
            <a:endParaRPr lang="en-US" sz="1200" dirty="0"/>
          </a:p>
        </p:txBody>
      </p:sp>
      <p:sp>
        <p:nvSpPr>
          <p:cNvPr id="13" name="Text 10"/>
          <p:cNvSpPr txBox="1"/>
          <p:nvPr/>
        </p:nvSpPr>
        <p:spPr>
          <a:xfrm>
            <a:off x="502920" y="2514600"/>
            <a:ext cx="3931920" cy="256032"/>
          </a:xfrm>
          <a:prstGeom prst="rect">
            <a:avLst/>
          </a:prstGeom>
          <a:noFill/>
          <a:ln/>
        </p:spPr>
        <p:txBody>
          <a:bodyPr wrap="square" lIns="0" tIns="0" rIns="0" bIns="0" rtlCol="0" anchor="t"/>
          <a:lstStyle/>
          <a:p>
            <a:pPr marL="0" indent="0">
              <a:buNone/>
            </a:pPr>
            <a:r>
              <a:rPr lang="en-US" sz="1050" dirty="0">
                <a:solidFill>
                  <a:srgbClr val="0F172A"/>
                </a:solidFill>
                <a:latin typeface="Inter" pitchFamily="34" charset="0"/>
                <a:ea typeface="Inter" pitchFamily="34" charset="-122"/>
                <a:cs typeface="Inter" pitchFamily="34" charset="-120"/>
              </a:rPr>
              <a:t>Email/SMS-subscribed</a:t>
            </a:r>
            <a:endParaRPr lang="en-US" sz="1050" dirty="0"/>
          </a:p>
        </p:txBody>
      </p:sp>
      <p:sp>
        <p:nvSpPr>
          <p:cNvPr id="14" name="Shape 11"/>
          <p:cNvSpPr/>
          <p:nvPr/>
        </p:nvSpPr>
        <p:spPr>
          <a:xfrm>
            <a:off x="502920" y="2807208"/>
            <a:ext cx="2372627" cy="292608"/>
          </a:xfrm>
          <a:prstGeom prst="rect">
            <a:avLst/>
          </a:prstGeom>
          <a:solidFill>
            <a:srgbClr val="2563EB"/>
          </a:solidFill>
          <a:ln w="6350">
            <a:solidFill>
              <a:srgbClr val="2563EB"/>
            </a:solidFill>
            <a:prstDash val="solid"/>
          </a:ln>
        </p:spPr>
        <p:txBody>
          <a:bodyPr/>
          <a:lstStyle/>
          <a:p>
            <a:endParaRPr lang="en-US"/>
          </a:p>
        </p:txBody>
      </p:sp>
      <p:sp>
        <p:nvSpPr>
          <p:cNvPr id="15" name="Text 12"/>
          <p:cNvSpPr txBox="1"/>
          <p:nvPr/>
        </p:nvSpPr>
        <p:spPr>
          <a:xfrm>
            <a:off x="2948699" y="2788920"/>
            <a:ext cx="640080" cy="329184"/>
          </a:xfrm>
          <a:prstGeom prst="rect">
            <a:avLst/>
          </a:prstGeom>
          <a:noFill/>
          <a:ln/>
        </p:spPr>
        <p:txBody>
          <a:bodyPr wrap="square" lIns="0" tIns="0" rIns="0" bIns="0" rtlCol="0" anchor="ctr"/>
          <a:lstStyle/>
          <a:p>
            <a:pPr marL="0" indent="0">
              <a:buNone/>
            </a:pPr>
            <a:r>
              <a:rPr lang="en-US" sz="1200" b="1" dirty="0">
                <a:solidFill>
                  <a:srgbClr val="0A1F44"/>
                </a:solidFill>
                <a:latin typeface="Inter" pitchFamily="34" charset="0"/>
                <a:ea typeface="Inter" pitchFamily="34" charset="-122"/>
                <a:cs typeface="Inter" pitchFamily="34" charset="-120"/>
              </a:rPr>
              <a:t>29%</a:t>
            </a:r>
            <a:endParaRPr lang="en-US" sz="1200" dirty="0"/>
          </a:p>
        </p:txBody>
      </p:sp>
      <p:sp>
        <p:nvSpPr>
          <p:cNvPr id="16" name="Text 13"/>
          <p:cNvSpPr txBox="1"/>
          <p:nvPr/>
        </p:nvSpPr>
        <p:spPr>
          <a:xfrm>
            <a:off x="502920" y="3291840"/>
            <a:ext cx="3931920" cy="256032"/>
          </a:xfrm>
          <a:prstGeom prst="rect">
            <a:avLst/>
          </a:prstGeom>
          <a:noFill/>
          <a:ln/>
        </p:spPr>
        <p:txBody>
          <a:bodyPr wrap="square" lIns="0" tIns="0" rIns="0" bIns="0" rtlCol="0" anchor="t"/>
          <a:lstStyle/>
          <a:p>
            <a:pPr marL="0" indent="0">
              <a:buNone/>
            </a:pPr>
            <a:r>
              <a:rPr lang="en-US" sz="1050" dirty="0">
                <a:solidFill>
                  <a:srgbClr val="0F172A"/>
                </a:solidFill>
                <a:latin typeface="Inter" pitchFamily="34" charset="0"/>
                <a:ea typeface="Inter" pitchFamily="34" charset="-122"/>
                <a:cs typeface="Inter" pitchFamily="34" charset="-120"/>
              </a:rPr>
              <a:t>Blended average</a:t>
            </a:r>
            <a:endParaRPr lang="en-US" sz="1050" dirty="0"/>
          </a:p>
        </p:txBody>
      </p:sp>
      <p:sp>
        <p:nvSpPr>
          <p:cNvPr id="17" name="Shape 14"/>
          <p:cNvSpPr/>
          <p:nvPr/>
        </p:nvSpPr>
        <p:spPr>
          <a:xfrm>
            <a:off x="502920" y="3584448"/>
            <a:ext cx="1963554" cy="292608"/>
          </a:xfrm>
          <a:prstGeom prst="rect">
            <a:avLst/>
          </a:prstGeom>
          <a:solidFill>
            <a:srgbClr val="0A1F44"/>
          </a:solidFill>
          <a:ln w="6350">
            <a:solidFill>
              <a:srgbClr val="0A1F44"/>
            </a:solidFill>
            <a:prstDash val="solid"/>
          </a:ln>
        </p:spPr>
        <p:txBody>
          <a:bodyPr/>
          <a:lstStyle/>
          <a:p>
            <a:endParaRPr lang="en-US"/>
          </a:p>
        </p:txBody>
      </p:sp>
      <p:sp>
        <p:nvSpPr>
          <p:cNvPr id="18" name="Text 15"/>
          <p:cNvSpPr txBox="1"/>
          <p:nvPr/>
        </p:nvSpPr>
        <p:spPr>
          <a:xfrm>
            <a:off x="2539626" y="3566160"/>
            <a:ext cx="640080" cy="329184"/>
          </a:xfrm>
          <a:prstGeom prst="rect">
            <a:avLst/>
          </a:prstGeom>
          <a:noFill/>
          <a:ln/>
        </p:spPr>
        <p:txBody>
          <a:bodyPr wrap="square" lIns="0" tIns="0" rIns="0" bIns="0" rtlCol="0" anchor="ctr"/>
          <a:lstStyle/>
          <a:p>
            <a:pPr marL="0" indent="0">
              <a:buNone/>
            </a:pPr>
            <a:r>
              <a:rPr lang="en-US" sz="1200" b="1" dirty="0">
                <a:solidFill>
                  <a:srgbClr val="0A1F44"/>
                </a:solidFill>
                <a:latin typeface="Inter" pitchFamily="34" charset="0"/>
                <a:ea typeface="Inter" pitchFamily="34" charset="-122"/>
                <a:cs typeface="Inter" pitchFamily="34" charset="-120"/>
              </a:rPr>
              <a:t>24%</a:t>
            </a:r>
            <a:endParaRPr lang="en-US" sz="1200" dirty="0"/>
          </a:p>
        </p:txBody>
      </p:sp>
      <p:sp>
        <p:nvSpPr>
          <p:cNvPr id="19" name="Text 16"/>
          <p:cNvSpPr txBox="1"/>
          <p:nvPr/>
        </p:nvSpPr>
        <p:spPr>
          <a:xfrm>
            <a:off x="502920" y="4069080"/>
            <a:ext cx="3931920" cy="256032"/>
          </a:xfrm>
          <a:prstGeom prst="rect">
            <a:avLst/>
          </a:prstGeom>
          <a:noFill/>
          <a:ln/>
        </p:spPr>
        <p:txBody>
          <a:bodyPr wrap="square" lIns="0" tIns="0" rIns="0" bIns="0" rtlCol="0" anchor="t"/>
          <a:lstStyle/>
          <a:p>
            <a:pPr marL="0" indent="0">
              <a:buNone/>
            </a:pPr>
            <a:r>
              <a:rPr lang="en-US" sz="1050" dirty="0">
                <a:solidFill>
                  <a:srgbClr val="0F172A"/>
                </a:solidFill>
                <a:latin typeface="Inter" pitchFamily="34" charset="0"/>
                <a:ea typeface="Inter" pitchFamily="34" charset="-122"/>
                <a:cs typeface="Inter" pitchFamily="34" charset="-120"/>
              </a:rPr>
              <a:t>Web-only, unsubscribed</a:t>
            </a:r>
            <a:endParaRPr lang="en-US" sz="1050" dirty="0"/>
          </a:p>
        </p:txBody>
      </p:sp>
      <p:sp>
        <p:nvSpPr>
          <p:cNvPr id="20" name="Shape 17"/>
          <p:cNvSpPr/>
          <p:nvPr/>
        </p:nvSpPr>
        <p:spPr>
          <a:xfrm>
            <a:off x="502920" y="4361688"/>
            <a:ext cx="1063592" cy="292608"/>
          </a:xfrm>
          <a:prstGeom prst="rect">
            <a:avLst/>
          </a:prstGeom>
          <a:solidFill>
            <a:srgbClr val="94A3B8"/>
          </a:solidFill>
          <a:ln w="6350">
            <a:solidFill>
              <a:srgbClr val="94A3B8"/>
            </a:solidFill>
            <a:prstDash val="solid"/>
          </a:ln>
        </p:spPr>
        <p:txBody>
          <a:bodyPr/>
          <a:lstStyle/>
          <a:p>
            <a:endParaRPr lang="en-US"/>
          </a:p>
        </p:txBody>
      </p:sp>
      <p:sp>
        <p:nvSpPr>
          <p:cNvPr id="21" name="Text 18"/>
          <p:cNvSpPr txBox="1"/>
          <p:nvPr/>
        </p:nvSpPr>
        <p:spPr>
          <a:xfrm>
            <a:off x="1639664" y="4343400"/>
            <a:ext cx="640080" cy="329184"/>
          </a:xfrm>
          <a:prstGeom prst="rect">
            <a:avLst/>
          </a:prstGeom>
          <a:noFill/>
          <a:ln/>
        </p:spPr>
        <p:txBody>
          <a:bodyPr wrap="square" lIns="0" tIns="0" rIns="0" bIns="0" rtlCol="0" anchor="ctr"/>
          <a:lstStyle/>
          <a:p>
            <a:pPr marL="0" indent="0">
              <a:buNone/>
            </a:pPr>
            <a:r>
              <a:rPr lang="en-US" sz="1200" b="1" dirty="0">
                <a:solidFill>
                  <a:srgbClr val="0A1F44"/>
                </a:solidFill>
                <a:latin typeface="Inter" pitchFamily="34" charset="0"/>
                <a:ea typeface="Inter" pitchFamily="34" charset="-122"/>
                <a:cs typeface="Inter" pitchFamily="34" charset="-120"/>
              </a:rPr>
              <a:t>13%</a:t>
            </a:r>
            <a:endParaRPr lang="en-US" sz="1200" dirty="0"/>
          </a:p>
        </p:txBody>
      </p:sp>
      <p:sp>
        <p:nvSpPr>
          <p:cNvPr id="22" name="Text 19"/>
          <p:cNvSpPr txBox="1"/>
          <p:nvPr/>
        </p:nvSpPr>
        <p:spPr>
          <a:xfrm>
            <a:off x="4754880" y="1261872"/>
            <a:ext cx="3566160" cy="274320"/>
          </a:xfrm>
          <a:prstGeom prst="rect">
            <a:avLst/>
          </a:prstGeom>
          <a:noFill/>
          <a:ln/>
        </p:spPr>
        <p:txBody>
          <a:bodyPr wrap="square" lIns="0" tIns="0" rIns="0" bIns="0" rtlCol="0" anchor="t"/>
          <a:lstStyle/>
          <a:p>
            <a:pPr marL="0" indent="0">
              <a:buNone/>
            </a:pPr>
            <a:r>
              <a:rPr lang="en-US" sz="1200" b="1" dirty="0">
                <a:solidFill>
                  <a:srgbClr val="0A1F44"/>
                </a:solidFill>
                <a:latin typeface="Inter" pitchFamily="34" charset="0"/>
                <a:ea typeface="Inter" pitchFamily="34" charset="-122"/>
                <a:cs typeface="Inter" pitchFamily="34" charset="-120"/>
              </a:rPr>
              <a:t>How the levers reach ~31% (base case)</a:t>
            </a:r>
            <a:endParaRPr lang="en-US" sz="1200" dirty="0"/>
          </a:p>
        </p:txBody>
      </p:sp>
      <p:sp>
        <p:nvSpPr>
          <p:cNvPr id="32" name="Shape 29"/>
          <p:cNvSpPr/>
          <p:nvPr/>
        </p:nvSpPr>
        <p:spPr>
          <a:xfrm>
            <a:off x="8595360" y="1261872"/>
            <a:ext cx="3090672" cy="4114800"/>
          </a:xfrm>
          <a:prstGeom prst="roundRect">
            <a:avLst>
              <a:gd name="adj" fmla="val 2367"/>
            </a:avLst>
          </a:prstGeom>
          <a:solidFill>
            <a:srgbClr val="0A1F44"/>
          </a:solidFill>
          <a:ln w="6350">
            <a:solidFill>
              <a:srgbClr val="0A1F44"/>
            </a:solidFill>
            <a:prstDash val="solid"/>
          </a:ln>
        </p:spPr>
        <p:txBody>
          <a:bodyPr/>
          <a:lstStyle/>
          <a:p>
            <a:endParaRPr lang="en-US"/>
          </a:p>
        </p:txBody>
      </p:sp>
      <p:sp>
        <p:nvSpPr>
          <p:cNvPr id="33" name="Text 30"/>
          <p:cNvSpPr txBox="1"/>
          <p:nvPr/>
        </p:nvSpPr>
        <p:spPr>
          <a:xfrm>
            <a:off x="8778240" y="1371600"/>
            <a:ext cx="2743200" cy="274320"/>
          </a:xfrm>
          <a:prstGeom prst="rect">
            <a:avLst/>
          </a:prstGeom>
          <a:noFill/>
          <a:ln/>
        </p:spPr>
        <p:txBody>
          <a:bodyPr wrap="square" lIns="0" tIns="0" rIns="0" bIns="0" rtlCol="0" anchor="t"/>
          <a:lstStyle/>
          <a:p>
            <a:pPr marL="0" indent="0">
              <a:buNone/>
            </a:pPr>
            <a:r>
              <a:rPr lang="en-US" sz="900" b="1" dirty="0">
                <a:solidFill>
                  <a:srgbClr val="8FB2EE"/>
                </a:solidFill>
                <a:latin typeface="Inter" pitchFamily="34" charset="0"/>
                <a:ea typeface="Inter" pitchFamily="34" charset="-122"/>
                <a:cs typeface="Inter" pitchFamily="34" charset="-120"/>
              </a:rPr>
              <a:t>WHAT +6 POINTS IS WORTH (EXHIBIT J)</a:t>
            </a:r>
            <a:endParaRPr lang="en-US" sz="900" dirty="0"/>
          </a:p>
        </p:txBody>
      </p:sp>
      <p:sp>
        <p:nvSpPr>
          <p:cNvPr id="34" name="Text 31"/>
          <p:cNvSpPr txBox="1"/>
          <p:nvPr/>
        </p:nvSpPr>
        <p:spPr>
          <a:xfrm>
            <a:off x="8778240" y="1783080"/>
            <a:ext cx="2743200" cy="457200"/>
          </a:xfrm>
          <a:prstGeom prst="rect">
            <a:avLst/>
          </a:prstGeom>
          <a:noFill/>
          <a:ln/>
        </p:spPr>
        <p:txBody>
          <a:bodyPr wrap="square" lIns="0" tIns="0" rIns="0" bIns="0" rtlCol="0" anchor="ctr"/>
          <a:lstStyle/>
          <a:p>
            <a:pPr marL="0" indent="0">
              <a:buNone/>
            </a:pPr>
            <a:r>
              <a:rPr lang="en-US" sz="2200" b="1" dirty="0">
                <a:solidFill>
                  <a:srgbClr val="FFFFFF"/>
                </a:solidFill>
                <a:latin typeface="Inter" pitchFamily="34" charset="0"/>
                <a:ea typeface="Inter" pitchFamily="34" charset="-122"/>
                <a:cs typeface="Inter" pitchFamily="34" charset="-120"/>
              </a:rPr>
              <a:t>~250,000</a:t>
            </a:r>
            <a:endParaRPr lang="en-US" sz="2200" dirty="0"/>
          </a:p>
        </p:txBody>
      </p:sp>
      <p:sp>
        <p:nvSpPr>
          <p:cNvPr id="35" name="Text 32"/>
          <p:cNvSpPr txBox="1"/>
          <p:nvPr/>
        </p:nvSpPr>
        <p:spPr>
          <a:xfrm>
            <a:off x="8778240" y="2221992"/>
            <a:ext cx="2743200" cy="274320"/>
          </a:xfrm>
          <a:prstGeom prst="rect">
            <a:avLst/>
          </a:prstGeom>
          <a:noFill/>
          <a:ln/>
        </p:spPr>
        <p:txBody>
          <a:bodyPr wrap="square" lIns="0" tIns="0" rIns="0" bIns="0" rtlCol="0" anchor="t"/>
          <a:lstStyle/>
          <a:p>
            <a:pPr marL="0" indent="0">
              <a:buNone/>
            </a:pPr>
            <a:r>
              <a:rPr lang="en-US" sz="1000" dirty="0">
                <a:solidFill>
                  <a:srgbClr val="C7D7F5"/>
                </a:solidFill>
                <a:latin typeface="Inter" pitchFamily="34" charset="0"/>
                <a:ea typeface="Inter" pitchFamily="34" charset="-122"/>
                <a:cs typeface="Inter" pitchFamily="34" charset="-120"/>
              </a:rPr>
              <a:t>incremental repeat orders a year</a:t>
            </a:r>
            <a:endParaRPr lang="en-US" sz="1000" dirty="0"/>
          </a:p>
        </p:txBody>
      </p:sp>
      <p:sp>
        <p:nvSpPr>
          <p:cNvPr id="36" name="Text 33"/>
          <p:cNvSpPr txBox="1"/>
          <p:nvPr/>
        </p:nvSpPr>
        <p:spPr>
          <a:xfrm>
            <a:off x="8778240" y="2651760"/>
            <a:ext cx="2743200" cy="457200"/>
          </a:xfrm>
          <a:prstGeom prst="rect">
            <a:avLst/>
          </a:prstGeom>
          <a:noFill/>
          <a:ln/>
        </p:spPr>
        <p:txBody>
          <a:bodyPr wrap="square" lIns="0" tIns="0" rIns="0" bIns="0" rtlCol="0" anchor="ctr"/>
          <a:lstStyle/>
          <a:p>
            <a:pPr marL="0" indent="0">
              <a:buNone/>
            </a:pPr>
            <a:r>
              <a:rPr lang="en-US" sz="2200" b="1" dirty="0">
                <a:solidFill>
                  <a:srgbClr val="FFFFFF"/>
                </a:solidFill>
                <a:latin typeface="Inter" pitchFamily="34" charset="0"/>
                <a:ea typeface="Inter" pitchFamily="34" charset="-122"/>
                <a:cs typeface="Inter" pitchFamily="34" charset="-120"/>
              </a:rPr>
              <a:t>~$30M</a:t>
            </a:r>
            <a:endParaRPr lang="en-US" sz="2200" dirty="0"/>
          </a:p>
        </p:txBody>
      </p:sp>
      <p:sp>
        <p:nvSpPr>
          <p:cNvPr id="37" name="Text 34"/>
          <p:cNvSpPr txBox="1"/>
          <p:nvPr/>
        </p:nvSpPr>
        <p:spPr>
          <a:xfrm>
            <a:off x="8778240" y="3090672"/>
            <a:ext cx="2743200" cy="274320"/>
          </a:xfrm>
          <a:prstGeom prst="rect">
            <a:avLst/>
          </a:prstGeom>
          <a:noFill/>
          <a:ln/>
        </p:spPr>
        <p:txBody>
          <a:bodyPr wrap="square" lIns="0" tIns="0" rIns="0" bIns="0" rtlCol="0" anchor="t"/>
          <a:lstStyle/>
          <a:p>
            <a:pPr marL="0" indent="0">
              <a:buNone/>
            </a:pPr>
            <a:r>
              <a:rPr lang="en-US" sz="1000" dirty="0">
                <a:solidFill>
                  <a:srgbClr val="C7D7F5"/>
                </a:solidFill>
                <a:latin typeface="Inter" pitchFamily="34" charset="0"/>
                <a:ea typeface="Inter" pitchFamily="34" charset="-122"/>
                <a:cs typeface="Inter" pitchFamily="34" charset="-120"/>
              </a:rPr>
              <a:t>incremental revenue</a:t>
            </a:r>
            <a:endParaRPr lang="en-US" sz="1000" dirty="0"/>
          </a:p>
        </p:txBody>
      </p:sp>
      <p:sp>
        <p:nvSpPr>
          <p:cNvPr id="38" name="Text 35"/>
          <p:cNvSpPr txBox="1"/>
          <p:nvPr/>
        </p:nvSpPr>
        <p:spPr>
          <a:xfrm>
            <a:off x="8778240" y="3520440"/>
            <a:ext cx="2743200" cy="457200"/>
          </a:xfrm>
          <a:prstGeom prst="rect">
            <a:avLst/>
          </a:prstGeom>
          <a:noFill/>
          <a:ln/>
        </p:spPr>
        <p:txBody>
          <a:bodyPr wrap="square" lIns="0" tIns="0" rIns="0" bIns="0" rtlCol="0" anchor="ctr"/>
          <a:lstStyle/>
          <a:p>
            <a:pPr marL="0" indent="0">
              <a:buNone/>
            </a:pPr>
            <a:r>
              <a:rPr lang="en-US" sz="2200" b="1" dirty="0">
                <a:solidFill>
                  <a:srgbClr val="FFFFFF"/>
                </a:solidFill>
                <a:latin typeface="Inter" pitchFamily="34" charset="0"/>
                <a:ea typeface="Inter" pitchFamily="34" charset="-122"/>
                <a:cs typeface="Inter" pitchFamily="34" charset="-120"/>
              </a:rPr>
              <a:t>~$13.5M</a:t>
            </a:r>
            <a:endParaRPr lang="en-US" sz="2200" dirty="0"/>
          </a:p>
        </p:txBody>
      </p:sp>
      <p:sp>
        <p:nvSpPr>
          <p:cNvPr id="39" name="Text 36"/>
          <p:cNvSpPr txBox="1"/>
          <p:nvPr/>
        </p:nvSpPr>
        <p:spPr>
          <a:xfrm>
            <a:off x="8778240" y="3959352"/>
            <a:ext cx="2743200" cy="274320"/>
          </a:xfrm>
          <a:prstGeom prst="rect">
            <a:avLst/>
          </a:prstGeom>
          <a:noFill/>
          <a:ln/>
        </p:spPr>
        <p:txBody>
          <a:bodyPr wrap="square" lIns="0" tIns="0" rIns="0" bIns="0" rtlCol="0" anchor="t"/>
          <a:lstStyle/>
          <a:p>
            <a:pPr marL="0" indent="0">
              <a:buNone/>
            </a:pPr>
            <a:r>
              <a:rPr lang="en-US" sz="1000" dirty="0">
                <a:solidFill>
                  <a:srgbClr val="C7D7F5"/>
                </a:solidFill>
                <a:latin typeface="Inter" pitchFamily="34" charset="0"/>
                <a:ea typeface="Inter" pitchFamily="34" charset="-122"/>
                <a:cs typeface="Inter" pitchFamily="34" charset="-120"/>
              </a:rPr>
              <a:t>contribution at ~45% margin</a:t>
            </a:r>
            <a:endParaRPr lang="en-US" sz="1000" dirty="0"/>
          </a:p>
        </p:txBody>
      </p:sp>
      <p:sp>
        <p:nvSpPr>
          <p:cNvPr id="40" name="Text 37"/>
          <p:cNvSpPr txBox="1"/>
          <p:nvPr/>
        </p:nvSpPr>
        <p:spPr>
          <a:xfrm>
            <a:off x="8778240" y="4389120"/>
            <a:ext cx="2743200" cy="457200"/>
          </a:xfrm>
          <a:prstGeom prst="rect">
            <a:avLst/>
          </a:prstGeom>
          <a:noFill/>
          <a:ln/>
        </p:spPr>
        <p:txBody>
          <a:bodyPr wrap="square" lIns="0" tIns="0" rIns="0" bIns="0" rtlCol="0" anchor="ctr"/>
          <a:lstStyle/>
          <a:p>
            <a:pPr marL="0" indent="0">
              <a:buNone/>
            </a:pPr>
            <a:r>
              <a:rPr lang="en-US" sz="2200" b="1" dirty="0">
                <a:solidFill>
                  <a:srgbClr val="FFFFFF"/>
                </a:solidFill>
                <a:latin typeface="Inter" pitchFamily="34" charset="0"/>
                <a:ea typeface="Inter" pitchFamily="34" charset="-122"/>
                <a:cs typeface="Inter" pitchFamily="34" charset="-120"/>
              </a:rPr>
              <a:t>~10–12%</a:t>
            </a:r>
            <a:endParaRPr lang="en-US" sz="2200" dirty="0"/>
          </a:p>
        </p:txBody>
      </p:sp>
      <p:sp>
        <p:nvSpPr>
          <p:cNvPr id="41" name="Text 38"/>
          <p:cNvSpPr txBox="1"/>
          <p:nvPr/>
        </p:nvSpPr>
        <p:spPr>
          <a:xfrm>
            <a:off x="8778240" y="4828032"/>
            <a:ext cx="2743200" cy="274320"/>
          </a:xfrm>
          <a:prstGeom prst="rect">
            <a:avLst/>
          </a:prstGeom>
          <a:noFill/>
          <a:ln/>
        </p:spPr>
        <p:txBody>
          <a:bodyPr wrap="square" lIns="0" tIns="0" rIns="0" bIns="0" rtlCol="0" anchor="t"/>
          <a:lstStyle/>
          <a:p>
            <a:pPr marL="0" indent="0">
              <a:buNone/>
            </a:pPr>
            <a:r>
              <a:rPr lang="en-US" sz="1000" dirty="0">
                <a:solidFill>
                  <a:srgbClr val="C7D7F5"/>
                </a:solidFill>
                <a:latin typeface="Inter" pitchFamily="34" charset="0"/>
                <a:ea typeface="Inter" pitchFamily="34" charset="-122"/>
                <a:cs typeface="Inter" pitchFamily="34" charset="-120"/>
              </a:rPr>
              <a:t>lower effective CAC at +6 pts; −12 to −14% at our +7 (strict ≈ −8%)</a:t>
            </a:r>
            <a:endParaRPr lang="en-US" sz="1000" dirty="0"/>
          </a:p>
        </p:txBody>
      </p:sp>
      <p:sp>
        <p:nvSpPr>
          <p:cNvPr id="42" name="Shape 39"/>
          <p:cNvSpPr/>
          <p:nvPr/>
        </p:nvSpPr>
        <p:spPr>
          <a:xfrm>
            <a:off x="502920" y="5577840"/>
            <a:ext cx="11183112" cy="512064"/>
          </a:xfrm>
          <a:prstGeom prst="roundRect">
            <a:avLst>
              <a:gd name="adj" fmla="val 17857"/>
            </a:avLst>
          </a:prstGeom>
          <a:solidFill>
            <a:srgbClr val="EFF6FF"/>
          </a:solidFill>
          <a:ln w="6350">
            <a:solidFill>
              <a:srgbClr val="EFF6FF"/>
            </a:solidFill>
            <a:prstDash val="solid"/>
          </a:ln>
        </p:spPr>
        <p:txBody>
          <a:bodyPr/>
          <a:lstStyle/>
          <a:p>
            <a:endParaRPr lang="en-US"/>
          </a:p>
        </p:txBody>
      </p:sp>
      <p:sp>
        <p:nvSpPr>
          <p:cNvPr id="43" name="Shape 40"/>
          <p:cNvSpPr/>
          <p:nvPr/>
        </p:nvSpPr>
        <p:spPr>
          <a:xfrm>
            <a:off x="640080" y="5669280"/>
            <a:ext cx="329184" cy="329184"/>
          </a:xfrm>
          <a:prstGeom prst="ellipse">
            <a:avLst/>
          </a:prstGeom>
          <a:solidFill>
            <a:srgbClr val="1D4ED8"/>
          </a:solidFill>
          <a:ln w="6350">
            <a:solidFill>
              <a:srgbClr val="1D4ED8"/>
            </a:solidFill>
            <a:prstDash val="solid"/>
          </a:ln>
        </p:spPr>
        <p:txBody>
          <a:bodyPr/>
          <a:lstStyle/>
          <a:p>
            <a:endParaRPr lang="en-US"/>
          </a:p>
        </p:txBody>
      </p:sp>
      <p:pic>
        <p:nvPicPr>
          <p:cNvPr id="44" name="Image 1" descr="preencoded.png"/>
          <p:cNvPicPr>
            <a:picLocks noChangeAspect="1"/>
          </p:cNvPicPr>
          <p:nvPr/>
        </p:nvPicPr>
        <p:blipFill>
          <a:blip r:embed="rId4"/>
          <a:stretch>
            <a:fillRect/>
          </a:stretch>
        </p:blipFill>
        <p:spPr>
          <a:xfrm>
            <a:off x="712500" y="5741700"/>
            <a:ext cx="184343" cy="184343"/>
          </a:xfrm>
          <a:prstGeom prst="rect">
            <a:avLst/>
          </a:prstGeom>
        </p:spPr>
      </p:pic>
      <p:sp>
        <p:nvSpPr>
          <p:cNvPr id="45" name="Text 41"/>
          <p:cNvSpPr txBox="1"/>
          <p:nvPr/>
        </p:nvSpPr>
        <p:spPr>
          <a:xfrm>
            <a:off x="1097280" y="5577840"/>
            <a:ext cx="10424160" cy="512064"/>
          </a:xfrm>
          <a:prstGeom prst="rect">
            <a:avLst/>
          </a:prstGeom>
          <a:noFill/>
          <a:ln/>
        </p:spPr>
        <p:txBody>
          <a:bodyPr wrap="square" lIns="0" tIns="0" rIns="0" bIns="0" rtlCol="0" anchor="ctr"/>
          <a:lstStyle/>
          <a:p>
            <a:pPr marL="0" indent="0">
              <a:buNone/>
            </a:pPr>
            <a:r>
              <a:rPr lang="en-US" sz="1300" b="1" dirty="0">
                <a:solidFill>
                  <a:srgbClr val="0A1F44"/>
                </a:solidFill>
                <a:latin typeface="Inter" pitchFamily="34" charset="0"/>
                <a:ea typeface="Inter" pitchFamily="34" charset="-122"/>
                <a:cs typeface="Inter" pitchFamily="34" charset="-120"/>
              </a:rPr>
              <a:t>Base case ~31% (range 29.5–33%) clears the +6 target; Gate 2 checks ≥ 28% at month 9</a:t>
            </a:r>
            <a:endParaRPr lang="en-US" sz="1300" dirty="0"/>
          </a:p>
        </p:txBody>
      </p:sp>
      <p:cxnSp>
        <p:nvCxnSpPr>
          <p:cNvPr id="46" name="Connector 45"/>
          <p:cNvCxnSpPr/>
          <p:nvPr/>
        </p:nvCxnSpPr>
        <p:spPr>
          <a:xfrm>
            <a:off x="7759700" y="1625600"/>
            <a:ext cx="0" cy="3403600"/>
          </a:xfrm>
          <a:prstGeom prst="line">
            <a:avLst/>
          </a:prstGeom>
          <a:ln w="9525">
            <a:solidFill>
              <a:srgbClr val="64748B"/>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7797800" y="1498600"/>
            <a:ext cx="762000" cy="152400"/>
          </a:xfrm>
          <a:prstGeom prst="rect">
            <a:avLst/>
          </a:prstGeom>
          <a:noFill/>
        </p:spPr>
        <p:txBody>
          <a:bodyPr wrap="square" lIns="0" tIns="0" rIns="0" bIns="0" anchor="t">
            <a:spAutoFit/>
          </a:bodyPr>
          <a:lstStyle/>
          <a:p>
            <a:pPr algn="l"/>
            <a:r>
              <a:rPr sz="850" b="1">
                <a:solidFill>
                  <a:srgbClr val="64748B"/>
                </a:solidFill>
                <a:latin typeface="Inter"/>
              </a:rPr>
              <a:t>Target 30%</a:t>
            </a:r>
          </a:p>
        </p:txBody>
      </p:sp>
      <p:sp>
        <p:nvSpPr>
          <p:cNvPr id="48" name="TextBox 47"/>
          <p:cNvSpPr txBox="1"/>
          <p:nvPr/>
        </p:nvSpPr>
        <p:spPr>
          <a:xfrm>
            <a:off x="4754880" y="1676400"/>
            <a:ext cx="1625600" cy="342900"/>
          </a:xfrm>
          <a:prstGeom prst="rect">
            <a:avLst/>
          </a:prstGeom>
          <a:noFill/>
        </p:spPr>
        <p:txBody>
          <a:bodyPr wrap="square" lIns="0" tIns="0" rIns="0" bIns="0" anchor="ctr">
            <a:spAutoFit/>
          </a:bodyPr>
          <a:lstStyle/>
          <a:p>
            <a:pPr algn="l"/>
            <a:r>
              <a:rPr sz="1000" b="1">
                <a:solidFill>
                  <a:srgbClr val="0F172A"/>
                </a:solidFill>
                <a:latin typeface="Inter"/>
              </a:rPr>
              <a:t>Today</a:t>
            </a:r>
          </a:p>
        </p:txBody>
      </p:sp>
      <p:sp>
        <p:nvSpPr>
          <p:cNvPr id="49" name="Rectangle 48"/>
          <p:cNvSpPr/>
          <p:nvPr/>
        </p:nvSpPr>
        <p:spPr>
          <a:xfrm>
            <a:off x="6426200" y="1752600"/>
            <a:ext cx="533400" cy="19050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Box 49"/>
          <p:cNvSpPr txBox="1"/>
          <p:nvPr/>
        </p:nvSpPr>
        <p:spPr>
          <a:xfrm>
            <a:off x="6997700" y="1739900"/>
            <a:ext cx="381000" cy="215900"/>
          </a:xfrm>
          <a:prstGeom prst="rect">
            <a:avLst/>
          </a:prstGeom>
          <a:solidFill>
            <a:srgbClr val="FFFFFF"/>
          </a:solidFill>
        </p:spPr>
        <p:txBody>
          <a:bodyPr wrap="square" lIns="12700" tIns="0" rIns="0" bIns="0" anchor="ctr">
            <a:spAutoFit/>
          </a:bodyPr>
          <a:lstStyle/>
          <a:p>
            <a:pPr algn="l"/>
            <a:r>
              <a:rPr sz="1000" b="1">
                <a:solidFill>
                  <a:srgbClr val="0A1F44"/>
                </a:solidFill>
                <a:latin typeface="Inter"/>
              </a:rPr>
              <a:t>24%</a:t>
            </a:r>
          </a:p>
        </p:txBody>
      </p:sp>
      <p:cxnSp>
        <p:nvCxnSpPr>
          <p:cNvPr id="51" name="Connector 50"/>
          <p:cNvCxnSpPr/>
          <p:nvPr/>
        </p:nvCxnSpPr>
        <p:spPr>
          <a:xfrm>
            <a:off x="6959600" y="1943100"/>
            <a:ext cx="0" cy="228600"/>
          </a:xfrm>
          <a:prstGeom prst="line">
            <a:avLst/>
          </a:prstGeom>
          <a:ln w="6350">
            <a:solidFill>
              <a:srgbClr val="CBD5E1"/>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4754880" y="2095500"/>
            <a:ext cx="1625600" cy="342900"/>
          </a:xfrm>
          <a:prstGeom prst="rect">
            <a:avLst/>
          </a:prstGeom>
          <a:noFill/>
        </p:spPr>
        <p:txBody>
          <a:bodyPr wrap="square" lIns="0" tIns="0" rIns="0" bIns="0" anchor="ctr">
            <a:spAutoFit/>
          </a:bodyPr>
          <a:lstStyle/>
          <a:p>
            <a:pPr algn="l"/>
            <a:r>
              <a:rPr sz="1000" b="0">
                <a:solidFill>
                  <a:srgbClr val="0F172A"/>
                </a:solidFill>
                <a:latin typeface="Inter"/>
              </a:rPr>
              <a:t>SMS capture</a:t>
            </a:r>
          </a:p>
        </p:txBody>
      </p:sp>
      <p:sp>
        <p:nvSpPr>
          <p:cNvPr id="53" name="Rectangle 52"/>
          <p:cNvSpPr/>
          <p:nvPr/>
        </p:nvSpPr>
        <p:spPr>
          <a:xfrm>
            <a:off x="6959600" y="2171700"/>
            <a:ext cx="320039" cy="1905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p:cNvSpPr txBox="1"/>
          <p:nvPr/>
        </p:nvSpPr>
        <p:spPr>
          <a:xfrm>
            <a:off x="7317740" y="2159000"/>
            <a:ext cx="381000" cy="215900"/>
          </a:xfrm>
          <a:prstGeom prst="rect">
            <a:avLst/>
          </a:prstGeom>
          <a:solidFill>
            <a:srgbClr val="FFFFFF"/>
          </a:solidFill>
        </p:spPr>
        <p:txBody>
          <a:bodyPr wrap="square" lIns="12700" tIns="0" rIns="0" bIns="0" anchor="ctr">
            <a:spAutoFit/>
          </a:bodyPr>
          <a:lstStyle/>
          <a:p>
            <a:pPr algn="l"/>
            <a:r>
              <a:rPr sz="1000" b="0">
                <a:solidFill>
                  <a:srgbClr val="1D4ED8"/>
                </a:solidFill>
                <a:latin typeface="Inter"/>
              </a:rPr>
              <a:t>+2.4</a:t>
            </a:r>
          </a:p>
        </p:txBody>
      </p:sp>
      <p:cxnSp>
        <p:nvCxnSpPr>
          <p:cNvPr id="55" name="Connector 54"/>
          <p:cNvCxnSpPr/>
          <p:nvPr/>
        </p:nvCxnSpPr>
        <p:spPr>
          <a:xfrm>
            <a:off x="7279640" y="2362200"/>
            <a:ext cx="0" cy="228600"/>
          </a:xfrm>
          <a:prstGeom prst="line">
            <a:avLst/>
          </a:prstGeom>
          <a:ln w="6350">
            <a:solidFill>
              <a:srgbClr val="CBD5E1"/>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4754880" y="2514600"/>
            <a:ext cx="1625600" cy="342900"/>
          </a:xfrm>
          <a:prstGeom prst="rect">
            <a:avLst/>
          </a:prstGeom>
          <a:noFill/>
        </p:spPr>
        <p:txBody>
          <a:bodyPr wrap="square" lIns="0" tIns="0" rIns="0" bIns="0" anchor="ctr">
            <a:spAutoFit/>
          </a:bodyPr>
          <a:lstStyle/>
          <a:p>
            <a:pPr algn="l"/>
            <a:r>
              <a:rPr sz="1000" b="0">
                <a:solidFill>
                  <a:srgbClr val="0F172A"/>
                </a:solidFill>
                <a:latin typeface="Inter"/>
              </a:rPr>
              <a:t>App capture</a:t>
            </a:r>
          </a:p>
        </p:txBody>
      </p:sp>
      <p:sp>
        <p:nvSpPr>
          <p:cNvPr id="57" name="Rectangle 56"/>
          <p:cNvSpPr/>
          <p:nvPr/>
        </p:nvSpPr>
        <p:spPr>
          <a:xfrm>
            <a:off x="7279640" y="2590800"/>
            <a:ext cx="266700" cy="1905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TextBox 57"/>
          <p:cNvSpPr txBox="1"/>
          <p:nvPr/>
        </p:nvSpPr>
        <p:spPr>
          <a:xfrm>
            <a:off x="7584440" y="2578100"/>
            <a:ext cx="381000" cy="215900"/>
          </a:xfrm>
          <a:prstGeom prst="rect">
            <a:avLst/>
          </a:prstGeom>
          <a:solidFill>
            <a:srgbClr val="FFFFFF"/>
          </a:solidFill>
        </p:spPr>
        <p:txBody>
          <a:bodyPr wrap="square" lIns="12700" tIns="0" rIns="0" bIns="0" anchor="ctr">
            <a:spAutoFit/>
          </a:bodyPr>
          <a:lstStyle/>
          <a:p>
            <a:pPr algn="l"/>
            <a:r>
              <a:rPr sz="1000" b="0">
                <a:solidFill>
                  <a:srgbClr val="1D4ED8"/>
                </a:solidFill>
                <a:latin typeface="Inter"/>
              </a:rPr>
              <a:t>+2.0</a:t>
            </a:r>
          </a:p>
        </p:txBody>
      </p:sp>
      <p:cxnSp>
        <p:nvCxnSpPr>
          <p:cNvPr id="59" name="Connector 58"/>
          <p:cNvCxnSpPr/>
          <p:nvPr/>
        </p:nvCxnSpPr>
        <p:spPr>
          <a:xfrm>
            <a:off x="7546340" y="2781300"/>
            <a:ext cx="0" cy="228600"/>
          </a:xfrm>
          <a:prstGeom prst="line">
            <a:avLst/>
          </a:prstGeom>
          <a:ln w="6350">
            <a:solidFill>
              <a:srgbClr val="CBD5E1"/>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4754880" y="2933700"/>
            <a:ext cx="1625600" cy="342900"/>
          </a:xfrm>
          <a:prstGeom prst="rect">
            <a:avLst/>
          </a:prstGeom>
          <a:noFill/>
        </p:spPr>
        <p:txBody>
          <a:bodyPr wrap="square" lIns="0" tIns="0" rIns="0" bIns="0" anchor="ctr">
            <a:spAutoFit/>
          </a:bodyPr>
          <a:lstStyle/>
          <a:p>
            <a:pPr algn="l"/>
            <a:r>
              <a:rPr sz="1000" b="0">
                <a:solidFill>
                  <a:srgbClr val="0F172A"/>
                </a:solidFill>
                <a:latin typeface="Inter"/>
              </a:rPr>
              <a:t>Cashmere cross-sell</a:t>
            </a:r>
          </a:p>
        </p:txBody>
      </p:sp>
      <p:sp>
        <p:nvSpPr>
          <p:cNvPr id="61" name="Rectangle 60"/>
          <p:cNvSpPr/>
          <p:nvPr/>
        </p:nvSpPr>
        <p:spPr>
          <a:xfrm>
            <a:off x="7546340" y="3009900"/>
            <a:ext cx="253365" cy="1905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TextBox 61"/>
          <p:cNvSpPr txBox="1"/>
          <p:nvPr/>
        </p:nvSpPr>
        <p:spPr>
          <a:xfrm>
            <a:off x="7837805" y="2997200"/>
            <a:ext cx="381000" cy="215900"/>
          </a:xfrm>
          <a:prstGeom prst="rect">
            <a:avLst/>
          </a:prstGeom>
          <a:solidFill>
            <a:srgbClr val="FFFFFF"/>
          </a:solidFill>
        </p:spPr>
        <p:txBody>
          <a:bodyPr wrap="square" lIns="12700" tIns="0" rIns="0" bIns="0" anchor="ctr">
            <a:spAutoFit/>
          </a:bodyPr>
          <a:lstStyle/>
          <a:p>
            <a:pPr algn="l"/>
            <a:r>
              <a:rPr sz="1000" b="0">
                <a:solidFill>
                  <a:srgbClr val="1D4ED8"/>
                </a:solidFill>
                <a:latin typeface="Inter"/>
              </a:rPr>
              <a:t>+1.9</a:t>
            </a:r>
          </a:p>
        </p:txBody>
      </p:sp>
      <p:cxnSp>
        <p:nvCxnSpPr>
          <p:cNvPr id="63" name="Connector 62"/>
          <p:cNvCxnSpPr/>
          <p:nvPr/>
        </p:nvCxnSpPr>
        <p:spPr>
          <a:xfrm>
            <a:off x="7799705" y="3200400"/>
            <a:ext cx="0" cy="228600"/>
          </a:xfrm>
          <a:prstGeom prst="line">
            <a:avLst/>
          </a:prstGeom>
          <a:ln w="6350">
            <a:solidFill>
              <a:srgbClr val="CBD5E1"/>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4754880" y="3352800"/>
            <a:ext cx="1625600" cy="342900"/>
          </a:xfrm>
          <a:prstGeom prst="rect">
            <a:avLst/>
          </a:prstGeom>
          <a:noFill/>
        </p:spPr>
        <p:txBody>
          <a:bodyPr wrap="square" lIns="0" tIns="0" rIns="0" bIns="0" anchor="ctr">
            <a:spAutoFit/>
          </a:bodyPr>
          <a:lstStyle/>
          <a:p>
            <a:pPr algn="l"/>
            <a:r>
              <a:rPr sz="1000" b="0">
                <a:solidFill>
                  <a:srgbClr val="0F172A"/>
                </a:solidFill>
                <a:latin typeface="Inter"/>
              </a:rPr>
              <a:t>Triggered journeys</a:t>
            </a:r>
          </a:p>
        </p:txBody>
      </p:sp>
      <p:sp>
        <p:nvSpPr>
          <p:cNvPr id="65" name="Rectangle 64"/>
          <p:cNvSpPr/>
          <p:nvPr/>
        </p:nvSpPr>
        <p:spPr>
          <a:xfrm>
            <a:off x="7799705" y="3429000"/>
            <a:ext cx="186689" cy="1905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TextBox 65"/>
          <p:cNvSpPr txBox="1"/>
          <p:nvPr/>
        </p:nvSpPr>
        <p:spPr>
          <a:xfrm>
            <a:off x="8024495" y="3416300"/>
            <a:ext cx="381000" cy="215900"/>
          </a:xfrm>
          <a:prstGeom prst="rect">
            <a:avLst/>
          </a:prstGeom>
          <a:solidFill>
            <a:srgbClr val="FFFFFF"/>
          </a:solidFill>
        </p:spPr>
        <p:txBody>
          <a:bodyPr wrap="square" lIns="12700" tIns="0" rIns="0" bIns="0" anchor="ctr">
            <a:spAutoFit/>
          </a:bodyPr>
          <a:lstStyle/>
          <a:p>
            <a:pPr algn="l"/>
            <a:r>
              <a:rPr sz="1000" b="0">
                <a:solidFill>
                  <a:srgbClr val="1D4ED8"/>
                </a:solidFill>
                <a:latin typeface="Inter"/>
              </a:rPr>
              <a:t>+1.4</a:t>
            </a:r>
          </a:p>
        </p:txBody>
      </p:sp>
      <p:cxnSp>
        <p:nvCxnSpPr>
          <p:cNvPr id="67" name="Connector 66"/>
          <p:cNvCxnSpPr/>
          <p:nvPr/>
        </p:nvCxnSpPr>
        <p:spPr>
          <a:xfrm>
            <a:off x="7986395" y="3619500"/>
            <a:ext cx="0" cy="228600"/>
          </a:xfrm>
          <a:prstGeom prst="line">
            <a:avLst/>
          </a:prstGeom>
          <a:ln w="6350">
            <a:solidFill>
              <a:srgbClr val="CBD5E1"/>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4754880" y="3771900"/>
            <a:ext cx="1625600" cy="342900"/>
          </a:xfrm>
          <a:prstGeom prst="rect">
            <a:avLst/>
          </a:prstGeom>
          <a:noFill/>
        </p:spPr>
        <p:txBody>
          <a:bodyPr wrap="square" lIns="0" tIns="0" rIns="0" bIns="0" anchor="ctr">
            <a:spAutoFit/>
          </a:bodyPr>
          <a:lstStyle/>
          <a:p>
            <a:pPr algn="l"/>
            <a:r>
              <a:rPr sz="1000" b="0">
                <a:solidFill>
                  <a:srgbClr val="0F172A"/>
                </a:solidFill>
                <a:latin typeface="Inter"/>
              </a:rPr>
              <a:t>Overlap, CJA calibration</a:t>
            </a:r>
          </a:p>
        </p:txBody>
      </p:sp>
      <p:sp>
        <p:nvSpPr>
          <p:cNvPr id="69" name="Rectangle 68"/>
          <p:cNvSpPr/>
          <p:nvPr/>
        </p:nvSpPr>
        <p:spPr>
          <a:xfrm>
            <a:off x="7759700" y="3848100"/>
            <a:ext cx="226694" cy="190500"/>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TextBox 69"/>
          <p:cNvSpPr txBox="1"/>
          <p:nvPr/>
        </p:nvSpPr>
        <p:spPr>
          <a:xfrm>
            <a:off x="8024495" y="3835400"/>
            <a:ext cx="381000" cy="215900"/>
          </a:xfrm>
          <a:prstGeom prst="rect">
            <a:avLst/>
          </a:prstGeom>
          <a:solidFill>
            <a:srgbClr val="FFFFFF"/>
          </a:solidFill>
        </p:spPr>
        <p:txBody>
          <a:bodyPr wrap="square" lIns="12700" tIns="0" rIns="0" bIns="0" anchor="ctr">
            <a:spAutoFit/>
          </a:bodyPr>
          <a:lstStyle/>
          <a:p>
            <a:pPr algn="l"/>
            <a:r>
              <a:rPr sz="1000" b="0">
                <a:solidFill>
                  <a:srgbClr val="64748B"/>
                </a:solidFill>
                <a:latin typeface="Inter"/>
              </a:rPr>
              <a:t>−1.7</a:t>
            </a:r>
          </a:p>
        </p:txBody>
      </p:sp>
      <p:cxnSp>
        <p:nvCxnSpPr>
          <p:cNvPr id="71" name="Connector 70"/>
          <p:cNvCxnSpPr/>
          <p:nvPr/>
        </p:nvCxnSpPr>
        <p:spPr>
          <a:xfrm>
            <a:off x="7759700" y="4038600"/>
            <a:ext cx="0" cy="228600"/>
          </a:xfrm>
          <a:prstGeom prst="line">
            <a:avLst/>
          </a:prstGeom>
          <a:ln w="6350">
            <a:solidFill>
              <a:srgbClr val="CBD5E1"/>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4754880" y="4191000"/>
            <a:ext cx="1625600" cy="342900"/>
          </a:xfrm>
          <a:prstGeom prst="rect">
            <a:avLst/>
          </a:prstGeom>
          <a:noFill/>
        </p:spPr>
        <p:txBody>
          <a:bodyPr wrap="square" lIns="0" tIns="0" rIns="0" bIns="0" anchor="ctr">
            <a:spAutoFit/>
          </a:bodyPr>
          <a:lstStyle/>
          <a:p>
            <a:pPr algn="l"/>
            <a:r>
              <a:rPr sz="1000" b="0">
                <a:solidFill>
                  <a:srgbClr val="0F172A"/>
                </a:solidFill>
                <a:latin typeface="Inter"/>
              </a:rPr>
              <a:t>Passport, lookalikes</a:t>
            </a:r>
          </a:p>
        </p:txBody>
      </p:sp>
      <p:sp>
        <p:nvSpPr>
          <p:cNvPr id="73" name="Rectangle 72"/>
          <p:cNvSpPr/>
          <p:nvPr/>
        </p:nvSpPr>
        <p:spPr>
          <a:xfrm>
            <a:off x="7759700" y="4267200"/>
            <a:ext cx="133350" cy="1905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TextBox 73"/>
          <p:cNvSpPr txBox="1"/>
          <p:nvPr/>
        </p:nvSpPr>
        <p:spPr>
          <a:xfrm>
            <a:off x="7931150" y="4254500"/>
            <a:ext cx="381000" cy="215900"/>
          </a:xfrm>
          <a:prstGeom prst="rect">
            <a:avLst/>
          </a:prstGeom>
          <a:solidFill>
            <a:srgbClr val="FFFFFF"/>
          </a:solidFill>
        </p:spPr>
        <p:txBody>
          <a:bodyPr wrap="square" lIns="12700" tIns="0" rIns="0" bIns="0" anchor="ctr">
            <a:spAutoFit/>
          </a:bodyPr>
          <a:lstStyle/>
          <a:p>
            <a:pPr algn="l"/>
            <a:r>
              <a:rPr sz="1000" b="0">
                <a:solidFill>
                  <a:srgbClr val="1D4ED8"/>
                </a:solidFill>
                <a:latin typeface="Inter"/>
              </a:rPr>
              <a:t>+1.0</a:t>
            </a:r>
          </a:p>
        </p:txBody>
      </p:sp>
      <p:cxnSp>
        <p:nvCxnSpPr>
          <p:cNvPr id="75" name="Connector 74"/>
          <p:cNvCxnSpPr/>
          <p:nvPr/>
        </p:nvCxnSpPr>
        <p:spPr>
          <a:xfrm>
            <a:off x="7893050" y="4457700"/>
            <a:ext cx="0" cy="228600"/>
          </a:xfrm>
          <a:prstGeom prst="line">
            <a:avLst/>
          </a:prstGeom>
          <a:ln w="6350">
            <a:solidFill>
              <a:srgbClr val="CBD5E1"/>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4754880" y="4610100"/>
            <a:ext cx="1625600" cy="342900"/>
          </a:xfrm>
          <a:prstGeom prst="rect">
            <a:avLst/>
          </a:prstGeom>
          <a:noFill/>
        </p:spPr>
        <p:txBody>
          <a:bodyPr wrap="square" lIns="0" tIns="0" rIns="0" bIns="0" anchor="ctr">
            <a:spAutoFit/>
          </a:bodyPr>
          <a:lstStyle/>
          <a:p>
            <a:pPr algn="l"/>
            <a:r>
              <a:rPr sz="1000" b="1">
                <a:solidFill>
                  <a:srgbClr val="0F172A"/>
                </a:solidFill>
                <a:latin typeface="Inter"/>
              </a:rPr>
              <a:t>Base case</a:t>
            </a:r>
          </a:p>
        </p:txBody>
      </p:sp>
      <p:sp>
        <p:nvSpPr>
          <p:cNvPr id="77" name="Rectangle 76"/>
          <p:cNvSpPr/>
          <p:nvPr/>
        </p:nvSpPr>
        <p:spPr>
          <a:xfrm>
            <a:off x="6426200" y="4686300"/>
            <a:ext cx="1466850" cy="190500"/>
          </a:xfrm>
          <a:prstGeom prst="rect">
            <a:avLst/>
          </a:prstGeom>
          <a:solidFill>
            <a:srgbClr val="0A1F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TextBox 77"/>
          <p:cNvSpPr txBox="1"/>
          <p:nvPr/>
        </p:nvSpPr>
        <p:spPr>
          <a:xfrm>
            <a:off x="7931150" y="4673600"/>
            <a:ext cx="381000" cy="215900"/>
          </a:xfrm>
          <a:prstGeom prst="rect">
            <a:avLst/>
          </a:prstGeom>
          <a:solidFill>
            <a:srgbClr val="FFFFFF"/>
          </a:solidFill>
        </p:spPr>
        <p:txBody>
          <a:bodyPr wrap="square" lIns="12700" tIns="0" rIns="0" bIns="0" anchor="ctr">
            <a:spAutoFit/>
          </a:bodyPr>
          <a:lstStyle/>
          <a:p>
            <a:pPr algn="l"/>
            <a:r>
              <a:rPr sz="1000" b="1">
                <a:solidFill>
                  <a:srgbClr val="0A1F44"/>
                </a:solidFill>
                <a:latin typeface="Inter"/>
              </a:rPr>
              <a:t>31%</a:t>
            </a:r>
          </a:p>
        </p:txBody>
      </p:sp>
      <p:sp>
        <p:nvSpPr>
          <p:cNvPr id="79" name="TextBox 78"/>
          <p:cNvSpPr txBox="1"/>
          <p:nvPr/>
        </p:nvSpPr>
        <p:spPr>
          <a:xfrm>
            <a:off x="4754880" y="5054600"/>
            <a:ext cx="3556000" cy="304800"/>
          </a:xfrm>
          <a:prstGeom prst="rect">
            <a:avLst/>
          </a:prstGeom>
          <a:noFill/>
        </p:spPr>
        <p:txBody>
          <a:bodyPr wrap="square" lIns="0" tIns="0" rIns="0" bIns="0" anchor="t">
            <a:spAutoFit/>
          </a:bodyPr>
          <a:lstStyle/>
          <a:p>
            <a:pPr algn="l"/>
            <a:r>
              <a:rPr sz="800" b="0">
                <a:solidFill>
                  <a:srgbClr val="64748B"/>
                </a:solidFill>
                <a:latin typeface="Inter"/>
              </a:rPr>
              <a:t>Axis starts at 20%. Gross lever effects come from our CJA-calibrated model; we take 25% off new levers for overlap (estimates).</a:t>
            </a:r>
          </a:p>
        </p:txBody>
      </p:sp>
      <p:cxnSp>
        <p:nvCxnSpPr>
          <p:cNvPr id="80" name="Connector 79"/>
          <p:cNvCxnSpPr/>
          <p:nvPr/>
        </p:nvCxnSpPr>
        <p:spPr>
          <a:xfrm>
            <a:off x="7693025" y="4933950"/>
            <a:ext cx="466725" cy="0"/>
          </a:xfrm>
          <a:prstGeom prst="line">
            <a:avLst/>
          </a:prstGeom>
          <a:ln w="12700">
            <a:solidFill>
              <a:srgbClr val="0F172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693025" y="4883150"/>
            <a:ext cx="0" cy="101600"/>
          </a:xfrm>
          <a:prstGeom prst="line">
            <a:avLst/>
          </a:prstGeom>
          <a:ln w="12700">
            <a:solidFill>
              <a:srgbClr val="0F172A"/>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8159750" y="4883150"/>
            <a:ext cx="0" cy="101600"/>
          </a:xfrm>
          <a:prstGeom prst="line">
            <a:avLst/>
          </a:prstGeom>
          <a:ln w="12700">
            <a:solidFill>
              <a:srgbClr val="0F172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9326880" cy="841248"/>
          </a:xfrm>
          <a:prstGeom prst="rect">
            <a:avLst/>
          </a:prstGeom>
          <a:noFill/>
          <a:ln/>
        </p:spPr>
        <p:txBody>
          <a:bodyPr wrap="square" lIns="0" tIns="0" rIns="0" bIns="0" rtlCol="0" anchor="ctr"/>
          <a:lstStyle/>
          <a:p>
            <a:pPr marL="0" indent="0">
              <a:buNone/>
            </a:pPr>
            <a:r>
              <a:rPr lang="en-US" sz="2400" b="1" dirty="0">
                <a:solidFill>
                  <a:srgbClr val="0A1F44"/>
                </a:solidFill>
                <a:latin typeface="Inter" pitchFamily="34" charset="0"/>
                <a:ea typeface="Inter" pitchFamily="34" charset="-122"/>
                <a:cs typeface="Inter" pitchFamily="34" charset="-120"/>
              </a:rPr>
              <a:t>Owned channels touch 15% of revenue but get credit for ~5%</a:t>
            </a:r>
            <a:endParaRPr lang="en-US" sz="2400" dirty="0"/>
          </a:p>
        </p:txBody>
      </p:sp>
      <p:pic>
        <p:nvPicPr>
          <p:cNvPr id="3" name="Image 0" descr="/tmp/claude-0/-home-user-Quince/7efe80ae-a049-50c2-9886-98bf7ca3a04a/scratchpad/assets/quince.png"/>
          <p:cNvPicPr>
            <a:picLocks noChangeAspect="1"/>
          </p:cNvPicPr>
          <p:nvPr/>
        </p:nvPicPr>
        <p:blipFill>
          <a:blip r:embed="rId3"/>
          <a:stretch>
            <a:fillRect/>
          </a:stretch>
        </p:blipFill>
        <p:spPr>
          <a:xfrm>
            <a:off x="10236708" y="615544"/>
            <a:ext cx="777240" cy="231951"/>
          </a:xfrm>
          <a:prstGeom prst="rect">
            <a:avLst/>
          </a:prstGeom>
        </p:spPr>
      </p:pic>
      <p:sp>
        <p:nvSpPr>
          <p:cNvPr id="4" name="Shape 1"/>
          <p:cNvSpPr/>
          <p:nvPr/>
        </p:nvSpPr>
        <p:spPr>
          <a:xfrm>
            <a:off x="11155680" y="603504"/>
            <a:ext cx="530352" cy="256032"/>
          </a:xfrm>
          <a:prstGeom prst="roundRect">
            <a:avLst>
              <a:gd name="adj" fmla="val 50000"/>
            </a:avLst>
          </a:prstGeom>
          <a:solidFill>
            <a:srgbClr val="0A1F44"/>
          </a:solidFill>
          <a:ln w="6350">
            <a:solidFill>
              <a:srgbClr val="0A1F44"/>
            </a:solidFill>
            <a:prstDash val="solid"/>
          </a:ln>
        </p:spPr>
        <p:txBody>
          <a:bodyPr/>
          <a:lstStyle/>
          <a:p>
            <a:endParaRPr lang="en-US"/>
          </a:p>
        </p:txBody>
      </p:sp>
      <p:sp>
        <p:nvSpPr>
          <p:cNvPr id="5" name="Text 2"/>
          <p:cNvSpPr txBox="1"/>
          <p:nvPr/>
        </p:nvSpPr>
        <p:spPr>
          <a:xfrm>
            <a:off x="11155680" y="603504"/>
            <a:ext cx="53035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G27</a:t>
            </a:r>
            <a:endParaRPr lang="en-US" sz="950" dirty="0"/>
          </a:p>
        </p:txBody>
      </p:sp>
      <p:sp>
        <p:nvSpPr>
          <p:cNvPr id="6" name="Shape 3"/>
          <p:cNvSpPr/>
          <p:nvPr/>
        </p:nvSpPr>
        <p:spPr>
          <a:xfrm>
            <a:off x="502920" y="6400800"/>
            <a:ext cx="11183112" cy="0"/>
          </a:xfrm>
          <a:prstGeom prst="line">
            <a:avLst/>
          </a:prstGeom>
          <a:noFill/>
          <a:ln w="9525">
            <a:solidFill>
              <a:srgbClr val="E2E8F0"/>
            </a:solidFill>
            <a:prstDash val="solid"/>
          </a:ln>
        </p:spPr>
        <p:txBody>
          <a:bodyPr/>
          <a:lstStyle/>
          <a:p>
            <a:endParaRPr lang="en-US"/>
          </a:p>
        </p:txBody>
      </p:sp>
      <p:sp>
        <p:nvSpPr>
          <p:cNvPr id="7" name="Text 4"/>
          <p:cNvSpPr txBox="1"/>
          <p:nvPr/>
        </p:nvSpPr>
        <p:spPr>
          <a:xfrm>
            <a:off x="502920" y="6464808"/>
            <a:ext cx="9418320" cy="256032"/>
          </a:xfrm>
          <a:prstGeom prst="rect">
            <a:avLst/>
          </a:prstGeom>
          <a:noFill/>
          <a:ln/>
        </p:spPr>
        <p:txBody>
          <a:bodyPr wrap="square" lIns="0" tIns="0" rIns="0" bIns="0" rtlCol="0" anchor="ctr"/>
          <a:lstStyle/>
          <a:p>
            <a:pPr marL="0" indent="0">
              <a:buNone/>
            </a:pPr>
            <a:r>
              <a:rPr lang="en-US" sz="800" dirty="0">
                <a:solidFill>
                  <a:srgbClr val="64748B"/>
                </a:solidFill>
                <a:latin typeface="Inter" pitchFamily="34" charset="0"/>
                <a:ea typeface="Inter" pitchFamily="34" charset="-122"/>
                <a:cs typeface="Inter" pitchFamily="34" charset="-120"/>
              </a:rPr>
              <a:t>Source: Adobe CJA Attribution IQ, Order Revenue ($337,044), Marketing Channel, Person container, 90-day lookback, 1 Jan–30 Apr 2026.</a:t>
            </a:r>
            <a:endParaRPr lang="en-US" sz="800" dirty="0"/>
          </a:p>
        </p:txBody>
      </p:sp>
      <p:sp>
        <p:nvSpPr>
          <p:cNvPr id="8" name="Text 5"/>
          <p:cNvSpPr txBox="1"/>
          <p:nvPr/>
        </p:nvSpPr>
        <p:spPr>
          <a:xfrm>
            <a:off x="9966960" y="6464808"/>
            <a:ext cx="1719072" cy="256032"/>
          </a:xfrm>
          <a:prstGeom prst="rect">
            <a:avLst/>
          </a:prstGeom>
          <a:noFill/>
          <a:ln/>
        </p:spPr>
        <p:txBody>
          <a:bodyPr wrap="square" lIns="0" tIns="0" rIns="0" bIns="0" rtlCol="0" anchor="ctr"/>
          <a:lstStyle/>
          <a:p>
            <a:pPr marL="0" indent="0" algn="r">
              <a:buNone/>
            </a:pPr>
            <a:r>
              <a:rPr lang="en-US" sz="800" dirty="0">
                <a:solidFill>
                  <a:srgbClr val="64748B"/>
                </a:solidFill>
                <a:latin typeface="Inter" pitchFamily="34" charset="0"/>
                <a:ea typeface="Inter" pitchFamily="34" charset="-122"/>
                <a:cs typeface="Inter" pitchFamily="34" charset="-120"/>
              </a:rPr>
              <a:t>Team G27  ·  23</a:t>
            </a:r>
            <a:endParaRPr lang="en-US" sz="800" dirty="0"/>
          </a:p>
        </p:txBody>
      </p:sp>
      <p:sp>
        <p:nvSpPr>
          <p:cNvPr id="9" name="Text 6"/>
          <p:cNvSpPr txBox="1"/>
          <p:nvPr/>
        </p:nvSpPr>
        <p:spPr>
          <a:xfrm>
            <a:off x="2743200" y="1325880"/>
            <a:ext cx="548640" cy="228600"/>
          </a:xfrm>
          <a:prstGeom prst="rect">
            <a:avLst/>
          </a:prstGeom>
          <a:noFill/>
          <a:ln/>
        </p:spPr>
        <p:txBody>
          <a:bodyPr wrap="square" lIns="0" tIns="0" rIns="0" bIns="0" rtlCol="0" anchor="t"/>
          <a:lstStyle/>
          <a:p>
            <a:pPr marL="0" indent="0" algn="ctr">
              <a:buNone/>
            </a:pPr>
            <a:r>
              <a:rPr lang="en-US" sz="950" dirty="0">
                <a:solidFill>
                  <a:srgbClr val="64748B"/>
                </a:solidFill>
                <a:latin typeface="Inter" pitchFamily="34" charset="0"/>
                <a:ea typeface="Inter" pitchFamily="34" charset="-122"/>
                <a:cs typeface="Inter" pitchFamily="34" charset="-120"/>
              </a:rPr>
              <a:t>0%</a:t>
            </a:r>
            <a:endParaRPr lang="en-US" sz="950" dirty="0"/>
          </a:p>
        </p:txBody>
      </p:sp>
      <p:sp>
        <p:nvSpPr>
          <p:cNvPr id="10" name="Shape 7"/>
          <p:cNvSpPr/>
          <p:nvPr/>
        </p:nvSpPr>
        <p:spPr>
          <a:xfrm>
            <a:off x="3017520" y="1600200"/>
            <a:ext cx="0" cy="4206240"/>
          </a:xfrm>
          <a:prstGeom prst="line">
            <a:avLst/>
          </a:prstGeom>
          <a:noFill/>
          <a:ln w="9525">
            <a:solidFill>
              <a:srgbClr val="E2E8F0"/>
            </a:solidFill>
            <a:prstDash val="dash"/>
          </a:ln>
        </p:spPr>
        <p:txBody>
          <a:bodyPr/>
          <a:lstStyle/>
          <a:p>
            <a:endParaRPr lang="en-US"/>
          </a:p>
        </p:txBody>
      </p:sp>
      <p:sp>
        <p:nvSpPr>
          <p:cNvPr id="11" name="Text 8"/>
          <p:cNvSpPr txBox="1"/>
          <p:nvPr/>
        </p:nvSpPr>
        <p:spPr>
          <a:xfrm>
            <a:off x="3584448" y="1325880"/>
            <a:ext cx="548640" cy="228600"/>
          </a:xfrm>
          <a:prstGeom prst="rect">
            <a:avLst/>
          </a:prstGeom>
          <a:noFill/>
          <a:ln/>
        </p:spPr>
        <p:txBody>
          <a:bodyPr wrap="square" lIns="0" tIns="0" rIns="0" bIns="0" rtlCol="0" anchor="t"/>
          <a:lstStyle/>
          <a:p>
            <a:pPr marL="0" indent="0" algn="ctr">
              <a:buNone/>
            </a:pPr>
            <a:r>
              <a:rPr lang="en-US" sz="950" dirty="0">
                <a:solidFill>
                  <a:srgbClr val="64748B"/>
                </a:solidFill>
                <a:latin typeface="Inter" pitchFamily="34" charset="0"/>
                <a:ea typeface="Inter" pitchFamily="34" charset="-122"/>
                <a:cs typeface="Inter" pitchFamily="34" charset="-120"/>
              </a:rPr>
              <a:t>10%</a:t>
            </a:r>
            <a:endParaRPr lang="en-US" sz="950" dirty="0"/>
          </a:p>
        </p:txBody>
      </p:sp>
      <p:sp>
        <p:nvSpPr>
          <p:cNvPr id="12" name="Shape 9"/>
          <p:cNvSpPr/>
          <p:nvPr/>
        </p:nvSpPr>
        <p:spPr>
          <a:xfrm>
            <a:off x="3858768" y="1600200"/>
            <a:ext cx="0" cy="4206240"/>
          </a:xfrm>
          <a:prstGeom prst="line">
            <a:avLst/>
          </a:prstGeom>
          <a:noFill/>
          <a:ln w="9525">
            <a:solidFill>
              <a:srgbClr val="E2E8F0"/>
            </a:solidFill>
            <a:prstDash val="dash"/>
          </a:ln>
        </p:spPr>
        <p:txBody>
          <a:bodyPr/>
          <a:lstStyle/>
          <a:p>
            <a:endParaRPr lang="en-US"/>
          </a:p>
        </p:txBody>
      </p:sp>
      <p:sp>
        <p:nvSpPr>
          <p:cNvPr id="13" name="Text 10"/>
          <p:cNvSpPr txBox="1"/>
          <p:nvPr/>
        </p:nvSpPr>
        <p:spPr>
          <a:xfrm>
            <a:off x="4425696" y="1325880"/>
            <a:ext cx="548640" cy="228600"/>
          </a:xfrm>
          <a:prstGeom prst="rect">
            <a:avLst/>
          </a:prstGeom>
          <a:noFill/>
          <a:ln/>
        </p:spPr>
        <p:txBody>
          <a:bodyPr wrap="square" lIns="0" tIns="0" rIns="0" bIns="0" rtlCol="0" anchor="t"/>
          <a:lstStyle/>
          <a:p>
            <a:pPr marL="0" indent="0" algn="ctr">
              <a:buNone/>
            </a:pPr>
            <a:r>
              <a:rPr lang="en-US" sz="950" dirty="0">
                <a:solidFill>
                  <a:srgbClr val="64748B"/>
                </a:solidFill>
                <a:latin typeface="Inter" pitchFamily="34" charset="0"/>
                <a:ea typeface="Inter" pitchFamily="34" charset="-122"/>
                <a:cs typeface="Inter" pitchFamily="34" charset="-120"/>
              </a:rPr>
              <a:t>20%</a:t>
            </a:r>
            <a:endParaRPr lang="en-US" sz="950" dirty="0"/>
          </a:p>
        </p:txBody>
      </p:sp>
      <p:sp>
        <p:nvSpPr>
          <p:cNvPr id="14" name="Shape 11"/>
          <p:cNvSpPr/>
          <p:nvPr/>
        </p:nvSpPr>
        <p:spPr>
          <a:xfrm>
            <a:off x="4700016" y="1600200"/>
            <a:ext cx="0" cy="4206240"/>
          </a:xfrm>
          <a:prstGeom prst="line">
            <a:avLst/>
          </a:prstGeom>
          <a:noFill/>
          <a:ln w="9525">
            <a:solidFill>
              <a:srgbClr val="E2E8F0"/>
            </a:solidFill>
            <a:prstDash val="dash"/>
          </a:ln>
        </p:spPr>
        <p:txBody>
          <a:bodyPr/>
          <a:lstStyle/>
          <a:p>
            <a:endParaRPr lang="en-US"/>
          </a:p>
        </p:txBody>
      </p:sp>
      <p:sp>
        <p:nvSpPr>
          <p:cNvPr id="15" name="Text 12"/>
          <p:cNvSpPr txBox="1"/>
          <p:nvPr/>
        </p:nvSpPr>
        <p:spPr>
          <a:xfrm>
            <a:off x="5266944" y="1325880"/>
            <a:ext cx="548640" cy="228600"/>
          </a:xfrm>
          <a:prstGeom prst="rect">
            <a:avLst/>
          </a:prstGeom>
          <a:noFill/>
          <a:ln/>
        </p:spPr>
        <p:txBody>
          <a:bodyPr wrap="square" lIns="0" tIns="0" rIns="0" bIns="0" rtlCol="0" anchor="t"/>
          <a:lstStyle/>
          <a:p>
            <a:pPr marL="0" indent="0" algn="ctr">
              <a:buNone/>
            </a:pPr>
            <a:r>
              <a:rPr lang="en-US" sz="950" dirty="0">
                <a:solidFill>
                  <a:srgbClr val="64748B"/>
                </a:solidFill>
                <a:latin typeface="Inter" pitchFamily="34" charset="0"/>
                <a:ea typeface="Inter" pitchFamily="34" charset="-122"/>
                <a:cs typeface="Inter" pitchFamily="34" charset="-120"/>
              </a:rPr>
              <a:t>30%</a:t>
            </a:r>
            <a:endParaRPr lang="en-US" sz="950" dirty="0"/>
          </a:p>
        </p:txBody>
      </p:sp>
      <p:sp>
        <p:nvSpPr>
          <p:cNvPr id="16" name="Shape 13"/>
          <p:cNvSpPr/>
          <p:nvPr/>
        </p:nvSpPr>
        <p:spPr>
          <a:xfrm>
            <a:off x="5541264" y="1600200"/>
            <a:ext cx="0" cy="4206240"/>
          </a:xfrm>
          <a:prstGeom prst="line">
            <a:avLst/>
          </a:prstGeom>
          <a:noFill/>
          <a:ln w="9525">
            <a:solidFill>
              <a:srgbClr val="E2E8F0"/>
            </a:solidFill>
            <a:prstDash val="dash"/>
          </a:ln>
        </p:spPr>
        <p:txBody>
          <a:bodyPr/>
          <a:lstStyle/>
          <a:p>
            <a:endParaRPr lang="en-US"/>
          </a:p>
        </p:txBody>
      </p:sp>
      <p:sp>
        <p:nvSpPr>
          <p:cNvPr id="17" name="Text 14"/>
          <p:cNvSpPr txBox="1"/>
          <p:nvPr/>
        </p:nvSpPr>
        <p:spPr>
          <a:xfrm>
            <a:off x="6108192" y="1325880"/>
            <a:ext cx="548640" cy="228600"/>
          </a:xfrm>
          <a:prstGeom prst="rect">
            <a:avLst/>
          </a:prstGeom>
          <a:noFill/>
          <a:ln/>
        </p:spPr>
        <p:txBody>
          <a:bodyPr wrap="square" lIns="0" tIns="0" rIns="0" bIns="0" rtlCol="0" anchor="t"/>
          <a:lstStyle/>
          <a:p>
            <a:pPr marL="0" indent="0" algn="ctr">
              <a:buNone/>
            </a:pPr>
            <a:r>
              <a:rPr lang="en-US" sz="950" dirty="0">
                <a:solidFill>
                  <a:srgbClr val="64748B"/>
                </a:solidFill>
                <a:latin typeface="Inter" pitchFamily="34" charset="0"/>
                <a:ea typeface="Inter" pitchFamily="34" charset="-122"/>
                <a:cs typeface="Inter" pitchFamily="34" charset="-120"/>
              </a:rPr>
              <a:t>40%</a:t>
            </a:r>
            <a:endParaRPr lang="en-US" sz="950" dirty="0"/>
          </a:p>
        </p:txBody>
      </p:sp>
      <p:sp>
        <p:nvSpPr>
          <p:cNvPr id="18" name="Shape 15"/>
          <p:cNvSpPr/>
          <p:nvPr/>
        </p:nvSpPr>
        <p:spPr>
          <a:xfrm>
            <a:off x="6382512" y="1600200"/>
            <a:ext cx="0" cy="4206240"/>
          </a:xfrm>
          <a:prstGeom prst="line">
            <a:avLst/>
          </a:prstGeom>
          <a:noFill/>
          <a:ln w="9525">
            <a:solidFill>
              <a:srgbClr val="E2E8F0"/>
            </a:solidFill>
            <a:prstDash val="dash"/>
          </a:ln>
        </p:spPr>
        <p:txBody>
          <a:bodyPr/>
          <a:lstStyle/>
          <a:p>
            <a:endParaRPr lang="en-US"/>
          </a:p>
        </p:txBody>
      </p:sp>
      <p:sp>
        <p:nvSpPr>
          <p:cNvPr id="19" name="Text 16"/>
          <p:cNvSpPr txBox="1"/>
          <p:nvPr/>
        </p:nvSpPr>
        <p:spPr>
          <a:xfrm>
            <a:off x="6949440" y="1325880"/>
            <a:ext cx="548640" cy="228600"/>
          </a:xfrm>
          <a:prstGeom prst="rect">
            <a:avLst/>
          </a:prstGeom>
          <a:noFill/>
          <a:ln/>
        </p:spPr>
        <p:txBody>
          <a:bodyPr wrap="square" lIns="0" tIns="0" rIns="0" bIns="0" rtlCol="0" anchor="t"/>
          <a:lstStyle/>
          <a:p>
            <a:pPr marL="0" indent="0" algn="ctr">
              <a:buNone/>
            </a:pPr>
            <a:r>
              <a:rPr lang="en-US" sz="950" dirty="0">
                <a:solidFill>
                  <a:srgbClr val="64748B"/>
                </a:solidFill>
                <a:latin typeface="Inter" pitchFamily="34" charset="0"/>
                <a:ea typeface="Inter" pitchFamily="34" charset="-122"/>
                <a:cs typeface="Inter" pitchFamily="34" charset="-120"/>
              </a:rPr>
              <a:t>50%</a:t>
            </a:r>
            <a:endParaRPr lang="en-US" sz="950" dirty="0"/>
          </a:p>
        </p:txBody>
      </p:sp>
      <p:sp>
        <p:nvSpPr>
          <p:cNvPr id="20" name="Shape 17"/>
          <p:cNvSpPr/>
          <p:nvPr/>
        </p:nvSpPr>
        <p:spPr>
          <a:xfrm>
            <a:off x="7223760" y="1600200"/>
            <a:ext cx="0" cy="4206240"/>
          </a:xfrm>
          <a:prstGeom prst="line">
            <a:avLst/>
          </a:prstGeom>
          <a:noFill/>
          <a:ln w="9525">
            <a:solidFill>
              <a:srgbClr val="E2E8F0"/>
            </a:solidFill>
            <a:prstDash val="dash"/>
          </a:ln>
        </p:spPr>
        <p:txBody>
          <a:bodyPr/>
          <a:lstStyle/>
          <a:p>
            <a:endParaRPr lang="en-US"/>
          </a:p>
        </p:txBody>
      </p:sp>
      <p:sp>
        <p:nvSpPr>
          <p:cNvPr id="21" name="Text 18"/>
          <p:cNvSpPr txBox="1"/>
          <p:nvPr/>
        </p:nvSpPr>
        <p:spPr>
          <a:xfrm>
            <a:off x="594360" y="1737360"/>
            <a:ext cx="2331720" cy="365760"/>
          </a:xfrm>
          <a:prstGeom prst="rect">
            <a:avLst/>
          </a:prstGeom>
          <a:noFill/>
          <a:ln/>
        </p:spPr>
        <p:txBody>
          <a:bodyPr wrap="square" lIns="0" tIns="0" rIns="0" bIns="0" rtlCol="0" anchor="ctr"/>
          <a:lstStyle/>
          <a:p>
            <a:pPr marL="0" indent="0">
              <a:buNone/>
            </a:pPr>
            <a:r>
              <a:rPr lang="en-US" sz="1100" dirty="0">
                <a:solidFill>
                  <a:srgbClr val="0F172A"/>
                </a:solidFill>
                <a:latin typeface="Inter" pitchFamily="34" charset="0"/>
                <a:ea typeface="Inter" pitchFamily="34" charset="-122"/>
                <a:cs typeface="Inter" pitchFamily="34" charset="-120"/>
              </a:rPr>
              <a:t>Paid social prospecting</a:t>
            </a:r>
            <a:endParaRPr lang="en-US" sz="1100" dirty="0"/>
          </a:p>
        </p:txBody>
      </p:sp>
      <p:sp>
        <p:nvSpPr>
          <p:cNvPr id="22" name="Shape 19"/>
          <p:cNvSpPr/>
          <p:nvPr/>
        </p:nvSpPr>
        <p:spPr>
          <a:xfrm>
            <a:off x="6508699" y="1920240"/>
            <a:ext cx="353324" cy="0"/>
          </a:xfrm>
          <a:prstGeom prst="line">
            <a:avLst/>
          </a:prstGeom>
          <a:noFill/>
          <a:ln w="38100">
            <a:solidFill>
              <a:srgbClr val="94A3B8"/>
            </a:solidFill>
            <a:prstDash val="solid"/>
          </a:ln>
        </p:spPr>
        <p:txBody>
          <a:bodyPr/>
          <a:lstStyle/>
          <a:p>
            <a:endParaRPr lang="en-US"/>
          </a:p>
        </p:txBody>
      </p:sp>
      <p:sp>
        <p:nvSpPr>
          <p:cNvPr id="23" name="Shape 20"/>
          <p:cNvSpPr/>
          <p:nvPr/>
        </p:nvSpPr>
        <p:spPr>
          <a:xfrm>
            <a:off x="6417259" y="1828800"/>
            <a:ext cx="182880" cy="182880"/>
          </a:xfrm>
          <a:prstGeom prst="ellipse">
            <a:avLst/>
          </a:prstGeom>
          <a:solidFill>
            <a:srgbClr val="94A3B8"/>
          </a:solidFill>
          <a:ln w="6350">
            <a:solidFill>
              <a:srgbClr val="94A3B8"/>
            </a:solidFill>
            <a:prstDash val="solid"/>
          </a:ln>
        </p:spPr>
        <p:txBody>
          <a:bodyPr/>
          <a:lstStyle/>
          <a:p>
            <a:endParaRPr lang="en-US"/>
          </a:p>
        </p:txBody>
      </p:sp>
      <p:sp>
        <p:nvSpPr>
          <p:cNvPr id="24" name="Shape 21"/>
          <p:cNvSpPr/>
          <p:nvPr/>
        </p:nvSpPr>
        <p:spPr>
          <a:xfrm>
            <a:off x="6770583" y="1828800"/>
            <a:ext cx="182880" cy="182880"/>
          </a:xfrm>
          <a:prstGeom prst="ellipse">
            <a:avLst/>
          </a:prstGeom>
          <a:solidFill>
            <a:srgbClr val="0A1F44"/>
          </a:solidFill>
          <a:ln w="6350">
            <a:solidFill>
              <a:srgbClr val="0A1F44"/>
            </a:solidFill>
            <a:prstDash val="solid"/>
          </a:ln>
        </p:spPr>
        <p:txBody>
          <a:bodyPr/>
          <a:lstStyle/>
          <a:p>
            <a:endParaRPr lang="en-US"/>
          </a:p>
        </p:txBody>
      </p:sp>
      <p:sp>
        <p:nvSpPr>
          <p:cNvPr id="25" name="Text 22"/>
          <p:cNvSpPr txBox="1"/>
          <p:nvPr/>
        </p:nvSpPr>
        <p:spPr>
          <a:xfrm>
            <a:off x="7026615" y="1737360"/>
            <a:ext cx="1234440" cy="365760"/>
          </a:xfrm>
          <a:prstGeom prst="rect">
            <a:avLst/>
          </a:prstGeom>
          <a:noFill/>
          <a:ln/>
        </p:spPr>
        <p:txBody>
          <a:bodyPr wrap="square" lIns="0" tIns="0" rIns="0" bIns="0" rtlCol="0" anchor="ctr"/>
          <a:lstStyle/>
          <a:p>
            <a:pPr marL="0" indent="0">
              <a:buNone/>
            </a:pPr>
            <a:r>
              <a:rPr lang="en-US" sz="950" dirty="0">
                <a:solidFill>
                  <a:srgbClr val="64748B"/>
                </a:solidFill>
                <a:latin typeface="Inter" pitchFamily="34" charset="0"/>
                <a:ea typeface="Inter" pitchFamily="34" charset="-122"/>
                <a:cs typeface="Inter" pitchFamily="34" charset="-120"/>
              </a:rPr>
              <a:t>41.5% → 45.7%</a:t>
            </a:r>
            <a:endParaRPr lang="en-US" sz="950" dirty="0"/>
          </a:p>
        </p:txBody>
      </p:sp>
      <p:sp>
        <p:nvSpPr>
          <p:cNvPr id="26" name="Text 23"/>
          <p:cNvSpPr txBox="1"/>
          <p:nvPr/>
        </p:nvSpPr>
        <p:spPr>
          <a:xfrm>
            <a:off x="594360" y="2249424"/>
            <a:ext cx="2331720" cy="365760"/>
          </a:xfrm>
          <a:prstGeom prst="rect">
            <a:avLst/>
          </a:prstGeom>
          <a:noFill/>
          <a:ln/>
        </p:spPr>
        <p:txBody>
          <a:bodyPr wrap="square" lIns="0" tIns="0" rIns="0" bIns="0" rtlCol="0" anchor="ctr"/>
          <a:lstStyle/>
          <a:p>
            <a:pPr marL="0" indent="0">
              <a:buNone/>
            </a:pPr>
            <a:r>
              <a:rPr lang="en-US" sz="1100" dirty="0">
                <a:solidFill>
                  <a:srgbClr val="0F172A"/>
                </a:solidFill>
                <a:latin typeface="Inter" pitchFamily="34" charset="0"/>
                <a:ea typeface="Inter" pitchFamily="34" charset="-122"/>
                <a:cs typeface="Inter" pitchFamily="34" charset="-120"/>
              </a:rPr>
              <a:t>Organic, direct, SEO</a:t>
            </a:r>
            <a:endParaRPr lang="en-US" sz="1100" dirty="0"/>
          </a:p>
        </p:txBody>
      </p:sp>
      <p:sp>
        <p:nvSpPr>
          <p:cNvPr id="27" name="Shape 24"/>
          <p:cNvSpPr/>
          <p:nvPr/>
        </p:nvSpPr>
        <p:spPr>
          <a:xfrm>
            <a:off x="4363517" y="2432304"/>
            <a:ext cx="67300" cy="0"/>
          </a:xfrm>
          <a:prstGeom prst="line">
            <a:avLst/>
          </a:prstGeom>
          <a:noFill/>
          <a:ln w="38100">
            <a:solidFill>
              <a:srgbClr val="94A3B8"/>
            </a:solidFill>
            <a:prstDash val="solid"/>
          </a:ln>
        </p:spPr>
        <p:txBody>
          <a:bodyPr/>
          <a:lstStyle/>
          <a:p>
            <a:endParaRPr lang="en-US"/>
          </a:p>
        </p:txBody>
      </p:sp>
      <p:sp>
        <p:nvSpPr>
          <p:cNvPr id="28" name="Shape 25"/>
          <p:cNvSpPr/>
          <p:nvPr/>
        </p:nvSpPr>
        <p:spPr>
          <a:xfrm>
            <a:off x="4272077" y="2340864"/>
            <a:ext cx="182880" cy="182880"/>
          </a:xfrm>
          <a:prstGeom prst="ellipse">
            <a:avLst/>
          </a:prstGeom>
          <a:solidFill>
            <a:srgbClr val="94A3B8"/>
          </a:solidFill>
          <a:ln w="6350">
            <a:solidFill>
              <a:srgbClr val="94A3B8"/>
            </a:solidFill>
            <a:prstDash val="solid"/>
          </a:ln>
        </p:spPr>
        <p:txBody>
          <a:bodyPr/>
          <a:lstStyle/>
          <a:p>
            <a:endParaRPr lang="en-US"/>
          </a:p>
        </p:txBody>
      </p:sp>
      <p:sp>
        <p:nvSpPr>
          <p:cNvPr id="29" name="Shape 26"/>
          <p:cNvSpPr/>
          <p:nvPr/>
        </p:nvSpPr>
        <p:spPr>
          <a:xfrm>
            <a:off x="4339377" y="2340864"/>
            <a:ext cx="182880" cy="182880"/>
          </a:xfrm>
          <a:prstGeom prst="ellipse">
            <a:avLst/>
          </a:prstGeom>
          <a:solidFill>
            <a:srgbClr val="0A1F44"/>
          </a:solidFill>
          <a:ln w="6350">
            <a:solidFill>
              <a:srgbClr val="0A1F44"/>
            </a:solidFill>
            <a:prstDash val="solid"/>
          </a:ln>
        </p:spPr>
        <p:txBody>
          <a:bodyPr/>
          <a:lstStyle/>
          <a:p>
            <a:endParaRPr lang="en-US"/>
          </a:p>
        </p:txBody>
      </p:sp>
      <p:sp>
        <p:nvSpPr>
          <p:cNvPr id="30" name="Text 27"/>
          <p:cNvSpPr txBox="1"/>
          <p:nvPr/>
        </p:nvSpPr>
        <p:spPr>
          <a:xfrm>
            <a:off x="4595409" y="2249424"/>
            <a:ext cx="1234440" cy="365760"/>
          </a:xfrm>
          <a:prstGeom prst="rect">
            <a:avLst/>
          </a:prstGeom>
          <a:noFill/>
          <a:ln/>
        </p:spPr>
        <p:txBody>
          <a:bodyPr wrap="square" lIns="0" tIns="0" rIns="0" bIns="0" rtlCol="0" anchor="ctr"/>
          <a:lstStyle/>
          <a:p>
            <a:pPr marL="0" indent="0">
              <a:buNone/>
            </a:pPr>
            <a:r>
              <a:rPr lang="en-US" sz="950" dirty="0">
                <a:solidFill>
                  <a:srgbClr val="64748B"/>
                </a:solidFill>
                <a:latin typeface="Inter" pitchFamily="34" charset="0"/>
                <a:ea typeface="Inter" pitchFamily="34" charset="-122"/>
                <a:cs typeface="Inter" pitchFamily="34" charset="-120"/>
              </a:rPr>
              <a:t>16.0% → 16.8%</a:t>
            </a:r>
            <a:endParaRPr lang="en-US" sz="950" dirty="0"/>
          </a:p>
        </p:txBody>
      </p:sp>
      <p:sp>
        <p:nvSpPr>
          <p:cNvPr id="31" name="Text 28"/>
          <p:cNvSpPr txBox="1"/>
          <p:nvPr/>
        </p:nvSpPr>
        <p:spPr>
          <a:xfrm>
            <a:off x="594360" y="2761488"/>
            <a:ext cx="2331720" cy="365760"/>
          </a:xfrm>
          <a:prstGeom prst="rect">
            <a:avLst/>
          </a:prstGeom>
          <a:noFill/>
          <a:ln/>
        </p:spPr>
        <p:txBody>
          <a:bodyPr wrap="square" lIns="0" tIns="0" rIns="0" bIns="0" rtlCol="0" anchor="ctr"/>
          <a:lstStyle/>
          <a:p>
            <a:pPr marL="0" indent="0">
              <a:buNone/>
            </a:pPr>
            <a:r>
              <a:rPr lang="en-US" sz="1100" dirty="0">
                <a:solidFill>
                  <a:srgbClr val="0F172A"/>
                </a:solidFill>
                <a:latin typeface="Inter" pitchFamily="34" charset="0"/>
                <a:ea typeface="Inter" pitchFamily="34" charset="-122"/>
                <a:cs typeface="Inter" pitchFamily="34" charset="-120"/>
              </a:rPr>
              <a:t>Paid social retargeting</a:t>
            </a:r>
            <a:endParaRPr lang="en-US" sz="1100" dirty="0"/>
          </a:p>
        </p:txBody>
      </p:sp>
      <p:sp>
        <p:nvSpPr>
          <p:cNvPr id="32" name="Shape 29"/>
          <p:cNvSpPr/>
          <p:nvPr/>
        </p:nvSpPr>
        <p:spPr>
          <a:xfrm>
            <a:off x="4102730" y="2944368"/>
            <a:ext cx="100950" cy="0"/>
          </a:xfrm>
          <a:prstGeom prst="line">
            <a:avLst/>
          </a:prstGeom>
          <a:noFill/>
          <a:ln w="38100">
            <a:solidFill>
              <a:srgbClr val="94A3B8"/>
            </a:solidFill>
            <a:prstDash val="solid"/>
          </a:ln>
        </p:spPr>
        <p:txBody>
          <a:bodyPr/>
          <a:lstStyle/>
          <a:p>
            <a:endParaRPr lang="en-US"/>
          </a:p>
        </p:txBody>
      </p:sp>
      <p:sp>
        <p:nvSpPr>
          <p:cNvPr id="33" name="Shape 30"/>
          <p:cNvSpPr/>
          <p:nvPr/>
        </p:nvSpPr>
        <p:spPr>
          <a:xfrm>
            <a:off x="4011290" y="2852928"/>
            <a:ext cx="182880" cy="182880"/>
          </a:xfrm>
          <a:prstGeom prst="ellipse">
            <a:avLst/>
          </a:prstGeom>
          <a:solidFill>
            <a:srgbClr val="94A3B8"/>
          </a:solidFill>
          <a:ln w="6350">
            <a:solidFill>
              <a:srgbClr val="94A3B8"/>
            </a:solidFill>
            <a:prstDash val="solid"/>
          </a:ln>
        </p:spPr>
        <p:txBody>
          <a:bodyPr/>
          <a:lstStyle/>
          <a:p>
            <a:endParaRPr lang="en-US"/>
          </a:p>
        </p:txBody>
      </p:sp>
      <p:sp>
        <p:nvSpPr>
          <p:cNvPr id="34" name="Shape 31"/>
          <p:cNvSpPr/>
          <p:nvPr/>
        </p:nvSpPr>
        <p:spPr>
          <a:xfrm>
            <a:off x="4112240" y="2852928"/>
            <a:ext cx="182880" cy="182880"/>
          </a:xfrm>
          <a:prstGeom prst="ellipse">
            <a:avLst/>
          </a:prstGeom>
          <a:solidFill>
            <a:srgbClr val="0A1F44"/>
          </a:solidFill>
          <a:ln w="6350">
            <a:solidFill>
              <a:srgbClr val="0A1F44"/>
            </a:solidFill>
            <a:prstDash val="solid"/>
          </a:ln>
        </p:spPr>
        <p:txBody>
          <a:bodyPr/>
          <a:lstStyle/>
          <a:p>
            <a:endParaRPr lang="en-US"/>
          </a:p>
        </p:txBody>
      </p:sp>
      <p:sp>
        <p:nvSpPr>
          <p:cNvPr id="35" name="Text 32"/>
          <p:cNvSpPr txBox="1"/>
          <p:nvPr/>
        </p:nvSpPr>
        <p:spPr>
          <a:xfrm>
            <a:off x="4368272" y="2761488"/>
            <a:ext cx="1234440" cy="365760"/>
          </a:xfrm>
          <a:prstGeom prst="rect">
            <a:avLst/>
          </a:prstGeom>
          <a:noFill/>
          <a:ln/>
        </p:spPr>
        <p:txBody>
          <a:bodyPr wrap="square" lIns="0" tIns="0" rIns="0" bIns="0" rtlCol="0" anchor="ctr"/>
          <a:lstStyle/>
          <a:p>
            <a:pPr marL="0" indent="0">
              <a:buNone/>
            </a:pPr>
            <a:r>
              <a:rPr lang="en-US" sz="950" dirty="0">
                <a:solidFill>
                  <a:srgbClr val="64748B"/>
                </a:solidFill>
                <a:latin typeface="Inter" pitchFamily="34" charset="0"/>
                <a:ea typeface="Inter" pitchFamily="34" charset="-122"/>
                <a:cs typeface="Inter" pitchFamily="34" charset="-120"/>
              </a:rPr>
              <a:t>12.9% → 14.1%</a:t>
            </a:r>
            <a:endParaRPr lang="en-US" sz="950" dirty="0"/>
          </a:p>
        </p:txBody>
      </p:sp>
      <p:sp>
        <p:nvSpPr>
          <p:cNvPr id="36" name="Text 33"/>
          <p:cNvSpPr txBox="1"/>
          <p:nvPr/>
        </p:nvSpPr>
        <p:spPr>
          <a:xfrm>
            <a:off x="594360" y="3273552"/>
            <a:ext cx="2331720" cy="365760"/>
          </a:xfrm>
          <a:prstGeom prst="rect">
            <a:avLst/>
          </a:prstGeom>
          <a:noFill/>
          <a:ln/>
        </p:spPr>
        <p:txBody>
          <a:bodyPr wrap="square" lIns="0" tIns="0" rIns="0" bIns="0" rtlCol="0" anchor="ctr"/>
          <a:lstStyle/>
          <a:p>
            <a:pPr marL="0" indent="0">
              <a:buNone/>
            </a:pPr>
            <a:r>
              <a:rPr lang="en-US" sz="1100" dirty="0">
                <a:solidFill>
                  <a:srgbClr val="0F172A"/>
                </a:solidFill>
                <a:latin typeface="Inter" pitchFamily="34" charset="0"/>
                <a:ea typeface="Inter" pitchFamily="34" charset="-122"/>
                <a:cs typeface="Inter" pitchFamily="34" charset="-120"/>
              </a:rPr>
              <a:t>Paid search</a:t>
            </a:r>
            <a:endParaRPr lang="en-US" sz="1100" dirty="0"/>
          </a:p>
        </p:txBody>
      </p:sp>
      <p:sp>
        <p:nvSpPr>
          <p:cNvPr id="37" name="Shape 34"/>
          <p:cNvSpPr/>
          <p:nvPr/>
        </p:nvSpPr>
        <p:spPr>
          <a:xfrm>
            <a:off x="4094317" y="3456432"/>
            <a:ext cx="75712" cy="0"/>
          </a:xfrm>
          <a:prstGeom prst="line">
            <a:avLst/>
          </a:prstGeom>
          <a:noFill/>
          <a:ln w="38100">
            <a:solidFill>
              <a:srgbClr val="94A3B8"/>
            </a:solidFill>
            <a:prstDash val="solid"/>
          </a:ln>
        </p:spPr>
        <p:txBody>
          <a:bodyPr/>
          <a:lstStyle/>
          <a:p>
            <a:endParaRPr lang="en-US"/>
          </a:p>
        </p:txBody>
      </p:sp>
      <p:sp>
        <p:nvSpPr>
          <p:cNvPr id="38" name="Shape 35"/>
          <p:cNvSpPr/>
          <p:nvPr/>
        </p:nvSpPr>
        <p:spPr>
          <a:xfrm>
            <a:off x="4002877" y="3364992"/>
            <a:ext cx="182880" cy="182880"/>
          </a:xfrm>
          <a:prstGeom prst="ellipse">
            <a:avLst/>
          </a:prstGeom>
          <a:solidFill>
            <a:srgbClr val="94A3B8"/>
          </a:solidFill>
          <a:ln w="6350">
            <a:solidFill>
              <a:srgbClr val="94A3B8"/>
            </a:solidFill>
            <a:prstDash val="solid"/>
          </a:ln>
        </p:spPr>
        <p:txBody>
          <a:bodyPr/>
          <a:lstStyle/>
          <a:p>
            <a:endParaRPr lang="en-US"/>
          </a:p>
        </p:txBody>
      </p:sp>
      <p:sp>
        <p:nvSpPr>
          <p:cNvPr id="39" name="Shape 36"/>
          <p:cNvSpPr/>
          <p:nvPr/>
        </p:nvSpPr>
        <p:spPr>
          <a:xfrm>
            <a:off x="4078590" y="3364992"/>
            <a:ext cx="182880" cy="182880"/>
          </a:xfrm>
          <a:prstGeom prst="ellipse">
            <a:avLst/>
          </a:prstGeom>
          <a:solidFill>
            <a:srgbClr val="0A1F44"/>
          </a:solidFill>
          <a:ln w="6350">
            <a:solidFill>
              <a:srgbClr val="0A1F44"/>
            </a:solidFill>
            <a:prstDash val="solid"/>
          </a:ln>
        </p:spPr>
        <p:txBody>
          <a:bodyPr/>
          <a:lstStyle/>
          <a:p>
            <a:endParaRPr lang="en-US"/>
          </a:p>
        </p:txBody>
      </p:sp>
      <p:sp>
        <p:nvSpPr>
          <p:cNvPr id="40" name="Text 37"/>
          <p:cNvSpPr txBox="1"/>
          <p:nvPr/>
        </p:nvSpPr>
        <p:spPr>
          <a:xfrm>
            <a:off x="4334622" y="3273552"/>
            <a:ext cx="1234440" cy="365760"/>
          </a:xfrm>
          <a:prstGeom prst="rect">
            <a:avLst/>
          </a:prstGeom>
          <a:noFill/>
          <a:ln/>
        </p:spPr>
        <p:txBody>
          <a:bodyPr wrap="square" lIns="0" tIns="0" rIns="0" bIns="0" rtlCol="0" anchor="ctr"/>
          <a:lstStyle/>
          <a:p>
            <a:pPr marL="0" indent="0">
              <a:buNone/>
            </a:pPr>
            <a:r>
              <a:rPr lang="en-US" sz="950" dirty="0">
                <a:solidFill>
                  <a:srgbClr val="64748B"/>
                </a:solidFill>
                <a:latin typeface="Inter" pitchFamily="34" charset="0"/>
                <a:ea typeface="Inter" pitchFamily="34" charset="-122"/>
                <a:cs typeface="Inter" pitchFamily="34" charset="-120"/>
              </a:rPr>
              <a:t>12.8% → 13.7%</a:t>
            </a:r>
            <a:endParaRPr lang="en-US" sz="950" dirty="0"/>
          </a:p>
        </p:txBody>
      </p:sp>
      <p:sp>
        <p:nvSpPr>
          <p:cNvPr id="41" name="Text 38"/>
          <p:cNvSpPr txBox="1"/>
          <p:nvPr/>
        </p:nvSpPr>
        <p:spPr>
          <a:xfrm>
            <a:off x="594360" y="3785616"/>
            <a:ext cx="2331720" cy="365760"/>
          </a:xfrm>
          <a:prstGeom prst="rect">
            <a:avLst/>
          </a:prstGeom>
          <a:noFill/>
          <a:ln/>
        </p:spPr>
        <p:txBody>
          <a:bodyPr wrap="square" lIns="0" tIns="0" rIns="0" bIns="0" rtlCol="0" anchor="ctr"/>
          <a:lstStyle/>
          <a:p>
            <a:pPr marL="0" indent="0">
              <a:buNone/>
            </a:pPr>
            <a:r>
              <a:rPr lang="en-US" sz="1100" dirty="0">
                <a:solidFill>
                  <a:srgbClr val="0F172A"/>
                </a:solidFill>
                <a:latin typeface="Inter" pitchFamily="34" charset="0"/>
                <a:ea typeface="Inter" pitchFamily="34" charset="-122"/>
                <a:cs typeface="Inter" pitchFamily="34" charset="-120"/>
              </a:rPr>
              <a:t>Influencer, affiliate</a:t>
            </a:r>
            <a:endParaRPr lang="en-US" sz="1100" dirty="0"/>
          </a:p>
        </p:txBody>
      </p:sp>
      <p:sp>
        <p:nvSpPr>
          <p:cNvPr id="42" name="Shape 39"/>
          <p:cNvSpPr/>
          <p:nvPr/>
        </p:nvSpPr>
        <p:spPr>
          <a:xfrm>
            <a:off x="4035430" y="3968496"/>
            <a:ext cx="100950" cy="0"/>
          </a:xfrm>
          <a:prstGeom prst="line">
            <a:avLst/>
          </a:prstGeom>
          <a:noFill/>
          <a:ln w="38100">
            <a:solidFill>
              <a:srgbClr val="94A3B8"/>
            </a:solidFill>
            <a:prstDash val="solid"/>
          </a:ln>
        </p:spPr>
        <p:txBody>
          <a:bodyPr/>
          <a:lstStyle/>
          <a:p>
            <a:endParaRPr lang="en-US"/>
          </a:p>
        </p:txBody>
      </p:sp>
      <p:sp>
        <p:nvSpPr>
          <p:cNvPr id="43" name="Shape 40"/>
          <p:cNvSpPr/>
          <p:nvPr/>
        </p:nvSpPr>
        <p:spPr>
          <a:xfrm>
            <a:off x="3943990" y="3877056"/>
            <a:ext cx="182880" cy="182880"/>
          </a:xfrm>
          <a:prstGeom prst="ellipse">
            <a:avLst/>
          </a:prstGeom>
          <a:solidFill>
            <a:srgbClr val="94A3B8"/>
          </a:solidFill>
          <a:ln w="6350">
            <a:solidFill>
              <a:srgbClr val="94A3B8"/>
            </a:solidFill>
            <a:prstDash val="solid"/>
          </a:ln>
        </p:spPr>
        <p:txBody>
          <a:bodyPr/>
          <a:lstStyle/>
          <a:p>
            <a:endParaRPr lang="en-US"/>
          </a:p>
        </p:txBody>
      </p:sp>
      <p:sp>
        <p:nvSpPr>
          <p:cNvPr id="44" name="Shape 41"/>
          <p:cNvSpPr/>
          <p:nvPr/>
        </p:nvSpPr>
        <p:spPr>
          <a:xfrm>
            <a:off x="4044940" y="3877056"/>
            <a:ext cx="182880" cy="182880"/>
          </a:xfrm>
          <a:prstGeom prst="ellipse">
            <a:avLst/>
          </a:prstGeom>
          <a:solidFill>
            <a:srgbClr val="0A1F44"/>
          </a:solidFill>
          <a:ln w="6350">
            <a:solidFill>
              <a:srgbClr val="0A1F44"/>
            </a:solidFill>
            <a:prstDash val="solid"/>
          </a:ln>
        </p:spPr>
        <p:txBody>
          <a:bodyPr/>
          <a:lstStyle/>
          <a:p>
            <a:endParaRPr lang="en-US"/>
          </a:p>
        </p:txBody>
      </p:sp>
      <p:sp>
        <p:nvSpPr>
          <p:cNvPr id="45" name="Text 42"/>
          <p:cNvSpPr txBox="1"/>
          <p:nvPr/>
        </p:nvSpPr>
        <p:spPr>
          <a:xfrm>
            <a:off x="4300972" y="3785616"/>
            <a:ext cx="1234440" cy="365760"/>
          </a:xfrm>
          <a:prstGeom prst="rect">
            <a:avLst/>
          </a:prstGeom>
          <a:noFill/>
          <a:ln/>
        </p:spPr>
        <p:txBody>
          <a:bodyPr wrap="square" lIns="0" tIns="0" rIns="0" bIns="0" rtlCol="0" anchor="ctr"/>
          <a:lstStyle/>
          <a:p>
            <a:pPr marL="0" indent="0">
              <a:buNone/>
            </a:pPr>
            <a:r>
              <a:rPr lang="en-US" sz="950" dirty="0">
                <a:solidFill>
                  <a:srgbClr val="64748B"/>
                </a:solidFill>
                <a:latin typeface="Inter" pitchFamily="34" charset="0"/>
                <a:ea typeface="Inter" pitchFamily="34" charset="-122"/>
                <a:cs typeface="Inter" pitchFamily="34" charset="-120"/>
              </a:rPr>
              <a:t>12.1% → 13.3%</a:t>
            </a:r>
            <a:endParaRPr lang="en-US" sz="950" dirty="0"/>
          </a:p>
        </p:txBody>
      </p:sp>
      <p:sp>
        <p:nvSpPr>
          <p:cNvPr id="46" name="Shape 43"/>
          <p:cNvSpPr/>
          <p:nvPr/>
        </p:nvSpPr>
        <p:spPr>
          <a:xfrm>
            <a:off x="502920" y="4261104"/>
            <a:ext cx="7726680" cy="438912"/>
          </a:xfrm>
          <a:prstGeom prst="rect">
            <a:avLst/>
          </a:prstGeom>
          <a:solidFill>
            <a:srgbClr val="EFF6FF"/>
          </a:solidFill>
          <a:ln w="6350">
            <a:solidFill>
              <a:srgbClr val="EFF6FF"/>
            </a:solidFill>
            <a:prstDash val="solid"/>
          </a:ln>
        </p:spPr>
        <p:txBody>
          <a:bodyPr/>
          <a:lstStyle/>
          <a:p>
            <a:endParaRPr lang="en-US"/>
          </a:p>
        </p:txBody>
      </p:sp>
      <p:sp>
        <p:nvSpPr>
          <p:cNvPr id="47" name="Text 44"/>
          <p:cNvSpPr txBox="1"/>
          <p:nvPr/>
        </p:nvSpPr>
        <p:spPr>
          <a:xfrm>
            <a:off x="594360" y="4297680"/>
            <a:ext cx="2331720" cy="365760"/>
          </a:xfrm>
          <a:prstGeom prst="rect">
            <a:avLst/>
          </a:prstGeom>
          <a:noFill/>
          <a:ln/>
        </p:spPr>
        <p:txBody>
          <a:bodyPr wrap="square" lIns="0" tIns="0" rIns="0" bIns="0" rtlCol="0" anchor="ctr"/>
          <a:lstStyle/>
          <a:p>
            <a:pPr marL="0" indent="0">
              <a:buNone/>
            </a:pPr>
            <a:r>
              <a:rPr lang="en-US" sz="1100" b="1" dirty="0">
                <a:solidFill>
                  <a:srgbClr val="1D4ED8"/>
                </a:solidFill>
                <a:latin typeface="Inter" pitchFamily="34" charset="0"/>
                <a:ea typeface="Inter" pitchFamily="34" charset="-122"/>
                <a:cs typeface="Inter" pitchFamily="34" charset="-120"/>
              </a:rPr>
              <a:t>Email</a:t>
            </a:r>
            <a:endParaRPr lang="en-US" sz="1100" dirty="0"/>
          </a:p>
        </p:txBody>
      </p:sp>
      <p:sp>
        <p:nvSpPr>
          <p:cNvPr id="48" name="Shape 45"/>
          <p:cNvSpPr/>
          <p:nvPr/>
        </p:nvSpPr>
        <p:spPr>
          <a:xfrm>
            <a:off x="3244657" y="4480560"/>
            <a:ext cx="504749" cy="0"/>
          </a:xfrm>
          <a:prstGeom prst="line">
            <a:avLst/>
          </a:prstGeom>
          <a:noFill/>
          <a:ln w="38100">
            <a:solidFill>
              <a:srgbClr val="1D4ED8"/>
            </a:solidFill>
            <a:prstDash val="solid"/>
          </a:ln>
        </p:spPr>
        <p:txBody>
          <a:bodyPr/>
          <a:lstStyle/>
          <a:p>
            <a:endParaRPr lang="en-US"/>
          </a:p>
        </p:txBody>
      </p:sp>
      <p:sp>
        <p:nvSpPr>
          <p:cNvPr id="49" name="Shape 46"/>
          <p:cNvSpPr/>
          <p:nvPr/>
        </p:nvSpPr>
        <p:spPr>
          <a:xfrm>
            <a:off x="3153217" y="4389120"/>
            <a:ext cx="182880" cy="182880"/>
          </a:xfrm>
          <a:prstGeom prst="ellipse">
            <a:avLst/>
          </a:prstGeom>
          <a:solidFill>
            <a:srgbClr val="94A3B8"/>
          </a:solidFill>
          <a:ln w="6350">
            <a:solidFill>
              <a:srgbClr val="94A3B8"/>
            </a:solidFill>
            <a:prstDash val="solid"/>
          </a:ln>
        </p:spPr>
        <p:txBody>
          <a:bodyPr/>
          <a:lstStyle/>
          <a:p>
            <a:endParaRPr lang="en-US"/>
          </a:p>
        </p:txBody>
      </p:sp>
      <p:sp>
        <p:nvSpPr>
          <p:cNvPr id="50" name="Shape 47"/>
          <p:cNvSpPr/>
          <p:nvPr/>
        </p:nvSpPr>
        <p:spPr>
          <a:xfrm>
            <a:off x="3657966" y="4389120"/>
            <a:ext cx="182880" cy="182880"/>
          </a:xfrm>
          <a:prstGeom prst="ellipse">
            <a:avLst/>
          </a:prstGeom>
          <a:solidFill>
            <a:srgbClr val="1D4ED8"/>
          </a:solidFill>
          <a:ln w="6350">
            <a:solidFill>
              <a:srgbClr val="1D4ED8"/>
            </a:solidFill>
            <a:prstDash val="solid"/>
          </a:ln>
        </p:spPr>
        <p:txBody>
          <a:bodyPr/>
          <a:lstStyle/>
          <a:p>
            <a:endParaRPr lang="en-US"/>
          </a:p>
        </p:txBody>
      </p:sp>
      <p:sp>
        <p:nvSpPr>
          <p:cNvPr id="51" name="Text 48"/>
          <p:cNvSpPr txBox="1"/>
          <p:nvPr/>
        </p:nvSpPr>
        <p:spPr>
          <a:xfrm>
            <a:off x="3913998" y="4297680"/>
            <a:ext cx="1234440" cy="365760"/>
          </a:xfrm>
          <a:prstGeom prst="rect">
            <a:avLst/>
          </a:prstGeom>
          <a:noFill/>
          <a:ln/>
        </p:spPr>
        <p:txBody>
          <a:bodyPr wrap="square" lIns="0" tIns="0" rIns="0" bIns="0" rtlCol="0" anchor="ctr"/>
          <a:lstStyle/>
          <a:p>
            <a:pPr marL="0" indent="0">
              <a:buNone/>
            </a:pPr>
            <a:r>
              <a:rPr lang="en-US" sz="950" b="1" dirty="0">
                <a:solidFill>
                  <a:srgbClr val="1D4ED8"/>
                </a:solidFill>
                <a:latin typeface="Inter" pitchFamily="34" charset="0"/>
                <a:ea typeface="Inter" pitchFamily="34" charset="-122"/>
                <a:cs typeface="Inter" pitchFamily="34" charset="-120"/>
              </a:rPr>
              <a:t>2.7% → 8.7%</a:t>
            </a:r>
            <a:endParaRPr lang="en-US" sz="950" dirty="0"/>
          </a:p>
        </p:txBody>
      </p:sp>
      <p:sp>
        <p:nvSpPr>
          <p:cNvPr id="52" name="Shape 49"/>
          <p:cNvSpPr/>
          <p:nvPr/>
        </p:nvSpPr>
        <p:spPr>
          <a:xfrm>
            <a:off x="502920" y="4773168"/>
            <a:ext cx="7726680" cy="438912"/>
          </a:xfrm>
          <a:prstGeom prst="rect">
            <a:avLst/>
          </a:prstGeom>
          <a:solidFill>
            <a:srgbClr val="EFF6FF"/>
          </a:solidFill>
          <a:ln w="6350">
            <a:solidFill>
              <a:srgbClr val="EFF6FF"/>
            </a:solidFill>
            <a:prstDash val="solid"/>
          </a:ln>
        </p:spPr>
        <p:txBody>
          <a:bodyPr/>
          <a:lstStyle/>
          <a:p>
            <a:endParaRPr lang="en-US"/>
          </a:p>
        </p:txBody>
      </p:sp>
      <p:sp>
        <p:nvSpPr>
          <p:cNvPr id="53" name="Text 50"/>
          <p:cNvSpPr txBox="1"/>
          <p:nvPr/>
        </p:nvSpPr>
        <p:spPr>
          <a:xfrm>
            <a:off x="594360" y="4809744"/>
            <a:ext cx="2331720" cy="365760"/>
          </a:xfrm>
          <a:prstGeom prst="rect">
            <a:avLst/>
          </a:prstGeom>
          <a:noFill/>
          <a:ln/>
        </p:spPr>
        <p:txBody>
          <a:bodyPr wrap="square" lIns="0" tIns="0" rIns="0" bIns="0" rtlCol="0" anchor="ctr"/>
          <a:lstStyle/>
          <a:p>
            <a:pPr marL="0" indent="0">
              <a:buNone/>
            </a:pPr>
            <a:r>
              <a:rPr lang="en-US" sz="1100" b="1" dirty="0">
                <a:solidFill>
                  <a:srgbClr val="1D4ED8"/>
                </a:solidFill>
                <a:latin typeface="Inter" pitchFamily="34" charset="0"/>
                <a:ea typeface="Inter" pitchFamily="34" charset="-122"/>
                <a:cs typeface="Inter" pitchFamily="34" charset="-120"/>
              </a:rPr>
              <a:t>SMS</a:t>
            </a:r>
            <a:endParaRPr lang="en-US" sz="1100" dirty="0"/>
          </a:p>
        </p:txBody>
      </p:sp>
      <p:sp>
        <p:nvSpPr>
          <p:cNvPr id="54" name="Shape 51"/>
          <p:cNvSpPr/>
          <p:nvPr/>
        </p:nvSpPr>
        <p:spPr>
          <a:xfrm>
            <a:off x="3076407" y="4992624"/>
            <a:ext cx="227137" cy="0"/>
          </a:xfrm>
          <a:prstGeom prst="line">
            <a:avLst/>
          </a:prstGeom>
          <a:noFill/>
          <a:ln w="38100">
            <a:solidFill>
              <a:srgbClr val="1D4ED8"/>
            </a:solidFill>
            <a:prstDash val="solid"/>
          </a:ln>
        </p:spPr>
        <p:txBody>
          <a:bodyPr/>
          <a:lstStyle/>
          <a:p>
            <a:endParaRPr lang="en-US"/>
          </a:p>
        </p:txBody>
      </p:sp>
      <p:sp>
        <p:nvSpPr>
          <p:cNvPr id="55" name="Shape 52"/>
          <p:cNvSpPr/>
          <p:nvPr/>
        </p:nvSpPr>
        <p:spPr>
          <a:xfrm>
            <a:off x="2984967" y="4901184"/>
            <a:ext cx="182880" cy="182880"/>
          </a:xfrm>
          <a:prstGeom prst="ellipse">
            <a:avLst/>
          </a:prstGeom>
          <a:solidFill>
            <a:srgbClr val="94A3B8"/>
          </a:solidFill>
          <a:ln w="6350">
            <a:solidFill>
              <a:srgbClr val="94A3B8"/>
            </a:solidFill>
            <a:prstDash val="solid"/>
          </a:ln>
        </p:spPr>
        <p:txBody>
          <a:bodyPr/>
          <a:lstStyle/>
          <a:p>
            <a:endParaRPr lang="en-US"/>
          </a:p>
        </p:txBody>
      </p:sp>
      <p:sp>
        <p:nvSpPr>
          <p:cNvPr id="56" name="Shape 53"/>
          <p:cNvSpPr/>
          <p:nvPr/>
        </p:nvSpPr>
        <p:spPr>
          <a:xfrm>
            <a:off x="3212104" y="4901184"/>
            <a:ext cx="182880" cy="182880"/>
          </a:xfrm>
          <a:prstGeom prst="ellipse">
            <a:avLst/>
          </a:prstGeom>
          <a:solidFill>
            <a:srgbClr val="1D4ED8"/>
          </a:solidFill>
          <a:ln w="6350">
            <a:solidFill>
              <a:srgbClr val="1D4ED8"/>
            </a:solidFill>
            <a:prstDash val="solid"/>
          </a:ln>
        </p:spPr>
        <p:txBody>
          <a:bodyPr/>
          <a:lstStyle/>
          <a:p>
            <a:endParaRPr lang="en-US"/>
          </a:p>
        </p:txBody>
      </p:sp>
      <p:sp>
        <p:nvSpPr>
          <p:cNvPr id="57" name="Text 54"/>
          <p:cNvSpPr txBox="1"/>
          <p:nvPr/>
        </p:nvSpPr>
        <p:spPr>
          <a:xfrm>
            <a:off x="3468136" y="4809744"/>
            <a:ext cx="1234440" cy="365760"/>
          </a:xfrm>
          <a:prstGeom prst="rect">
            <a:avLst/>
          </a:prstGeom>
          <a:noFill/>
          <a:ln/>
        </p:spPr>
        <p:txBody>
          <a:bodyPr wrap="square" lIns="0" tIns="0" rIns="0" bIns="0" rtlCol="0" anchor="ctr"/>
          <a:lstStyle/>
          <a:p>
            <a:pPr marL="0" indent="0">
              <a:buNone/>
            </a:pPr>
            <a:r>
              <a:rPr lang="en-US" sz="950" b="1" dirty="0">
                <a:solidFill>
                  <a:srgbClr val="1D4ED8"/>
                </a:solidFill>
                <a:latin typeface="Inter" pitchFamily="34" charset="0"/>
                <a:ea typeface="Inter" pitchFamily="34" charset="-122"/>
                <a:cs typeface="Inter" pitchFamily="34" charset="-120"/>
              </a:rPr>
              <a:t>0.7% → 3.4%</a:t>
            </a:r>
            <a:endParaRPr lang="en-US" sz="950" dirty="0"/>
          </a:p>
        </p:txBody>
      </p:sp>
      <p:sp>
        <p:nvSpPr>
          <p:cNvPr id="58" name="Shape 55"/>
          <p:cNvSpPr/>
          <p:nvPr/>
        </p:nvSpPr>
        <p:spPr>
          <a:xfrm>
            <a:off x="502920" y="5285232"/>
            <a:ext cx="7726680" cy="438912"/>
          </a:xfrm>
          <a:prstGeom prst="rect">
            <a:avLst/>
          </a:prstGeom>
          <a:solidFill>
            <a:srgbClr val="EFF6FF"/>
          </a:solidFill>
          <a:ln w="6350">
            <a:solidFill>
              <a:srgbClr val="EFF6FF"/>
            </a:solidFill>
            <a:prstDash val="solid"/>
          </a:ln>
        </p:spPr>
        <p:txBody>
          <a:bodyPr/>
          <a:lstStyle/>
          <a:p>
            <a:endParaRPr lang="en-US"/>
          </a:p>
        </p:txBody>
      </p:sp>
      <p:sp>
        <p:nvSpPr>
          <p:cNvPr id="59" name="Text 56"/>
          <p:cNvSpPr txBox="1"/>
          <p:nvPr/>
        </p:nvSpPr>
        <p:spPr>
          <a:xfrm>
            <a:off x="594360" y="5321808"/>
            <a:ext cx="2331720" cy="365760"/>
          </a:xfrm>
          <a:prstGeom prst="rect">
            <a:avLst/>
          </a:prstGeom>
          <a:noFill/>
          <a:ln/>
        </p:spPr>
        <p:txBody>
          <a:bodyPr wrap="square" lIns="0" tIns="0" rIns="0" bIns="0" rtlCol="0" anchor="ctr"/>
          <a:lstStyle/>
          <a:p>
            <a:pPr marL="0" indent="0">
              <a:buNone/>
            </a:pPr>
            <a:r>
              <a:rPr lang="en-US" sz="1100" b="1" dirty="0">
                <a:solidFill>
                  <a:srgbClr val="1D4ED8"/>
                </a:solidFill>
                <a:latin typeface="Inter" pitchFamily="34" charset="0"/>
                <a:ea typeface="Inter" pitchFamily="34" charset="-122"/>
                <a:cs typeface="Inter" pitchFamily="34" charset="-120"/>
              </a:rPr>
              <a:t>App push</a:t>
            </a:r>
            <a:endParaRPr lang="en-US" sz="1100" dirty="0"/>
          </a:p>
        </p:txBody>
      </p:sp>
      <p:sp>
        <p:nvSpPr>
          <p:cNvPr id="60" name="Shape 57"/>
          <p:cNvSpPr/>
          <p:nvPr/>
        </p:nvSpPr>
        <p:spPr>
          <a:xfrm>
            <a:off x="3135295" y="5504688"/>
            <a:ext cx="126187" cy="0"/>
          </a:xfrm>
          <a:prstGeom prst="line">
            <a:avLst/>
          </a:prstGeom>
          <a:noFill/>
          <a:ln w="38100">
            <a:solidFill>
              <a:srgbClr val="1D4ED8"/>
            </a:solidFill>
            <a:prstDash val="solid"/>
          </a:ln>
        </p:spPr>
        <p:txBody>
          <a:bodyPr/>
          <a:lstStyle/>
          <a:p>
            <a:endParaRPr lang="en-US"/>
          </a:p>
        </p:txBody>
      </p:sp>
      <p:sp>
        <p:nvSpPr>
          <p:cNvPr id="61" name="Shape 58"/>
          <p:cNvSpPr/>
          <p:nvPr/>
        </p:nvSpPr>
        <p:spPr>
          <a:xfrm>
            <a:off x="3043855" y="5413248"/>
            <a:ext cx="182880" cy="182880"/>
          </a:xfrm>
          <a:prstGeom prst="ellipse">
            <a:avLst/>
          </a:prstGeom>
          <a:solidFill>
            <a:srgbClr val="94A3B8"/>
          </a:solidFill>
          <a:ln w="6350">
            <a:solidFill>
              <a:srgbClr val="94A3B8"/>
            </a:solidFill>
            <a:prstDash val="solid"/>
          </a:ln>
        </p:spPr>
        <p:txBody>
          <a:bodyPr/>
          <a:lstStyle/>
          <a:p>
            <a:endParaRPr lang="en-US"/>
          </a:p>
        </p:txBody>
      </p:sp>
      <p:sp>
        <p:nvSpPr>
          <p:cNvPr id="62" name="Shape 59"/>
          <p:cNvSpPr/>
          <p:nvPr/>
        </p:nvSpPr>
        <p:spPr>
          <a:xfrm>
            <a:off x="3170042" y="5413248"/>
            <a:ext cx="182880" cy="182880"/>
          </a:xfrm>
          <a:prstGeom prst="ellipse">
            <a:avLst/>
          </a:prstGeom>
          <a:solidFill>
            <a:srgbClr val="1D4ED8"/>
          </a:solidFill>
          <a:ln w="6350">
            <a:solidFill>
              <a:srgbClr val="1D4ED8"/>
            </a:solidFill>
            <a:prstDash val="solid"/>
          </a:ln>
        </p:spPr>
        <p:txBody>
          <a:bodyPr/>
          <a:lstStyle/>
          <a:p>
            <a:endParaRPr lang="en-US"/>
          </a:p>
        </p:txBody>
      </p:sp>
      <p:sp>
        <p:nvSpPr>
          <p:cNvPr id="63" name="Text 60"/>
          <p:cNvSpPr txBox="1"/>
          <p:nvPr/>
        </p:nvSpPr>
        <p:spPr>
          <a:xfrm>
            <a:off x="3426074" y="5321808"/>
            <a:ext cx="1234440" cy="365760"/>
          </a:xfrm>
          <a:prstGeom prst="rect">
            <a:avLst/>
          </a:prstGeom>
          <a:noFill/>
          <a:ln/>
        </p:spPr>
        <p:txBody>
          <a:bodyPr wrap="square" lIns="0" tIns="0" rIns="0" bIns="0" rtlCol="0" anchor="ctr"/>
          <a:lstStyle/>
          <a:p>
            <a:pPr marL="0" indent="0">
              <a:buNone/>
            </a:pPr>
            <a:r>
              <a:rPr lang="en-US" sz="950" b="1" dirty="0">
                <a:solidFill>
                  <a:srgbClr val="1D4ED8"/>
                </a:solidFill>
                <a:latin typeface="Inter" pitchFamily="34" charset="0"/>
                <a:ea typeface="Inter" pitchFamily="34" charset="-122"/>
                <a:cs typeface="Inter" pitchFamily="34" charset="-120"/>
              </a:rPr>
              <a:t>1.4% → 2.9%</a:t>
            </a:r>
            <a:endParaRPr lang="en-US" sz="950" dirty="0"/>
          </a:p>
        </p:txBody>
      </p:sp>
      <p:sp>
        <p:nvSpPr>
          <p:cNvPr id="64" name="Shape 61"/>
          <p:cNvSpPr/>
          <p:nvPr/>
        </p:nvSpPr>
        <p:spPr>
          <a:xfrm>
            <a:off x="3017520" y="5943600"/>
            <a:ext cx="146304" cy="146304"/>
          </a:xfrm>
          <a:prstGeom prst="ellipse">
            <a:avLst/>
          </a:prstGeom>
          <a:solidFill>
            <a:srgbClr val="94A3B8"/>
          </a:solidFill>
          <a:ln w="6350">
            <a:solidFill>
              <a:srgbClr val="94A3B8"/>
            </a:solidFill>
            <a:prstDash val="solid"/>
          </a:ln>
        </p:spPr>
        <p:txBody>
          <a:bodyPr/>
          <a:lstStyle/>
          <a:p>
            <a:endParaRPr lang="en-US"/>
          </a:p>
        </p:txBody>
      </p:sp>
      <p:sp>
        <p:nvSpPr>
          <p:cNvPr id="65" name="Text 62"/>
          <p:cNvSpPr txBox="1"/>
          <p:nvPr/>
        </p:nvSpPr>
        <p:spPr>
          <a:xfrm>
            <a:off x="3218688" y="5897880"/>
            <a:ext cx="914400" cy="237744"/>
          </a:xfrm>
          <a:prstGeom prst="rect">
            <a:avLst/>
          </a:prstGeom>
          <a:noFill/>
          <a:ln/>
        </p:spPr>
        <p:txBody>
          <a:bodyPr wrap="square" lIns="0" tIns="0" rIns="0" bIns="0" rtlCol="0" anchor="ctr"/>
          <a:lstStyle/>
          <a:p>
            <a:pPr marL="0" indent="0">
              <a:buNone/>
            </a:pPr>
            <a:r>
              <a:rPr lang="en-US" sz="950" dirty="0">
                <a:solidFill>
                  <a:srgbClr val="334155"/>
                </a:solidFill>
                <a:latin typeface="Inter" pitchFamily="34" charset="0"/>
                <a:ea typeface="Inter" pitchFamily="34" charset="-122"/>
                <a:cs typeface="Inter" pitchFamily="34" charset="-120"/>
              </a:rPr>
              <a:t>Last touch</a:t>
            </a:r>
            <a:endParaRPr lang="en-US" sz="950" dirty="0"/>
          </a:p>
        </p:txBody>
      </p:sp>
      <p:sp>
        <p:nvSpPr>
          <p:cNvPr id="66" name="Shape 63"/>
          <p:cNvSpPr/>
          <p:nvPr/>
        </p:nvSpPr>
        <p:spPr>
          <a:xfrm>
            <a:off x="4206240" y="5943600"/>
            <a:ext cx="146304" cy="146304"/>
          </a:xfrm>
          <a:prstGeom prst="ellipse">
            <a:avLst/>
          </a:prstGeom>
          <a:solidFill>
            <a:srgbClr val="0A1F44"/>
          </a:solidFill>
          <a:ln w="6350">
            <a:solidFill>
              <a:srgbClr val="0A1F44"/>
            </a:solidFill>
            <a:prstDash val="solid"/>
          </a:ln>
        </p:spPr>
        <p:txBody>
          <a:bodyPr/>
          <a:lstStyle/>
          <a:p>
            <a:endParaRPr lang="en-US"/>
          </a:p>
        </p:txBody>
      </p:sp>
      <p:sp>
        <p:nvSpPr>
          <p:cNvPr id="67" name="Text 64"/>
          <p:cNvSpPr txBox="1"/>
          <p:nvPr/>
        </p:nvSpPr>
        <p:spPr>
          <a:xfrm>
            <a:off x="4407408" y="5897880"/>
            <a:ext cx="1097280" cy="237744"/>
          </a:xfrm>
          <a:prstGeom prst="rect">
            <a:avLst/>
          </a:prstGeom>
          <a:noFill/>
          <a:ln/>
        </p:spPr>
        <p:txBody>
          <a:bodyPr wrap="square" lIns="0" tIns="0" rIns="0" bIns="0" rtlCol="0" anchor="ctr"/>
          <a:lstStyle/>
          <a:p>
            <a:pPr marL="0" indent="0">
              <a:buNone/>
            </a:pPr>
            <a:r>
              <a:rPr lang="en-US" sz="950" dirty="0">
                <a:solidFill>
                  <a:srgbClr val="334155"/>
                </a:solidFill>
                <a:latin typeface="Inter" pitchFamily="34" charset="0"/>
                <a:ea typeface="Inter" pitchFamily="34" charset="-122"/>
                <a:cs typeface="Inter" pitchFamily="34" charset="-120"/>
              </a:rPr>
              <a:t>Participation</a:t>
            </a:r>
            <a:endParaRPr lang="en-US" sz="950" dirty="0"/>
          </a:p>
        </p:txBody>
      </p:sp>
      <p:sp>
        <p:nvSpPr>
          <p:cNvPr id="68" name="Shape 65"/>
          <p:cNvSpPr/>
          <p:nvPr/>
        </p:nvSpPr>
        <p:spPr>
          <a:xfrm>
            <a:off x="8595360" y="1737360"/>
            <a:ext cx="3090672" cy="1828800"/>
          </a:xfrm>
          <a:prstGeom prst="roundRect">
            <a:avLst>
              <a:gd name="adj" fmla="val 4000"/>
            </a:avLst>
          </a:prstGeom>
          <a:solidFill>
            <a:srgbClr val="0A1F44"/>
          </a:solidFill>
          <a:ln w="6350">
            <a:solidFill>
              <a:srgbClr val="0A1F44"/>
            </a:solidFill>
            <a:prstDash val="solid"/>
          </a:ln>
        </p:spPr>
        <p:txBody>
          <a:bodyPr/>
          <a:lstStyle/>
          <a:p>
            <a:endParaRPr lang="en-US"/>
          </a:p>
        </p:txBody>
      </p:sp>
      <p:sp>
        <p:nvSpPr>
          <p:cNvPr id="69" name="Text 66"/>
          <p:cNvSpPr txBox="1"/>
          <p:nvPr/>
        </p:nvSpPr>
        <p:spPr>
          <a:xfrm>
            <a:off x="8778240" y="1828800"/>
            <a:ext cx="2743200" cy="1645920"/>
          </a:xfrm>
          <a:prstGeom prst="rect">
            <a:avLst/>
          </a:prstGeom>
          <a:noFill/>
          <a:ln/>
        </p:spPr>
        <p:txBody>
          <a:bodyPr wrap="square" lIns="0" tIns="0" rIns="0" bIns="0" rtlCol="0" anchor="ctr"/>
          <a:lstStyle/>
          <a:p>
            <a:pPr marL="0" indent="0">
              <a:buNone/>
            </a:pPr>
            <a:r>
              <a:rPr lang="en-US" sz="2400" b="1" dirty="0">
                <a:solidFill>
                  <a:srgbClr val="FFFFFF"/>
                </a:solidFill>
                <a:latin typeface="Inter" pitchFamily="34" charset="0"/>
                <a:ea typeface="Inter" pitchFamily="34" charset="-122"/>
                <a:cs typeface="Inter" pitchFamily="34" charset="-120"/>
              </a:rPr>
              <a:t>4.8% → 15.0%</a:t>
            </a:r>
            <a:endParaRPr lang="en-US" sz="1200" dirty="0"/>
          </a:p>
          <a:p>
            <a:pPr marL="0" indent="0">
              <a:buNone/>
            </a:pPr>
            <a:r>
              <a:rPr lang="en-US" sz="1100" dirty="0">
                <a:solidFill>
                  <a:srgbClr val="C7D7F5"/>
                </a:solidFill>
                <a:latin typeface="Inter" pitchFamily="34" charset="0"/>
                <a:ea typeface="Inter" pitchFamily="34" charset="-122"/>
                <a:cs typeface="Inter" pitchFamily="34" charset="-120"/>
              </a:rPr>
              <a:t>Owned channels: last-touch credit vs up to 15.0% of revenue they appear in (not additive)</a:t>
            </a:r>
            <a:endParaRPr lang="en-US" sz="1200" dirty="0"/>
          </a:p>
        </p:txBody>
      </p:sp>
      <p:sp>
        <p:nvSpPr>
          <p:cNvPr id="70" name="Shape 67"/>
          <p:cNvSpPr/>
          <p:nvPr/>
        </p:nvSpPr>
        <p:spPr>
          <a:xfrm>
            <a:off x="8595360" y="3749040"/>
            <a:ext cx="3090672" cy="1828800"/>
          </a:xfrm>
          <a:prstGeom prst="roundRect">
            <a:avLst>
              <a:gd name="adj" fmla="val 4000"/>
            </a:avLst>
          </a:prstGeom>
          <a:solidFill>
            <a:srgbClr val="EFF6FF"/>
          </a:solidFill>
          <a:ln w="6350">
            <a:solidFill>
              <a:srgbClr val="EFF6FF"/>
            </a:solidFill>
            <a:prstDash val="solid"/>
          </a:ln>
        </p:spPr>
        <p:txBody>
          <a:bodyPr/>
          <a:lstStyle/>
          <a:p>
            <a:endParaRPr lang="en-US"/>
          </a:p>
        </p:txBody>
      </p:sp>
      <p:sp>
        <p:nvSpPr>
          <p:cNvPr id="71" name="Text 68"/>
          <p:cNvSpPr txBox="1"/>
          <p:nvPr/>
        </p:nvSpPr>
        <p:spPr>
          <a:xfrm>
            <a:off x="8778240" y="3840480"/>
            <a:ext cx="2743200" cy="1645920"/>
          </a:xfrm>
          <a:prstGeom prst="rect">
            <a:avLst/>
          </a:prstGeom>
          <a:noFill/>
          <a:ln/>
        </p:spPr>
        <p:txBody>
          <a:bodyPr wrap="square" lIns="0" tIns="0" rIns="0" bIns="0" rtlCol="0" anchor="ctr"/>
          <a:lstStyle/>
          <a:p>
            <a:pPr marL="0" indent="0">
              <a:buNone/>
            </a:pPr>
            <a:r>
              <a:rPr lang="en-US" sz="2000" b="1" dirty="0">
                <a:solidFill>
                  <a:srgbClr val="1D4ED8"/>
                </a:solidFill>
                <a:latin typeface="Inter" pitchFamily="34" charset="0"/>
                <a:ea typeface="Inter" pitchFamily="34" charset="-122"/>
                <a:cs typeface="Inter" pitchFamily="34" charset="-120"/>
              </a:rPr>
              <a:t>12.9 · 12.4 · 12.5%</a:t>
            </a:r>
            <a:endParaRPr lang="en-US" sz="1200" dirty="0"/>
          </a:p>
          <a:p>
            <a:pPr marL="0" indent="0">
              <a:buNone/>
            </a:pPr>
            <a:r>
              <a:rPr lang="en-US" sz="1100" dirty="0">
                <a:solidFill>
                  <a:srgbClr val="334155"/>
                </a:solidFill>
                <a:latin typeface="Inter" pitchFamily="34" charset="0"/>
                <a:ea typeface="Inter" pitchFamily="34" charset="-122"/>
                <a:cs typeface="Inter" pitchFamily="34" charset="-120"/>
              </a:rPr>
              <a:t>Retargeting under last touch, first touch and linear: attribution can't settle it, but holdouts can (Gordon et al. 2019)</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9326880" cy="841248"/>
          </a:xfrm>
          <a:prstGeom prst="rect">
            <a:avLst/>
          </a:prstGeom>
          <a:noFill/>
          <a:ln/>
        </p:spPr>
        <p:txBody>
          <a:bodyPr wrap="square" lIns="0" tIns="0" rIns="0" bIns="0" rtlCol="0" anchor="ctr"/>
          <a:lstStyle/>
          <a:p>
            <a:pPr marL="0" indent="0">
              <a:buNone/>
            </a:pPr>
            <a:r>
              <a:rPr lang="en-US" sz="2400" b="1" dirty="0">
                <a:solidFill>
                  <a:srgbClr val="0A1F44"/>
                </a:solidFill>
                <a:latin typeface="Inter" pitchFamily="34" charset="0"/>
                <a:ea typeface="Inter" pitchFamily="34" charset="-122"/>
                <a:cs typeface="Inter" pitchFamily="34" charset="-120"/>
              </a:rPr>
              <a:t>Material Journeys runs on order-linked shipping events</a:t>
            </a:r>
            <a:endParaRPr lang="en-US" sz="2400" dirty="0"/>
          </a:p>
        </p:txBody>
      </p:sp>
      <p:pic>
        <p:nvPicPr>
          <p:cNvPr id="3" name="Image 0" descr="/tmp/claude-0/-home-user-Quince/7efe80ae-a049-50c2-9886-98bf7ca3a04a/scratchpad/assets/quince.png"/>
          <p:cNvPicPr>
            <a:picLocks noChangeAspect="1"/>
          </p:cNvPicPr>
          <p:nvPr/>
        </p:nvPicPr>
        <p:blipFill>
          <a:blip r:embed="rId3"/>
          <a:stretch>
            <a:fillRect/>
          </a:stretch>
        </p:blipFill>
        <p:spPr>
          <a:xfrm>
            <a:off x="10236708" y="615544"/>
            <a:ext cx="777240" cy="231951"/>
          </a:xfrm>
          <a:prstGeom prst="rect">
            <a:avLst/>
          </a:prstGeom>
        </p:spPr>
      </p:pic>
      <p:sp>
        <p:nvSpPr>
          <p:cNvPr id="4" name="Shape 1"/>
          <p:cNvSpPr/>
          <p:nvPr/>
        </p:nvSpPr>
        <p:spPr>
          <a:xfrm>
            <a:off x="11155680" y="603504"/>
            <a:ext cx="530352" cy="256032"/>
          </a:xfrm>
          <a:prstGeom prst="roundRect">
            <a:avLst>
              <a:gd name="adj" fmla="val 50000"/>
            </a:avLst>
          </a:prstGeom>
          <a:solidFill>
            <a:srgbClr val="0A1F44"/>
          </a:solidFill>
          <a:ln w="6350">
            <a:solidFill>
              <a:srgbClr val="0A1F44"/>
            </a:solidFill>
            <a:prstDash val="solid"/>
          </a:ln>
        </p:spPr>
        <p:txBody>
          <a:bodyPr/>
          <a:lstStyle/>
          <a:p>
            <a:endParaRPr lang="en-US"/>
          </a:p>
        </p:txBody>
      </p:sp>
      <p:sp>
        <p:nvSpPr>
          <p:cNvPr id="5" name="Text 2"/>
          <p:cNvSpPr txBox="1"/>
          <p:nvPr/>
        </p:nvSpPr>
        <p:spPr>
          <a:xfrm>
            <a:off x="11155680" y="603504"/>
            <a:ext cx="53035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G27</a:t>
            </a:r>
            <a:endParaRPr lang="en-US" sz="950" dirty="0"/>
          </a:p>
        </p:txBody>
      </p:sp>
      <p:sp>
        <p:nvSpPr>
          <p:cNvPr id="6" name="Shape 3"/>
          <p:cNvSpPr/>
          <p:nvPr/>
        </p:nvSpPr>
        <p:spPr>
          <a:xfrm>
            <a:off x="502920" y="6400800"/>
            <a:ext cx="11183112" cy="0"/>
          </a:xfrm>
          <a:prstGeom prst="line">
            <a:avLst/>
          </a:prstGeom>
          <a:noFill/>
          <a:ln w="9525">
            <a:solidFill>
              <a:srgbClr val="E2E8F0"/>
            </a:solidFill>
            <a:prstDash val="solid"/>
          </a:ln>
        </p:spPr>
        <p:txBody>
          <a:bodyPr/>
          <a:lstStyle/>
          <a:p>
            <a:endParaRPr lang="en-US"/>
          </a:p>
        </p:txBody>
      </p:sp>
      <p:sp>
        <p:nvSpPr>
          <p:cNvPr id="7" name="Text 4"/>
          <p:cNvSpPr txBox="1"/>
          <p:nvPr/>
        </p:nvSpPr>
        <p:spPr>
          <a:xfrm>
            <a:off x="502920" y="6464808"/>
            <a:ext cx="9418320" cy="256032"/>
          </a:xfrm>
          <a:prstGeom prst="rect">
            <a:avLst/>
          </a:prstGeom>
          <a:noFill/>
          <a:ln/>
        </p:spPr>
        <p:txBody>
          <a:bodyPr wrap="square" lIns="0" tIns="0" rIns="0" bIns="0" rtlCol="0" anchor="ctr"/>
          <a:lstStyle/>
          <a:p>
            <a:pPr marL="0" indent="0">
              <a:buNone/>
            </a:pPr>
            <a:r>
              <a:rPr lang="en-US" sz="800" dirty="0">
                <a:solidFill>
                  <a:srgbClr val="64748B"/>
                </a:solidFill>
                <a:latin typeface="Inter" pitchFamily="34" charset="0"/>
                <a:ea typeface="Inter" pitchFamily="34" charset="-122"/>
                <a:cs typeface="Inter" pitchFamily="34" charset="-120"/>
              </a:rPr>
              <a:t>Source: case section 1 (M2C model), Exhibits L and N; our build plan. Month ranges are our plan, not case figures.</a:t>
            </a:r>
            <a:endParaRPr lang="en-US" sz="800" dirty="0"/>
          </a:p>
        </p:txBody>
      </p:sp>
      <p:sp>
        <p:nvSpPr>
          <p:cNvPr id="8" name="Text 5"/>
          <p:cNvSpPr txBox="1"/>
          <p:nvPr/>
        </p:nvSpPr>
        <p:spPr>
          <a:xfrm>
            <a:off x="9966960" y="6464808"/>
            <a:ext cx="1719072" cy="256032"/>
          </a:xfrm>
          <a:prstGeom prst="rect">
            <a:avLst/>
          </a:prstGeom>
          <a:noFill/>
          <a:ln/>
        </p:spPr>
        <p:txBody>
          <a:bodyPr wrap="square" lIns="0" tIns="0" rIns="0" bIns="0" rtlCol="0" anchor="ctr"/>
          <a:lstStyle/>
          <a:p>
            <a:pPr marL="0" indent="0" algn="r">
              <a:buNone/>
            </a:pPr>
            <a:r>
              <a:rPr lang="en-US" sz="800" dirty="0">
                <a:solidFill>
                  <a:srgbClr val="64748B"/>
                </a:solidFill>
                <a:latin typeface="Inter" pitchFamily="34" charset="0"/>
                <a:ea typeface="Inter" pitchFamily="34" charset="-122"/>
                <a:cs typeface="Inter" pitchFamily="34" charset="-120"/>
              </a:rPr>
              <a:t>Team G27  ·  24</a:t>
            </a:r>
            <a:endParaRPr lang="en-US" sz="800" dirty="0"/>
          </a:p>
        </p:txBody>
      </p:sp>
      <p:sp>
        <p:nvSpPr>
          <p:cNvPr id="9" name="Shape 6"/>
          <p:cNvSpPr/>
          <p:nvPr/>
        </p:nvSpPr>
        <p:spPr>
          <a:xfrm>
            <a:off x="502920" y="1261872"/>
            <a:ext cx="5852160" cy="640080"/>
          </a:xfrm>
          <a:prstGeom prst="roundRect">
            <a:avLst>
              <a:gd name="adj" fmla="val 11429"/>
            </a:avLst>
          </a:prstGeom>
          <a:solidFill>
            <a:srgbClr val="0A1F44"/>
          </a:solidFill>
          <a:ln w="6350">
            <a:solidFill>
              <a:srgbClr val="0A1F44"/>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667512" y="1417320"/>
            <a:ext cx="329184" cy="329184"/>
          </a:xfrm>
          <a:prstGeom prst="rect">
            <a:avLst/>
          </a:prstGeom>
        </p:spPr>
      </p:pic>
      <p:sp>
        <p:nvSpPr>
          <p:cNvPr id="11" name="Text 7"/>
          <p:cNvSpPr txBox="1"/>
          <p:nvPr/>
        </p:nvSpPr>
        <p:spPr>
          <a:xfrm>
            <a:off x="1143000" y="1261872"/>
            <a:ext cx="5074920" cy="640080"/>
          </a:xfrm>
          <a:prstGeom prst="rect">
            <a:avLst/>
          </a:prstGeom>
          <a:noFill/>
          <a:ln/>
        </p:spPr>
        <p:txBody>
          <a:bodyPr wrap="square" lIns="0" tIns="0" rIns="0" bIns="0" rtlCol="0" anchor="ctr"/>
          <a:lstStyle/>
          <a:p>
            <a:pPr marL="0" indent="0">
              <a:buNone/>
            </a:pPr>
            <a:r>
              <a:rPr lang="en-US" sz="1150" b="1" dirty="0">
                <a:solidFill>
                  <a:srgbClr val="FFFFFF"/>
                </a:solidFill>
                <a:latin typeface="Inter" pitchFamily="34" charset="0"/>
                <a:ea typeface="Inter" pitchFamily="34" charset="-122"/>
                <a:cs typeface="Inter" pitchFamily="34" charset="-120"/>
              </a:rPr>
              <a:t>Factories and 3PL partners</a:t>
            </a:r>
            <a:endParaRPr lang="en-US" sz="1200" dirty="0"/>
          </a:p>
          <a:p>
            <a:pPr marL="0" indent="0">
              <a:buNone/>
            </a:pPr>
            <a:r>
              <a:rPr lang="en-US" sz="900" dirty="0">
                <a:solidFill>
                  <a:srgbClr val="FFFFFF"/>
                </a:solidFill>
                <a:latin typeface="Inter" pitchFamily="34" charset="0"/>
                <a:ea typeface="Inter" pitchFamily="34" charset="-122"/>
                <a:cs typeface="Inter" pitchFamily="34" charset="-120"/>
              </a:rPr>
              <a:t>Shipment created · customs cleared · out for delivery · delivered</a:t>
            </a:r>
            <a:endParaRPr lang="en-US" sz="1200" dirty="0"/>
          </a:p>
        </p:txBody>
      </p:sp>
      <p:sp>
        <p:nvSpPr>
          <p:cNvPr id="12" name="Shape 8"/>
          <p:cNvSpPr/>
          <p:nvPr/>
        </p:nvSpPr>
        <p:spPr>
          <a:xfrm>
            <a:off x="3310128" y="1920240"/>
            <a:ext cx="237744" cy="182880"/>
          </a:xfrm>
          <a:prstGeom prst="downArrow">
            <a:avLst/>
          </a:prstGeom>
          <a:solidFill>
            <a:srgbClr val="94A3B8"/>
          </a:solidFill>
          <a:ln w="6350">
            <a:solidFill>
              <a:srgbClr val="94A3B8"/>
            </a:solidFill>
            <a:prstDash val="solid"/>
          </a:ln>
        </p:spPr>
        <p:txBody>
          <a:bodyPr/>
          <a:lstStyle/>
          <a:p>
            <a:endParaRPr lang="en-US"/>
          </a:p>
        </p:txBody>
      </p:sp>
      <p:sp>
        <p:nvSpPr>
          <p:cNvPr id="13" name="Shape 9"/>
          <p:cNvSpPr/>
          <p:nvPr/>
        </p:nvSpPr>
        <p:spPr>
          <a:xfrm>
            <a:off x="502920" y="2121408"/>
            <a:ext cx="5852160" cy="640080"/>
          </a:xfrm>
          <a:prstGeom prst="roundRect">
            <a:avLst>
              <a:gd name="adj" fmla="val 11429"/>
            </a:avLst>
          </a:prstGeom>
          <a:solidFill>
            <a:srgbClr val="1D4ED8"/>
          </a:solidFill>
          <a:ln w="6350">
            <a:solidFill>
              <a:srgbClr val="1D4ED8"/>
            </a:solidFill>
            <a:prstDash val="solid"/>
          </a:ln>
        </p:spPr>
        <p:txBody>
          <a:bodyPr/>
          <a:lstStyle/>
          <a:p>
            <a:endParaRPr lang="en-US"/>
          </a:p>
        </p:txBody>
      </p:sp>
      <p:pic>
        <p:nvPicPr>
          <p:cNvPr id="14" name="Image 2" descr="preencoded.png"/>
          <p:cNvPicPr>
            <a:picLocks noChangeAspect="1"/>
          </p:cNvPicPr>
          <p:nvPr/>
        </p:nvPicPr>
        <p:blipFill>
          <a:blip r:embed="rId5"/>
          <a:stretch>
            <a:fillRect/>
          </a:stretch>
        </p:blipFill>
        <p:spPr>
          <a:xfrm>
            <a:off x="667512" y="2276856"/>
            <a:ext cx="329184" cy="329184"/>
          </a:xfrm>
          <a:prstGeom prst="rect">
            <a:avLst/>
          </a:prstGeom>
        </p:spPr>
      </p:pic>
      <p:sp>
        <p:nvSpPr>
          <p:cNvPr id="15" name="Text 10"/>
          <p:cNvSpPr txBox="1"/>
          <p:nvPr/>
        </p:nvSpPr>
        <p:spPr>
          <a:xfrm>
            <a:off x="1143000" y="2121408"/>
            <a:ext cx="5074920" cy="640080"/>
          </a:xfrm>
          <a:prstGeom prst="rect">
            <a:avLst/>
          </a:prstGeom>
          <a:noFill/>
          <a:ln/>
        </p:spPr>
        <p:txBody>
          <a:bodyPr wrap="square" lIns="0" tIns="0" rIns="0" bIns="0" rtlCol="0" anchor="ctr"/>
          <a:lstStyle/>
          <a:p>
            <a:pPr marL="0" indent="0">
              <a:buNone/>
            </a:pPr>
            <a:r>
              <a:rPr lang="en-US" sz="1150" b="1" dirty="0">
                <a:solidFill>
                  <a:srgbClr val="FFFFFF"/>
                </a:solidFill>
                <a:latin typeface="Inter" pitchFamily="34" charset="0"/>
                <a:ea typeface="Inter" pitchFamily="34" charset="-122"/>
                <a:cs typeface="Inter" pitchFamily="34" charset="-120"/>
              </a:rPr>
              <a:t>Order and fulfillment events</a:t>
            </a:r>
            <a:endParaRPr lang="en-US" sz="1200" dirty="0"/>
          </a:p>
          <a:p>
            <a:pPr marL="0" indent="0">
              <a:buNone/>
            </a:pPr>
            <a:r>
              <a:rPr lang="en-US" sz="900" dirty="0">
                <a:solidFill>
                  <a:srgbClr val="FFFFFF"/>
                </a:solidFill>
                <a:latin typeface="Inter" pitchFamily="34" charset="0"/>
                <a:ea typeface="Inter" pitchFamily="34" charset="-122"/>
                <a:cs typeface="Inter" pitchFamily="34" charset="-120"/>
              </a:rPr>
              <a:t>One event stream per order, keyed to the order ID</a:t>
            </a:r>
            <a:endParaRPr lang="en-US" sz="1200" dirty="0"/>
          </a:p>
        </p:txBody>
      </p:sp>
      <p:sp>
        <p:nvSpPr>
          <p:cNvPr id="16" name="Shape 11"/>
          <p:cNvSpPr/>
          <p:nvPr/>
        </p:nvSpPr>
        <p:spPr>
          <a:xfrm>
            <a:off x="3310128" y="2779776"/>
            <a:ext cx="237744" cy="182880"/>
          </a:xfrm>
          <a:prstGeom prst="downArrow">
            <a:avLst/>
          </a:prstGeom>
          <a:solidFill>
            <a:srgbClr val="94A3B8"/>
          </a:solidFill>
          <a:ln w="6350">
            <a:solidFill>
              <a:srgbClr val="94A3B8"/>
            </a:solidFill>
            <a:prstDash val="solid"/>
          </a:ln>
        </p:spPr>
        <p:txBody>
          <a:bodyPr/>
          <a:lstStyle/>
          <a:p>
            <a:endParaRPr lang="en-US"/>
          </a:p>
        </p:txBody>
      </p:sp>
      <p:sp>
        <p:nvSpPr>
          <p:cNvPr id="17" name="Shape 12"/>
          <p:cNvSpPr/>
          <p:nvPr/>
        </p:nvSpPr>
        <p:spPr>
          <a:xfrm>
            <a:off x="502920" y="2980944"/>
            <a:ext cx="5852160" cy="640080"/>
          </a:xfrm>
          <a:prstGeom prst="roundRect">
            <a:avLst>
              <a:gd name="adj" fmla="val 11429"/>
            </a:avLst>
          </a:prstGeom>
          <a:solidFill>
            <a:srgbClr val="2563EB"/>
          </a:solidFill>
          <a:ln w="6350">
            <a:solidFill>
              <a:srgbClr val="2563EB"/>
            </a:solidFill>
            <a:prstDash val="solid"/>
          </a:ln>
        </p:spPr>
        <p:txBody>
          <a:bodyPr/>
          <a:lstStyle/>
          <a:p>
            <a:endParaRPr lang="en-US"/>
          </a:p>
        </p:txBody>
      </p:sp>
      <p:pic>
        <p:nvPicPr>
          <p:cNvPr id="18" name="Image 3" descr="preencoded.png"/>
          <p:cNvPicPr>
            <a:picLocks noChangeAspect="1"/>
          </p:cNvPicPr>
          <p:nvPr/>
        </p:nvPicPr>
        <p:blipFill>
          <a:blip r:embed="rId6"/>
          <a:stretch>
            <a:fillRect/>
          </a:stretch>
        </p:blipFill>
        <p:spPr>
          <a:xfrm>
            <a:off x="667512" y="3136392"/>
            <a:ext cx="329184" cy="329184"/>
          </a:xfrm>
          <a:prstGeom prst="rect">
            <a:avLst/>
          </a:prstGeom>
        </p:spPr>
      </p:pic>
      <p:sp>
        <p:nvSpPr>
          <p:cNvPr id="19" name="Text 13"/>
          <p:cNvSpPr txBox="1"/>
          <p:nvPr/>
        </p:nvSpPr>
        <p:spPr>
          <a:xfrm>
            <a:off x="1143000" y="2980944"/>
            <a:ext cx="5074920" cy="640080"/>
          </a:xfrm>
          <a:prstGeom prst="rect">
            <a:avLst/>
          </a:prstGeom>
          <a:noFill/>
          <a:ln/>
        </p:spPr>
        <p:txBody>
          <a:bodyPr wrap="square" lIns="0" tIns="0" rIns="0" bIns="0" rtlCol="0" anchor="ctr"/>
          <a:lstStyle/>
          <a:p>
            <a:pPr marL="0" indent="0">
              <a:buNone/>
            </a:pPr>
            <a:r>
              <a:rPr lang="en-US" sz="1150" b="1" dirty="0">
                <a:solidFill>
                  <a:srgbClr val="FFFFFF"/>
                </a:solidFill>
                <a:latin typeface="Inter" pitchFamily="34" charset="0"/>
                <a:ea typeface="Inter" pitchFamily="34" charset="-122"/>
                <a:cs typeface="Inter" pitchFamily="34" charset="-120"/>
              </a:rPr>
              <a:t>Adobe CJA: stitched person ID</a:t>
            </a:r>
            <a:endParaRPr lang="en-US" sz="1200" dirty="0"/>
          </a:p>
          <a:p>
            <a:pPr marL="0" indent="0">
              <a:buNone/>
            </a:pPr>
            <a:r>
              <a:rPr lang="en-US" sz="900" dirty="0">
                <a:solidFill>
                  <a:srgbClr val="FFFFFF"/>
                </a:solidFill>
                <a:latin typeface="Inter" pitchFamily="34" charset="0"/>
                <a:ea typeface="Inter" pitchFamily="34" charset="-122"/>
                <a:cs typeface="Inter" pitchFamily="34" charset="-120"/>
              </a:rPr>
              <a:t>Order ID → person; audiences; holdout assignment</a:t>
            </a:r>
            <a:endParaRPr lang="en-US" sz="1200" dirty="0"/>
          </a:p>
        </p:txBody>
      </p:sp>
      <p:sp>
        <p:nvSpPr>
          <p:cNvPr id="20" name="Shape 14"/>
          <p:cNvSpPr/>
          <p:nvPr/>
        </p:nvSpPr>
        <p:spPr>
          <a:xfrm>
            <a:off x="3310128" y="3639312"/>
            <a:ext cx="237744" cy="182880"/>
          </a:xfrm>
          <a:prstGeom prst="downArrow">
            <a:avLst/>
          </a:prstGeom>
          <a:solidFill>
            <a:srgbClr val="94A3B8"/>
          </a:solidFill>
          <a:ln w="6350">
            <a:solidFill>
              <a:srgbClr val="94A3B8"/>
            </a:solidFill>
            <a:prstDash val="solid"/>
          </a:ln>
        </p:spPr>
        <p:txBody>
          <a:bodyPr/>
          <a:lstStyle/>
          <a:p>
            <a:endParaRPr lang="en-US"/>
          </a:p>
        </p:txBody>
      </p:sp>
      <p:sp>
        <p:nvSpPr>
          <p:cNvPr id="21" name="Shape 15"/>
          <p:cNvSpPr/>
          <p:nvPr/>
        </p:nvSpPr>
        <p:spPr>
          <a:xfrm>
            <a:off x="502920" y="3840480"/>
            <a:ext cx="5852160" cy="640080"/>
          </a:xfrm>
          <a:prstGeom prst="roundRect">
            <a:avLst>
              <a:gd name="adj" fmla="val 11429"/>
            </a:avLst>
          </a:prstGeom>
          <a:solidFill>
            <a:srgbClr val="3B82F6"/>
          </a:solidFill>
          <a:ln w="6350">
            <a:solidFill>
              <a:srgbClr val="3B82F6"/>
            </a:solidFill>
            <a:prstDash val="solid"/>
          </a:ln>
        </p:spPr>
        <p:txBody>
          <a:bodyPr/>
          <a:lstStyle/>
          <a:p>
            <a:endParaRPr lang="en-US"/>
          </a:p>
        </p:txBody>
      </p:sp>
      <p:pic>
        <p:nvPicPr>
          <p:cNvPr id="22" name="Image 4" descr="preencoded.png"/>
          <p:cNvPicPr>
            <a:picLocks noChangeAspect="1"/>
          </p:cNvPicPr>
          <p:nvPr/>
        </p:nvPicPr>
        <p:blipFill>
          <a:blip r:embed="rId7"/>
          <a:stretch>
            <a:fillRect/>
          </a:stretch>
        </p:blipFill>
        <p:spPr>
          <a:xfrm>
            <a:off x="667512" y="3995928"/>
            <a:ext cx="329184" cy="329184"/>
          </a:xfrm>
          <a:prstGeom prst="rect">
            <a:avLst/>
          </a:prstGeom>
        </p:spPr>
      </p:pic>
      <p:sp>
        <p:nvSpPr>
          <p:cNvPr id="23" name="Text 16"/>
          <p:cNvSpPr txBox="1"/>
          <p:nvPr/>
        </p:nvSpPr>
        <p:spPr>
          <a:xfrm>
            <a:off x="1143000" y="3840480"/>
            <a:ext cx="5074920" cy="640080"/>
          </a:xfrm>
          <a:prstGeom prst="rect">
            <a:avLst/>
          </a:prstGeom>
          <a:noFill/>
          <a:ln/>
        </p:spPr>
        <p:txBody>
          <a:bodyPr wrap="square" lIns="0" tIns="0" rIns="0" bIns="0" rtlCol="0" anchor="ctr"/>
          <a:lstStyle/>
          <a:p>
            <a:pPr marL="0" indent="0">
              <a:buNone/>
            </a:pPr>
            <a:r>
              <a:rPr lang="en-US" sz="1150" b="1" dirty="0">
                <a:solidFill>
                  <a:srgbClr val="FFFFFF"/>
                </a:solidFill>
                <a:latin typeface="Inter" pitchFamily="34" charset="0"/>
                <a:ea typeface="Inter" pitchFamily="34" charset="-122"/>
                <a:cs typeface="Inter" pitchFamily="34" charset="-120"/>
              </a:rPr>
              <a:t>Activation and journey triggers</a:t>
            </a:r>
            <a:endParaRPr lang="en-US" sz="1200" dirty="0"/>
          </a:p>
          <a:p>
            <a:pPr marL="0" indent="0">
              <a:buNone/>
            </a:pPr>
            <a:r>
              <a:rPr lang="en-US" sz="900" dirty="0">
                <a:solidFill>
                  <a:srgbClr val="FFFFFF"/>
                </a:solidFill>
                <a:latin typeface="Inter" pitchFamily="34" charset="0"/>
                <a:ea typeface="Inter" pitchFamily="34" charset="-122"/>
                <a:cs typeface="Inter" pitchFamily="34" charset="-120"/>
              </a:rPr>
              <a:t>Pre-arrival material and care guide · delivery-day Passport and app ask · day-21 next category</a:t>
            </a:r>
            <a:endParaRPr lang="en-US" sz="1200" dirty="0"/>
          </a:p>
        </p:txBody>
      </p:sp>
      <p:sp>
        <p:nvSpPr>
          <p:cNvPr id="24" name="Shape 17"/>
          <p:cNvSpPr/>
          <p:nvPr/>
        </p:nvSpPr>
        <p:spPr>
          <a:xfrm>
            <a:off x="3310128" y="4498848"/>
            <a:ext cx="237744" cy="182880"/>
          </a:xfrm>
          <a:prstGeom prst="downArrow">
            <a:avLst/>
          </a:prstGeom>
          <a:solidFill>
            <a:srgbClr val="94A3B8"/>
          </a:solidFill>
          <a:ln w="6350">
            <a:solidFill>
              <a:srgbClr val="94A3B8"/>
            </a:solidFill>
            <a:prstDash val="solid"/>
          </a:ln>
        </p:spPr>
        <p:txBody>
          <a:bodyPr/>
          <a:lstStyle/>
          <a:p>
            <a:endParaRPr lang="en-US"/>
          </a:p>
        </p:txBody>
      </p:sp>
      <p:sp>
        <p:nvSpPr>
          <p:cNvPr id="25" name="Shape 18"/>
          <p:cNvSpPr/>
          <p:nvPr/>
        </p:nvSpPr>
        <p:spPr>
          <a:xfrm>
            <a:off x="502920" y="4700016"/>
            <a:ext cx="5852160" cy="640080"/>
          </a:xfrm>
          <a:prstGeom prst="roundRect">
            <a:avLst>
              <a:gd name="adj" fmla="val 11429"/>
            </a:avLst>
          </a:prstGeom>
          <a:solidFill>
            <a:srgbClr val="60A5FA"/>
          </a:solidFill>
          <a:ln w="6350">
            <a:solidFill>
              <a:srgbClr val="60A5FA"/>
            </a:solidFill>
            <a:prstDash val="solid"/>
          </a:ln>
        </p:spPr>
        <p:txBody>
          <a:bodyPr/>
          <a:lstStyle/>
          <a:p>
            <a:endParaRPr lang="en-US"/>
          </a:p>
        </p:txBody>
      </p:sp>
      <p:pic>
        <p:nvPicPr>
          <p:cNvPr id="26" name="Image 5" descr="preencoded.png"/>
          <p:cNvPicPr>
            <a:picLocks noChangeAspect="1"/>
          </p:cNvPicPr>
          <p:nvPr/>
        </p:nvPicPr>
        <p:blipFill>
          <a:blip r:embed="rId8"/>
          <a:stretch>
            <a:fillRect/>
          </a:stretch>
        </p:blipFill>
        <p:spPr>
          <a:xfrm>
            <a:off x="667512" y="4855464"/>
            <a:ext cx="329184" cy="329184"/>
          </a:xfrm>
          <a:prstGeom prst="rect">
            <a:avLst/>
          </a:prstGeom>
        </p:spPr>
      </p:pic>
      <p:sp>
        <p:nvSpPr>
          <p:cNvPr id="27" name="Text 19"/>
          <p:cNvSpPr txBox="1"/>
          <p:nvPr/>
        </p:nvSpPr>
        <p:spPr>
          <a:xfrm>
            <a:off x="1143000" y="4700016"/>
            <a:ext cx="5074920" cy="640080"/>
          </a:xfrm>
          <a:prstGeom prst="rect">
            <a:avLst/>
          </a:prstGeom>
          <a:noFill/>
          <a:ln/>
        </p:spPr>
        <p:txBody>
          <a:bodyPr wrap="square" lIns="0" tIns="0" rIns="0" bIns="0" rtlCol="0" anchor="ctr"/>
          <a:lstStyle/>
          <a:p>
            <a:pPr marL="0" indent="0">
              <a:buNone/>
            </a:pPr>
            <a:r>
              <a:rPr lang="en-US" sz="1150" b="1" dirty="0">
                <a:solidFill>
                  <a:srgbClr val="FFFFFF"/>
                </a:solidFill>
                <a:latin typeface="Inter" pitchFamily="34" charset="0"/>
                <a:ea typeface="Inter" pitchFamily="34" charset="-122"/>
                <a:cs typeface="Inter" pitchFamily="34" charset="-120"/>
              </a:rPr>
              <a:t>Owned channels</a:t>
            </a:r>
            <a:endParaRPr lang="en-US" sz="1200" dirty="0"/>
          </a:p>
          <a:p>
            <a:pPr marL="0" indent="0">
              <a:buNone/>
            </a:pPr>
            <a:r>
              <a:rPr lang="en-US" sz="900" dirty="0">
                <a:solidFill>
                  <a:srgbClr val="FFFFFF"/>
                </a:solidFill>
                <a:latin typeface="Inter" pitchFamily="34" charset="0"/>
                <a:ea typeface="Inter" pitchFamily="34" charset="-122"/>
                <a:cs typeface="Inter" pitchFamily="34" charset="-120"/>
              </a:rPr>
              <a:t>SMS · email · app push, under one frequency cap</a:t>
            </a:r>
            <a:endParaRPr lang="en-US" sz="1200" dirty="0"/>
          </a:p>
        </p:txBody>
      </p:sp>
      <p:sp>
        <p:nvSpPr>
          <p:cNvPr id="28" name="Text 20"/>
          <p:cNvSpPr txBox="1"/>
          <p:nvPr/>
        </p:nvSpPr>
        <p:spPr>
          <a:xfrm>
            <a:off x="6629400" y="1243584"/>
            <a:ext cx="5056632" cy="274320"/>
          </a:xfrm>
          <a:prstGeom prst="rect">
            <a:avLst/>
          </a:prstGeom>
          <a:noFill/>
          <a:ln/>
        </p:spPr>
        <p:txBody>
          <a:bodyPr wrap="square" lIns="0" tIns="0" rIns="0" bIns="0" rtlCol="0" anchor="t"/>
          <a:lstStyle/>
          <a:p>
            <a:pPr marL="0" indent="0">
              <a:buNone/>
            </a:pPr>
            <a:r>
              <a:rPr lang="en-US" sz="1250" b="1" dirty="0">
                <a:solidFill>
                  <a:srgbClr val="0A1F44"/>
                </a:solidFill>
                <a:latin typeface="Inter" pitchFamily="34" charset="0"/>
                <a:ea typeface="Inter" pitchFamily="34" charset="-122"/>
                <a:cs typeface="Inter" pitchFamily="34" charset="-120"/>
              </a:rPr>
              <a:t>v1 uses delivery emails; we build the full version in months 3–6</a:t>
            </a:r>
            <a:endParaRPr lang="en-US" sz="1250" dirty="0"/>
          </a:p>
        </p:txBody>
      </p:sp>
      <p:sp>
        <p:nvSpPr>
          <p:cNvPr id="29" name="Shape 21"/>
          <p:cNvSpPr/>
          <p:nvPr/>
        </p:nvSpPr>
        <p:spPr>
          <a:xfrm>
            <a:off x="6629400" y="1627632"/>
            <a:ext cx="5056632" cy="1252728"/>
          </a:xfrm>
          <a:prstGeom prst="roundRect">
            <a:avLst>
              <a:gd name="adj" fmla="val 4380"/>
            </a:avLst>
          </a:prstGeom>
          <a:solidFill>
            <a:srgbClr val="F8FAFC"/>
          </a:solidFill>
          <a:ln w="9525">
            <a:solidFill>
              <a:srgbClr val="E2E8F0"/>
            </a:solidFill>
            <a:prstDash val="solid"/>
          </a:ln>
        </p:spPr>
        <p:txBody>
          <a:bodyPr/>
          <a:lstStyle/>
          <a:p>
            <a:endParaRPr lang="en-US"/>
          </a:p>
        </p:txBody>
      </p:sp>
      <p:sp>
        <p:nvSpPr>
          <p:cNvPr id="30" name="Shape 22"/>
          <p:cNvSpPr/>
          <p:nvPr/>
        </p:nvSpPr>
        <p:spPr>
          <a:xfrm>
            <a:off x="6757416" y="1737360"/>
            <a:ext cx="329184" cy="329184"/>
          </a:xfrm>
          <a:prstGeom prst="ellipse">
            <a:avLst/>
          </a:prstGeom>
          <a:solidFill>
            <a:srgbClr val="1D4ED8"/>
          </a:solidFill>
          <a:ln w="6350">
            <a:solidFill>
              <a:srgbClr val="1D4ED8"/>
            </a:solidFill>
            <a:prstDash val="solid"/>
          </a:ln>
        </p:spPr>
        <p:txBody>
          <a:bodyPr/>
          <a:lstStyle/>
          <a:p>
            <a:endParaRPr lang="en-US"/>
          </a:p>
        </p:txBody>
      </p:sp>
      <p:sp>
        <p:nvSpPr>
          <p:cNvPr id="31" name="Text 23"/>
          <p:cNvSpPr txBox="1"/>
          <p:nvPr/>
        </p:nvSpPr>
        <p:spPr>
          <a:xfrm>
            <a:off x="6757416" y="173736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Inter" pitchFamily="34" charset="0"/>
                <a:ea typeface="Inter" pitchFamily="34" charset="-122"/>
                <a:cs typeface="Inter" pitchFamily="34" charset="-120"/>
              </a:rPr>
              <a:t>1</a:t>
            </a:r>
            <a:endParaRPr lang="en-US" sz="1200" dirty="0"/>
          </a:p>
        </p:txBody>
      </p:sp>
      <p:sp>
        <p:nvSpPr>
          <p:cNvPr id="32" name="Text 24"/>
          <p:cNvSpPr txBox="1"/>
          <p:nvPr/>
        </p:nvSpPr>
        <p:spPr>
          <a:xfrm>
            <a:off x="7178040" y="1719072"/>
            <a:ext cx="4416552" cy="329184"/>
          </a:xfrm>
          <a:prstGeom prst="rect">
            <a:avLst/>
          </a:prstGeom>
          <a:noFill/>
          <a:ln/>
        </p:spPr>
        <p:txBody>
          <a:bodyPr wrap="square" lIns="0" tIns="0" rIns="0" bIns="0" rtlCol="0" anchor="ctr"/>
          <a:lstStyle/>
          <a:p>
            <a:pPr marL="0" indent="0">
              <a:buNone/>
            </a:pPr>
            <a:r>
              <a:rPr lang="en-US" sz="1150" b="1" dirty="0">
                <a:solidFill>
                  <a:srgbClr val="1D4ED8"/>
                </a:solidFill>
                <a:latin typeface="Inter" pitchFamily="34" charset="0"/>
                <a:ea typeface="Inter" pitchFamily="34" charset="-122"/>
                <a:cs typeface="Inter" pitchFamily="34" charset="-120"/>
              </a:rPr>
              <a:t>Month 3–4  </a:t>
            </a:r>
            <a:r>
              <a:rPr lang="en-US" sz="1150" b="1" dirty="0">
                <a:solidFill>
                  <a:srgbClr val="0A1F44"/>
                </a:solidFill>
                <a:latin typeface="Inter" pitchFamily="34" charset="0"/>
                <a:ea typeface="Inter" pitchFamily="34" charset="-122"/>
                <a:cs typeface="Inter" pitchFamily="34" charset="-120"/>
              </a:rPr>
              <a:t>Map and consent</a:t>
            </a:r>
            <a:endParaRPr lang="en-US" sz="1150" dirty="0"/>
          </a:p>
        </p:txBody>
      </p:sp>
      <p:sp>
        <p:nvSpPr>
          <p:cNvPr id="33" name="Shape 25"/>
          <p:cNvSpPr/>
          <p:nvPr/>
        </p:nvSpPr>
        <p:spPr>
          <a:xfrm>
            <a:off x="7196328" y="2240280"/>
            <a:ext cx="64008" cy="64008"/>
          </a:xfrm>
          <a:prstGeom prst="ellipse">
            <a:avLst/>
          </a:prstGeom>
          <a:solidFill>
            <a:srgbClr val="1D4ED8"/>
          </a:solidFill>
          <a:ln w="6350">
            <a:solidFill>
              <a:srgbClr val="1D4ED8"/>
            </a:solidFill>
            <a:prstDash val="solid"/>
          </a:ln>
        </p:spPr>
        <p:txBody>
          <a:bodyPr/>
          <a:lstStyle/>
          <a:p>
            <a:endParaRPr lang="en-US"/>
          </a:p>
        </p:txBody>
      </p:sp>
      <p:sp>
        <p:nvSpPr>
          <p:cNvPr id="34" name="Text 26"/>
          <p:cNvSpPr txBox="1"/>
          <p:nvPr/>
        </p:nvSpPr>
        <p:spPr>
          <a:xfrm>
            <a:off x="7342632" y="2157984"/>
            <a:ext cx="4233672" cy="201168"/>
          </a:xfrm>
          <a:prstGeom prst="rect">
            <a:avLst/>
          </a:prstGeom>
          <a:noFill/>
          <a:ln/>
        </p:spPr>
        <p:txBody>
          <a:bodyPr wrap="square" lIns="0" tIns="0" rIns="0" bIns="0" rtlCol="0" anchor="ctr"/>
          <a:lstStyle/>
          <a:p>
            <a:pPr marL="0" indent="0">
              <a:buNone/>
            </a:pPr>
            <a:r>
              <a:rPr lang="en-US" sz="900" dirty="0">
                <a:solidFill>
                  <a:srgbClr val="0F172A"/>
                </a:solidFill>
                <a:latin typeface="Inter" pitchFamily="34" charset="0"/>
                <a:ea typeface="Inter" pitchFamily="34" charset="-122"/>
                <a:cs typeface="Inter" pitchFamily="34" charset="-120"/>
              </a:rPr>
              <a:t>List the shipping milestones factories and 3PLs already emit</a:t>
            </a:r>
            <a:endParaRPr lang="en-US" sz="900" dirty="0"/>
          </a:p>
        </p:txBody>
      </p:sp>
      <p:sp>
        <p:nvSpPr>
          <p:cNvPr id="35" name="Shape 27"/>
          <p:cNvSpPr/>
          <p:nvPr/>
        </p:nvSpPr>
        <p:spPr>
          <a:xfrm>
            <a:off x="7196328" y="2459736"/>
            <a:ext cx="64008" cy="64008"/>
          </a:xfrm>
          <a:prstGeom prst="ellipse">
            <a:avLst/>
          </a:prstGeom>
          <a:solidFill>
            <a:srgbClr val="1D4ED8"/>
          </a:solidFill>
          <a:ln w="6350">
            <a:solidFill>
              <a:srgbClr val="1D4ED8"/>
            </a:solidFill>
            <a:prstDash val="solid"/>
          </a:ln>
        </p:spPr>
        <p:txBody>
          <a:bodyPr/>
          <a:lstStyle/>
          <a:p>
            <a:endParaRPr lang="en-US"/>
          </a:p>
        </p:txBody>
      </p:sp>
      <p:sp>
        <p:nvSpPr>
          <p:cNvPr id="36" name="Text 28"/>
          <p:cNvSpPr txBox="1"/>
          <p:nvPr/>
        </p:nvSpPr>
        <p:spPr>
          <a:xfrm>
            <a:off x="7342632" y="2377440"/>
            <a:ext cx="4233672" cy="201168"/>
          </a:xfrm>
          <a:prstGeom prst="rect">
            <a:avLst/>
          </a:prstGeom>
          <a:noFill/>
          <a:ln/>
        </p:spPr>
        <p:txBody>
          <a:bodyPr wrap="square" lIns="0" tIns="0" rIns="0" bIns="0" rtlCol="0" anchor="ctr"/>
          <a:lstStyle/>
          <a:p>
            <a:pPr marL="0" indent="0">
              <a:buNone/>
            </a:pPr>
            <a:r>
              <a:rPr lang="en-US" sz="900" dirty="0">
                <a:solidFill>
                  <a:srgbClr val="0F172A"/>
                </a:solidFill>
                <a:latin typeface="Inter" pitchFamily="34" charset="0"/>
                <a:ea typeface="Inter" pitchFamily="34" charset="-122"/>
                <a:cs typeface="Inter" pitchFamily="34" charset="-120"/>
              </a:rPr>
              <a:t>Agree one order-ID key with operations</a:t>
            </a:r>
            <a:endParaRPr lang="en-US" sz="900" dirty="0"/>
          </a:p>
        </p:txBody>
      </p:sp>
      <p:sp>
        <p:nvSpPr>
          <p:cNvPr id="37" name="Shape 29"/>
          <p:cNvSpPr/>
          <p:nvPr/>
        </p:nvSpPr>
        <p:spPr>
          <a:xfrm>
            <a:off x="7196328" y="2679192"/>
            <a:ext cx="64008" cy="64008"/>
          </a:xfrm>
          <a:prstGeom prst="ellipse">
            <a:avLst/>
          </a:prstGeom>
          <a:solidFill>
            <a:srgbClr val="1D4ED8"/>
          </a:solidFill>
          <a:ln w="6350">
            <a:solidFill>
              <a:srgbClr val="1D4ED8"/>
            </a:solidFill>
            <a:prstDash val="solid"/>
          </a:ln>
        </p:spPr>
        <p:txBody>
          <a:bodyPr/>
          <a:lstStyle/>
          <a:p>
            <a:endParaRPr lang="en-US"/>
          </a:p>
        </p:txBody>
      </p:sp>
      <p:sp>
        <p:nvSpPr>
          <p:cNvPr id="38" name="Text 30"/>
          <p:cNvSpPr txBox="1"/>
          <p:nvPr/>
        </p:nvSpPr>
        <p:spPr>
          <a:xfrm>
            <a:off x="7342632" y="2596896"/>
            <a:ext cx="4233672" cy="201168"/>
          </a:xfrm>
          <a:prstGeom prst="rect">
            <a:avLst/>
          </a:prstGeom>
          <a:noFill/>
          <a:ln/>
        </p:spPr>
        <p:txBody>
          <a:bodyPr wrap="square" lIns="0" tIns="0" rIns="0" bIns="0" rtlCol="0" anchor="ctr"/>
          <a:lstStyle/>
          <a:p>
            <a:pPr marL="0" indent="0">
              <a:buNone/>
            </a:pPr>
            <a:r>
              <a:rPr lang="en-US" sz="900" dirty="0">
                <a:solidFill>
                  <a:srgbClr val="0F172A"/>
                </a:solidFill>
                <a:latin typeface="Inter" pitchFamily="34" charset="0"/>
                <a:ea typeface="Inter" pitchFamily="34" charset="-122"/>
                <a:cs typeface="Inter" pitchFamily="34" charset="-120"/>
              </a:rPr>
              <a:t>Split transactional and marketing SMS consent with Legal (CCPA)</a:t>
            </a:r>
            <a:endParaRPr lang="en-US" sz="900" dirty="0"/>
          </a:p>
        </p:txBody>
      </p:sp>
      <p:sp>
        <p:nvSpPr>
          <p:cNvPr id="39" name="Shape 31"/>
          <p:cNvSpPr/>
          <p:nvPr/>
        </p:nvSpPr>
        <p:spPr>
          <a:xfrm>
            <a:off x="6629400" y="2971800"/>
            <a:ext cx="5056632" cy="1252728"/>
          </a:xfrm>
          <a:prstGeom prst="roundRect">
            <a:avLst>
              <a:gd name="adj" fmla="val 4380"/>
            </a:avLst>
          </a:prstGeom>
          <a:solidFill>
            <a:srgbClr val="F8FAFC"/>
          </a:solidFill>
          <a:ln w="9525">
            <a:solidFill>
              <a:srgbClr val="E2E8F0"/>
            </a:solidFill>
            <a:prstDash val="solid"/>
          </a:ln>
        </p:spPr>
        <p:txBody>
          <a:bodyPr/>
          <a:lstStyle/>
          <a:p>
            <a:endParaRPr lang="en-US"/>
          </a:p>
        </p:txBody>
      </p:sp>
      <p:sp>
        <p:nvSpPr>
          <p:cNvPr id="40" name="Shape 32"/>
          <p:cNvSpPr/>
          <p:nvPr/>
        </p:nvSpPr>
        <p:spPr>
          <a:xfrm>
            <a:off x="6757416" y="3081528"/>
            <a:ext cx="329184" cy="329184"/>
          </a:xfrm>
          <a:prstGeom prst="ellipse">
            <a:avLst/>
          </a:prstGeom>
          <a:solidFill>
            <a:srgbClr val="1D4ED8"/>
          </a:solidFill>
          <a:ln w="6350">
            <a:solidFill>
              <a:srgbClr val="1D4ED8"/>
            </a:solidFill>
            <a:prstDash val="solid"/>
          </a:ln>
        </p:spPr>
        <p:txBody>
          <a:bodyPr/>
          <a:lstStyle/>
          <a:p>
            <a:endParaRPr lang="en-US"/>
          </a:p>
        </p:txBody>
      </p:sp>
      <p:sp>
        <p:nvSpPr>
          <p:cNvPr id="41" name="Text 33"/>
          <p:cNvSpPr txBox="1"/>
          <p:nvPr/>
        </p:nvSpPr>
        <p:spPr>
          <a:xfrm>
            <a:off x="6757416" y="30815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Inter" pitchFamily="34" charset="0"/>
                <a:ea typeface="Inter" pitchFamily="34" charset="-122"/>
                <a:cs typeface="Inter" pitchFamily="34" charset="-120"/>
              </a:rPr>
              <a:t>2</a:t>
            </a:r>
            <a:endParaRPr lang="en-US" sz="1200" dirty="0"/>
          </a:p>
        </p:txBody>
      </p:sp>
      <p:sp>
        <p:nvSpPr>
          <p:cNvPr id="42" name="Text 34"/>
          <p:cNvSpPr txBox="1"/>
          <p:nvPr/>
        </p:nvSpPr>
        <p:spPr>
          <a:xfrm>
            <a:off x="7178040" y="3063240"/>
            <a:ext cx="4416552" cy="329184"/>
          </a:xfrm>
          <a:prstGeom prst="rect">
            <a:avLst/>
          </a:prstGeom>
          <a:noFill/>
          <a:ln/>
        </p:spPr>
        <p:txBody>
          <a:bodyPr wrap="square" lIns="0" tIns="0" rIns="0" bIns="0" rtlCol="0" anchor="ctr"/>
          <a:lstStyle/>
          <a:p>
            <a:pPr marL="0" indent="0">
              <a:buNone/>
            </a:pPr>
            <a:r>
              <a:rPr lang="en-US" sz="1150" b="1" dirty="0">
                <a:solidFill>
                  <a:srgbClr val="1D4ED8"/>
                </a:solidFill>
                <a:latin typeface="Inter" pitchFamily="34" charset="0"/>
                <a:ea typeface="Inter" pitchFamily="34" charset="-122"/>
                <a:cs typeface="Inter" pitchFamily="34" charset="-120"/>
              </a:rPr>
              <a:t>Month 4–5  </a:t>
            </a:r>
            <a:r>
              <a:rPr lang="en-US" sz="1150" b="1" dirty="0">
                <a:solidFill>
                  <a:srgbClr val="0A1F44"/>
                </a:solidFill>
                <a:latin typeface="Inter" pitchFamily="34" charset="0"/>
                <a:ea typeface="Inter" pitchFamily="34" charset="-122"/>
                <a:cs typeface="Inter" pitchFamily="34" charset="-120"/>
              </a:rPr>
              <a:t>Connect</a:t>
            </a:r>
            <a:endParaRPr lang="en-US" sz="1150" dirty="0"/>
          </a:p>
        </p:txBody>
      </p:sp>
      <p:sp>
        <p:nvSpPr>
          <p:cNvPr id="43" name="Shape 35"/>
          <p:cNvSpPr/>
          <p:nvPr/>
        </p:nvSpPr>
        <p:spPr>
          <a:xfrm>
            <a:off x="7196328" y="3584448"/>
            <a:ext cx="64008" cy="64008"/>
          </a:xfrm>
          <a:prstGeom prst="ellipse">
            <a:avLst/>
          </a:prstGeom>
          <a:solidFill>
            <a:srgbClr val="1D4ED8"/>
          </a:solidFill>
          <a:ln w="6350">
            <a:solidFill>
              <a:srgbClr val="1D4ED8"/>
            </a:solidFill>
            <a:prstDash val="solid"/>
          </a:ln>
        </p:spPr>
        <p:txBody>
          <a:bodyPr/>
          <a:lstStyle/>
          <a:p>
            <a:endParaRPr lang="en-US"/>
          </a:p>
        </p:txBody>
      </p:sp>
      <p:sp>
        <p:nvSpPr>
          <p:cNvPr id="44" name="Text 36"/>
          <p:cNvSpPr txBox="1"/>
          <p:nvPr/>
        </p:nvSpPr>
        <p:spPr>
          <a:xfrm>
            <a:off x="7342632" y="3502152"/>
            <a:ext cx="4233672" cy="201168"/>
          </a:xfrm>
          <a:prstGeom prst="rect">
            <a:avLst/>
          </a:prstGeom>
          <a:noFill/>
          <a:ln/>
        </p:spPr>
        <p:txBody>
          <a:bodyPr wrap="square" lIns="0" tIns="0" rIns="0" bIns="0" rtlCol="0" anchor="ctr"/>
          <a:lstStyle/>
          <a:p>
            <a:pPr marL="0" indent="0">
              <a:buNone/>
            </a:pPr>
            <a:r>
              <a:rPr lang="en-US" sz="900" dirty="0">
                <a:solidFill>
                  <a:srgbClr val="0F172A"/>
                </a:solidFill>
                <a:latin typeface="Inter" pitchFamily="34" charset="0"/>
                <a:ea typeface="Inter" pitchFamily="34" charset="-122"/>
                <a:cs typeface="Inter" pitchFamily="34" charset="-120"/>
              </a:rPr>
              <a:t>Stream events into CJA: order ID → person ID</a:t>
            </a:r>
            <a:endParaRPr lang="en-US" sz="900" dirty="0"/>
          </a:p>
        </p:txBody>
      </p:sp>
      <p:sp>
        <p:nvSpPr>
          <p:cNvPr id="45" name="Shape 37"/>
          <p:cNvSpPr/>
          <p:nvPr/>
        </p:nvSpPr>
        <p:spPr>
          <a:xfrm>
            <a:off x="7196328" y="3803904"/>
            <a:ext cx="64008" cy="64008"/>
          </a:xfrm>
          <a:prstGeom prst="ellipse">
            <a:avLst/>
          </a:prstGeom>
          <a:solidFill>
            <a:srgbClr val="1D4ED8"/>
          </a:solidFill>
          <a:ln w="6350">
            <a:solidFill>
              <a:srgbClr val="1D4ED8"/>
            </a:solidFill>
            <a:prstDash val="solid"/>
          </a:ln>
        </p:spPr>
        <p:txBody>
          <a:bodyPr/>
          <a:lstStyle/>
          <a:p>
            <a:endParaRPr lang="en-US"/>
          </a:p>
        </p:txBody>
      </p:sp>
      <p:sp>
        <p:nvSpPr>
          <p:cNvPr id="46" name="Text 38"/>
          <p:cNvSpPr txBox="1"/>
          <p:nvPr/>
        </p:nvSpPr>
        <p:spPr>
          <a:xfrm>
            <a:off x="7342632" y="3721608"/>
            <a:ext cx="4233672" cy="201168"/>
          </a:xfrm>
          <a:prstGeom prst="rect">
            <a:avLst/>
          </a:prstGeom>
          <a:noFill/>
          <a:ln/>
        </p:spPr>
        <p:txBody>
          <a:bodyPr wrap="square" lIns="0" tIns="0" rIns="0" bIns="0" rtlCol="0" anchor="ctr"/>
          <a:lstStyle/>
          <a:p>
            <a:pPr marL="0" indent="0">
              <a:buNone/>
            </a:pPr>
            <a:r>
              <a:rPr lang="en-US" sz="900" dirty="0">
                <a:solidFill>
                  <a:srgbClr val="0F172A"/>
                </a:solidFill>
                <a:latin typeface="Inter" pitchFamily="34" charset="0"/>
                <a:ea typeface="Inter" pitchFamily="34" charset="-122"/>
                <a:cs typeface="Inter" pitchFamily="34" charset="-120"/>
              </a:rPr>
              <a:t>Build audiences: in transit, delivered, day 21 with no second order</a:t>
            </a:r>
            <a:endParaRPr lang="en-US" sz="900" dirty="0"/>
          </a:p>
        </p:txBody>
      </p:sp>
      <p:sp>
        <p:nvSpPr>
          <p:cNvPr id="47" name="Shape 39"/>
          <p:cNvSpPr/>
          <p:nvPr/>
        </p:nvSpPr>
        <p:spPr>
          <a:xfrm>
            <a:off x="7196328" y="4023360"/>
            <a:ext cx="64008" cy="64008"/>
          </a:xfrm>
          <a:prstGeom prst="ellipse">
            <a:avLst/>
          </a:prstGeom>
          <a:solidFill>
            <a:srgbClr val="1D4ED8"/>
          </a:solidFill>
          <a:ln w="6350">
            <a:solidFill>
              <a:srgbClr val="1D4ED8"/>
            </a:solidFill>
            <a:prstDash val="solid"/>
          </a:ln>
        </p:spPr>
        <p:txBody>
          <a:bodyPr/>
          <a:lstStyle/>
          <a:p>
            <a:endParaRPr lang="en-US"/>
          </a:p>
        </p:txBody>
      </p:sp>
      <p:sp>
        <p:nvSpPr>
          <p:cNvPr id="48" name="Text 40"/>
          <p:cNvSpPr txBox="1"/>
          <p:nvPr/>
        </p:nvSpPr>
        <p:spPr>
          <a:xfrm>
            <a:off x="7342632" y="3941064"/>
            <a:ext cx="4233672" cy="201168"/>
          </a:xfrm>
          <a:prstGeom prst="rect">
            <a:avLst/>
          </a:prstGeom>
          <a:noFill/>
          <a:ln/>
        </p:spPr>
        <p:txBody>
          <a:bodyPr wrap="square" lIns="0" tIns="0" rIns="0" bIns="0" rtlCol="0" anchor="ctr"/>
          <a:lstStyle/>
          <a:p>
            <a:pPr marL="0" indent="0">
              <a:buNone/>
            </a:pPr>
            <a:r>
              <a:rPr lang="en-US" sz="900" dirty="0">
                <a:solidFill>
                  <a:srgbClr val="0F172A"/>
                </a:solidFill>
                <a:latin typeface="Inter" pitchFamily="34" charset="0"/>
                <a:ea typeface="Inter" pitchFamily="34" charset="-122"/>
                <a:cs typeface="Inter" pitchFamily="34" charset="-120"/>
              </a:rPr>
              <a:t>Assign the 10% randomized holdout</a:t>
            </a:r>
            <a:endParaRPr lang="en-US" sz="900" dirty="0"/>
          </a:p>
        </p:txBody>
      </p:sp>
      <p:sp>
        <p:nvSpPr>
          <p:cNvPr id="49" name="Shape 41"/>
          <p:cNvSpPr/>
          <p:nvPr/>
        </p:nvSpPr>
        <p:spPr>
          <a:xfrm>
            <a:off x="6629400" y="4315968"/>
            <a:ext cx="5056632" cy="1252728"/>
          </a:xfrm>
          <a:prstGeom prst="roundRect">
            <a:avLst>
              <a:gd name="adj" fmla="val 4380"/>
            </a:avLst>
          </a:prstGeom>
          <a:solidFill>
            <a:srgbClr val="F8FAFC"/>
          </a:solidFill>
          <a:ln w="9525">
            <a:solidFill>
              <a:srgbClr val="E2E8F0"/>
            </a:solidFill>
            <a:prstDash val="solid"/>
          </a:ln>
        </p:spPr>
        <p:txBody>
          <a:bodyPr/>
          <a:lstStyle/>
          <a:p>
            <a:endParaRPr lang="en-US"/>
          </a:p>
        </p:txBody>
      </p:sp>
      <p:sp>
        <p:nvSpPr>
          <p:cNvPr id="50" name="Shape 42"/>
          <p:cNvSpPr/>
          <p:nvPr/>
        </p:nvSpPr>
        <p:spPr>
          <a:xfrm>
            <a:off x="6757416" y="4425696"/>
            <a:ext cx="329184" cy="329184"/>
          </a:xfrm>
          <a:prstGeom prst="ellipse">
            <a:avLst/>
          </a:prstGeom>
          <a:solidFill>
            <a:srgbClr val="1D4ED8"/>
          </a:solidFill>
          <a:ln w="6350">
            <a:solidFill>
              <a:srgbClr val="1D4ED8"/>
            </a:solidFill>
            <a:prstDash val="solid"/>
          </a:ln>
        </p:spPr>
        <p:txBody>
          <a:bodyPr/>
          <a:lstStyle/>
          <a:p>
            <a:endParaRPr lang="en-US"/>
          </a:p>
        </p:txBody>
      </p:sp>
      <p:sp>
        <p:nvSpPr>
          <p:cNvPr id="51" name="Text 43"/>
          <p:cNvSpPr txBox="1"/>
          <p:nvPr/>
        </p:nvSpPr>
        <p:spPr>
          <a:xfrm>
            <a:off x="6757416" y="442569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Inter" pitchFamily="34" charset="0"/>
                <a:ea typeface="Inter" pitchFamily="34" charset="-122"/>
                <a:cs typeface="Inter" pitchFamily="34" charset="-120"/>
              </a:rPr>
              <a:t>3</a:t>
            </a:r>
            <a:endParaRPr lang="en-US" sz="1200" dirty="0"/>
          </a:p>
        </p:txBody>
      </p:sp>
      <p:sp>
        <p:nvSpPr>
          <p:cNvPr id="52" name="Text 44"/>
          <p:cNvSpPr txBox="1"/>
          <p:nvPr/>
        </p:nvSpPr>
        <p:spPr>
          <a:xfrm>
            <a:off x="7178040" y="4407408"/>
            <a:ext cx="4416552" cy="329184"/>
          </a:xfrm>
          <a:prstGeom prst="rect">
            <a:avLst/>
          </a:prstGeom>
          <a:noFill/>
          <a:ln/>
        </p:spPr>
        <p:txBody>
          <a:bodyPr wrap="square" lIns="0" tIns="0" rIns="0" bIns="0" rtlCol="0" anchor="ctr"/>
          <a:lstStyle/>
          <a:p>
            <a:pPr marL="0" indent="0">
              <a:buNone/>
            </a:pPr>
            <a:r>
              <a:rPr lang="en-US" sz="1150" b="1" dirty="0">
                <a:solidFill>
                  <a:srgbClr val="1D4ED8"/>
                </a:solidFill>
                <a:latin typeface="Inter" pitchFamily="34" charset="0"/>
                <a:ea typeface="Inter" pitchFamily="34" charset="-122"/>
                <a:cs typeface="Inter" pitchFamily="34" charset="-120"/>
              </a:rPr>
              <a:t>Month 5–6  </a:t>
            </a:r>
            <a:r>
              <a:rPr lang="en-US" sz="1150" b="1" dirty="0">
                <a:solidFill>
                  <a:srgbClr val="0A1F44"/>
                </a:solidFill>
                <a:latin typeface="Inter" pitchFamily="34" charset="0"/>
                <a:ea typeface="Inter" pitchFamily="34" charset="-122"/>
                <a:cs typeface="Inter" pitchFamily="34" charset="-120"/>
              </a:rPr>
              <a:t>Launch and read</a:t>
            </a:r>
            <a:endParaRPr lang="en-US" sz="1150" dirty="0"/>
          </a:p>
        </p:txBody>
      </p:sp>
      <p:sp>
        <p:nvSpPr>
          <p:cNvPr id="53" name="Shape 45"/>
          <p:cNvSpPr/>
          <p:nvPr/>
        </p:nvSpPr>
        <p:spPr>
          <a:xfrm>
            <a:off x="7196328" y="4928616"/>
            <a:ext cx="64008" cy="64008"/>
          </a:xfrm>
          <a:prstGeom prst="ellipse">
            <a:avLst/>
          </a:prstGeom>
          <a:solidFill>
            <a:srgbClr val="1D4ED8"/>
          </a:solidFill>
          <a:ln w="6350">
            <a:solidFill>
              <a:srgbClr val="1D4ED8"/>
            </a:solidFill>
            <a:prstDash val="solid"/>
          </a:ln>
        </p:spPr>
        <p:txBody>
          <a:bodyPr/>
          <a:lstStyle/>
          <a:p>
            <a:endParaRPr lang="en-US"/>
          </a:p>
        </p:txBody>
      </p:sp>
      <p:sp>
        <p:nvSpPr>
          <p:cNvPr id="54" name="Text 46"/>
          <p:cNvSpPr txBox="1"/>
          <p:nvPr/>
        </p:nvSpPr>
        <p:spPr>
          <a:xfrm>
            <a:off x="7342632" y="4846320"/>
            <a:ext cx="4233672" cy="201168"/>
          </a:xfrm>
          <a:prstGeom prst="rect">
            <a:avLst/>
          </a:prstGeom>
          <a:noFill/>
          <a:ln/>
        </p:spPr>
        <p:txBody>
          <a:bodyPr wrap="square" lIns="0" tIns="0" rIns="0" bIns="0" rtlCol="0" anchor="ctr"/>
          <a:lstStyle/>
          <a:p>
            <a:pPr marL="0" indent="0">
              <a:buNone/>
            </a:pPr>
            <a:r>
              <a:rPr lang="en-US" sz="900" dirty="0">
                <a:solidFill>
                  <a:srgbClr val="0F172A"/>
                </a:solidFill>
                <a:latin typeface="Inter" pitchFamily="34" charset="0"/>
                <a:ea typeface="Inter" pitchFamily="34" charset="-122"/>
                <a:cs typeface="Inter" pitchFamily="34" charset="-120"/>
              </a:rPr>
              <a:t>Pre-arrival guide: how the material is made and cared for</a:t>
            </a:r>
            <a:endParaRPr lang="en-US" sz="900" dirty="0"/>
          </a:p>
        </p:txBody>
      </p:sp>
      <p:sp>
        <p:nvSpPr>
          <p:cNvPr id="55" name="Shape 47"/>
          <p:cNvSpPr/>
          <p:nvPr/>
        </p:nvSpPr>
        <p:spPr>
          <a:xfrm>
            <a:off x="7196328" y="5148072"/>
            <a:ext cx="64008" cy="64008"/>
          </a:xfrm>
          <a:prstGeom prst="ellipse">
            <a:avLst/>
          </a:prstGeom>
          <a:solidFill>
            <a:srgbClr val="1D4ED8"/>
          </a:solidFill>
          <a:ln w="6350">
            <a:solidFill>
              <a:srgbClr val="1D4ED8"/>
            </a:solidFill>
            <a:prstDash val="solid"/>
          </a:ln>
        </p:spPr>
        <p:txBody>
          <a:bodyPr/>
          <a:lstStyle/>
          <a:p>
            <a:endParaRPr lang="en-US"/>
          </a:p>
        </p:txBody>
      </p:sp>
      <p:sp>
        <p:nvSpPr>
          <p:cNvPr id="56" name="Text 48"/>
          <p:cNvSpPr txBox="1"/>
          <p:nvPr/>
        </p:nvSpPr>
        <p:spPr>
          <a:xfrm>
            <a:off x="7342632" y="5065776"/>
            <a:ext cx="4233672" cy="201168"/>
          </a:xfrm>
          <a:prstGeom prst="rect">
            <a:avLst/>
          </a:prstGeom>
          <a:noFill/>
          <a:ln/>
        </p:spPr>
        <p:txBody>
          <a:bodyPr wrap="square" lIns="0" tIns="0" rIns="0" bIns="0" rtlCol="0" anchor="ctr"/>
          <a:lstStyle/>
          <a:p>
            <a:pPr marL="0" indent="0">
              <a:buNone/>
            </a:pPr>
            <a:r>
              <a:rPr lang="en-US" sz="900" dirty="0">
                <a:solidFill>
                  <a:srgbClr val="0F172A"/>
                </a:solidFill>
                <a:latin typeface="Inter" pitchFamily="34" charset="0"/>
                <a:ea typeface="Inter" pitchFamily="34" charset="-122"/>
                <a:cs typeface="Inter" pitchFamily="34" charset="-120"/>
              </a:rPr>
              <a:t>Delivery-day Passport and app ask; day-21 second category</a:t>
            </a:r>
            <a:endParaRPr lang="en-US" sz="900" dirty="0"/>
          </a:p>
        </p:txBody>
      </p:sp>
      <p:sp>
        <p:nvSpPr>
          <p:cNvPr id="57" name="Shape 49"/>
          <p:cNvSpPr/>
          <p:nvPr/>
        </p:nvSpPr>
        <p:spPr>
          <a:xfrm>
            <a:off x="7196328" y="5367528"/>
            <a:ext cx="64008" cy="64008"/>
          </a:xfrm>
          <a:prstGeom prst="ellipse">
            <a:avLst/>
          </a:prstGeom>
          <a:solidFill>
            <a:srgbClr val="1D4ED8"/>
          </a:solidFill>
          <a:ln w="6350">
            <a:solidFill>
              <a:srgbClr val="1D4ED8"/>
            </a:solidFill>
            <a:prstDash val="solid"/>
          </a:ln>
        </p:spPr>
        <p:txBody>
          <a:bodyPr/>
          <a:lstStyle/>
          <a:p>
            <a:endParaRPr lang="en-US"/>
          </a:p>
        </p:txBody>
      </p:sp>
      <p:sp>
        <p:nvSpPr>
          <p:cNvPr id="58" name="Text 50"/>
          <p:cNvSpPr txBox="1"/>
          <p:nvPr/>
        </p:nvSpPr>
        <p:spPr>
          <a:xfrm>
            <a:off x="7342632" y="5285232"/>
            <a:ext cx="4233672" cy="201168"/>
          </a:xfrm>
          <a:prstGeom prst="rect">
            <a:avLst/>
          </a:prstGeom>
          <a:noFill/>
          <a:ln/>
        </p:spPr>
        <p:txBody>
          <a:bodyPr wrap="square" lIns="0" tIns="0" rIns="0" bIns="0" rtlCol="0" anchor="ctr"/>
          <a:lstStyle/>
          <a:p>
            <a:pPr marL="0" indent="0">
              <a:buNone/>
            </a:pPr>
            <a:r>
              <a:rPr lang="en-US" sz="900" dirty="0">
                <a:solidFill>
                  <a:srgbClr val="0F172A"/>
                </a:solidFill>
                <a:latin typeface="Inter" pitchFamily="34" charset="0"/>
                <a:ea typeface="Inter" pitchFamily="34" charset="-122"/>
                <a:cs typeface="Inter" pitchFamily="34" charset="-120"/>
              </a:rPr>
              <a:t>Read results against the holdout every week</a:t>
            </a:r>
            <a:endParaRPr lang="en-US" sz="900" dirty="0"/>
          </a:p>
        </p:txBody>
      </p:sp>
      <p:sp>
        <p:nvSpPr>
          <p:cNvPr id="59" name="Shape 51"/>
          <p:cNvSpPr/>
          <p:nvPr/>
        </p:nvSpPr>
        <p:spPr>
          <a:xfrm>
            <a:off x="502920" y="5715000"/>
            <a:ext cx="11183112" cy="512064"/>
          </a:xfrm>
          <a:prstGeom prst="roundRect">
            <a:avLst>
              <a:gd name="adj" fmla="val 17857"/>
            </a:avLst>
          </a:prstGeom>
          <a:solidFill>
            <a:srgbClr val="EFF6FF"/>
          </a:solidFill>
          <a:ln w="6350">
            <a:solidFill>
              <a:srgbClr val="EFF6FF"/>
            </a:solidFill>
            <a:prstDash val="solid"/>
          </a:ln>
        </p:spPr>
        <p:txBody>
          <a:bodyPr/>
          <a:lstStyle/>
          <a:p>
            <a:endParaRPr lang="en-US"/>
          </a:p>
        </p:txBody>
      </p:sp>
      <p:sp>
        <p:nvSpPr>
          <p:cNvPr id="60" name="Shape 52"/>
          <p:cNvSpPr/>
          <p:nvPr/>
        </p:nvSpPr>
        <p:spPr>
          <a:xfrm>
            <a:off x="640080" y="5806440"/>
            <a:ext cx="329184" cy="329184"/>
          </a:xfrm>
          <a:prstGeom prst="ellipse">
            <a:avLst/>
          </a:prstGeom>
          <a:solidFill>
            <a:srgbClr val="1D4ED8"/>
          </a:solidFill>
          <a:ln w="6350">
            <a:solidFill>
              <a:srgbClr val="1D4ED8"/>
            </a:solidFill>
            <a:prstDash val="solid"/>
          </a:ln>
        </p:spPr>
        <p:txBody>
          <a:bodyPr/>
          <a:lstStyle/>
          <a:p>
            <a:endParaRPr lang="en-US"/>
          </a:p>
        </p:txBody>
      </p:sp>
      <p:pic>
        <p:nvPicPr>
          <p:cNvPr id="61" name="Image 6" descr="preencoded.png"/>
          <p:cNvPicPr>
            <a:picLocks noChangeAspect="1"/>
          </p:cNvPicPr>
          <p:nvPr/>
        </p:nvPicPr>
        <p:blipFill>
          <a:blip r:embed="rId9"/>
          <a:stretch>
            <a:fillRect/>
          </a:stretch>
        </p:blipFill>
        <p:spPr>
          <a:xfrm>
            <a:off x="712500" y="5878860"/>
            <a:ext cx="184343" cy="184343"/>
          </a:xfrm>
          <a:prstGeom prst="rect">
            <a:avLst/>
          </a:prstGeom>
        </p:spPr>
      </p:pic>
      <p:sp>
        <p:nvSpPr>
          <p:cNvPr id="62" name="Text 53"/>
          <p:cNvSpPr txBox="1"/>
          <p:nvPr/>
        </p:nvSpPr>
        <p:spPr>
          <a:xfrm>
            <a:off x="1097280" y="5715000"/>
            <a:ext cx="10424160" cy="512064"/>
          </a:xfrm>
          <a:prstGeom prst="rect">
            <a:avLst/>
          </a:prstGeom>
          <a:noFill/>
          <a:ln/>
        </p:spPr>
        <p:txBody>
          <a:bodyPr wrap="square" lIns="0" tIns="0" rIns="0" bIns="0" rtlCol="0" anchor="ctr"/>
          <a:lstStyle/>
          <a:p>
            <a:pPr marL="0" indent="0">
              <a:buNone/>
            </a:pPr>
            <a:r>
              <a:rPr lang="en-US" sz="1300" b="1" dirty="0">
                <a:solidFill>
                  <a:srgbClr val="0A1F44"/>
                </a:solidFill>
                <a:latin typeface="Inter" pitchFamily="34" charset="0"/>
                <a:ea typeface="Inter" pitchFamily="34" charset="-122"/>
                <a:cs typeface="Inter" pitchFamily="34" charset="-120"/>
              </a:rPr>
              <a:t>The tech work comes down to one thing: 3PL shipping events tied to an order ID</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9326880" cy="841248"/>
          </a:xfrm>
          <a:prstGeom prst="rect">
            <a:avLst/>
          </a:prstGeom>
          <a:noFill/>
          <a:ln/>
        </p:spPr>
        <p:txBody>
          <a:bodyPr wrap="square" lIns="0" tIns="0" rIns="0" bIns="0" rtlCol="0" anchor="ctr"/>
          <a:lstStyle/>
          <a:p>
            <a:pPr marL="0" indent="0">
              <a:buNone/>
            </a:pPr>
            <a:r>
              <a:rPr lang="en-US" sz="2400" b="1" dirty="0">
                <a:solidFill>
                  <a:srgbClr val="0A1F44"/>
                </a:solidFill>
                <a:latin typeface="Inter" pitchFamily="34" charset="0"/>
                <a:ea typeface="Inter" pitchFamily="34" charset="-122"/>
                <a:cs typeface="Inter" pitchFamily="34" charset="-120"/>
              </a:rPr>
              <a:t>Nine risks we watch, each with a fix and a warning sign</a:t>
            </a:r>
            <a:endParaRPr lang="en-US" sz="2400" dirty="0"/>
          </a:p>
        </p:txBody>
      </p:sp>
      <p:pic>
        <p:nvPicPr>
          <p:cNvPr id="3" name="Image 0" descr="/tmp/claude-0/-home-user-Quince/7efe80ae-a049-50c2-9886-98bf7ca3a04a/scratchpad/assets/quince.png"/>
          <p:cNvPicPr>
            <a:picLocks noChangeAspect="1"/>
          </p:cNvPicPr>
          <p:nvPr/>
        </p:nvPicPr>
        <p:blipFill>
          <a:blip r:embed="rId3"/>
          <a:stretch>
            <a:fillRect/>
          </a:stretch>
        </p:blipFill>
        <p:spPr>
          <a:xfrm>
            <a:off x="10236708" y="615544"/>
            <a:ext cx="777240" cy="231951"/>
          </a:xfrm>
          <a:prstGeom prst="rect">
            <a:avLst/>
          </a:prstGeom>
        </p:spPr>
      </p:pic>
      <p:sp>
        <p:nvSpPr>
          <p:cNvPr id="4" name="Shape 1"/>
          <p:cNvSpPr/>
          <p:nvPr/>
        </p:nvSpPr>
        <p:spPr>
          <a:xfrm>
            <a:off x="11155680" y="603504"/>
            <a:ext cx="530352" cy="256032"/>
          </a:xfrm>
          <a:prstGeom prst="roundRect">
            <a:avLst>
              <a:gd name="adj" fmla="val 50000"/>
            </a:avLst>
          </a:prstGeom>
          <a:solidFill>
            <a:srgbClr val="0A1F44"/>
          </a:solidFill>
          <a:ln w="6350">
            <a:solidFill>
              <a:srgbClr val="0A1F44"/>
            </a:solidFill>
            <a:prstDash val="solid"/>
          </a:ln>
        </p:spPr>
        <p:txBody>
          <a:bodyPr/>
          <a:lstStyle/>
          <a:p>
            <a:endParaRPr lang="en-US"/>
          </a:p>
        </p:txBody>
      </p:sp>
      <p:sp>
        <p:nvSpPr>
          <p:cNvPr id="5" name="Text 2"/>
          <p:cNvSpPr txBox="1"/>
          <p:nvPr/>
        </p:nvSpPr>
        <p:spPr>
          <a:xfrm>
            <a:off x="11155680" y="603504"/>
            <a:ext cx="53035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G27</a:t>
            </a:r>
            <a:endParaRPr lang="en-US" sz="950" dirty="0"/>
          </a:p>
        </p:txBody>
      </p:sp>
      <p:sp>
        <p:nvSpPr>
          <p:cNvPr id="6" name="Shape 3"/>
          <p:cNvSpPr/>
          <p:nvPr/>
        </p:nvSpPr>
        <p:spPr>
          <a:xfrm>
            <a:off x="502920" y="6400800"/>
            <a:ext cx="11183112" cy="0"/>
          </a:xfrm>
          <a:prstGeom prst="line">
            <a:avLst/>
          </a:prstGeom>
          <a:noFill/>
          <a:ln w="9525">
            <a:solidFill>
              <a:srgbClr val="E2E8F0"/>
            </a:solidFill>
            <a:prstDash val="solid"/>
          </a:ln>
        </p:spPr>
        <p:txBody>
          <a:bodyPr/>
          <a:lstStyle/>
          <a:p>
            <a:endParaRPr lang="en-US"/>
          </a:p>
        </p:txBody>
      </p:sp>
      <p:sp>
        <p:nvSpPr>
          <p:cNvPr id="7" name="Text 4"/>
          <p:cNvSpPr txBox="1"/>
          <p:nvPr/>
        </p:nvSpPr>
        <p:spPr>
          <a:xfrm>
            <a:off x="502920" y="6464808"/>
            <a:ext cx="9418320" cy="256032"/>
          </a:xfrm>
          <a:prstGeom prst="rect">
            <a:avLst/>
          </a:prstGeom>
          <a:noFill/>
          <a:ln/>
        </p:spPr>
        <p:txBody>
          <a:bodyPr wrap="square" lIns="0" tIns="0" rIns="0" bIns="0" rtlCol="0" anchor="ctr"/>
          <a:lstStyle/>
          <a:p>
            <a:pPr marL="0" indent="0">
              <a:buNone/>
            </a:pPr>
            <a:r>
              <a:rPr lang="en-US" sz="800" dirty="0">
                <a:solidFill>
                  <a:srgbClr val="64748B"/>
                </a:solidFill>
                <a:latin typeface="Inter" pitchFamily="34" charset="0"/>
                <a:ea typeface="Inter" pitchFamily="34" charset="-122"/>
                <a:cs typeface="Inter" pitchFamily="34" charset="-120"/>
              </a:rPr>
              <a:t>Source: case section 7 and Exhibit K; likelihood and impact positions are our judgment.</a:t>
            </a:r>
            <a:endParaRPr lang="en-US" sz="800" dirty="0"/>
          </a:p>
        </p:txBody>
      </p:sp>
      <p:sp>
        <p:nvSpPr>
          <p:cNvPr id="8" name="Text 5"/>
          <p:cNvSpPr txBox="1"/>
          <p:nvPr/>
        </p:nvSpPr>
        <p:spPr>
          <a:xfrm>
            <a:off x="9966960" y="6464808"/>
            <a:ext cx="1719072" cy="256032"/>
          </a:xfrm>
          <a:prstGeom prst="rect">
            <a:avLst/>
          </a:prstGeom>
          <a:noFill/>
          <a:ln/>
        </p:spPr>
        <p:txBody>
          <a:bodyPr wrap="square" lIns="0" tIns="0" rIns="0" bIns="0" rtlCol="0" anchor="ctr"/>
          <a:lstStyle/>
          <a:p>
            <a:pPr marL="0" indent="0" algn="r">
              <a:buNone/>
            </a:pPr>
            <a:r>
              <a:rPr lang="en-US" sz="800" dirty="0">
                <a:solidFill>
                  <a:srgbClr val="64748B"/>
                </a:solidFill>
                <a:latin typeface="Inter" pitchFamily="34" charset="0"/>
                <a:ea typeface="Inter" pitchFamily="34" charset="-122"/>
                <a:cs typeface="Inter" pitchFamily="34" charset="-120"/>
              </a:rPr>
              <a:t>Team G27  ·  25</a:t>
            </a:r>
            <a:endParaRPr lang="en-US" sz="800" dirty="0"/>
          </a:p>
        </p:txBody>
      </p:sp>
      <p:sp>
        <p:nvSpPr>
          <p:cNvPr id="9" name="Shape 6"/>
          <p:cNvSpPr/>
          <p:nvPr/>
        </p:nvSpPr>
        <p:spPr>
          <a:xfrm>
            <a:off x="868680" y="1417320"/>
            <a:ext cx="960120" cy="960120"/>
          </a:xfrm>
          <a:prstGeom prst="rect">
            <a:avLst/>
          </a:prstGeom>
          <a:solidFill>
            <a:srgbClr val="FEF3C7"/>
          </a:solidFill>
          <a:ln w="6350">
            <a:solidFill>
              <a:srgbClr val="FEF3C7"/>
            </a:solidFill>
            <a:prstDash val="solid"/>
          </a:ln>
        </p:spPr>
        <p:txBody>
          <a:bodyPr/>
          <a:lstStyle/>
          <a:p>
            <a:endParaRPr lang="en-US"/>
          </a:p>
        </p:txBody>
      </p:sp>
      <p:sp>
        <p:nvSpPr>
          <p:cNvPr id="10" name="Shape 7"/>
          <p:cNvSpPr/>
          <p:nvPr/>
        </p:nvSpPr>
        <p:spPr>
          <a:xfrm>
            <a:off x="1865376" y="1417320"/>
            <a:ext cx="960120" cy="960120"/>
          </a:xfrm>
          <a:prstGeom prst="rect">
            <a:avLst/>
          </a:prstGeom>
          <a:solidFill>
            <a:srgbClr val="FDE2E2"/>
          </a:solidFill>
          <a:ln w="6350">
            <a:solidFill>
              <a:srgbClr val="FDE2E2"/>
            </a:solidFill>
            <a:prstDash val="solid"/>
          </a:ln>
        </p:spPr>
        <p:txBody>
          <a:bodyPr/>
          <a:lstStyle/>
          <a:p>
            <a:endParaRPr lang="en-US"/>
          </a:p>
        </p:txBody>
      </p:sp>
      <p:sp>
        <p:nvSpPr>
          <p:cNvPr id="11" name="Shape 8"/>
          <p:cNvSpPr/>
          <p:nvPr/>
        </p:nvSpPr>
        <p:spPr>
          <a:xfrm>
            <a:off x="2862072" y="1417320"/>
            <a:ext cx="960120" cy="960120"/>
          </a:xfrm>
          <a:prstGeom prst="rect">
            <a:avLst/>
          </a:prstGeom>
          <a:solidFill>
            <a:srgbClr val="FDE2E2"/>
          </a:solidFill>
          <a:ln w="6350">
            <a:solidFill>
              <a:srgbClr val="FDE2E2"/>
            </a:solidFill>
            <a:prstDash val="solid"/>
          </a:ln>
        </p:spPr>
        <p:txBody>
          <a:bodyPr/>
          <a:lstStyle/>
          <a:p>
            <a:endParaRPr lang="en-US"/>
          </a:p>
        </p:txBody>
      </p:sp>
      <p:sp>
        <p:nvSpPr>
          <p:cNvPr id="12" name="Shape 9"/>
          <p:cNvSpPr/>
          <p:nvPr/>
        </p:nvSpPr>
        <p:spPr>
          <a:xfrm>
            <a:off x="868680" y="2414016"/>
            <a:ext cx="960120" cy="960120"/>
          </a:xfrm>
          <a:prstGeom prst="rect">
            <a:avLst/>
          </a:prstGeom>
          <a:solidFill>
            <a:srgbClr val="E8F5EC"/>
          </a:solidFill>
          <a:ln w="6350">
            <a:solidFill>
              <a:srgbClr val="E8F5EC"/>
            </a:solidFill>
            <a:prstDash val="solid"/>
          </a:ln>
        </p:spPr>
        <p:txBody>
          <a:bodyPr/>
          <a:lstStyle/>
          <a:p>
            <a:endParaRPr lang="en-US"/>
          </a:p>
        </p:txBody>
      </p:sp>
      <p:sp>
        <p:nvSpPr>
          <p:cNvPr id="13" name="Shape 10"/>
          <p:cNvSpPr/>
          <p:nvPr/>
        </p:nvSpPr>
        <p:spPr>
          <a:xfrm>
            <a:off x="1865376" y="2414016"/>
            <a:ext cx="960120" cy="960120"/>
          </a:xfrm>
          <a:prstGeom prst="rect">
            <a:avLst/>
          </a:prstGeom>
          <a:solidFill>
            <a:srgbClr val="FEF3C7"/>
          </a:solidFill>
          <a:ln w="6350">
            <a:solidFill>
              <a:srgbClr val="FEF3C7"/>
            </a:solidFill>
            <a:prstDash val="solid"/>
          </a:ln>
        </p:spPr>
        <p:txBody>
          <a:bodyPr/>
          <a:lstStyle/>
          <a:p>
            <a:endParaRPr lang="en-US"/>
          </a:p>
        </p:txBody>
      </p:sp>
      <p:sp>
        <p:nvSpPr>
          <p:cNvPr id="14" name="Shape 11"/>
          <p:cNvSpPr/>
          <p:nvPr/>
        </p:nvSpPr>
        <p:spPr>
          <a:xfrm>
            <a:off x="2862072" y="2414016"/>
            <a:ext cx="960120" cy="960120"/>
          </a:xfrm>
          <a:prstGeom prst="rect">
            <a:avLst/>
          </a:prstGeom>
          <a:solidFill>
            <a:srgbClr val="FDE2E2"/>
          </a:solidFill>
          <a:ln w="6350">
            <a:solidFill>
              <a:srgbClr val="FDE2E2"/>
            </a:solidFill>
            <a:prstDash val="solid"/>
          </a:ln>
        </p:spPr>
        <p:txBody>
          <a:bodyPr/>
          <a:lstStyle/>
          <a:p>
            <a:endParaRPr lang="en-US"/>
          </a:p>
        </p:txBody>
      </p:sp>
      <p:sp>
        <p:nvSpPr>
          <p:cNvPr id="15" name="Shape 12"/>
          <p:cNvSpPr/>
          <p:nvPr/>
        </p:nvSpPr>
        <p:spPr>
          <a:xfrm>
            <a:off x="868680" y="3410712"/>
            <a:ext cx="960120" cy="960120"/>
          </a:xfrm>
          <a:prstGeom prst="rect">
            <a:avLst/>
          </a:prstGeom>
          <a:solidFill>
            <a:srgbClr val="E8F5EC"/>
          </a:solidFill>
          <a:ln w="6350">
            <a:solidFill>
              <a:srgbClr val="E8F5EC"/>
            </a:solidFill>
            <a:prstDash val="solid"/>
          </a:ln>
        </p:spPr>
        <p:txBody>
          <a:bodyPr/>
          <a:lstStyle/>
          <a:p>
            <a:endParaRPr lang="en-US"/>
          </a:p>
        </p:txBody>
      </p:sp>
      <p:sp>
        <p:nvSpPr>
          <p:cNvPr id="16" name="Shape 13"/>
          <p:cNvSpPr/>
          <p:nvPr/>
        </p:nvSpPr>
        <p:spPr>
          <a:xfrm>
            <a:off x="1865376" y="3410712"/>
            <a:ext cx="960120" cy="960120"/>
          </a:xfrm>
          <a:prstGeom prst="rect">
            <a:avLst/>
          </a:prstGeom>
          <a:solidFill>
            <a:srgbClr val="E8F5EC"/>
          </a:solidFill>
          <a:ln w="6350">
            <a:solidFill>
              <a:srgbClr val="E8F5EC"/>
            </a:solidFill>
            <a:prstDash val="solid"/>
          </a:ln>
        </p:spPr>
        <p:txBody>
          <a:bodyPr/>
          <a:lstStyle/>
          <a:p>
            <a:endParaRPr lang="en-US"/>
          </a:p>
        </p:txBody>
      </p:sp>
      <p:sp>
        <p:nvSpPr>
          <p:cNvPr id="17" name="Shape 14"/>
          <p:cNvSpPr/>
          <p:nvPr/>
        </p:nvSpPr>
        <p:spPr>
          <a:xfrm>
            <a:off x="2862072" y="3410712"/>
            <a:ext cx="960120" cy="960120"/>
          </a:xfrm>
          <a:prstGeom prst="rect">
            <a:avLst/>
          </a:prstGeom>
          <a:solidFill>
            <a:srgbClr val="FEF3C7"/>
          </a:solidFill>
          <a:ln w="6350">
            <a:solidFill>
              <a:srgbClr val="FEF3C7"/>
            </a:solidFill>
            <a:prstDash val="solid"/>
          </a:ln>
        </p:spPr>
        <p:txBody>
          <a:bodyPr/>
          <a:lstStyle/>
          <a:p>
            <a:endParaRPr lang="en-US"/>
          </a:p>
        </p:txBody>
      </p:sp>
      <p:sp>
        <p:nvSpPr>
          <p:cNvPr id="18" name="Text 15"/>
          <p:cNvSpPr txBox="1"/>
          <p:nvPr/>
        </p:nvSpPr>
        <p:spPr>
          <a:xfrm>
            <a:off x="868680" y="4443984"/>
            <a:ext cx="2926080" cy="219456"/>
          </a:xfrm>
          <a:prstGeom prst="rect">
            <a:avLst/>
          </a:prstGeom>
          <a:noFill/>
          <a:ln/>
        </p:spPr>
        <p:txBody>
          <a:bodyPr wrap="square" lIns="0" tIns="0" rIns="0" bIns="0" rtlCol="0" anchor="t"/>
          <a:lstStyle/>
          <a:p>
            <a:pPr marL="0" indent="0" algn="ctr">
              <a:buNone/>
            </a:pPr>
            <a:r>
              <a:rPr lang="en-US" sz="950" b="1" dirty="0">
                <a:solidFill>
                  <a:srgbClr val="0F172A"/>
                </a:solidFill>
                <a:latin typeface="Inter" pitchFamily="34" charset="0"/>
                <a:ea typeface="Inter" pitchFamily="34" charset="-122"/>
                <a:cs typeface="Inter" pitchFamily="34" charset="-120"/>
              </a:rPr>
              <a:t>Likelihood →</a:t>
            </a:r>
            <a:endParaRPr lang="en-US" sz="950" dirty="0"/>
          </a:p>
        </p:txBody>
      </p:sp>
      <p:sp>
        <p:nvSpPr>
          <p:cNvPr id="19" name="Text 16"/>
          <p:cNvSpPr txBox="1"/>
          <p:nvPr/>
        </p:nvSpPr>
        <p:spPr>
          <a:xfrm rot="16200000">
            <a:off x="-457200" y="2747772"/>
            <a:ext cx="2286000" cy="219456"/>
          </a:xfrm>
          <a:prstGeom prst="rect">
            <a:avLst/>
          </a:prstGeom>
          <a:noFill/>
          <a:ln/>
        </p:spPr>
        <p:txBody>
          <a:bodyPr wrap="square" lIns="0" tIns="0" rIns="0" bIns="0" rtlCol="0" anchor="t"/>
          <a:lstStyle/>
          <a:p>
            <a:pPr marL="0" indent="0" algn="ctr">
              <a:buNone/>
            </a:pPr>
            <a:r>
              <a:rPr lang="en-US" sz="950" b="1" dirty="0">
                <a:solidFill>
                  <a:srgbClr val="0F172A"/>
                </a:solidFill>
                <a:latin typeface="Inter" pitchFamily="34" charset="0"/>
                <a:ea typeface="Inter" pitchFamily="34" charset="-122"/>
                <a:cs typeface="Inter" pitchFamily="34" charset="-120"/>
              </a:rPr>
              <a:t>Impact →</a:t>
            </a:r>
            <a:endParaRPr lang="en-US" sz="950" dirty="0"/>
          </a:p>
        </p:txBody>
      </p:sp>
      <p:sp>
        <p:nvSpPr>
          <p:cNvPr id="20" name="Shape 17"/>
          <p:cNvSpPr/>
          <p:nvPr/>
        </p:nvSpPr>
        <p:spPr>
          <a:xfrm>
            <a:off x="3177540" y="1732788"/>
            <a:ext cx="329184" cy="329184"/>
          </a:xfrm>
          <a:prstGeom prst="ellipse">
            <a:avLst/>
          </a:prstGeom>
          <a:solidFill>
            <a:srgbClr val="0A1F44"/>
          </a:solidFill>
          <a:ln w="6350">
            <a:solidFill>
              <a:srgbClr val="0A1F44"/>
            </a:solidFill>
            <a:prstDash val="solid"/>
          </a:ln>
        </p:spPr>
        <p:txBody>
          <a:bodyPr/>
          <a:lstStyle/>
          <a:p>
            <a:endParaRPr lang="en-US"/>
          </a:p>
        </p:txBody>
      </p:sp>
      <p:sp>
        <p:nvSpPr>
          <p:cNvPr id="21" name="Text 18"/>
          <p:cNvSpPr txBox="1"/>
          <p:nvPr/>
        </p:nvSpPr>
        <p:spPr>
          <a:xfrm>
            <a:off x="3177540" y="173278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Inter" pitchFamily="34" charset="0"/>
                <a:ea typeface="Inter" pitchFamily="34" charset="-122"/>
                <a:cs typeface="Inter" pitchFamily="34" charset="-120"/>
              </a:rPr>
              <a:t>1</a:t>
            </a:r>
            <a:endParaRPr lang="en-US" sz="1200" dirty="0"/>
          </a:p>
        </p:txBody>
      </p:sp>
      <p:sp>
        <p:nvSpPr>
          <p:cNvPr id="22" name="Shape 19"/>
          <p:cNvSpPr/>
          <p:nvPr/>
        </p:nvSpPr>
        <p:spPr>
          <a:xfrm>
            <a:off x="2939796" y="2729484"/>
            <a:ext cx="329184" cy="329184"/>
          </a:xfrm>
          <a:prstGeom prst="ellipse">
            <a:avLst/>
          </a:prstGeom>
          <a:solidFill>
            <a:srgbClr val="0A1F44"/>
          </a:solidFill>
          <a:ln w="6350">
            <a:solidFill>
              <a:srgbClr val="0A1F44"/>
            </a:solidFill>
            <a:prstDash val="solid"/>
          </a:ln>
        </p:spPr>
        <p:txBody>
          <a:bodyPr/>
          <a:lstStyle/>
          <a:p>
            <a:endParaRPr lang="en-US"/>
          </a:p>
        </p:txBody>
      </p:sp>
      <p:sp>
        <p:nvSpPr>
          <p:cNvPr id="23" name="Text 20"/>
          <p:cNvSpPr txBox="1"/>
          <p:nvPr/>
        </p:nvSpPr>
        <p:spPr>
          <a:xfrm>
            <a:off x="2939796" y="272948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Inter" pitchFamily="34" charset="0"/>
                <a:ea typeface="Inter" pitchFamily="34" charset="-122"/>
                <a:cs typeface="Inter" pitchFamily="34" charset="-120"/>
              </a:rPr>
              <a:t>2</a:t>
            </a:r>
            <a:endParaRPr lang="en-US" sz="1200" dirty="0"/>
          </a:p>
        </p:txBody>
      </p:sp>
      <p:sp>
        <p:nvSpPr>
          <p:cNvPr id="24" name="Shape 21"/>
          <p:cNvSpPr/>
          <p:nvPr/>
        </p:nvSpPr>
        <p:spPr>
          <a:xfrm>
            <a:off x="1943100" y="2729484"/>
            <a:ext cx="329184" cy="329184"/>
          </a:xfrm>
          <a:prstGeom prst="ellipse">
            <a:avLst/>
          </a:prstGeom>
          <a:solidFill>
            <a:srgbClr val="0A1F44"/>
          </a:solidFill>
          <a:ln w="6350">
            <a:solidFill>
              <a:srgbClr val="0A1F44"/>
            </a:solidFill>
            <a:prstDash val="solid"/>
          </a:ln>
        </p:spPr>
        <p:txBody>
          <a:bodyPr/>
          <a:lstStyle/>
          <a:p>
            <a:endParaRPr lang="en-US"/>
          </a:p>
        </p:txBody>
      </p:sp>
      <p:sp>
        <p:nvSpPr>
          <p:cNvPr id="25" name="Text 22"/>
          <p:cNvSpPr txBox="1"/>
          <p:nvPr/>
        </p:nvSpPr>
        <p:spPr>
          <a:xfrm>
            <a:off x="1943100" y="272948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Inter" pitchFamily="34" charset="0"/>
                <a:ea typeface="Inter" pitchFamily="34" charset="-122"/>
                <a:cs typeface="Inter" pitchFamily="34" charset="-120"/>
              </a:rPr>
              <a:t>3</a:t>
            </a:r>
            <a:endParaRPr lang="en-US" sz="1200" dirty="0"/>
          </a:p>
        </p:txBody>
      </p:sp>
      <p:sp>
        <p:nvSpPr>
          <p:cNvPr id="26" name="Shape 23"/>
          <p:cNvSpPr/>
          <p:nvPr/>
        </p:nvSpPr>
        <p:spPr>
          <a:xfrm>
            <a:off x="2180844" y="1732788"/>
            <a:ext cx="329184" cy="329184"/>
          </a:xfrm>
          <a:prstGeom prst="ellipse">
            <a:avLst/>
          </a:prstGeom>
          <a:solidFill>
            <a:srgbClr val="0A1F44"/>
          </a:solidFill>
          <a:ln w="6350">
            <a:solidFill>
              <a:srgbClr val="0A1F44"/>
            </a:solidFill>
            <a:prstDash val="solid"/>
          </a:ln>
        </p:spPr>
        <p:txBody>
          <a:bodyPr/>
          <a:lstStyle/>
          <a:p>
            <a:endParaRPr lang="en-US"/>
          </a:p>
        </p:txBody>
      </p:sp>
      <p:sp>
        <p:nvSpPr>
          <p:cNvPr id="27" name="Text 24"/>
          <p:cNvSpPr txBox="1"/>
          <p:nvPr/>
        </p:nvSpPr>
        <p:spPr>
          <a:xfrm>
            <a:off x="2180844" y="173278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Inter" pitchFamily="34" charset="0"/>
                <a:ea typeface="Inter" pitchFamily="34" charset="-122"/>
                <a:cs typeface="Inter" pitchFamily="34" charset="-120"/>
              </a:rPr>
              <a:t>4</a:t>
            </a:r>
            <a:endParaRPr lang="en-US" sz="1200" dirty="0"/>
          </a:p>
        </p:txBody>
      </p:sp>
      <p:sp>
        <p:nvSpPr>
          <p:cNvPr id="28" name="Shape 25"/>
          <p:cNvSpPr/>
          <p:nvPr/>
        </p:nvSpPr>
        <p:spPr>
          <a:xfrm>
            <a:off x="2180844" y="3726180"/>
            <a:ext cx="329184" cy="329184"/>
          </a:xfrm>
          <a:prstGeom prst="ellipse">
            <a:avLst/>
          </a:prstGeom>
          <a:solidFill>
            <a:srgbClr val="0A1F44"/>
          </a:solidFill>
          <a:ln w="6350">
            <a:solidFill>
              <a:srgbClr val="0A1F44"/>
            </a:solidFill>
            <a:prstDash val="solid"/>
          </a:ln>
        </p:spPr>
        <p:txBody>
          <a:bodyPr/>
          <a:lstStyle/>
          <a:p>
            <a:endParaRPr lang="en-US"/>
          </a:p>
        </p:txBody>
      </p:sp>
      <p:sp>
        <p:nvSpPr>
          <p:cNvPr id="29" name="Text 26"/>
          <p:cNvSpPr txBox="1"/>
          <p:nvPr/>
        </p:nvSpPr>
        <p:spPr>
          <a:xfrm>
            <a:off x="2180844" y="372618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Inter" pitchFamily="34" charset="0"/>
                <a:ea typeface="Inter" pitchFamily="34" charset="-122"/>
                <a:cs typeface="Inter" pitchFamily="34" charset="-120"/>
              </a:rPr>
              <a:t>5</a:t>
            </a:r>
            <a:endParaRPr lang="en-US" sz="1200" dirty="0"/>
          </a:p>
        </p:txBody>
      </p:sp>
      <p:sp>
        <p:nvSpPr>
          <p:cNvPr id="30" name="Shape 27"/>
          <p:cNvSpPr/>
          <p:nvPr/>
        </p:nvSpPr>
        <p:spPr>
          <a:xfrm>
            <a:off x="3177540" y="3726180"/>
            <a:ext cx="329184" cy="329184"/>
          </a:xfrm>
          <a:prstGeom prst="ellipse">
            <a:avLst/>
          </a:prstGeom>
          <a:solidFill>
            <a:srgbClr val="0A1F44"/>
          </a:solidFill>
          <a:ln w="6350">
            <a:solidFill>
              <a:srgbClr val="0A1F44"/>
            </a:solidFill>
            <a:prstDash val="solid"/>
          </a:ln>
        </p:spPr>
        <p:txBody>
          <a:bodyPr/>
          <a:lstStyle/>
          <a:p>
            <a:endParaRPr lang="en-US"/>
          </a:p>
        </p:txBody>
      </p:sp>
      <p:sp>
        <p:nvSpPr>
          <p:cNvPr id="31" name="Text 28"/>
          <p:cNvSpPr txBox="1"/>
          <p:nvPr/>
        </p:nvSpPr>
        <p:spPr>
          <a:xfrm>
            <a:off x="3177540" y="372618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Inter" pitchFamily="34" charset="0"/>
                <a:ea typeface="Inter" pitchFamily="34" charset="-122"/>
                <a:cs typeface="Inter" pitchFamily="34" charset="-120"/>
              </a:rPr>
              <a:t>6</a:t>
            </a:r>
            <a:endParaRPr lang="en-US" sz="1200" dirty="0"/>
          </a:p>
        </p:txBody>
      </p:sp>
      <p:sp>
        <p:nvSpPr>
          <p:cNvPr id="32" name="Shape 29"/>
          <p:cNvSpPr/>
          <p:nvPr/>
        </p:nvSpPr>
        <p:spPr>
          <a:xfrm>
            <a:off x="3415284" y="2729484"/>
            <a:ext cx="329184" cy="329184"/>
          </a:xfrm>
          <a:prstGeom prst="ellipse">
            <a:avLst/>
          </a:prstGeom>
          <a:solidFill>
            <a:srgbClr val="0A1F44"/>
          </a:solidFill>
          <a:ln w="6350">
            <a:solidFill>
              <a:srgbClr val="0A1F44"/>
            </a:solidFill>
            <a:prstDash val="solid"/>
          </a:ln>
        </p:spPr>
        <p:txBody>
          <a:bodyPr/>
          <a:lstStyle/>
          <a:p>
            <a:endParaRPr lang="en-US"/>
          </a:p>
        </p:txBody>
      </p:sp>
      <p:sp>
        <p:nvSpPr>
          <p:cNvPr id="33" name="Text 30"/>
          <p:cNvSpPr txBox="1"/>
          <p:nvPr/>
        </p:nvSpPr>
        <p:spPr>
          <a:xfrm>
            <a:off x="3415284" y="272948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Inter" pitchFamily="34" charset="0"/>
                <a:ea typeface="Inter" pitchFamily="34" charset="-122"/>
                <a:cs typeface="Inter" pitchFamily="34" charset="-120"/>
              </a:rPr>
              <a:t>7</a:t>
            </a:r>
            <a:endParaRPr lang="en-US" sz="1200" dirty="0"/>
          </a:p>
        </p:txBody>
      </p:sp>
      <p:sp>
        <p:nvSpPr>
          <p:cNvPr id="34" name="Shape 31"/>
          <p:cNvSpPr/>
          <p:nvPr/>
        </p:nvSpPr>
        <p:spPr>
          <a:xfrm>
            <a:off x="1184148" y="1732788"/>
            <a:ext cx="329184" cy="329184"/>
          </a:xfrm>
          <a:prstGeom prst="ellipse">
            <a:avLst/>
          </a:prstGeom>
          <a:solidFill>
            <a:srgbClr val="0A1F44"/>
          </a:solidFill>
          <a:ln w="6350">
            <a:solidFill>
              <a:srgbClr val="0A1F44"/>
            </a:solidFill>
            <a:prstDash val="solid"/>
          </a:ln>
        </p:spPr>
        <p:txBody>
          <a:bodyPr/>
          <a:lstStyle/>
          <a:p>
            <a:endParaRPr lang="en-US"/>
          </a:p>
        </p:txBody>
      </p:sp>
      <p:sp>
        <p:nvSpPr>
          <p:cNvPr id="35" name="Text 32"/>
          <p:cNvSpPr txBox="1"/>
          <p:nvPr/>
        </p:nvSpPr>
        <p:spPr>
          <a:xfrm>
            <a:off x="1184148" y="173278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Inter" pitchFamily="34" charset="0"/>
                <a:ea typeface="Inter" pitchFamily="34" charset="-122"/>
                <a:cs typeface="Inter" pitchFamily="34" charset="-120"/>
              </a:rPr>
              <a:t>8</a:t>
            </a:r>
            <a:endParaRPr lang="en-US" sz="1200" dirty="0"/>
          </a:p>
        </p:txBody>
      </p:sp>
      <p:sp>
        <p:nvSpPr>
          <p:cNvPr id="36" name="Shape 33"/>
          <p:cNvSpPr/>
          <p:nvPr/>
        </p:nvSpPr>
        <p:spPr>
          <a:xfrm>
            <a:off x="2418588" y="2729484"/>
            <a:ext cx="329184" cy="329184"/>
          </a:xfrm>
          <a:prstGeom prst="ellipse">
            <a:avLst/>
          </a:prstGeom>
          <a:solidFill>
            <a:srgbClr val="0A1F44"/>
          </a:solidFill>
          <a:ln w="6350">
            <a:solidFill>
              <a:srgbClr val="0A1F44"/>
            </a:solidFill>
            <a:prstDash val="solid"/>
          </a:ln>
        </p:spPr>
        <p:txBody>
          <a:bodyPr/>
          <a:lstStyle/>
          <a:p>
            <a:endParaRPr lang="en-US"/>
          </a:p>
        </p:txBody>
      </p:sp>
      <p:sp>
        <p:nvSpPr>
          <p:cNvPr id="37" name="Text 34"/>
          <p:cNvSpPr txBox="1"/>
          <p:nvPr/>
        </p:nvSpPr>
        <p:spPr>
          <a:xfrm>
            <a:off x="2418588" y="272948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Inter" pitchFamily="34" charset="0"/>
                <a:ea typeface="Inter" pitchFamily="34" charset="-122"/>
                <a:cs typeface="Inter" pitchFamily="34" charset="-120"/>
              </a:rPr>
              <a:t>9</a:t>
            </a:r>
            <a:endParaRPr lang="en-US" sz="1200" dirty="0"/>
          </a:p>
        </p:txBody>
      </p:sp>
      <p:sp>
        <p:nvSpPr>
          <p:cNvPr id="38" name="Shape 35"/>
          <p:cNvSpPr/>
          <p:nvPr/>
        </p:nvSpPr>
        <p:spPr>
          <a:xfrm>
            <a:off x="4206240" y="1316736"/>
            <a:ext cx="329184" cy="329184"/>
          </a:xfrm>
          <a:prstGeom prst="ellipse">
            <a:avLst/>
          </a:prstGeom>
          <a:solidFill>
            <a:srgbClr val="0A1F44"/>
          </a:solidFill>
          <a:ln w="6350">
            <a:solidFill>
              <a:srgbClr val="0A1F44"/>
            </a:solidFill>
            <a:prstDash val="solid"/>
          </a:ln>
        </p:spPr>
        <p:txBody>
          <a:bodyPr/>
          <a:lstStyle/>
          <a:p>
            <a:endParaRPr lang="en-US"/>
          </a:p>
        </p:txBody>
      </p:sp>
      <p:sp>
        <p:nvSpPr>
          <p:cNvPr id="39" name="Text 36"/>
          <p:cNvSpPr txBox="1"/>
          <p:nvPr/>
        </p:nvSpPr>
        <p:spPr>
          <a:xfrm>
            <a:off x="4206240" y="131673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Inter" pitchFamily="34" charset="0"/>
                <a:ea typeface="Inter" pitchFamily="34" charset="-122"/>
                <a:cs typeface="Inter" pitchFamily="34" charset="-120"/>
              </a:rPr>
              <a:t>1</a:t>
            </a:r>
            <a:endParaRPr lang="en-US" sz="1200" dirty="0"/>
          </a:p>
        </p:txBody>
      </p:sp>
      <p:sp>
        <p:nvSpPr>
          <p:cNvPr id="40" name="Text 37"/>
          <p:cNvSpPr txBox="1"/>
          <p:nvPr/>
        </p:nvSpPr>
        <p:spPr>
          <a:xfrm>
            <a:off x="4663440" y="1261872"/>
            <a:ext cx="2743200" cy="457200"/>
          </a:xfrm>
          <a:prstGeom prst="rect">
            <a:avLst/>
          </a:prstGeom>
          <a:noFill/>
          <a:ln/>
        </p:spPr>
        <p:txBody>
          <a:bodyPr wrap="square" lIns="0" tIns="0" rIns="0" bIns="0" rtlCol="0" anchor="ctr"/>
          <a:lstStyle/>
          <a:p>
            <a:pPr marL="0" indent="0">
              <a:buNone/>
            </a:pPr>
            <a:r>
              <a:rPr lang="en-US" sz="1100" b="1" dirty="0">
                <a:solidFill>
                  <a:srgbClr val="0A1F44"/>
                </a:solidFill>
                <a:latin typeface="Inter" pitchFamily="34" charset="0"/>
                <a:ea typeface="Inter" pitchFamily="34" charset="-122"/>
                <a:cs typeface="Inter" pitchFamily="34" charset="-120"/>
              </a:rPr>
              <a:t>Selection bias inflates lift</a:t>
            </a:r>
            <a:endParaRPr lang="en-US" sz="1100" dirty="0"/>
          </a:p>
        </p:txBody>
      </p:sp>
      <p:sp>
        <p:nvSpPr>
          <p:cNvPr id="41" name="Text 38"/>
          <p:cNvSpPr txBox="1"/>
          <p:nvPr/>
        </p:nvSpPr>
        <p:spPr>
          <a:xfrm>
            <a:off x="7498080" y="1261872"/>
            <a:ext cx="4187952" cy="457200"/>
          </a:xfrm>
          <a:prstGeom prst="rect">
            <a:avLst/>
          </a:prstGeom>
          <a:noFill/>
          <a:ln/>
        </p:spPr>
        <p:txBody>
          <a:bodyPr wrap="square" lIns="0" tIns="0" rIns="0" bIns="0" rtlCol="0" anchor="ctr"/>
          <a:lstStyle/>
          <a:p>
            <a:pPr marL="0" indent="0">
              <a:buNone/>
            </a:pPr>
            <a:r>
              <a:rPr lang="en-US" sz="950" b="1" dirty="0">
                <a:solidFill>
                  <a:srgbClr val="1D4ED8"/>
                </a:solidFill>
                <a:latin typeface="Inter" pitchFamily="34" charset="0"/>
                <a:ea typeface="Inter" pitchFamily="34" charset="-122"/>
                <a:cs typeface="Inter" pitchFamily="34" charset="-120"/>
              </a:rPr>
              <a:t>Mitigation: </a:t>
            </a:r>
            <a:r>
              <a:rPr lang="en-US" sz="950" dirty="0">
                <a:solidFill>
                  <a:srgbClr val="0F172A"/>
                </a:solidFill>
                <a:latin typeface="Inter" pitchFamily="34" charset="0"/>
                <a:ea typeface="Inter" pitchFamily="34" charset="-122"/>
                <a:cs typeface="Inter" pitchFamily="34" charset="-120"/>
              </a:rPr>
              <a:t>Randomized 10% holdout</a:t>
            </a:r>
            <a:endParaRPr lang="en-US" sz="950" dirty="0"/>
          </a:p>
          <a:p>
            <a:pPr marL="0" indent="0">
              <a:buNone/>
            </a:pPr>
            <a:r>
              <a:rPr lang="en-US" sz="950" b="1" dirty="0">
                <a:solidFill>
                  <a:srgbClr val="D97706"/>
                </a:solidFill>
                <a:latin typeface="Inter" pitchFamily="34" charset="0"/>
                <a:ea typeface="Inter" pitchFamily="34" charset="-122"/>
                <a:cs typeface="Inter" pitchFamily="34" charset="-120"/>
              </a:rPr>
              <a:t>Early warning: </a:t>
            </a:r>
            <a:r>
              <a:rPr lang="en-US" sz="950" dirty="0">
                <a:solidFill>
                  <a:srgbClr val="0F172A"/>
                </a:solidFill>
                <a:latin typeface="Inter" pitchFamily="34" charset="0"/>
                <a:ea typeface="Inter" pitchFamily="34" charset="-122"/>
                <a:cs typeface="Inter" pitchFamily="34" charset="-120"/>
              </a:rPr>
              <a:t>holdout gap shrinks</a:t>
            </a:r>
            <a:endParaRPr lang="en-US" sz="950" dirty="0"/>
          </a:p>
        </p:txBody>
      </p:sp>
      <p:sp>
        <p:nvSpPr>
          <p:cNvPr id="42" name="Shape 39"/>
          <p:cNvSpPr/>
          <p:nvPr/>
        </p:nvSpPr>
        <p:spPr>
          <a:xfrm>
            <a:off x="4206240" y="1837944"/>
            <a:ext cx="329184" cy="329184"/>
          </a:xfrm>
          <a:prstGeom prst="ellipse">
            <a:avLst/>
          </a:prstGeom>
          <a:solidFill>
            <a:srgbClr val="0A1F44"/>
          </a:solidFill>
          <a:ln w="6350">
            <a:solidFill>
              <a:srgbClr val="0A1F44"/>
            </a:solidFill>
            <a:prstDash val="solid"/>
          </a:ln>
        </p:spPr>
        <p:txBody>
          <a:bodyPr/>
          <a:lstStyle/>
          <a:p>
            <a:endParaRPr lang="en-US"/>
          </a:p>
        </p:txBody>
      </p:sp>
      <p:sp>
        <p:nvSpPr>
          <p:cNvPr id="43" name="Text 40"/>
          <p:cNvSpPr txBox="1"/>
          <p:nvPr/>
        </p:nvSpPr>
        <p:spPr>
          <a:xfrm>
            <a:off x="4206240" y="183794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Inter" pitchFamily="34" charset="0"/>
                <a:ea typeface="Inter" pitchFamily="34" charset="-122"/>
                <a:cs typeface="Inter" pitchFamily="34" charset="-120"/>
              </a:rPr>
              <a:t>2</a:t>
            </a:r>
            <a:endParaRPr lang="en-US" sz="1200" dirty="0"/>
          </a:p>
        </p:txBody>
      </p:sp>
      <p:sp>
        <p:nvSpPr>
          <p:cNvPr id="44" name="Text 41"/>
          <p:cNvSpPr txBox="1"/>
          <p:nvPr/>
        </p:nvSpPr>
        <p:spPr>
          <a:xfrm>
            <a:off x="4663440" y="1783080"/>
            <a:ext cx="2743200" cy="457200"/>
          </a:xfrm>
          <a:prstGeom prst="rect">
            <a:avLst/>
          </a:prstGeom>
          <a:noFill/>
          <a:ln/>
        </p:spPr>
        <p:txBody>
          <a:bodyPr wrap="square" lIns="0" tIns="0" rIns="0" bIns="0" rtlCol="0" anchor="ctr"/>
          <a:lstStyle/>
          <a:p>
            <a:pPr marL="0" indent="0">
              <a:buNone/>
            </a:pPr>
            <a:r>
              <a:rPr lang="en-US" sz="1100" b="1" dirty="0">
                <a:solidFill>
                  <a:srgbClr val="0A1F44"/>
                </a:solidFill>
                <a:latin typeface="Inter" pitchFamily="34" charset="0"/>
                <a:ea typeface="Inter" pitchFamily="34" charset="-122"/>
                <a:cs typeface="Inter" pitchFamily="34" charset="-120"/>
              </a:rPr>
              <a:t>Channel owners resist cuts</a:t>
            </a:r>
            <a:endParaRPr lang="en-US" sz="1100" dirty="0"/>
          </a:p>
        </p:txBody>
      </p:sp>
      <p:sp>
        <p:nvSpPr>
          <p:cNvPr id="45" name="Text 42"/>
          <p:cNvSpPr txBox="1"/>
          <p:nvPr/>
        </p:nvSpPr>
        <p:spPr>
          <a:xfrm>
            <a:off x="7498080" y="1783080"/>
            <a:ext cx="4187952" cy="457200"/>
          </a:xfrm>
          <a:prstGeom prst="rect">
            <a:avLst/>
          </a:prstGeom>
          <a:noFill/>
          <a:ln/>
        </p:spPr>
        <p:txBody>
          <a:bodyPr wrap="square" lIns="0" tIns="0" rIns="0" bIns="0" rtlCol="0" anchor="ctr"/>
          <a:lstStyle/>
          <a:p>
            <a:pPr marL="0" indent="0">
              <a:buNone/>
            </a:pPr>
            <a:r>
              <a:rPr lang="en-US" sz="950" b="1" dirty="0">
                <a:solidFill>
                  <a:srgbClr val="1D4ED8"/>
                </a:solidFill>
                <a:latin typeface="Inter" pitchFamily="34" charset="0"/>
                <a:ea typeface="Inter" pitchFamily="34" charset="-122"/>
                <a:cs typeface="Inter" pitchFamily="34" charset="-120"/>
              </a:rPr>
              <a:t>Mitigation: </a:t>
            </a:r>
            <a:r>
              <a:rPr lang="en-US" sz="950" dirty="0">
                <a:solidFill>
                  <a:srgbClr val="0F172A"/>
                </a:solidFill>
                <a:latin typeface="Inter" pitchFamily="34" charset="0"/>
                <a:ea typeface="Inter" pitchFamily="34" charset="-122"/>
                <a:cs typeface="Inter" pitchFamily="34" charset="-120"/>
              </a:rPr>
              <a:t>Scorecards on incremental revenue</a:t>
            </a:r>
            <a:endParaRPr lang="en-US" sz="950" dirty="0"/>
          </a:p>
          <a:p>
            <a:pPr marL="0" indent="0">
              <a:buNone/>
            </a:pPr>
            <a:r>
              <a:rPr lang="en-US" sz="950" b="1" dirty="0">
                <a:solidFill>
                  <a:srgbClr val="D97706"/>
                </a:solidFill>
                <a:latin typeface="Inter" pitchFamily="34" charset="0"/>
                <a:ea typeface="Inter" pitchFamily="34" charset="-122"/>
                <a:cs typeface="Inter" pitchFamily="34" charset="-120"/>
              </a:rPr>
              <a:t>Early warning: </a:t>
            </a:r>
            <a:r>
              <a:rPr lang="en-US" sz="950" dirty="0">
                <a:solidFill>
                  <a:srgbClr val="0F172A"/>
                </a:solidFill>
                <a:latin typeface="Inter" pitchFamily="34" charset="0"/>
                <a:ea typeface="Inter" pitchFamily="34" charset="-122"/>
                <a:cs typeface="Inter" pitchFamily="34" charset="-120"/>
              </a:rPr>
              <a:t>escalations at the weekly council</a:t>
            </a:r>
            <a:endParaRPr lang="en-US" sz="950" dirty="0"/>
          </a:p>
        </p:txBody>
      </p:sp>
      <p:sp>
        <p:nvSpPr>
          <p:cNvPr id="46" name="Shape 43"/>
          <p:cNvSpPr/>
          <p:nvPr/>
        </p:nvSpPr>
        <p:spPr>
          <a:xfrm>
            <a:off x="4206240" y="2359152"/>
            <a:ext cx="329184" cy="329184"/>
          </a:xfrm>
          <a:prstGeom prst="ellipse">
            <a:avLst/>
          </a:prstGeom>
          <a:solidFill>
            <a:srgbClr val="0A1F44"/>
          </a:solidFill>
          <a:ln w="6350">
            <a:solidFill>
              <a:srgbClr val="0A1F44"/>
            </a:solidFill>
            <a:prstDash val="solid"/>
          </a:ln>
        </p:spPr>
        <p:txBody>
          <a:bodyPr/>
          <a:lstStyle/>
          <a:p>
            <a:endParaRPr lang="en-US"/>
          </a:p>
        </p:txBody>
      </p:sp>
      <p:sp>
        <p:nvSpPr>
          <p:cNvPr id="47" name="Text 44"/>
          <p:cNvSpPr txBox="1"/>
          <p:nvPr/>
        </p:nvSpPr>
        <p:spPr>
          <a:xfrm>
            <a:off x="4206240" y="235915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Inter" pitchFamily="34" charset="0"/>
                <a:ea typeface="Inter" pitchFamily="34" charset="-122"/>
                <a:cs typeface="Inter" pitchFamily="34" charset="-120"/>
              </a:rPr>
              <a:t>3</a:t>
            </a:r>
            <a:endParaRPr lang="en-US" sz="1200" dirty="0"/>
          </a:p>
        </p:txBody>
      </p:sp>
      <p:sp>
        <p:nvSpPr>
          <p:cNvPr id="48" name="Text 45"/>
          <p:cNvSpPr txBox="1"/>
          <p:nvPr/>
        </p:nvSpPr>
        <p:spPr>
          <a:xfrm>
            <a:off x="4663440" y="2304288"/>
            <a:ext cx="2743200" cy="457200"/>
          </a:xfrm>
          <a:prstGeom prst="rect">
            <a:avLst/>
          </a:prstGeom>
          <a:noFill/>
          <a:ln/>
        </p:spPr>
        <p:txBody>
          <a:bodyPr wrap="square" lIns="0" tIns="0" rIns="0" bIns="0" rtlCol="0" anchor="ctr"/>
          <a:lstStyle/>
          <a:p>
            <a:pPr marL="0" indent="0">
              <a:buNone/>
            </a:pPr>
            <a:r>
              <a:rPr lang="en-US" sz="1100" b="1" dirty="0">
                <a:solidFill>
                  <a:srgbClr val="0A1F44"/>
                </a:solidFill>
                <a:latin typeface="Inter" pitchFamily="34" charset="0"/>
                <a:ea typeface="Inter" pitchFamily="34" charset="-122"/>
                <a:cs typeface="Inter" pitchFamily="34" charset="-120"/>
              </a:rPr>
              <a:t>Message fatigue, unsubscribes</a:t>
            </a:r>
            <a:endParaRPr lang="en-US" sz="1100" dirty="0"/>
          </a:p>
        </p:txBody>
      </p:sp>
      <p:sp>
        <p:nvSpPr>
          <p:cNvPr id="49" name="Text 46"/>
          <p:cNvSpPr txBox="1"/>
          <p:nvPr/>
        </p:nvSpPr>
        <p:spPr>
          <a:xfrm>
            <a:off x="7498080" y="2304288"/>
            <a:ext cx="4187952" cy="457200"/>
          </a:xfrm>
          <a:prstGeom prst="rect">
            <a:avLst/>
          </a:prstGeom>
          <a:noFill/>
          <a:ln/>
        </p:spPr>
        <p:txBody>
          <a:bodyPr wrap="square" lIns="0" tIns="0" rIns="0" bIns="0" rtlCol="0" anchor="ctr"/>
          <a:lstStyle/>
          <a:p>
            <a:pPr marL="0" indent="0">
              <a:buNone/>
            </a:pPr>
            <a:r>
              <a:rPr lang="en-US" sz="950" b="1" dirty="0">
                <a:solidFill>
                  <a:srgbClr val="1D4ED8"/>
                </a:solidFill>
                <a:latin typeface="Inter" pitchFamily="34" charset="0"/>
                <a:ea typeface="Inter" pitchFamily="34" charset="-122"/>
                <a:cs typeface="Inter" pitchFamily="34" charset="-120"/>
              </a:rPr>
              <a:t>Mitigation: </a:t>
            </a:r>
            <a:r>
              <a:rPr lang="en-US" sz="950" dirty="0">
                <a:solidFill>
                  <a:srgbClr val="0F172A"/>
                </a:solidFill>
                <a:latin typeface="Inter" pitchFamily="34" charset="0"/>
                <a:ea typeface="Inter" pitchFamily="34" charset="-122"/>
                <a:cs typeface="Inter" pitchFamily="34" charset="-120"/>
              </a:rPr>
              <a:t>Fewer, triggered sends</a:t>
            </a:r>
            <a:endParaRPr lang="en-US" sz="950" dirty="0"/>
          </a:p>
          <a:p>
            <a:pPr marL="0" indent="0">
              <a:buNone/>
            </a:pPr>
            <a:r>
              <a:rPr lang="en-US" sz="950" b="1" dirty="0">
                <a:solidFill>
                  <a:srgbClr val="D97706"/>
                </a:solidFill>
                <a:latin typeface="Inter" pitchFamily="34" charset="0"/>
                <a:ea typeface="Inter" pitchFamily="34" charset="-122"/>
                <a:cs typeface="Inter" pitchFamily="34" charset="-120"/>
              </a:rPr>
              <a:t>Early warning: </a:t>
            </a:r>
            <a:r>
              <a:rPr lang="en-US" sz="950" dirty="0">
                <a:solidFill>
                  <a:srgbClr val="0F172A"/>
                </a:solidFill>
                <a:latin typeface="Inter" pitchFamily="34" charset="0"/>
                <a:ea typeface="Inter" pitchFamily="34" charset="-122"/>
                <a:cs typeface="Inter" pitchFamily="34" charset="-120"/>
              </a:rPr>
              <a:t>unsubscribes above pre-pilot rate</a:t>
            </a:r>
            <a:endParaRPr lang="en-US" sz="950" dirty="0"/>
          </a:p>
        </p:txBody>
      </p:sp>
      <p:sp>
        <p:nvSpPr>
          <p:cNvPr id="50" name="Shape 47"/>
          <p:cNvSpPr/>
          <p:nvPr/>
        </p:nvSpPr>
        <p:spPr>
          <a:xfrm>
            <a:off x="4206240" y="2880360"/>
            <a:ext cx="329184" cy="329184"/>
          </a:xfrm>
          <a:prstGeom prst="ellipse">
            <a:avLst/>
          </a:prstGeom>
          <a:solidFill>
            <a:srgbClr val="0A1F44"/>
          </a:solidFill>
          <a:ln w="6350">
            <a:solidFill>
              <a:srgbClr val="0A1F44"/>
            </a:solidFill>
            <a:prstDash val="solid"/>
          </a:ln>
        </p:spPr>
        <p:txBody>
          <a:bodyPr/>
          <a:lstStyle/>
          <a:p>
            <a:endParaRPr lang="en-US"/>
          </a:p>
        </p:txBody>
      </p:sp>
      <p:sp>
        <p:nvSpPr>
          <p:cNvPr id="51" name="Text 48"/>
          <p:cNvSpPr txBox="1"/>
          <p:nvPr/>
        </p:nvSpPr>
        <p:spPr>
          <a:xfrm>
            <a:off x="4206240" y="288036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Inter" pitchFamily="34" charset="0"/>
                <a:ea typeface="Inter" pitchFamily="34" charset="-122"/>
                <a:cs typeface="Inter" pitchFamily="34" charset="-120"/>
              </a:rPr>
              <a:t>4</a:t>
            </a:r>
            <a:endParaRPr lang="en-US" sz="1200" dirty="0"/>
          </a:p>
        </p:txBody>
      </p:sp>
      <p:sp>
        <p:nvSpPr>
          <p:cNvPr id="52" name="Text 49"/>
          <p:cNvSpPr txBox="1"/>
          <p:nvPr/>
        </p:nvSpPr>
        <p:spPr>
          <a:xfrm>
            <a:off x="4663440" y="2825496"/>
            <a:ext cx="2743200" cy="457200"/>
          </a:xfrm>
          <a:prstGeom prst="rect">
            <a:avLst/>
          </a:prstGeom>
          <a:noFill/>
          <a:ln/>
        </p:spPr>
        <p:txBody>
          <a:bodyPr wrap="square" lIns="0" tIns="0" rIns="0" bIns="0" rtlCol="0" anchor="ctr"/>
          <a:lstStyle/>
          <a:p>
            <a:pPr marL="0" indent="0">
              <a:buNone/>
            </a:pPr>
            <a:r>
              <a:rPr lang="en-US" sz="1100" b="1" dirty="0">
                <a:solidFill>
                  <a:srgbClr val="0A1F44"/>
                </a:solidFill>
                <a:latin typeface="Inter" pitchFamily="34" charset="0"/>
                <a:ea typeface="Inter" pitchFamily="34" charset="-122"/>
                <a:cs typeface="Inter" pitchFamily="34" charset="-120"/>
              </a:rPr>
              <a:t>Consent and privacy (CCPA)</a:t>
            </a:r>
            <a:endParaRPr lang="en-US" sz="1100" dirty="0"/>
          </a:p>
        </p:txBody>
      </p:sp>
      <p:sp>
        <p:nvSpPr>
          <p:cNvPr id="53" name="Text 50"/>
          <p:cNvSpPr txBox="1"/>
          <p:nvPr/>
        </p:nvSpPr>
        <p:spPr>
          <a:xfrm>
            <a:off x="7498080" y="2825496"/>
            <a:ext cx="4187952" cy="457200"/>
          </a:xfrm>
          <a:prstGeom prst="rect">
            <a:avLst/>
          </a:prstGeom>
          <a:noFill/>
          <a:ln/>
        </p:spPr>
        <p:txBody>
          <a:bodyPr wrap="square" lIns="0" tIns="0" rIns="0" bIns="0" rtlCol="0" anchor="ctr"/>
          <a:lstStyle/>
          <a:p>
            <a:pPr marL="0" indent="0">
              <a:buNone/>
            </a:pPr>
            <a:r>
              <a:rPr lang="en-US" sz="950" b="1" dirty="0">
                <a:solidFill>
                  <a:srgbClr val="1D4ED8"/>
                </a:solidFill>
                <a:latin typeface="Inter" pitchFamily="34" charset="0"/>
                <a:ea typeface="Inter" pitchFamily="34" charset="-122"/>
                <a:cs typeface="Inter" pitchFamily="34" charset="-120"/>
              </a:rPr>
              <a:t>Mitigation: </a:t>
            </a:r>
            <a:r>
              <a:rPr lang="en-US" sz="950" dirty="0">
                <a:solidFill>
                  <a:srgbClr val="0F172A"/>
                </a:solidFill>
                <a:latin typeface="Inter" pitchFamily="34" charset="0"/>
                <a:ea typeface="Inter" pitchFamily="34" charset="-122"/>
                <a:cs typeface="Inter" pitchFamily="34" charset="-120"/>
              </a:rPr>
              <a:t>Transactional and marketing consent split</a:t>
            </a:r>
            <a:endParaRPr lang="en-US" sz="950" dirty="0"/>
          </a:p>
          <a:p>
            <a:pPr marL="0" indent="0">
              <a:buNone/>
            </a:pPr>
            <a:r>
              <a:rPr lang="en-US" sz="950" b="1" dirty="0">
                <a:solidFill>
                  <a:srgbClr val="D97706"/>
                </a:solidFill>
                <a:latin typeface="Inter" pitchFamily="34" charset="0"/>
                <a:ea typeface="Inter" pitchFamily="34" charset="-122"/>
                <a:cs typeface="Inter" pitchFamily="34" charset="-120"/>
              </a:rPr>
              <a:t>Early warning: </a:t>
            </a:r>
            <a:r>
              <a:rPr lang="en-US" sz="950" dirty="0">
                <a:solidFill>
                  <a:srgbClr val="0F172A"/>
                </a:solidFill>
                <a:latin typeface="Inter" pitchFamily="34" charset="0"/>
                <a:ea typeface="Inter" pitchFamily="34" charset="-122"/>
                <a:cs typeface="Inter" pitchFamily="34" charset="-120"/>
              </a:rPr>
              <a:t>consent complaints</a:t>
            </a:r>
            <a:endParaRPr lang="en-US" sz="950" dirty="0"/>
          </a:p>
        </p:txBody>
      </p:sp>
      <p:sp>
        <p:nvSpPr>
          <p:cNvPr id="54" name="Shape 51"/>
          <p:cNvSpPr/>
          <p:nvPr/>
        </p:nvSpPr>
        <p:spPr>
          <a:xfrm>
            <a:off x="4206240" y="3401568"/>
            <a:ext cx="329184" cy="329184"/>
          </a:xfrm>
          <a:prstGeom prst="ellipse">
            <a:avLst/>
          </a:prstGeom>
          <a:solidFill>
            <a:srgbClr val="0A1F44"/>
          </a:solidFill>
          <a:ln w="6350">
            <a:solidFill>
              <a:srgbClr val="0A1F44"/>
            </a:solidFill>
            <a:prstDash val="solid"/>
          </a:ln>
        </p:spPr>
        <p:txBody>
          <a:bodyPr/>
          <a:lstStyle/>
          <a:p>
            <a:endParaRPr lang="en-US"/>
          </a:p>
        </p:txBody>
      </p:sp>
      <p:sp>
        <p:nvSpPr>
          <p:cNvPr id="55" name="Text 52"/>
          <p:cNvSpPr txBox="1"/>
          <p:nvPr/>
        </p:nvSpPr>
        <p:spPr>
          <a:xfrm>
            <a:off x="4206240" y="340156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Inter" pitchFamily="34" charset="0"/>
                <a:ea typeface="Inter" pitchFamily="34" charset="-122"/>
                <a:cs typeface="Inter" pitchFamily="34" charset="-120"/>
              </a:rPr>
              <a:t>5</a:t>
            </a:r>
            <a:endParaRPr lang="en-US" sz="1200" dirty="0"/>
          </a:p>
        </p:txBody>
      </p:sp>
      <p:sp>
        <p:nvSpPr>
          <p:cNvPr id="56" name="Text 53"/>
          <p:cNvSpPr txBox="1"/>
          <p:nvPr/>
        </p:nvSpPr>
        <p:spPr>
          <a:xfrm>
            <a:off x="4663440" y="3346704"/>
            <a:ext cx="2743200" cy="457200"/>
          </a:xfrm>
          <a:prstGeom prst="rect">
            <a:avLst/>
          </a:prstGeom>
          <a:noFill/>
          <a:ln/>
        </p:spPr>
        <p:txBody>
          <a:bodyPr wrap="square" lIns="0" tIns="0" rIns="0" bIns="0" rtlCol="0" anchor="ctr"/>
          <a:lstStyle/>
          <a:p>
            <a:pPr marL="0" indent="0">
              <a:buNone/>
            </a:pPr>
            <a:r>
              <a:rPr lang="en-US" sz="1100" b="1" dirty="0">
                <a:solidFill>
                  <a:srgbClr val="0A1F44"/>
                </a:solidFill>
                <a:latin typeface="Inter" pitchFamily="34" charset="0"/>
                <a:ea typeface="Inter" pitchFamily="34" charset="-122"/>
                <a:cs typeface="Inter" pitchFamily="34" charset="-120"/>
              </a:rPr>
              <a:t>The Fitting Room doesn't pay back</a:t>
            </a:r>
            <a:endParaRPr lang="en-US" sz="1100" dirty="0"/>
          </a:p>
        </p:txBody>
      </p:sp>
      <p:sp>
        <p:nvSpPr>
          <p:cNvPr id="57" name="Text 54"/>
          <p:cNvSpPr txBox="1"/>
          <p:nvPr/>
        </p:nvSpPr>
        <p:spPr>
          <a:xfrm>
            <a:off x="7498080" y="3346704"/>
            <a:ext cx="4187952" cy="457200"/>
          </a:xfrm>
          <a:prstGeom prst="rect">
            <a:avLst/>
          </a:prstGeom>
          <a:noFill/>
          <a:ln/>
        </p:spPr>
        <p:txBody>
          <a:bodyPr wrap="square" lIns="0" tIns="0" rIns="0" bIns="0" rtlCol="0" anchor="ctr"/>
          <a:lstStyle/>
          <a:p>
            <a:pPr marL="0" indent="0">
              <a:buNone/>
            </a:pPr>
            <a:r>
              <a:rPr lang="en-US" sz="950" b="1" dirty="0">
                <a:solidFill>
                  <a:srgbClr val="1D4ED8"/>
                </a:solidFill>
                <a:latin typeface="Inter" pitchFamily="34" charset="0"/>
                <a:ea typeface="Inter" pitchFamily="34" charset="-122"/>
                <a:cs typeface="Inter" pitchFamily="34" charset="-120"/>
              </a:rPr>
              <a:t>Mitigation: </a:t>
            </a:r>
            <a:r>
              <a:rPr lang="en-US" sz="950" dirty="0">
                <a:solidFill>
                  <a:srgbClr val="0F172A"/>
                </a:solidFill>
                <a:latin typeface="Inter" pitchFamily="34" charset="0"/>
                <a:ea typeface="Inter" pitchFamily="34" charset="-122"/>
                <a:cs typeface="Inter" pitchFamily="34" charset="-120"/>
              </a:rPr>
              <a:t>One-season test</a:t>
            </a:r>
            <a:endParaRPr lang="en-US" sz="950" dirty="0"/>
          </a:p>
          <a:p>
            <a:pPr marL="0" indent="0">
              <a:buNone/>
            </a:pPr>
            <a:r>
              <a:rPr lang="en-US" sz="950" b="1" dirty="0">
                <a:solidFill>
                  <a:srgbClr val="D97706"/>
                </a:solidFill>
                <a:latin typeface="Inter" pitchFamily="34" charset="0"/>
                <a:ea typeface="Inter" pitchFamily="34" charset="-122"/>
                <a:cs typeface="Inter" pitchFamily="34" charset="-120"/>
              </a:rPr>
              <a:t>Early warning: </a:t>
            </a:r>
            <a:r>
              <a:rPr lang="en-US" sz="950" dirty="0">
                <a:solidFill>
                  <a:srgbClr val="0F172A"/>
                </a:solidFill>
                <a:latin typeface="Inter" pitchFamily="34" charset="0"/>
                <a:ea typeface="Inter" pitchFamily="34" charset="-122"/>
                <a:cs typeface="Inter" pitchFamily="34" charset="-120"/>
              </a:rPr>
              <a:t>attendee repeat no better than a matched holdout</a:t>
            </a:r>
            <a:endParaRPr lang="en-US" sz="950" dirty="0"/>
          </a:p>
        </p:txBody>
      </p:sp>
      <p:sp>
        <p:nvSpPr>
          <p:cNvPr id="58" name="Shape 55"/>
          <p:cNvSpPr/>
          <p:nvPr/>
        </p:nvSpPr>
        <p:spPr>
          <a:xfrm>
            <a:off x="4206240" y="3922776"/>
            <a:ext cx="329184" cy="329184"/>
          </a:xfrm>
          <a:prstGeom prst="ellipse">
            <a:avLst/>
          </a:prstGeom>
          <a:solidFill>
            <a:srgbClr val="0A1F44"/>
          </a:solidFill>
          <a:ln w="6350">
            <a:solidFill>
              <a:srgbClr val="0A1F44"/>
            </a:solidFill>
            <a:prstDash val="solid"/>
          </a:ln>
        </p:spPr>
        <p:txBody>
          <a:bodyPr/>
          <a:lstStyle/>
          <a:p>
            <a:endParaRPr lang="en-US"/>
          </a:p>
        </p:txBody>
      </p:sp>
      <p:sp>
        <p:nvSpPr>
          <p:cNvPr id="59" name="Text 56"/>
          <p:cNvSpPr txBox="1"/>
          <p:nvPr/>
        </p:nvSpPr>
        <p:spPr>
          <a:xfrm>
            <a:off x="4206240" y="39227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Inter" pitchFamily="34" charset="0"/>
                <a:ea typeface="Inter" pitchFamily="34" charset="-122"/>
                <a:cs typeface="Inter" pitchFamily="34" charset="-120"/>
              </a:rPr>
              <a:t>6</a:t>
            </a:r>
            <a:endParaRPr lang="en-US" sz="1200" dirty="0"/>
          </a:p>
        </p:txBody>
      </p:sp>
      <p:sp>
        <p:nvSpPr>
          <p:cNvPr id="60" name="Text 57"/>
          <p:cNvSpPr txBox="1"/>
          <p:nvPr/>
        </p:nvSpPr>
        <p:spPr>
          <a:xfrm>
            <a:off x="4663440" y="3867912"/>
            <a:ext cx="2743200" cy="457200"/>
          </a:xfrm>
          <a:prstGeom prst="rect">
            <a:avLst/>
          </a:prstGeom>
          <a:noFill/>
          <a:ln/>
        </p:spPr>
        <p:txBody>
          <a:bodyPr wrap="square" lIns="0" tIns="0" rIns="0" bIns="0" rtlCol="0" anchor="ctr"/>
          <a:lstStyle/>
          <a:p>
            <a:pPr marL="0" indent="0">
              <a:buNone/>
            </a:pPr>
            <a:r>
              <a:rPr lang="en-US" sz="1100" b="1" dirty="0">
                <a:solidFill>
                  <a:srgbClr val="0A1F44"/>
                </a:solidFill>
                <a:latin typeface="Inter" pitchFamily="34" charset="0"/>
                <a:ea typeface="Inter" pitchFamily="34" charset="-122"/>
                <a:cs typeface="Inter" pitchFamily="34" charset="-120"/>
              </a:rPr>
              <a:t>Platform or signal shock</a:t>
            </a:r>
            <a:endParaRPr lang="en-US" sz="1100" dirty="0"/>
          </a:p>
        </p:txBody>
      </p:sp>
      <p:sp>
        <p:nvSpPr>
          <p:cNvPr id="61" name="Text 58"/>
          <p:cNvSpPr txBox="1"/>
          <p:nvPr/>
        </p:nvSpPr>
        <p:spPr>
          <a:xfrm>
            <a:off x="7498080" y="3867912"/>
            <a:ext cx="4187952" cy="457200"/>
          </a:xfrm>
          <a:prstGeom prst="rect">
            <a:avLst/>
          </a:prstGeom>
          <a:noFill/>
          <a:ln/>
        </p:spPr>
        <p:txBody>
          <a:bodyPr wrap="square" lIns="0" tIns="0" rIns="0" bIns="0" rtlCol="0" anchor="ctr"/>
          <a:lstStyle/>
          <a:p>
            <a:pPr marL="0" indent="0">
              <a:buNone/>
            </a:pPr>
            <a:r>
              <a:rPr lang="en-US" sz="950" b="1" dirty="0">
                <a:solidFill>
                  <a:srgbClr val="1D4ED8"/>
                </a:solidFill>
                <a:latin typeface="Inter" pitchFamily="34" charset="0"/>
                <a:ea typeface="Inter" pitchFamily="34" charset="-122"/>
                <a:cs typeface="Inter" pitchFamily="34" charset="-120"/>
              </a:rPr>
              <a:t>Mitigation: </a:t>
            </a:r>
            <a:r>
              <a:rPr lang="en-US" sz="950" dirty="0">
                <a:solidFill>
                  <a:srgbClr val="0F172A"/>
                </a:solidFill>
                <a:latin typeface="Inter" pitchFamily="34" charset="0"/>
                <a:ea typeface="Inter" pitchFamily="34" charset="-122"/>
                <a:cs typeface="Inter" pitchFamily="34" charset="-120"/>
              </a:rPr>
              <a:t>More owned reach; first-party lists</a:t>
            </a:r>
            <a:endParaRPr lang="en-US" sz="950" dirty="0"/>
          </a:p>
          <a:p>
            <a:pPr marL="0" indent="0">
              <a:buNone/>
            </a:pPr>
            <a:r>
              <a:rPr lang="en-US" sz="950" b="1" dirty="0">
                <a:solidFill>
                  <a:srgbClr val="D97706"/>
                </a:solidFill>
                <a:latin typeface="Inter" pitchFamily="34" charset="0"/>
                <a:ea typeface="Inter" pitchFamily="34" charset="-122"/>
                <a:cs typeface="Inter" pitchFamily="34" charset="-120"/>
              </a:rPr>
              <a:t>Early warning: </a:t>
            </a:r>
            <a:r>
              <a:rPr lang="en-US" sz="950" dirty="0">
                <a:solidFill>
                  <a:srgbClr val="0F172A"/>
                </a:solidFill>
                <a:latin typeface="Inter" pitchFamily="34" charset="0"/>
                <a:ea typeface="Inter" pitchFamily="34" charset="-122"/>
                <a:cs typeface="Inter" pitchFamily="34" charset="-120"/>
              </a:rPr>
              <a:t>CPM or match-rate drop</a:t>
            </a:r>
            <a:endParaRPr lang="en-US" sz="950" dirty="0"/>
          </a:p>
        </p:txBody>
      </p:sp>
      <p:sp>
        <p:nvSpPr>
          <p:cNvPr id="62" name="Shape 59"/>
          <p:cNvSpPr/>
          <p:nvPr/>
        </p:nvSpPr>
        <p:spPr>
          <a:xfrm>
            <a:off x="4206240" y="4443984"/>
            <a:ext cx="329184" cy="329184"/>
          </a:xfrm>
          <a:prstGeom prst="ellipse">
            <a:avLst/>
          </a:prstGeom>
          <a:solidFill>
            <a:srgbClr val="0A1F44"/>
          </a:solidFill>
          <a:ln w="6350">
            <a:solidFill>
              <a:srgbClr val="0A1F44"/>
            </a:solidFill>
            <a:prstDash val="solid"/>
          </a:ln>
        </p:spPr>
        <p:txBody>
          <a:bodyPr/>
          <a:lstStyle/>
          <a:p>
            <a:endParaRPr lang="en-US"/>
          </a:p>
        </p:txBody>
      </p:sp>
      <p:sp>
        <p:nvSpPr>
          <p:cNvPr id="63" name="Text 60"/>
          <p:cNvSpPr txBox="1"/>
          <p:nvPr/>
        </p:nvSpPr>
        <p:spPr>
          <a:xfrm>
            <a:off x="4206240" y="444398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Inter" pitchFamily="34" charset="0"/>
                <a:ea typeface="Inter" pitchFamily="34" charset="-122"/>
                <a:cs typeface="Inter" pitchFamily="34" charset="-120"/>
              </a:rPr>
              <a:t>7</a:t>
            </a:r>
            <a:endParaRPr lang="en-US" sz="1200" dirty="0"/>
          </a:p>
        </p:txBody>
      </p:sp>
      <p:sp>
        <p:nvSpPr>
          <p:cNvPr id="64" name="Text 61"/>
          <p:cNvSpPr txBox="1"/>
          <p:nvPr/>
        </p:nvSpPr>
        <p:spPr>
          <a:xfrm>
            <a:off x="4663440" y="4389120"/>
            <a:ext cx="2743200" cy="457200"/>
          </a:xfrm>
          <a:prstGeom prst="rect">
            <a:avLst/>
          </a:prstGeom>
          <a:noFill/>
          <a:ln/>
        </p:spPr>
        <p:txBody>
          <a:bodyPr wrap="square" lIns="0" tIns="0" rIns="0" bIns="0" rtlCol="0" anchor="ctr"/>
          <a:lstStyle/>
          <a:p>
            <a:pPr marL="0" indent="0">
              <a:buNone/>
            </a:pPr>
            <a:r>
              <a:rPr lang="en-US" sz="1100" b="1" dirty="0">
                <a:solidFill>
                  <a:srgbClr val="0A1F44"/>
                </a:solidFill>
                <a:latin typeface="Inter" pitchFamily="34" charset="0"/>
                <a:ea typeface="Inter" pitchFamily="34" charset="-122"/>
                <a:cs typeface="Inter" pitchFamily="34" charset="-120"/>
              </a:rPr>
              <a:t>Creative fatigue</a:t>
            </a:r>
            <a:endParaRPr lang="en-US" sz="1100" dirty="0"/>
          </a:p>
        </p:txBody>
      </p:sp>
      <p:sp>
        <p:nvSpPr>
          <p:cNvPr id="65" name="Text 62"/>
          <p:cNvSpPr txBox="1"/>
          <p:nvPr/>
        </p:nvSpPr>
        <p:spPr>
          <a:xfrm>
            <a:off x="7498080" y="4389120"/>
            <a:ext cx="4187952" cy="457200"/>
          </a:xfrm>
          <a:prstGeom prst="rect">
            <a:avLst/>
          </a:prstGeom>
          <a:noFill/>
          <a:ln/>
        </p:spPr>
        <p:txBody>
          <a:bodyPr wrap="square" lIns="0" tIns="0" rIns="0" bIns="0" rtlCol="0" anchor="ctr"/>
          <a:lstStyle/>
          <a:p>
            <a:pPr marL="0" indent="0">
              <a:buNone/>
            </a:pPr>
            <a:r>
              <a:rPr lang="en-US" sz="950" b="1" dirty="0">
                <a:solidFill>
                  <a:srgbClr val="1D4ED8"/>
                </a:solidFill>
                <a:latin typeface="Inter" pitchFamily="34" charset="0"/>
                <a:ea typeface="Inter" pitchFamily="34" charset="-122"/>
                <a:cs typeface="Inter" pitchFamily="34" charset="-120"/>
              </a:rPr>
              <a:t>Mitigation: </a:t>
            </a:r>
            <a:r>
              <a:rPr lang="en-US" sz="950" dirty="0">
                <a:solidFill>
                  <a:srgbClr val="0F172A"/>
                </a:solidFill>
                <a:latin typeface="Inter" pitchFamily="34" charset="0"/>
                <a:ea typeface="Inter" pitchFamily="34" charset="-122"/>
                <a:cs typeface="Inter" pitchFamily="34" charset="-120"/>
              </a:rPr>
              <a:t>Fresh creative funded by Option A</a:t>
            </a:r>
            <a:endParaRPr lang="en-US" sz="950" dirty="0"/>
          </a:p>
          <a:p>
            <a:pPr marL="0" indent="0">
              <a:buNone/>
            </a:pPr>
            <a:r>
              <a:rPr lang="en-US" sz="950" b="1" dirty="0">
                <a:solidFill>
                  <a:srgbClr val="D97706"/>
                </a:solidFill>
                <a:latin typeface="Inter" pitchFamily="34" charset="0"/>
                <a:ea typeface="Inter" pitchFamily="34" charset="-122"/>
                <a:cs typeface="Inter" pitchFamily="34" charset="-120"/>
              </a:rPr>
              <a:t>Early warning: </a:t>
            </a:r>
            <a:r>
              <a:rPr lang="en-US" sz="950" dirty="0">
                <a:solidFill>
                  <a:srgbClr val="0F172A"/>
                </a:solidFill>
                <a:latin typeface="Inter" pitchFamily="34" charset="0"/>
                <a:ea typeface="Inter" pitchFamily="34" charset="-122"/>
                <a:cs typeface="Inter" pitchFamily="34" charset="-120"/>
              </a:rPr>
              <a:t>falling click and conversion rates</a:t>
            </a:r>
            <a:endParaRPr lang="en-US" sz="950" dirty="0"/>
          </a:p>
        </p:txBody>
      </p:sp>
      <p:sp>
        <p:nvSpPr>
          <p:cNvPr id="66" name="Shape 63"/>
          <p:cNvSpPr/>
          <p:nvPr/>
        </p:nvSpPr>
        <p:spPr>
          <a:xfrm>
            <a:off x="4206240" y="4965192"/>
            <a:ext cx="329184" cy="329184"/>
          </a:xfrm>
          <a:prstGeom prst="ellipse">
            <a:avLst/>
          </a:prstGeom>
          <a:solidFill>
            <a:srgbClr val="0A1F44"/>
          </a:solidFill>
          <a:ln w="6350">
            <a:solidFill>
              <a:srgbClr val="0A1F44"/>
            </a:solidFill>
            <a:prstDash val="solid"/>
          </a:ln>
        </p:spPr>
        <p:txBody>
          <a:bodyPr/>
          <a:lstStyle/>
          <a:p>
            <a:endParaRPr lang="en-US"/>
          </a:p>
        </p:txBody>
      </p:sp>
      <p:sp>
        <p:nvSpPr>
          <p:cNvPr id="67" name="Text 64"/>
          <p:cNvSpPr txBox="1"/>
          <p:nvPr/>
        </p:nvSpPr>
        <p:spPr>
          <a:xfrm>
            <a:off x="4206240" y="496519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Inter" pitchFamily="34" charset="0"/>
                <a:ea typeface="Inter" pitchFamily="34" charset="-122"/>
                <a:cs typeface="Inter" pitchFamily="34" charset="-120"/>
              </a:rPr>
              <a:t>8</a:t>
            </a:r>
            <a:endParaRPr lang="en-US" sz="1200" dirty="0"/>
          </a:p>
        </p:txBody>
      </p:sp>
      <p:sp>
        <p:nvSpPr>
          <p:cNvPr id="68" name="Text 65"/>
          <p:cNvSpPr txBox="1"/>
          <p:nvPr/>
        </p:nvSpPr>
        <p:spPr>
          <a:xfrm>
            <a:off x="4663440" y="4910328"/>
            <a:ext cx="2743200" cy="457200"/>
          </a:xfrm>
          <a:prstGeom prst="rect">
            <a:avLst/>
          </a:prstGeom>
          <a:noFill/>
          <a:ln/>
        </p:spPr>
        <p:txBody>
          <a:bodyPr wrap="square" lIns="0" tIns="0" rIns="0" bIns="0" rtlCol="0" anchor="ctr"/>
          <a:lstStyle/>
          <a:p>
            <a:pPr marL="0" indent="0">
              <a:buNone/>
            </a:pPr>
            <a:r>
              <a:rPr lang="en-US" sz="1100" b="1" dirty="0">
                <a:solidFill>
                  <a:srgbClr val="0A1F44"/>
                </a:solidFill>
                <a:latin typeface="Inter" pitchFamily="34" charset="0"/>
                <a:ea typeface="Inter" pitchFamily="34" charset="-122"/>
                <a:cs typeface="Inter" pitchFamily="34" charset="-120"/>
              </a:rPr>
              <a:t>Fewer new customers</a:t>
            </a:r>
            <a:endParaRPr lang="en-US" sz="1100" dirty="0"/>
          </a:p>
        </p:txBody>
      </p:sp>
      <p:sp>
        <p:nvSpPr>
          <p:cNvPr id="69" name="Text 66"/>
          <p:cNvSpPr txBox="1"/>
          <p:nvPr/>
        </p:nvSpPr>
        <p:spPr>
          <a:xfrm>
            <a:off x="7498080" y="4910328"/>
            <a:ext cx="4187952" cy="457200"/>
          </a:xfrm>
          <a:prstGeom prst="rect">
            <a:avLst/>
          </a:prstGeom>
          <a:noFill/>
          <a:ln/>
        </p:spPr>
        <p:txBody>
          <a:bodyPr wrap="square" lIns="0" tIns="0" rIns="0" bIns="0" rtlCol="0" anchor="ctr"/>
          <a:lstStyle/>
          <a:p>
            <a:pPr marL="0" indent="0">
              <a:buNone/>
            </a:pPr>
            <a:r>
              <a:rPr lang="en-US" sz="950" b="1" dirty="0">
                <a:solidFill>
                  <a:srgbClr val="1D4ED8"/>
                </a:solidFill>
                <a:latin typeface="Inter" pitchFamily="34" charset="0"/>
                <a:ea typeface="Inter" pitchFamily="34" charset="-122"/>
                <a:cs typeface="Inter" pitchFamily="34" charset="-120"/>
              </a:rPr>
              <a:t>Mitigation: </a:t>
            </a:r>
            <a:r>
              <a:rPr lang="en-US" sz="950" dirty="0">
                <a:solidFill>
                  <a:srgbClr val="0F172A"/>
                </a:solidFill>
                <a:latin typeface="Inter" pitchFamily="34" charset="0"/>
                <a:ea typeface="Inter" pitchFamily="34" charset="-122"/>
                <a:cs typeface="Inter" pitchFamily="34" charset="-120"/>
              </a:rPr>
              <a:t>Prospecting budget unchanged; exclusions tested</a:t>
            </a:r>
            <a:endParaRPr lang="en-US" sz="950" dirty="0"/>
          </a:p>
          <a:p>
            <a:pPr marL="0" indent="0">
              <a:buNone/>
            </a:pPr>
            <a:r>
              <a:rPr lang="en-US" sz="950" b="1" dirty="0">
                <a:solidFill>
                  <a:srgbClr val="D97706"/>
                </a:solidFill>
                <a:latin typeface="Inter" pitchFamily="34" charset="0"/>
                <a:ea typeface="Inter" pitchFamily="34" charset="-122"/>
                <a:cs typeface="Inter" pitchFamily="34" charset="-120"/>
              </a:rPr>
              <a:t>Early warning: </a:t>
            </a:r>
            <a:r>
              <a:rPr lang="en-US" sz="950" dirty="0">
                <a:solidFill>
                  <a:srgbClr val="0F172A"/>
                </a:solidFill>
                <a:latin typeface="Inter" pitchFamily="34" charset="0"/>
                <a:ea typeface="Inter" pitchFamily="34" charset="-122"/>
                <a:cs typeface="Inter" pitchFamily="34" charset="-120"/>
              </a:rPr>
              <a:t>weekly new customers vs plan</a:t>
            </a:r>
            <a:endParaRPr lang="en-US" sz="950" dirty="0"/>
          </a:p>
        </p:txBody>
      </p:sp>
      <p:sp>
        <p:nvSpPr>
          <p:cNvPr id="70" name="Shape 67"/>
          <p:cNvSpPr/>
          <p:nvPr/>
        </p:nvSpPr>
        <p:spPr>
          <a:xfrm>
            <a:off x="4206240" y="5486400"/>
            <a:ext cx="329184" cy="329184"/>
          </a:xfrm>
          <a:prstGeom prst="ellipse">
            <a:avLst/>
          </a:prstGeom>
          <a:solidFill>
            <a:srgbClr val="0A1F44"/>
          </a:solidFill>
          <a:ln w="6350">
            <a:solidFill>
              <a:srgbClr val="0A1F44"/>
            </a:solidFill>
            <a:prstDash val="solid"/>
          </a:ln>
        </p:spPr>
        <p:txBody>
          <a:bodyPr/>
          <a:lstStyle/>
          <a:p>
            <a:endParaRPr lang="en-US"/>
          </a:p>
        </p:txBody>
      </p:sp>
      <p:sp>
        <p:nvSpPr>
          <p:cNvPr id="71" name="Text 68"/>
          <p:cNvSpPr txBox="1"/>
          <p:nvPr/>
        </p:nvSpPr>
        <p:spPr>
          <a:xfrm>
            <a:off x="4206240" y="548640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Inter" pitchFamily="34" charset="0"/>
                <a:ea typeface="Inter" pitchFamily="34" charset="-122"/>
                <a:cs typeface="Inter" pitchFamily="34" charset="-120"/>
              </a:rPr>
              <a:t>9</a:t>
            </a:r>
            <a:endParaRPr lang="en-US" sz="1200" dirty="0"/>
          </a:p>
        </p:txBody>
      </p:sp>
      <p:sp>
        <p:nvSpPr>
          <p:cNvPr id="72" name="Text 69"/>
          <p:cNvSpPr txBox="1"/>
          <p:nvPr/>
        </p:nvSpPr>
        <p:spPr>
          <a:xfrm>
            <a:off x="4663440" y="5431536"/>
            <a:ext cx="2743200" cy="457200"/>
          </a:xfrm>
          <a:prstGeom prst="rect">
            <a:avLst/>
          </a:prstGeom>
          <a:noFill/>
          <a:ln/>
        </p:spPr>
        <p:txBody>
          <a:bodyPr wrap="square" lIns="0" tIns="0" rIns="0" bIns="0" rtlCol="0" anchor="ctr"/>
          <a:lstStyle/>
          <a:p>
            <a:pPr marL="0" indent="0">
              <a:buNone/>
            </a:pPr>
            <a:r>
              <a:rPr lang="en-US" sz="1100" b="1" dirty="0">
                <a:solidFill>
                  <a:srgbClr val="0A1F44"/>
                </a:solidFill>
                <a:latin typeface="Inter" pitchFamily="34" charset="0"/>
                <a:ea typeface="Inter" pitchFamily="34" charset="-122"/>
                <a:cs typeface="Inter" pitchFamily="34" charset="-120"/>
              </a:rPr>
              <a:t>Activation set-up slips</a:t>
            </a:r>
            <a:endParaRPr lang="en-US" sz="1100" dirty="0"/>
          </a:p>
        </p:txBody>
      </p:sp>
      <p:sp>
        <p:nvSpPr>
          <p:cNvPr id="73" name="Text 70"/>
          <p:cNvSpPr txBox="1"/>
          <p:nvPr/>
        </p:nvSpPr>
        <p:spPr>
          <a:xfrm>
            <a:off x="7498080" y="5431536"/>
            <a:ext cx="4187952" cy="457200"/>
          </a:xfrm>
          <a:prstGeom prst="rect">
            <a:avLst/>
          </a:prstGeom>
          <a:noFill/>
          <a:ln/>
        </p:spPr>
        <p:txBody>
          <a:bodyPr wrap="square" lIns="0" tIns="0" rIns="0" bIns="0" rtlCol="0" anchor="ctr"/>
          <a:lstStyle/>
          <a:p>
            <a:pPr marL="0" indent="0">
              <a:buNone/>
            </a:pPr>
            <a:r>
              <a:rPr lang="en-US" sz="950" b="1" dirty="0">
                <a:solidFill>
                  <a:srgbClr val="1D4ED8"/>
                </a:solidFill>
                <a:latin typeface="Inter" pitchFamily="34" charset="0"/>
                <a:ea typeface="Inter" pitchFamily="34" charset="-122"/>
                <a:cs typeface="Inter" pitchFamily="34" charset="-120"/>
              </a:rPr>
              <a:t>Mitigation: </a:t>
            </a:r>
            <a:r>
              <a:rPr lang="en-US" sz="950" dirty="0">
                <a:solidFill>
                  <a:srgbClr val="0F172A"/>
                </a:solidFill>
                <a:latin typeface="Inter" pitchFamily="34" charset="0"/>
                <a:ea typeface="Inter" pitchFamily="34" charset="-122"/>
                <a:cs typeface="Inter" pitchFamily="34" charset="-120"/>
              </a:rPr>
              <a:t>Start in month 0; manual list upload as fallback</a:t>
            </a:r>
            <a:endParaRPr lang="en-US" sz="950" dirty="0"/>
          </a:p>
          <a:p>
            <a:pPr marL="0" indent="0">
              <a:buNone/>
            </a:pPr>
            <a:r>
              <a:rPr lang="en-US" sz="950" b="1" dirty="0">
                <a:solidFill>
                  <a:srgbClr val="D97706"/>
                </a:solidFill>
                <a:latin typeface="Inter" pitchFamily="34" charset="0"/>
                <a:ea typeface="Inter" pitchFamily="34" charset="-122"/>
                <a:cs typeface="Inter" pitchFamily="34" charset="-120"/>
              </a:rPr>
              <a:t>Early warning: </a:t>
            </a:r>
            <a:r>
              <a:rPr lang="en-US" sz="950" dirty="0">
                <a:solidFill>
                  <a:srgbClr val="0F172A"/>
                </a:solidFill>
                <a:latin typeface="Inter" pitchFamily="34" charset="0"/>
                <a:ea typeface="Inter" pitchFamily="34" charset="-122"/>
                <a:cs typeface="Inter" pitchFamily="34" charset="-120"/>
              </a:rPr>
              <a:t>suppression lists not live by week 6</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9326880" cy="841248"/>
          </a:xfrm>
          <a:prstGeom prst="rect">
            <a:avLst/>
          </a:prstGeom>
          <a:noFill/>
          <a:ln/>
        </p:spPr>
        <p:txBody>
          <a:bodyPr wrap="square" lIns="0" tIns="0" rIns="0" bIns="0" rtlCol="0" anchor="ctr"/>
          <a:lstStyle/>
          <a:p>
            <a:pPr marL="0" indent="0">
              <a:buNone/>
            </a:pPr>
            <a:r>
              <a:rPr lang="en-US" sz="2400" b="1" dirty="0">
                <a:solidFill>
                  <a:srgbClr val="0A1F44"/>
                </a:solidFill>
                <a:latin typeface="Inter" pitchFamily="34" charset="0"/>
                <a:ea typeface="Inter" pitchFamily="34" charset="-122"/>
                <a:cs typeface="Inter" pitchFamily="34" charset="-120"/>
              </a:rPr>
              <a:t>Every number traces to the case, CJA or research</a:t>
            </a:r>
            <a:endParaRPr lang="en-US" sz="2400" dirty="0"/>
          </a:p>
        </p:txBody>
      </p:sp>
      <p:pic>
        <p:nvPicPr>
          <p:cNvPr id="3" name="Image 0" descr="/tmp/claude-0/-home-user-Quince/7efe80ae-a049-50c2-9886-98bf7ca3a04a/scratchpad/assets/quince.png"/>
          <p:cNvPicPr>
            <a:picLocks noChangeAspect="1"/>
          </p:cNvPicPr>
          <p:nvPr/>
        </p:nvPicPr>
        <p:blipFill>
          <a:blip r:embed="rId3"/>
          <a:stretch>
            <a:fillRect/>
          </a:stretch>
        </p:blipFill>
        <p:spPr>
          <a:xfrm>
            <a:off x="10236708" y="615544"/>
            <a:ext cx="777240" cy="231951"/>
          </a:xfrm>
          <a:prstGeom prst="rect">
            <a:avLst/>
          </a:prstGeom>
        </p:spPr>
      </p:pic>
      <p:sp>
        <p:nvSpPr>
          <p:cNvPr id="4" name="Shape 1"/>
          <p:cNvSpPr/>
          <p:nvPr/>
        </p:nvSpPr>
        <p:spPr>
          <a:xfrm>
            <a:off x="11155680" y="603504"/>
            <a:ext cx="530352" cy="256032"/>
          </a:xfrm>
          <a:prstGeom prst="roundRect">
            <a:avLst>
              <a:gd name="adj" fmla="val 50000"/>
            </a:avLst>
          </a:prstGeom>
          <a:solidFill>
            <a:srgbClr val="0A1F44"/>
          </a:solidFill>
          <a:ln w="6350">
            <a:solidFill>
              <a:srgbClr val="0A1F44"/>
            </a:solidFill>
            <a:prstDash val="solid"/>
          </a:ln>
        </p:spPr>
        <p:txBody>
          <a:bodyPr/>
          <a:lstStyle/>
          <a:p>
            <a:endParaRPr lang="en-US"/>
          </a:p>
        </p:txBody>
      </p:sp>
      <p:sp>
        <p:nvSpPr>
          <p:cNvPr id="5" name="Text 2"/>
          <p:cNvSpPr txBox="1"/>
          <p:nvPr/>
        </p:nvSpPr>
        <p:spPr>
          <a:xfrm>
            <a:off x="11155680" y="603504"/>
            <a:ext cx="53035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G27</a:t>
            </a:r>
            <a:endParaRPr lang="en-US" sz="950" dirty="0"/>
          </a:p>
        </p:txBody>
      </p:sp>
      <p:sp>
        <p:nvSpPr>
          <p:cNvPr id="6" name="Shape 3"/>
          <p:cNvSpPr/>
          <p:nvPr/>
        </p:nvSpPr>
        <p:spPr>
          <a:xfrm>
            <a:off x="502920" y="6400800"/>
            <a:ext cx="11183112" cy="0"/>
          </a:xfrm>
          <a:prstGeom prst="line">
            <a:avLst/>
          </a:prstGeom>
          <a:noFill/>
          <a:ln w="9525">
            <a:solidFill>
              <a:srgbClr val="E2E8F0"/>
            </a:solidFill>
            <a:prstDash val="solid"/>
          </a:ln>
        </p:spPr>
        <p:txBody>
          <a:bodyPr/>
          <a:lstStyle/>
          <a:p>
            <a:endParaRPr lang="en-US"/>
          </a:p>
        </p:txBody>
      </p:sp>
      <p:sp>
        <p:nvSpPr>
          <p:cNvPr id="7" name="Text 4"/>
          <p:cNvSpPr txBox="1"/>
          <p:nvPr/>
        </p:nvSpPr>
        <p:spPr>
          <a:xfrm>
            <a:off x="502920" y="6464808"/>
            <a:ext cx="9418320" cy="256032"/>
          </a:xfrm>
          <a:prstGeom prst="rect">
            <a:avLst/>
          </a:prstGeom>
          <a:noFill/>
          <a:ln/>
        </p:spPr>
        <p:txBody>
          <a:bodyPr wrap="square" lIns="0" tIns="0" rIns="0" bIns="0" rtlCol="0" anchor="ctr"/>
          <a:lstStyle/>
          <a:p>
            <a:pPr marL="0" indent="0">
              <a:buNone/>
            </a:pPr>
            <a:r>
              <a:rPr lang="en-US" sz="800" dirty="0">
                <a:solidFill>
                  <a:srgbClr val="64748B"/>
                </a:solidFill>
                <a:latin typeface="Inter" pitchFamily="34" charset="0"/>
                <a:ea typeface="Inter" pitchFamily="34" charset="-122"/>
                <a:cs typeface="Inter" pitchFamily="34" charset="-120"/>
              </a:rPr>
              <a:t>Case figures are the packet's illustrative estimates, never Quince disclosures. CJA figures come from our sandbox, 60,000 people, 1 Jan–30 Apr 2026.</a:t>
            </a:r>
            <a:endParaRPr lang="en-US" sz="800" dirty="0"/>
          </a:p>
        </p:txBody>
      </p:sp>
      <p:sp>
        <p:nvSpPr>
          <p:cNvPr id="8" name="Text 5"/>
          <p:cNvSpPr txBox="1"/>
          <p:nvPr/>
        </p:nvSpPr>
        <p:spPr>
          <a:xfrm>
            <a:off x="9966960" y="6464808"/>
            <a:ext cx="1719072" cy="256032"/>
          </a:xfrm>
          <a:prstGeom prst="rect">
            <a:avLst/>
          </a:prstGeom>
          <a:noFill/>
          <a:ln/>
        </p:spPr>
        <p:txBody>
          <a:bodyPr wrap="square" lIns="0" tIns="0" rIns="0" bIns="0" rtlCol="0" anchor="ctr"/>
          <a:lstStyle/>
          <a:p>
            <a:pPr marL="0" indent="0" algn="r">
              <a:buNone/>
            </a:pPr>
            <a:r>
              <a:rPr lang="en-US" sz="800" dirty="0">
                <a:solidFill>
                  <a:srgbClr val="64748B"/>
                </a:solidFill>
                <a:latin typeface="Inter" pitchFamily="34" charset="0"/>
                <a:ea typeface="Inter" pitchFamily="34" charset="-122"/>
                <a:cs typeface="Inter" pitchFamily="34" charset="-120"/>
              </a:rPr>
              <a:t>Team G27  ·  26</a:t>
            </a:r>
            <a:endParaRPr lang="en-US" sz="800" dirty="0"/>
          </a:p>
        </p:txBody>
      </p:sp>
      <p:sp>
        <p:nvSpPr>
          <p:cNvPr id="9" name="Shape 6"/>
          <p:cNvSpPr/>
          <p:nvPr/>
        </p:nvSpPr>
        <p:spPr>
          <a:xfrm>
            <a:off x="502920" y="1261872"/>
            <a:ext cx="5513832" cy="2176272"/>
          </a:xfrm>
          <a:prstGeom prst="roundRect">
            <a:avLst>
              <a:gd name="adj" fmla="val 2521"/>
            </a:avLst>
          </a:prstGeom>
          <a:solidFill>
            <a:srgbClr val="FFFFFF"/>
          </a:solidFill>
          <a:ln w="9525">
            <a:solidFill>
              <a:srgbClr val="E2E8F0"/>
            </a:solidFill>
            <a:prstDash val="solid"/>
          </a:ln>
        </p:spPr>
        <p:txBody>
          <a:bodyPr/>
          <a:lstStyle/>
          <a:p>
            <a:endParaRPr lang="en-US"/>
          </a:p>
        </p:txBody>
      </p:sp>
      <p:sp>
        <p:nvSpPr>
          <p:cNvPr id="10" name="Shape 7"/>
          <p:cNvSpPr/>
          <p:nvPr/>
        </p:nvSpPr>
        <p:spPr>
          <a:xfrm>
            <a:off x="502920" y="1261872"/>
            <a:ext cx="64008" cy="2176272"/>
          </a:xfrm>
          <a:prstGeom prst="rect">
            <a:avLst/>
          </a:prstGeom>
          <a:solidFill>
            <a:srgbClr val="0A1F44"/>
          </a:solidFill>
          <a:ln w="6350">
            <a:solidFill>
              <a:srgbClr val="0A1F44"/>
            </a:solidFill>
            <a:prstDash val="solid"/>
          </a:ln>
        </p:spPr>
        <p:txBody>
          <a:bodyPr/>
          <a:lstStyle/>
          <a:p>
            <a:endParaRPr lang="en-US"/>
          </a:p>
        </p:txBody>
      </p:sp>
      <p:sp>
        <p:nvSpPr>
          <p:cNvPr id="11" name="Text 8"/>
          <p:cNvSpPr txBox="1"/>
          <p:nvPr/>
        </p:nvSpPr>
        <p:spPr>
          <a:xfrm>
            <a:off x="704088" y="1335024"/>
            <a:ext cx="5239512" cy="274320"/>
          </a:xfrm>
          <a:prstGeom prst="rect">
            <a:avLst/>
          </a:prstGeom>
          <a:noFill/>
          <a:ln/>
        </p:spPr>
        <p:txBody>
          <a:bodyPr wrap="square" lIns="0" tIns="0" rIns="0" bIns="0" rtlCol="0" anchor="ctr"/>
          <a:lstStyle/>
          <a:p>
            <a:pPr marL="0" indent="0">
              <a:buNone/>
            </a:pPr>
            <a:r>
              <a:rPr lang="en-US" sz="1150" b="1" dirty="0">
                <a:solidFill>
                  <a:srgbClr val="0A1F44"/>
                </a:solidFill>
                <a:latin typeface="Inter" pitchFamily="34" charset="0"/>
                <a:ea typeface="Inter" pitchFamily="34" charset="-122"/>
                <a:cs typeface="Inter" pitchFamily="34" charset="-120"/>
              </a:rPr>
              <a:t>Case packet (illustrative)</a:t>
            </a:r>
            <a:endParaRPr lang="en-US" sz="1150" dirty="0"/>
          </a:p>
        </p:txBody>
      </p:sp>
      <p:sp>
        <p:nvSpPr>
          <p:cNvPr id="12" name="Shape 9"/>
          <p:cNvSpPr/>
          <p:nvPr/>
        </p:nvSpPr>
        <p:spPr>
          <a:xfrm>
            <a:off x="722376" y="1773936"/>
            <a:ext cx="64008" cy="64008"/>
          </a:xfrm>
          <a:prstGeom prst="ellipse">
            <a:avLst/>
          </a:prstGeom>
          <a:solidFill>
            <a:srgbClr val="0A1F44"/>
          </a:solidFill>
          <a:ln w="6350">
            <a:solidFill>
              <a:srgbClr val="0A1F44"/>
            </a:solidFill>
            <a:prstDash val="solid"/>
          </a:ln>
        </p:spPr>
        <p:txBody>
          <a:bodyPr/>
          <a:lstStyle/>
          <a:p>
            <a:endParaRPr lang="en-US"/>
          </a:p>
        </p:txBody>
      </p:sp>
      <p:sp>
        <p:nvSpPr>
          <p:cNvPr id="13" name="Text 10"/>
          <p:cNvSpPr txBox="1"/>
          <p:nvPr/>
        </p:nvSpPr>
        <p:spPr>
          <a:xfrm>
            <a:off x="850392" y="1664208"/>
            <a:ext cx="5056632" cy="274320"/>
          </a:xfrm>
          <a:prstGeom prst="rect">
            <a:avLst/>
          </a:prstGeom>
          <a:noFill/>
          <a:ln/>
        </p:spPr>
        <p:txBody>
          <a:bodyPr wrap="square" lIns="0" tIns="0" rIns="0" bIns="0" rtlCol="0" anchor="ctr">
            <a:normAutofit/>
          </a:bodyPr>
          <a:lstStyle/>
          <a:p>
            <a:pPr marL="0" indent="0">
              <a:buNone/>
            </a:pPr>
            <a:r>
              <a:rPr lang="en-US" sz="850" dirty="0">
                <a:solidFill>
                  <a:srgbClr val="0F172A"/>
                </a:solidFill>
                <a:latin typeface="Inter" pitchFamily="34" charset="0"/>
                <a:ea typeface="Inter" pitchFamily="34" charset="-122"/>
                <a:cs typeface="Inter" pitchFamily="34" charset="-120"/>
              </a:rPr>
              <a:t>$120M budget and its six lines (Exhibit G); 4.2M active customers (A)</a:t>
            </a:r>
            <a:endParaRPr lang="en-US" sz="850" dirty="0"/>
          </a:p>
        </p:txBody>
      </p:sp>
      <p:sp>
        <p:nvSpPr>
          <p:cNvPr id="14" name="Shape 11"/>
          <p:cNvSpPr/>
          <p:nvPr/>
        </p:nvSpPr>
        <p:spPr>
          <a:xfrm>
            <a:off x="722376" y="2057400"/>
            <a:ext cx="64008" cy="64008"/>
          </a:xfrm>
          <a:prstGeom prst="ellipse">
            <a:avLst/>
          </a:prstGeom>
          <a:solidFill>
            <a:srgbClr val="0A1F44"/>
          </a:solidFill>
          <a:ln w="6350">
            <a:solidFill>
              <a:srgbClr val="0A1F44"/>
            </a:solidFill>
            <a:prstDash val="solid"/>
          </a:ln>
        </p:spPr>
        <p:txBody>
          <a:bodyPr/>
          <a:lstStyle/>
          <a:p>
            <a:endParaRPr lang="en-US"/>
          </a:p>
        </p:txBody>
      </p:sp>
      <p:sp>
        <p:nvSpPr>
          <p:cNvPr id="15" name="Text 12"/>
          <p:cNvSpPr txBox="1"/>
          <p:nvPr/>
        </p:nvSpPr>
        <p:spPr>
          <a:xfrm>
            <a:off x="850392" y="1947672"/>
            <a:ext cx="5056632" cy="274320"/>
          </a:xfrm>
          <a:prstGeom prst="rect">
            <a:avLst/>
          </a:prstGeom>
          <a:noFill/>
          <a:ln/>
        </p:spPr>
        <p:txBody>
          <a:bodyPr wrap="square" lIns="0" tIns="0" rIns="0" bIns="0" rtlCol="0" anchor="ctr">
            <a:normAutofit/>
          </a:bodyPr>
          <a:lstStyle/>
          <a:p>
            <a:pPr marL="0" indent="0">
              <a:buNone/>
            </a:pPr>
            <a:r>
              <a:rPr lang="en-US" sz="850" dirty="0">
                <a:solidFill>
                  <a:srgbClr val="0F172A"/>
                </a:solidFill>
                <a:latin typeface="Inter" pitchFamily="34" charset="0"/>
                <a:ea typeface="Inter" pitchFamily="34" charset="-122"/>
                <a:cs typeface="Inter" pitchFamily="34" charset="-120"/>
              </a:rPr>
              <a:t>CAC $48 → $62; repeat 24% vs 30–35% peers; targets +6 pts and −10% (section 3)</a:t>
            </a:r>
            <a:endParaRPr lang="en-US" sz="850" dirty="0"/>
          </a:p>
        </p:txBody>
      </p:sp>
      <p:sp>
        <p:nvSpPr>
          <p:cNvPr id="16" name="Shape 13"/>
          <p:cNvSpPr/>
          <p:nvPr/>
        </p:nvSpPr>
        <p:spPr>
          <a:xfrm>
            <a:off x="722376" y="2340864"/>
            <a:ext cx="64008" cy="64008"/>
          </a:xfrm>
          <a:prstGeom prst="ellipse">
            <a:avLst/>
          </a:prstGeom>
          <a:solidFill>
            <a:srgbClr val="0A1F44"/>
          </a:solidFill>
          <a:ln w="6350">
            <a:solidFill>
              <a:srgbClr val="0A1F44"/>
            </a:solidFill>
            <a:prstDash val="solid"/>
          </a:ln>
        </p:spPr>
        <p:txBody>
          <a:bodyPr/>
          <a:lstStyle/>
          <a:p>
            <a:endParaRPr lang="en-US"/>
          </a:p>
        </p:txBody>
      </p:sp>
      <p:sp>
        <p:nvSpPr>
          <p:cNvPr id="17" name="Text 14"/>
          <p:cNvSpPr txBox="1"/>
          <p:nvPr/>
        </p:nvSpPr>
        <p:spPr>
          <a:xfrm>
            <a:off x="850392" y="2231136"/>
            <a:ext cx="5056632" cy="274320"/>
          </a:xfrm>
          <a:prstGeom prst="rect">
            <a:avLst/>
          </a:prstGeom>
          <a:noFill/>
          <a:ln/>
        </p:spPr>
        <p:txBody>
          <a:bodyPr wrap="square" lIns="0" tIns="0" rIns="0" bIns="0" rtlCol="0" anchor="ctr">
            <a:normAutofit/>
          </a:bodyPr>
          <a:lstStyle/>
          <a:p>
            <a:pPr marL="0" indent="0">
              <a:buNone/>
            </a:pPr>
            <a:r>
              <a:rPr lang="en-US" sz="850" dirty="0">
                <a:solidFill>
                  <a:srgbClr val="0F172A"/>
                </a:solidFill>
                <a:latin typeface="Inter" pitchFamily="34" charset="0"/>
                <a:ea typeface="Inter" pitchFamily="34" charset="-122"/>
                <a:cs typeface="Inter" pitchFamily="34" charset="-120"/>
              </a:rPr>
              <a:t>Cart abandonment ~78% vs ~70% benchmark (C); retargeting CAC $31 (D)</a:t>
            </a:r>
            <a:endParaRPr lang="en-US" sz="850" dirty="0"/>
          </a:p>
        </p:txBody>
      </p:sp>
      <p:sp>
        <p:nvSpPr>
          <p:cNvPr id="18" name="Shape 15"/>
          <p:cNvSpPr/>
          <p:nvPr/>
        </p:nvSpPr>
        <p:spPr>
          <a:xfrm>
            <a:off x="722376" y="2624328"/>
            <a:ext cx="64008" cy="64008"/>
          </a:xfrm>
          <a:prstGeom prst="ellipse">
            <a:avLst/>
          </a:prstGeom>
          <a:solidFill>
            <a:srgbClr val="0A1F44"/>
          </a:solidFill>
          <a:ln w="6350">
            <a:solidFill>
              <a:srgbClr val="0A1F44"/>
            </a:solidFill>
            <a:prstDash val="solid"/>
          </a:ln>
        </p:spPr>
        <p:txBody>
          <a:bodyPr/>
          <a:lstStyle/>
          <a:p>
            <a:endParaRPr lang="en-US"/>
          </a:p>
        </p:txBody>
      </p:sp>
      <p:sp>
        <p:nvSpPr>
          <p:cNvPr id="19" name="Text 16"/>
          <p:cNvSpPr txBox="1"/>
          <p:nvPr/>
        </p:nvSpPr>
        <p:spPr>
          <a:xfrm>
            <a:off x="850392" y="2514600"/>
            <a:ext cx="5056632" cy="274320"/>
          </a:xfrm>
          <a:prstGeom prst="rect">
            <a:avLst/>
          </a:prstGeom>
          <a:noFill/>
          <a:ln/>
        </p:spPr>
        <p:txBody>
          <a:bodyPr wrap="square" lIns="0" tIns="0" rIns="0" bIns="0" rtlCol="0" anchor="ctr">
            <a:normAutofit/>
          </a:bodyPr>
          <a:lstStyle/>
          <a:p>
            <a:pPr marL="0" indent="0">
              <a:buNone/>
            </a:pPr>
            <a:r>
              <a:rPr lang="en-US" sz="850" dirty="0">
                <a:solidFill>
                  <a:srgbClr val="0F172A"/>
                </a:solidFill>
                <a:latin typeface="Inter" pitchFamily="34" charset="0"/>
                <a:ea typeface="Inter" pitchFamily="34" charset="-122"/>
                <a:cs typeface="Inter" pitchFamily="34" charset="-120"/>
              </a:rPr>
              <a:t>Repeat 38% / 29% / 13% by engagement (E); ~250K orders, ~$30M, ~$13.5M, ~10–12% CAC (J)</a:t>
            </a:r>
            <a:endParaRPr lang="en-US" sz="850" dirty="0"/>
          </a:p>
        </p:txBody>
      </p:sp>
      <p:sp>
        <p:nvSpPr>
          <p:cNvPr id="20" name="Shape 17"/>
          <p:cNvSpPr/>
          <p:nvPr/>
        </p:nvSpPr>
        <p:spPr>
          <a:xfrm>
            <a:off x="722376" y="2907792"/>
            <a:ext cx="64008" cy="64008"/>
          </a:xfrm>
          <a:prstGeom prst="ellipse">
            <a:avLst/>
          </a:prstGeom>
          <a:solidFill>
            <a:srgbClr val="0A1F44"/>
          </a:solidFill>
          <a:ln w="6350">
            <a:solidFill>
              <a:srgbClr val="0A1F44"/>
            </a:solidFill>
            <a:prstDash val="solid"/>
          </a:ln>
        </p:spPr>
        <p:txBody>
          <a:bodyPr/>
          <a:lstStyle/>
          <a:p>
            <a:endParaRPr lang="en-US"/>
          </a:p>
        </p:txBody>
      </p:sp>
      <p:sp>
        <p:nvSpPr>
          <p:cNvPr id="21" name="Text 18"/>
          <p:cNvSpPr txBox="1"/>
          <p:nvPr/>
        </p:nvSpPr>
        <p:spPr>
          <a:xfrm>
            <a:off x="850392" y="2798064"/>
            <a:ext cx="5056632" cy="274320"/>
          </a:xfrm>
          <a:prstGeom prst="rect">
            <a:avLst/>
          </a:prstGeom>
          <a:noFill/>
          <a:ln/>
        </p:spPr>
        <p:txBody>
          <a:bodyPr wrap="square" lIns="0" tIns="0" rIns="0" bIns="0" rtlCol="0" anchor="ctr">
            <a:normAutofit/>
          </a:bodyPr>
          <a:lstStyle/>
          <a:p>
            <a:pPr marL="0" indent="0">
              <a:buNone/>
            </a:pPr>
            <a:r>
              <a:rPr lang="en-US" sz="850" dirty="0">
                <a:solidFill>
                  <a:srgbClr val="0F172A"/>
                </a:solidFill>
                <a:latin typeface="Inter" pitchFamily="34" charset="0"/>
                <a:ea typeface="Inter" pitchFamily="34" charset="-122"/>
                <a:cs typeface="Inter" pitchFamily="34" charset="-120"/>
              </a:rPr>
              <a:t>Option A $2–3M inside the $6M owned line; B $0 within $14M; time to impact (I)</a:t>
            </a:r>
            <a:endParaRPr lang="en-US" sz="850" dirty="0"/>
          </a:p>
        </p:txBody>
      </p:sp>
      <p:sp>
        <p:nvSpPr>
          <p:cNvPr id="22" name="Shape 19"/>
          <p:cNvSpPr/>
          <p:nvPr/>
        </p:nvSpPr>
        <p:spPr>
          <a:xfrm>
            <a:off x="722376" y="3191256"/>
            <a:ext cx="64008" cy="64008"/>
          </a:xfrm>
          <a:prstGeom prst="ellipse">
            <a:avLst/>
          </a:prstGeom>
          <a:solidFill>
            <a:srgbClr val="0A1F44"/>
          </a:solidFill>
          <a:ln w="6350">
            <a:solidFill>
              <a:srgbClr val="0A1F44"/>
            </a:solidFill>
            <a:prstDash val="solid"/>
          </a:ln>
        </p:spPr>
        <p:txBody>
          <a:bodyPr/>
          <a:lstStyle/>
          <a:p>
            <a:endParaRPr lang="en-US"/>
          </a:p>
        </p:txBody>
      </p:sp>
      <p:sp>
        <p:nvSpPr>
          <p:cNvPr id="23" name="Text 20"/>
          <p:cNvSpPr txBox="1"/>
          <p:nvPr/>
        </p:nvSpPr>
        <p:spPr>
          <a:xfrm>
            <a:off x="850392" y="3081528"/>
            <a:ext cx="5056632" cy="274320"/>
          </a:xfrm>
          <a:prstGeom prst="rect">
            <a:avLst/>
          </a:prstGeom>
          <a:noFill/>
          <a:ln/>
        </p:spPr>
        <p:txBody>
          <a:bodyPr wrap="square" lIns="0" tIns="0" rIns="0" bIns="0" rtlCol="0" anchor="ctr">
            <a:normAutofit/>
          </a:bodyPr>
          <a:lstStyle/>
          <a:p>
            <a:pPr marL="0" indent="0">
              <a:buNone/>
            </a:pPr>
            <a:r>
              <a:rPr lang="en-US" sz="850" dirty="0">
                <a:solidFill>
                  <a:srgbClr val="0F172A"/>
                </a:solidFill>
                <a:latin typeface="Inter" pitchFamily="34" charset="0"/>
                <a:ea typeface="Inter" pitchFamily="34" charset="-122"/>
                <a:cs typeface="Inter" pitchFamily="34" charset="-120"/>
              </a:rPr>
              <a:t>Regions (N); ~$180B market (section 2); app 22% of sessions (A)</a:t>
            </a:r>
            <a:endParaRPr lang="en-US" sz="850" dirty="0"/>
          </a:p>
        </p:txBody>
      </p:sp>
      <p:sp>
        <p:nvSpPr>
          <p:cNvPr id="24" name="Shape 21"/>
          <p:cNvSpPr/>
          <p:nvPr/>
        </p:nvSpPr>
        <p:spPr>
          <a:xfrm>
            <a:off x="6172200" y="1261872"/>
            <a:ext cx="5513832" cy="2176272"/>
          </a:xfrm>
          <a:prstGeom prst="roundRect">
            <a:avLst>
              <a:gd name="adj" fmla="val 2521"/>
            </a:avLst>
          </a:prstGeom>
          <a:solidFill>
            <a:srgbClr val="FFFFFF"/>
          </a:solidFill>
          <a:ln w="9525">
            <a:solidFill>
              <a:srgbClr val="E2E8F0"/>
            </a:solidFill>
            <a:prstDash val="solid"/>
          </a:ln>
        </p:spPr>
        <p:txBody>
          <a:bodyPr/>
          <a:lstStyle/>
          <a:p>
            <a:endParaRPr lang="en-US"/>
          </a:p>
        </p:txBody>
      </p:sp>
      <p:sp>
        <p:nvSpPr>
          <p:cNvPr id="25" name="Shape 22"/>
          <p:cNvSpPr/>
          <p:nvPr/>
        </p:nvSpPr>
        <p:spPr>
          <a:xfrm>
            <a:off x="6172200" y="1261872"/>
            <a:ext cx="64008" cy="2176272"/>
          </a:xfrm>
          <a:prstGeom prst="rect">
            <a:avLst/>
          </a:prstGeom>
          <a:solidFill>
            <a:srgbClr val="1D4ED8"/>
          </a:solidFill>
          <a:ln w="6350">
            <a:solidFill>
              <a:srgbClr val="1D4ED8"/>
            </a:solidFill>
            <a:prstDash val="solid"/>
          </a:ln>
        </p:spPr>
        <p:txBody>
          <a:bodyPr/>
          <a:lstStyle/>
          <a:p>
            <a:endParaRPr lang="en-US"/>
          </a:p>
        </p:txBody>
      </p:sp>
      <p:sp>
        <p:nvSpPr>
          <p:cNvPr id="26" name="Text 23"/>
          <p:cNvSpPr txBox="1"/>
          <p:nvPr/>
        </p:nvSpPr>
        <p:spPr>
          <a:xfrm>
            <a:off x="6373368" y="1335024"/>
            <a:ext cx="5239512" cy="274320"/>
          </a:xfrm>
          <a:prstGeom prst="rect">
            <a:avLst/>
          </a:prstGeom>
          <a:noFill/>
          <a:ln/>
        </p:spPr>
        <p:txBody>
          <a:bodyPr wrap="square" lIns="0" tIns="0" rIns="0" bIns="0" rtlCol="0" anchor="ctr"/>
          <a:lstStyle/>
          <a:p>
            <a:pPr marL="0" indent="0">
              <a:buNone/>
            </a:pPr>
            <a:r>
              <a:rPr lang="en-US" sz="1150" b="1" dirty="0">
                <a:solidFill>
                  <a:srgbClr val="0A1F44"/>
                </a:solidFill>
                <a:latin typeface="Inter" pitchFamily="34" charset="0"/>
                <a:ea typeface="Inter" pitchFamily="34" charset="-122"/>
                <a:cs typeface="Inter" pitchFamily="34" charset="-120"/>
              </a:rPr>
              <a:t>Adobe CJA (our sandbox)</a:t>
            </a:r>
            <a:endParaRPr lang="en-US" sz="1150" dirty="0"/>
          </a:p>
        </p:txBody>
      </p:sp>
      <p:sp>
        <p:nvSpPr>
          <p:cNvPr id="27" name="Shape 24"/>
          <p:cNvSpPr/>
          <p:nvPr/>
        </p:nvSpPr>
        <p:spPr>
          <a:xfrm>
            <a:off x="6391656" y="1773936"/>
            <a:ext cx="64008" cy="64008"/>
          </a:xfrm>
          <a:prstGeom prst="ellipse">
            <a:avLst/>
          </a:prstGeom>
          <a:solidFill>
            <a:srgbClr val="1D4ED8"/>
          </a:solidFill>
          <a:ln w="6350">
            <a:solidFill>
              <a:srgbClr val="1D4ED8"/>
            </a:solidFill>
            <a:prstDash val="solid"/>
          </a:ln>
        </p:spPr>
        <p:txBody>
          <a:bodyPr/>
          <a:lstStyle/>
          <a:p>
            <a:endParaRPr lang="en-US"/>
          </a:p>
        </p:txBody>
      </p:sp>
      <p:sp>
        <p:nvSpPr>
          <p:cNvPr id="28" name="Text 25"/>
          <p:cNvSpPr txBox="1"/>
          <p:nvPr/>
        </p:nvSpPr>
        <p:spPr>
          <a:xfrm>
            <a:off x="6519672" y="1664208"/>
            <a:ext cx="5056632" cy="274320"/>
          </a:xfrm>
          <a:prstGeom prst="rect">
            <a:avLst/>
          </a:prstGeom>
          <a:noFill/>
          <a:ln/>
        </p:spPr>
        <p:txBody>
          <a:bodyPr wrap="square" lIns="0" tIns="0" rIns="0" bIns="0" rtlCol="0" anchor="ctr">
            <a:normAutofit/>
          </a:bodyPr>
          <a:lstStyle/>
          <a:p>
            <a:pPr marL="0" indent="0">
              <a:buNone/>
            </a:pPr>
            <a:r>
              <a:rPr lang="en-US" sz="850" dirty="0">
                <a:solidFill>
                  <a:srgbClr val="0F172A"/>
                </a:solidFill>
                <a:latin typeface="Inter" pitchFamily="34" charset="0"/>
                <a:ea typeface="Inter" pitchFamily="34" charset="-122"/>
                <a:cs typeface="Inter" pitchFamily="34" charset="-120"/>
              </a:rPr>
              <a:t>60,000 → 2,592 people; 69% and 77% drop-offs; 25,227 = 36,566 − 11,339 (Fallout)</a:t>
            </a:r>
            <a:endParaRPr lang="en-US" sz="850" dirty="0"/>
          </a:p>
        </p:txBody>
      </p:sp>
      <p:sp>
        <p:nvSpPr>
          <p:cNvPr id="29" name="Shape 26"/>
          <p:cNvSpPr/>
          <p:nvPr/>
        </p:nvSpPr>
        <p:spPr>
          <a:xfrm>
            <a:off x="6391656" y="2057400"/>
            <a:ext cx="64008" cy="64008"/>
          </a:xfrm>
          <a:prstGeom prst="ellipse">
            <a:avLst/>
          </a:prstGeom>
          <a:solidFill>
            <a:srgbClr val="1D4ED8"/>
          </a:solidFill>
          <a:ln w="6350">
            <a:solidFill>
              <a:srgbClr val="1D4ED8"/>
            </a:solidFill>
            <a:prstDash val="solid"/>
          </a:ln>
        </p:spPr>
        <p:txBody>
          <a:bodyPr/>
          <a:lstStyle/>
          <a:p>
            <a:endParaRPr lang="en-US"/>
          </a:p>
        </p:txBody>
      </p:sp>
      <p:sp>
        <p:nvSpPr>
          <p:cNvPr id="30" name="Text 27"/>
          <p:cNvSpPr txBox="1"/>
          <p:nvPr/>
        </p:nvSpPr>
        <p:spPr>
          <a:xfrm>
            <a:off x="6519672" y="1947672"/>
            <a:ext cx="5056632" cy="274320"/>
          </a:xfrm>
          <a:prstGeom prst="rect">
            <a:avLst/>
          </a:prstGeom>
          <a:noFill/>
          <a:ln/>
        </p:spPr>
        <p:txBody>
          <a:bodyPr wrap="square" lIns="0" tIns="0" rIns="0" bIns="0" rtlCol="0" anchor="ctr">
            <a:normAutofit/>
          </a:bodyPr>
          <a:lstStyle/>
          <a:p>
            <a:pPr marL="0" indent="0">
              <a:buNone/>
            </a:pPr>
            <a:r>
              <a:rPr lang="en-US" sz="850" dirty="0">
                <a:solidFill>
                  <a:srgbClr val="0F172A"/>
                </a:solidFill>
                <a:latin typeface="Inter" pitchFamily="34" charset="0"/>
                <a:ea typeface="Inter" pitchFamily="34" charset="-122"/>
                <a:cs typeface="Inter" pitchFamily="34" charset="-120"/>
              </a:rPr>
              <a:t>11,610 cart paths: 6,088 to checkout, 1 to email (Flow)</a:t>
            </a:r>
            <a:endParaRPr lang="en-US" sz="850" dirty="0"/>
          </a:p>
        </p:txBody>
      </p:sp>
      <p:sp>
        <p:nvSpPr>
          <p:cNvPr id="31" name="Shape 28"/>
          <p:cNvSpPr/>
          <p:nvPr/>
        </p:nvSpPr>
        <p:spPr>
          <a:xfrm>
            <a:off x="6391656" y="2340864"/>
            <a:ext cx="64008" cy="64008"/>
          </a:xfrm>
          <a:prstGeom prst="ellipse">
            <a:avLst/>
          </a:prstGeom>
          <a:solidFill>
            <a:srgbClr val="1D4ED8"/>
          </a:solidFill>
          <a:ln w="6350">
            <a:solidFill>
              <a:srgbClr val="1D4ED8"/>
            </a:solidFill>
            <a:prstDash val="solid"/>
          </a:ln>
        </p:spPr>
        <p:txBody>
          <a:bodyPr/>
          <a:lstStyle/>
          <a:p>
            <a:endParaRPr lang="en-US"/>
          </a:p>
        </p:txBody>
      </p:sp>
      <p:sp>
        <p:nvSpPr>
          <p:cNvPr id="32" name="Text 29"/>
          <p:cNvSpPr txBox="1"/>
          <p:nvPr/>
        </p:nvSpPr>
        <p:spPr>
          <a:xfrm>
            <a:off x="6519672" y="2231136"/>
            <a:ext cx="5056632" cy="274320"/>
          </a:xfrm>
          <a:prstGeom prst="rect">
            <a:avLst/>
          </a:prstGeom>
          <a:noFill/>
          <a:ln/>
        </p:spPr>
        <p:txBody>
          <a:bodyPr wrap="square" lIns="0" tIns="0" rIns="0" bIns="0" rtlCol="0" anchor="ctr">
            <a:normAutofit/>
          </a:bodyPr>
          <a:lstStyle/>
          <a:p>
            <a:pPr marL="0" indent="0">
              <a:buNone/>
            </a:pPr>
            <a:r>
              <a:rPr lang="en-US" sz="850" dirty="0">
                <a:solidFill>
                  <a:srgbClr val="0F172A"/>
                </a:solidFill>
                <a:latin typeface="Inter" pitchFamily="34" charset="0"/>
                <a:ea typeface="Inter" pitchFamily="34" charset="-122"/>
                <a:cs typeface="Inter" pitchFamily="34" charset="-120"/>
              </a:rPr>
              <a:t>28.1% vs 4.7%; 24.5% of buyers, 66% of repeaters; 10.5% overall (A2)</a:t>
            </a:r>
            <a:endParaRPr lang="en-US" sz="850" dirty="0"/>
          </a:p>
        </p:txBody>
      </p:sp>
      <p:sp>
        <p:nvSpPr>
          <p:cNvPr id="33" name="Shape 30"/>
          <p:cNvSpPr/>
          <p:nvPr/>
        </p:nvSpPr>
        <p:spPr>
          <a:xfrm>
            <a:off x="6391656" y="2624328"/>
            <a:ext cx="64008" cy="64008"/>
          </a:xfrm>
          <a:prstGeom prst="ellipse">
            <a:avLst/>
          </a:prstGeom>
          <a:solidFill>
            <a:srgbClr val="1D4ED8"/>
          </a:solidFill>
          <a:ln w="6350">
            <a:solidFill>
              <a:srgbClr val="1D4ED8"/>
            </a:solidFill>
            <a:prstDash val="solid"/>
          </a:ln>
        </p:spPr>
        <p:txBody>
          <a:bodyPr/>
          <a:lstStyle/>
          <a:p>
            <a:endParaRPr lang="en-US"/>
          </a:p>
        </p:txBody>
      </p:sp>
      <p:sp>
        <p:nvSpPr>
          <p:cNvPr id="34" name="Text 31"/>
          <p:cNvSpPr txBox="1"/>
          <p:nvPr/>
        </p:nvSpPr>
        <p:spPr>
          <a:xfrm>
            <a:off x="6519672" y="2514600"/>
            <a:ext cx="5056632" cy="274320"/>
          </a:xfrm>
          <a:prstGeom prst="rect">
            <a:avLst/>
          </a:prstGeom>
          <a:noFill/>
          <a:ln/>
        </p:spPr>
        <p:txBody>
          <a:bodyPr wrap="square" lIns="0" tIns="0" rIns="0" bIns="0" rtlCol="0" anchor="ctr">
            <a:normAutofit/>
          </a:bodyPr>
          <a:lstStyle/>
          <a:p>
            <a:pPr marL="0" indent="0">
              <a:buNone/>
            </a:pPr>
            <a:r>
              <a:rPr lang="en-US" sz="850" dirty="0">
                <a:solidFill>
                  <a:srgbClr val="0F172A"/>
                </a:solidFill>
                <a:latin typeface="Inter" pitchFamily="34" charset="0"/>
                <a:ea typeface="Inter" pitchFamily="34" charset="-122"/>
                <a:cs typeface="Inter" pitchFamily="34" charset="-120"/>
              </a:rPr>
              <a:t>App 21.5% (n = 265), SMS 11.7% (n = 315) after order one (A5)</a:t>
            </a:r>
            <a:endParaRPr lang="en-US" sz="850" dirty="0"/>
          </a:p>
        </p:txBody>
      </p:sp>
      <p:sp>
        <p:nvSpPr>
          <p:cNvPr id="35" name="Shape 32"/>
          <p:cNvSpPr/>
          <p:nvPr/>
        </p:nvSpPr>
        <p:spPr>
          <a:xfrm>
            <a:off x="6391656" y="2907792"/>
            <a:ext cx="64008" cy="64008"/>
          </a:xfrm>
          <a:prstGeom prst="ellipse">
            <a:avLst/>
          </a:prstGeom>
          <a:solidFill>
            <a:srgbClr val="1D4ED8"/>
          </a:solidFill>
          <a:ln w="6350">
            <a:solidFill>
              <a:srgbClr val="1D4ED8"/>
            </a:solidFill>
            <a:prstDash val="solid"/>
          </a:ln>
        </p:spPr>
        <p:txBody>
          <a:bodyPr/>
          <a:lstStyle/>
          <a:p>
            <a:endParaRPr lang="en-US"/>
          </a:p>
        </p:txBody>
      </p:sp>
      <p:sp>
        <p:nvSpPr>
          <p:cNvPr id="36" name="Text 33"/>
          <p:cNvSpPr txBox="1"/>
          <p:nvPr/>
        </p:nvSpPr>
        <p:spPr>
          <a:xfrm>
            <a:off x="6519672" y="2798064"/>
            <a:ext cx="5056632" cy="274320"/>
          </a:xfrm>
          <a:prstGeom prst="rect">
            <a:avLst/>
          </a:prstGeom>
          <a:noFill/>
          <a:ln/>
        </p:spPr>
        <p:txBody>
          <a:bodyPr wrap="square" lIns="0" tIns="0" rIns="0" bIns="0" rtlCol="0" anchor="ctr">
            <a:normAutofit/>
          </a:bodyPr>
          <a:lstStyle/>
          <a:p>
            <a:pPr marL="0" indent="0">
              <a:buNone/>
            </a:pPr>
            <a:r>
              <a:rPr lang="en-US" sz="850" dirty="0">
                <a:solidFill>
                  <a:srgbClr val="0F172A"/>
                </a:solidFill>
                <a:latin typeface="Inter" pitchFamily="34" charset="0"/>
                <a:ea typeface="Inter" pitchFamily="34" charset="-122"/>
                <a:cs typeface="Inter" pitchFamily="34" charset="-120"/>
              </a:rPr>
              <a:t>Week 2: 5.6% vs 2.1%; half of engaged repeats in weeks 1–4 (Cohort)</a:t>
            </a:r>
            <a:endParaRPr lang="en-US" sz="850" dirty="0"/>
          </a:p>
        </p:txBody>
      </p:sp>
      <p:sp>
        <p:nvSpPr>
          <p:cNvPr id="37" name="Shape 34"/>
          <p:cNvSpPr/>
          <p:nvPr/>
        </p:nvSpPr>
        <p:spPr>
          <a:xfrm>
            <a:off x="6391656" y="3191256"/>
            <a:ext cx="64008" cy="64008"/>
          </a:xfrm>
          <a:prstGeom prst="ellipse">
            <a:avLst/>
          </a:prstGeom>
          <a:solidFill>
            <a:srgbClr val="1D4ED8"/>
          </a:solidFill>
          <a:ln w="6350">
            <a:solidFill>
              <a:srgbClr val="1D4ED8"/>
            </a:solidFill>
            <a:prstDash val="solid"/>
          </a:ln>
        </p:spPr>
        <p:txBody>
          <a:bodyPr/>
          <a:lstStyle/>
          <a:p>
            <a:endParaRPr lang="en-US"/>
          </a:p>
        </p:txBody>
      </p:sp>
      <p:sp>
        <p:nvSpPr>
          <p:cNvPr id="38" name="Text 35"/>
          <p:cNvSpPr txBox="1"/>
          <p:nvPr/>
        </p:nvSpPr>
        <p:spPr>
          <a:xfrm>
            <a:off x="6519672" y="3081528"/>
            <a:ext cx="5056632" cy="274320"/>
          </a:xfrm>
          <a:prstGeom prst="rect">
            <a:avLst/>
          </a:prstGeom>
          <a:noFill/>
          <a:ln/>
        </p:spPr>
        <p:txBody>
          <a:bodyPr wrap="square" lIns="0" tIns="0" rIns="0" bIns="0" rtlCol="0" anchor="ctr">
            <a:normAutofit/>
          </a:bodyPr>
          <a:lstStyle/>
          <a:p>
            <a:pPr marL="0" indent="0">
              <a:buNone/>
            </a:pPr>
            <a:r>
              <a:rPr lang="en-US" sz="850" dirty="0">
                <a:solidFill>
                  <a:srgbClr val="0F172A"/>
                </a:solidFill>
                <a:latin typeface="Inter" pitchFamily="34" charset="0"/>
                <a:ea typeface="Inter" pitchFamily="34" charset="-122"/>
                <a:cs typeface="Inter" pitchFamily="34" charset="-120"/>
              </a:rPr>
              <a:t>Category repeat, cashmere 40.7% (A6); 23.0% vs 23.4%, 45.5% (A3b); 4.8% vs 15.0% (AIQ)</a:t>
            </a:r>
            <a:endParaRPr lang="en-US" sz="850" dirty="0"/>
          </a:p>
        </p:txBody>
      </p:sp>
      <p:sp>
        <p:nvSpPr>
          <p:cNvPr id="39" name="Shape 36"/>
          <p:cNvSpPr/>
          <p:nvPr/>
        </p:nvSpPr>
        <p:spPr>
          <a:xfrm>
            <a:off x="502920" y="3566160"/>
            <a:ext cx="5513832" cy="2176272"/>
          </a:xfrm>
          <a:prstGeom prst="roundRect">
            <a:avLst>
              <a:gd name="adj" fmla="val 2521"/>
            </a:avLst>
          </a:prstGeom>
          <a:solidFill>
            <a:srgbClr val="FFFFFF"/>
          </a:solidFill>
          <a:ln w="9525">
            <a:solidFill>
              <a:srgbClr val="E2E8F0"/>
            </a:solidFill>
            <a:prstDash val="solid"/>
          </a:ln>
        </p:spPr>
        <p:txBody>
          <a:bodyPr/>
          <a:lstStyle/>
          <a:p>
            <a:endParaRPr lang="en-US"/>
          </a:p>
        </p:txBody>
      </p:sp>
      <p:sp>
        <p:nvSpPr>
          <p:cNvPr id="40" name="Shape 37"/>
          <p:cNvSpPr/>
          <p:nvPr/>
        </p:nvSpPr>
        <p:spPr>
          <a:xfrm>
            <a:off x="502920" y="3566160"/>
            <a:ext cx="64008" cy="2176272"/>
          </a:xfrm>
          <a:prstGeom prst="rect">
            <a:avLst/>
          </a:prstGeom>
          <a:solidFill>
            <a:srgbClr val="2563EB"/>
          </a:solidFill>
          <a:ln w="6350">
            <a:solidFill>
              <a:srgbClr val="2563EB"/>
            </a:solidFill>
            <a:prstDash val="solid"/>
          </a:ln>
        </p:spPr>
        <p:txBody>
          <a:bodyPr/>
          <a:lstStyle/>
          <a:p>
            <a:endParaRPr lang="en-US"/>
          </a:p>
        </p:txBody>
      </p:sp>
      <p:sp>
        <p:nvSpPr>
          <p:cNvPr id="41" name="Text 38"/>
          <p:cNvSpPr txBox="1"/>
          <p:nvPr/>
        </p:nvSpPr>
        <p:spPr>
          <a:xfrm>
            <a:off x="704088" y="3639312"/>
            <a:ext cx="5239512" cy="274320"/>
          </a:xfrm>
          <a:prstGeom prst="rect">
            <a:avLst/>
          </a:prstGeom>
          <a:noFill/>
          <a:ln/>
        </p:spPr>
        <p:txBody>
          <a:bodyPr wrap="square" lIns="0" tIns="0" rIns="0" bIns="0" rtlCol="0" anchor="ctr"/>
          <a:lstStyle/>
          <a:p>
            <a:pPr marL="0" indent="0">
              <a:buNone/>
            </a:pPr>
            <a:r>
              <a:rPr lang="en-US" sz="1150" b="1" dirty="0">
                <a:solidFill>
                  <a:srgbClr val="0A1F44"/>
                </a:solidFill>
                <a:latin typeface="Inter" pitchFamily="34" charset="0"/>
                <a:ea typeface="Inter" pitchFamily="34" charset="-122"/>
                <a:cs typeface="Inter" pitchFamily="34" charset="-120"/>
              </a:rPr>
              <a:t>Public data (cited)</a:t>
            </a:r>
            <a:endParaRPr lang="en-US" sz="1150" dirty="0"/>
          </a:p>
        </p:txBody>
      </p:sp>
      <p:sp>
        <p:nvSpPr>
          <p:cNvPr id="42" name="Shape 39"/>
          <p:cNvSpPr/>
          <p:nvPr/>
        </p:nvSpPr>
        <p:spPr>
          <a:xfrm>
            <a:off x="722376" y="4078224"/>
            <a:ext cx="64008" cy="64008"/>
          </a:xfrm>
          <a:prstGeom prst="ellipse">
            <a:avLst/>
          </a:prstGeom>
          <a:solidFill>
            <a:srgbClr val="2563EB"/>
          </a:solidFill>
          <a:ln w="6350">
            <a:solidFill>
              <a:srgbClr val="2563EB"/>
            </a:solidFill>
            <a:prstDash val="solid"/>
          </a:ln>
        </p:spPr>
        <p:txBody>
          <a:bodyPr/>
          <a:lstStyle/>
          <a:p>
            <a:endParaRPr lang="en-US"/>
          </a:p>
        </p:txBody>
      </p:sp>
      <p:sp>
        <p:nvSpPr>
          <p:cNvPr id="43" name="Text 40"/>
          <p:cNvSpPr txBox="1"/>
          <p:nvPr/>
        </p:nvSpPr>
        <p:spPr>
          <a:xfrm>
            <a:off x="850392" y="3968496"/>
            <a:ext cx="5056632" cy="274320"/>
          </a:xfrm>
          <a:prstGeom prst="rect">
            <a:avLst/>
          </a:prstGeom>
          <a:noFill/>
          <a:ln/>
        </p:spPr>
        <p:txBody>
          <a:bodyPr wrap="square" lIns="0" tIns="0" rIns="0" bIns="0" rtlCol="0" anchor="ctr">
            <a:normAutofit/>
          </a:bodyPr>
          <a:lstStyle/>
          <a:p>
            <a:pPr marL="0" indent="0">
              <a:buNone/>
            </a:pPr>
            <a:r>
              <a:rPr lang="en-US" sz="850" dirty="0">
                <a:solidFill>
                  <a:srgbClr val="0F172A"/>
                </a:solidFill>
                <a:latin typeface="Inter" pitchFamily="34" charset="0"/>
                <a:ea typeface="Inter" pitchFamily="34" charset="-122"/>
                <a:cs typeface="Inter" pitchFamily="34" charset="-120"/>
              </a:rPr>
              <a:t>ATT opt-in 35% (Adjust, Q2 2025) to 50% (AppsFlyer, Apr 2025)</a:t>
            </a:r>
            <a:endParaRPr lang="en-US" sz="850" dirty="0"/>
          </a:p>
        </p:txBody>
      </p:sp>
      <p:sp>
        <p:nvSpPr>
          <p:cNvPr id="44" name="Shape 41"/>
          <p:cNvSpPr/>
          <p:nvPr/>
        </p:nvSpPr>
        <p:spPr>
          <a:xfrm>
            <a:off x="722376" y="4361688"/>
            <a:ext cx="64008" cy="64008"/>
          </a:xfrm>
          <a:prstGeom prst="ellipse">
            <a:avLst/>
          </a:prstGeom>
          <a:solidFill>
            <a:srgbClr val="2563EB"/>
          </a:solidFill>
          <a:ln w="6350">
            <a:solidFill>
              <a:srgbClr val="2563EB"/>
            </a:solidFill>
            <a:prstDash val="solid"/>
          </a:ln>
        </p:spPr>
        <p:txBody>
          <a:bodyPr/>
          <a:lstStyle/>
          <a:p>
            <a:endParaRPr lang="en-US"/>
          </a:p>
        </p:txBody>
      </p:sp>
      <p:sp>
        <p:nvSpPr>
          <p:cNvPr id="45" name="Text 42"/>
          <p:cNvSpPr txBox="1"/>
          <p:nvPr/>
        </p:nvSpPr>
        <p:spPr>
          <a:xfrm>
            <a:off x="850392" y="4251960"/>
            <a:ext cx="5056632" cy="274320"/>
          </a:xfrm>
          <a:prstGeom prst="rect">
            <a:avLst/>
          </a:prstGeom>
          <a:noFill/>
          <a:ln/>
        </p:spPr>
        <p:txBody>
          <a:bodyPr wrap="square" lIns="0" tIns="0" rIns="0" bIns="0" rtlCol="0" anchor="ctr">
            <a:normAutofit/>
          </a:bodyPr>
          <a:lstStyle/>
          <a:p>
            <a:pPr marL="0" indent="0">
              <a:buNone/>
            </a:pPr>
            <a:r>
              <a:rPr lang="en-US" sz="850" dirty="0">
                <a:solidFill>
                  <a:srgbClr val="0F172A"/>
                </a:solidFill>
                <a:latin typeface="Inter" pitchFamily="34" charset="0"/>
                <a:ea typeface="Inter" pitchFamily="34" charset="-122"/>
                <a:cs typeface="Inter" pitchFamily="34" charset="-120"/>
              </a:rPr>
              <a:t>Meta average price per ad +12% year on year (Q2 2026 results)</a:t>
            </a:r>
            <a:endParaRPr lang="en-US" sz="850" dirty="0"/>
          </a:p>
        </p:txBody>
      </p:sp>
      <p:sp>
        <p:nvSpPr>
          <p:cNvPr id="46" name="Shape 43"/>
          <p:cNvSpPr/>
          <p:nvPr/>
        </p:nvSpPr>
        <p:spPr>
          <a:xfrm>
            <a:off x="722376" y="4645152"/>
            <a:ext cx="64008" cy="64008"/>
          </a:xfrm>
          <a:prstGeom prst="ellipse">
            <a:avLst/>
          </a:prstGeom>
          <a:solidFill>
            <a:srgbClr val="2563EB"/>
          </a:solidFill>
          <a:ln w="6350">
            <a:solidFill>
              <a:srgbClr val="2563EB"/>
            </a:solidFill>
            <a:prstDash val="solid"/>
          </a:ln>
        </p:spPr>
        <p:txBody>
          <a:bodyPr/>
          <a:lstStyle/>
          <a:p>
            <a:endParaRPr lang="en-US"/>
          </a:p>
        </p:txBody>
      </p:sp>
      <p:sp>
        <p:nvSpPr>
          <p:cNvPr id="47" name="Text 44"/>
          <p:cNvSpPr txBox="1"/>
          <p:nvPr/>
        </p:nvSpPr>
        <p:spPr>
          <a:xfrm>
            <a:off x="850392" y="4535424"/>
            <a:ext cx="5056632" cy="274320"/>
          </a:xfrm>
          <a:prstGeom prst="rect">
            <a:avLst/>
          </a:prstGeom>
          <a:noFill/>
          <a:ln/>
        </p:spPr>
        <p:txBody>
          <a:bodyPr wrap="square" lIns="0" tIns="0" rIns="0" bIns="0" rtlCol="0" anchor="ctr">
            <a:normAutofit/>
          </a:bodyPr>
          <a:lstStyle/>
          <a:p>
            <a:pPr marL="0" indent="0">
              <a:buNone/>
            </a:pPr>
            <a:r>
              <a:rPr lang="en-US" sz="850" dirty="0">
                <a:solidFill>
                  <a:srgbClr val="0F172A"/>
                </a:solidFill>
                <a:latin typeface="Inter" pitchFamily="34" charset="0"/>
                <a:ea typeface="Inter" pitchFamily="34" charset="-122"/>
                <a:cs typeface="Inter" pitchFamily="34" charset="-120"/>
              </a:rPr>
              <a:t>Meta Advantage+ defaults (2025); TikTok US joint venture (Jan 2026)</a:t>
            </a:r>
            <a:endParaRPr lang="en-US" sz="850" dirty="0"/>
          </a:p>
        </p:txBody>
      </p:sp>
      <p:sp>
        <p:nvSpPr>
          <p:cNvPr id="48" name="Shape 45"/>
          <p:cNvSpPr/>
          <p:nvPr/>
        </p:nvSpPr>
        <p:spPr>
          <a:xfrm>
            <a:off x="722376" y="4928616"/>
            <a:ext cx="64008" cy="64008"/>
          </a:xfrm>
          <a:prstGeom prst="ellipse">
            <a:avLst/>
          </a:prstGeom>
          <a:solidFill>
            <a:srgbClr val="2563EB"/>
          </a:solidFill>
          <a:ln w="6350">
            <a:solidFill>
              <a:srgbClr val="2563EB"/>
            </a:solidFill>
            <a:prstDash val="solid"/>
          </a:ln>
        </p:spPr>
        <p:txBody>
          <a:bodyPr/>
          <a:lstStyle/>
          <a:p>
            <a:endParaRPr lang="en-US"/>
          </a:p>
        </p:txBody>
      </p:sp>
      <p:sp>
        <p:nvSpPr>
          <p:cNvPr id="49" name="Text 46"/>
          <p:cNvSpPr txBox="1"/>
          <p:nvPr/>
        </p:nvSpPr>
        <p:spPr>
          <a:xfrm>
            <a:off x="850392" y="4818888"/>
            <a:ext cx="5056632" cy="274320"/>
          </a:xfrm>
          <a:prstGeom prst="rect">
            <a:avLst/>
          </a:prstGeom>
          <a:noFill/>
          <a:ln/>
        </p:spPr>
        <p:txBody>
          <a:bodyPr wrap="square" lIns="0" tIns="0" rIns="0" bIns="0" rtlCol="0" anchor="ctr">
            <a:normAutofit/>
          </a:bodyPr>
          <a:lstStyle/>
          <a:p>
            <a:pPr marL="0" indent="0">
              <a:buNone/>
            </a:pPr>
            <a:r>
              <a:rPr lang="en-US" sz="850" dirty="0">
                <a:solidFill>
                  <a:srgbClr val="0F172A"/>
                </a:solidFill>
                <a:latin typeface="Inter" pitchFamily="34" charset="0"/>
                <a:ea typeface="Inter" pitchFamily="34" charset="-122"/>
                <a:cs typeface="Inter" pitchFamily="34" charset="-120"/>
              </a:rPr>
              <a:t>Consumer sentiment record low (UMich, 2026); apparel prices up with tariffs (Cotton Inc.)</a:t>
            </a:r>
            <a:endParaRPr lang="en-US" sz="850" dirty="0"/>
          </a:p>
        </p:txBody>
      </p:sp>
      <p:sp>
        <p:nvSpPr>
          <p:cNvPr id="50" name="Shape 47"/>
          <p:cNvSpPr/>
          <p:nvPr/>
        </p:nvSpPr>
        <p:spPr>
          <a:xfrm>
            <a:off x="722376" y="5212080"/>
            <a:ext cx="64008" cy="64008"/>
          </a:xfrm>
          <a:prstGeom prst="ellipse">
            <a:avLst/>
          </a:prstGeom>
          <a:solidFill>
            <a:srgbClr val="2563EB"/>
          </a:solidFill>
          <a:ln w="6350">
            <a:solidFill>
              <a:srgbClr val="2563EB"/>
            </a:solidFill>
            <a:prstDash val="solid"/>
          </a:ln>
        </p:spPr>
        <p:txBody>
          <a:bodyPr/>
          <a:lstStyle/>
          <a:p>
            <a:endParaRPr lang="en-US"/>
          </a:p>
        </p:txBody>
      </p:sp>
      <p:sp>
        <p:nvSpPr>
          <p:cNvPr id="51" name="Text 48"/>
          <p:cNvSpPr txBox="1"/>
          <p:nvPr/>
        </p:nvSpPr>
        <p:spPr>
          <a:xfrm>
            <a:off x="850392" y="5102352"/>
            <a:ext cx="5056632" cy="274320"/>
          </a:xfrm>
          <a:prstGeom prst="rect">
            <a:avLst/>
          </a:prstGeom>
          <a:noFill/>
          <a:ln/>
        </p:spPr>
        <p:txBody>
          <a:bodyPr wrap="square" lIns="0" tIns="0" rIns="0" bIns="0" rtlCol="0" anchor="ctr">
            <a:normAutofit/>
          </a:bodyPr>
          <a:lstStyle/>
          <a:p>
            <a:pPr marL="0" indent="0">
              <a:buNone/>
            </a:pPr>
            <a:r>
              <a:rPr lang="en-US" sz="850" dirty="0">
                <a:solidFill>
                  <a:srgbClr val="0F172A"/>
                </a:solidFill>
                <a:latin typeface="Inter" pitchFamily="34" charset="0"/>
                <a:ea typeface="Inter" pitchFamily="34" charset="-122"/>
                <a:cs typeface="Inter" pitchFamily="34" charset="-120"/>
              </a:rPr>
              <a:t>Shein to buy Everlane (May 2026); Amazon ads $19.8B, +26% (Q2 2026)</a:t>
            </a:r>
            <a:endParaRPr lang="en-US" sz="850" dirty="0"/>
          </a:p>
        </p:txBody>
      </p:sp>
      <p:sp>
        <p:nvSpPr>
          <p:cNvPr id="52" name="Shape 49"/>
          <p:cNvSpPr/>
          <p:nvPr/>
        </p:nvSpPr>
        <p:spPr>
          <a:xfrm>
            <a:off x="722376" y="5495544"/>
            <a:ext cx="64008" cy="64008"/>
          </a:xfrm>
          <a:prstGeom prst="ellipse">
            <a:avLst/>
          </a:prstGeom>
          <a:solidFill>
            <a:srgbClr val="2563EB"/>
          </a:solidFill>
          <a:ln w="6350">
            <a:solidFill>
              <a:srgbClr val="2563EB"/>
            </a:solidFill>
            <a:prstDash val="solid"/>
          </a:ln>
        </p:spPr>
        <p:txBody>
          <a:bodyPr/>
          <a:lstStyle/>
          <a:p>
            <a:endParaRPr lang="en-US"/>
          </a:p>
        </p:txBody>
      </p:sp>
      <p:sp>
        <p:nvSpPr>
          <p:cNvPr id="53" name="Text 50"/>
          <p:cNvSpPr txBox="1"/>
          <p:nvPr/>
        </p:nvSpPr>
        <p:spPr>
          <a:xfrm>
            <a:off x="850392" y="5385816"/>
            <a:ext cx="5056632" cy="274320"/>
          </a:xfrm>
          <a:prstGeom prst="rect">
            <a:avLst/>
          </a:prstGeom>
          <a:noFill/>
          <a:ln/>
        </p:spPr>
        <p:txBody>
          <a:bodyPr wrap="square" lIns="0" tIns="0" rIns="0" bIns="0" rtlCol="0" anchor="ctr">
            <a:normAutofit/>
          </a:bodyPr>
          <a:lstStyle/>
          <a:p>
            <a:pPr marL="0" indent="0">
              <a:buNone/>
            </a:pPr>
            <a:r>
              <a:rPr lang="en-US" sz="850" dirty="0">
                <a:solidFill>
                  <a:srgbClr val="0F172A"/>
                </a:solidFill>
                <a:latin typeface="Inter" pitchFamily="34" charset="0"/>
                <a:ea typeface="Inter" pitchFamily="34" charset="-122"/>
                <a:cs typeface="Inter" pitchFamily="34" charset="-120"/>
              </a:rPr>
              <a:t>Census: 17.1% online (Q2 2026); McKinsey 71%; Tapestry 6.8M; WSI v. Quince (2026)</a:t>
            </a:r>
            <a:endParaRPr lang="en-US" sz="850" dirty="0"/>
          </a:p>
        </p:txBody>
      </p:sp>
      <p:sp>
        <p:nvSpPr>
          <p:cNvPr id="54" name="Shape 51"/>
          <p:cNvSpPr/>
          <p:nvPr/>
        </p:nvSpPr>
        <p:spPr>
          <a:xfrm>
            <a:off x="6172200" y="3566160"/>
            <a:ext cx="5513832" cy="2176272"/>
          </a:xfrm>
          <a:prstGeom prst="roundRect">
            <a:avLst>
              <a:gd name="adj" fmla="val 2521"/>
            </a:avLst>
          </a:prstGeom>
          <a:solidFill>
            <a:srgbClr val="FFFFFF"/>
          </a:solidFill>
          <a:ln w="9525">
            <a:solidFill>
              <a:srgbClr val="E2E8F0"/>
            </a:solidFill>
            <a:prstDash val="solid"/>
          </a:ln>
        </p:spPr>
        <p:txBody>
          <a:bodyPr/>
          <a:lstStyle/>
          <a:p>
            <a:endParaRPr lang="en-US"/>
          </a:p>
        </p:txBody>
      </p:sp>
      <p:sp>
        <p:nvSpPr>
          <p:cNvPr id="55" name="Shape 52"/>
          <p:cNvSpPr/>
          <p:nvPr/>
        </p:nvSpPr>
        <p:spPr>
          <a:xfrm>
            <a:off x="6172200" y="3566160"/>
            <a:ext cx="64008" cy="2176272"/>
          </a:xfrm>
          <a:prstGeom prst="rect">
            <a:avLst/>
          </a:prstGeom>
          <a:solidFill>
            <a:srgbClr val="60A5FA"/>
          </a:solidFill>
          <a:ln w="6350">
            <a:solidFill>
              <a:srgbClr val="60A5FA"/>
            </a:solidFill>
            <a:prstDash val="solid"/>
          </a:ln>
        </p:spPr>
        <p:txBody>
          <a:bodyPr/>
          <a:lstStyle/>
          <a:p>
            <a:endParaRPr lang="en-US"/>
          </a:p>
        </p:txBody>
      </p:sp>
      <p:sp>
        <p:nvSpPr>
          <p:cNvPr id="56" name="Text 53"/>
          <p:cNvSpPr txBox="1"/>
          <p:nvPr/>
        </p:nvSpPr>
        <p:spPr>
          <a:xfrm>
            <a:off x="6373368" y="3639312"/>
            <a:ext cx="5239512" cy="274320"/>
          </a:xfrm>
          <a:prstGeom prst="rect">
            <a:avLst/>
          </a:prstGeom>
          <a:noFill/>
          <a:ln/>
        </p:spPr>
        <p:txBody>
          <a:bodyPr wrap="square" lIns="0" tIns="0" rIns="0" bIns="0" rtlCol="0" anchor="ctr"/>
          <a:lstStyle/>
          <a:p>
            <a:pPr marL="0" indent="0">
              <a:buNone/>
            </a:pPr>
            <a:r>
              <a:rPr lang="en-US" sz="1150" b="1" dirty="0">
                <a:solidFill>
                  <a:srgbClr val="0A1F44"/>
                </a:solidFill>
                <a:latin typeface="Inter" pitchFamily="34" charset="0"/>
                <a:ea typeface="Inter" pitchFamily="34" charset="-122"/>
                <a:cs typeface="Inter" pitchFamily="34" charset="-120"/>
              </a:rPr>
              <a:t>Derived, or team design</a:t>
            </a:r>
            <a:endParaRPr lang="en-US" sz="1150" dirty="0"/>
          </a:p>
        </p:txBody>
      </p:sp>
      <p:sp>
        <p:nvSpPr>
          <p:cNvPr id="57" name="Shape 54"/>
          <p:cNvSpPr/>
          <p:nvPr/>
        </p:nvSpPr>
        <p:spPr>
          <a:xfrm>
            <a:off x="6391656" y="4078224"/>
            <a:ext cx="64008" cy="64008"/>
          </a:xfrm>
          <a:prstGeom prst="ellipse">
            <a:avLst/>
          </a:prstGeom>
          <a:solidFill>
            <a:srgbClr val="60A5FA"/>
          </a:solidFill>
          <a:ln w="6350">
            <a:solidFill>
              <a:srgbClr val="60A5FA"/>
            </a:solidFill>
            <a:prstDash val="solid"/>
          </a:ln>
        </p:spPr>
        <p:txBody>
          <a:bodyPr/>
          <a:lstStyle/>
          <a:p>
            <a:endParaRPr lang="en-US"/>
          </a:p>
        </p:txBody>
      </p:sp>
      <p:sp>
        <p:nvSpPr>
          <p:cNvPr id="58" name="Text 55"/>
          <p:cNvSpPr txBox="1"/>
          <p:nvPr/>
        </p:nvSpPr>
        <p:spPr>
          <a:xfrm>
            <a:off x="6519672" y="3968496"/>
            <a:ext cx="5056632" cy="274320"/>
          </a:xfrm>
          <a:prstGeom prst="rect">
            <a:avLst/>
          </a:prstGeom>
          <a:noFill/>
          <a:ln/>
        </p:spPr>
        <p:txBody>
          <a:bodyPr wrap="square" lIns="0" tIns="0" rIns="0" bIns="0" rtlCol="0" anchor="ctr">
            <a:normAutofit/>
          </a:bodyPr>
          <a:lstStyle/>
          <a:p>
            <a:pPr marL="0" indent="0">
              <a:buNone/>
            </a:pPr>
            <a:r>
              <a:rPr lang="en-US" sz="850" dirty="0">
                <a:solidFill>
                  <a:srgbClr val="0F172A"/>
                </a:solidFill>
                <a:latin typeface="Inter" pitchFamily="34" charset="0"/>
                <a:ea typeface="Inter" pitchFamily="34" charset="-122"/>
                <a:cs typeface="Inter" pitchFamily="34" charset="-120"/>
              </a:rPr>
              <a:t>+29% = $62 ÷ $48 − 1; $1.43 = $6M ÷ 4.2M; 60% = ($58M + $14M) ÷ $120M</a:t>
            </a:r>
            <a:endParaRPr lang="en-US" sz="850" dirty="0"/>
          </a:p>
        </p:txBody>
      </p:sp>
      <p:sp>
        <p:nvSpPr>
          <p:cNvPr id="59" name="Shape 56"/>
          <p:cNvSpPr/>
          <p:nvPr/>
        </p:nvSpPr>
        <p:spPr>
          <a:xfrm>
            <a:off x="6391656" y="4361688"/>
            <a:ext cx="64008" cy="64008"/>
          </a:xfrm>
          <a:prstGeom prst="ellipse">
            <a:avLst/>
          </a:prstGeom>
          <a:solidFill>
            <a:srgbClr val="60A5FA"/>
          </a:solidFill>
          <a:ln w="6350">
            <a:solidFill>
              <a:srgbClr val="60A5FA"/>
            </a:solidFill>
            <a:prstDash val="solid"/>
          </a:ln>
        </p:spPr>
        <p:txBody>
          <a:bodyPr/>
          <a:lstStyle/>
          <a:p>
            <a:endParaRPr lang="en-US"/>
          </a:p>
        </p:txBody>
      </p:sp>
      <p:sp>
        <p:nvSpPr>
          <p:cNvPr id="60" name="Text 57"/>
          <p:cNvSpPr txBox="1"/>
          <p:nvPr/>
        </p:nvSpPr>
        <p:spPr>
          <a:xfrm>
            <a:off x="6519672" y="4251960"/>
            <a:ext cx="5056632" cy="274320"/>
          </a:xfrm>
          <a:prstGeom prst="rect">
            <a:avLst/>
          </a:prstGeom>
          <a:noFill/>
          <a:ln/>
        </p:spPr>
        <p:txBody>
          <a:bodyPr wrap="square" lIns="0" tIns="0" rIns="0" bIns="0" rtlCol="0" anchor="ctr">
            <a:normAutofit/>
          </a:bodyPr>
          <a:lstStyle/>
          <a:p>
            <a:pPr marL="0" indent="0">
              <a:buNone/>
            </a:pPr>
            <a:r>
              <a:rPr lang="en-US" sz="850" dirty="0">
                <a:solidFill>
                  <a:srgbClr val="0F172A"/>
                </a:solidFill>
                <a:latin typeface="Inter" pitchFamily="34" charset="0"/>
                <a:ea typeface="Inter" pitchFamily="34" charset="-122"/>
                <a:cs typeface="Inter" pitchFamily="34" charset="-120"/>
              </a:rPr>
              <a:t>2.7× = 5.6 ÷ 2.1; a third = 4.8 ÷ 15.0; ~5,500 = 11,610 − 6,088 − 1</a:t>
            </a:r>
            <a:endParaRPr lang="en-US" sz="850" dirty="0"/>
          </a:p>
        </p:txBody>
      </p:sp>
      <p:sp>
        <p:nvSpPr>
          <p:cNvPr id="61" name="Shape 58"/>
          <p:cNvSpPr/>
          <p:nvPr/>
        </p:nvSpPr>
        <p:spPr>
          <a:xfrm>
            <a:off x="6391656" y="4645152"/>
            <a:ext cx="64008" cy="64008"/>
          </a:xfrm>
          <a:prstGeom prst="ellipse">
            <a:avLst/>
          </a:prstGeom>
          <a:solidFill>
            <a:srgbClr val="60A5FA"/>
          </a:solidFill>
          <a:ln w="6350">
            <a:solidFill>
              <a:srgbClr val="60A5FA"/>
            </a:solidFill>
            <a:prstDash val="solid"/>
          </a:ln>
        </p:spPr>
        <p:txBody>
          <a:bodyPr/>
          <a:lstStyle/>
          <a:p>
            <a:endParaRPr lang="en-US"/>
          </a:p>
        </p:txBody>
      </p:sp>
      <p:sp>
        <p:nvSpPr>
          <p:cNvPr id="62" name="Text 59"/>
          <p:cNvSpPr txBox="1"/>
          <p:nvPr/>
        </p:nvSpPr>
        <p:spPr>
          <a:xfrm>
            <a:off x="6519672" y="4535424"/>
            <a:ext cx="5056632" cy="274320"/>
          </a:xfrm>
          <a:prstGeom prst="rect">
            <a:avLst/>
          </a:prstGeom>
          <a:noFill/>
          <a:ln/>
        </p:spPr>
        <p:txBody>
          <a:bodyPr wrap="square" lIns="0" tIns="0" rIns="0" bIns="0" rtlCol="0" anchor="ctr">
            <a:normAutofit/>
          </a:bodyPr>
          <a:lstStyle/>
          <a:p>
            <a:pPr marL="0" indent="0">
              <a:buNone/>
            </a:pPr>
            <a:r>
              <a:rPr lang="en-US" sz="850" dirty="0">
                <a:solidFill>
                  <a:srgbClr val="0F172A"/>
                </a:solidFill>
                <a:latin typeface="Inter" pitchFamily="34" charset="0"/>
                <a:ea typeface="Inter" pitchFamily="34" charset="-122"/>
                <a:cs typeface="Inter" pitchFamily="34" charset="-120"/>
              </a:rPr>
              <a:t>+6 pts: 6 ÷ 25 = 24% (app), 6 ÷ 16 = 37.5% (email/SMS); ~29% and ~59% after A2→A5 haircuts; web-only ≥ 31% (38a + 29s + 13w = 24)</a:t>
            </a:r>
            <a:endParaRPr lang="en-US" sz="850" dirty="0"/>
          </a:p>
        </p:txBody>
      </p:sp>
      <p:sp>
        <p:nvSpPr>
          <p:cNvPr id="63" name="Shape 60"/>
          <p:cNvSpPr/>
          <p:nvPr/>
        </p:nvSpPr>
        <p:spPr>
          <a:xfrm>
            <a:off x="6391656" y="4928616"/>
            <a:ext cx="64008" cy="64008"/>
          </a:xfrm>
          <a:prstGeom prst="ellipse">
            <a:avLst/>
          </a:prstGeom>
          <a:solidFill>
            <a:srgbClr val="60A5FA"/>
          </a:solidFill>
          <a:ln w="6350">
            <a:solidFill>
              <a:srgbClr val="60A5FA"/>
            </a:solidFill>
            <a:prstDash val="solid"/>
          </a:ln>
        </p:spPr>
        <p:txBody>
          <a:bodyPr/>
          <a:lstStyle/>
          <a:p>
            <a:endParaRPr lang="en-US"/>
          </a:p>
        </p:txBody>
      </p:sp>
      <p:sp>
        <p:nvSpPr>
          <p:cNvPr id="64" name="Text 61"/>
          <p:cNvSpPr txBox="1"/>
          <p:nvPr/>
        </p:nvSpPr>
        <p:spPr>
          <a:xfrm>
            <a:off x="6519672" y="4818888"/>
            <a:ext cx="5056632" cy="274320"/>
          </a:xfrm>
          <a:prstGeom prst="rect">
            <a:avLst/>
          </a:prstGeom>
          <a:noFill/>
          <a:ln/>
        </p:spPr>
        <p:txBody>
          <a:bodyPr wrap="square" lIns="0" tIns="0" rIns="0" bIns="0" rtlCol="0" anchor="ctr">
            <a:normAutofit/>
          </a:bodyPr>
          <a:lstStyle/>
          <a:p>
            <a:pPr marL="0" indent="0">
              <a:buNone/>
            </a:pPr>
            <a:r>
              <a:rPr lang="en-US" sz="850" dirty="0">
                <a:solidFill>
                  <a:srgbClr val="0F172A"/>
                </a:solidFill>
                <a:latin typeface="Inter" pitchFamily="34" charset="0"/>
                <a:ea typeface="Inter" pitchFamily="34" charset="-122"/>
                <a:cs typeface="Inter" pitchFamily="34" charset="-120"/>
              </a:rPr>
              <a:t>Base case ~31% = 24 + 7.7 gross − 1.7 overlap + 1.0 new levers (EST); gates at months 3 and 9</a:t>
            </a:r>
            <a:endParaRPr lang="en-US" sz="850" dirty="0"/>
          </a:p>
        </p:txBody>
      </p:sp>
      <p:sp>
        <p:nvSpPr>
          <p:cNvPr id="65" name="Shape 62"/>
          <p:cNvSpPr/>
          <p:nvPr/>
        </p:nvSpPr>
        <p:spPr>
          <a:xfrm>
            <a:off x="6391656" y="5212080"/>
            <a:ext cx="64008" cy="64008"/>
          </a:xfrm>
          <a:prstGeom prst="ellipse">
            <a:avLst/>
          </a:prstGeom>
          <a:solidFill>
            <a:srgbClr val="60A5FA"/>
          </a:solidFill>
          <a:ln w="6350">
            <a:solidFill>
              <a:srgbClr val="60A5FA"/>
            </a:solidFill>
            <a:prstDash val="solid"/>
          </a:ln>
        </p:spPr>
        <p:txBody>
          <a:bodyPr/>
          <a:lstStyle/>
          <a:p>
            <a:endParaRPr lang="en-US"/>
          </a:p>
        </p:txBody>
      </p:sp>
      <p:sp>
        <p:nvSpPr>
          <p:cNvPr id="66" name="Text 63"/>
          <p:cNvSpPr txBox="1"/>
          <p:nvPr/>
        </p:nvSpPr>
        <p:spPr>
          <a:xfrm>
            <a:off x="6519672" y="5102352"/>
            <a:ext cx="5056632" cy="274320"/>
          </a:xfrm>
          <a:prstGeom prst="rect">
            <a:avLst/>
          </a:prstGeom>
          <a:noFill/>
          <a:ln/>
        </p:spPr>
        <p:txBody>
          <a:bodyPr wrap="square" lIns="0" tIns="0" rIns="0" bIns="0" rtlCol="0" anchor="ctr">
            <a:normAutofit/>
          </a:bodyPr>
          <a:lstStyle/>
          <a:p>
            <a:pPr marL="0" indent="0">
              <a:buNone/>
            </a:pPr>
            <a:r>
              <a:rPr lang="en-US" sz="850" dirty="0">
                <a:solidFill>
                  <a:srgbClr val="0F172A"/>
                </a:solidFill>
                <a:latin typeface="Inter" pitchFamily="34" charset="0"/>
                <a:ea typeface="Inter" pitchFamily="34" charset="-122"/>
                <a:cs typeface="Inter" pitchFamily="34" charset="-120"/>
              </a:rPr>
              <a:t>Timing (1h, 24h, delivery, day 7, 21, 60); 30-day recent buyers; gift picks 14 days ahead</a:t>
            </a:r>
            <a:endParaRPr lang="en-US" sz="850" dirty="0"/>
          </a:p>
        </p:txBody>
      </p:sp>
      <p:sp>
        <p:nvSpPr>
          <p:cNvPr id="67" name="Shape 64"/>
          <p:cNvSpPr/>
          <p:nvPr/>
        </p:nvSpPr>
        <p:spPr>
          <a:xfrm>
            <a:off x="6391656" y="5495544"/>
            <a:ext cx="64008" cy="64008"/>
          </a:xfrm>
          <a:prstGeom prst="ellipse">
            <a:avLst/>
          </a:prstGeom>
          <a:solidFill>
            <a:srgbClr val="60A5FA"/>
          </a:solidFill>
          <a:ln w="6350">
            <a:solidFill>
              <a:srgbClr val="60A5FA"/>
            </a:solidFill>
            <a:prstDash val="solid"/>
          </a:ln>
        </p:spPr>
        <p:txBody>
          <a:bodyPr/>
          <a:lstStyle/>
          <a:p>
            <a:endParaRPr lang="en-US"/>
          </a:p>
        </p:txBody>
      </p:sp>
      <p:sp>
        <p:nvSpPr>
          <p:cNvPr id="68" name="Text 65"/>
          <p:cNvSpPr txBox="1"/>
          <p:nvPr/>
        </p:nvSpPr>
        <p:spPr>
          <a:xfrm>
            <a:off x="6519672" y="5385816"/>
            <a:ext cx="5056632" cy="274320"/>
          </a:xfrm>
          <a:prstGeom prst="rect">
            <a:avLst/>
          </a:prstGeom>
          <a:noFill/>
          <a:ln/>
        </p:spPr>
        <p:txBody>
          <a:bodyPr wrap="square" lIns="0" tIns="0" rIns="0" bIns="0" rtlCol="0" anchor="ctr">
            <a:normAutofit/>
          </a:bodyPr>
          <a:lstStyle/>
          <a:p>
            <a:pPr marL="0" indent="0">
              <a:buNone/>
            </a:pPr>
            <a:r>
              <a:rPr lang="en-US" sz="850" dirty="0">
                <a:solidFill>
                  <a:srgbClr val="0F172A"/>
                </a:solidFill>
                <a:latin typeface="Inter" pitchFamily="34" charset="0"/>
                <a:ea typeface="Inter" pitchFamily="34" charset="-122"/>
                <a:cs typeface="Inter" pitchFamily="34" charset="-120"/>
              </a:rPr>
              <a:t>$9M = $4M + $3M + $2M (targets, appendix 21); South tests 28% (Exh. N) × $22M = ~$6.2M, × $58M = ~$16.2M</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9326880" cy="841248"/>
          </a:xfrm>
          <a:prstGeom prst="rect">
            <a:avLst/>
          </a:prstGeom>
          <a:noFill/>
          <a:ln/>
        </p:spPr>
        <p:txBody>
          <a:bodyPr wrap="square" lIns="0" tIns="0" rIns="0" bIns="0" rtlCol="0" anchor="ctr"/>
          <a:lstStyle/>
          <a:p>
            <a:pPr marL="0" indent="0">
              <a:buNone/>
            </a:pPr>
            <a:r>
              <a:rPr lang="en-US" sz="2400" b="1" dirty="0">
                <a:solidFill>
                  <a:srgbClr val="0A1F44"/>
                </a:solidFill>
                <a:latin typeface="Inter" pitchFamily="34" charset="0"/>
                <a:ea typeface="Inter" pitchFamily="34" charset="-122"/>
                <a:cs typeface="Inter" pitchFamily="34" charset="-120"/>
              </a:rPr>
              <a:t>Sources: case data, our CJA project and public research</a:t>
            </a:r>
            <a:endParaRPr lang="en-US" sz="2400" dirty="0"/>
          </a:p>
        </p:txBody>
      </p:sp>
      <p:pic>
        <p:nvPicPr>
          <p:cNvPr id="3" name="Image 0" descr="/tmp/claude-0/-home-user-Quince/7efe80ae-a049-50c2-9886-98bf7ca3a04a/scratchpad/assets/quince.png"/>
          <p:cNvPicPr>
            <a:picLocks noChangeAspect="1"/>
          </p:cNvPicPr>
          <p:nvPr/>
        </p:nvPicPr>
        <p:blipFill>
          <a:blip r:embed="rId3"/>
          <a:stretch>
            <a:fillRect/>
          </a:stretch>
        </p:blipFill>
        <p:spPr>
          <a:xfrm>
            <a:off x="10236708" y="615544"/>
            <a:ext cx="777240" cy="231951"/>
          </a:xfrm>
          <a:prstGeom prst="rect">
            <a:avLst/>
          </a:prstGeom>
        </p:spPr>
      </p:pic>
      <p:sp>
        <p:nvSpPr>
          <p:cNvPr id="4" name="Shape 1"/>
          <p:cNvSpPr/>
          <p:nvPr/>
        </p:nvSpPr>
        <p:spPr>
          <a:xfrm>
            <a:off x="11155680" y="603504"/>
            <a:ext cx="530352" cy="256032"/>
          </a:xfrm>
          <a:prstGeom prst="roundRect">
            <a:avLst>
              <a:gd name="adj" fmla="val 50000"/>
            </a:avLst>
          </a:prstGeom>
          <a:solidFill>
            <a:srgbClr val="0A1F44"/>
          </a:solidFill>
          <a:ln w="6350">
            <a:solidFill>
              <a:srgbClr val="0A1F44"/>
            </a:solidFill>
            <a:prstDash val="solid"/>
          </a:ln>
        </p:spPr>
        <p:txBody>
          <a:bodyPr/>
          <a:lstStyle/>
          <a:p>
            <a:endParaRPr lang="en-US"/>
          </a:p>
        </p:txBody>
      </p:sp>
      <p:sp>
        <p:nvSpPr>
          <p:cNvPr id="5" name="Text 2"/>
          <p:cNvSpPr txBox="1"/>
          <p:nvPr/>
        </p:nvSpPr>
        <p:spPr>
          <a:xfrm>
            <a:off x="11155680" y="603504"/>
            <a:ext cx="53035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G27</a:t>
            </a:r>
            <a:endParaRPr lang="en-US" sz="950" dirty="0"/>
          </a:p>
        </p:txBody>
      </p:sp>
      <p:sp>
        <p:nvSpPr>
          <p:cNvPr id="6" name="Shape 3"/>
          <p:cNvSpPr/>
          <p:nvPr/>
        </p:nvSpPr>
        <p:spPr>
          <a:xfrm>
            <a:off x="502920" y="6400800"/>
            <a:ext cx="11183112" cy="0"/>
          </a:xfrm>
          <a:prstGeom prst="line">
            <a:avLst/>
          </a:prstGeom>
          <a:noFill/>
          <a:ln w="9525">
            <a:solidFill>
              <a:srgbClr val="E2E8F0"/>
            </a:solidFill>
            <a:prstDash val="solid"/>
          </a:ln>
        </p:spPr>
        <p:txBody>
          <a:bodyPr/>
          <a:lstStyle/>
          <a:p>
            <a:endParaRPr lang="en-US"/>
          </a:p>
        </p:txBody>
      </p:sp>
      <p:sp>
        <p:nvSpPr>
          <p:cNvPr id="7" name="Text 4"/>
          <p:cNvSpPr txBox="1"/>
          <p:nvPr/>
        </p:nvSpPr>
        <p:spPr>
          <a:xfrm>
            <a:off x="502920" y="6464808"/>
            <a:ext cx="9418320" cy="256032"/>
          </a:xfrm>
          <a:prstGeom prst="rect">
            <a:avLst/>
          </a:prstGeom>
          <a:noFill/>
          <a:ln/>
        </p:spPr>
        <p:txBody>
          <a:bodyPr wrap="square" lIns="0" tIns="0" rIns="0" bIns="0" rtlCol="0" anchor="ctr"/>
          <a:lstStyle/>
          <a:p>
            <a:pPr marL="0" indent="0">
              <a:buNone/>
            </a:pPr>
            <a:r>
              <a:rPr lang="en-US" sz="800" dirty="0">
                <a:solidFill>
                  <a:srgbClr val="64748B"/>
                </a:solidFill>
                <a:latin typeface="Inter" pitchFamily="34" charset="0"/>
                <a:ea typeface="Inter" pitchFamily="34" charset="-122"/>
                <a:cs typeface="Inter" pitchFamily="34" charset="-120"/>
              </a:rPr>
              <a:t>Case figures are the packet's illustrative estimates, never Quince disclosures. Links checked in October 2026.</a:t>
            </a:r>
            <a:endParaRPr lang="en-US" sz="800" dirty="0"/>
          </a:p>
        </p:txBody>
      </p:sp>
      <p:sp>
        <p:nvSpPr>
          <p:cNvPr id="8" name="Text 5"/>
          <p:cNvSpPr txBox="1"/>
          <p:nvPr/>
        </p:nvSpPr>
        <p:spPr>
          <a:xfrm>
            <a:off x="9966960" y="6464808"/>
            <a:ext cx="1719072" cy="256032"/>
          </a:xfrm>
          <a:prstGeom prst="rect">
            <a:avLst/>
          </a:prstGeom>
          <a:noFill/>
          <a:ln/>
        </p:spPr>
        <p:txBody>
          <a:bodyPr wrap="square" lIns="0" tIns="0" rIns="0" bIns="0" rtlCol="0" anchor="ctr"/>
          <a:lstStyle/>
          <a:p>
            <a:pPr marL="0" indent="0" algn="r">
              <a:buNone/>
            </a:pPr>
            <a:r>
              <a:rPr lang="en-US" sz="800" dirty="0">
                <a:solidFill>
                  <a:srgbClr val="64748B"/>
                </a:solidFill>
                <a:latin typeface="Inter" pitchFamily="34" charset="0"/>
                <a:ea typeface="Inter" pitchFamily="34" charset="-122"/>
                <a:cs typeface="Inter" pitchFamily="34" charset="-120"/>
              </a:rPr>
              <a:t>Team G27  ·  27</a:t>
            </a:r>
            <a:endParaRPr lang="en-US" sz="800" dirty="0"/>
          </a:p>
        </p:txBody>
      </p:sp>
      <p:sp>
        <p:nvSpPr>
          <p:cNvPr id="9" name="Text 6"/>
          <p:cNvSpPr txBox="1"/>
          <p:nvPr/>
        </p:nvSpPr>
        <p:spPr>
          <a:xfrm>
            <a:off x="502920" y="1234440"/>
            <a:ext cx="5394960" cy="274320"/>
          </a:xfrm>
          <a:prstGeom prst="rect">
            <a:avLst/>
          </a:prstGeom>
          <a:noFill/>
          <a:ln/>
        </p:spPr>
        <p:txBody>
          <a:bodyPr wrap="square" lIns="0" tIns="0" rIns="0" bIns="0" rtlCol="0" anchor="t"/>
          <a:lstStyle/>
          <a:p>
            <a:pPr marL="0" indent="0">
              <a:buNone/>
            </a:pPr>
            <a:r>
              <a:rPr lang="en-US" sz="1250" b="1" dirty="0">
                <a:solidFill>
                  <a:srgbClr val="1D4ED8"/>
                </a:solidFill>
                <a:latin typeface="Inter" pitchFamily="34" charset="0"/>
                <a:ea typeface="Inter" pitchFamily="34" charset="-122"/>
                <a:cs typeface="Inter" pitchFamily="34" charset="-120"/>
              </a:rPr>
              <a:t>Case and Adobe CJA</a:t>
            </a:r>
            <a:endParaRPr lang="en-US" sz="1250" dirty="0"/>
          </a:p>
        </p:txBody>
      </p:sp>
      <p:sp>
        <p:nvSpPr>
          <p:cNvPr id="10" name="Text 7"/>
          <p:cNvSpPr txBox="1"/>
          <p:nvPr/>
        </p:nvSpPr>
        <p:spPr>
          <a:xfrm>
            <a:off x="502920" y="1572768"/>
            <a:ext cx="5394960" cy="621792"/>
          </a:xfrm>
          <a:prstGeom prst="rect">
            <a:avLst/>
          </a:prstGeom>
          <a:noFill/>
          <a:ln/>
        </p:spPr>
        <p:txBody>
          <a:bodyPr wrap="square" lIns="0" tIns="0" rIns="0" bIns="0" rtlCol="0" anchor="t"/>
          <a:lstStyle/>
          <a:p>
            <a:pPr marL="0" indent="0">
              <a:buNone/>
            </a:pPr>
            <a:r>
              <a:rPr lang="en-US" sz="1050" b="1" dirty="0">
                <a:solidFill>
                  <a:srgbClr val="0F172A"/>
                </a:solidFill>
                <a:latin typeface="Inter" pitchFamily="34" charset="0"/>
                <a:ea typeface="Inter" pitchFamily="34" charset="-122"/>
                <a:cs typeface="Inter" pitchFamily="34" charset="-120"/>
              </a:rPr>
              <a:t>Quince case packet, "Closing the Loop"</a:t>
            </a:r>
            <a:endParaRPr lang="en-US" sz="1200" dirty="0"/>
          </a:p>
          <a:p>
            <a:pPr marL="0" indent="0">
              <a:buNone/>
            </a:pPr>
            <a:r>
              <a:rPr lang="en-US" sz="900" dirty="0">
                <a:solidFill>
                  <a:srgbClr val="64748B"/>
                </a:solidFill>
                <a:latin typeface="Inter" pitchFamily="34" charset="0"/>
                <a:ea typeface="Inter" pitchFamily="34" charset="-122"/>
                <a:cs typeface="Inter" pitchFamily="34" charset="-120"/>
              </a:rPr>
              <a:t>Case Competition World Cup, Graduate Track, 9 Oct 2026; Exhibits A–O, all illustrative</a:t>
            </a:r>
            <a:endParaRPr lang="en-US" sz="1200" dirty="0"/>
          </a:p>
        </p:txBody>
      </p:sp>
      <p:sp>
        <p:nvSpPr>
          <p:cNvPr id="11" name="Text 8"/>
          <p:cNvSpPr txBox="1"/>
          <p:nvPr/>
        </p:nvSpPr>
        <p:spPr>
          <a:xfrm>
            <a:off x="502920" y="2212848"/>
            <a:ext cx="5394960" cy="621792"/>
          </a:xfrm>
          <a:prstGeom prst="rect">
            <a:avLst/>
          </a:prstGeom>
          <a:noFill/>
          <a:ln/>
        </p:spPr>
        <p:txBody>
          <a:bodyPr wrap="square" lIns="0" tIns="0" rIns="0" bIns="0" rtlCol="0" anchor="t"/>
          <a:lstStyle/>
          <a:p>
            <a:pPr marL="0" indent="0">
              <a:buNone/>
            </a:pPr>
            <a:r>
              <a:rPr lang="en-US" sz="1050" b="1" dirty="0">
                <a:solidFill>
                  <a:srgbClr val="0F172A"/>
                </a:solidFill>
                <a:latin typeface="Inter" pitchFamily="34" charset="0"/>
                <a:ea typeface="Inter" pitchFamily="34" charset="-122"/>
                <a:cs typeface="Inter" pitchFamily="34" charset="-120"/>
              </a:rPr>
              <a:t>Adobe CJA, Quince Case Data View</a:t>
            </a:r>
            <a:endParaRPr lang="en-US" sz="1200" dirty="0"/>
          </a:p>
          <a:p>
            <a:pPr marL="0" indent="0">
              <a:buNone/>
            </a:pPr>
            <a:r>
              <a:rPr lang="en-US" sz="900" dirty="0">
                <a:solidFill>
                  <a:srgbClr val="64748B"/>
                </a:solidFill>
                <a:latin typeface="Inter" pitchFamily="34" charset="0"/>
                <a:ea typeface="Inter" pitchFamily="34" charset="-122"/>
                <a:cs typeface="Inter" pitchFamily="34" charset="-120"/>
              </a:rPr>
              <a:t>Team project: 60,000 people, 125,521 events, 1 Jan–30 Apr 2026 (appendix 9–13)</a:t>
            </a:r>
            <a:endParaRPr lang="en-US" sz="1200" dirty="0"/>
          </a:p>
        </p:txBody>
      </p:sp>
      <p:sp>
        <p:nvSpPr>
          <p:cNvPr id="12" name="Text 9"/>
          <p:cNvSpPr txBox="1"/>
          <p:nvPr/>
        </p:nvSpPr>
        <p:spPr>
          <a:xfrm>
            <a:off x="502920" y="2852928"/>
            <a:ext cx="5394960" cy="621792"/>
          </a:xfrm>
          <a:prstGeom prst="rect">
            <a:avLst/>
          </a:prstGeom>
          <a:noFill/>
          <a:ln/>
        </p:spPr>
        <p:txBody>
          <a:bodyPr wrap="square" lIns="0" tIns="0" rIns="0" bIns="0" rtlCol="0" anchor="t"/>
          <a:lstStyle/>
          <a:p>
            <a:pPr marL="0" indent="0">
              <a:buNone/>
            </a:pPr>
            <a:r>
              <a:rPr lang="en-US" sz="1050" b="1" dirty="0">
                <a:solidFill>
                  <a:srgbClr val="0F172A"/>
                </a:solidFill>
                <a:latin typeface="Inter" pitchFamily="34" charset="0"/>
                <a:ea typeface="Inter" pitchFamily="34" charset="-122"/>
                <a:cs typeface="Inter" pitchFamily="34" charset="-120"/>
              </a:rPr>
              <a:t>Adobe Experience League: publishing CJA audiences</a:t>
            </a:r>
            <a:endParaRPr lang="en-US" sz="1200" dirty="0"/>
          </a:p>
          <a:p>
            <a:pPr marL="0" indent="0">
              <a:buNone/>
            </a:pPr>
            <a:r>
              <a:rPr lang="en-US" sz="900" dirty="0">
                <a:solidFill>
                  <a:srgbClr val="64748B"/>
                </a:solidFill>
                <a:latin typeface="Inter" pitchFamily="34" charset="0"/>
                <a:ea typeface="Inter" pitchFamily="34" charset="-122"/>
                <a:cs typeface="Inter" pitchFamily="34" charset="-120"/>
              </a:rPr>
              <a:t>Audiences activate via Real-Time CDP or Journey Optimizer</a:t>
            </a:r>
            <a:endParaRPr lang="en-US" sz="1200" dirty="0"/>
          </a:p>
          <a:p>
            <a:pPr marL="0" indent="0">
              <a:buNone/>
            </a:pPr>
            <a:r>
              <a:rPr lang="en-US" sz="850" u="sng" dirty="0">
                <a:solidFill>
                  <a:srgbClr val="1D4ED8"/>
                </a:solidFill>
                <a:latin typeface="Inter" pitchFamily="34" charset="0"/>
                <a:ea typeface="Inter" pitchFamily="34" charset="-122"/>
                <a:cs typeface="Inter" pitchFamily="34" charset="-120"/>
                <a:hlinkClick r:id="rId4">
                  <a:extLst>
                    <a:ext uri="{A12FA001-AC4F-418D-AE19-62706E023703}">
                      <ahyp:hlinkClr xmlns:ahyp="http://schemas.microsoft.com/office/drawing/2018/hyperlinkcolor" val="tx"/>
                    </a:ext>
                  </a:extLst>
                </a:hlinkClick>
              </a:rPr>
              <a:t>experienceleague.adobe.com/en/docs/analytics-platform/using/cja-compon</a:t>
            </a:r>
            <a:endParaRPr lang="en-US" sz="1200" dirty="0"/>
          </a:p>
        </p:txBody>
      </p:sp>
      <p:sp>
        <p:nvSpPr>
          <p:cNvPr id="13" name="Text 10"/>
          <p:cNvSpPr txBox="1"/>
          <p:nvPr/>
        </p:nvSpPr>
        <p:spPr>
          <a:xfrm>
            <a:off x="502920" y="3493008"/>
            <a:ext cx="5394960" cy="621792"/>
          </a:xfrm>
          <a:prstGeom prst="rect">
            <a:avLst/>
          </a:prstGeom>
          <a:noFill/>
          <a:ln/>
        </p:spPr>
        <p:txBody>
          <a:bodyPr wrap="square" lIns="0" tIns="0" rIns="0" bIns="0" rtlCol="0" anchor="t"/>
          <a:lstStyle/>
          <a:p>
            <a:pPr marL="0" indent="0">
              <a:buNone/>
            </a:pPr>
            <a:r>
              <a:rPr lang="en-US" sz="1050" b="1" dirty="0">
                <a:solidFill>
                  <a:srgbClr val="0F172A"/>
                </a:solidFill>
                <a:latin typeface="Inter" pitchFamily="34" charset="0"/>
                <a:ea typeface="Inter" pitchFamily="34" charset="-122"/>
                <a:cs typeface="Inter" pitchFamily="34" charset="-120"/>
              </a:rPr>
              <a:t>Shein to buy Everlane (NPR via Michigan Public, 22 May 2026)</a:t>
            </a:r>
            <a:endParaRPr lang="en-US" sz="1200" dirty="0"/>
          </a:p>
          <a:p>
            <a:pPr marL="0" indent="0">
              <a:buNone/>
            </a:pPr>
            <a:r>
              <a:rPr lang="en-US" sz="900" dirty="0">
                <a:solidFill>
                  <a:srgbClr val="64748B"/>
                </a:solidFill>
                <a:latin typeface="Inter" pitchFamily="34" charset="0"/>
                <a:ea typeface="Inter" pitchFamily="34" charset="-122"/>
                <a:cs typeface="Inter" pitchFamily="34" charset="-120"/>
              </a:rPr>
              <a:t>Everlane agreed to be acquired; price not disclosed</a:t>
            </a:r>
            <a:endParaRPr lang="en-US" sz="1200" dirty="0"/>
          </a:p>
          <a:p>
            <a:pPr marL="0" indent="0">
              <a:buNone/>
            </a:pPr>
            <a:r>
              <a:rPr lang="en-US" sz="850" u="sng" dirty="0">
                <a:solidFill>
                  <a:srgbClr val="1D4ED8"/>
                </a:solidFill>
                <a:latin typeface="Inter" pitchFamily="34" charset="0"/>
                <a:ea typeface="Inter" pitchFamily="34" charset="-122"/>
                <a:cs typeface="Inter" pitchFamily="34" charset="-120"/>
                <a:hlinkClick r:id="rId5">
                  <a:extLst>
                    <a:ext uri="{A12FA001-AC4F-418D-AE19-62706E023703}">
                      <ahyp:hlinkClr xmlns:ahyp="http://schemas.microsoft.com/office/drawing/2018/hyperlinkcolor" val="tx"/>
                    </a:ext>
                  </a:extLst>
                </a:hlinkClick>
              </a:rPr>
              <a:t>michiganpublic.org/2026-05-22/shein-buys-everlane-which-sold-millennia</a:t>
            </a:r>
            <a:endParaRPr lang="en-US" sz="1200" dirty="0"/>
          </a:p>
        </p:txBody>
      </p:sp>
      <p:sp>
        <p:nvSpPr>
          <p:cNvPr id="14" name="Text 11"/>
          <p:cNvSpPr txBox="1"/>
          <p:nvPr/>
        </p:nvSpPr>
        <p:spPr>
          <a:xfrm>
            <a:off x="502920" y="4133088"/>
            <a:ext cx="5394960" cy="621792"/>
          </a:xfrm>
          <a:prstGeom prst="rect">
            <a:avLst/>
          </a:prstGeom>
          <a:noFill/>
          <a:ln/>
        </p:spPr>
        <p:txBody>
          <a:bodyPr wrap="square" lIns="0" tIns="0" rIns="0" bIns="0" rtlCol="0" anchor="t"/>
          <a:lstStyle/>
          <a:p>
            <a:pPr marL="0" indent="0">
              <a:buNone/>
            </a:pPr>
            <a:r>
              <a:rPr lang="en-US" sz="1050" b="1" dirty="0">
                <a:solidFill>
                  <a:srgbClr val="0F172A"/>
                </a:solidFill>
                <a:latin typeface="Inter" pitchFamily="34" charset="0"/>
                <a:ea typeface="Inter" pitchFamily="34" charset="-122"/>
                <a:cs typeface="Inter" pitchFamily="34" charset="-120"/>
              </a:rPr>
              <a:t>Gordon, Zettelmeyer, Bhargava &amp; Chapsky (2019)</a:t>
            </a:r>
            <a:endParaRPr lang="en-US" sz="1200" dirty="0"/>
          </a:p>
          <a:p>
            <a:pPr marL="0" indent="0">
              <a:buNone/>
            </a:pPr>
            <a:r>
              <a:rPr lang="en-US" sz="900" dirty="0">
                <a:solidFill>
                  <a:srgbClr val="64748B"/>
                </a:solidFill>
                <a:latin typeface="Inter" pitchFamily="34" charset="0"/>
                <a:ea typeface="Inter" pitchFamily="34" charset="-122"/>
                <a:cs typeface="Inter" pitchFamily="34" charset="-120"/>
              </a:rPr>
              <a:t>A Comparison of Approaches to Advertising Measurement. Marketing Science 38(2)</a:t>
            </a:r>
            <a:endParaRPr lang="en-US" sz="1200" dirty="0"/>
          </a:p>
          <a:p>
            <a:pPr marL="0" indent="0">
              <a:buNone/>
            </a:pPr>
            <a:r>
              <a:rPr lang="en-US" sz="850" u="sng" dirty="0">
                <a:solidFill>
                  <a:srgbClr val="1D4ED8"/>
                </a:solidFill>
                <a:latin typeface="Inter" pitchFamily="34" charset="0"/>
                <a:ea typeface="Inter" pitchFamily="34" charset="-122"/>
                <a:cs typeface="Inter" pitchFamily="34" charset="-120"/>
                <a:hlinkClick r:id="rId6">
                  <a:extLst>
                    <a:ext uri="{A12FA001-AC4F-418D-AE19-62706E023703}">
                      <ahyp:hlinkClr xmlns:ahyp="http://schemas.microsoft.com/office/drawing/2018/hyperlinkcolor" val="tx"/>
                    </a:ext>
                  </a:extLst>
                </a:hlinkClick>
              </a:rPr>
              <a:t>doi.org/10.1287/mksc.2018.1135</a:t>
            </a:r>
            <a:endParaRPr lang="en-US" sz="1200" dirty="0"/>
          </a:p>
        </p:txBody>
      </p:sp>
      <p:sp>
        <p:nvSpPr>
          <p:cNvPr id="15" name="Text 12"/>
          <p:cNvSpPr txBox="1"/>
          <p:nvPr/>
        </p:nvSpPr>
        <p:spPr>
          <a:xfrm>
            <a:off x="502920" y="4773168"/>
            <a:ext cx="5394960" cy="621792"/>
          </a:xfrm>
          <a:prstGeom prst="rect">
            <a:avLst/>
          </a:prstGeom>
          <a:noFill/>
          <a:ln/>
        </p:spPr>
        <p:txBody>
          <a:bodyPr wrap="square" lIns="0" tIns="0" rIns="0" bIns="0" rtlCol="0" anchor="t"/>
          <a:lstStyle/>
          <a:p>
            <a:pPr marL="0" indent="0">
              <a:buNone/>
            </a:pPr>
            <a:r>
              <a:rPr lang="en-US" sz="1050" b="1" dirty="0">
                <a:solidFill>
                  <a:srgbClr val="0F172A"/>
                </a:solidFill>
                <a:latin typeface="Inter" pitchFamily="34" charset="0"/>
                <a:ea typeface="Inter" pitchFamily="34" charset="-122"/>
                <a:cs typeface="Inter" pitchFamily="34" charset="-120"/>
              </a:rPr>
              <a:t>Blake, Nosko &amp; Tadelis (2015)</a:t>
            </a:r>
            <a:endParaRPr lang="en-US" sz="1200" dirty="0"/>
          </a:p>
          <a:p>
            <a:pPr marL="0" indent="0">
              <a:buNone/>
            </a:pPr>
            <a:r>
              <a:rPr lang="en-US" sz="900" dirty="0">
                <a:solidFill>
                  <a:srgbClr val="64748B"/>
                </a:solidFill>
                <a:latin typeface="Inter" pitchFamily="34" charset="0"/>
                <a:ea typeface="Inter" pitchFamily="34" charset="-122"/>
                <a:cs typeface="Inter" pitchFamily="34" charset="-120"/>
              </a:rPr>
              <a:t>Consumer Heterogeneity and Paid Search Effectiveness. Econometrica 83(1)</a:t>
            </a:r>
            <a:endParaRPr lang="en-US" sz="1200" dirty="0"/>
          </a:p>
          <a:p>
            <a:pPr marL="0" indent="0">
              <a:buNone/>
            </a:pPr>
            <a:r>
              <a:rPr lang="en-US" sz="850" u="sng" dirty="0">
                <a:solidFill>
                  <a:srgbClr val="1D4ED8"/>
                </a:solidFill>
                <a:latin typeface="Inter" pitchFamily="34" charset="0"/>
                <a:ea typeface="Inter" pitchFamily="34" charset="-122"/>
                <a:cs typeface="Inter" pitchFamily="34" charset="-120"/>
                <a:hlinkClick r:id="rId7">
                  <a:extLst>
                    <a:ext uri="{A12FA001-AC4F-418D-AE19-62706E023703}">
                      <ahyp:hlinkClr xmlns:ahyp="http://schemas.microsoft.com/office/drawing/2018/hyperlinkcolor" val="tx"/>
                    </a:ext>
                  </a:extLst>
                </a:hlinkClick>
              </a:rPr>
              <a:t>doi.org/10.3982/ECTA12423</a:t>
            </a:r>
            <a:endParaRPr lang="en-US" sz="1200" dirty="0"/>
          </a:p>
        </p:txBody>
      </p:sp>
      <p:sp>
        <p:nvSpPr>
          <p:cNvPr id="16" name="Text 13"/>
          <p:cNvSpPr txBox="1"/>
          <p:nvPr/>
        </p:nvSpPr>
        <p:spPr>
          <a:xfrm>
            <a:off x="6291072" y="1234440"/>
            <a:ext cx="5394960" cy="274320"/>
          </a:xfrm>
          <a:prstGeom prst="rect">
            <a:avLst/>
          </a:prstGeom>
          <a:noFill/>
          <a:ln/>
        </p:spPr>
        <p:txBody>
          <a:bodyPr wrap="square" lIns="0" tIns="0" rIns="0" bIns="0" rtlCol="0" anchor="t"/>
          <a:lstStyle/>
          <a:p>
            <a:pPr marL="0" indent="0">
              <a:buNone/>
            </a:pPr>
            <a:r>
              <a:rPr lang="en-US" sz="1250" b="1" dirty="0">
                <a:solidFill>
                  <a:srgbClr val="1D4ED8"/>
                </a:solidFill>
                <a:latin typeface="Inter" pitchFamily="34" charset="0"/>
                <a:ea typeface="Inter" pitchFamily="34" charset="-122"/>
                <a:cs typeface="Inter" pitchFamily="34" charset="-120"/>
              </a:rPr>
              <a:t>Market and industry research</a:t>
            </a:r>
            <a:endParaRPr lang="en-US" sz="1250" dirty="0"/>
          </a:p>
        </p:txBody>
      </p:sp>
      <p:sp>
        <p:nvSpPr>
          <p:cNvPr id="17" name="Text 14"/>
          <p:cNvSpPr txBox="1"/>
          <p:nvPr/>
        </p:nvSpPr>
        <p:spPr>
          <a:xfrm>
            <a:off x="6291072" y="1572768"/>
            <a:ext cx="5394960" cy="621792"/>
          </a:xfrm>
          <a:prstGeom prst="rect">
            <a:avLst/>
          </a:prstGeom>
          <a:noFill/>
          <a:ln/>
        </p:spPr>
        <p:txBody>
          <a:bodyPr wrap="square" lIns="0" tIns="0" rIns="0" bIns="0" rtlCol="0" anchor="t"/>
          <a:lstStyle/>
          <a:p>
            <a:pPr marL="0" indent="0">
              <a:buNone/>
            </a:pPr>
            <a:r>
              <a:rPr lang="en-US" sz="1050" b="1" dirty="0">
                <a:solidFill>
                  <a:srgbClr val="0F172A"/>
                </a:solidFill>
                <a:latin typeface="Inter" pitchFamily="34" charset="0"/>
                <a:ea typeface="Inter" pitchFamily="34" charset="-122"/>
                <a:cs typeface="Inter" pitchFamily="34" charset="-120"/>
              </a:rPr>
              <a:t>Adjust: ATT opt-in rates 2025</a:t>
            </a:r>
            <a:endParaRPr lang="en-US" sz="1200" dirty="0"/>
          </a:p>
          <a:p>
            <a:pPr marL="0" indent="0">
              <a:buNone/>
            </a:pPr>
            <a:r>
              <a:rPr lang="en-US" sz="900" dirty="0">
                <a:solidFill>
                  <a:srgbClr val="64748B"/>
                </a:solidFill>
                <a:latin typeface="Inter" pitchFamily="34" charset="0"/>
                <a:ea typeface="Inter" pitchFamily="34" charset="-122"/>
                <a:cs typeface="Inter" pitchFamily="34" charset="-120"/>
              </a:rPr>
              <a:t>35% average opt-in among users shown the prompt, Q2 2025</a:t>
            </a:r>
            <a:endParaRPr lang="en-US" sz="1200" dirty="0"/>
          </a:p>
          <a:p>
            <a:pPr marL="0" indent="0">
              <a:buNone/>
            </a:pPr>
            <a:r>
              <a:rPr lang="en-US" sz="850" u="sng" dirty="0">
                <a:solidFill>
                  <a:srgbClr val="1D4ED8"/>
                </a:solidFill>
                <a:latin typeface="Inter" pitchFamily="34" charset="0"/>
                <a:ea typeface="Inter" pitchFamily="34" charset="-122"/>
                <a:cs typeface="Inter" pitchFamily="34" charset="-120"/>
                <a:hlinkClick r:id="rId8">
                  <a:extLst>
                    <a:ext uri="{A12FA001-AC4F-418D-AE19-62706E023703}">
                      <ahyp:hlinkClr xmlns:ahyp="http://schemas.microsoft.com/office/drawing/2018/hyperlinkcolor" val="tx"/>
                    </a:ext>
                  </a:extLst>
                </a:hlinkClick>
              </a:rPr>
              <a:t>adjust.com/blog/att-opt-in-rates-2025</a:t>
            </a:r>
            <a:endParaRPr lang="en-US" sz="1200" dirty="0"/>
          </a:p>
        </p:txBody>
      </p:sp>
      <p:sp>
        <p:nvSpPr>
          <p:cNvPr id="18" name="Text 15"/>
          <p:cNvSpPr txBox="1"/>
          <p:nvPr/>
        </p:nvSpPr>
        <p:spPr>
          <a:xfrm>
            <a:off x="6291072" y="2212848"/>
            <a:ext cx="5394960" cy="621792"/>
          </a:xfrm>
          <a:prstGeom prst="rect">
            <a:avLst/>
          </a:prstGeom>
          <a:noFill/>
          <a:ln/>
        </p:spPr>
        <p:txBody>
          <a:bodyPr wrap="square" lIns="0" tIns="0" rIns="0" bIns="0" rtlCol="0" anchor="t"/>
          <a:lstStyle/>
          <a:p>
            <a:pPr marL="0" indent="0">
              <a:buNone/>
            </a:pPr>
            <a:r>
              <a:rPr lang="en-US" sz="1050" b="1" dirty="0">
                <a:solidFill>
                  <a:srgbClr val="0F172A"/>
                </a:solidFill>
                <a:latin typeface="Inter" pitchFamily="34" charset="0"/>
                <a:ea typeface="Inter" pitchFamily="34" charset="-122"/>
                <a:cs typeface="Inter" pitchFamily="34" charset="-120"/>
              </a:rPr>
              <a:t>AppsFlyer: four years after ATT (Apr 2025)</a:t>
            </a:r>
            <a:endParaRPr lang="en-US" sz="1200" dirty="0"/>
          </a:p>
          <a:p>
            <a:pPr marL="0" indent="0">
              <a:buNone/>
            </a:pPr>
            <a:r>
              <a:rPr lang="en-US" sz="900" dirty="0">
                <a:solidFill>
                  <a:srgbClr val="64748B"/>
                </a:solidFill>
                <a:latin typeface="Inter" pitchFamily="34" charset="0"/>
                <a:ea typeface="Inter" pitchFamily="34" charset="-122"/>
                <a:cs typeface="Inter" pitchFamily="34" charset="-120"/>
              </a:rPr>
              <a:t>About 50% of users consent to tracking globally</a:t>
            </a:r>
            <a:endParaRPr lang="en-US" sz="1200" dirty="0"/>
          </a:p>
          <a:p>
            <a:pPr marL="0" indent="0">
              <a:buNone/>
            </a:pPr>
            <a:r>
              <a:rPr lang="en-US" sz="850" u="sng" dirty="0">
                <a:solidFill>
                  <a:srgbClr val="1D4ED8"/>
                </a:solidFill>
                <a:latin typeface="Inter" pitchFamily="34" charset="0"/>
                <a:ea typeface="Inter" pitchFamily="34" charset="-122"/>
                <a:cs typeface="Inter" pitchFamily="34" charset="-120"/>
                <a:hlinkClick r:id="rId9">
                  <a:extLst>
                    <a:ext uri="{A12FA001-AC4F-418D-AE19-62706E023703}">
                      <ahyp:hlinkClr xmlns:ahyp="http://schemas.microsoft.com/office/drawing/2018/hyperlinkcolor" val="tx"/>
                    </a:ext>
                  </a:extLst>
                </a:hlinkClick>
              </a:rPr>
              <a:t>appsflyer.com/company/newsroom/pr/post-att-growth-2/</a:t>
            </a:r>
            <a:endParaRPr lang="en-US" sz="1200" dirty="0"/>
          </a:p>
        </p:txBody>
      </p:sp>
      <p:sp>
        <p:nvSpPr>
          <p:cNvPr id="19" name="Text 16"/>
          <p:cNvSpPr txBox="1"/>
          <p:nvPr/>
        </p:nvSpPr>
        <p:spPr>
          <a:xfrm>
            <a:off x="6291072" y="2852928"/>
            <a:ext cx="5394960" cy="621792"/>
          </a:xfrm>
          <a:prstGeom prst="rect">
            <a:avLst/>
          </a:prstGeom>
          <a:noFill/>
          <a:ln/>
        </p:spPr>
        <p:txBody>
          <a:bodyPr wrap="square" lIns="0" tIns="0" rIns="0" bIns="0" rtlCol="0" anchor="t"/>
          <a:lstStyle/>
          <a:p>
            <a:pPr marL="0" indent="0">
              <a:buNone/>
            </a:pPr>
            <a:r>
              <a:rPr lang="en-US" sz="1050" b="1" dirty="0">
                <a:solidFill>
                  <a:srgbClr val="0F172A"/>
                </a:solidFill>
                <a:latin typeface="Inter" pitchFamily="34" charset="0"/>
                <a:ea typeface="Inter" pitchFamily="34" charset="-122"/>
                <a:cs typeface="Inter" pitchFamily="34" charset="-120"/>
              </a:rPr>
              <a:t>Meta Q2 2026 results (Adweek, Jul 2026)</a:t>
            </a:r>
            <a:endParaRPr lang="en-US" sz="1200" dirty="0"/>
          </a:p>
          <a:p>
            <a:pPr marL="0" indent="0">
              <a:buNone/>
            </a:pPr>
            <a:r>
              <a:rPr lang="en-US" sz="900" dirty="0">
                <a:solidFill>
                  <a:srgbClr val="64748B"/>
                </a:solidFill>
                <a:latin typeface="Inter" pitchFamily="34" charset="0"/>
                <a:ea typeface="Inter" pitchFamily="34" charset="-122"/>
                <a:cs typeface="Inter" pitchFamily="34" charset="-120"/>
              </a:rPr>
              <a:t>Average price per ad +12% and ad impressions +14% year on year</a:t>
            </a:r>
            <a:endParaRPr lang="en-US" sz="1200" dirty="0"/>
          </a:p>
          <a:p>
            <a:pPr marL="0" indent="0">
              <a:buNone/>
            </a:pPr>
            <a:r>
              <a:rPr lang="en-US" sz="850" u="sng" dirty="0">
                <a:solidFill>
                  <a:srgbClr val="1D4ED8"/>
                </a:solidFill>
                <a:latin typeface="Inter" pitchFamily="34" charset="0"/>
                <a:ea typeface="Inter" pitchFamily="34" charset="-122"/>
                <a:cs typeface="Inter" pitchFamily="34" charset="-120"/>
                <a:hlinkClick r:id="rId10">
                  <a:extLst>
                    <a:ext uri="{A12FA001-AC4F-418D-AE19-62706E023703}">
                      <ahyp:hlinkClr xmlns:ahyp="http://schemas.microsoft.com/office/drawing/2018/hyperlinkcolor" val="tx"/>
                    </a:ext>
                  </a:extLst>
                </a:hlinkClick>
              </a:rPr>
              <a:t>adweek.com/?p=1954104</a:t>
            </a:r>
            <a:endParaRPr lang="en-US" sz="1200" dirty="0"/>
          </a:p>
        </p:txBody>
      </p:sp>
      <p:sp>
        <p:nvSpPr>
          <p:cNvPr id="20" name="Text 17"/>
          <p:cNvSpPr txBox="1"/>
          <p:nvPr/>
        </p:nvSpPr>
        <p:spPr>
          <a:xfrm>
            <a:off x="6291072" y="3493008"/>
            <a:ext cx="5394960" cy="621792"/>
          </a:xfrm>
          <a:prstGeom prst="rect">
            <a:avLst/>
          </a:prstGeom>
          <a:noFill/>
          <a:ln/>
        </p:spPr>
        <p:txBody>
          <a:bodyPr wrap="square" lIns="0" tIns="0" rIns="0" bIns="0" rtlCol="0" anchor="t"/>
          <a:lstStyle/>
          <a:p>
            <a:pPr marL="0" indent="0">
              <a:buNone/>
            </a:pPr>
            <a:r>
              <a:rPr lang="en-US" sz="1050" b="1" dirty="0">
                <a:solidFill>
                  <a:srgbClr val="0F172A"/>
                </a:solidFill>
                <a:latin typeface="Inter" pitchFamily="34" charset="0"/>
                <a:ea typeface="Inter" pitchFamily="34" charset="-122"/>
                <a:cs typeface="Inter" pitchFamily="34" charset="-120"/>
              </a:rPr>
              <a:t>Meta Advantage+ as the default campaign setup</a:t>
            </a:r>
            <a:endParaRPr lang="en-US" sz="1200" dirty="0"/>
          </a:p>
          <a:p>
            <a:pPr marL="0" indent="0">
              <a:buNone/>
            </a:pPr>
            <a:r>
              <a:rPr lang="en-US" sz="900" dirty="0">
                <a:solidFill>
                  <a:srgbClr val="64748B"/>
                </a:solidFill>
                <a:latin typeface="Inter" pitchFamily="34" charset="0"/>
                <a:ea typeface="Inter" pitchFamily="34" charset="-122"/>
                <a:cs typeface="Inter" pitchFamily="34" charset="-120"/>
              </a:rPr>
              <a:t>Audiences treated as suggestions unless set as limits (Jon Loomer)</a:t>
            </a:r>
            <a:endParaRPr lang="en-US" sz="1200" dirty="0"/>
          </a:p>
          <a:p>
            <a:pPr marL="0" indent="0">
              <a:buNone/>
            </a:pPr>
            <a:r>
              <a:rPr lang="en-US" sz="850" u="sng" dirty="0">
                <a:solidFill>
                  <a:srgbClr val="1D4ED8"/>
                </a:solidFill>
                <a:latin typeface="Inter" pitchFamily="34" charset="0"/>
                <a:ea typeface="Inter" pitchFamily="34" charset="-122"/>
                <a:cs typeface="Inter" pitchFamily="34" charset="-120"/>
                <a:hlinkClick r:id="rId11">
                  <a:extLst>
                    <a:ext uri="{A12FA001-AC4F-418D-AE19-62706E023703}">
                      <ahyp:hlinkClr xmlns:ahyp="http://schemas.microsoft.com/office/drawing/2018/hyperlinkcolor" val="tx"/>
                    </a:ext>
                  </a:extLst>
                </a:hlinkClick>
              </a:rPr>
              <a:t>jonloomer.com/advantage-plus-campaign-setup-targeting/</a:t>
            </a:r>
            <a:endParaRPr lang="en-US" sz="1200" dirty="0"/>
          </a:p>
        </p:txBody>
      </p:sp>
      <p:sp>
        <p:nvSpPr>
          <p:cNvPr id="21" name="Text 18"/>
          <p:cNvSpPr txBox="1"/>
          <p:nvPr/>
        </p:nvSpPr>
        <p:spPr>
          <a:xfrm>
            <a:off x="6291072" y="4133088"/>
            <a:ext cx="5394960" cy="621792"/>
          </a:xfrm>
          <a:prstGeom prst="rect">
            <a:avLst/>
          </a:prstGeom>
          <a:noFill/>
          <a:ln/>
        </p:spPr>
        <p:txBody>
          <a:bodyPr wrap="square" lIns="0" tIns="0" rIns="0" bIns="0" rtlCol="0" anchor="t"/>
          <a:lstStyle/>
          <a:p>
            <a:pPr marL="0" indent="0">
              <a:buNone/>
            </a:pPr>
            <a:r>
              <a:rPr lang="en-US" sz="1050" b="1" dirty="0">
                <a:solidFill>
                  <a:srgbClr val="0F172A"/>
                </a:solidFill>
                <a:latin typeface="Inter" pitchFamily="34" charset="0"/>
                <a:ea typeface="Inter" pitchFamily="34" charset="-122"/>
                <a:cs typeface="Inter" pitchFamily="34" charset="-120"/>
              </a:rPr>
              <a:t>TikTok US joint venture (The Register, 23 Jan 2026)</a:t>
            </a:r>
            <a:endParaRPr lang="en-US" sz="1200" dirty="0"/>
          </a:p>
          <a:p>
            <a:pPr marL="0" indent="0">
              <a:buNone/>
            </a:pPr>
            <a:r>
              <a:rPr lang="en-US" sz="900" dirty="0">
                <a:solidFill>
                  <a:srgbClr val="64748B"/>
                </a:solidFill>
                <a:latin typeface="Inter" pitchFamily="34" charset="0"/>
                <a:ea typeface="Inter" pitchFamily="34" charset="-122"/>
                <a:cs typeface="Inter" pitchFamily="34" charset="-120"/>
              </a:rPr>
              <a:t>Oracle, Silver Lake and MGX among investors</a:t>
            </a:r>
            <a:endParaRPr lang="en-US" sz="1200" dirty="0"/>
          </a:p>
          <a:p>
            <a:pPr marL="0" indent="0">
              <a:buNone/>
            </a:pPr>
            <a:r>
              <a:rPr lang="en-US" sz="850" u="sng" dirty="0">
                <a:solidFill>
                  <a:srgbClr val="1D4ED8"/>
                </a:solidFill>
                <a:latin typeface="Inter" pitchFamily="34" charset="0"/>
                <a:ea typeface="Inter" pitchFamily="34" charset="-122"/>
                <a:cs typeface="Inter" pitchFamily="34" charset="-120"/>
                <a:hlinkClick r:id="rId12">
                  <a:extLst>
                    <a:ext uri="{A12FA001-AC4F-418D-AE19-62706E023703}">
                      <ahyp:hlinkClr xmlns:ahyp="http://schemas.microsoft.com/office/drawing/2018/hyperlinkcolor" val="tx"/>
                    </a:ext>
                  </a:extLst>
                </a:hlinkClick>
              </a:rPr>
              <a:t>theregister.com/2026/01/23/jv_announces_tiktok_us_acquisition/</a:t>
            </a:r>
            <a:endParaRPr lang="en-US" sz="1200" dirty="0"/>
          </a:p>
        </p:txBody>
      </p:sp>
      <p:sp>
        <p:nvSpPr>
          <p:cNvPr id="22" name="Text 19"/>
          <p:cNvSpPr txBox="1"/>
          <p:nvPr/>
        </p:nvSpPr>
        <p:spPr>
          <a:xfrm>
            <a:off x="6291072" y="4773168"/>
            <a:ext cx="5394960" cy="621792"/>
          </a:xfrm>
          <a:prstGeom prst="rect">
            <a:avLst/>
          </a:prstGeom>
          <a:noFill/>
          <a:ln/>
        </p:spPr>
        <p:txBody>
          <a:bodyPr wrap="square" lIns="0" tIns="0" rIns="0" bIns="0" rtlCol="0" anchor="t"/>
          <a:lstStyle/>
          <a:p>
            <a:pPr marL="0" indent="0">
              <a:buNone/>
            </a:pPr>
            <a:r>
              <a:rPr lang="en-US" sz="1050" b="1" dirty="0">
                <a:solidFill>
                  <a:srgbClr val="0F172A"/>
                </a:solidFill>
                <a:latin typeface="Inter" pitchFamily="34" charset="0"/>
                <a:ea typeface="Inter" pitchFamily="34" charset="-122"/>
                <a:cs typeface="Inter" pitchFamily="34" charset="-120"/>
              </a:rPr>
              <a:t>University of Michigan Surveys of Consumers</a:t>
            </a:r>
            <a:endParaRPr lang="en-US" sz="1200" dirty="0"/>
          </a:p>
          <a:p>
            <a:pPr marL="0" indent="0">
              <a:buNone/>
            </a:pPr>
            <a:r>
              <a:rPr lang="en-US" sz="900" dirty="0">
                <a:solidFill>
                  <a:srgbClr val="64748B"/>
                </a:solidFill>
                <a:latin typeface="Inter" pitchFamily="34" charset="0"/>
                <a:ea typeface="Inter" pitchFamily="34" charset="-122"/>
                <a:cs typeface="Inter" pitchFamily="34" charset="-120"/>
              </a:rPr>
              <a:t>Record low in May 2026; 46.3 preliminary in October 2026</a:t>
            </a:r>
            <a:endParaRPr lang="en-US" sz="1200" dirty="0"/>
          </a:p>
          <a:p>
            <a:pPr marL="0" indent="0">
              <a:buNone/>
            </a:pPr>
            <a:r>
              <a:rPr lang="en-US" sz="850" u="sng" dirty="0">
                <a:solidFill>
                  <a:srgbClr val="1D4ED8"/>
                </a:solidFill>
                <a:latin typeface="Inter" pitchFamily="34" charset="0"/>
                <a:ea typeface="Inter" pitchFamily="34" charset="-122"/>
                <a:cs typeface="Inter" pitchFamily="34" charset="-120"/>
                <a:hlinkClick r:id="rId13">
                  <a:extLst>
                    <a:ext uri="{A12FA001-AC4F-418D-AE19-62706E023703}">
                      <ahyp:hlinkClr xmlns:ahyp="http://schemas.microsoft.com/office/drawing/2018/hyperlinkcolor" val="tx"/>
                    </a:ext>
                  </a:extLst>
                </a:hlinkClick>
              </a:rPr>
              <a:t>sca.isr.umich.edu/</a:t>
            </a:r>
            <a:endParaRPr lang="en-US" sz="1200" dirty="0"/>
          </a:p>
        </p:txBody>
      </p:sp>
      <p:sp>
        <p:nvSpPr>
          <p:cNvPr id="23" name="Text 20"/>
          <p:cNvSpPr txBox="1"/>
          <p:nvPr/>
        </p:nvSpPr>
        <p:spPr>
          <a:xfrm>
            <a:off x="6291072" y="5413248"/>
            <a:ext cx="5394960" cy="621792"/>
          </a:xfrm>
          <a:prstGeom prst="rect">
            <a:avLst/>
          </a:prstGeom>
          <a:noFill/>
          <a:ln/>
        </p:spPr>
        <p:txBody>
          <a:bodyPr wrap="square" lIns="0" tIns="0" rIns="0" bIns="0" rtlCol="0" anchor="t"/>
          <a:lstStyle/>
          <a:p>
            <a:pPr marL="0" indent="0">
              <a:buNone/>
            </a:pPr>
            <a:r>
              <a:rPr lang="en-US" sz="1050" b="1" dirty="0">
                <a:solidFill>
                  <a:srgbClr val="0F172A"/>
                </a:solidFill>
                <a:latin typeface="Inter" pitchFamily="34" charset="0"/>
                <a:ea typeface="Inter" pitchFamily="34" charset="-122"/>
                <a:cs typeface="Inter" pitchFamily="34" charset="-120"/>
              </a:rPr>
              <a:t>Cotton Incorporated, Executive Cotton Update (Jun 2026)</a:t>
            </a:r>
            <a:endParaRPr lang="en-US" sz="1200" dirty="0"/>
          </a:p>
          <a:p>
            <a:pPr marL="0" indent="0">
              <a:buNone/>
            </a:pPr>
            <a:r>
              <a:rPr lang="en-US" sz="900" dirty="0">
                <a:solidFill>
                  <a:srgbClr val="64748B"/>
                </a:solidFill>
                <a:latin typeface="Inter" pitchFamily="34" charset="0"/>
                <a:ea typeface="Inter" pitchFamily="34" charset="-122"/>
                <a:cs typeface="Inter" pitchFamily="34" charset="-120"/>
              </a:rPr>
              <a:t>US garment prices rose sharply in early 2026 amid tariffs</a:t>
            </a:r>
            <a:endParaRPr lang="en-US" sz="1200" dirty="0"/>
          </a:p>
          <a:p>
            <a:pPr marL="0" indent="0">
              <a:buNone/>
            </a:pPr>
            <a:r>
              <a:rPr lang="en-US" sz="850" u="sng" dirty="0">
                <a:solidFill>
                  <a:srgbClr val="1D4ED8"/>
                </a:solidFill>
                <a:latin typeface="Inter" pitchFamily="34" charset="0"/>
                <a:ea typeface="Inter" pitchFamily="34" charset="-122"/>
                <a:cs typeface="Inter" pitchFamily="34" charset="-120"/>
                <a:hlinkClick r:id="rId14">
                  <a:extLst>
                    <a:ext uri="{A12FA001-AC4F-418D-AE19-62706E023703}">
                      <ahyp:hlinkClr xmlns:ahyp="http://schemas.microsoft.com/office/drawing/2018/hyperlinkcolor" val="tx"/>
                    </a:ext>
                  </a:extLst>
                </a:hlinkClick>
              </a:rPr>
              <a:t>ecotextile.com/?p=63440</a:t>
            </a:r>
            <a:endParaRPr lang="en-US" sz="1200" dirty="0"/>
          </a:p>
        </p:txBody>
      </p:sp>
      <p:sp>
        <p:nvSpPr>
          <p:cNvPr id="24" name="Text 21"/>
          <p:cNvSpPr txBox="1"/>
          <p:nvPr/>
        </p:nvSpPr>
        <p:spPr>
          <a:xfrm>
            <a:off x="502920" y="5989320"/>
            <a:ext cx="11183112" cy="365760"/>
          </a:xfrm>
          <a:prstGeom prst="rect">
            <a:avLst/>
          </a:prstGeom>
          <a:noFill/>
          <a:ln/>
        </p:spPr>
        <p:txBody>
          <a:bodyPr wrap="square" lIns="0" tIns="0" rIns="0" bIns="0" rtlCol="0" anchor="ctr"/>
          <a:lstStyle/>
          <a:p>
            <a:pPr marL="0" indent="0">
              <a:buNone/>
            </a:pPr>
            <a:r>
              <a:rPr lang="en-US" sz="850" b="1" dirty="0">
                <a:solidFill>
                  <a:srgbClr val="0A1F44"/>
                </a:solidFill>
                <a:latin typeface="Inter" pitchFamily="34" charset="0"/>
                <a:ea typeface="Inter" pitchFamily="34" charset="-122"/>
                <a:cs typeface="Inter" pitchFamily="34" charset="-120"/>
              </a:rPr>
              <a:t>Competition and market, added: </a:t>
            </a:r>
            <a:r>
              <a:rPr lang="en-US" sz="850" u="sng" dirty="0">
                <a:solidFill>
                  <a:srgbClr val="1D4ED8"/>
                </a:solidFill>
                <a:latin typeface="Inter" pitchFamily="34" charset="0"/>
                <a:ea typeface="Inter" pitchFamily="34" charset="-122"/>
                <a:cs typeface="Inter" pitchFamily="34" charset="-120"/>
                <a:hlinkClick r:id="rId15">
                  <a:extLst>
                    <a:ext uri="{A12FA001-AC4F-418D-AE19-62706E023703}">
                      <ahyp:hlinkClr xmlns:ahyp="http://schemas.microsoft.com/office/drawing/2018/hyperlinkcolor" val="tx"/>
                    </a:ext>
                  </a:extLst>
                </a:hlinkClick>
              </a:rPr>
              <a:t>Amazon Q2 2026 ads</a:t>
            </a:r>
            <a:r>
              <a:rPr lang="en-US" sz="850" dirty="0">
                <a:solidFill>
                  <a:srgbClr val="64748B"/>
                </a:solidFill>
                <a:latin typeface="Inter" pitchFamily="34" charset="0"/>
                <a:ea typeface="Inter" pitchFamily="34" charset="-122"/>
                <a:cs typeface="Inter" pitchFamily="34" charset="-120"/>
              </a:rPr>
              <a:t> · </a:t>
            </a:r>
            <a:r>
              <a:rPr lang="en-US" sz="850" u="sng" dirty="0">
                <a:solidFill>
                  <a:srgbClr val="1D4ED8"/>
                </a:solidFill>
                <a:latin typeface="Inter" pitchFamily="34" charset="0"/>
                <a:ea typeface="Inter" pitchFamily="34" charset="-122"/>
                <a:cs typeface="Inter" pitchFamily="34" charset="-120"/>
                <a:hlinkClick r:id="rId16">
                  <a:extLst>
                    <a:ext uri="{A12FA001-AC4F-418D-AE19-62706E023703}">
                      <ahyp:hlinkClr xmlns:ahyp="http://schemas.microsoft.com/office/drawing/2018/hyperlinkcolor" val="tx"/>
                    </a:ext>
                  </a:extLst>
                </a:hlinkClick>
              </a:rPr>
              <a:t>Shein/Temu US (CNBC)</a:t>
            </a:r>
            <a:r>
              <a:rPr lang="en-US" sz="850" dirty="0">
                <a:solidFill>
                  <a:srgbClr val="64748B"/>
                </a:solidFill>
                <a:latin typeface="Inter" pitchFamily="34" charset="0"/>
                <a:ea typeface="Inter" pitchFamily="34" charset="-122"/>
                <a:cs typeface="Inter" pitchFamily="34" charset="-120"/>
              </a:rPr>
              <a:t> · </a:t>
            </a:r>
            <a:r>
              <a:rPr lang="en-US" sz="850" u="sng" dirty="0">
                <a:solidFill>
                  <a:srgbClr val="1D4ED8"/>
                </a:solidFill>
                <a:latin typeface="Inter" pitchFamily="34" charset="0"/>
                <a:ea typeface="Inter" pitchFamily="34" charset="-122"/>
                <a:cs typeface="Inter" pitchFamily="34" charset="-120"/>
                <a:hlinkClick r:id="rId17">
                  <a:extLst>
                    <a:ext uri="{A12FA001-AC4F-418D-AE19-62706E023703}">
                      <ahyp:hlinkClr xmlns:ahyp="http://schemas.microsoft.com/office/drawing/2018/hyperlinkcolor" val="tx"/>
                    </a:ext>
                  </a:extLst>
                </a:hlinkClick>
              </a:rPr>
              <a:t>Everlane sale (Bloomberg Law)</a:t>
            </a:r>
            <a:r>
              <a:rPr lang="en-US" sz="850" dirty="0">
                <a:solidFill>
                  <a:srgbClr val="64748B"/>
                </a:solidFill>
                <a:latin typeface="Inter" pitchFamily="34" charset="0"/>
                <a:ea typeface="Inter" pitchFamily="34" charset="-122"/>
                <a:cs typeface="Inter" pitchFamily="34" charset="-120"/>
              </a:rPr>
              <a:t> · </a:t>
            </a:r>
            <a:r>
              <a:rPr lang="en-US" sz="850" u="sng" dirty="0">
                <a:solidFill>
                  <a:srgbClr val="1D4ED8"/>
                </a:solidFill>
                <a:latin typeface="Inter" pitchFamily="34" charset="0"/>
                <a:ea typeface="Inter" pitchFamily="34" charset="-122"/>
                <a:cs typeface="Inter" pitchFamily="34" charset="-120"/>
                <a:hlinkClick r:id="rId18">
                  <a:extLst>
                    <a:ext uri="{A12FA001-AC4F-418D-AE19-62706E023703}">
                      <ahyp:hlinkClr xmlns:ahyp="http://schemas.microsoft.com/office/drawing/2018/hyperlinkcolor" val="tx"/>
                    </a:ext>
                  </a:extLst>
                </a:hlinkClick>
              </a:rPr>
              <a:t>Fast Retailing FY2025</a:t>
            </a:r>
            <a:r>
              <a:rPr lang="en-US" sz="850" dirty="0">
                <a:solidFill>
                  <a:srgbClr val="64748B"/>
                </a:solidFill>
                <a:latin typeface="Inter" pitchFamily="34" charset="0"/>
                <a:ea typeface="Inter" pitchFamily="34" charset="-122"/>
                <a:cs typeface="Inter" pitchFamily="34" charset="-120"/>
              </a:rPr>
              <a:t> · </a:t>
            </a:r>
            <a:r>
              <a:rPr lang="en-US" sz="850" u="sng" dirty="0">
                <a:solidFill>
                  <a:srgbClr val="1D4ED8"/>
                </a:solidFill>
                <a:latin typeface="Inter" pitchFamily="34" charset="0"/>
                <a:ea typeface="Inter" pitchFamily="34" charset="-122"/>
                <a:cs typeface="Inter" pitchFamily="34" charset="-120"/>
                <a:hlinkClick r:id="rId19">
                  <a:extLst>
                    <a:ext uri="{A12FA001-AC4F-418D-AE19-62706E023703}">
                      <ahyp:hlinkClr xmlns:ahyp="http://schemas.microsoft.com/office/drawing/2018/hyperlinkcolor" val="tx"/>
                    </a:ext>
                  </a:extLst>
                </a:hlinkClick>
              </a:rPr>
              <a:t>Tapestry FY2025</a:t>
            </a:r>
            <a:r>
              <a:rPr lang="en-US" sz="850" dirty="0">
                <a:solidFill>
                  <a:srgbClr val="64748B"/>
                </a:solidFill>
                <a:latin typeface="Inter" pitchFamily="34" charset="0"/>
                <a:ea typeface="Inter" pitchFamily="34" charset="-122"/>
                <a:cs typeface="Inter" pitchFamily="34" charset="-120"/>
              </a:rPr>
              <a:t> · </a:t>
            </a:r>
            <a:r>
              <a:rPr lang="en-US" sz="850" u="sng" dirty="0">
                <a:solidFill>
                  <a:srgbClr val="1D4ED8"/>
                </a:solidFill>
                <a:latin typeface="Inter" pitchFamily="34" charset="0"/>
                <a:ea typeface="Inter" pitchFamily="34" charset="-122"/>
                <a:cs typeface="Inter" pitchFamily="34" charset="-120"/>
                <a:hlinkClick r:id="rId20">
                  <a:extLst>
                    <a:ext uri="{A12FA001-AC4F-418D-AE19-62706E023703}">
                      <ahyp:hlinkClr xmlns:ahyp="http://schemas.microsoft.com/office/drawing/2018/hyperlinkcolor" val="tx"/>
                    </a:ext>
                  </a:extLst>
                </a:hlinkClick>
              </a:rPr>
              <a:t>WSI v. Quince ruling</a:t>
            </a:r>
            <a:r>
              <a:rPr lang="en-US" sz="850" dirty="0">
                <a:solidFill>
                  <a:srgbClr val="64748B"/>
                </a:solidFill>
                <a:latin typeface="Inter" pitchFamily="34" charset="0"/>
                <a:ea typeface="Inter" pitchFamily="34" charset="-122"/>
                <a:cs typeface="Inter" pitchFamily="34" charset="-120"/>
              </a:rPr>
              <a:t> · </a:t>
            </a:r>
            <a:r>
              <a:rPr lang="en-US" sz="850" u="sng" dirty="0">
                <a:solidFill>
                  <a:srgbClr val="1D4ED8"/>
                </a:solidFill>
                <a:latin typeface="Inter" pitchFamily="34" charset="0"/>
                <a:ea typeface="Inter" pitchFamily="34" charset="-122"/>
                <a:cs typeface="Inter" pitchFamily="34" charset="-120"/>
                <a:hlinkClick r:id="rId21">
                  <a:extLst>
                    <a:ext uri="{A12FA001-AC4F-418D-AE19-62706E023703}">
                      <ahyp:hlinkClr xmlns:ahyp="http://schemas.microsoft.com/office/drawing/2018/hyperlinkcolor" val="tx"/>
                    </a:ext>
                  </a:extLst>
                </a:hlinkClick>
              </a:rPr>
              <a:t>Census e-commerce</a:t>
            </a:r>
            <a:r>
              <a:rPr lang="en-US" sz="850" dirty="0">
                <a:solidFill>
                  <a:srgbClr val="64748B"/>
                </a:solidFill>
                <a:latin typeface="Inter" pitchFamily="34" charset="0"/>
                <a:ea typeface="Inter" pitchFamily="34" charset="-122"/>
                <a:cs typeface="Inter" pitchFamily="34" charset="-120"/>
              </a:rPr>
              <a:t> · </a:t>
            </a:r>
            <a:r>
              <a:rPr lang="en-US" sz="850" u="sng" dirty="0">
                <a:solidFill>
                  <a:srgbClr val="1D4ED8"/>
                </a:solidFill>
                <a:latin typeface="Inter" pitchFamily="34" charset="0"/>
                <a:ea typeface="Inter" pitchFamily="34" charset="-122"/>
                <a:cs typeface="Inter" pitchFamily="34" charset="-120"/>
                <a:hlinkClick r:id="rId22">
                  <a:extLst>
                    <a:ext uri="{A12FA001-AC4F-418D-AE19-62706E023703}">
                      <ahyp:hlinkClr xmlns:ahyp="http://schemas.microsoft.com/office/drawing/2018/hyperlinkcolor" val="tx"/>
                    </a:ext>
                  </a:extLst>
                </a:hlinkClick>
              </a:rPr>
              <a:t>McKinsey personalization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860db96-b53f-4bd7-8137-e09357cab268}" enabled="1" method="Standard" siteId="{b78d03e6-f6a2-4cff-83be-847d1a6453f9}" contentBits="0" removed="0"/>
</clbl:labelList>
</file>

<file path=docProps/app.xml><?xml version="1.0" encoding="utf-8"?>
<Properties xmlns="http://schemas.openxmlformats.org/officeDocument/2006/extended-properties" xmlns:vt="http://schemas.openxmlformats.org/officeDocument/2006/docPropsVTypes">
  <TotalTime>727</TotalTime>
  <Words>7211</Words>
  <Application>Microsoft Macintosh PowerPoint</Application>
  <PresentationFormat>Widescreen</PresentationFormat>
  <Paragraphs>864</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G27</dc:title>
  <dc:subject/>
  <dc:creator>Team G27</dc:creator>
  <cp:keywords/>
  <dc:description/>
  <cp:lastModifiedBy>CHATTERJEE Anish</cp:lastModifiedBy>
  <cp:revision>9</cp:revision>
  <dcterms:created xsi:type="dcterms:W3CDTF">2026-10-17T15:48:37Z</dcterms:created>
  <dcterms:modified xsi:type="dcterms:W3CDTF">2026-10-18T10:49:53Z</dcterms:modified>
  <cp:category/>
</cp:coreProperties>
</file>